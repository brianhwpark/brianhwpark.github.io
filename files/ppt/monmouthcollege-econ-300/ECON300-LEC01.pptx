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5"/>
  </p:notesMasterIdLst>
  <p:sldIdLst>
    <p:sldId id="256" r:id="rId2"/>
    <p:sldId id="282" r:id="rId3"/>
    <p:sldId id="257" r:id="rId4"/>
    <p:sldId id="258" r:id="rId5"/>
    <p:sldId id="259" r:id="rId6"/>
    <p:sldId id="274" r:id="rId7"/>
    <p:sldId id="277" r:id="rId8"/>
    <p:sldId id="262" r:id="rId9"/>
    <p:sldId id="273" r:id="rId10"/>
    <p:sldId id="263" r:id="rId11"/>
    <p:sldId id="264" r:id="rId12"/>
    <p:sldId id="265" r:id="rId13"/>
    <p:sldId id="266" r:id="rId14"/>
    <p:sldId id="281" r:id="rId15"/>
    <p:sldId id="276" r:id="rId16"/>
    <p:sldId id="268" r:id="rId17"/>
    <p:sldId id="269" r:id="rId18"/>
    <p:sldId id="279" r:id="rId19"/>
    <p:sldId id="278" r:id="rId20"/>
    <p:sldId id="270" r:id="rId21"/>
    <p:sldId id="271" r:id="rId22"/>
    <p:sldId id="272" r:id="rId23"/>
    <p:sldId id="280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6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8/21/2023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are you majoring (or plan to major)?
https://www.polleverywhere.com/free_text_polls/vc167TXp9o4JvDxcU1xeI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64A86C-ACA1-4D16-2532-A4ECA2850955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594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Please indicate your comfort level when it comes to Mathematics as a subject.
https://www.polleverywhere.com/clickable_images/OzEjzbfv0ix8hUpYFk34L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604521-9A5B-1FD0-3A8F-C07F1C1D25F4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644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Did you take calculus or mathematical econ?
https://www.polleverywhere.com/multiple_choice_polls/VkGwW5KsJKT1OlrXdg4VW?state=opened&amp;flow=Default&amp;onscreen=persist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EB112D-0623-5245-892E-D40C90D79D65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99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calendly.com/brianhwpark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Intermediate</a:t>
            </a:r>
            <a:r>
              <a:rPr lang="en-US" sz="4000" dirty="0"/>
              <a:t> Price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is Intermediate Price Theory?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Typically called </a:t>
            </a:r>
            <a:r>
              <a:rPr lang="en-US" b="1" dirty="0"/>
              <a:t>“Intermediate Microeconomic Theory”</a:t>
            </a:r>
          </a:p>
          <a:p>
            <a:endParaRPr lang="en-US" sz="1200" dirty="0"/>
          </a:p>
          <a:p>
            <a:r>
              <a:rPr lang="en-US" dirty="0"/>
              <a:t>JEL Classification under “Microeconomics”</a:t>
            </a:r>
          </a:p>
          <a:p>
            <a:pPr lvl="1"/>
            <a:r>
              <a:rPr lang="en-US" dirty="0"/>
              <a:t>Household Behavior and Family Economics</a:t>
            </a:r>
          </a:p>
          <a:p>
            <a:pPr lvl="1"/>
            <a:r>
              <a:rPr lang="en-US" dirty="0"/>
              <a:t>Production and Organizations</a:t>
            </a:r>
          </a:p>
          <a:p>
            <a:pPr lvl="1"/>
            <a:r>
              <a:rPr lang="en-US" dirty="0"/>
              <a:t>Distribution</a:t>
            </a:r>
          </a:p>
          <a:p>
            <a:pPr lvl="1"/>
            <a:r>
              <a:rPr lang="en-US" dirty="0"/>
              <a:t>Market Structure, Pricing, and Design</a:t>
            </a:r>
          </a:p>
          <a:p>
            <a:pPr lvl="1"/>
            <a:r>
              <a:rPr lang="en-US" dirty="0"/>
              <a:t>General Equilibrium and Disequilibrium</a:t>
            </a:r>
          </a:p>
          <a:p>
            <a:pPr lvl="1"/>
            <a:r>
              <a:rPr lang="en-US" dirty="0"/>
              <a:t>Welfare Economics</a:t>
            </a:r>
          </a:p>
          <a:p>
            <a:pPr lvl="1"/>
            <a:r>
              <a:rPr lang="en-US" dirty="0"/>
              <a:t>Analysis of Collective Decision-Making</a:t>
            </a:r>
          </a:p>
          <a:p>
            <a:pPr lvl="1"/>
            <a:r>
              <a:rPr lang="en-US" dirty="0"/>
              <a:t>Information, Knowledge, and Uncertainty</a:t>
            </a:r>
          </a:p>
          <a:p>
            <a:pPr lvl="1"/>
            <a:r>
              <a:rPr lang="en-US" dirty="0"/>
              <a:t>Micro-Based Behavioral Economics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287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is Intermediate Price Theory?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this course we cover the following topics:</a:t>
            </a:r>
          </a:p>
          <a:p>
            <a:endParaRPr lang="en-US" sz="1200" dirty="0"/>
          </a:p>
          <a:p>
            <a:r>
              <a:rPr lang="en-US" dirty="0"/>
              <a:t>How </a:t>
            </a:r>
            <a:r>
              <a:rPr lang="en-US" b="1" dirty="0"/>
              <a:t>individuals</a:t>
            </a:r>
            <a:r>
              <a:rPr lang="en-US" dirty="0"/>
              <a:t> make decisions</a:t>
            </a:r>
          </a:p>
          <a:p>
            <a:pPr lvl="1"/>
            <a:r>
              <a:rPr lang="en-US" dirty="0"/>
              <a:t>How would an agent make consumption choices?</a:t>
            </a:r>
          </a:p>
          <a:p>
            <a:pPr lvl="1"/>
            <a:r>
              <a:rPr lang="en-US" dirty="0"/>
              <a:t>How would agents make production decisions?</a:t>
            </a:r>
          </a:p>
          <a:p>
            <a:pPr lvl="1"/>
            <a:endParaRPr lang="en-US" sz="1200" dirty="0"/>
          </a:p>
          <a:p>
            <a:r>
              <a:rPr lang="en-US" dirty="0"/>
              <a:t>How these individual decisions </a:t>
            </a:r>
            <a:r>
              <a:rPr lang="en-US" b="1" dirty="0"/>
              <a:t>interact</a:t>
            </a:r>
          </a:p>
          <a:p>
            <a:pPr lvl="1"/>
            <a:r>
              <a:rPr lang="en-US" dirty="0"/>
              <a:t>What is a market equilibrium?</a:t>
            </a:r>
          </a:p>
          <a:p>
            <a:pPr lvl="1"/>
            <a:r>
              <a:rPr lang="en-US" dirty="0"/>
              <a:t>Who wins, and who loses?</a:t>
            </a:r>
          </a:p>
          <a:p>
            <a:pPr lvl="1"/>
            <a:r>
              <a:rPr lang="en-US" dirty="0"/>
              <a:t>How would the government fit in this framework?</a:t>
            </a:r>
          </a:p>
          <a:p>
            <a:pPr lvl="1"/>
            <a:endParaRPr lang="en-US" sz="1200" dirty="0"/>
          </a:p>
          <a:p>
            <a:r>
              <a:rPr lang="en-US" dirty="0"/>
              <a:t>What happens </a:t>
            </a:r>
            <a:r>
              <a:rPr lang="en-US" b="1" dirty="0"/>
              <a:t>when assumptions fail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551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Why Should We Care?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FE28D5A-5539-7934-2359-95F278F3F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are prices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297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Ph.D. Cornell University</a:t>
            </a:r>
          </a:p>
          <a:p>
            <a:pPr lvl="1"/>
            <a:endParaRPr lang="en-US" sz="800" dirty="0"/>
          </a:p>
          <a:p>
            <a:r>
              <a:rPr lang="en-US" dirty="0"/>
              <a:t>B.A. Korea University</a:t>
            </a:r>
          </a:p>
          <a:p>
            <a:pPr lvl="1"/>
            <a:endParaRPr lang="en-US" sz="800" dirty="0"/>
          </a:p>
          <a:p>
            <a:r>
              <a:rPr lang="en-US" dirty="0"/>
              <a:t>Research Interests</a:t>
            </a:r>
          </a:p>
          <a:p>
            <a:pPr lvl="1"/>
            <a:r>
              <a:rPr lang="en-US" dirty="0"/>
              <a:t>Environmental: Climate Change, Air Pollution</a:t>
            </a:r>
          </a:p>
          <a:p>
            <a:pPr lvl="1"/>
            <a:r>
              <a:rPr lang="en-US" dirty="0"/>
              <a:t>Demographic: Migration, Fertility</a:t>
            </a:r>
          </a:p>
          <a:p>
            <a:pPr lvl="1"/>
            <a:r>
              <a:rPr lang="en-US" dirty="0"/>
              <a:t>Labor: Employment Stability</a:t>
            </a:r>
            <a:endParaRPr lang="en-US" sz="800" dirty="0"/>
          </a:p>
          <a:p>
            <a:pPr lvl="1"/>
            <a:endParaRPr lang="en-US" sz="800" dirty="0"/>
          </a:p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Year at Monmouth College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35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PollEverywhere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https://pollev.com/brianpark046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2623E16C-1165-FEA6-D775-025B907AA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079" y="2198373"/>
            <a:ext cx="3605842" cy="360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056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F704AB-C2D1-310B-CFE5-331F92EE2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FC89D6-CCD0-BB91-C79B-57C57B448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09CC5-127A-C390-8320-AB198666C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A29853-34A3-3FA5-EFD6-D72C12A8B75D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85" y="770189"/>
            <a:ext cx="7194430" cy="531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176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Email: BPARK@monmouthcollege.edu</a:t>
            </a:r>
          </a:p>
          <a:p>
            <a:pPr lvl="1"/>
            <a:r>
              <a:rPr lang="en-US" dirty="0"/>
              <a:t>Please include “ECON300” in the subject line.</a:t>
            </a:r>
          </a:p>
          <a:p>
            <a:pPr lvl="1"/>
            <a:r>
              <a:rPr lang="en-US" dirty="0"/>
              <a:t>Target response within 1 business day.</a:t>
            </a:r>
          </a:p>
          <a:p>
            <a:pPr lvl="1"/>
            <a:endParaRPr lang="en-US" sz="1300" dirty="0"/>
          </a:p>
          <a:p>
            <a:r>
              <a:rPr lang="en-US" dirty="0"/>
              <a:t>Office: CSB 248</a:t>
            </a:r>
          </a:p>
          <a:p>
            <a:pPr lvl="1"/>
            <a:endParaRPr lang="en-US" sz="1300" dirty="0"/>
          </a:p>
          <a:p>
            <a:r>
              <a:rPr lang="en-US" dirty="0"/>
              <a:t>Regular Office Hours: Tue/Thu 10:30 AM ~ 12:00 PM</a:t>
            </a:r>
          </a:p>
          <a:p>
            <a:pPr lvl="1"/>
            <a:endParaRPr lang="en-US" sz="1300" dirty="0"/>
          </a:p>
          <a:p>
            <a:r>
              <a:rPr lang="en-US" dirty="0"/>
              <a:t>Individual (or Group) Appointments via Calendly.</a:t>
            </a:r>
          </a:p>
          <a:p>
            <a:pPr lvl="1"/>
            <a:r>
              <a:rPr lang="en-US" dirty="0">
                <a:hlinkClick r:id="rId2"/>
              </a:rPr>
              <a:t>https://calendly.com/brianhwpark</a:t>
            </a:r>
            <a:endParaRPr lang="en-US" dirty="0"/>
          </a:p>
          <a:p>
            <a:pPr lvl="1"/>
            <a:r>
              <a:rPr lang="en-US" dirty="0"/>
              <a:t>Book on-demand office hours in 30-minute increments</a:t>
            </a:r>
          </a:p>
          <a:p>
            <a:pPr lvl="1"/>
            <a:r>
              <a:rPr lang="en-US" dirty="0"/>
              <a:t>Calendar opens 15 days in advance</a:t>
            </a:r>
          </a:p>
          <a:p>
            <a:pPr lvl="1"/>
            <a:endParaRPr lang="en-US" sz="1300" dirty="0"/>
          </a:p>
          <a:p>
            <a:r>
              <a:rPr lang="en-US" dirty="0"/>
              <a:t>Send me an email if you need </a:t>
            </a:r>
            <a:r>
              <a:rPr lang="en-US" b="1" dirty="0"/>
              <a:t>anything</a:t>
            </a:r>
            <a:r>
              <a:rPr lang="en-US" dirty="0"/>
              <a:t> else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850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 Information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6E5FC0-DE08-E9E6-B4BF-E9ACC6968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46629"/>
            <a:ext cx="7886700" cy="46044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ECCA483-206B-8314-FE82-825A73EB1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546629"/>
            <a:ext cx="7886700" cy="457861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5131B10-4363-7B01-92D5-A97CFD193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1538841"/>
            <a:ext cx="7886700" cy="459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326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Final letter grades based on </a:t>
            </a:r>
            <a:r>
              <a:rPr lang="en-US" b="1" dirty="0"/>
              <a:t>four factors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Attendance: 10%</a:t>
            </a:r>
          </a:p>
          <a:p>
            <a:pPr lvl="1"/>
            <a:r>
              <a:rPr lang="en-US" dirty="0"/>
              <a:t>Quizzes / Assignments: 20%</a:t>
            </a:r>
          </a:p>
          <a:p>
            <a:pPr lvl="1"/>
            <a:r>
              <a:rPr lang="en-US" dirty="0"/>
              <a:t>Midterm Exam: 30%</a:t>
            </a:r>
          </a:p>
          <a:p>
            <a:pPr lvl="1"/>
            <a:r>
              <a:rPr lang="en-US" dirty="0"/>
              <a:t>Final Exam: 40%</a:t>
            </a:r>
          </a:p>
          <a:p>
            <a:pPr lvl="1"/>
            <a:endParaRPr lang="en-US" sz="1200" dirty="0"/>
          </a:p>
          <a:p>
            <a:r>
              <a:rPr lang="en-US" dirty="0"/>
              <a:t>There are no predetermined “cutoff” points for letter grades.</a:t>
            </a:r>
          </a:p>
          <a:p>
            <a:pPr lvl="1"/>
            <a:endParaRPr lang="en-US" sz="1200" dirty="0"/>
          </a:p>
          <a:p>
            <a:r>
              <a:rPr lang="en-US" dirty="0"/>
              <a:t>The cutoffs will be updated as the semester progresses.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555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Attendance may be called every time we meet.</a:t>
            </a:r>
          </a:p>
          <a:p>
            <a:pPr lvl="1"/>
            <a:endParaRPr lang="en-US" sz="1200" dirty="0"/>
          </a:p>
          <a:p>
            <a:r>
              <a:rPr lang="en-US" dirty="0"/>
              <a:t>One “no-points-deducted” absence for each month.</a:t>
            </a:r>
          </a:p>
          <a:p>
            <a:pPr lvl="1"/>
            <a:endParaRPr lang="en-US" sz="1200" dirty="0"/>
          </a:p>
          <a:p>
            <a:r>
              <a:rPr lang="en-US" dirty="0"/>
              <a:t>Extra “no-points-deducted” absences may be granted on a case-by-case basis.</a:t>
            </a:r>
          </a:p>
          <a:p>
            <a:pPr lvl="1"/>
            <a:endParaRPr lang="en-US" sz="1200" dirty="0"/>
          </a:p>
          <a:p>
            <a:r>
              <a:rPr lang="en-US" dirty="0"/>
              <a:t>Attendance scores will be calculated as: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93313B-57FB-DA5A-DBEE-E5FA57EECDFF}"/>
                  </a:ext>
                </a:extLst>
              </p:cNvPr>
              <p:cNvSpPr txBox="1"/>
              <p:nvPr/>
            </p:nvSpPr>
            <p:spPr>
              <a:xfrm>
                <a:off x="1690777" y="4938623"/>
                <a:ext cx="5766387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𝐴𝑡𝑡𝑒𝑛𝑑𝑎𝑛𝑐𝑒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𝐴𝑡𝑡𝑒𝑛𝑑𝑎𝑛𝑐𝑒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𝐶h𝑒𝑐𝑘𝑠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−#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𝐴𝑏𝑠𝑒𝑛𝑐𝑒𝑠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𝐴𝑡𝑡𝑒𝑛𝑑𝑎𝑛𝑐𝑒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𝐶h𝑒𝑐𝑘𝑠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93313B-57FB-DA5A-DBEE-E5FA57EEC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0777" y="4938623"/>
                <a:ext cx="5766387" cy="5259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1033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Quizzes / 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Quizzes will act as a low-stakes status check.</a:t>
            </a:r>
          </a:p>
          <a:p>
            <a:pPr lvl="1"/>
            <a:endParaRPr lang="en-US" sz="1200" dirty="0"/>
          </a:p>
          <a:p>
            <a:r>
              <a:rPr lang="en-US" dirty="0"/>
              <a:t>Students can recover extra credit by attending office hours and “correcting” any mistakes made.</a:t>
            </a:r>
          </a:p>
          <a:p>
            <a:pPr lvl="1"/>
            <a:endParaRPr lang="en-US" sz="1200" dirty="0"/>
          </a:p>
          <a:p>
            <a:r>
              <a:rPr lang="en-US" dirty="0"/>
              <a:t>The lowest 1 or 2 quizzes will be dropped at the end of the semester.</a:t>
            </a:r>
          </a:p>
          <a:p>
            <a:pPr lvl="1"/>
            <a:endParaRPr lang="en-US" sz="1200" dirty="0"/>
          </a:p>
          <a:p>
            <a:r>
              <a:rPr lang="en-US" dirty="0"/>
              <a:t>Quizzes may be substituted to homework assignments at the instructor’s discretion.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82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exams; one midterm and a comprehensive final.</a:t>
            </a:r>
          </a:p>
          <a:p>
            <a:pPr lvl="1"/>
            <a:endParaRPr lang="en-US" sz="1200" dirty="0"/>
          </a:p>
          <a:p>
            <a:r>
              <a:rPr lang="en-US" dirty="0"/>
              <a:t>No “review sessions” for partial credit for exams.</a:t>
            </a:r>
          </a:p>
          <a:p>
            <a:pPr lvl="1"/>
            <a:endParaRPr lang="en-US" sz="1200" dirty="0"/>
          </a:p>
          <a:p>
            <a:r>
              <a:rPr lang="en-US" dirty="0"/>
              <a:t>Students may submit a request for regrading within the first 5 days the scores are made available.</a:t>
            </a:r>
          </a:p>
          <a:p>
            <a:pPr lvl="1"/>
            <a:endParaRPr lang="en-US" sz="1200" dirty="0"/>
          </a:p>
          <a:p>
            <a:r>
              <a:rPr lang="en-US" dirty="0"/>
              <a:t>If you miss an exam due to valid cause, the option would be either a written make-up exam, or an oral exam.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276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Textbook / Reading Material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main textbook for this course will be H. Varian’s Intermediate Microeconomics.</a:t>
            </a:r>
          </a:p>
          <a:p>
            <a:pPr lvl="1"/>
            <a:endParaRPr lang="en-US" sz="1200" dirty="0"/>
          </a:p>
          <a:p>
            <a:r>
              <a:rPr lang="en-US" dirty="0"/>
              <a:t>Slides / Notes will be distributed online.</a:t>
            </a:r>
          </a:p>
          <a:p>
            <a:pPr lvl="1"/>
            <a:r>
              <a:rPr lang="en-US" dirty="0"/>
              <a:t>Moodle?</a:t>
            </a:r>
          </a:p>
          <a:p>
            <a:pPr lvl="1"/>
            <a:r>
              <a:rPr lang="en-US" dirty="0"/>
              <a:t>Dropbox?</a:t>
            </a:r>
          </a:p>
          <a:p>
            <a:pPr lvl="1"/>
            <a:r>
              <a:rPr lang="en-US" dirty="0"/>
              <a:t>Separate Webpage?</a:t>
            </a:r>
          </a:p>
          <a:p>
            <a:pPr lvl="1"/>
            <a:endParaRPr lang="en-US" sz="1200" dirty="0"/>
          </a:p>
          <a:p>
            <a:r>
              <a:rPr lang="en-US" dirty="0"/>
              <a:t>f.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184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55C150-637D-2F05-97D5-4223A0327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73754B-4E92-BE7F-E42F-35511D901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A32FD-E004-7926-E5BC-560905878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8E3829-DF1E-111A-D27C-B0DDD662F71C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11" y="776565"/>
            <a:ext cx="7177178" cy="530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743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Math Background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883069"/>
          </a:xfrm>
        </p:spPr>
        <p:txBody>
          <a:bodyPr>
            <a:normAutofit/>
          </a:bodyPr>
          <a:lstStyle/>
          <a:p>
            <a:r>
              <a:rPr lang="en-US" dirty="0"/>
              <a:t>How comfortable are you with solving a system of two linear equations with two unknowns?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/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Raleway Medium" pitchFamily="2" charset="0"/>
                  </a:rPr>
                  <a:t>Solve for the unknows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Raleway Medium" pitchFamily="2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Raleway Medium" pitchFamily="2" charset="0"/>
                  </a:rPr>
                  <a:t> when…</a:t>
                </a: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3184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Math Background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883069"/>
          </a:xfrm>
        </p:spPr>
        <p:txBody>
          <a:bodyPr>
            <a:normAutofit/>
          </a:bodyPr>
          <a:lstStyle/>
          <a:p>
            <a:r>
              <a:rPr lang="en-US" dirty="0"/>
              <a:t>How comfortable are you dealing with multiplication and division with exponents?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/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Raleway Medium" pitchFamily="2" charset="0"/>
                  </a:rPr>
                  <a:t>Simplify the following:</a:t>
                </a: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1073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Math Background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883069"/>
          </a:xfrm>
        </p:spPr>
        <p:txBody>
          <a:bodyPr>
            <a:normAutofit/>
          </a:bodyPr>
          <a:lstStyle/>
          <a:p>
            <a:r>
              <a:rPr lang="en-US" dirty="0"/>
              <a:t>How comfortable are you dealing with natural logarithmic functions and exponential functions?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/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Raleway Medium" pitchFamily="2" charset="0"/>
                  </a:rPr>
                  <a:t>Do you recognize the following?</a:t>
                </a: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281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230E7E-B840-0229-9778-05496BFA4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4BCC06-F033-F5D3-74A3-59711DA7E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6409D-1749-AA7B-7436-7B73395B8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A1D41D-5000-BC40-65FE-57DE42C556BE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11" y="776565"/>
            <a:ext cx="7177178" cy="530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272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Math Background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883069"/>
          </a:xfrm>
        </p:spPr>
        <p:txBody>
          <a:bodyPr>
            <a:normAutofit/>
          </a:bodyPr>
          <a:lstStyle/>
          <a:p>
            <a:r>
              <a:rPr lang="en-US" dirty="0"/>
              <a:t>How comfortable are you taking simple first derivatives of linear functions?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/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Raleway Medium" pitchFamily="2" charset="0"/>
                  </a:rPr>
                  <a:t>Solve the following:</a:t>
                </a: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93373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Math Background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883069"/>
          </a:xfrm>
        </p:spPr>
        <p:txBody>
          <a:bodyPr>
            <a:normAutofit/>
          </a:bodyPr>
          <a:lstStyle/>
          <a:p>
            <a:r>
              <a:rPr lang="en-US" dirty="0"/>
              <a:t>How comfortable are you taking slightly more complicated first derivatives of linear functions?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/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Raleway Medium" pitchFamily="2" charset="0"/>
                  </a:rPr>
                  <a:t>Solve the following:</a:t>
                </a: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+1)=?</m:t>
                      </m:r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7286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Math Background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883069"/>
          </a:xfrm>
        </p:spPr>
        <p:txBody>
          <a:bodyPr>
            <a:normAutofit/>
          </a:bodyPr>
          <a:lstStyle/>
          <a:p>
            <a:r>
              <a:rPr lang="en-US" dirty="0"/>
              <a:t>How comfortable are you taking even more complicated first derivatives of linear functions?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/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Raleway Medium" pitchFamily="2" charset="0"/>
                  </a:rPr>
                  <a:t>Solve the following:</a:t>
                </a: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+10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29551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following few lectures will be primarily a review / preview of the material to be covered this semester.</a:t>
            </a:r>
          </a:p>
          <a:p>
            <a:pPr lvl="1"/>
            <a:endParaRPr lang="en-US" sz="1200" dirty="0"/>
          </a:p>
          <a:p>
            <a:r>
              <a:rPr lang="en-US" dirty="0"/>
              <a:t>This review may (or may not) cover some mathematics.</a:t>
            </a:r>
          </a:p>
          <a:p>
            <a:pPr lvl="1"/>
            <a:endParaRPr lang="en-US" sz="1200" dirty="0"/>
          </a:p>
          <a:p>
            <a:r>
              <a:rPr lang="en-US" dirty="0"/>
              <a:t>The lowest 1 or 2 quizzes will be dropped at the end of the semester.</a:t>
            </a:r>
          </a:p>
          <a:p>
            <a:pPr lvl="1"/>
            <a:endParaRPr lang="en-US" sz="1200" dirty="0"/>
          </a:p>
          <a:p>
            <a:r>
              <a:rPr lang="en-US" dirty="0"/>
              <a:t>Quizzes may be substituted to homework assignments at the instructor’s discretion.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9977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78e9e841-a5f0-4abe-8f9f-0057c895b41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23e247fe-6713-4de7-978b-320ac028d4b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d4514394-ebef-496d-9c0b-4fe6c7c59a19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219</TotalTime>
  <Words>1124</Words>
  <Application>Microsoft Office PowerPoint</Application>
  <PresentationFormat>On-screen Show (4:3)</PresentationFormat>
  <Paragraphs>219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Cambria Math</vt:lpstr>
      <vt:lpstr>Franklin Gothic Book</vt:lpstr>
      <vt:lpstr>Raleway Medium</vt:lpstr>
      <vt:lpstr>Office Theme</vt:lpstr>
      <vt:lpstr>Intermediate Price Theory</vt:lpstr>
      <vt:lpstr>What is Intermediate Price Theory?</vt:lpstr>
      <vt:lpstr>What is Intermediate Price Theory?</vt:lpstr>
      <vt:lpstr>Why Should We Care?</vt:lpstr>
      <vt:lpstr>About Me</vt:lpstr>
      <vt:lpstr>PollEverywhere</vt:lpstr>
      <vt:lpstr>PowerPoint Presentation</vt:lpstr>
      <vt:lpstr>Contact Information</vt:lpstr>
      <vt:lpstr>Contact Information</vt:lpstr>
      <vt:lpstr>Grades</vt:lpstr>
      <vt:lpstr>Attendance</vt:lpstr>
      <vt:lpstr>Quizzes / Homework</vt:lpstr>
      <vt:lpstr>Exams</vt:lpstr>
      <vt:lpstr>Textbook / Reading Material</vt:lpstr>
      <vt:lpstr>PowerPoint Presentation</vt:lpstr>
      <vt:lpstr>Quick Math Background Check</vt:lpstr>
      <vt:lpstr>Quick Math Background Check</vt:lpstr>
      <vt:lpstr>Quick Math Background Check</vt:lpstr>
      <vt:lpstr>PowerPoint Presentation</vt:lpstr>
      <vt:lpstr>Quick Math Background Check</vt:lpstr>
      <vt:lpstr>Quick Math Background Check</vt:lpstr>
      <vt:lpstr>Quick Math Background Check</vt:lpstr>
      <vt:lpstr>Preview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Brian Park</cp:lastModifiedBy>
  <cp:revision>7</cp:revision>
  <dcterms:created xsi:type="dcterms:W3CDTF">2023-08-17T23:00:51Z</dcterms:created>
  <dcterms:modified xsi:type="dcterms:W3CDTF">2023-08-21T15:22:06Z</dcterms:modified>
</cp:coreProperties>
</file>