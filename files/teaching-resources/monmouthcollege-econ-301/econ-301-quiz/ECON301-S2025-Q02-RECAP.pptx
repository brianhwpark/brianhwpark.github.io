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6"/>
  </p:notesMasterIdLst>
  <p:sldIdLst>
    <p:sldId id="256" r:id="rId2"/>
    <p:sldId id="292" r:id="rId3"/>
    <p:sldId id="293" r:id="rId4"/>
    <p:sldId id="273" r:id="rId5"/>
    <p:sldId id="275" r:id="rId6"/>
    <p:sldId id="276" r:id="rId7"/>
    <p:sldId id="277" r:id="rId8"/>
    <p:sldId id="278" r:id="rId9"/>
    <p:sldId id="279" r:id="rId10"/>
    <p:sldId id="280" r:id="rId11"/>
    <p:sldId id="282" r:id="rId12"/>
    <p:sldId id="281" r:id="rId13"/>
    <p:sldId id="294" r:id="rId14"/>
    <p:sldId id="29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60"/>
  </p:normalViewPr>
  <p:slideViewPr>
    <p:cSldViewPr snapToGrid="0">
      <p:cViewPr varScale="1">
        <p:scale>
          <a:sx n="95" d="100"/>
          <a:sy n="95" d="100"/>
        </p:scale>
        <p:origin x="13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2/26/2025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brianhwpark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Quiz #2 Review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</a:t>
            </a:r>
            <a:r>
              <a:rPr lang="en-US" dirty="0"/>
              <a:t>301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FE5A-A094-040B-C715-53B90088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7E60C-75B6-BEAA-2656-4A1B0963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61CDF-F8AC-C331-FDF0-04A3B1CE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36124-0D0D-64D1-6DD1-925BD37B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B4E1B-76FF-FC01-A1CE-8002E43F6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Grade Distribution</a:t>
            </a:r>
          </a:p>
        </p:txBody>
      </p:sp>
      <p:pic>
        <p:nvPicPr>
          <p:cNvPr id="8" name="Content Placeholder 7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ABF74AD0-A596-AC60-F08B-5ACE681D3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333" y="1825625"/>
            <a:ext cx="5985334" cy="4351338"/>
          </a:xfrm>
        </p:spPr>
      </p:pic>
    </p:spTree>
    <p:extLst>
      <p:ext uri="{BB962C8B-B14F-4D97-AF65-F5344CB8AC3E}">
        <p14:creationId xmlns:p14="http://schemas.microsoft.com/office/powerpoint/2010/main" val="1896493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CB32-86ED-A611-ECA8-4A0B8005D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41B22-A03C-000A-499A-2EB4FDA62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Read 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02E57-1505-D0E0-0D15-C87A929DE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			</a:t>
            </a:r>
          </a:p>
          <a:p>
            <a:pPr marL="0" indent="0">
              <a:buNone/>
            </a:pPr>
            <a:r>
              <a:rPr lang="en-US" dirty="0"/>
              <a:t>				      Correct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      Partially Correct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       Incorrect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3C1F4-39E4-0CD5-D3F8-C888FAC92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2505F-9169-DDB2-2BE8-9FE2EF43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6945F-5483-B46E-B693-97103FE4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EC6A58-FEFC-792C-E1B0-E02309248A56}"/>
              </a:ext>
            </a:extLst>
          </p:cNvPr>
          <p:cNvSpPr/>
          <p:nvPr/>
        </p:nvSpPr>
        <p:spPr>
          <a:xfrm>
            <a:off x="3200401" y="2022477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15F88C8-5DB2-E873-45E3-8013919ED5F5}"/>
              </a:ext>
            </a:extLst>
          </p:cNvPr>
          <p:cNvSpPr/>
          <p:nvPr/>
        </p:nvSpPr>
        <p:spPr>
          <a:xfrm>
            <a:off x="3108961" y="3273286"/>
            <a:ext cx="1097280" cy="914400"/>
          </a:xfrm>
          <a:prstGeom prst="triangl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8F86E3-06C3-2693-9F40-E202E691C51C}"/>
              </a:ext>
            </a:extLst>
          </p:cNvPr>
          <p:cNvCxnSpPr/>
          <p:nvPr/>
        </p:nvCxnSpPr>
        <p:spPr>
          <a:xfrm flipV="1">
            <a:off x="3130827" y="4784034"/>
            <a:ext cx="1053548" cy="914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52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#2 “Recovery” Office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https://calendly.com/brianhwpark</a:t>
            </a:r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Venue: Rm. 248 Center for Science and Business</a:t>
            </a:r>
          </a:p>
          <a:p>
            <a:pPr lvl="3"/>
            <a:endParaRPr lang="en-US" dirty="0"/>
          </a:p>
          <a:p>
            <a:r>
              <a:rPr lang="en-US" dirty="0"/>
              <a:t>Dates: Feb. 26</a:t>
            </a:r>
            <a:r>
              <a:rPr lang="en-US" baseline="30000" dirty="0"/>
              <a:t>th</a:t>
            </a:r>
            <a:r>
              <a:rPr lang="en-US" dirty="0"/>
              <a:t> ~ Mar. 7</a:t>
            </a:r>
            <a:r>
              <a:rPr lang="en-US" baseline="30000" dirty="0"/>
              <a:t>th</a:t>
            </a:r>
            <a:r>
              <a:rPr lang="en-US" dirty="0"/>
              <a:t> , 2025 (Wednesday ~ Friday)</a:t>
            </a:r>
          </a:p>
          <a:p>
            <a:pPr lvl="3"/>
            <a:endParaRPr lang="en-US" dirty="0"/>
          </a:p>
          <a:p>
            <a:r>
              <a:rPr lang="en-US" dirty="0"/>
              <a:t>Length: 30 Minutes per Session</a:t>
            </a:r>
          </a:p>
          <a:p>
            <a:pPr lvl="3"/>
            <a:endParaRPr lang="en-US" dirty="0"/>
          </a:p>
          <a:p>
            <a:r>
              <a:rPr lang="en-US" dirty="0"/>
              <a:t>Use the Whiteboard / Paper to correct your answers.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31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Federal Funds Rate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interest rate that private banks charge each other in the federal funds market.</a:t>
            </a:r>
          </a:p>
          <a:p>
            <a:pPr lvl="3"/>
            <a:endParaRPr lang="en-US" dirty="0"/>
          </a:p>
          <a:p>
            <a:r>
              <a:rPr lang="en-US" dirty="0"/>
              <a:t>Nominal Interest Rate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interest rate in terms of dollars.</a:t>
            </a:r>
          </a:p>
          <a:p>
            <a:pPr lvl="3"/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LM Curve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 graph that shows the relationship between interest rates and output when the money market is in equilibrium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20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03FC7-4AD0-08D4-F495-8C48D7A71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5F255-924E-DF71-4DE0-CCBC4BA81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186F9-9849-DF19-443F-D3838ED7A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Fiat Money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Assets that are used as money that have no intrinsic value.</a:t>
            </a:r>
          </a:p>
          <a:p>
            <a:pPr lvl="3"/>
            <a:endParaRPr lang="en-US" dirty="0"/>
          </a:p>
          <a:p>
            <a:r>
              <a:rPr lang="en-US" dirty="0"/>
              <a:t>Open Market Operations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One of the Federal Reserve’s tools of conducting monetary policy. Involves the purchase and sale of securities.</a:t>
            </a:r>
          </a:p>
          <a:p>
            <a:pPr lvl="3"/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Double Coincidence of Wants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 situation where two individuals each possess a good or service that the other desires.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C3E74-D185-2DA7-E2A1-7B1F64F7A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5D783-8034-CDD4-508A-FBF57871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EB1C6-1A4D-BC16-DF69-2221DCA5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6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D79A0-4685-8077-8C9B-ADF0F2F4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12F4-E5A5-3F6D-B60E-66339E63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5BD20-8327-7672-72B9-B6F667A1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428527"/>
          </a:xfrm>
        </p:spPr>
        <p:txBody>
          <a:bodyPr>
            <a:normAutofit/>
          </a:bodyPr>
          <a:lstStyle/>
          <a:p>
            <a:r>
              <a:rPr lang="en-US" dirty="0"/>
              <a:t>A higher risk premium means that an asset is considered safer by investors.</a:t>
            </a:r>
          </a:p>
          <a:p>
            <a:pPr lvl="3"/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pPr lvl="4"/>
            <a:endParaRPr lang="en-US" sz="500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The risk premium (x) increases when the asset is considered to be riskier.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D218D-11BE-B824-A207-9873D442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F7BD3-55B9-757A-5E09-2498491A5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67253-D52C-5E3C-A1F3-5BA6F7BF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63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BA4F-5B2D-1194-396B-C9C43FC0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60D7-31B4-F88F-423B-E2D4F442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2.B.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39FEB-4C89-951D-F700-AC992B668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decrease in the federal funds rate typically leads to an increase in borrowing and investment.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D3F9A-C8A0-FC60-D863-7E7BF488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27D32-E881-33B1-77EA-3FDB0B55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81FAE-91F2-6BD6-E415-0107D969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5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691E-09CC-29BA-538C-B42AC42B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23C3-A3C3-9482-A3CC-2A16FF7F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E227A-A034-476E-BB68-2C53F800B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IS curve represents equilibrium in the money market, while the LM curve represents equilibrium in the goods market.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IS curve represents the equilibria in the goods market.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LM curve represents the equilibria in the financial market.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E97B1-FE3A-0EFB-83E9-E896AE2A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11AF-7C57-5D2D-52FD-8AA253FE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8B4C7-2271-A7E1-03A4-BC0CBE60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77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E13E-28F3-4D5A-DF36-39A69CCA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57FE-3B29-1F99-2971-18FFAE82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0E9B-6597-B043-FE63-EABA1D1B7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asset that satisfy the following three functions is defined as money: a medium of exchange, a store of value, and a source of economic growth.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three functions of money are as follows: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Medium of Exchange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Store of Value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Unit of Account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9871-024E-86B5-2C8B-1F8F1388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540FD-CC7D-4EC2-D4FA-83E9A170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9932B-C1EC-1C43-2517-7918AF89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86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FD6D7-504A-A71B-E113-924A2AF7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3ECA-97E2-9D6C-5BC9-050724BE8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DCFEA-CAC2-155E-0646-2A1CFB62C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Illustrate and explain how an increase in risk-taking behavior by financial institutions affects the extended IS-LM framework.</a:t>
            </a:r>
          </a:p>
          <a:p>
            <a:endParaRPr lang="en-US" sz="500" dirty="0"/>
          </a:p>
          <a:p>
            <a:pPr marL="0" indent="0">
              <a:buNone/>
            </a:pPr>
            <a:endParaRPr lang="en-US" sz="18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B8036-BE05-BFB4-D4D5-A80BE3E3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BCEF9-75B0-399A-2229-4241C646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9C02A-12F7-DD18-E2B1-ECD804EA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8E8C62-591E-03D3-3BFE-1C8E3F099FFD}"/>
              </a:ext>
            </a:extLst>
          </p:cNvPr>
          <p:cNvCxnSpPr>
            <a:cxnSpLocks/>
          </p:cNvCxnSpPr>
          <p:nvPr/>
        </p:nvCxnSpPr>
        <p:spPr>
          <a:xfrm>
            <a:off x="1010702" y="3381742"/>
            <a:ext cx="0" cy="2957589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0AB921-B7B8-0029-C19F-D093D31248B4}"/>
              </a:ext>
            </a:extLst>
          </p:cNvPr>
          <p:cNvCxnSpPr>
            <a:cxnSpLocks/>
          </p:cNvCxnSpPr>
          <p:nvPr/>
        </p:nvCxnSpPr>
        <p:spPr>
          <a:xfrm>
            <a:off x="822583" y="5362970"/>
            <a:ext cx="2580757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5CF0D1-3751-3CA5-2745-2936083387A3}"/>
                  </a:ext>
                </a:extLst>
              </p:cNvPr>
              <p:cNvSpPr txBox="1"/>
              <p:nvPr/>
            </p:nvSpPr>
            <p:spPr>
              <a:xfrm>
                <a:off x="3338009" y="5215991"/>
                <a:ext cx="2123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5CF0D1-3751-3CA5-2745-293608338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009" y="5215991"/>
                <a:ext cx="212328" cy="307777"/>
              </a:xfrm>
              <a:prstGeom prst="rect">
                <a:avLst/>
              </a:prstGeom>
              <a:blipFill>
                <a:blip r:embed="rId2"/>
                <a:stretch>
                  <a:fillRect r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6C339E-DE05-0AA7-3785-F2A348BB08C1}"/>
                  </a:ext>
                </a:extLst>
              </p:cNvPr>
              <p:cNvSpPr txBox="1"/>
              <p:nvPr/>
            </p:nvSpPr>
            <p:spPr>
              <a:xfrm>
                <a:off x="878471" y="3100964"/>
                <a:ext cx="1977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6C339E-DE05-0AA7-3785-F2A348BB0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471" y="3100964"/>
                <a:ext cx="197786" cy="307777"/>
              </a:xfrm>
              <a:prstGeom prst="rect">
                <a:avLst/>
              </a:prstGeom>
              <a:blipFill>
                <a:blip r:embed="rId3"/>
                <a:stretch>
                  <a:fillRect r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6432A0-08EC-0717-F0C5-D2F27447E622}"/>
              </a:ext>
            </a:extLst>
          </p:cNvPr>
          <p:cNvCxnSpPr>
            <a:cxnSpLocks/>
          </p:cNvCxnSpPr>
          <p:nvPr/>
        </p:nvCxnSpPr>
        <p:spPr>
          <a:xfrm>
            <a:off x="1012217" y="4761609"/>
            <a:ext cx="2326560" cy="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26D6B2-2CA8-1872-D838-061395A0B6C5}"/>
                  </a:ext>
                </a:extLst>
              </p:cNvPr>
              <p:cNvSpPr txBox="1"/>
              <p:nvPr/>
            </p:nvSpPr>
            <p:spPr>
              <a:xfrm>
                <a:off x="3295583" y="4617973"/>
                <a:ext cx="3042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𝐿𝑀</m:t>
                      </m:r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26D6B2-2CA8-1872-D838-061395A0B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583" y="4617973"/>
                <a:ext cx="304234" cy="307777"/>
              </a:xfrm>
              <a:prstGeom prst="rect">
                <a:avLst/>
              </a:prstGeom>
              <a:blipFill>
                <a:blip r:embed="rId4"/>
                <a:stretch>
                  <a:fillRect r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E729DB-1695-65A3-60D8-94871EEF0CD7}"/>
                  </a:ext>
                </a:extLst>
              </p:cNvPr>
              <p:cNvSpPr txBox="1"/>
              <p:nvPr/>
            </p:nvSpPr>
            <p:spPr>
              <a:xfrm>
                <a:off x="726341" y="4576943"/>
                <a:ext cx="1854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E729DB-1695-65A3-60D8-94871EEF0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41" y="4576943"/>
                <a:ext cx="185468" cy="369332"/>
              </a:xfrm>
              <a:prstGeom prst="rect">
                <a:avLst/>
              </a:prstGeom>
              <a:blipFill>
                <a:blip r:embed="rId5"/>
                <a:stretch>
                  <a:fillRect r="-38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0E5BD5D-858B-74C1-8495-F1B594F7EDA8}"/>
              </a:ext>
            </a:extLst>
          </p:cNvPr>
          <p:cNvSpPr/>
          <p:nvPr/>
        </p:nvSpPr>
        <p:spPr>
          <a:xfrm>
            <a:off x="1158445" y="3789459"/>
            <a:ext cx="1893186" cy="1893186"/>
          </a:xfrm>
          <a:custGeom>
            <a:avLst/>
            <a:gdLst>
              <a:gd name="connsiteX0" fmla="*/ 0 w 3359150"/>
              <a:gd name="connsiteY0" fmla="*/ 0 h 3352800"/>
              <a:gd name="connsiteX1" fmla="*/ 1358900 w 3359150"/>
              <a:gd name="connsiteY1" fmla="*/ 2051050 h 3352800"/>
              <a:gd name="connsiteX2" fmla="*/ 3359150 w 3359150"/>
              <a:gd name="connsiteY2" fmla="*/ 335280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9150" h="3352800">
                <a:moveTo>
                  <a:pt x="0" y="0"/>
                </a:moveTo>
                <a:cubicBezTo>
                  <a:pt x="399521" y="746125"/>
                  <a:pt x="799042" y="1492250"/>
                  <a:pt x="1358900" y="2051050"/>
                </a:cubicBezTo>
                <a:cubicBezTo>
                  <a:pt x="1918758" y="2609850"/>
                  <a:pt x="2638954" y="2981325"/>
                  <a:pt x="3359150" y="3352800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EA11C5-5990-57BC-E78C-10E248F9222A}"/>
                  </a:ext>
                </a:extLst>
              </p:cNvPr>
              <p:cNvSpPr txBox="1"/>
              <p:nvPr/>
            </p:nvSpPr>
            <p:spPr>
              <a:xfrm>
                <a:off x="2918504" y="5641207"/>
                <a:ext cx="24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𝐼𝑆</m:t>
                      </m:r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EA11C5-5990-57BC-E78C-10E248F92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504" y="5641207"/>
                <a:ext cx="248560" cy="307777"/>
              </a:xfrm>
              <a:prstGeom prst="rect">
                <a:avLst/>
              </a:prstGeom>
              <a:blipFill>
                <a:blip r:embed="rId6"/>
                <a:stretch>
                  <a:fillRect r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FC68BAB-3785-F3B6-B0FC-121B8662C84F}"/>
              </a:ext>
            </a:extLst>
          </p:cNvPr>
          <p:cNvSpPr/>
          <p:nvPr/>
        </p:nvSpPr>
        <p:spPr>
          <a:xfrm>
            <a:off x="1591820" y="3732246"/>
            <a:ext cx="1893186" cy="1893186"/>
          </a:xfrm>
          <a:custGeom>
            <a:avLst/>
            <a:gdLst>
              <a:gd name="connsiteX0" fmla="*/ 0 w 3359150"/>
              <a:gd name="connsiteY0" fmla="*/ 0 h 3352800"/>
              <a:gd name="connsiteX1" fmla="*/ 1358900 w 3359150"/>
              <a:gd name="connsiteY1" fmla="*/ 2051050 h 3352800"/>
              <a:gd name="connsiteX2" fmla="*/ 3359150 w 3359150"/>
              <a:gd name="connsiteY2" fmla="*/ 335280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9150" h="3352800">
                <a:moveTo>
                  <a:pt x="0" y="0"/>
                </a:moveTo>
                <a:cubicBezTo>
                  <a:pt x="399521" y="746125"/>
                  <a:pt x="799042" y="1492250"/>
                  <a:pt x="1358900" y="2051050"/>
                </a:cubicBezTo>
                <a:cubicBezTo>
                  <a:pt x="1918758" y="2609850"/>
                  <a:pt x="2638954" y="2981325"/>
                  <a:pt x="3359150" y="3352800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F40069-437F-E706-94AA-F427F79AF037}"/>
                  </a:ext>
                </a:extLst>
              </p:cNvPr>
              <p:cNvSpPr txBox="1"/>
              <p:nvPr/>
            </p:nvSpPr>
            <p:spPr>
              <a:xfrm>
                <a:off x="3414712" y="5549268"/>
                <a:ext cx="2881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F40069-437F-E706-94AA-F427F79AF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712" y="5549268"/>
                <a:ext cx="288140" cy="307777"/>
              </a:xfrm>
              <a:prstGeom prst="rect">
                <a:avLst/>
              </a:prstGeom>
              <a:blipFill>
                <a:blip r:embed="rId7"/>
                <a:stretch>
                  <a:fillRect r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DE9BD015-C95B-A5F0-9A3D-255E350CB97F}"/>
              </a:ext>
            </a:extLst>
          </p:cNvPr>
          <p:cNvSpPr/>
          <p:nvPr/>
        </p:nvSpPr>
        <p:spPr>
          <a:xfrm>
            <a:off x="1733118" y="4736052"/>
            <a:ext cx="46602" cy="4660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22F0C4-C15F-BF44-C0EB-2582A014F0E1}"/>
              </a:ext>
            </a:extLst>
          </p:cNvPr>
          <p:cNvCxnSpPr>
            <a:cxnSpLocks/>
          </p:cNvCxnSpPr>
          <p:nvPr/>
        </p:nvCxnSpPr>
        <p:spPr>
          <a:xfrm>
            <a:off x="1757461" y="5344682"/>
            <a:ext cx="0" cy="55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1DF1473-7BDE-7646-85E4-C1323FE48675}"/>
                  </a:ext>
                </a:extLst>
              </p:cNvPr>
              <p:cNvSpPr txBox="1"/>
              <p:nvPr/>
            </p:nvSpPr>
            <p:spPr>
              <a:xfrm>
                <a:off x="1607505" y="5379991"/>
                <a:ext cx="2141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1DF1473-7BDE-7646-85E4-C1323FE48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505" y="5379991"/>
                <a:ext cx="214170" cy="338554"/>
              </a:xfrm>
              <a:prstGeom prst="rect">
                <a:avLst/>
              </a:prstGeom>
              <a:blipFill>
                <a:blip r:embed="rId8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360E77-3DE1-989E-32A3-CADB5544C595}"/>
                  </a:ext>
                </a:extLst>
              </p:cNvPr>
              <p:cNvSpPr txBox="1"/>
              <p:nvPr/>
            </p:nvSpPr>
            <p:spPr>
              <a:xfrm>
                <a:off x="1500420" y="4699375"/>
                <a:ext cx="2141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360E77-3DE1-989E-32A3-CADB5544C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420" y="4699375"/>
                <a:ext cx="214170" cy="338554"/>
              </a:xfrm>
              <a:prstGeom prst="rect">
                <a:avLst/>
              </a:prstGeom>
              <a:blipFill>
                <a:blip r:embed="rId9"/>
                <a:stretch>
                  <a:fillRect r="-3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13B192-571D-BADE-D9AF-CC337FEA4880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56419" y="4782654"/>
            <a:ext cx="0" cy="5620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FCAB0AD-7C36-9498-FF0D-ECF3C4CB553F}"/>
              </a:ext>
            </a:extLst>
          </p:cNvPr>
          <p:cNvSpPr/>
          <p:nvPr/>
        </p:nvSpPr>
        <p:spPr>
          <a:xfrm>
            <a:off x="2211269" y="4736052"/>
            <a:ext cx="46602" cy="4660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6B321E-7FC5-3BAF-685F-2FD1126BA5CF}"/>
              </a:ext>
            </a:extLst>
          </p:cNvPr>
          <p:cNvCxnSpPr>
            <a:cxnSpLocks/>
          </p:cNvCxnSpPr>
          <p:nvPr/>
        </p:nvCxnSpPr>
        <p:spPr>
          <a:xfrm>
            <a:off x="2238469" y="5344682"/>
            <a:ext cx="0" cy="55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B9EFFD-18C2-B43B-6A03-795B6B5886D3}"/>
                  </a:ext>
                </a:extLst>
              </p:cNvPr>
              <p:cNvSpPr txBox="1"/>
              <p:nvPr/>
            </p:nvSpPr>
            <p:spPr>
              <a:xfrm>
                <a:off x="2063363" y="5348432"/>
                <a:ext cx="214170" cy="372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sSup>
                            <m:sSup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e>
                            <m: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B9EFFD-18C2-B43B-6A03-795B6B588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363" y="5348432"/>
                <a:ext cx="214170" cy="372090"/>
              </a:xfrm>
              <a:prstGeom prst="rect">
                <a:avLst/>
              </a:prstGeom>
              <a:blipFill>
                <a:blip r:embed="rId10"/>
                <a:stretch>
                  <a:fillRect r="-80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D3BBD05-68C8-489E-A35E-EFC4822ABE77}"/>
                  </a:ext>
                </a:extLst>
              </p:cNvPr>
              <p:cNvSpPr txBox="1"/>
              <p:nvPr/>
            </p:nvSpPr>
            <p:spPr>
              <a:xfrm>
                <a:off x="2150786" y="4454597"/>
                <a:ext cx="2141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D3BBD05-68C8-489E-A35E-EFC4822AB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786" y="4454597"/>
                <a:ext cx="214170" cy="338554"/>
              </a:xfrm>
              <a:prstGeom prst="rect">
                <a:avLst/>
              </a:prstGeom>
              <a:blipFill>
                <a:blip r:embed="rId11"/>
                <a:stretch>
                  <a:fillRect r="-4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CCCA9E4-0595-12C9-E9A1-F8665466DC45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2234570" y="4782654"/>
            <a:ext cx="3899" cy="58031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ontent Placeholder 5">
                <a:extLst>
                  <a:ext uri="{FF2B5EF4-FFF2-40B4-BE49-F238E27FC236}">
                    <a16:creationId xmlns:a16="http://schemas.microsoft.com/office/drawing/2014/main" id="{26C03E33-99E8-1A71-F7DE-BFF3D6565E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29150" y="2505075"/>
                <a:ext cx="3887391" cy="368458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2000" dirty="0"/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The economy starts off at the short run equilibrium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The increase in risk-taking lowers the risk premium, which lowers the borrowing rate.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Investment increases given the same interest rate.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The IS curve shifts to the right, and the economy reaches a new equilibrium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0" name="Content Placeholder 5">
                <a:extLst>
                  <a:ext uri="{FF2B5EF4-FFF2-40B4-BE49-F238E27FC236}">
                    <a16:creationId xmlns:a16="http://schemas.microsoft.com/office/drawing/2014/main" id="{26C03E33-99E8-1A71-F7DE-BFF3D6565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0" y="2505075"/>
                <a:ext cx="3887391" cy="3684588"/>
              </a:xfrm>
              <a:prstGeom prst="rect">
                <a:avLst/>
              </a:prstGeom>
              <a:blipFill>
                <a:blip r:embed="rId12"/>
                <a:stretch>
                  <a:fillRect l="-1411" r="-2821" b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92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4" grpId="0" animBg="1"/>
      <p:bldP spid="15" grpId="0"/>
      <p:bldP spid="16" grpId="0" animBg="1"/>
      <p:bldP spid="17" grpId="0"/>
      <p:bldP spid="18" grpId="0" animBg="1"/>
      <p:bldP spid="20" grpId="0"/>
      <p:bldP spid="21" grpId="0"/>
      <p:bldP spid="23" grpId="0" animBg="1"/>
      <p:bldP spid="25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4785-2701-708E-70C5-DF10AC6E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D94-DB88-2A45-C993-5D312FEE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3.B.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A88C1-140E-F0D5-8D3C-41656D4E5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policy actions could the Federal Reserve take to manage potential risks and maintain economic stability?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The economy is overshooting its short run equilibrium, and the Fed will want to lower output to its short run equilibrium.</a:t>
            </a:r>
          </a:p>
          <a:p>
            <a:pPr lvl="4"/>
            <a:endParaRPr lang="en-US" sz="500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The Fed can conduct contractionary monetary policy to increase the interest rates, which shifts the LM curve upward.</a:t>
            </a:r>
          </a:p>
          <a:p>
            <a:pPr lvl="1"/>
            <a:endParaRPr lang="en-US" sz="500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The increased interest rate counteracts the lowered risk premium and restores the original borrowing rate.</a:t>
            </a:r>
          </a:p>
          <a:p>
            <a:pPr lvl="1"/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The economy will return to its original short run equilibrium, with a higher interest rate.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1263-E777-19DC-8031-63DF35CA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660D9-91A3-30AF-B088-BFEAF9C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46DF-625C-2EB3-454D-A4C4A89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76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07297-111B-E4C8-3141-5755C0FE2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CAE8B-8958-3B72-C4A7-28798E43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0059E8-9E0D-099A-42EE-83DB766044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policy actions could the Government take to manage potential risks and maintain economic stability?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economy is overshooting its short run equilibrium, and the Government will want to lower output to its short run equilibrium.</a:t>
                </a:r>
              </a:p>
              <a:p>
                <a:pPr lvl="4"/>
                <a:endParaRPr lang="en-US" sz="5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Government can conduct contractionary fiscal policy to influence the goods market.</a:t>
                </a:r>
              </a:p>
              <a:p>
                <a:pPr lvl="1"/>
                <a:endParaRPr lang="en-US" sz="5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changes made to the goods market will shift the IS curve to the left-hand side.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economy will return to its original short run equilibrium, at point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0059E8-9E0D-099A-42EE-83DB76604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08AFB-2499-55E4-5A7B-496F9D18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A4CF6-596E-1BEE-F677-F011F0EE2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1EF1C-A7C5-1B79-EEB8-BE55B464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4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88FFC-42D5-3381-5ADC-C30F5731C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AE32-2A33-38C0-D59B-C50FD46E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87C04-E360-DE5E-530B-768F7B945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Would you prioritize monetary or fiscal policy to address the risks associated with increased financial risk-taking?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This problem is open-ended.</a:t>
            </a:r>
          </a:p>
          <a:p>
            <a:pPr lvl="4"/>
            <a:endParaRPr lang="en-US" sz="500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If you choose monetary policy, you should mention that the interest rate will permanently be increased.</a:t>
            </a:r>
          </a:p>
          <a:p>
            <a:pPr lvl="1"/>
            <a:endParaRPr lang="en-US" sz="500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If you choose fiscal policy, you should mention the impact of government spending cuts on the economy, impact of increased taxation, and the potential of lowering the budget deficit.</a:t>
            </a:r>
          </a:p>
          <a:p>
            <a:pPr lvl="1"/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You could also choose a mix of monetary and fiscal policy, which will result in a moderately higher interest rate with budget cuts and new taxes being less intense.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056B3-120C-1E49-E512-6E39A073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99EB6-B9A1-5E3B-F32D-B3A950DD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2FF2E-E112-D7B0-33B3-0450A840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17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3674</TotalTime>
  <Words>861</Words>
  <Application>Microsoft Office PowerPoint</Application>
  <PresentationFormat>On-screen Show (4:3)</PresentationFormat>
  <Paragraphs>154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Franklin Gothic Book</vt:lpstr>
      <vt:lpstr>Office Theme</vt:lpstr>
      <vt:lpstr>Quiz #2 Review</vt:lpstr>
      <vt:lpstr>Grade Distribution</vt:lpstr>
      <vt:lpstr>How to Read Marks</vt:lpstr>
      <vt:lpstr>Quiz #2 “Recovery” Office Hours</vt:lpstr>
      <vt:lpstr>Problem 1. Definitions</vt:lpstr>
      <vt:lpstr>Problem 1. Definitions</vt:lpstr>
      <vt:lpstr>Problem 2.A.</vt:lpstr>
      <vt:lpstr>Problem 2.B.</vt:lpstr>
      <vt:lpstr>Problem 2.C.</vt:lpstr>
      <vt:lpstr>Problem 2.D.</vt:lpstr>
      <vt:lpstr>Problem 3.A.</vt:lpstr>
      <vt:lpstr>Problem 3.B.</vt:lpstr>
      <vt:lpstr>Problem 3.C.</vt:lpstr>
      <vt:lpstr>Problem 3.D.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82</cp:revision>
  <dcterms:created xsi:type="dcterms:W3CDTF">2023-08-17T23:00:51Z</dcterms:created>
  <dcterms:modified xsi:type="dcterms:W3CDTF">2025-02-26T16:36:25Z</dcterms:modified>
</cp:coreProperties>
</file>