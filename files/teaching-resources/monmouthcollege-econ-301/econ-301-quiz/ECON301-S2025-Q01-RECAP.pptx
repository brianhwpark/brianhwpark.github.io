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notesMasterIdLst>
    <p:notesMasterId r:id="rId18"/>
  </p:notesMasterIdLst>
  <p:sldIdLst>
    <p:sldId id="256" r:id="rId2"/>
    <p:sldId id="292" r:id="rId3"/>
    <p:sldId id="293" r:id="rId4"/>
    <p:sldId id="273" r:id="rId5"/>
    <p:sldId id="275" r:id="rId6"/>
    <p:sldId id="276" r:id="rId7"/>
    <p:sldId id="277" r:id="rId8"/>
    <p:sldId id="278" r:id="rId9"/>
    <p:sldId id="279" r:id="rId10"/>
    <p:sldId id="280" r:id="rId11"/>
    <p:sldId id="282" r:id="rId12"/>
    <p:sldId id="289" r:id="rId13"/>
    <p:sldId id="281" r:id="rId14"/>
    <p:sldId id="283" r:id="rId15"/>
    <p:sldId id="287" r:id="rId16"/>
    <p:sldId id="288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4282F"/>
    <a:srgbClr val="F5CFD0"/>
    <a:srgbClr val="E05F6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979" autoAdjust="0"/>
    <p:restoredTop sz="94660"/>
  </p:normalViewPr>
  <p:slideViewPr>
    <p:cSldViewPr snapToGrid="0">
      <p:cViewPr>
        <p:scale>
          <a:sx n="125" d="100"/>
          <a:sy n="125" d="100"/>
        </p:scale>
        <p:origin x="630" y="-5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0A6441-4E79-42FF-805B-86C90BDFD38D}" type="datetimeFigureOut">
              <a:rPr lang="en-US" smtClean="0"/>
              <a:t>2/7/2025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A29054-221E-4755-818D-C35A08AFDBE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27853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>
            <a:normAutofit/>
          </a:bodyPr>
          <a:lstStyle>
            <a:lvl1pPr algn="ctr">
              <a:defRPr sz="4400">
                <a:solidFill>
                  <a:srgbClr val="C0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32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ECON 301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Google Shape;92;p13">
            <a:extLst>
              <a:ext uri="{FF2B5EF4-FFF2-40B4-BE49-F238E27FC236}">
                <a16:creationId xmlns:a16="http://schemas.microsoft.com/office/drawing/2014/main" id="{BF16982E-3E38-0665-4F07-437DD3F0D5A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634323" y="228601"/>
            <a:ext cx="1875353" cy="99059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135496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ECON 301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Google Shape;101;p14">
            <a:extLst>
              <a:ext uri="{FF2B5EF4-FFF2-40B4-BE49-F238E27FC236}">
                <a16:creationId xmlns:a16="http://schemas.microsoft.com/office/drawing/2014/main" id="{859BA894-242B-5A6C-EFD3-428444AAFEC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973558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C0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>
            <a:normAutofit/>
          </a:bodyPr>
          <a:lstStyle>
            <a:lvl1pPr marL="0" indent="0" algn="ctr">
              <a:buNone/>
              <a:defRPr sz="3200" b="1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ECON 301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Google Shape;92;p13">
            <a:extLst>
              <a:ext uri="{FF2B5EF4-FFF2-40B4-BE49-F238E27FC236}">
                <a16:creationId xmlns:a16="http://schemas.microsoft.com/office/drawing/2014/main" id="{A5DC9873-6BF3-A825-551C-17B7FBCA97F5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634323" y="228601"/>
            <a:ext cx="1875353" cy="99059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505856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ECON 301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Google Shape;101;p14">
            <a:extLst>
              <a:ext uri="{FF2B5EF4-FFF2-40B4-BE49-F238E27FC236}">
                <a16:creationId xmlns:a16="http://schemas.microsoft.com/office/drawing/2014/main" id="{F820AB4E-4F46-3C81-9BD0-65A4D2A2DBEC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945962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>
            <a:no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>
            <a:no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ECON 301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0" name="Google Shape;101;p14">
            <a:extLst>
              <a:ext uri="{FF2B5EF4-FFF2-40B4-BE49-F238E27FC236}">
                <a16:creationId xmlns:a16="http://schemas.microsoft.com/office/drawing/2014/main" id="{C854E680-04A2-EA76-C6A6-8EF6A2AD0BB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142575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ECON 301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6" name="Google Shape;101;p14">
            <a:extLst>
              <a:ext uri="{FF2B5EF4-FFF2-40B4-BE49-F238E27FC236}">
                <a16:creationId xmlns:a16="http://schemas.microsoft.com/office/drawing/2014/main" id="{0E4BED26-AE3D-9FD7-372D-89389F761105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519556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ECON 301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5" name="Google Shape;101;p14">
            <a:extLst>
              <a:ext uri="{FF2B5EF4-FFF2-40B4-BE49-F238E27FC236}">
                <a16:creationId xmlns:a16="http://schemas.microsoft.com/office/drawing/2014/main" id="{63FB725D-7839-2629-E2FD-4289B983E67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49830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ECON 301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Google Shape;101;p14">
            <a:extLst>
              <a:ext uri="{FF2B5EF4-FFF2-40B4-BE49-F238E27FC236}">
                <a16:creationId xmlns:a16="http://schemas.microsoft.com/office/drawing/2014/main" id="{ADE22408-2DD9-F1EF-2438-A0546996FB2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331846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ECON 301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Google Shape;101;p14">
            <a:extLst>
              <a:ext uri="{FF2B5EF4-FFF2-40B4-BE49-F238E27FC236}">
                <a16:creationId xmlns:a16="http://schemas.microsoft.com/office/drawing/2014/main" id="{19CEB84E-A1D1-9AFA-DEC7-31056DF6BFAD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511656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ECON 301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Google Shape;101;p14">
            <a:extLst>
              <a:ext uri="{FF2B5EF4-FFF2-40B4-BE49-F238E27FC236}">
                <a16:creationId xmlns:a16="http://schemas.microsoft.com/office/drawing/2014/main" id="{1F852EF2-DB2E-EDA3-947F-AD7E6C19EBD8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381024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ECON 301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Google Shape;101;p14">
            <a:extLst>
              <a:ext uri="{FF2B5EF4-FFF2-40B4-BE49-F238E27FC236}">
                <a16:creationId xmlns:a16="http://schemas.microsoft.com/office/drawing/2014/main" id="{297A800C-E47B-35AC-0EA8-24F3738049A6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026333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00" b="1">
                <a:solidFill>
                  <a:schemeClr val="tx1"/>
                </a:solidFill>
                <a:latin typeface="Franklin Gothic Book" panose="020B0503020102020204" pitchFamily="34" charset="0"/>
                <a:cs typeface="Forte Forward" panose="020F0502020204030204" pitchFamily="2" charset="0"/>
              </a:defRPr>
            </a:lvl1pPr>
          </a:lstStyle>
          <a:p>
            <a:r>
              <a:rPr lang="en-US"/>
              <a:t>ECON 301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90777" y="6356351"/>
            <a:ext cx="576244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00" b="1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</a:lstStyle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00" b="1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</a:lstStyle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Google Shape;91;p13">
            <a:extLst>
              <a:ext uri="{FF2B5EF4-FFF2-40B4-BE49-F238E27FC236}">
                <a16:creationId xmlns:a16="http://schemas.microsoft.com/office/drawing/2014/main" id="{9C136CE5-665B-2FA1-3A31-86C4E8EC1DBB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0" y="0"/>
            <a:ext cx="9144000" cy="4230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259553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hf hdr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Franklin Gothic Book" panose="020B05030201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calendly.com/brianhwpark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981AA-C880-955A-8ACC-D4284C4A79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585" y="1122363"/>
            <a:ext cx="8108830" cy="2387600"/>
          </a:xfrm>
        </p:spPr>
        <p:txBody>
          <a:bodyPr>
            <a:normAutofit/>
          </a:bodyPr>
          <a:lstStyle/>
          <a:p>
            <a:r>
              <a:rPr lang="en-US" dirty="0"/>
              <a:t>Quiz #1 Review</a:t>
            </a:r>
            <a:endParaRPr lang="en-US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868834-9371-0482-209B-C2EBDB2D93F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ECON </a:t>
            </a:r>
            <a:r>
              <a:rPr lang="en-US" dirty="0"/>
              <a:t>301</a:t>
            </a:r>
            <a:endParaRPr lang="en-US" sz="32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43A60A-CBE6-B5CE-B9CE-C7DC93869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ECON 301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DF44A7-8470-0B18-F1D2-F47845ECB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6BCC6C-06D2-CC1B-BC1A-B87124A36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58063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23FE5A-A094-040B-C715-53B90088DE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77E60C-75B6-BEAA-2656-4A1B096319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ECON 301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A61CDF-F8AC-C331-FDF0-04A3B1CE6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536124-0D0D-64D1-6DD1-925BD37B88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</a:t>
            </a:fld>
            <a:endParaRPr lang="en-US" dirty="0"/>
          </a:p>
        </p:txBody>
      </p:sp>
      <p:pic>
        <p:nvPicPr>
          <p:cNvPr id="8" name="Content Placeholder 7" descr="A graph with green bars&#10;&#10;Description automatically generated">
            <a:extLst>
              <a:ext uri="{FF2B5EF4-FFF2-40B4-BE49-F238E27FC236}">
                <a16:creationId xmlns:a16="http://schemas.microsoft.com/office/drawing/2014/main" id="{0B4D7319-235B-02FE-6DA2-93C39DD2FC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9333" y="1825625"/>
            <a:ext cx="5985334" cy="4351338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B3B4E1B-76FF-FC01-A1CE-8002E43F6E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/>
          <a:lstStyle/>
          <a:p>
            <a:r>
              <a:rPr lang="en-US" dirty="0"/>
              <a:t>Grade Distribution</a:t>
            </a:r>
          </a:p>
        </p:txBody>
      </p:sp>
    </p:spTree>
    <p:extLst>
      <p:ext uri="{BB962C8B-B14F-4D97-AF65-F5344CB8AC3E}">
        <p14:creationId xmlns:p14="http://schemas.microsoft.com/office/powerpoint/2010/main" val="18964937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06CB32-86ED-A611-ECA8-4A0B8005DF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741B22-A03C-000A-499A-2EB4FDA627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Read Marks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D02E57-1505-D0E0-0D15-C87A929DED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				</a:t>
            </a:r>
          </a:p>
          <a:p>
            <a:pPr marL="0" indent="0">
              <a:buNone/>
            </a:pPr>
            <a:r>
              <a:rPr lang="en-US" dirty="0"/>
              <a:t>				      Correct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				      Partially Correct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				       Incorrect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63C1F4-39E4-0CD5-D3F8-C888FAC92A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ECON 301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22505F-9169-DDB2-2BE8-9FE2EF43F8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76945F-5483-B46E-B693-97103FE429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3</a:t>
            </a:fld>
            <a:endParaRPr lang="en-US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AEC6A58-FEFC-792C-E1B0-E02309248A56}"/>
              </a:ext>
            </a:extLst>
          </p:cNvPr>
          <p:cNvSpPr/>
          <p:nvPr/>
        </p:nvSpPr>
        <p:spPr>
          <a:xfrm>
            <a:off x="3200401" y="2022477"/>
            <a:ext cx="914400" cy="91440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115F88C8-5DB2-E873-45E3-8013919ED5F5}"/>
              </a:ext>
            </a:extLst>
          </p:cNvPr>
          <p:cNvSpPr/>
          <p:nvPr/>
        </p:nvSpPr>
        <p:spPr>
          <a:xfrm>
            <a:off x="3108961" y="3273286"/>
            <a:ext cx="1097280" cy="914400"/>
          </a:xfrm>
          <a:prstGeom prst="triangl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78F86E3-06C3-2693-9F40-E202E691C51C}"/>
              </a:ext>
            </a:extLst>
          </p:cNvPr>
          <p:cNvCxnSpPr/>
          <p:nvPr/>
        </p:nvCxnSpPr>
        <p:spPr>
          <a:xfrm flipV="1">
            <a:off x="3130827" y="4784034"/>
            <a:ext cx="1053548" cy="91440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5528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5E1D0-AC50-75BC-2F86-0F207240C7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Quiz #1 “Recovery” Office Hours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B4D1D4-EA4B-DF09-BAF9-16891DCF12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hlinkClick r:id="rId2"/>
              </a:rPr>
              <a:t>https://calendly.com/brianhwpark</a:t>
            </a:r>
            <a:endParaRPr lang="en-US" dirty="0"/>
          </a:p>
          <a:p>
            <a:pPr lvl="4"/>
            <a:endParaRPr lang="en-US" dirty="0"/>
          </a:p>
          <a:p>
            <a:r>
              <a:rPr lang="en-US" dirty="0"/>
              <a:t>Venue: Rm. 248 Center for Science and Business</a:t>
            </a:r>
          </a:p>
          <a:p>
            <a:pPr lvl="3"/>
            <a:endParaRPr lang="en-US" dirty="0"/>
          </a:p>
          <a:p>
            <a:r>
              <a:rPr lang="en-US" dirty="0"/>
              <a:t>Dates: Feb. 10</a:t>
            </a:r>
            <a:r>
              <a:rPr lang="en-US" baseline="30000" dirty="0"/>
              <a:t>th</a:t>
            </a:r>
            <a:r>
              <a:rPr lang="en-US" dirty="0"/>
              <a:t> ~ Feb. 14</a:t>
            </a:r>
            <a:r>
              <a:rPr lang="en-US" baseline="30000" dirty="0"/>
              <a:t>th</a:t>
            </a:r>
            <a:r>
              <a:rPr lang="en-US" dirty="0"/>
              <a:t> , 2025 (Monday ~ Friday)</a:t>
            </a:r>
          </a:p>
          <a:p>
            <a:pPr lvl="3"/>
            <a:endParaRPr lang="en-US" dirty="0"/>
          </a:p>
          <a:p>
            <a:r>
              <a:rPr lang="en-US" dirty="0"/>
              <a:t>Length: 30 Minutes per Session</a:t>
            </a:r>
          </a:p>
          <a:p>
            <a:pPr lvl="3"/>
            <a:endParaRPr lang="en-US" dirty="0"/>
          </a:p>
          <a:p>
            <a:r>
              <a:rPr lang="en-US" dirty="0"/>
              <a:t>Use the Whiteboard / Paper to correct your answers.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FB0351-3B31-0A13-EF20-C4A3CC072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ECON 301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233D7A-D6BD-BE76-F1E0-6547AA8CC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292573-8F29-6580-AFF7-797F8A981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53124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5E1D0-AC50-75BC-2F86-0F207240C7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1. Definitions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8B4D1D4-EA4B-DF09-BAF9-16891DCF122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Gross Domestic Product</a:t>
                </a:r>
              </a:p>
              <a:p>
                <a:pPr lvl="1"/>
                <a:r>
                  <a:rPr lang="en-US" dirty="0">
                    <a:solidFill>
                      <a:srgbClr val="FF0000"/>
                    </a:solidFill>
                  </a:rPr>
                  <a:t>The market value of all final goods and services produced in the economy during a given period.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Okun’s Law</a:t>
                </a:r>
              </a:p>
              <a:p>
                <a:pPr lvl="1"/>
                <a:r>
                  <a:rPr lang="en-US" dirty="0">
                    <a:solidFill>
                      <a:srgbClr val="FF0000"/>
                    </a:solidFill>
                  </a:rPr>
                  <a:t>Okun’s Law tells us when output growth is high, unemployment will decrease.</a:t>
                </a:r>
              </a:p>
              <a:p>
                <a:pPr lvl="3"/>
                <a:endParaRPr lang="en-US" dirty="0">
                  <a:solidFill>
                    <a:srgbClr val="FF0000"/>
                  </a:solidFill>
                </a:endParaRPr>
              </a:p>
              <a:p>
                <a:r>
                  <a:rPr lang="en-US" dirty="0"/>
                  <a:t>GDP Deflator Index</a:t>
                </a:r>
              </a:p>
              <a:p>
                <a:pPr lvl="1"/>
                <a:r>
                  <a:rPr lang="en-US" dirty="0">
                    <a:solidFill>
                      <a:srgbClr val="FF0000"/>
                    </a:solidFill>
                  </a:rPr>
                  <a:t>An index of inflation that leverages the definitions of nominal and real GDP.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𝐼𝐺𝐷𝑃𝐷𝐼</m:t>
                      </m:r>
                      <m:r>
                        <a:rPr lang="en-US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𝑁𝐺𝐷𝑃</m:t>
                          </m:r>
                        </m:num>
                        <m:den>
                          <m:r>
                            <a:rPr lang="en-US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𝑅𝐺𝐷𝑃</m:t>
                          </m:r>
                        </m:den>
                      </m:f>
                      <m:r>
                        <a:rPr lang="en-US" sz="16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×100</m:t>
                      </m:r>
                    </m:oMath>
                  </m:oMathPara>
                </a14:m>
                <a:endParaRPr lang="en-US" sz="16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8B4D1D4-EA4B-DF09-BAF9-16891DCF122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821" r="-10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FB0351-3B31-0A13-EF20-C4A3CC072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ECON 301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233D7A-D6BD-BE76-F1E0-6547AA8CC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292573-8F29-6580-AFF7-797F8A981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12036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C03FC7-4AD0-08D4-F495-8C48D7A714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25F255-924E-DF71-4DE0-CCBC4BA81F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1. Definitions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C186F9-9849-DF19-443F-D3838ED7AC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Structural Unemployment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Unemployment due to labor supply overwhelming labor demand. Often accompanied by structural shifts at the industry-level</a:t>
            </a:r>
          </a:p>
          <a:p>
            <a:pPr lvl="3"/>
            <a:endParaRPr lang="en-US" dirty="0"/>
          </a:p>
          <a:p>
            <a:r>
              <a:rPr lang="en-US" dirty="0"/>
              <a:t>Marginal Propensity to Consume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The proportion of disposable income that a household spends as consumption.</a:t>
            </a:r>
          </a:p>
          <a:p>
            <a:pPr lvl="3"/>
            <a:endParaRPr lang="en-US" dirty="0">
              <a:solidFill>
                <a:srgbClr val="FF0000"/>
              </a:solidFill>
            </a:endParaRPr>
          </a:p>
          <a:p>
            <a:r>
              <a:rPr lang="en-US" dirty="0"/>
              <a:t>Paradox of Thrift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A phenomenon in which an economy saving too much ends up with lower levels of savings in the long run due to output falling as a result of dampened economic activity.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4C3E74-D185-2DA7-E2A1-7B1F64F7A1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ECON 301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55D783-8034-CDD4-508A-FBF5787100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CEB1C6-1A4D-BC16-DF69-2221DCA57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8659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5D79A0-4685-8077-8C9B-ADF0F2F4A7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3C12F4-E5A5-3F6D-B60E-66339E63EC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2.A.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75BD20-8327-7672-72B9-B6F667A132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4"/>
            <a:ext cx="7886700" cy="4428527"/>
          </a:xfrm>
        </p:spPr>
        <p:txBody>
          <a:bodyPr>
            <a:normAutofit/>
          </a:bodyPr>
          <a:lstStyle/>
          <a:p>
            <a:r>
              <a:rPr lang="en-US" dirty="0"/>
              <a:t>The GDP of the U.S. includes all goods and services produced by U.S. citizens, regardless of where they live in the world.</a:t>
            </a:r>
          </a:p>
          <a:p>
            <a:pPr lvl="3"/>
            <a:endParaRPr lang="en-US" sz="500" dirty="0"/>
          </a:p>
          <a:p>
            <a:pPr lvl="1"/>
            <a:r>
              <a:rPr lang="en-US" dirty="0">
                <a:solidFill>
                  <a:srgbClr val="FF0000"/>
                </a:solidFill>
              </a:rPr>
              <a:t>FALSE</a:t>
            </a:r>
          </a:p>
          <a:p>
            <a:pPr lvl="4"/>
            <a:endParaRPr lang="en-US" sz="500" dirty="0">
              <a:solidFill>
                <a:srgbClr val="FF0000"/>
              </a:solidFill>
            </a:endParaRPr>
          </a:p>
          <a:p>
            <a:pPr lvl="1"/>
            <a:r>
              <a:rPr lang="en-US" dirty="0">
                <a:solidFill>
                  <a:srgbClr val="FF0000"/>
                </a:solidFill>
              </a:rPr>
              <a:t>GDP is the market value of all final goods and services produced within an economy in a given period of time.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“within an economy” means that it must be produced within the U.S. to be counted towards U.S. GDP.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The production of U.S. citizens overseas will be counted in the U.S. GNP.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2D218D-11BE-B824-A207-9873D4425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ECON 301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BF7BD3-55B9-757A-5E09-2498491A5F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767253-D52C-5E3C-A1F3-5BA6F7BFD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06307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8BBA4F-5B2D-1194-396B-C9C43FC0F7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360D7-31B4-F88F-423B-E2D4F4424A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2.B.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039FEB-4C89-951D-F700-AC992B6687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McDonald’s buys potatoes to make French fries, the purchase of those potatoes is included in GDP.</a:t>
            </a:r>
          </a:p>
          <a:p>
            <a:endParaRPr lang="en-US" sz="500" dirty="0"/>
          </a:p>
          <a:p>
            <a:pPr lvl="1"/>
            <a:r>
              <a:rPr lang="en-US" dirty="0">
                <a:solidFill>
                  <a:srgbClr val="FF0000"/>
                </a:solidFill>
              </a:rPr>
              <a:t>FALSE</a:t>
            </a:r>
          </a:p>
          <a:p>
            <a:pPr lvl="1"/>
            <a:endParaRPr lang="en-US" sz="500" dirty="0">
              <a:solidFill>
                <a:srgbClr val="FF0000"/>
              </a:solidFill>
            </a:endParaRPr>
          </a:p>
          <a:p>
            <a:pPr lvl="1"/>
            <a:r>
              <a:rPr lang="en-US" dirty="0">
                <a:solidFill>
                  <a:srgbClr val="FF0000"/>
                </a:solidFill>
              </a:rPr>
              <a:t>GDP is the market value of all final goods and services produced within an economy in a given period of time.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“final goods and services” means the value of the French fries will be included in GDP, not the potatoes sold to McDonalds.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DD3F9A-C8A0-FC60-D863-7E7BF488E8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ECON 301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627D32-E881-33B1-77EA-3FDB0B5501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B81FAE-91F2-6BD6-E415-0107D969B0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74536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7D691E-09CC-29BA-538C-B42AC42BFC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8D23C3-A3C3-9482-A3CC-2A16FF7F72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2.C.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4E227A-A034-476E-BB68-2C53F800B4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the nominal GDP of a country increases while real GDP remains the same, the economy has likely experienced deflation.</a:t>
            </a:r>
          </a:p>
          <a:p>
            <a:endParaRPr lang="en-US" sz="500" dirty="0"/>
          </a:p>
          <a:p>
            <a:pPr lvl="1"/>
            <a:r>
              <a:rPr lang="en-US" dirty="0">
                <a:solidFill>
                  <a:srgbClr val="FF0000"/>
                </a:solidFill>
              </a:rPr>
              <a:t>FALSE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If the nominal GDP increases while real GDP remains stagnant, it means that the “growth” is most likely an illusion due to the current year’s prices increasing.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Therefore, it is more likely that the economy has experienced inflation, not deflation.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8E97B1-FE3A-0EFB-83E9-E896AE2A7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ECON 301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6411AF-7C57-5D2D-52FD-8AA253FEF5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48B4C7-2271-A7E1-03A4-BC0CBE608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47769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33E13E-28F3-4D5A-DF36-39A69CCAEB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B257FE-3B29-1F99-2971-18FFAE82A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2.D.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250E9B-6597-B043-FE63-EABA1D1B7D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Phillips Curve suggests that during periods of low unemployment, inflation tends to be lower.</a:t>
            </a:r>
          </a:p>
          <a:p>
            <a:endParaRPr lang="en-US" sz="500" dirty="0"/>
          </a:p>
          <a:p>
            <a:pPr lvl="1"/>
            <a:r>
              <a:rPr lang="en-US" dirty="0">
                <a:solidFill>
                  <a:srgbClr val="FF0000"/>
                </a:solidFill>
              </a:rPr>
              <a:t>FALSE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When unemployment is low, it most likely means that people are earning more money and consuming more goods and services.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Under these conditions, it is more likely that prices will increase as a response to increased aggregate demand.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So, when unemployment is low, inflation will tend to be high.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C19871-024E-86B5-2C8B-1F8F138832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ECON 301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A540FD-CC7D-4EC2-D4FA-83E9A170E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79932B-C1EC-1C43-2517-7918AF89A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78610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BFD6D7-504A-A71B-E113-924A2AF796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743ECA-97E2-9D6C-5BC9-050724BE84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3.A.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F9DCFEA-CAC2-155E-0646-2A1CFB62CB3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Using the terms given below, show how one would derive the equilibrium output of the economy.</a:t>
                </a:r>
              </a:p>
              <a:p>
                <a:endParaRPr lang="en-US" sz="500" dirty="0"/>
              </a:p>
              <a:p>
                <a:pPr lvl="1"/>
                <a:r>
                  <a:rPr lang="en-US" sz="2200" dirty="0">
                    <a:solidFill>
                      <a:srgbClr val="FF0000"/>
                    </a:solidFill>
                  </a:rPr>
                  <a:t>Start off with the condition for an equilibrium, that output equals demand.</a:t>
                </a:r>
              </a:p>
              <a:p>
                <a:pPr marL="0" indent="0">
                  <a:buNone/>
                </a:pPr>
                <a:r>
                  <a:rPr lang="en-US" b="0" dirty="0"/>
                  <a:t>		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endParaRPr lang="en-US" sz="2000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r>
                  <a:rPr lang="en-US" sz="2000" dirty="0">
                    <a:solidFill>
                      <a:srgbClr val="FF0000"/>
                    </a:solidFill>
                  </a:rPr>
                  <a:t>		   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endParaRPr lang="en-US" sz="2000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r>
                  <a:rPr lang="en-US" sz="2000" dirty="0">
                    <a:solidFill>
                      <a:srgbClr val="FF0000"/>
                    </a:solidFill>
                  </a:rPr>
                  <a:t>		   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</m:acc>
                    <m:r>
                      <a:rPr lang="en-US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endParaRPr lang="en-US" sz="2000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r>
                  <a:rPr lang="en-US" sz="2000" dirty="0">
                    <a:solidFill>
                      <a:srgbClr val="FF0000"/>
                    </a:solidFill>
                  </a:rPr>
                  <a:t>		   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sz="20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0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sz="20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ctrlPr>
                              <a:rPr lang="en-US" sz="20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𝑌</m:t>
                            </m:r>
                            <m:r>
                              <a:rPr lang="en-US" sz="20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0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</m:d>
                      </m:e>
                    </m:d>
                    <m:r>
                      <a:rPr lang="en-US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</m:acc>
                    <m:r>
                      <a:rPr lang="en-US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endParaRPr lang="en-US" sz="2000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r>
                  <a:rPr lang="en-US" sz="2000" dirty="0">
                    <a:solidFill>
                      <a:srgbClr val="FF0000"/>
                    </a:solidFill>
                  </a:rPr>
                  <a:t>		   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</m:acc>
                    <m:r>
                      <a:rPr lang="en-US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F9DCFEA-CAC2-155E-0646-2A1CFB62CB3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6B8036-BE05-BFB4-D4D5-A80BE3E37E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ECON 301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6BCEF9-75B0-399A-2229-4241C6462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29C02A-12F7-DD18-E2B1-ECD804EAA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89238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EFDDCC-29C6-3D62-D444-D2EA7FC743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46ABD3-C195-B9ED-A985-751FA91CE6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3.A. (Cont’d)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8A55C29-66B2-CBDC-60F5-4869DFFAA0B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Using the terms given below, show how one would derive the equilibrium output of the economy.</a:t>
                </a:r>
              </a:p>
              <a:p>
                <a:endParaRPr lang="en-US" sz="500" dirty="0"/>
              </a:p>
              <a:p>
                <a:pPr lvl="1"/>
                <a:r>
                  <a:rPr lang="en-US" sz="2200" dirty="0">
                    <a:solidFill>
                      <a:srgbClr val="FF0000"/>
                    </a:solidFill>
                  </a:rPr>
                  <a:t>Subtract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4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sz="2200" dirty="0">
                    <a:solidFill>
                      <a:srgbClr val="FF0000"/>
                    </a:solidFill>
                  </a:rPr>
                  <a:t> from both sides, and organize the terms:</a:t>
                </a:r>
              </a:p>
              <a:p>
                <a:pPr marL="0" indent="0">
                  <a:buNone/>
                </a:pPr>
                <a:endParaRPr lang="en-US" sz="500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r>
                  <a:rPr lang="en-US" sz="2000" i="1" dirty="0">
                    <a:solidFill>
                      <a:srgbClr val="FF0000"/>
                    </a:solidFill>
                  </a:rPr>
                  <a:t>		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sz="20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0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0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</m:acc>
                    <m:r>
                      <a:rPr lang="en-US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endParaRPr lang="en-US" sz="2000" b="0" i="1" dirty="0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sz="500" b="0" i="1" dirty="0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sz="2000" b="0" dirty="0">
                    <a:solidFill>
                      <a:srgbClr val="FF0000"/>
                    </a:solidFill>
                    <a:ea typeface="Cambria Math" panose="02040503050406030204" pitchFamily="18" charset="0"/>
                  </a:rPr>
                  <a:t>	       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  </m:t>
                    </m:r>
                    <m:d>
                      <m:dPr>
                        <m:ctrlPr>
                          <a:rPr lang="en-US" sz="20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1−</m:t>
                        </m:r>
                        <m:sSub>
                          <m:sSubPr>
                            <m:ctrlPr>
                              <a:rPr lang="en-US" sz="2000" b="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sz="2000" b="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sz="20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</m:acc>
                    <m:r>
                      <a:rPr lang="en-US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endParaRPr lang="en-US" sz="2000" i="1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endParaRPr lang="en-US" sz="500" i="1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r>
                  <a:rPr lang="en-US" sz="2000" dirty="0">
                    <a:solidFill>
                      <a:srgbClr val="FF0000"/>
                    </a:solidFill>
                    <a:ea typeface="Cambria Math" panose="02040503050406030204" pitchFamily="18" charset="0"/>
                  </a:rPr>
                  <a:t>	        </a:t>
                </a:r>
                <a14:m>
                  <m:oMath xmlns:m="http://schemas.openxmlformats.org/officeDocument/2006/math">
                    <m:r>
                      <a:rPr lang="en-US" sz="2000" b="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  </m:t>
                    </m:r>
                    <m:r>
                      <a:rPr lang="en-US" sz="2000" b="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sz="2000" b="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1−</m:t>
                        </m:r>
                        <m:sSub>
                          <m:sSubPr>
                            <m:ctrlPr>
                              <a:rPr lang="en-US" sz="200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sz="20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d>
                      <m:dPr>
                        <m:ctrlPr>
                          <a:rPr lang="en-US" sz="20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sz="2000" b="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2000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sz="2000" b="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000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sz="2000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acc>
                          <m:accPr>
                            <m:chr m:val="̅"/>
                            <m:ctrlPr>
                              <a:rPr lang="en-US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b="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</m:acc>
                        <m:r>
                          <a:rPr lang="en-US" sz="2000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000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</m:d>
                  </m:oMath>
                </a14:m>
                <a:endParaRPr lang="en-US" sz="2000" i="1" dirty="0"/>
              </a:p>
              <a:p>
                <a:pPr marL="0" indent="0">
                  <a:buNone/>
                </a:pPr>
                <a:endParaRPr lang="en-US" sz="1800" i="1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8A55C29-66B2-CBDC-60F5-4869DFFAA0B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AA3031-FEF6-C700-3193-F632B0CB1D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ECON 301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8DF021-5192-062C-DA5A-B9FEDD0E36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F0DB9F-DC63-66C1-E514-70C360916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12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1CB6063-E875-62A0-8EE6-BFCD86C1987B}"/>
              </a:ext>
            </a:extLst>
          </p:cNvPr>
          <p:cNvSpPr/>
          <p:nvPr/>
        </p:nvSpPr>
        <p:spPr>
          <a:xfrm>
            <a:off x="2536166" y="4572000"/>
            <a:ext cx="3114136" cy="50895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53312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294785-2701-708E-70C5-DF10AC6E77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43D94-DB88-2A45-C993-5D312FEEEC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3.B.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8A88C1-140E-F0D5-8D3C-41656D4E5A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the following empty chart, plot and label the following elements.</a:t>
            </a:r>
          </a:p>
          <a:p>
            <a:endParaRPr lang="en-US" sz="5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AF1263-E777-19DC-8031-63DF35CAA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ECON 301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9660D9-91A3-30AF-B088-BFEAF9C14E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0946DF-625C-2EB3-454D-A4C4A89C0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13</a:t>
            </a:fld>
            <a:endParaRPr lang="en-US" dirty="0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A68B6ECA-2702-4C5A-B1AC-2C999B2B5CE7}"/>
              </a:ext>
            </a:extLst>
          </p:cNvPr>
          <p:cNvGrpSpPr/>
          <p:nvPr/>
        </p:nvGrpSpPr>
        <p:grpSpPr>
          <a:xfrm>
            <a:off x="1893132" y="2351581"/>
            <a:ext cx="4978240" cy="4072045"/>
            <a:chOff x="1893132" y="2351581"/>
            <a:chExt cx="4978240" cy="4072045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88EFAE07-FF66-6E2A-1CC3-8DD212B5C875}"/>
                </a:ext>
              </a:extLst>
            </p:cNvPr>
            <p:cNvCxnSpPr/>
            <p:nvPr/>
          </p:nvCxnSpPr>
          <p:spPr>
            <a:xfrm flipV="1">
              <a:off x="2802964" y="3724965"/>
              <a:ext cx="3404575" cy="13081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7FF9BFF0-76E2-89F8-3FAD-8C96CD2C3171}"/>
                </a:ext>
              </a:extLst>
            </p:cNvPr>
            <p:cNvCxnSpPr/>
            <p:nvPr/>
          </p:nvCxnSpPr>
          <p:spPr>
            <a:xfrm>
              <a:off x="2802964" y="5769665"/>
              <a:ext cx="3404575" cy="0"/>
            </a:xfrm>
            <a:prstGeom prst="line">
              <a:avLst/>
            </a:prstGeom>
            <a:ln>
              <a:solidFill>
                <a:schemeClr val="accent5">
                  <a:lumMod val="20000"/>
                  <a:lumOff val="8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B834FA97-0EA8-7E79-F6F8-56C3FA628A84}"/>
                </a:ext>
              </a:extLst>
            </p:cNvPr>
            <p:cNvCxnSpPr/>
            <p:nvPr/>
          </p:nvCxnSpPr>
          <p:spPr>
            <a:xfrm>
              <a:off x="2802964" y="5401365"/>
              <a:ext cx="3404575" cy="0"/>
            </a:xfrm>
            <a:prstGeom prst="line">
              <a:avLst/>
            </a:prstGeom>
            <a:ln>
              <a:solidFill>
                <a:schemeClr val="accent6">
                  <a:lumMod val="20000"/>
                  <a:lumOff val="8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B267A350-9CB5-6B49-44C4-C82CB2605B75}"/>
                </a:ext>
              </a:extLst>
            </p:cNvPr>
            <p:cNvCxnSpPr/>
            <p:nvPr/>
          </p:nvCxnSpPr>
          <p:spPr>
            <a:xfrm>
              <a:off x="2802964" y="5033065"/>
              <a:ext cx="3404575" cy="0"/>
            </a:xfrm>
            <a:prstGeom prst="line">
              <a:avLst/>
            </a:prstGeom>
            <a:ln>
              <a:solidFill>
                <a:schemeClr val="accent1">
                  <a:lumMod val="20000"/>
                  <a:lumOff val="8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96460480-ACE1-FD07-6623-976918AE2C78}"/>
                </a:ext>
              </a:extLst>
            </p:cNvPr>
            <p:cNvCxnSpPr/>
            <p:nvPr/>
          </p:nvCxnSpPr>
          <p:spPr>
            <a:xfrm>
              <a:off x="2802964" y="2659358"/>
              <a:ext cx="0" cy="365760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7F510336-8BCA-3AA6-D3E4-9481F305BE6D}"/>
                </a:ext>
              </a:extLst>
            </p:cNvPr>
            <p:cNvCxnSpPr>
              <a:cxnSpLocks/>
            </p:cNvCxnSpPr>
            <p:nvPr/>
          </p:nvCxnSpPr>
          <p:spPr>
            <a:xfrm>
              <a:off x="2608219" y="6115849"/>
              <a:ext cx="365760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4859D0DB-4958-8D02-A0BD-AA13F2200CD7}"/>
                </a:ext>
              </a:extLst>
            </p:cNvPr>
            <p:cNvSpPr txBox="1"/>
            <p:nvPr/>
          </p:nvSpPr>
          <p:spPr>
            <a:xfrm>
              <a:off x="5879334" y="6115849"/>
              <a:ext cx="77296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Income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D897B173-71C5-4146-9C17-23486EF52B45}"/>
                    </a:ext>
                  </a:extLst>
                </p:cNvPr>
                <p:cNvSpPr txBox="1"/>
                <p:nvPr/>
              </p:nvSpPr>
              <p:spPr>
                <a:xfrm>
                  <a:off x="2466776" y="5637742"/>
                  <a:ext cx="336188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200" b="0" i="1" smtClean="0">
                            <a:solidFill>
                              <a:schemeClr val="accent5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oMath>
                    </m:oMathPara>
                  </a14:m>
                  <a:endParaRPr lang="en-US" sz="1200" dirty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endParaRPr>
                </a:p>
              </p:txBody>
            </p:sp>
          </mc:Choice>
          <mc:Fallback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D897B173-71C5-4146-9C17-23486EF52B4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66776" y="5637742"/>
                  <a:ext cx="336188" cy="276999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90A2722E-D7B8-260C-D54D-5F0B686C0B57}"/>
                    </a:ext>
                  </a:extLst>
                </p:cNvPr>
                <p:cNvSpPr txBox="1"/>
                <p:nvPr/>
              </p:nvSpPr>
              <p:spPr>
                <a:xfrm>
                  <a:off x="2247524" y="5266765"/>
                  <a:ext cx="589571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200" b="0" i="1" smtClean="0">
                            <a:solidFill>
                              <a:schemeClr val="accent3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  <m:r>
                          <a:rPr lang="en-US" sz="1200" b="0" i="1" smtClean="0">
                            <a:solidFill>
                              <a:schemeClr val="accent3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200" b="0" i="1" smtClean="0">
                            <a:solidFill>
                              <a:schemeClr val="accent3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oMath>
                    </m:oMathPara>
                  </a14:m>
                  <a:endParaRPr lang="en-US" sz="1200" dirty="0">
                    <a:solidFill>
                      <a:schemeClr val="accent3">
                        <a:lumMod val="60000"/>
                        <a:lumOff val="40000"/>
                      </a:schemeClr>
                    </a:solidFill>
                  </a:endParaRPr>
                </a:p>
              </p:txBody>
            </p:sp>
          </mc:Choice>
          <mc:Fallback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90A2722E-D7B8-260C-D54D-5F0B686C0B5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47524" y="5266765"/>
                  <a:ext cx="589571" cy="276999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B3A96839-094C-8010-911C-C5028F481C41}"/>
                    </a:ext>
                  </a:extLst>
                </p:cNvPr>
                <p:cNvSpPr txBox="1"/>
                <p:nvPr/>
              </p:nvSpPr>
              <p:spPr>
                <a:xfrm>
                  <a:off x="1893132" y="4895788"/>
                  <a:ext cx="951512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200" b="0" i="1" smtClean="0">
                                <a:solidFill>
                                  <a:schemeClr val="accent4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0" i="1" smtClean="0">
                                <a:solidFill>
                                  <a:schemeClr val="accent4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sz="1200" b="0" i="1" smtClean="0">
                                <a:solidFill>
                                  <a:schemeClr val="accent4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1200" b="0" i="1" smtClean="0">
                            <a:solidFill>
                              <a:schemeClr val="accent4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200" b="0" i="1" smtClean="0">
                            <a:solidFill>
                              <a:schemeClr val="accent4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  <m:r>
                          <a:rPr lang="en-US" sz="1200" b="0" i="1" smtClean="0">
                            <a:solidFill>
                              <a:schemeClr val="accent4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200" b="0" i="1" smtClean="0">
                            <a:solidFill>
                              <a:schemeClr val="accent4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oMath>
                    </m:oMathPara>
                  </a14:m>
                  <a:endParaRPr lang="en-US" sz="1200" dirty="0">
                    <a:solidFill>
                      <a:schemeClr val="accent4">
                        <a:lumMod val="60000"/>
                        <a:lumOff val="40000"/>
                      </a:schemeClr>
                    </a:solidFill>
                  </a:endParaRPr>
                </a:p>
              </p:txBody>
            </p:sp>
          </mc:Choice>
          <mc:Fallback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B3A96839-094C-8010-911C-C5028F481C4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93132" y="4895788"/>
                  <a:ext cx="951512" cy="276999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225CAE64-F694-2BFC-F3A4-5B6F372CA9A6}"/>
                    </a:ext>
                  </a:extLst>
                </p:cNvPr>
                <p:cNvSpPr txBox="1"/>
                <p:nvPr/>
              </p:nvSpPr>
              <p:spPr>
                <a:xfrm>
                  <a:off x="5543705" y="3472177"/>
                  <a:ext cx="1327667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𝑍</m:t>
                        </m:r>
                        <m: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  <m: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oMath>
                    </m:oMathPara>
                  </a14:m>
                  <a:endParaRPr lang="en-US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225CAE64-F694-2BFC-F3A4-5B6F372CA9A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43705" y="3472177"/>
                  <a:ext cx="1327667" cy="276999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9EFAD9DB-B6FE-9E83-62F0-88FC90DB3FE6}"/>
                </a:ext>
              </a:extLst>
            </p:cNvPr>
            <p:cNvSpPr txBox="1"/>
            <p:nvPr/>
          </p:nvSpPr>
          <p:spPr>
            <a:xfrm>
              <a:off x="2435716" y="2351581"/>
              <a:ext cx="73449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Output</a:t>
              </a:r>
            </a:p>
          </p:txBody>
        </p: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B54A82AB-1E31-298E-B541-5059E37A06EE}"/>
                </a:ext>
              </a:extLst>
            </p:cNvPr>
            <p:cNvCxnSpPr/>
            <p:nvPr/>
          </p:nvCxnSpPr>
          <p:spPr>
            <a:xfrm flipV="1">
              <a:off x="2802964" y="2810565"/>
              <a:ext cx="3404574" cy="3305284"/>
            </a:xfrm>
            <a:prstGeom prst="line">
              <a:avLst/>
            </a:prstGeom>
            <a:ln>
              <a:solidFill>
                <a:srgbClr val="FF0000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88F9E016-EB75-BDAB-0C6F-29AE73E113C0}"/>
                </a:ext>
              </a:extLst>
            </p:cNvPr>
            <p:cNvSpPr/>
            <p:nvPr/>
          </p:nvSpPr>
          <p:spPr>
            <a:xfrm>
              <a:off x="4619562" y="4308772"/>
              <a:ext cx="45720" cy="4572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E6AB6A54-2932-BC85-5716-C3E509C75B95}"/>
                </a:ext>
              </a:extLst>
            </p:cNvPr>
            <p:cNvCxnSpPr>
              <a:cxnSpLocks/>
              <a:stCxn id="20" idx="4"/>
            </p:cNvCxnSpPr>
            <p:nvPr/>
          </p:nvCxnSpPr>
          <p:spPr>
            <a:xfrm>
              <a:off x="4642422" y="4354492"/>
              <a:ext cx="0" cy="1761357"/>
            </a:xfrm>
            <a:prstGeom prst="line">
              <a:avLst/>
            </a:prstGeom>
            <a:ln w="6350">
              <a:solidFill>
                <a:schemeClr val="tx1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D1EE5730-E77B-556A-89B8-0BA2FD9DED78}"/>
                </a:ext>
              </a:extLst>
            </p:cNvPr>
            <p:cNvCxnSpPr>
              <a:stCxn id="20" idx="2"/>
            </p:cNvCxnSpPr>
            <p:nvPr/>
          </p:nvCxnSpPr>
          <p:spPr>
            <a:xfrm flipH="1">
              <a:off x="2802964" y="4331632"/>
              <a:ext cx="1816598" cy="0"/>
            </a:xfrm>
            <a:prstGeom prst="line">
              <a:avLst/>
            </a:prstGeom>
            <a:ln w="6350">
              <a:solidFill>
                <a:schemeClr val="tx1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9583B986-5411-A471-5E13-6C9ECEFC466A}"/>
                    </a:ext>
                  </a:extLst>
                </p:cNvPr>
                <p:cNvSpPr txBox="1"/>
                <p:nvPr/>
              </p:nvSpPr>
              <p:spPr>
                <a:xfrm>
                  <a:off x="2492888" y="4193132"/>
                  <a:ext cx="283964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p>
                            <m:r>
                              <a:rPr lang="en-US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oMath>
                    </m:oMathPara>
                  </a14:m>
                  <a:endParaRPr lang="en-US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9583B986-5411-A471-5E13-6C9ECEFC466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92888" y="4193132"/>
                  <a:ext cx="283964" cy="276999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D73F918B-B2F7-2BC8-8921-84D9F6C8296B}"/>
                    </a:ext>
                  </a:extLst>
                </p:cNvPr>
                <p:cNvSpPr txBox="1"/>
                <p:nvPr/>
              </p:nvSpPr>
              <p:spPr>
                <a:xfrm>
                  <a:off x="4516157" y="6109272"/>
                  <a:ext cx="283964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p>
                            <m:r>
                              <a:rPr lang="en-US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oMath>
                    </m:oMathPara>
                  </a14:m>
                  <a:endParaRPr lang="en-US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D73F918B-B2F7-2BC8-8921-84D9F6C8296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16157" y="6109272"/>
                  <a:ext cx="283964" cy="276999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8307612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9E5A57-F187-F9DB-FFC0-465735B29F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099AAA-8E11-3928-66C3-61E27809DF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4.A.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08C7A8-4281-BE12-CCED-ADEDA98DB9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Discuss why a consumer may care more about inflation based on CPI, as compared to the inflation figures based on the GDP Deflator Index.</a:t>
            </a:r>
          </a:p>
          <a:p>
            <a:endParaRPr lang="en-US" sz="500" dirty="0"/>
          </a:p>
          <a:p>
            <a:pPr lvl="1"/>
            <a:r>
              <a:rPr lang="en-US" dirty="0">
                <a:solidFill>
                  <a:srgbClr val="FF0000"/>
                </a:solidFill>
              </a:rPr>
              <a:t>The GDP Deflator Index is a measure of price levels based on ALL goods and services produced in an economy.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There are many goods and services that typical consumers would not care about.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Meanwhile, the CPI measures the price levels of a market basket of goods that a typical consumer is likely to consume regularly.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So, a typical consumer would be more interested in inflation measured using CPI.</a:t>
            </a:r>
          </a:p>
          <a:p>
            <a:pPr lvl="1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3271F1-3F84-2904-0243-B76E7196A9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ECON 301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10AAF7-371A-E7C1-CD8A-74EBB4E111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468013-016F-8FB7-3274-80E49D33B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6622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120C44-B6BD-F8D5-5ABE-578583F142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D39D8D-C068-1B1F-671E-084C40050F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4.B.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7390FD9-9CD7-B7F4-6A90-9C7CBFF4F43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Discuss why in the short run, an increase of government spending by $1 will increase the economy’s equilibrium output by more than $1.</a:t>
                </a:r>
              </a:p>
              <a:p>
                <a:pPr lvl="1"/>
                <a:endParaRPr lang="en-US" sz="500" dirty="0"/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>
                    <a:solidFill>
                      <a:srgbClr val="FF0000"/>
                    </a:solidFill>
                  </a:rPr>
                  <a:t>G increases by $1.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>
                    <a:solidFill>
                      <a:srgbClr val="FF0000"/>
                    </a:solidFill>
                  </a:rPr>
                  <a:t>Firms increase production by $1 to meet the demand.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>
                    <a:solidFill>
                      <a:srgbClr val="FF0000"/>
                    </a:solidFill>
                  </a:rPr>
                  <a:t>Firms pay their workers (households) the proceedings of $1.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>
                    <a:solidFill>
                      <a:srgbClr val="FF0000"/>
                    </a:solidFill>
                  </a:rPr>
                  <a:t>Households spend $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 of their increased disposable income.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>
                    <a:solidFill>
                      <a:srgbClr val="FF0000"/>
                    </a:solidFill>
                  </a:rPr>
                  <a:t>Firms increase production by $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  <a:r>
                  <a:rPr lang="en-US" dirty="0">
                    <a:solidFill>
                      <a:srgbClr val="FF0000"/>
                    </a:solidFill>
                  </a:rPr>
                  <a:t>to meet the demand.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>
                    <a:solidFill>
                      <a:srgbClr val="FF0000"/>
                    </a:solidFill>
                  </a:rPr>
                  <a:t>Firms pay their workers the proceedings of $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.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>
                    <a:solidFill>
                      <a:srgbClr val="FF0000"/>
                    </a:solidFill>
                  </a:rPr>
                  <a:t>Households spend $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 of their increased disposable income.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>
                    <a:solidFill>
                      <a:srgbClr val="FF0000"/>
                    </a:solidFill>
                  </a:rPr>
                  <a:t>This process continues… 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7390FD9-9CD7-B7F4-6A90-9C7CBFF4F43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870A6E-CA76-5AD5-EE01-72B63FF08B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ECON 301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94320D-7099-7D72-3751-2056E6237A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79005B-530B-8B72-D7C3-FCFAD8D7A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66086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FFA22D-F88E-FCFB-45A9-10842284F0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61B548-6210-588B-22A5-292478B4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4.C.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D5F82A5-CC30-0094-0D7F-ECA38F720DA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If government expenditure increases by 100, what is the change in equilibrium output? In other words, by how much does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p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i="1" dirty="0"/>
                  <a:t> </a:t>
                </a:r>
                <a:r>
                  <a:rPr lang="en-US" dirty="0"/>
                  <a:t>change due to this increase in government expenditure?</a:t>
                </a:r>
              </a:p>
              <a:p>
                <a:endParaRPr lang="en-US" sz="500" dirty="0"/>
              </a:p>
              <a:p>
                <a:pPr lvl="1"/>
                <a:r>
                  <a:rPr lang="en-US" dirty="0">
                    <a:solidFill>
                      <a:srgbClr val="FF0000"/>
                    </a:solidFill>
                  </a:rPr>
                  <a:t>Before the increase in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…</a:t>
                </a:r>
              </a:p>
              <a:p>
                <a:pPr lvl="1"/>
                <a:endParaRPr lang="en-US" sz="500" dirty="0">
                  <a:solidFill>
                    <a:srgbClr val="FF0000"/>
                  </a:solidFill>
                </a:endParaRP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8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sz="18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1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r>
                        <a:rPr lang="en-US" sz="18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sz="1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0.5</m:t>
                          </m:r>
                        </m:den>
                      </m:f>
                      <m:d>
                        <m:dPr>
                          <m:ctrlPr>
                            <a:rPr lang="en-US" sz="1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450</m:t>
                          </m:r>
                          <m:r>
                            <a:rPr lang="en-US" sz="1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0.5⋅400</m:t>
                          </m:r>
                          <m:r>
                            <a:rPr lang="en-US" sz="1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1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600</m:t>
                          </m:r>
                          <m:r>
                            <a:rPr lang="en-US" sz="1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1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400</m:t>
                          </m:r>
                        </m:e>
                      </m:d>
                      <m:r>
                        <a:rPr lang="en-US" sz="1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=2,500</m:t>
                      </m:r>
                    </m:oMath>
                  </m:oMathPara>
                </a14:m>
                <a:endParaRPr lang="en-US" sz="1800" dirty="0">
                  <a:solidFill>
                    <a:srgbClr val="FF0000"/>
                  </a:solidFill>
                </a:endParaRPr>
              </a:p>
              <a:p>
                <a:pPr marL="457200" lvl="1" indent="0">
                  <a:buNone/>
                </a:pPr>
                <a:endParaRPr lang="en-US" sz="500" dirty="0">
                  <a:solidFill>
                    <a:srgbClr val="FF0000"/>
                  </a:solidFill>
                </a:endParaRPr>
              </a:p>
              <a:p>
                <a:pPr lvl="1"/>
                <a:r>
                  <a:rPr lang="en-US" dirty="0">
                    <a:solidFill>
                      <a:srgbClr val="FF0000"/>
                    </a:solidFill>
                  </a:rPr>
                  <a:t>After the increase in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…</a:t>
                </a:r>
              </a:p>
              <a:p>
                <a:pPr lvl="1"/>
                <a:endParaRPr lang="en-US" sz="500" dirty="0">
                  <a:solidFill>
                    <a:srgbClr val="FF0000"/>
                  </a:solidFill>
                </a:endParaRP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sz="18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1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r>
                        <a:rPr lang="en-US" sz="18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1−0.5</m:t>
                          </m:r>
                        </m:den>
                      </m:f>
                      <m:d>
                        <m:dPr>
                          <m:ctrlPr>
                            <a:rPr lang="en-US" sz="1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450−0.5⋅</m:t>
                          </m:r>
                          <m:r>
                            <a:rPr lang="en-US" sz="18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400</m:t>
                          </m:r>
                          <m:r>
                            <a:rPr lang="en-US" sz="1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+600+</m:t>
                          </m:r>
                          <m:r>
                            <a:rPr lang="en-US" sz="1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US" sz="1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00</m:t>
                          </m:r>
                        </m:e>
                      </m:d>
                      <m:r>
                        <a:rPr lang="en-US" sz="18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=2,</m:t>
                      </m:r>
                      <m:r>
                        <a:rPr lang="en-US" sz="1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en-US" sz="18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00</m:t>
                      </m:r>
                    </m:oMath>
                  </m:oMathPara>
                </a14:m>
                <a:endParaRPr lang="en-US" sz="1800" dirty="0">
                  <a:solidFill>
                    <a:srgbClr val="FF0000"/>
                  </a:solidFill>
                </a:endParaRPr>
              </a:p>
              <a:p>
                <a:pPr marL="457200" lvl="1" indent="0">
                  <a:buNone/>
                </a:pPr>
                <a:endParaRPr lang="en-US" sz="500" dirty="0">
                  <a:solidFill>
                    <a:srgbClr val="FF0000"/>
                  </a:solidFill>
                </a:endParaRPr>
              </a:p>
              <a:p>
                <a:pPr lvl="1"/>
                <a:r>
                  <a:rPr lang="en-US" dirty="0">
                    <a:solidFill>
                      <a:srgbClr val="FF0000"/>
                    </a:solidFill>
                  </a:rPr>
                  <a:t>The increase 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p>
                        <m:r>
                          <a:rPr lang="en-US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 is 200.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D5F82A5-CC30-0094-0D7F-ECA38F720DA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821" r="-6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137903-FBFD-6A4C-62E6-BD25F18FB5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ECON 301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D4437C-D2A8-73A7-C5A8-B41EA8DD7F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5445DD-BB89-8AAA-1FA3-9F48798D66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80540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2" id="{CF630E01-D107-42E5-8DFC-48302BB3DFE2}" vid="{4BEE81CA-F64C-419F-A97B-23D16F4EA3D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mc-presentation-template</Template>
  <TotalTime>3572</TotalTime>
  <Words>1169</Words>
  <Application>Microsoft Office PowerPoint</Application>
  <PresentationFormat>On-screen Show (4:3)</PresentationFormat>
  <Paragraphs>178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Cambria Math</vt:lpstr>
      <vt:lpstr>Franklin Gothic Book</vt:lpstr>
      <vt:lpstr>Office Theme</vt:lpstr>
      <vt:lpstr>Quiz #1 Review</vt:lpstr>
      <vt:lpstr>Grade Distribution</vt:lpstr>
      <vt:lpstr>How to Read Marks</vt:lpstr>
      <vt:lpstr>Quiz #1 “Recovery” Office Hours</vt:lpstr>
      <vt:lpstr>Problem 1. Definitions</vt:lpstr>
      <vt:lpstr>Problem 1. Definitions</vt:lpstr>
      <vt:lpstr>Problem 2.A.</vt:lpstr>
      <vt:lpstr>Problem 2.B.</vt:lpstr>
      <vt:lpstr>Problem 2.C.</vt:lpstr>
      <vt:lpstr>Problem 2.D.</vt:lpstr>
      <vt:lpstr>Problem 3.A.</vt:lpstr>
      <vt:lpstr>Problem 3.A. (Cont’d)</vt:lpstr>
      <vt:lpstr>Problem 3.B.</vt:lpstr>
      <vt:lpstr>Problem 4.A.</vt:lpstr>
      <vt:lpstr>Problem 4.B.</vt:lpstr>
      <vt:lpstr>Problem 4.C.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Intermediate Price Theory</dc:title>
  <dc:creator>Brian Park</dc:creator>
  <cp:lastModifiedBy>Brian Park</cp:lastModifiedBy>
  <cp:revision>80</cp:revision>
  <dcterms:created xsi:type="dcterms:W3CDTF">2023-08-17T23:00:51Z</dcterms:created>
  <dcterms:modified xsi:type="dcterms:W3CDTF">2025-02-07T14:55:38Z</dcterms:modified>
</cp:coreProperties>
</file>