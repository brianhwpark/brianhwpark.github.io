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40"/>
  </p:notesMasterIdLst>
  <p:sldIdLst>
    <p:sldId id="256" r:id="rId2"/>
    <p:sldId id="329" r:id="rId3"/>
    <p:sldId id="336" r:id="rId4"/>
    <p:sldId id="258" r:id="rId5"/>
    <p:sldId id="331" r:id="rId6"/>
    <p:sldId id="330" r:id="rId7"/>
    <p:sldId id="332" r:id="rId8"/>
    <p:sldId id="334" r:id="rId9"/>
    <p:sldId id="333" r:id="rId10"/>
    <p:sldId id="335" r:id="rId11"/>
    <p:sldId id="337" r:id="rId12"/>
    <p:sldId id="338" r:id="rId13"/>
    <p:sldId id="342" r:id="rId14"/>
    <p:sldId id="343" r:id="rId15"/>
    <p:sldId id="344" r:id="rId16"/>
    <p:sldId id="345" r:id="rId17"/>
    <p:sldId id="346" r:id="rId18"/>
    <p:sldId id="347" r:id="rId19"/>
    <p:sldId id="357" r:id="rId20"/>
    <p:sldId id="356" r:id="rId21"/>
    <p:sldId id="355" r:id="rId22"/>
    <p:sldId id="358" r:id="rId23"/>
    <p:sldId id="360" r:id="rId24"/>
    <p:sldId id="359" r:id="rId25"/>
    <p:sldId id="361" r:id="rId26"/>
    <p:sldId id="365" r:id="rId27"/>
    <p:sldId id="363" r:id="rId28"/>
    <p:sldId id="364" r:id="rId29"/>
    <p:sldId id="366" r:id="rId30"/>
    <p:sldId id="367" r:id="rId31"/>
    <p:sldId id="373" r:id="rId32"/>
    <p:sldId id="340" r:id="rId33"/>
    <p:sldId id="369" r:id="rId34"/>
    <p:sldId id="370" r:id="rId35"/>
    <p:sldId id="371" r:id="rId36"/>
    <p:sldId id="372" r:id="rId37"/>
    <p:sldId id="374" r:id="rId38"/>
    <p:sldId id="341"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5BCD"/>
    <a:srgbClr val="E05F65"/>
    <a:srgbClr val="00FFFF"/>
    <a:srgbClr val="F5CFD0"/>
    <a:srgbClr val="D42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83656" autoAdjust="0"/>
  </p:normalViewPr>
  <p:slideViewPr>
    <p:cSldViewPr snapToGrid="0">
      <p:cViewPr>
        <p:scale>
          <a:sx n="100" d="100"/>
          <a:sy n="100" d="100"/>
        </p:scale>
        <p:origin x="13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A6441-4E79-42FF-805B-86C90BDFD38D}" type="datetimeFigureOut">
              <a:rPr lang="en-US" smtClean="0"/>
              <a:t>2/15/2024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9054-221E-4755-818D-C35A08AFDBE7}" type="slidenum">
              <a:rPr lang="en-US" smtClean="0"/>
              <a:t>‹#›</a:t>
            </a:fld>
            <a:endParaRPr lang="en-US" dirty="0"/>
          </a:p>
        </p:txBody>
      </p:sp>
    </p:spTree>
    <p:extLst>
      <p:ext uri="{BB962C8B-B14F-4D97-AF65-F5344CB8AC3E}">
        <p14:creationId xmlns:p14="http://schemas.microsoft.com/office/powerpoint/2010/main" val="334278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A29054-221E-4755-818D-C35A08AFDBE7}" type="slidenum">
              <a:rPr lang="en-US" smtClean="0"/>
              <a:t>29</a:t>
            </a:fld>
            <a:endParaRPr lang="en-US" dirty="0"/>
          </a:p>
        </p:txBody>
      </p:sp>
    </p:spTree>
    <p:extLst>
      <p:ext uri="{BB962C8B-B14F-4D97-AF65-F5344CB8AC3E}">
        <p14:creationId xmlns:p14="http://schemas.microsoft.com/office/powerpoint/2010/main" val="3606822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B7179-8C90-C242-90DC-AFE95855A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B833A-FA45-1E1C-0DB5-735DD2AFE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128BA-B778-8F6D-B891-E398A17D59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320DF-4A2B-280E-D453-C641FC83D341}"/>
              </a:ext>
            </a:extLst>
          </p:cNvPr>
          <p:cNvSpPr>
            <a:spLocks noGrp="1"/>
          </p:cNvSpPr>
          <p:nvPr>
            <p:ph type="sldNum" sz="quarter" idx="5"/>
          </p:nvPr>
        </p:nvSpPr>
        <p:spPr/>
        <p:txBody>
          <a:bodyPr/>
          <a:lstStyle/>
          <a:p>
            <a:fld id="{64A29054-221E-4755-818D-C35A08AFDBE7}" type="slidenum">
              <a:rPr lang="en-US" smtClean="0"/>
              <a:t>30</a:t>
            </a:fld>
            <a:endParaRPr lang="en-US" dirty="0"/>
          </a:p>
        </p:txBody>
      </p:sp>
    </p:spTree>
    <p:extLst>
      <p:ext uri="{BB962C8B-B14F-4D97-AF65-F5344CB8AC3E}">
        <p14:creationId xmlns:p14="http://schemas.microsoft.com/office/powerpoint/2010/main" val="3694585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solidFill>
                  <a:srgbClr val="C00000"/>
                </a:solidFill>
              </a:defRPr>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92;p13">
            <a:extLst>
              <a:ext uri="{FF2B5EF4-FFF2-40B4-BE49-F238E27FC236}">
                <a16:creationId xmlns:a16="http://schemas.microsoft.com/office/drawing/2014/main" id="{BF16982E-3E38-0665-4F07-437DD3F0D5A4}"/>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81354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859BA894-242B-5A6C-EFD3-428444AAFEC4}"/>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419735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solidFill>
                  <a:srgbClr val="C00000"/>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normAutofit/>
          </a:bodyPr>
          <a:lstStyle>
            <a:lvl1pPr marL="0" indent="0" algn="ctr">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92;p13">
            <a:extLst>
              <a:ext uri="{FF2B5EF4-FFF2-40B4-BE49-F238E27FC236}">
                <a16:creationId xmlns:a16="http://schemas.microsoft.com/office/drawing/2014/main" id="{A5DC9873-6BF3-A825-551C-17B7FBCA97F5}"/>
              </a:ext>
            </a:extLst>
          </p:cNvPr>
          <p:cNvPicPr preferRelativeResize="0"/>
          <p:nvPr/>
        </p:nvPicPr>
        <p:blipFill rotWithShape="1">
          <a:blip r:embed="rId2">
            <a:alphaModFix/>
          </a:blip>
          <a:srcRect/>
          <a:stretch/>
        </p:blipFill>
        <p:spPr>
          <a:xfrm>
            <a:off x="3634323" y="228601"/>
            <a:ext cx="1875353" cy="990599"/>
          </a:xfrm>
          <a:prstGeom prst="rect">
            <a:avLst/>
          </a:prstGeom>
          <a:noFill/>
          <a:ln>
            <a:noFill/>
          </a:ln>
        </p:spPr>
      </p:pic>
    </p:spTree>
    <p:extLst>
      <p:ext uri="{BB962C8B-B14F-4D97-AF65-F5344CB8AC3E}">
        <p14:creationId xmlns:p14="http://schemas.microsoft.com/office/powerpoint/2010/main" val="315058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F820AB4E-4F46-3C81-9BD0-65A4D2A2DBEC}"/>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99459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8" name="Footer Placeholder 7"/>
          <p:cNvSpPr>
            <a:spLocks noGrp="1"/>
          </p:cNvSpPr>
          <p:nvPr>
            <p:ph type="ftr" sz="quarter" idx="11"/>
          </p:nvPr>
        </p:nvSpPr>
        <p:spPr/>
        <p:txBody>
          <a:bodyPr/>
          <a:lstStyle/>
          <a:p>
            <a:r>
              <a:rPr lang="en-US" dirty="0"/>
              <a:t>DEPARTMENT OF BUSINESS &amp; ECONOMICS</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10" name="Google Shape;101;p14">
            <a:extLst>
              <a:ext uri="{FF2B5EF4-FFF2-40B4-BE49-F238E27FC236}">
                <a16:creationId xmlns:a16="http://schemas.microsoft.com/office/drawing/2014/main" id="{C854E680-04A2-EA76-C6A6-8EF6A2AD0BB9}"/>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51425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4" name="Footer Placeholder 3"/>
          <p:cNvSpPr>
            <a:spLocks noGrp="1"/>
          </p:cNvSpPr>
          <p:nvPr>
            <p:ph type="ftr" sz="quarter" idx="11"/>
          </p:nvPr>
        </p:nvSpPr>
        <p:spPr/>
        <p:txBody>
          <a:bodyPr/>
          <a:lstStyle/>
          <a:p>
            <a:r>
              <a:rPr lang="en-US" dirty="0"/>
              <a:t>DEPARTMENT OF BUSINESS &amp; ECONOMICS</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6" name="Google Shape;101;p14">
            <a:extLst>
              <a:ext uri="{FF2B5EF4-FFF2-40B4-BE49-F238E27FC236}">
                <a16:creationId xmlns:a16="http://schemas.microsoft.com/office/drawing/2014/main" id="{0E4BED26-AE3D-9FD7-372D-89389F761105}"/>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15519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3" name="Footer Placeholder 2"/>
          <p:cNvSpPr>
            <a:spLocks noGrp="1"/>
          </p:cNvSpPr>
          <p:nvPr>
            <p:ph type="ftr" sz="quarter" idx="11"/>
          </p:nvPr>
        </p:nvSpPr>
        <p:spPr/>
        <p:txBody>
          <a:bodyPr/>
          <a:lstStyle/>
          <a:p>
            <a:r>
              <a:rPr lang="en-US" dirty="0"/>
              <a:t>DEPARTMENT OF BUSINESS &amp; ECONOMICS</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5" name="Google Shape;101;p14">
            <a:extLst>
              <a:ext uri="{FF2B5EF4-FFF2-40B4-BE49-F238E27FC236}">
                <a16:creationId xmlns:a16="http://schemas.microsoft.com/office/drawing/2014/main" id="{63FB725D-7839-2629-E2FD-4289B983E673}"/>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7498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ADE22408-2DD9-F1EF-2438-A0546996FB22}"/>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633184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6" name="Footer Placeholder 5"/>
          <p:cNvSpPr>
            <a:spLocks noGrp="1"/>
          </p:cNvSpPr>
          <p:nvPr>
            <p:ph type="ftr" sz="quarter" idx="11"/>
          </p:nvPr>
        </p:nvSpPr>
        <p:spPr/>
        <p:txBody>
          <a:bodyPr/>
          <a:lstStyle/>
          <a:p>
            <a:r>
              <a:rPr lang="en-US" dirty="0"/>
              <a:t>DEPARTMENT OF BUSINESS &amp; ECONOMICS</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8" name="Google Shape;101;p14">
            <a:extLst>
              <a:ext uri="{FF2B5EF4-FFF2-40B4-BE49-F238E27FC236}">
                <a16:creationId xmlns:a16="http://schemas.microsoft.com/office/drawing/2014/main" id="{19CEB84E-A1D1-9AFA-DEC7-31056DF6BFAD}"/>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235116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1F852EF2-DB2E-EDA3-947F-AD7E6C19EBD8}"/>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3938102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Spring 2024</a:t>
            </a:r>
            <a:endParaRPr lang="en-US" dirty="0"/>
          </a:p>
        </p:txBody>
      </p:sp>
      <p:sp>
        <p:nvSpPr>
          <p:cNvPr id="5" name="Footer Placeholder 4"/>
          <p:cNvSpPr>
            <a:spLocks noGrp="1"/>
          </p:cNvSpPr>
          <p:nvPr>
            <p:ph type="ftr" sz="quarter" idx="11"/>
          </p:nvPr>
        </p:nvSpPr>
        <p:spPr/>
        <p:txBody>
          <a:bodyPr/>
          <a:lstStyle/>
          <a:p>
            <a:r>
              <a:rPr lang="en-US" dirty="0"/>
              <a:t>DEPARTMENT OF BUSINESS &amp; ECONOMICS</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1A980C56-831A-4EAB-9EDE-57C090F4F877}" type="slidenum">
              <a:rPr lang="en-US" smtClean="0"/>
              <a:t>‹#›</a:t>
            </a:fld>
            <a:endParaRPr lang="en-US" dirty="0"/>
          </a:p>
        </p:txBody>
      </p:sp>
      <p:pic>
        <p:nvPicPr>
          <p:cNvPr id="7" name="Google Shape;101;p14">
            <a:extLst>
              <a:ext uri="{FF2B5EF4-FFF2-40B4-BE49-F238E27FC236}">
                <a16:creationId xmlns:a16="http://schemas.microsoft.com/office/drawing/2014/main" id="{297A800C-E47B-35AC-0EA8-24F3738049A6}"/>
              </a:ext>
            </a:extLst>
          </p:cNvPr>
          <p:cNvPicPr preferRelativeResize="0"/>
          <p:nvPr/>
        </p:nvPicPr>
        <p:blipFill rotWithShape="1">
          <a:blip r:embed="rId2">
            <a:alphaModFix/>
          </a:blip>
          <a:srcRect/>
          <a:stretch/>
        </p:blipFill>
        <p:spPr>
          <a:xfrm>
            <a:off x="8291293" y="228603"/>
            <a:ext cx="459642" cy="761998"/>
          </a:xfrm>
          <a:prstGeom prst="rect">
            <a:avLst/>
          </a:prstGeom>
          <a:noFill/>
          <a:ln>
            <a:noFill/>
          </a:ln>
        </p:spPr>
      </p:pic>
    </p:spTree>
    <p:extLst>
      <p:ext uri="{BB962C8B-B14F-4D97-AF65-F5344CB8AC3E}">
        <p14:creationId xmlns:p14="http://schemas.microsoft.com/office/powerpoint/2010/main" val="902633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300" b="1">
                <a:solidFill>
                  <a:schemeClr val="tx1"/>
                </a:solidFill>
                <a:latin typeface="Franklin Gothic Book" panose="020B0503020102020204" pitchFamily="34" charset="0"/>
                <a:cs typeface="Forte Forward" panose="020F0502020204030204" pitchFamily="2" charset="0"/>
              </a:defRPr>
            </a:lvl1pPr>
          </a:lstStyle>
          <a:p>
            <a:r>
              <a:rPr lang="en-US"/>
              <a:t>Spring 2024</a:t>
            </a:r>
            <a:endParaRPr lang="en-US" dirty="0"/>
          </a:p>
        </p:txBody>
      </p:sp>
      <p:sp>
        <p:nvSpPr>
          <p:cNvPr id="5" name="Footer Placeholder 4"/>
          <p:cNvSpPr>
            <a:spLocks noGrp="1"/>
          </p:cNvSpPr>
          <p:nvPr>
            <p:ph type="ftr" sz="quarter" idx="3"/>
          </p:nvPr>
        </p:nvSpPr>
        <p:spPr>
          <a:xfrm>
            <a:off x="1690777" y="6356351"/>
            <a:ext cx="5762446" cy="365125"/>
          </a:xfrm>
          <a:prstGeom prst="rect">
            <a:avLst/>
          </a:prstGeom>
        </p:spPr>
        <p:txBody>
          <a:bodyPr vert="horz" lIns="91440" tIns="45720" rIns="91440" bIns="45720" rtlCol="0" anchor="ctr"/>
          <a:lstStyle>
            <a:lvl1pPr algn="ctr">
              <a:defRPr sz="1300" b="1">
                <a:solidFill>
                  <a:schemeClr val="tx1"/>
                </a:solidFill>
                <a:latin typeface="Franklin Gothic Book" panose="020B0503020102020204" pitchFamily="34" charset="0"/>
              </a:defRPr>
            </a:lvl1pPr>
          </a:lstStyle>
          <a:p>
            <a:r>
              <a:rPr lang="en-US" dirty="0"/>
              <a:t>DEPARTMENT OF BUSINESS &amp; ECONOMICS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300" b="1">
                <a:solidFill>
                  <a:schemeClr val="tx1"/>
                </a:solidFill>
                <a:latin typeface="Franklin Gothic Book" panose="020B0503020102020204" pitchFamily="34" charset="0"/>
              </a:defRPr>
            </a:lvl1pPr>
          </a:lstStyle>
          <a:p>
            <a:fld id="{1A980C56-831A-4EAB-9EDE-57C090F4F877}" type="slidenum">
              <a:rPr lang="en-US" smtClean="0"/>
              <a:t>‹#›</a:t>
            </a:fld>
            <a:endParaRPr lang="en-US" dirty="0"/>
          </a:p>
        </p:txBody>
      </p:sp>
      <p:pic>
        <p:nvPicPr>
          <p:cNvPr id="7" name="Google Shape;91;p13">
            <a:extLst>
              <a:ext uri="{FF2B5EF4-FFF2-40B4-BE49-F238E27FC236}">
                <a16:creationId xmlns:a16="http://schemas.microsoft.com/office/drawing/2014/main" id="{9C136CE5-665B-2FA1-3A31-86C4E8EC1DBB}"/>
              </a:ext>
            </a:extLst>
          </p:cNvPr>
          <p:cNvPicPr preferRelativeResize="0"/>
          <p:nvPr/>
        </p:nvPicPr>
        <p:blipFill rotWithShape="1">
          <a:blip r:embed="rId13">
            <a:alphaModFix/>
          </a:blip>
          <a:srcRect/>
          <a:stretch/>
        </p:blipFill>
        <p:spPr>
          <a:xfrm>
            <a:off x="0" y="0"/>
            <a:ext cx="9144000" cy="423060"/>
          </a:xfrm>
          <a:prstGeom prst="rect">
            <a:avLst/>
          </a:prstGeom>
          <a:noFill/>
          <a:ln>
            <a:noFill/>
          </a:ln>
        </p:spPr>
      </p:pic>
    </p:spTree>
    <p:extLst>
      <p:ext uri="{BB962C8B-B14F-4D97-AF65-F5344CB8AC3E}">
        <p14:creationId xmlns:p14="http://schemas.microsoft.com/office/powerpoint/2010/main" val="382595532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3600" b="1"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61.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7.png"/><Relationship Id="rId3" Type="http://schemas.openxmlformats.org/officeDocument/2006/relationships/image" Target="../media/image61.png"/><Relationship Id="rId7" Type="http://schemas.openxmlformats.org/officeDocument/2006/relationships/image" Target="../media/image18.png"/><Relationship Id="rId12"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5.png"/><Relationship Id="rId1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2.xml"/><Relationship Id="rId1" Type="http://schemas.openxmlformats.org/officeDocument/2006/relationships/video" Target="https://www.youtube.com/embed/GPOv72Awo68?feature=oembe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3" Type="http://schemas.openxmlformats.org/officeDocument/2006/relationships/image" Target="../media/image33.png"/><Relationship Id="rId7" Type="http://schemas.openxmlformats.org/officeDocument/2006/relationships/image" Target="../media/image34.png"/><Relationship Id="rId12" Type="http://schemas.openxmlformats.org/officeDocument/2006/relationships/image" Target="../media/image22.png"/><Relationship Id="rId17" Type="http://schemas.openxmlformats.org/officeDocument/2006/relationships/image" Target="../media/image43.png"/><Relationship Id="rId2" Type="http://schemas.openxmlformats.org/officeDocument/2006/relationships/notesSlide" Target="../notesSlides/notesSlide1.xml"/><Relationship Id="rId16" Type="http://schemas.openxmlformats.org/officeDocument/2006/relationships/image" Target="../media/image42.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38.png"/><Relationship Id="rId5" Type="http://schemas.openxmlformats.org/officeDocument/2006/relationships/image" Target="../media/image15.png"/><Relationship Id="rId15" Type="http://schemas.openxmlformats.org/officeDocument/2006/relationships/image" Target="../media/image41.png"/><Relationship Id="rId10" Type="http://schemas.openxmlformats.org/officeDocument/2006/relationships/image" Target="../media/image37.png"/><Relationship Id="rId4" Type="http://schemas.openxmlformats.org/officeDocument/2006/relationships/image" Target="../media/image61.png"/><Relationship Id="rId9" Type="http://schemas.openxmlformats.org/officeDocument/2006/relationships/image" Target="../media/image36.png"/><Relationship Id="rId14" Type="http://schemas.openxmlformats.org/officeDocument/2006/relationships/image" Target="../media/image40.png"/></Relationships>
</file>

<file path=ppt/slides/_rels/slide3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3" Type="http://schemas.openxmlformats.org/officeDocument/2006/relationships/image" Target="../media/image44.png"/><Relationship Id="rId7" Type="http://schemas.openxmlformats.org/officeDocument/2006/relationships/image" Target="../media/image34.png"/><Relationship Id="rId12" Type="http://schemas.openxmlformats.org/officeDocument/2006/relationships/image" Target="../media/image22.png"/><Relationship Id="rId17" Type="http://schemas.openxmlformats.org/officeDocument/2006/relationships/image" Target="../media/image43.png"/><Relationship Id="rId2" Type="http://schemas.openxmlformats.org/officeDocument/2006/relationships/notesSlide" Target="../notesSlides/notesSlide2.xml"/><Relationship Id="rId16" Type="http://schemas.openxmlformats.org/officeDocument/2006/relationships/image" Target="../media/image42.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38.png"/><Relationship Id="rId5" Type="http://schemas.openxmlformats.org/officeDocument/2006/relationships/image" Target="../media/image15.png"/><Relationship Id="rId15" Type="http://schemas.openxmlformats.org/officeDocument/2006/relationships/image" Target="../media/image41.png"/><Relationship Id="rId10" Type="http://schemas.openxmlformats.org/officeDocument/2006/relationships/image" Target="../media/image37.png"/><Relationship Id="rId4" Type="http://schemas.openxmlformats.org/officeDocument/2006/relationships/image" Target="../media/image61.png"/><Relationship Id="rId9" Type="http://schemas.openxmlformats.org/officeDocument/2006/relationships/image" Target="../media/image36.png"/><Relationship Id="rId14"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81AA-C880-955A-8ACC-D4284C4A7939}"/>
              </a:ext>
            </a:extLst>
          </p:cNvPr>
          <p:cNvSpPr>
            <a:spLocks noGrp="1"/>
          </p:cNvSpPr>
          <p:nvPr>
            <p:ph type="ctrTitle"/>
          </p:nvPr>
        </p:nvSpPr>
        <p:spPr>
          <a:xfrm>
            <a:off x="517585" y="1122363"/>
            <a:ext cx="8108830" cy="2387600"/>
          </a:xfrm>
        </p:spPr>
        <p:txBody>
          <a:bodyPr>
            <a:normAutofit/>
          </a:bodyPr>
          <a:lstStyle/>
          <a:p>
            <a:r>
              <a:rPr lang="en-US" sz="4200" dirty="0"/>
              <a:t>The Short Run:</a:t>
            </a:r>
            <a:br>
              <a:rPr lang="en-US" sz="4200" dirty="0"/>
            </a:br>
            <a:r>
              <a:rPr lang="en-US" sz="4200" dirty="0"/>
              <a:t>Extensions to the IS-LM Framework</a:t>
            </a:r>
          </a:p>
        </p:txBody>
      </p:sp>
      <p:sp>
        <p:nvSpPr>
          <p:cNvPr id="3" name="Subtitle 2">
            <a:extLst>
              <a:ext uri="{FF2B5EF4-FFF2-40B4-BE49-F238E27FC236}">
                <a16:creationId xmlns:a16="http://schemas.microsoft.com/office/drawing/2014/main" id="{57868834-9371-0482-209B-C2EBDB2D93F1}"/>
              </a:ext>
            </a:extLst>
          </p:cNvPr>
          <p:cNvSpPr>
            <a:spLocks noGrp="1"/>
          </p:cNvSpPr>
          <p:nvPr>
            <p:ph type="subTitle" idx="1"/>
          </p:nvPr>
        </p:nvSpPr>
        <p:spPr/>
        <p:txBody>
          <a:bodyPr>
            <a:normAutofit/>
          </a:bodyPr>
          <a:lstStyle/>
          <a:p>
            <a:r>
              <a:rPr lang="en-US" sz="3200" dirty="0"/>
              <a:t>ECON 301</a:t>
            </a:r>
          </a:p>
        </p:txBody>
      </p:sp>
      <p:sp>
        <p:nvSpPr>
          <p:cNvPr id="4" name="Date Placeholder 3">
            <a:extLst>
              <a:ext uri="{FF2B5EF4-FFF2-40B4-BE49-F238E27FC236}">
                <a16:creationId xmlns:a16="http://schemas.microsoft.com/office/drawing/2014/main" id="{C343A60A-CBE6-B5CE-B9CE-C7DC9386921B}"/>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1EDF44A7-8470-0B18-F1D2-F47845ECB758}"/>
              </a:ext>
            </a:extLst>
          </p:cNvPr>
          <p:cNvSpPr>
            <a:spLocks noGrp="1"/>
          </p:cNvSpPr>
          <p:nvPr>
            <p:ph type="ftr" sz="quarter" idx="11"/>
          </p:nvPr>
        </p:nvSpPr>
        <p:spPr/>
        <p:txBody>
          <a:bodyPr/>
          <a:lstStyle/>
          <a:p>
            <a:r>
              <a:rPr lang="en-US" dirty="0"/>
              <a:t>DEPARTMENT OF BUSINESS &amp; ECONOMICS</a:t>
            </a:r>
          </a:p>
        </p:txBody>
      </p:sp>
      <p:sp>
        <p:nvSpPr>
          <p:cNvPr id="6" name="Slide Number Placeholder 5">
            <a:extLst>
              <a:ext uri="{FF2B5EF4-FFF2-40B4-BE49-F238E27FC236}">
                <a16:creationId xmlns:a16="http://schemas.microsoft.com/office/drawing/2014/main" id="{986BCC6C-06D2-CC1B-BC1A-B87124A36DE8}"/>
              </a:ext>
            </a:extLst>
          </p:cNvPr>
          <p:cNvSpPr>
            <a:spLocks noGrp="1"/>
          </p:cNvSpPr>
          <p:nvPr>
            <p:ph type="sldNum" sz="quarter" idx="12"/>
          </p:nvPr>
        </p:nvSpPr>
        <p:spPr/>
        <p:txBody>
          <a:bodyPr/>
          <a:lstStyle/>
          <a:p>
            <a:fld id="{1A980C56-831A-4EAB-9EDE-57C090F4F877}" type="slidenum">
              <a:rPr lang="en-US" smtClean="0"/>
              <a:t>1</a:t>
            </a:fld>
            <a:endParaRPr lang="en-US" dirty="0"/>
          </a:p>
        </p:txBody>
      </p:sp>
    </p:spTree>
    <p:extLst>
      <p:ext uri="{BB962C8B-B14F-4D97-AF65-F5344CB8AC3E}">
        <p14:creationId xmlns:p14="http://schemas.microsoft.com/office/powerpoint/2010/main" val="25058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B09A4-5BC9-4EA8-C267-D3B26A49D07E}"/>
              </a:ext>
            </a:extLst>
          </p:cNvPr>
          <p:cNvSpPr>
            <a:spLocks noGrp="1"/>
          </p:cNvSpPr>
          <p:nvPr>
            <p:ph type="title"/>
          </p:nvPr>
        </p:nvSpPr>
        <p:spPr/>
        <p:txBody>
          <a:bodyPr/>
          <a:lstStyle/>
          <a:p>
            <a:pPr marL="0" indent="0" algn="ctr">
              <a:buNone/>
            </a:pPr>
            <a:r>
              <a:rPr lang="en-US" dirty="0"/>
              <a:t>https://pollev.com/brianpark046</a:t>
            </a:r>
          </a:p>
        </p:txBody>
      </p:sp>
      <p:sp>
        <p:nvSpPr>
          <p:cNvPr id="4" name="Date Placeholder 3">
            <a:extLst>
              <a:ext uri="{FF2B5EF4-FFF2-40B4-BE49-F238E27FC236}">
                <a16:creationId xmlns:a16="http://schemas.microsoft.com/office/drawing/2014/main" id="{CE725A02-EA7A-7321-8B8B-168BF05EA587}"/>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024C4429-8EF0-A6CF-DF65-1DD6365F71D2}"/>
              </a:ext>
            </a:extLst>
          </p:cNvPr>
          <p:cNvSpPr>
            <a:spLocks noGrp="1"/>
          </p:cNvSpPr>
          <p:nvPr>
            <p:ph type="ftr" sz="quarter" idx="11"/>
          </p:nvPr>
        </p:nvSpPr>
        <p:spPr/>
        <p:txBody>
          <a:bodyPr/>
          <a:lstStyle/>
          <a:p>
            <a:r>
              <a:rPr lang="en-US"/>
              <a:t>DEPARTMENT OF BUSINESS &amp; ECONOMICS</a:t>
            </a:r>
          </a:p>
        </p:txBody>
      </p:sp>
      <p:sp>
        <p:nvSpPr>
          <p:cNvPr id="6" name="Slide Number Placeholder 5">
            <a:extLst>
              <a:ext uri="{FF2B5EF4-FFF2-40B4-BE49-F238E27FC236}">
                <a16:creationId xmlns:a16="http://schemas.microsoft.com/office/drawing/2014/main" id="{E35CE67F-4580-2DF1-52D2-80C99C5F60C8}"/>
              </a:ext>
            </a:extLst>
          </p:cNvPr>
          <p:cNvSpPr>
            <a:spLocks noGrp="1"/>
          </p:cNvSpPr>
          <p:nvPr>
            <p:ph type="sldNum" sz="quarter" idx="12"/>
          </p:nvPr>
        </p:nvSpPr>
        <p:spPr/>
        <p:txBody>
          <a:bodyPr/>
          <a:lstStyle/>
          <a:p>
            <a:fld id="{1A980C56-831A-4EAB-9EDE-57C090F4F877}" type="slidenum">
              <a:rPr lang="en-US" smtClean="0"/>
              <a:t>2</a:t>
            </a:fld>
            <a:endParaRPr lang="en-US"/>
          </a:p>
        </p:txBody>
      </p:sp>
      <p:pic>
        <p:nvPicPr>
          <p:cNvPr id="8" name="Picture 7" descr="A qr code on a white background&#10;&#10;Description automatically generated">
            <a:extLst>
              <a:ext uri="{FF2B5EF4-FFF2-40B4-BE49-F238E27FC236}">
                <a16:creationId xmlns:a16="http://schemas.microsoft.com/office/drawing/2014/main" id="{2623E16C-1165-FEA6-D775-025B907AAFC0}"/>
              </a:ext>
            </a:extLst>
          </p:cNvPr>
          <p:cNvPicPr>
            <a:picLocks noChangeAspect="1"/>
          </p:cNvPicPr>
          <p:nvPr/>
        </p:nvPicPr>
        <p:blipFill rotWithShape="1">
          <a:blip r:embed="rId2">
            <a:extLst>
              <a:ext uri="{28A0092B-C50C-407E-A947-70E740481C1C}">
                <a14:useLocalDpi xmlns:a14="http://schemas.microsoft.com/office/drawing/2010/main" val="0"/>
              </a:ext>
            </a:extLst>
          </a:blip>
          <a:srcRect l="7351" t="7618" r="7351" b="7660"/>
          <a:stretch/>
        </p:blipFill>
        <p:spPr>
          <a:xfrm>
            <a:off x="2088573" y="1339928"/>
            <a:ext cx="4966854" cy="4933296"/>
          </a:xfrm>
          <a:prstGeom prst="rect">
            <a:avLst/>
          </a:prstGeom>
        </p:spPr>
      </p:pic>
    </p:spTree>
    <p:extLst>
      <p:ext uri="{BB962C8B-B14F-4D97-AF65-F5344CB8AC3E}">
        <p14:creationId xmlns:p14="http://schemas.microsoft.com/office/powerpoint/2010/main" val="146523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9BB44-8F43-D123-082D-63D3F8FC2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26490-51FB-07DD-5930-C8F85A57EE44}"/>
              </a:ext>
            </a:extLst>
          </p:cNvPr>
          <p:cNvSpPr>
            <a:spLocks noGrp="1"/>
          </p:cNvSpPr>
          <p:nvPr>
            <p:ph type="title"/>
          </p:nvPr>
        </p:nvSpPr>
        <p:spPr/>
        <p:txBody>
          <a:bodyPr/>
          <a:lstStyle/>
          <a:p>
            <a:r>
              <a:rPr lang="en-US" dirty="0"/>
              <a:t>Expanding the Financial Market</a:t>
            </a:r>
          </a:p>
        </p:txBody>
      </p:sp>
      <p:sp>
        <p:nvSpPr>
          <p:cNvPr id="3" name="Content Placeholder 2">
            <a:extLst>
              <a:ext uri="{FF2B5EF4-FFF2-40B4-BE49-F238E27FC236}">
                <a16:creationId xmlns:a16="http://schemas.microsoft.com/office/drawing/2014/main" id="{1220DAAB-7F97-E9F2-0E62-C87AE6F70402}"/>
              </a:ext>
            </a:extLst>
          </p:cNvPr>
          <p:cNvSpPr>
            <a:spLocks noGrp="1"/>
          </p:cNvSpPr>
          <p:nvPr>
            <p:ph idx="1"/>
          </p:nvPr>
        </p:nvSpPr>
        <p:spPr>
          <a:xfrm>
            <a:off x="628650" y="1825625"/>
            <a:ext cx="7886700" cy="4351338"/>
          </a:xfrm>
        </p:spPr>
        <p:txBody>
          <a:bodyPr>
            <a:normAutofit/>
          </a:bodyPr>
          <a:lstStyle/>
          <a:p>
            <a:r>
              <a:rPr lang="en-US" dirty="0"/>
              <a:t>Up to this point, we have been working with a very simple model of the financial market.</a:t>
            </a:r>
          </a:p>
          <a:p>
            <a:pPr lvl="3"/>
            <a:endParaRPr lang="en-US" dirty="0"/>
          </a:p>
          <a:p>
            <a:r>
              <a:rPr lang="en-US" dirty="0"/>
              <a:t>But we now know that issues stemming from the financial sector can affect the market for goods and services.</a:t>
            </a:r>
          </a:p>
          <a:p>
            <a:pPr lvl="3"/>
            <a:endParaRPr lang="en-US" dirty="0"/>
          </a:p>
          <a:p>
            <a:r>
              <a:rPr lang="en-US" dirty="0"/>
              <a:t>We will expand the financial market by…</a:t>
            </a:r>
          </a:p>
          <a:p>
            <a:pPr lvl="1"/>
            <a:r>
              <a:rPr lang="en-US" dirty="0"/>
              <a:t>…introducing two interest rates, and</a:t>
            </a:r>
          </a:p>
          <a:p>
            <a:pPr lvl="1"/>
            <a:r>
              <a:rPr lang="en-US" dirty="0"/>
              <a:t>…introducing the concept of risk, and</a:t>
            </a:r>
          </a:p>
          <a:p>
            <a:pPr lvl="1"/>
            <a:r>
              <a:rPr lang="en-US" dirty="0"/>
              <a:t>..discuss the role of financial intermediaries.</a:t>
            </a:r>
          </a:p>
          <a:p>
            <a:pPr lvl="3"/>
            <a:endParaRPr lang="en-US" dirty="0"/>
          </a:p>
          <a:p>
            <a:r>
              <a:rPr lang="en-US" dirty="0"/>
              <a:t>…and update the IS-LM Framework accordingly!</a:t>
            </a:r>
          </a:p>
        </p:txBody>
      </p:sp>
      <p:sp>
        <p:nvSpPr>
          <p:cNvPr id="4" name="Date Placeholder 3">
            <a:extLst>
              <a:ext uri="{FF2B5EF4-FFF2-40B4-BE49-F238E27FC236}">
                <a16:creationId xmlns:a16="http://schemas.microsoft.com/office/drawing/2014/main" id="{E22C6B69-DBC6-2957-DA58-CF92C3383BA0}"/>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4DAFEA72-E641-44E2-8BB7-D653E3151E96}"/>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5B5E7A0F-6A88-2CA1-E395-9C03739F36EA}"/>
              </a:ext>
            </a:extLst>
          </p:cNvPr>
          <p:cNvSpPr>
            <a:spLocks noGrp="1"/>
          </p:cNvSpPr>
          <p:nvPr>
            <p:ph type="sldNum" sz="quarter" idx="12"/>
          </p:nvPr>
        </p:nvSpPr>
        <p:spPr/>
        <p:txBody>
          <a:bodyPr/>
          <a:lstStyle/>
          <a:p>
            <a:fld id="{1A980C56-831A-4EAB-9EDE-57C090F4F877}" type="slidenum">
              <a:rPr lang="en-US" smtClean="0"/>
              <a:t>3</a:t>
            </a:fld>
            <a:endParaRPr lang="en-US" dirty="0"/>
          </a:p>
        </p:txBody>
      </p:sp>
    </p:spTree>
    <p:extLst>
      <p:ext uri="{BB962C8B-B14F-4D97-AF65-F5344CB8AC3E}">
        <p14:creationId xmlns:p14="http://schemas.microsoft.com/office/powerpoint/2010/main" val="78108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3F6D-9EEF-3BB2-B5B6-637EF2FD629C}"/>
              </a:ext>
            </a:extLst>
          </p:cNvPr>
          <p:cNvSpPr>
            <a:spLocks noGrp="1"/>
          </p:cNvSpPr>
          <p:nvPr>
            <p:ph type="title"/>
          </p:nvPr>
        </p:nvSpPr>
        <p:spPr/>
        <p:txBody>
          <a:bodyPr/>
          <a:lstStyle/>
          <a:p>
            <a:r>
              <a:rPr lang="en-US" dirty="0"/>
              <a:t>Nominal and Real Interest Rates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CFC462-8EB1-3ABE-777B-9222958EE419}"/>
                  </a:ext>
                </a:extLst>
              </p:cNvPr>
              <p:cNvSpPr>
                <a:spLocks noGrp="1"/>
              </p:cNvSpPr>
              <p:nvPr>
                <p:ph idx="1"/>
              </p:nvPr>
            </p:nvSpPr>
            <p:spPr>
              <a:xfrm>
                <a:off x="628650" y="1825625"/>
                <a:ext cx="7886700" cy="4351338"/>
              </a:xfrm>
            </p:spPr>
            <p:txBody>
              <a:bodyPr/>
              <a:lstStyle/>
              <a:p>
                <a:r>
                  <a:rPr lang="en-US" dirty="0"/>
                  <a:t>Suppose that there is a financial asset that guarantees a 10% annual interest </a:t>
                </a:r>
                <a14:m>
                  <m:oMath xmlns:m="http://schemas.openxmlformats.org/officeDocument/2006/math">
                    <m:r>
                      <a:rPr lang="en-US" i="1" dirty="0">
                        <a:latin typeface="Cambria Math" panose="02040503050406030204" pitchFamily="18" charset="0"/>
                      </a:rPr>
                      <m:t>(</m:t>
                    </m:r>
                    <m:r>
                      <a:rPr lang="en-US" b="0" i="1" dirty="0" smtClean="0">
                        <a:latin typeface="Cambria Math" panose="02040503050406030204" pitchFamily="18" charset="0"/>
                      </a:rPr>
                      <m:t>𝑖</m:t>
                    </m:r>
                    <m:r>
                      <a:rPr lang="en-US" i="1" dirty="0">
                        <a:latin typeface="Cambria Math" panose="02040503050406030204" pitchFamily="18" charset="0"/>
                      </a:rPr>
                      <m:t>)</m:t>
                    </m:r>
                  </m:oMath>
                </a14:m>
                <a:r>
                  <a:rPr lang="en-US" dirty="0"/>
                  <a:t> payment:</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=10%</m:t>
                      </m:r>
                    </m:oMath>
                  </m:oMathPara>
                </a14:m>
                <a:endParaRPr lang="en-US" dirty="0"/>
              </a:p>
              <a:p>
                <a:pPr lvl="3"/>
                <a:endParaRPr lang="en-US" dirty="0"/>
              </a:p>
              <a:p>
                <a:r>
                  <a:rPr lang="en-US" dirty="0"/>
                  <a:t>Would your perception about this asset be different if the annual rate of inflation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𝜋</m:t>
                    </m:r>
                    <m:r>
                      <a:rPr lang="en-US" i="1" dirty="0" smtClean="0">
                        <a:latin typeface="Cambria Math" panose="02040503050406030204" pitchFamily="18" charset="0"/>
                      </a:rPr>
                      <m:t>)</m:t>
                    </m:r>
                  </m:oMath>
                </a14:m>
                <a:r>
                  <a:rPr lang="en-US" dirty="0"/>
                  <a:t> was 15%?</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𝜋</m:t>
                      </m:r>
                      <m:r>
                        <a:rPr lang="en-US" i="1">
                          <a:latin typeface="Cambria Math" panose="02040503050406030204" pitchFamily="18" charset="0"/>
                        </a:rPr>
                        <m:t>=1</m:t>
                      </m:r>
                      <m:r>
                        <a:rPr lang="en-US" b="0" i="1" smtClean="0">
                          <a:latin typeface="Cambria Math" panose="02040503050406030204" pitchFamily="18" charset="0"/>
                        </a:rPr>
                        <m:t>5</m:t>
                      </m:r>
                      <m:r>
                        <a:rPr lang="en-US" i="1">
                          <a:latin typeface="Cambria Math" panose="02040503050406030204" pitchFamily="18" charset="0"/>
                        </a:rPr>
                        <m:t>%</m:t>
                      </m:r>
                    </m:oMath>
                  </m:oMathPara>
                </a14:m>
                <a:endParaRPr lang="en-US" dirty="0"/>
              </a:p>
              <a:p>
                <a:pPr lvl="3"/>
                <a:endParaRPr lang="en-US" dirty="0"/>
              </a:p>
              <a:p>
                <a:r>
                  <a:rPr lang="en-US" dirty="0"/>
                  <a:t>The actual return to your investment measured in terms of “stuff” you can purchase is negative.</a:t>
                </a:r>
              </a:p>
            </p:txBody>
          </p:sp>
        </mc:Choice>
        <mc:Fallback xmlns="">
          <p:sp>
            <p:nvSpPr>
              <p:cNvPr id="3" name="Content Placeholder 2">
                <a:extLst>
                  <a:ext uri="{FF2B5EF4-FFF2-40B4-BE49-F238E27FC236}">
                    <a16:creationId xmlns:a16="http://schemas.microsoft.com/office/drawing/2014/main" id="{C8CFC462-8EB1-3ABE-777B-9222958EE419}"/>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r="-208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C96FAEA-1CB6-950A-7ED6-2C11A58BEA68}"/>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94CBE927-5673-1A2D-A465-5C8F018F90DF}"/>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F48A035A-05D3-6585-B6EE-DA7BE096F1A9}"/>
              </a:ext>
            </a:extLst>
          </p:cNvPr>
          <p:cNvSpPr>
            <a:spLocks noGrp="1"/>
          </p:cNvSpPr>
          <p:nvPr>
            <p:ph type="sldNum" sz="quarter" idx="12"/>
          </p:nvPr>
        </p:nvSpPr>
        <p:spPr/>
        <p:txBody>
          <a:bodyPr/>
          <a:lstStyle/>
          <a:p>
            <a:fld id="{1A980C56-831A-4EAB-9EDE-57C090F4F877}" type="slidenum">
              <a:rPr lang="en-US" smtClean="0"/>
              <a:t>4</a:t>
            </a:fld>
            <a:endParaRPr lang="en-US" dirty="0"/>
          </a:p>
        </p:txBody>
      </p:sp>
    </p:spTree>
    <p:extLst>
      <p:ext uri="{BB962C8B-B14F-4D97-AF65-F5344CB8AC3E}">
        <p14:creationId xmlns:p14="http://schemas.microsoft.com/office/powerpoint/2010/main" val="123226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86141-42C2-C7B5-7D76-B3E5745CF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2A140-A2CA-A6A0-5F97-8C7FA0328BDC}"/>
              </a:ext>
            </a:extLst>
          </p:cNvPr>
          <p:cNvSpPr>
            <a:spLocks noGrp="1"/>
          </p:cNvSpPr>
          <p:nvPr>
            <p:ph type="title"/>
          </p:nvPr>
        </p:nvSpPr>
        <p:spPr/>
        <p:txBody>
          <a:bodyPr/>
          <a:lstStyle/>
          <a:p>
            <a:r>
              <a:rPr lang="en-US" dirty="0"/>
              <a:t>Nominal and Real Interest Rates</a:t>
            </a:r>
          </a:p>
        </p:txBody>
      </p:sp>
      <p:sp>
        <p:nvSpPr>
          <p:cNvPr id="3" name="Content Placeholder 2">
            <a:extLst>
              <a:ext uri="{FF2B5EF4-FFF2-40B4-BE49-F238E27FC236}">
                <a16:creationId xmlns:a16="http://schemas.microsoft.com/office/drawing/2014/main" id="{A178FE42-802E-12A0-060C-1BCAF3C85B35}"/>
              </a:ext>
            </a:extLst>
          </p:cNvPr>
          <p:cNvSpPr>
            <a:spLocks noGrp="1"/>
          </p:cNvSpPr>
          <p:nvPr>
            <p:ph idx="1"/>
          </p:nvPr>
        </p:nvSpPr>
        <p:spPr>
          <a:xfrm>
            <a:off x="628650" y="1825625"/>
            <a:ext cx="7886700" cy="4351338"/>
          </a:xfrm>
        </p:spPr>
        <p:txBody>
          <a:bodyPr/>
          <a:lstStyle/>
          <a:p>
            <a:r>
              <a:rPr lang="en-US" dirty="0"/>
              <a:t>Suppose you had $10,000 to invest in this financial asset, and there is only one good in the economy, coffee, which costs $4 for each cup.</a:t>
            </a:r>
          </a:p>
          <a:p>
            <a:pPr lvl="3"/>
            <a:endParaRPr lang="en-US" dirty="0"/>
          </a:p>
          <a:p>
            <a:r>
              <a:rPr lang="en-US" dirty="0"/>
              <a:t>With the $10,000 you have at this point you can purchase 2,500 cups of coffee.</a:t>
            </a:r>
          </a:p>
          <a:p>
            <a:pPr lvl="3"/>
            <a:endParaRPr lang="en-US" dirty="0"/>
          </a:p>
          <a:p>
            <a:r>
              <a:rPr lang="en-US" dirty="0"/>
              <a:t>Now, you invest $10,000 in the asset for a 10% return to receive $11,000 next year, but each cup of coffee got 15% more expensive at $4.6 for each cup.</a:t>
            </a:r>
          </a:p>
          <a:p>
            <a:pPr lvl="3"/>
            <a:endParaRPr lang="en-US" dirty="0"/>
          </a:p>
          <a:p>
            <a:r>
              <a:rPr lang="en-US" dirty="0"/>
              <a:t>With $11,000, you can purchase 2,391 cups of coffee.</a:t>
            </a:r>
          </a:p>
        </p:txBody>
      </p:sp>
      <p:sp>
        <p:nvSpPr>
          <p:cNvPr id="4" name="Date Placeholder 3">
            <a:extLst>
              <a:ext uri="{FF2B5EF4-FFF2-40B4-BE49-F238E27FC236}">
                <a16:creationId xmlns:a16="http://schemas.microsoft.com/office/drawing/2014/main" id="{0EDF3CCA-92DA-18EC-D012-E230A39CB377}"/>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D496C853-E72B-4303-5BD4-9D0EA5693D2E}"/>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5C70C469-8E1A-5E98-90F5-CA82C293E702}"/>
              </a:ext>
            </a:extLst>
          </p:cNvPr>
          <p:cNvSpPr>
            <a:spLocks noGrp="1"/>
          </p:cNvSpPr>
          <p:nvPr>
            <p:ph type="sldNum" sz="quarter" idx="12"/>
          </p:nvPr>
        </p:nvSpPr>
        <p:spPr/>
        <p:txBody>
          <a:bodyPr/>
          <a:lstStyle/>
          <a:p>
            <a:fld id="{1A980C56-831A-4EAB-9EDE-57C090F4F877}" type="slidenum">
              <a:rPr lang="en-US" smtClean="0"/>
              <a:t>5</a:t>
            </a:fld>
            <a:endParaRPr lang="en-US" dirty="0"/>
          </a:p>
        </p:txBody>
      </p:sp>
    </p:spTree>
    <p:extLst>
      <p:ext uri="{BB962C8B-B14F-4D97-AF65-F5344CB8AC3E}">
        <p14:creationId xmlns:p14="http://schemas.microsoft.com/office/powerpoint/2010/main" val="264059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CCC7-BAE6-CA9F-4A64-8468D3D59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17328-74A4-9109-A3B0-DBD925BC695E}"/>
              </a:ext>
            </a:extLst>
          </p:cNvPr>
          <p:cNvSpPr>
            <a:spLocks noGrp="1"/>
          </p:cNvSpPr>
          <p:nvPr>
            <p:ph type="title"/>
          </p:nvPr>
        </p:nvSpPr>
        <p:spPr/>
        <p:txBody>
          <a:bodyPr/>
          <a:lstStyle/>
          <a:p>
            <a:r>
              <a:rPr lang="en-US" dirty="0"/>
              <a:t>Nominal and Real Interest Rates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AA6BB8-F570-1D7F-2D07-A0877D3BA3B0}"/>
                  </a:ext>
                </a:extLst>
              </p:cNvPr>
              <p:cNvSpPr>
                <a:spLocks noGrp="1"/>
              </p:cNvSpPr>
              <p:nvPr>
                <p:ph idx="1"/>
              </p:nvPr>
            </p:nvSpPr>
            <p:spPr>
              <a:xfrm>
                <a:off x="628650" y="1825625"/>
                <a:ext cx="7886700" cy="4351338"/>
              </a:xfrm>
            </p:spPr>
            <p:txBody>
              <a:bodyPr/>
              <a:lstStyle/>
              <a:p>
                <a:r>
                  <a:rPr lang="en-US" dirty="0"/>
                  <a:t>You did indeed receive interest, but inflation outpaced the return on investment, so purchasing power was lost.</a:t>
                </a:r>
              </a:p>
              <a:p>
                <a:pPr lvl="3"/>
                <a:endParaRPr lang="en-US" dirty="0"/>
              </a:p>
              <a:p>
                <a:r>
                  <a:rPr lang="en-US" dirty="0"/>
                  <a:t>This leads us to distinguish between the nominal interest rate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m:t>
                    </m:r>
                  </m:oMath>
                </a14:m>
                <a:r>
                  <a:rPr lang="en-US" dirty="0"/>
                  <a:t>, and the real interest rate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𝑟</m:t>
                    </m:r>
                    <m:r>
                      <a:rPr lang="en-US" i="1" dirty="0" smtClean="0">
                        <a:latin typeface="Cambria Math" panose="02040503050406030204" pitchFamily="18" charset="0"/>
                      </a:rPr>
                      <m:t>)</m:t>
                    </m:r>
                  </m:oMath>
                </a14:m>
                <a:r>
                  <a:rPr lang="en-US" dirty="0"/>
                  <a:t>.</a:t>
                </a:r>
              </a:p>
              <a:p>
                <a:pPr lvl="3"/>
                <a:endParaRPr lang="en-US" dirty="0"/>
              </a:p>
              <a:p>
                <a:r>
                  <a:rPr lang="en-US" dirty="0"/>
                  <a:t>The nominal interest rate </a:t>
                </a:r>
                <a14:m>
                  <m:oMath xmlns:m="http://schemas.openxmlformats.org/officeDocument/2006/math">
                    <m:r>
                      <a:rPr lang="en-US" i="1" dirty="0">
                        <a:latin typeface="Cambria Math" panose="02040503050406030204" pitchFamily="18" charset="0"/>
                      </a:rPr>
                      <m:t>(</m:t>
                    </m:r>
                    <m:r>
                      <a:rPr lang="en-US" i="1" dirty="0" err="1">
                        <a:latin typeface="Cambria Math" panose="02040503050406030204" pitchFamily="18" charset="0"/>
                      </a:rPr>
                      <m:t>𝑖</m:t>
                    </m:r>
                    <m:r>
                      <a:rPr lang="en-US" i="1" dirty="0">
                        <a:latin typeface="Cambria Math" panose="02040503050406030204" pitchFamily="18" charset="0"/>
                      </a:rPr>
                      <m:t>)</m:t>
                    </m:r>
                  </m:oMath>
                </a14:m>
                <a:r>
                  <a:rPr lang="en-US" dirty="0"/>
                  <a:t> can be interpreted as “the interest rate in terms of dollars.”</a:t>
                </a:r>
              </a:p>
              <a:p>
                <a:pPr lvl="3"/>
                <a:endParaRPr lang="en-US" dirty="0"/>
              </a:p>
              <a:p>
                <a:r>
                  <a:rPr lang="en-US" dirty="0"/>
                  <a:t>The real interest rate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oMath>
                </a14:m>
                <a:r>
                  <a:rPr lang="en-US" dirty="0"/>
                  <a:t> can be interpreted as “the interest rate in terms of goods.”</a:t>
                </a:r>
              </a:p>
            </p:txBody>
          </p:sp>
        </mc:Choice>
        <mc:Fallback xmlns="">
          <p:sp>
            <p:nvSpPr>
              <p:cNvPr id="3" name="Content Placeholder 2">
                <a:extLst>
                  <a:ext uri="{FF2B5EF4-FFF2-40B4-BE49-F238E27FC236}">
                    <a16:creationId xmlns:a16="http://schemas.microsoft.com/office/drawing/2014/main" id="{50AA6BB8-F570-1D7F-2D07-A0877D3BA3B0}"/>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r="-139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E6EFE81-7772-9CDC-9052-E14F9A04CBBD}"/>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152800F8-DC4D-248D-C8FA-1DDB1CAC077F}"/>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9C5FF122-A81D-8B5B-4C76-01E6EDC81329}"/>
              </a:ext>
            </a:extLst>
          </p:cNvPr>
          <p:cNvSpPr>
            <a:spLocks noGrp="1"/>
          </p:cNvSpPr>
          <p:nvPr>
            <p:ph type="sldNum" sz="quarter" idx="12"/>
          </p:nvPr>
        </p:nvSpPr>
        <p:spPr/>
        <p:txBody>
          <a:bodyPr/>
          <a:lstStyle/>
          <a:p>
            <a:fld id="{1A980C56-831A-4EAB-9EDE-57C090F4F877}" type="slidenum">
              <a:rPr lang="en-US" smtClean="0"/>
              <a:t>6</a:t>
            </a:fld>
            <a:endParaRPr lang="en-US" dirty="0"/>
          </a:p>
        </p:txBody>
      </p:sp>
    </p:spTree>
    <p:extLst>
      <p:ext uri="{BB962C8B-B14F-4D97-AF65-F5344CB8AC3E}">
        <p14:creationId xmlns:p14="http://schemas.microsoft.com/office/powerpoint/2010/main" val="230864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B7F60-F99A-5AE2-FCED-75099F4F2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C7C8C-4572-84D7-1A28-A861E865E402}"/>
              </a:ext>
            </a:extLst>
          </p:cNvPr>
          <p:cNvSpPr>
            <a:spLocks noGrp="1"/>
          </p:cNvSpPr>
          <p:nvPr>
            <p:ph type="title"/>
          </p:nvPr>
        </p:nvSpPr>
        <p:spPr/>
        <p:txBody>
          <a:bodyPr/>
          <a:lstStyle/>
          <a:p>
            <a:r>
              <a:rPr lang="en-US" dirty="0"/>
              <a:t>Nominal and Real Interest Rates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1BB528-462B-0C05-8A01-9CF96B8A5E72}"/>
                  </a:ext>
                </a:extLst>
              </p:cNvPr>
              <p:cNvSpPr>
                <a:spLocks noGrp="1"/>
              </p:cNvSpPr>
              <p:nvPr>
                <p:ph idx="1"/>
              </p:nvPr>
            </p:nvSpPr>
            <p:spPr>
              <a:xfrm>
                <a:off x="628650" y="1825625"/>
                <a:ext cx="7886700" cy="4351338"/>
              </a:xfrm>
            </p:spPr>
            <p:txBody>
              <a:bodyPr/>
              <a:lstStyle/>
              <a:p>
                <a:r>
                  <a:rPr lang="en-US" dirty="0"/>
                  <a:t>The relationship between the nominal and real interest rates measured at some period in time </a:t>
                </a:r>
                <a14:m>
                  <m:oMath xmlns:m="http://schemas.openxmlformats.org/officeDocument/2006/math">
                    <m:r>
                      <a:rPr lang="en-US" i="1" dirty="0">
                        <a:latin typeface="Cambria Math" panose="02040503050406030204" pitchFamily="18" charset="0"/>
                      </a:rPr>
                      <m:t>𝑡</m:t>
                    </m:r>
                  </m:oMath>
                </a14:m>
                <a:r>
                  <a:rPr lang="en-US" dirty="0"/>
                  <a:t>, is expressed as:</a:t>
                </a:r>
              </a:p>
              <a:p>
                <a:endParaRPr lang="en-US" sz="50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𝜋</m:t>
                          </m:r>
                        </m:e>
                        <m:sub>
                          <m: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𝑒</m:t>
                          </m:r>
                        </m:sup>
                      </m:sSubSup>
                    </m:oMath>
                  </m:oMathPara>
                </a14:m>
                <a:endParaRPr lang="en-US" dirty="0"/>
              </a:p>
              <a:p>
                <a:pPr lvl="3"/>
                <a:endParaRPr lang="en-US"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oMath>
                </a14:m>
                <a:r>
                  <a:rPr lang="en-US" dirty="0"/>
                  <a:t> is the one-year real interest rate at time </a:t>
                </a:r>
                <a14:m>
                  <m:oMath xmlns:m="http://schemas.openxmlformats.org/officeDocument/2006/math">
                    <m:r>
                      <a:rPr lang="en-US" i="1" dirty="0">
                        <a:latin typeface="Cambria Math" panose="02040503050406030204" pitchFamily="18" charset="0"/>
                      </a:rPr>
                      <m:t>𝑡</m:t>
                    </m:r>
                  </m:oMath>
                </a14:m>
                <a:r>
                  <a:rPr lang="en-US" dirty="0"/>
                  <a:t>, and</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𝑡</m:t>
                        </m:r>
                      </m:sub>
                    </m:sSub>
                  </m:oMath>
                </a14:m>
                <a:r>
                  <a:rPr lang="en-US" dirty="0"/>
                  <a:t> is the one-year nominal interest rate at time </a:t>
                </a:r>
                <a14:m>
                  <m:oMath xmlns:m="http://schemas.openxmlformats.org/officeDocument/2006/math">
                    <m:r>
                      <a:rPr lang="en-US" i="1" dirty="0">
                        <a:latin typeface="Cambria Math" panose="02040503050406030204" pitchFamily="18" charset="0"/>
                      </a:rPr>
                      <m:t>𝑡</m:t>
                    </m:r>
                  </m:oMath>
                </a14:m>
                <a:r>
                  <a:rPr lang="en-US" dirty="0"/>
                  <a:t>, and</a:t>
                </a:r>
              </a:p>
              <a:p>
                <a:pPr lvl="1"/>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𝜋</m:t>
                        </m:r>
                      </m:e>
                      <m:sub>
                        <m:r>
                          <a:rPr lang="en-US" i="1">
                            <a:latin typeface="Cambria Math" panose="02040503050406030204" pitchFamily="18" charset="0"/>
                          </a:rPr>
                          <m:t>𝑡</m:t>
                        </m:r>
                        <m:r>
                          <a:rPr lang="en-US" i="1">
                            <a:latin typeface="Cambria Math" panose="02040503050406030204" pitchFamily="18" charset="0"/>
                          </a:rPr>
                          <m:t>+1</m:t>
                        </m:r>
                      </m:sub>
                      <m:sup>
                        <m:r>
                          <a:rPr lang="en-US" i="1">
                            <a:latin typeface="Cambria Math" panose="02040503050406030204" pitchFamily="18" charset="0"/>
                          </a:rPr>
                          <m:t>𝑒</m:t>
                        </m:r>
                      </m:sup>
                    </m:sSubSup>
                  </m:oMath>
                </a14:m>
                <a:r>
                  <a:rPr lang="en-US" dirty="0"/>
                  <a:t> is the expected inflation between </a:t>
                </a:r>
                <a14:m>
                  <m:oMath xmlns:m="http://schemas.openxmlformats.org/officeDocument/2006/math">
                    <m:r>
                      <a:rPr lang="en-US" i="1" dirty="0" smtClean="0">
                        <a:latin typeface="Cambria Math" panose="02040503050406030204" pitchFamily="18" charset="0"/>
                      </a:rPr>
                      <m:t>𝑡</m:t>
                    </m:r>
                  </m:oMath>
                </a14:m>
                <a:r>
                  <a:rPr lang="en-US" dirty="0"/>
                  <a:t> and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+1</m:t>
                    </m:r>
                  </m:oMath>
                </a14:m>
                <a:r>
                  <a:rPr lang="en-US" dirty="0"/>
                  <a:t>.</a:t>
                </a:r>
              </a:p>
              <a:p>
                <a:pPr lvl="3"/>
                <a:endParaRPr lang="en-US" dirty="0"/>
              </a:p>
              <a:p>
                <a:r>
                  <a:rPr lang="en-US" dirty="0"/>
                  <a:t>Note that the expected inflation may not match the actual rate of inflation. So,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oMath>
                </a14:m>
                <a:r>
                  <a:rPr lang="en-US" dirty="0"/>
                  <a:t> is known as the </a:t>
                </a:r>
                <a:r>
                  <a:rPr lang="en-US" i="1" dirty="0"/>
                  <a:t>“ex-ante” real interest rate</a:t>
                </a:r>
                <a:r>
                  <a:rPr lang="en-US" dirty="0"/>
                  <a:t>.</a:t>
                </a:r>
              </a:p>
              <a:p>
                <a:pPr lvl="1"/>
                <a:r>
                  <a:rPr lang="en-US" dirty="0"/>
                  <a:t>“ex-ante” means “before the fact”</a:t>
                </a:r>
              </a:p>
            </p:txBody>
          </p:sp>
        </mc:Choice>
        <mc:Fallback xmlns="">
          <p:sp>
            <p:nvSpPr>
              <p:cNvPr id="3" name="Content Placeholder 2">
                <a:extLst>
                  <a:ext uri="{FF2B5EF4-FFF2-40B4-BE49-F238E27FC236}">
                    <a16:creationId xmlns:a16="http://schemas.microsoft.com/office/drawing/2014/main" id="{EA1BB528-462B-0C05-8A01-9CF96B8A5E72}"/>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r="-1159" b="-154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80F55D9-FDC7-4286-872F-FBCAECA7EB4A}"/>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EACA12E5-E341-64A7-E5AE-C743F634A2C9}"/>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F105430-B7BB-B2AC-8DC4-52D53071EBC8}"/>
              </a:ext>
            </a:extLst>
          </p:cNvPr>
          <p:cNvSpPr>
            <a:spLocks noGrp="1"/>
          </p:cNvSpPr>
          <p:nvPr>
            <p:ph type="sldNum" sz="quarter" idx="12"/>
          </p:nvPr>
        </p:nvSpPr>
        <p:spPr/>
        <p:txBody>
          <a:bodyPr/>
          <a:lstStyle/>
          <a:p>
            <a:fld id="{1A980C56-831A-4EAB-9EDE-57C090F4F877}" type="slidenum">
              <a:rPr lang="en-US" smtClean="0"/>
              <a:t>7</a:t>
            </a:fld>
            <a:endParaRPr lang="en-US" dirty="0"/>
          </a:p>
        </p:txBody>
      </p:sp>
    </p:spTree>
    <p:extLst>
      <p:ext uri="{BB962C8B-B14F-4D97-AF65-F5344CB8AC3E}">
        <p14:creationId xmlns:p14="http://schemas.microsoft.com/office/powerpoint/2010/main" val="203604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7C6DB-F062-2D9D-30FB-415CA98B4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05B0C-A7B1-8326-1595-936AED41ACBA}"/>
              </a:ext>
            </a:extLst>
          </p:cNvPr>
          <p:cNvSpPr>
            <a:spLocks noGrp="1"/>
          </p:cNvSpPr>
          <p:nvPr>
            <p:ph type="title"/>
          </p:nvPr>
        </p:nvSpPr>
        <p:spPr/>
        <p:txBody>
          <a:bodyPr/>
          <a:lstStyle/>
          <a:p>
            <a:r>
              <a:rPr lang="en-US" dirty="0">
                <a:solidFill>
                  <a:srgbClr val="FF0000"/>
                </a:solidFill>
              </a:rPr>
              <a:t>POLLEVERYWHERE</a:t>
            </a:r>
          </a:p>
        </p:txBody>
      </p:sp>
      <p:sp>
        <p:nvSpPr>
          <p:cNvPr id="3" name="Content Placeholder 2">
            <a:extLst>
              <a:ext uri="{FF2B5EF4-FFF2-40B4-BE49-F238E27FC236}">
                <a16:creationId xmlns:a16="http://schemas.microsoft.com/office/drawing/2014/main" id="{EF343677-0D41-00CA-5D7D-9FED9064BBA5}"/>
              </a:ext>
            </a:extLst>
          </p:cNvPr>
          <p:cNvSpPr>
            <a:spLocks noGrp="1"/>
          </p:cNvSpPr>
          <p:nvPr>
            <p:ph idx="1"/>
          </p:nvPr>
        </p:nvSpPr>
        <p:spPr>
          <a:xfrm>
            <a:off x="628650" y="1825625"/>
            <a:ext cx="7886700" cy="4351338"/>
          </a:xfrm>
        </p:spPr>
        <p:txBody>
          <a:bodyPr/>
          <a:lstStyle/>
          <a:p>
            <a:r>
              <a:rPr lang="en-US" dirty="0">
                <a:solidFill>
                  <a:srgbClr val="FF0000"/>
                </a:solidFill>
              </a:rPr>
              <a:t>CALCULATE REAL INTEREST</a:t>
            </a:r>
          </a:p>
        </p:txBody>
      </p:sp>
      <p:sp>
        <p:nvSpPr>
          <p:cNvPr id="4" name="Date Placeholder 3">
            <a:extLst>
              <a:ext uri="{FF2B5EF4-FFF2-40B4-BE49-F238E27FC236}">
                <a16:creationId xmlns:a16="http://schemas.microsoft.com/office/drawing/2014/main" id="{87738475-C60B-6370-5068-6ADC6A39D9D8}"/>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21DCF538-9F4E-3341-C55F-2A9EC4A55A25}"/>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9BF9280A-90CE-4B18-E379-0085CD1A41CF}"/>
              </a:ext>
            </a:extLst>
          </p:cNvPr>
          <p:cNvSpPr>
            <a:spLocks noGrp="1"/>
          </p:cNvSpPr>
          <p:nvPr>
            <p:ph type="sldNum" sz="quarter" idx="12"/>
          </p:nvPr>
        </p:nvSpPr>
        <p:spPr/>
        <p:txBody>
          <a:bodyPr/>
          <a:lstStyle/>
          <a:p>
            <a:fld id="{1A980C56-831A-4EAB-9EDE-57C090F4F877}" type="slidenum">
              <a:rPr lang="en-US" smtClean="0"/>
              <a:t>8</a:t>
            </a:fld>
            <a:endParaRPr lang="en-US" dirty="0"/>
          </a:p>
        </p:txBody>
      </p:sp>
    </p:spTree>
    <p:extLst>
      <p:ext uri="{BB962C8B-B14F-4D97-AF65-F5344CB8AC3E}">
        <p14:creationId xmlns:p14="http://schemas.microsoft.com/office/powerpoint/2010/main" val="87716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12DCC-77E0-E806-B649-5C638ED54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8A237-CF77-3D8E-2382-AA36FA98541F}"/>
              </a:ext>
            </a:extLst>
          </p:cNvPr>
          <p:cNvSpPr>
            <a:spLocks noGrp="1"/>
          </p:cNvSpPr>
          <p:nvPr>
            <p:ph type="title"/>
          </p:nvPr>
        </p:nvSpPr>
        <p:spPr/>
        <p:txBody>
          <a:bodyPr/>
          <a:lstStyle/>
          <a:p>
            <a:r>
              <a:rPr lang="en-US" dirty="0"/>
              <a:t>Nominal and Real Interest Rates</a:t>
            </a:r>
          </a:p>
        </p:txBody>
      </p:sp>
      <p:sp>
        <p:nvSpPr>
          <p:cNvPr id="4" name="Date Placeholder 3">
            <a:extLst>
              <a:ext uri="{FF2B5EF4-FFF2-40B4-BE49-F238E27FC236}">
                <a16:creationId xmlns:a16="http://schemas.microsoft.com/office/drawing/2014/main" id="{CA1EEF76-08A3-5E4F-6AA0-D0CFD6D12268}"/>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9DC052E8-F1E5-C8AA-1334-D1F50FEC8290}"/>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061E0EAE-AB72-8F48-47A5-9C623AF3E765}"/>
              </a:ext>
            </a:extLst>
          </p:cNvPr>
          <p:cNvSpPr>
            <a:spLocks noGrp="1"/>
          </p:cNvSpPr>
          <p:nvPr>
            <p:ph type="sldNum" sz="quarter" idx="12"/>
          </p:nvPr>
        </p:nvSpPr>
        <p:spPr/>
        <p:txBody>
          <a:bodyPr/>
          <a:lstStyle/>
          <a:p>
            <a:fld id="{1A980C56-831A-4EAB-9EDE-57C090F4F877}" type="slidenum">
              <a:rPr lang="en-US" smtClean="0"/>
              <a:t>9</a:t>
            </a:fld>
            <a:endParaRPr lang="en-US" dirty="0"/>
          </a:p>
        </p:txBody>
      </p:sp>
      <p:pic>
        <p:nvPicPr>
          <p:cNvPr id="12" name="Content Placeholder 11" descr="A graph of a graph showing the value of a stock market&#10;&#10;Description automatically generated with medium confidence">
            <a:extLst>
              <a:ext uri="{FF2B5EF4-FFF2-40B4-BE49-F238E27FC236}">
                <a16:creationId xmlns:a16="http://schemas.microsoft.com/office/drawing/2014/main" id="{E10843A4-E1E8-B299-D43D-C56D3CC018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858169"/>
            <a:ext cx="7620000" cy="4286250"/>
          </a:xfrm>
        </p:spPr>
      </p:pic>
    </p:spTree>
    <p:extLst>
      <p:ext uri="{BB962C8B-B14F-4D97-AF65-F5344CB8AC3E}">
        <p14:creationId xmlns:p14="http://schemas.microsoft.com/office/powerpoint/2010/main" val="3349951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6C88-4F18-6B53-9F31-D0D23EF3E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CE1D5-E0B4-6175-67B1-2C78261A4AE5}"/>
              </a:ext>
            </a:extLst>
          </p:cNvPr>
          <p:cNvSpPr>
            <a:spLocks noGrp="1"/>
          </p:cNvSpPr>
          <p:nvPr>
            <p:ph type="title"/>
          </p:nvPr>
        </p:nvSpPr>
        <p:spPr/>
        <p:txBody>
          <a:bodyPr/>
          <a:lstStyle/>
          <a:p>
            <a:r>
              <a:rPr lang="en-US" dirty="0"/>
              <a:t>Risk and the Risk Premia</a:t>
            </a:r>
          </a:p>
        </p:txBody>
      </p:sp>
      <p:sp>
        <p:nvSpPr>
          <p:cNvPr id="3" name="Content Placeholder 2">
            <a:extLst>
              <a:ext uri="{FF2B5EF4-FFF2-40B4-BE49-F238E27FC236}">
                <a16:creationId xmlns:a16="http://schemas.microsoft.com/office/drawing/2014/main" id="{E0FDB436-6DF7-F782-D00C-CF3ECC32AEB4}"/>
              </a:ext>
            </a:extLst>
          </p:cNvPr>
          <p:cNvSpPr>
            <a:spLocks noGrp="1"/>
          </p:cNvSpPr>
          <p:nvPr>
            <p:ph idx="1"/>
          </p:nvPr>
        </p:nvSpPr>
        <p:spPr>
          <a:xfrm>
            <a:off x="628650" y="1825625"/>
            <a:ext cx="7886700" cy="4351338"/>
          </a:xfrm>
        </p:spPr>
        <p:txBody>
          <a:bodyPr/>
          <a:lstStyle/>
          <a:p>
            <a:r>
              <a:rPr lang="en-US" dirty="0"/>
              <a:t>In the simple financial model, there were only two assets; money and bonds.</a:t>
            </a:r>
          </a:p>
          <a:p>
            <a:pPr lvl="3"/>
            <a:endParaRPr lang="en-US" dirty="0"/>
          </a:p>
          <a:p>
            <a:r>
              <a:rPr lang="en-US" dirty="0"/>
              <a:t>We assumed that there is only one type of bond, and that said bond had no risk of defaulting.</a:t>
            </a:r>
          </a:p>
          <a:p>
            <a:pPr lvl="3"/>
            <a:endParaRPr lang="en-US" dirty="0"/>
          </a:p>
          <a:p>
            <a:r>
              <a:rPr lang="en-US" dirty="0"/>
              <a:t>In the real-world, there are many different types of bonds.</a:t>
            </a:r>
          </a:p>
          <a:p>
            <a:pPr lvl="1"/>
            <a:r>
              <a:rPr lang="en-US" dirty="0"/>
              <a:t>Different issuers, differing maturities, differing interest rates, etc.</a:t>
            </a:r>
          </a:p>
          <a:p>
            <a:pPr lvl="3"/>
            <a:endParaRPr lang="en-US" dirty="0"/>
          </a:p>
          <a:p>
            <a:r>
              <a:rPr lang="en-US" dirty="0"/>
              <a:t>This time, we will expand the model to include a measure of risk, and the premium associated with said risk.</a:t>
            </a:r>
          </a:p>
        </p:txBody>
      </p:sp>
      <p:sp>
        <p:nvSpPr>
          <p:cNvPr id="4" name="Date Placeholder 3">
            <a:extLst>
              <a:ext uri="{FF2B5EF4-FFF2-40B4-BE49-F238E27FC236}">
                <a16:creationId xmlns:a16="http://schemas.microsoft.com/office/drawing/2014/main" id="{AA1B314D-37BE-7504-9005-DB27BB97A423}"/>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432C4B4D-AD6E-279C-7081-68BBB9420A33}"/>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C03831E2-DE81-77A3-BDF0-16C6D8ADCA29}"/>
              </a:ext>
            </a:extLst>
          </p:cNvPr>
          <p:cNvSpPr>
            <a:spLocks noGrp="1"/>
          </p:cNvSpPr>
          <p:nvPr>
            <p:ph type="sldNum" sz="quarter" idx="12"/>
          </p:nvPr>
        </p:nvSpPr>
        <p:spPr/>
        <p:txBody>
          <a:bodyPr/>
          <a:lstStyle/>
          <a:p>
            <a:fld id="{1A980C56-831A-4EAB-9EDE-57C090F4F877}" type="slidenum">
              <a:rPr lang="en-US" smtClean="0"/>
              <a:t>10</a:t>
            </a:fld>
            <a:endParaRPr lang="en-US" dirty="0"/>
          </a:p>
        </p:txBody>
      </p:sp>
    </p:spTree>
    <p:extLst>
      <p:ext uri="{BB962C8B-B14F-4D97-AF65-F5344CB8AC3E}">
        <p14:creationId xmlns:p14="http://schemas.microsoft.com/office/powerpoint/2010/main" val="111279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8B40F-FA47-6C8A-AE38-0FADEA62D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48587-4BB3-2DFF-14C4-8AC176A4A8F6}"/>
              </a:ext>
            </a:extLst>
          </p:cNvPr>
          <p:cNvSpPr>
            <a:spLocks noGrp="1"/>
          </p:cNvSpPr>
          <p:nvPr>
            <p:ph type="title"/>
          </p:nvPr>
        </p:nvSpPr>
        <p:spPr/>
        <p:txBody>
          <a:bodyPr/>
          <a:lstStyle/>
          <a:p>
            <a:r>
              <a:rPr lang="en-US" dirty="0"/>
              <a:t>Risk and the Risk Premia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4D72B7-D686-A533-1B7B-EAAF8F6E9237}"/>
                  </a:ext>
                </a:extLst>
              </p:cNvPr>
              <p:cNvSpPr>
                <a:spLocks noGrp="1"/>
              </p:cNvSpPr>
              <p:nvPr>
                <p:ph idx="1"/>
              </p:nvPr>
            </p:nvSpPr>
            <p:spPr>
              <a:xfrm>
                <a:off x="628650" y="1825625"/>
                <a:ext cx="7886700" cy="4351338"/>
              </a:xfrm>
            </p:spPr>
            <p:txBody>
              <a:bodyPr/>
              <a:lstStyle/>
              <a:p>
                <a:r>
                  <a:rPr lang="en-US" dirty="0"/>
                  <a:t>Some bonds will be considered riskier than others.</a:t>
                </a:r>
              </a:p>
              <a:p>
                <a:pPr lvl="3"/>
                <a:endParaRPr lang="en-US" dirty="0"/>
              </a:p>
              <a:p>
                <a:r>
                  <a:rPr lang="en-US" dirty="0"/>
                  <a:t>If an asset is deemed to carry greater risk, it must offer a “risk premium” to entice investors.</a:t>
                </a:r>
              </a:p>
              <a:p>
                <a:pPr lvl="3"/>
                <a:endParaRPr lang="en-US" dirty="0"/>
              </a:p>
              <a:p>
                <a:r>
                  <a:rPr lang="en-US" dirty="0"/>
                  <a:t>If risk-free assets are paying out an interest of </a:t>
                </a:r>
                <a14:m>
                  <m:oMath xmlns:m="http://schemas.openxmlformats.org/officeDocument/2006/math">
                    <m:r>
                      <a:rPr lang="en-US" b="0" i="1" smtClean="0">
                        <a:latin typeface="Cambria Math" panose="02040503050406030204" pitchFamily="18" charset="0"/>
                      </a:rPr>
                      <m:t>𝑖</m:t>
                    </m:r>
                  </m:oMath>
                </a14:m>
                <a:r>
                  <a:rPr lang="en-US" dirty="0"/>
                  <a:t>…</a:t>
                </a:r>
              </a:p>
              <a:p>
                <a:pPr lvl="3"/>
                <a:endParaRPr lang="en-US" dirty="0"/>
              </a:p>
              <a:p>
                <a:r>
                  <a:rPr lang="en-US" dirty="0"/>
                  <a:t>Riskier assets must pay an interest of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𝑥</m:t>
                    </m:r>
                  </m:oMath>
                </a14:m>
                <a:r>
                  <a:rPr lang="en-US" dirty="0"/>
                  <a:t>.</a:t>
                </a:r>
              </a:p>
              <a:p>
                <a:pPr lvl="3"/>
                <a:endParaRPr lang="en-US" dirty="0"/>
              </a:p>
              <a:p>
                <a:r>
                  <a:rPr lang="en-US" dirty="0"/>
                  <a:t>This additional rate of return </a:t>
                </a:r>
                <a14:m>
                  <m:oMath xmlns:m="http://schemas.openxmlformats.org/officeDocument/2006/math">
                    <m:r>
                      <a:rPr lang="en-US" b="0" i="1" smtClean="0">
                        <a:latin typeface="Cambria Math" panose="02040503050406030204" pitchFamily="18" charset="0"/>
                      </a:rPr>
                      <m:t>𝑥</m:t>
                    </m:r>
                  </m:oMath>
                </a14:m>
                <a:r>
                  <a:rPr lang="en-US" dirty="0"/>
                  <a:t> is called the risk premium.</a:t>
                </a:r>
              </a:p>
            </p:txBody>
          </p:sp>
        </mc:Choice>
        <mc:Fallback xmlns="">
          <p:sp>
            <p:nvSpPr>
              <p:cNvPr id="3" name="Content Placeholder 2">
                <a:extLst>
                  <a:ext uri="{FF2B5EF4-FFF2-40B4-BE49-F238E27FC236}">
                    <a16:creationId xmlns:a16="http://schemas.microsoft.com/office/drawing/2014/main" id="{674D72B7-D686-A533-1B7B-EAAF8F6E9237}"/>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29F23E99-A9A8-7582-3497-019A0BF631EF}"/>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791282E-430F-F58C-A5BF-0CEA675CBAE9}"/>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A08076D-610A-CD00-C0C9-EC033B684125}"/>
              </a:ext>
            </a:extLst>
          </p:cNvPr>
          <p:cNvSpPr>
            <a:spLocks noGrp="1"/>
          </p:cNvSpPr>
          <p:nvPr>
            <p:ph type="sldNum" sz="quarter" idx="12"/>
          </p:nvPr>
        </p:nvSpPr>
        <p:spPr/>
        <p:txBody>
          <a:bodyPr/>
          <a:lstStyle/>
          <a:p>
            <a:fld id="{1A980C56-831A-4EAB-9EDE-57C090F4F877}" type="slidenum">
              <a:rPr lang="en-US" smtClean="0"/>
              <a:t>11</a:t>
            </a:fld>
            <a:endParaRPr lang="en-US" dirty="0"/>
          </a:p>
        </p:txBody>
      </p:sp>
    </p:spTree>
    <p:extLst>
      <p:ext uri="{BB962C8B-B14F-4D97-AF65-F5344CB8AC3E}">
        <p14:creationId xmlns:p14="http://schemas.microsoft.com/office/powerpoint/2010/main" val="52625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36173-B321-8702-AE5F-6E7D02467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36E4D-9026-7994-AADD-61C789401A4F}"/>
              </a:ext>
            </a:extLst>
          </p:cNvPr>
          <p:cNvSpPr>
            <a:spLocks noGrp="1"/>
          </p:cNvSpPr>
          <p:nvPr>
            <p:ph type="title"/>
          </p:nvPr>
        </p:nvSpPr>
        <p:spPr/>
        <p:txBody>
          <a:bodyPr/>
          <a:lstStyle/>
          <a:p>
            <a:r>
              <a:rPr lang="en-US" dirty="0"/>
              <a:t>Risk and the Risk Premia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9AEA59-7300-3511-7035-9018E1B8EB38}"/>
                  </a:ext>
                </a:extLst>
              </p:cNvPr>
              <p:cNvSpPr>
                <a:spLocks noGrp="1"/>
              </p:cNvSpPr>
              <p:nvPr>
                <p:ph idx="1"/>
              </p:nvPr>
            </p:nvSpPr>
            <p:spPr>
              <a:xfrm>
                <a:off x="628650" y="1825625"/>
                <a:ext cx="7886700" cy="4351338"/>
              </a:xfrm>
            </p:spPr>
            <p:txBody>
              <a:bodyPr/>
              <a:lstStyle/>
              <a:p>
                <a:r>
                  <a:rPr lang="en-US" dirty="0"/>
                  <a:t>Some bonds will be considered riskier than others.</a:t>
                </a:r>
              </a:p>
              <a:p>
                <a:pPr lvl="3"/>
                <a:endParaRPr lang="en-US" dirty="0"/>
              </a:p>
              <a:p>
                <a:r>
                  <a:rPr lang="en-US" dirty="0"/>
                  <a:t>If an asset is deemed to carry greater risk, it must offer a “risk premium” to entice investors.</a:t>
                </a:r>
              </a:p>
              <a:p>
                <a:pPr lvl="3"/>
                <a:endParaRPr lang="en-US" dirty="0"/>
              </a:p>
              <a:p>
                <a:r>
                  <a:rPr lang="en-US" dirty="0"/>
                  <a:t>If risk-free assets are paying out an interest of </a:t>
                </a:r>
                <a14:m>
                  <m:oMath xmlns:m="http://schemas.openxmlformats.org/officeDocument/2006/math">
                    <m:r>
                      <a:rPr lang="en-US" b="0" i="1" smtClean="0">
                        <a:latin typeface="Cambria Math" panose="02040503050406030204" pitchFamily="18" charset="0"/>
                      </a:rPr>
                      <m:t>𝑖</m:t>
                    </m:r>
                  </m:oMath>
                </a14:m>
                <a:r>
                  <a:rPr lang="en-US" dirty="0"/>
                  <a:t>…</a:t>
                </a:r>
              </a:p>
              <a:p>
                <a:pPr lvl="3"/>
                <a:endParaRPr lang="en-US" dirty="0"/>
              </a:p>
              <a:p>
                <a:r>
                  <a:rPr lang="en-US" dirty="0"/>
                  <a:t>Riskier assets must pay an interest of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𝑥</m:t>
                    </m:r>
                  </m:oMath>
                </a14:m>
                <a:r>
                  <a:rPr lang="en-US" dirty="0"/>
                  <a:t>.</a:t>
                </a:r>
              </a:p>
              <a:p>
                <a:pPr lvl="3"/>
                <a:endParaRPr lang="en-US" dirty="0"/>
              </a:p>
              <a:p>
                <a:r>
                  <a:rPr lang="en-US" dirty="0"/>
                  <a:t>This additional rate of return </a:t>
                </a:r>
                <a14:m>
                  <m:oMath xmlns:m="http://schemas.openxmlformats.org/officeDocument/2006/math">
                    <m:r>
                      <a:rPr lang="en-US" b="0" i="1" smtClean="0">
                        <a:latin typeface="Cambria Math" panose="02040503050406030204" pitchFamily="18" charset="0"/>
                      </a:rPr>
                      <m:t>𝑥</m:t>
                    </m:r>
                  </m:oMath>
                </a14:m>
                <a:r>
                  <a:rPr lang="en-US" dirty="0"/>
                  <a:t> is called the risk premium.</a:t>
                </a:r>
              </a:p>
            </p:txBody>
          </p:sp>
        </mc:Choice>
        <mc:Fallback xmlns="">
          <p:sp>
            <p:nvSpPr>
              <p:cNvPr id="3" name="Content Placeholder 2">
                <a:extLst>
                  <a:ext uri="{FF2B5EF4-FFF2-40B4-BE49-F238E27FC236}">
                    <a16:creationId xmlns:a16="http://schemas.microsoft.com/office/drawing/2014/main" id="{5D9AEA59-7300-3511-7035-9018E1B8EB38}"/>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A7CAD46-5A2E-849C-9C14-5C5A40449BFC}"/>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7ABD782-B46A-238D-7D9B-0EB25B4C85A4}"/>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FC7B38D4-D421-D9CC-2CA1-286C4B31A0CC}"/>
              </a:ext>
            </a:extLst>
          </p:cNvPr>
          <p:cNvSpPr>
            <a:spLocks noGrp="1"/>
          </p:cNvSpPr>
          <p:nvPr>
            <p:ph type="sldNum" sz="quarter" idx="12"/>
          </p:nvPr>
        </p:nvSpPr>
        <p:spPr/>
        <p:txBody>
          <a:bodyPr/>
          <a:lstStyle/>
          <a:p>
            <a:fld id="{1A980C56-831A-4EAB-9EDE-57C090F4F877}" type="slidenum">
              <a:rPr lang="en-US" smtClean="0"/>
              <a:t>12</a:t>
            </a:fld>
            <a:endParaRPr lang="en-US" dirty="0"/>
          </a:p>
        </p:txBody>
      </p:sp>
    </p:spTree>
    <p:extLst>
      <p:ext uri="{BB962C8B-B14F-4D97-AF65-F5344CB8AC3E}">
        <p14:creationId xmlns:p14="http://schemas.microsoft.com/office/powerpoint/2010/main" val="425011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D72DC-D2A7-458E-5C99-C29838CEB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1F129-64F9-2641-C40C-E35D664532A6}"/>
              </a:ext>
            </a:extLst>
          </p:cNvPr>
          <p:cNvSpPr>
            <a:spLocks noGrp="1"/>
          </p:cNvSpPr>
          <p:nvPr>
            <p:ph type="title"/>
          </p:nvPr>
        </p:nvSpPr>
        <p:spPr/>
        <p:txBody>
          <a:bodyPr/>
          <a:lstStyle/>
          <a:p>
            <a:r>
              <a:rPr lang="en-US" dirty="0"/>
              <a:t>Risk and the Risk Premia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19D18C-F742-2E33-A175-2ECA3662F55F}"/>
                  </a:ext>
                </a:extLst>
              </p:cNvPr>
              <p:cNvSpPr>
                <a:spLocks noGrp="1"/>
              </p:cNvSpPr>
              <p:nvPr>
                <p:ph idx="1"/>
              </p:nvPr>
            </p:nvSpPr>
            <p:spPr>
              <a:xfrm>
                <a:off x="628650" y="1825625"/>
                <a:ext cx="7886700" cy="4351338"/>
              </a:xfrm>
            </p:spPr>
            <p:txBody>
              <a:bodyPr>
                <a:normAutofit/>
              </a:bodyPr>
              <a:lstStyle/>
              <a:p>
                <a:r>
                  <a:rPr lang="en-US" dirty="0"/>
                  <a:t>If </a:t>
                </a:r>
                <a14:m>
                  <m:oMath xmlns:m="http://schemas.openxmlformats.org/officeDocument/2006/math">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 </m:t>
                    </m:r>
                  </m:oMath>
                </a14:m>
                <a:r>
                  <a:rPr lang="en-US" dirty="0"/>
                  <a:t>is the probability of the bond issuer defaulting on its debt, the risk premium for a risk-neutral economy is: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𝑝</m:t>
                          </m:r>
                        </m:num>
                        <m:den>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m:t>
                          </m:r>
                        </m:den>
                      </m:f>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oMath>
                  </m:oMathPara>
                </a14:m>
                <a:endParaRPr lang="en-US" dirty="0"/>
              </a:p>
              <a:p>
                <a:pPr marL="1371600" lvl="3" indent="0">
                  <a:buNone/>
                </a:pPr>
                <a:endParaRPr lang="en-US" dirty="0"/>
              </a:p>
              <a:p>
                <a:r>
                  <a:rPr lang="en-US" dirty="0"/>
                  <a:t>When the nominal interest rate and probability of default are low, the risk premium can be simplified as:</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𝒑</m:t>
                      </m:r>
                    </m:oMath>
                  </m:oMathPara>
                </a14:m>
                <a:endParaRPr lang="en-US" b="1" dirty="0"/>
              </a:p>
              <a:p>
                <a:pPr lvl="3"/>
                <a:endParaRPr lang="en-US" dirty="0"/>
              </a:p>
              <a:p>
                <a:r>
                  <a:rPr lang="en-US" dirty="0"/>
                  <a:t>In the real-world, individuals have different risk tolerance, which may increase the risk premia above </a:t>
                </a:r>
                <a14:m>
                  <m:oMath xmlns:m="http://schemas.openxmlformats.org/officeDocument/2006/math">
                    <m:r>
                      <a:rPr lang="en-US" i="1">
                        <a:latin typeface="Cambria Math" panose="02040503050406030204" pitchFamily="18" charset="0"/>
                        <a:ea typeface="Cambria Math" panose="02040503050406030204" pitchFamily="18" charset="0"/>
                      </a:rPr>
                      <m:t>𝑝</m:t>
                    </m:r>
                  </m:oMath>
                </a14:m>
                <a:r>
                  <a:rPr lang="en-US" dirty="0"/>
                  <a:t>.</a:t>
                </a:r>
              </a:p>
            </p:txBody>
          </p:sp>
        </mc:Choice>
        <mc:Fallback xmlns="">
          <p:sp>
            <p:nvSpPr>
              <p:cNvPr id="3" name="Content Placeholder 2">
                <a:extLst>
                  <a:ext uri="{FF2B5EF4-FFF2-40B4-BE49-F238E27FC236}">
                    <a16:creationId xmlns:a16="http://schemas.microsoft.com/office/drawing/2014/main" id="{A119D18C-F742-2E33-A175-2ECA3662F55F}"/>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r="-618" b="-4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A4A8678-1F9B-B3BE-E215-AE48E2F0423D}"/>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6408E619-9536-12E7-714C-880E2F021661}"/>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BDC903CC-0840-CC4B-859A-9D01DB4691DA}"/>
              </a:ext>
            </a:extLst>
          </p:cNvPr>
          <p:cNvSpPr>
            <a:spLocks noGrp="1"/>
          </p:cNvSpPr>
          <p:nvPr>
            <p:ph type="sldNum" sz="quarter" idx="12"/>
          </p:nvPr>
        </p:nvSpPr>
        <p:spPr/>
        <p:txBody>
          <a:bodyPr/>
          <a:lstStyle/>
          <a:p>
            <a:fld id="{1A980C56-831A-4EAB-9EDE-57C090F4F877}" type="slidenum">
              <a:rPr lang="en-US" smtClean="0"/>
              <a:t>13</a:t>
            </a:fld>
            <a:endParaRPr lang="en-US" dirty="0"/>
          </a:p>
        </p:txBody>
      </p:sp>
    </p:spTree>
    <p:extLst>
      <p:ext uri="{BB962C8B-B14F-4D97-AF65-F5344CB8AC3E}">
        <p14:creationId xmlns:p14="http://schemas.microsoft.com/office/powerpoint/2010/main" val="20636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14845-D3DF-4178-6BD5-FD9D09F38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9DE4F-A709-D36B-12CF-EE5BA4C2E518}"/>
              </a:ext>
            </a:extLst>
          </p:cNvPr>
          <p:cNvSpPr>
            <a:spLocks noGrp="1"/>
          </p:cNvSpPr>
          <p:nvPr>
            <p:ph type="title"/>
          </p:nvPr>
        </p:nvSpPr>
        <p:spPr/>
        <p:txBody>
          <a:bodyPr/>
          <a:lstStyle/>
          <a:p>
            <a:r>
              <a:rPr lang="en-US" dirty="0"/>
              <a:t>Risk and the Risk Premia</a:t>
            </a:r>
          </a:p>
        </p:txBody>
      </p:sp>
      <p:sp>
        <p:nvSpPr>
          <p:cNvPr id="4" name="Date Placeholder 3">
            <a:extLst>
              <a:ext uri="{FF2B5EF4-FFF2-40B4-BE49-F238E27FC236}">
                <a16:creationId xmlns:a16="http://schemas.microsoft.com/office/drawing/2014/main" id="{856DE705-1E60-634C-1F53-23BAA3640496}"/>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7FB528B8-4861-6593-4EB5-7C8C7EB93DCB}"/>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5603CEFA-E212-5444-05C4-5326E4EB278E}"/>
              </a:ext>
            </a:extLst>
          </p:cNvPr>
          <p:cNvSpPr>
            <a:spLocks noGrp="1"/>
          </p:cNvSpPr>
          <p:nvPr>
            <p:ph type="sldNum" sz="quarter" idx="12"/>
          </p:nvPr>
        </p:nvSpPr>
        <p:spPr/>
        <p:txBody>
          <a:bodyPr/>
          <a:lstStyle/>
          <a:p>
            <a:fld id="{1A980C56-831A-4EAB-9EDE-57C090F4F877}" type="slidenum">
              <a:rPr lang="en-US" smtClean="0"/>
              <a:t>14</a:t>
            </a:fld>
            <a:endParaRPr lang="en-US" dirty="0"/>
          </a:p>
        </p:txBody>
      </p:sp>
      <p:pic>
        <p:nvPicPr>
          <p:cNvPr id="12" name="Content Placeholder 11" descr="A graph of a stock market&#10;&#10;Description automatically generated">
            <a:extLst>
              <a:ext uri="{FF2B5EF4-FFF2-40B4-BE49-F238E27FC236}">
                <a16:creationId xmlns:a16="http://schemas.microsoft.com/office/drawing/2014/main" id="{E9812A10-69BB-333F-C35F-0E8F285BBA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858169"/>
            <a:ext cx="7620000" cy="4286250"/>
          </a:xfrm>
        </p:spPr>
      </p:pic>
    </p:spTree>
    <p:extLst>
      <p:ext uri="{BB962C8B-B14F-4D97-AF65-F5344CB8AC3E}">
        <p14:creationId xmlns:p14="http://schemas.microsoft.com/office/powerpoint/2010/main" val="1357404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8D692-5002-00B7-3E25-D8DCB8F10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F3AB2-153C-D036-1826-24C846A95707}"/>
              </a:ext>
            </a:extLst>
          </p:cNvPr>
          <p:cNvSpPr>
            <a:spLocks noGrp="1"/>
          </p:cNvSpPr>
          <p:nvPr>
            <p:ph type="title"/>
          </p:nvPr>
        </p:nvSpPr>
        <p:spPr/>
        <p:txBody>
          <a:bodyPr/>
          <a:lstStyle/>
          <a:p>
            <a:r>
              <a:rPr lang="en-US" dirty="0"/>
              <a:t>Financial Intermediaries</a:t>
            </a:r>
          </a:p>
        </p:txBody>
      </p:sp>
      <p:sp>
        <p:nvSpPr>
          <p:cNvPr id="3" name="Content Placeholder 2">
            <a:extLst>
              <a:ext uri="{FF2B5EF4-FFF2-40B4-BE49-F238E27FC236}">
                <a16:creationId xmlns:a16="http://schemas.microsoft.com/office/drawing/2014/main" id="{99A2456A-C466-1895-95E3-12575CBBB0DC}"/>
              </a:ext>
            </a:extLst>
          </p:cNvPr>
          <p:cNvSpPr>
            <a:spLocks noGrp="1"/>
          </p:cNvSpPr>
          <p:nvPr>
            <p:ph idx="1"/>
          </p:nvPr>
        </p:nvSpPr>
        <p:spPr>
          <a:xfrm>
            <a:off x="628649" y="1825625"/>
            <a:ext cx="8006195" cy="4351338"/>
          </a:xfrm>
        </p:spPr>
        <p:txBody>
          <a:bodyPr>
            <a:normAutofit/>
          </a:bodyPr>
          <a:lstStyle/>
          <a:p>
            <a:r>
              <a:rPr lang="en-US" dirty="0"/>
              <a:t>Another aspect of the financial market to consider is that households and firms do not partake in direct finance. That is, they don’t borrow money directly from the Fed.</a:t>
            </a:r>
          </a:p>
          <a:p>
            <a:pPr lvl="3"/>
            <a:endParaRPr lang="en-US" dirty="0"/>
          </a:p>
          <a:p>
            <a:r>
              <a:rPr lang="en-US" dirty="0"/>
              <a:t>Instead, they will rely on other financial intermediaries such as commercial banks, mortgage lenders, hedge funds, etc.</a:t>
            </a:r>
          </a:p>
          <a:p>
            <a:pPr lvl="1"/>
            <a:r>
              <a:rPr lang="en-US" dirty="0"/>
              <a:t>Commercial Banks: JP Morgan Chase, Bank of America, etc.</a:t>
            </a:r>
          </a:p>
          <a:p>
            <a:pPr lvl="1"/>
            <a:r>
              <a:rPr lang="en-US" dirty="0"/>
              <a:t>Mortgage Lenders: Mr. Cooper, Rocket Mortgage, etc.</a:t>
            </a:r>
          </a:p>
          <a:p>
            <a:pPr lvl="1"/>
            <a:r>
              <a:rPr lang="en-US" dirty="0"/>
              <a:t>Hedge Funds: Bridgewater Associates, Quantum Group, etc.</a:t>
            </a:r>
          </a:p>
          <a:p>
            <a:pPr lvl="3"/>
            <a:endParaRPr lang="en-US" dirty="0"/>
          </a:p>
          <a:p>
            <a:r>
              <a:rPr lang="en-US" dirty="0"/>
              <a:t>The rates for individuals will be set by these intermediaries.</a:t>
            </a:r>
          </a:p>
        </p:txBody>
      </p:sp>
      <p:sp>
        <p:nvSpPr>
          <p:cNvPr id="4" name="Date Placeholder 3">
            <a:extLst>
              <a:ext uri="{FF2B5EF4-FFF2-40B4-BE49-F238E27FC236}">
                <a16:creationId xmlns:a16="http://schemas.microsoft.com/office/drawing/2014/main" id="{3548FE18-844D-9CE2-6E73-84DAE64B36F2}"/>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433BAF73-66C3-3C7D-D820-9354CFFFA2E2}"/>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A93D3767-982F-F6DE-45D4-A34BE92FD5F7}"/>
              </a:ext>
            </a:extLst>
          </p:cNvPr>
          <p:cNvSpPr>
            <a:spLocks noGrp="1"/>
          </p:cNvSpPr>
          <p:nvPr>
            <p:ph type="sldNum" sz="quarter" idx="12"/>
          </p:nvPr>
        </p:nvSpPr>
        <p:spPr/>
        <p:txBody>
          <a:bodyPr/>
          <a:lstStyle/>
          <a:p>
            <a:fld id="{1A980C56-831A-4EAB-9EDE-57C090F4F877}" type="slidenum">
              <a:rPr lang="en-US" smtClean="0"/>
              <a:t>15</a:t>
            </a:fld>
            <a:endParaRPr lang="en-US" dirty="0"/>
          </a:p>
        </p:txBody>
      </p:sp>
    </p:spTree>
    <p:extLst>
      <p:ext uri="{BB962C8B-B14F-4D97-AF65-F5344CB8AC3E}">
        <p14:creationId xmlns:p14="http://schemas.microsoft.com/office/powerpoint/2010/main" val="281342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2104A-E132-E022-C35E-A84B3F4F5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45CFA-874F-F91E-3A4F-3084A4CD0FE5}"/>
              </a:ext>
            </a:extLst>
          </p:cNvPr>
          <p:cNvSpPr>
            <a:spLocks noGrp="1"/>
          </p:cNvSpPr>
          <p:nvPr>
            <p:ph type="title"/>
          </p:nvPr>
        </p:nvSpPr>
        <p:spPr/>
        <p:txBody>
          <a:bodyPr/>
          <a:lstStyle/>
          <a:p>
            <a:r>
              <a:rPr lang="en-US" dirty="0"/>
              <a:t>Financial Intermediaries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A139107-4DCD-3038-7A28-483BE7D486DA}"/>
                  </a:ext>
                </a:extLst>
              </p:cNvPr>
              <p:cNvSpPr>
                <a:spLocks noGrp="1"/>
              </p:cNvSpPr>
              <p:nvPr>
                <p:ph idx="1"/>
              </p:nvPr>
            </p:nvSpPr>
            <p:spPr>
              <a:xfrm>
                <a:off x="628649" y="1825625"/>
                <a:ext cx="7886701" cy="4351338"/>
              </a:xfrm>
            </p:spPr>
            <p:txBody>
              <a:bodyPr>
                <a:normAutofit/>
              </a:bodyPr>
              <a:lstStyle/>
              <a:p>
                <a:r>
                  <a:rPr lang="en-US" dirty="0"/>
                  <a:t>Although the policy rate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oMath>
                </a14:m>
                <a:r>
                  <a:rPr lang="en-US" dirty="0"/>
                  <a:t> is set by the Fed, the financial intermediaries will assess overall risk, and issue risk premia to their borrowers.</a:t>
                </a:r>
              </a:p>
              <a:p>
                <a:pPr lvl="3"/>
                <a:endParaRPr lang="en-US" dirty="0"/>
              </a:p>
              <a:p>
                <a:r>
                  <a:rPr lang="en-US" dirty="0"/>
                  <a:t>This overall risk is determined by many factors:</a:t>
                </a:r>
              </a:p>
              <a:p>
                <a:pPr lvl="1"/>
                <a:r>
                  <a:rPr lang="en-US" dirty="0"/>
                  <a:t>The creditworthiness of the borrowers, and</a:t>
                </a:r>
              </a:p>
              <a:p>
                <a:pPr lvl="1"/>
                <a:r>
                  <a:rPr lang="en-US" dirty="0"/>
                  <a:t>The outlook of the economy, and</a:t>
                </a:r>
              </a:p>
              <a:p>
                <a:pPr lvl="1"/>
                <a:r>
                  <a:rPr lang="en-US" dirty="0"/>
                  <a:t>The lenders’ risk of default.</a:t>
                </a:r>
              </a:p>
              <a:p>
                <a:pPr lvl="3"/>
                <a:endParaRPr lang="en-US" dirty="0"/>
              </a:p>
              <a:p>
                <a:r>
                  <a:rPr lang="en-US" dirty="0"/>
                  <a:t>If the risk premium increases, the borrowing rate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𝑟</m:t>
                    </m:r>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oMath>
                </a14:m>
                <a:r>
                  <a:rPr lang="en-US" dirty="0"/>
                  <a:t>, the rate that borrowers pay, will increase.</a:t>
                </a:r>
              </a:p>
            </p:txBody>
          </p:sp>
        </mc:Choice>
        <mc:Fallback>
          <p:sp>
            <p:nvSpPr>
              <p:cNvPr id="3" name="Content Placeholder 2">
                <a:extLst>
                  <a:ext uri="{FF2B5EF4-FFF2-40B4-BE49-F238E27FC236}">
                    <a16:creationId xmlns:a16="http://schemas.microsoft.com/office/drawing/2014/main" id="{0A139107-4DCD-3038-7A28-483BE7D486DA}"/>
                  </a:ext>
                </a:extLst>
              </p:cNvPr>
              <p:cNvSpPr>
                <a:spLocks noGrp="1" noRot="1" noChangeAspect="1" noMove="1" noResize="1" noEditPoints="1" noAdjustHandles="1" noChangeArrowheads="1" noChangeShapeType="1" noTextEdit="1"/>
              </p:cNvSpPr>
              <p:nvPr>
                <p:ph idx="1"/>
              </p:nvPr>
            </p:nvSpPr>
            <p:spPr>
              <a:xfrm>
                <a:off x="628649" y="1825625"/>
                <a:ext cx="7886701" cy="4351338"/>
              </a:xfrm>
              <a:blipFill>
                <a:blip r:embed="rId2"/>
                <a:stretch>
                  <a:fillRect l="-1005" t="-1821" r="-69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9D4A602-1274-CD7D-2C5B-E6F584E50473}"/>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5E5A7A75-507A-5683-CF15-8198AE2343D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F2A58463-7E1A-FF42-BD0E-EBEA6B88C425}"/>
              </a:ext>
            </a:extLst>
          </p:cNvPr>
          <p:cNvSpPr>
            <a:spLocks noGrp="1"/>
          </p:cNvSpPr>
          <p:nvPr>
            <p:ph type="sldNum" sz="quarter" idx="12"/>
          </p:nvPr>
        </p:nvSpPr>
        <p:spPr/>
        <p:txBody>
          <a:bodyPr/>
          <a:lstStyle/>
          <a:p>
            <a:fld id="{1A980C56-831A-4EAB-9EDE-57C090F4F877}" type="slidenum">
              <a:rPr lang="en-US" smtClean="0"/>
              <a:t>16</a:t>
            </a:fld>
            <a:endParaRPr lang="en-US" dirty="0"/>
          </a:p>
        </p:txBody>
      </p:sp>
    </p:spTree>
    <p:extLst>
      <p:ext uri="{BB962C8B-B14F-4D97-AF65-F5344CB8AC3E}">
        <p14:creationId xmlns:p14="http://schemas.microsoft.com/office/powerpoint/2010/main" val="373923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A19C-F1D7-7D54-0566-8735CC9D0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57ECF-9AAB-B3D1-8289-2C244987370F}"/>
              </a:ext>
            </a:extLst>
          </p:cNvPr>
          <p:cNvSpPr>
            <a:spLocks noGrp="1"/>
          </p:cNvSpPr>
          <p:nvPr>
            <p:ph type="title"/>
          </p:nvPr>
        </p:nvSpPr>
        <p:spPr/>
        <p:txBody>
          <a:bodyPr/>
          <a:lstStyle/>
          <a:p>
            <a:r>
              <a:rPr lang="en-US" dirty="0"/>
              <a:t>The Extended IS-LM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AD4FA7-C341-6191-B022-84CF6D9512DA}"/>
                  </a:ext>
                </a:extLst>
              </p:cNvPr>
              <p:cNvSpPr>
                <a:spLocks noGrp="1"/>
              </p:cNvSpPr>
              <p:nvPr>
                <p:ph idx="1"/>
              </p:nvPr>
            </p:nvSpPr>
            <p:spPr>
              <a:xfrm>
                <a:off x="628649" y="1825625"/>
                <a:ext cx="7886701" cy="4351338"/>
              </a:xfrm>
            </p:spPr>
            <p:txBody>
              <a:bodyPr>
                <a:normAutofit/>
              </a:bodyPr>
              <a:lstStyle/>
              <a:p>
                <a:r>
                  <a:rPr lang="en-US" dirty="0"/>
                  <a:t>Introducing the new elements, we can derive the following extended IS-LM framework:</a:t>
                </a:r>
              </a:p>
              <a:p>
                <a:endParaRPr lang="en-US" sz="500" dirty="0"/>
              </a:p>
              <a:p>
                <a:pPr lvl="1"/>
                <a:r>
                  <a:rPr lang="en-US" dirty="0"/>
                  <a:t>IS Relation: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𝑒</m:t>
                            </m:r>
                          </m:sup>
                        </m:sSup>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𝐺</m:t>
                    </m:r>
                  </m:oMath>
                </a14:m>
                <a:endParaRPr lang="en-US" b="0" dirty="0"/>
              </a:p>
              <a:p>
                <a:pPr lvl="1"/>
                <a:endParaRPr lang="en-US" sz="500" b="0" dirty="0"/>
              </a:p>
              <a:p>
                <a:pPr lvl="1"/>
                <a:r>
                  <a:rPr lang="en-US" dirty="0"/>
                  <a:t>LM Relation: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𝑖</m:t>
                        </m:r>
                      </m:e>
                    </m:acc>
                  </m:oMath>
                </a14:m>
                <a:endParaRPr lang="en-US" dirty="0"/>
              </a:p>
              <a:p>
                <a:pPr lvl="3"/>
                <a:endParaRPr lang="en-US" dirty="0"/>
              </a:p>
              <a:p>
                <a:r>
                  <a:rPr lang="en-US" dirty="0"/>
                  <a:t>Since demand is influenced by the real rate, we will translate the framework above to…</a:t>
                </a:r>
              </a:p>
              <a:p>
                <a:endParaRPr lang="en-US" sz="500" dirty="0"/>
              </a:p>
              <a:p>
                <a:pPr lvl="1"/>
                <a:r>
                  <a:rPr lang="en-US" dirty="0"/>
                  <a:t>IS Relation: </a:t>
                </a:r>
                <a14:m>
                  <m:oMath xmlns:m="http://schemas.openxmlformats.org/officeDocument/2006/math">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𝐶</m:t>
                    </m:r>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𝑇</m:t>
                        </m:r>
                      </m:e>
                    </m:d>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b="0" i="1" smtClean="0">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𝐺</m:t>
                    </m:r>
                  </m:oMath>
                </a14:m>
                <a:endParaRPr lang="en-US" dirty="0"/>
              </a:p>
              <a:p>
                <a:pPr lvl="1"/>
                <a:endParaRPr lang="en-US" sz="500" dirty="0"/>
              </a:p>
              <a:p>
                <a:pPr lvl="1"/>
                <a:r>
                  <a:rPr lang="en-US" dirty="0"/>
                  <a:t>LM Relation: </a:t>
                </a:r>
                <a14:m>
                  <m:oMath xmlns:m="http://schemas.openxmlformats.org/officeDocument/2006/math">
                    <m:r>
                      <a:rPr lang="en-US" b="0" i="1" smtClean="0">
                        <a:latin typeface="Cambria Math" panose="02040503050406030204" pitchFamily="18" charset="0"/>
                      </a:rPr>
                      <m:t>𝑟</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𝑟</m:t>
                        </m:r>
                      </m:e>
                    </m:acc>
                  </m:oMath>
                </a14:m>
                <a:endParaRPr lang="en-US" dirty="0"/>
              </a:p>
            </p:txBody>
          </p:sp>
        </mc:Choice>
        <mc:Fallback xmlns="">
          <p:sp>
            <p:nvSpPr>
              <p:cNvPr id="3" name="Content Placeholder 2">
                <a:extLst>
                  <a:ext uri="{FF2B5EF4-FFF2-40B4-BE49-F238E27FC236}">
                    <a16:creationId xmlns:a16="http://schemas.microsoft.com/office/drawing/2014/main" id="{C0AD4FA7-C341-6191-B022-84CF6D9512DA}"/>
                  </a:ext>
                </a:extLst>
              </p:cNvPr>
              <p:cNvSpPr>
                <a:spLocks noGrp="1" noRot="1" noChangeAspect="1" noMove="1" noResize="1" noEditPoints="1" noAdjustHandles="1" noChangeArrowheads="1" noChangeShapeType="1" noTextEdit="1"/>
              </p:cNvSpPr>
              <p:nvPr>
                <p:ph idx="1"/>
              </p:nvPr>
            </p:nvSpPr>
            <p:spPr>
              <a:xfrm>
                <a:off x="628649" y="1825625"/>
                <a:ext cx="7886701" cy="4351338"/>
              </a:xfrm>
              <a:blipFill>
                <a:blip r:embed="rId2"/>
                <a:stretch>
                  <a:fillRect l="-1005" t="-1821" r="-146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F981F10-73D1-383A-54D2-59400C728B1D}"/>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6B639F46-C39E-AE4F-D372-7A72AAFAB96D}"/>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B364E8C9-E71A-9C86-A5CB-52D583EDE27D}"/>
              </a:ext>
            </a:extLst>
          </p:cNvPr>
          <p:cNvSpPr>
            <a:spLocks noGrp="1"/>
          </p:cNvSpPr>
          <p:nvPr>
            <p:ph type="sldNum" sz="quarter" idx="12"/>
          </p:nvPr>
        </p:nvSpPr>
        <p:spPr/>
        <p:txBody>
          <a:bodyPr/>
          <a:lstStyle/>
          <a:p>
            <a:fld id="{1A980C56-831A-4EAB-9EDE-57C090F4F877}" type="slidenum">
              <a:rPr lang="en-US" smtClean="0"/>
              <a:t>17</a:t>
            </a:fld>
            <a:endParaRPr lang="en-US" dirty="0"/>
          </a:p>
        </p:txBody>
      </p:sp>
      <p:sp>
        <p:nvSpPr>
          <p:cNvPr id="7" name="Rectangle 6">
            <a:extLst>
              <a:ext uri="{FF2B5EF4-FFF2-40B4-BE49-F238E27FC236}">
                <a16:creationId xmlns:a16="http://schemas.microsoft.com/office/drawing/2014/main" id="{199D4694-1790-6795-A3FD-35ECC6F2E8EE}"/>
              </a:ext>
            </a:extLst>
          </p:cNvPr>
          <p:cNvSpPr/>
          <p:nvPr/>
        </p:nvSpPr>
        <p:spPr>
          <a:xfrm>
            <a:off x="1049482" y="4727864"/>
            <a:ext cx="4987636" cy="101830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114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fade">
                                      <p:cBhvr>
                                        <p:cTn id="24" dur="500"/>
                                        <p:tgtEl>
                                          <p:spTgt spid="3">
                                            <p:txEl>
                                              <p:pRg st="10" end="1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05DA7-37BB-813A-45F6-AD22E59EB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86658-53AF-34C8-BA26-3E76D1279838}"/>
              </a:ext>
            </a:extLst>
          </p:cNvPr>
          <p:cNvSpPr>
            <a:spLocks noGrp="1"/>
          </p:cNvSpPr>
          <p:nvPr>
            <p:ph type="title"/>
          </p:nvPr>
        </p:nvSpPr>
        <p:spPr/>
        <p:txBody>
          <a:bodyPr/>
          <a:lstStyle/>
          <a:p>
            <a:r>
              <a:rPr lang="en-US" dirty="0"/>
              <a:t>The Extended IS-LM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2882682-92DC-3376-DE7F-CC7D33D59A5D}"/>
                  </a:ext>
                </a:extLst>
              </p:cNvPr>
              <p:cNvSpPr>
                <a:spLocks noGrp="1"/>
              </p:cNvSpPr>
              <p:nvPr>
                <p:ph idx="1"/>
              </p:nvPr>
            </p:nvSpPr>
            <p:spPr>
              <a:xfrm>
                <a:off x="628649" y="1825625"/>
                <a:ext cx="7886701" cy="4351338"/>
              </a:xfrm>
            </p:spPr>
            <p:txBody>
              <a:bodyPr>
                <a:normAutofit/>
              </a:bodyPr>
              <a:lstStyle/>
              <a:p>
                <a:r>
                  <a:rPr lang="en-US" dirty="0"/>
                  <a:t>Suppose that the risk premium of an economy was to increase due to investors becoming more risk averse.</a:t>
                </a:r>
              </a:p>
              <a:p>
                <a:pPr lvl="3"/>
                <a:endParaRPr lang="en-US" dirty="0"/>
              </a:p>
              <a:p>
                <a:r>
                  <a:rPr lang="en-US" dirty="0"/>
                  <a:t>This means that the borrowing rate </a:t>
                </a:r>
                <a14:m>
                  <m:oMath xmlns:m="http://schemas.openxmlformats.org/officeDocument/2006/math">
                    <m:r>
                      <a:rPr lang="en-US" b="0" i="0" dirty="0" smtClean="0">
                        <a:latin typeface="Cambria Math" panose="02040503050406030204" pitchFamily="18" charset="0"/>
                      </a:rPr>
                      <m:t>(</m:t>
                    </m:r>
                    <m:r>
                      <a:rPr lang="en-US" i="1" dirty="0" smtClean="0">
                        <a:latin typeface="Cambria Math" panose="02040503050406030204" pitchFamily="18" charset="0"/>
                      </a:rPr>
                      <m:t>𝑟</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b="0" i="1" dirty="0" smtClean="0">
                        <a:latin typeface="Cambria Math" panose="02040503050406030204" pitchFamily="18" charset="0"/>
                      </a:rPr>
                      <m:t>)</m:t>
                    </m:r>
                  </m:oMath>
                </a14:m>
                <a:r>
                  <a:rPr lang="en-US" dirty="0"/>
                  <a:t> will increase, which impacts investment, and the IS relation.</a:t>
                </a:r>
              </a:p>
              <a:p>
                <a:pPr lvl="3"/>
                <a:endParaRPr lang="en-US" dirty="0"/>
              </a:p>
              <a:p>
                <a:r>
                  <a:rPr lang="en-US" dirty="0"/>
                  <a:t>Recall the IS Relation: </a:t>
                </a:r>
                <a14:m>
                  <m:oMath xmlns:m="http://schemas.openxmlformats.org/officeDocument/2006/math">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𝐶</m:t>
                    </m:r>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𝑇</m:t>
                        </m:r>
                      </m:e>
                    </m:d>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i="1" smtClean="0">
                            <a:solidFill>
                              <a:srgbClr val="FF0000"/>
                            </a:solidFill>
                            <a:latin typeface="Cambria Math" panose="02040503050406030204" pitchFamily="18" charset="0"/>
                          </a:rPr>
                          <m:t>𝑟</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𝐺</m:t>
                    </m:r>
                  </m:oMath>
                </a14:m>
                <a:endParaRPr lang="en-US" dirty="0"/>
              </a:p>
              <a:p>
                <a:pPr lvl="3"/>
                <a:endParaRPr lang="en-US" dirty="0"/>
              </a:p>
              <a:p>
                <a:r>
                  <a:rPr lang="en-US" dirty="0"/>
                  <a:t>Investment will drop due to the borrowing rate increasing, and the IS curve will shift to the left.</a:t>
                </a:r>
              </a:p>
            </p:txBody>
          </p:sp>
        </mc:Choice>
        <mc:Fallback>
          <p:sp>
            <p:nvSpPr>
              <p:cNvPr id="3" name="Content Placeholder 2">
                <a:extLst>
                  <a:ext uri="{FF2B5EF4-FFF2-40B4-BE49-F238E27FC236}">
                    <a16:creationId xmlns:a16="http://schemas.microsoft.com/office/drawing/2014/main" id="{B2882682-92DC-3376-DE7F-CC7D33D59A5D}"/>
                  </a:ext>
                </a:extLst>
              </p:cNvPr>
              <p:cNvSpPr>
                <a:spLocks noGrp="1" noRot="1" noChangeAspect="1" noMove="1" noResize="1" noEditPoints="1" noAdjustHandles="1" noChangeArrowheads="1" noChangeShapeType="1" noTextEdit="1"/>
              </p:cNvSpPr>
              <p:nvPr>
                <p:ph idx="1"/>
              </p:nvPr>
            </p:nvSpPr>
            <p:spPr>
              <a:xfrm>
                <a:off x="628649" y="1825625"/>
                <a:ext cx="7886701" cy="4351338"/>
              </a:xfrm>
              <a:blipFill>
                <a:blip r:embed="rId2"/>
                <a:stretch>
                  <a:fillRect l="-1005" t="-1821" r="-61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81D82A6-1516-7E46-F50D-0F04D707C3DF}"/>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52C3A6B-70E1-AF3F-8284-4084BB60F4BD}"/>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21CAA3DE-7B3D-A476-93B0-490168F646FC}"/>
              </a:ext>
            </a:extLst>
          </p:cNvPr>
          <p:cNvSpPr>
            <a:spLocks noGrp="1"/>
          </p:cNvSpPr>
          <p:nvPr>
            <p:ph type="sldNum" sz="quarter" idx="12"/>
          </p:nvPr>
        </p:nvSpPr>
        <p:spPr/>
        <p:txBody>
          <a:bodyPr/>
          <a:lstStyle/>
          <a:p>
            <a:fld id="{1A980C56-831A-4EAB-9EDE-57C090F4F877}" type="slidenum">
              <a:rPr lang="en-US" smtClean="0"/>
              <a:t>18</a:t>
            </a:fld>
            <a:endParaRPr lang="en-US" dirty="0"/>
          </a:p>
        </p:txBody>
      </p:sp>
    </p:spTree>
    <p:extLst>
      <p:ext uri="{BB962C8B-B14F-4D97-AF65-F5344CB8AC3E}">
        <p14:creationId xmlns:p14="http://schemas.microsoft.com/office/powerpoint/2010/main" val="407838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07A-0C0B-4DCC-CC8E-158479CD2502}"/>
            </a:ext>
          </a:extLst>
        </p:cNvPr>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6C29E2FB-5A9B-8489-69CE-E292FE9AB6CD}"/>
              </a:ext>
            </a:extLst>
          </p:cNvPr>
          <p:cNvCxnSpPr>
            <a:cxnSpLocks/>
          </p:cNvCxnSpPr>
          <p:nvPr/>
        </p:nvCxnSpPr>
        <p:spPr>
          <a:xfrm flipV="1">
            <a:off x="828028" y="4026617"/>
            <a:ext cx="3621867" cy="29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3FE3D26-3934-E1FE-5157-09BCDDD91E23}"/>
              </a:ext>
            </a:extLst>
          </p:cNvPr>
          <p:cNvSpPr>
            <a:spLocks noGrp="1"/>
          </p:cNvSpPr>
          <p:nvPr>
            <p:ph type="title"/>
          </p:nvPr>
        </p:nvSpPr>
        <p:spPr/>
        <p:txBody>
          <a:bodyPr/>
          <a:lstStyle/>
          <a:p>
            <a:r>
              <a:rPr lang="en-US" dirty="0"/>
              <a:t>The Extended IS-LM Framework</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40ED42C-1DA5-6F27-4828-FE5698B3F0A4}"/>
                  </a:ext>
                </a:extLst>
              </p:cNvPr>
              <p:cNvSpPr>
                <a:spLocks noGrp="1"/>
              </p:cNvSpPr>
              <p:nvPr>
                <p:ph sz="half" idx="2"/>
              </p:nvPr>
            </p:nvSpPr>
            <p:spPr>
              <a:xfrm>
                <a:off x="4629149" y="1825625"/>
                <a:ext cx="4275860" cy="4351338"/>
              </a:xfrm>
            </p:spPr>
            <p:txBody>
              <a:bodyPr>
                <a:normAutofit/>
              </a:bodyPr>
              <a:lstStyle/>
              <a:p>
                <a:r>
                  <a:rPr lang="en-US" dirty="0"/>
                  <a:t>Due to influences from the </a:t>
                </a:r>
                <a:r>
                  <a:rPr lang="en-US" i="1" dirty="0"/>
                  <a:t>financial market</a:t>
                </a:r>
                <a:r>
                  <a:rPr lang="en-US" dirty="0"/>
                  <a:t>, the IS curve, which represents the </a:t>
                </a:r>
                <a:r>
                  <a:rPr lang="en-US" i="1" dirty="0"/>
                  <a:t>goods market</a:t>
                </a:r>
                <a:r>
                  <a:rPr lang="en-US" dirty="0"/>
                  <a:t>, shifts </a:t>
                </a:r>
                <a:r>
                  <a:rPr lang="en-US" dirty="0">
                    <a:solidFill>
                      <a:schemeClr val="tx1"/>
                    </a:solidFill>
                  </a:rPr>
                  <a:t>from </a:t>
                </a:r>
                <a14:m>
                  <m:oMath xmlns:m="http://schemas.openxmlformats.org/officeDocument/2006/math">
                    <m:r>
                      <a:rPr lang="en-US" i="1" dirty="0">
                        <a:solidFill>
                          <a:schemeClr val="tx1"/>
                        </a:solidFill>
                        <a:latin typeface="Cambria Math" panose="02040503050406030204" pitchFamily="18" charset="0"/>
                      </a:rPr>
                      <m:t>𝐼𝑆</m:t>
                    </m:r>
                  </m:oMath>
                </a14:m>
                <a:r>
                  <a:rPr lang="en-US" dirty="0">
                    <a:solidFill>
                      <a:schemeClr val="tx1"/>
                    </a:solidFill>
                  </a:rPr>
                  <a:t> to </a:t>
                </a:r>
                <a14:m>
                  <m:oMath xmlns:m="http://schemas.openxmlformats.org/officeDocument/2006/math">
                    <m:r>
                      <a:rPr lang="en-US" i="1" dirty="0">
                        <a:solidFill>
                          <a:schemeClr val="tx1"/>
                        </a:solidFill>
                        <a:latin typeface="Cambria Math" panose="02040503050406030204" pitchFamily="18" charset="0"/>
                      </a:rPr>
                      <m:t>𝐼</m:t>
                    </m:r>
                    <m:sSup>
                      <m:sSupPr>
                        <m:ctrlPr>
                          <a:rPr lang="en-US" b="0" i="1" dirty="0" smtClean="0">
                            <a:solidFill>
                              <a:schemeClr val="tx1"/>
                            </a:solidFill>
                            <a:latin typeface="Cambria Math" panose="02040503050406030204" pitchFamily="18" charset="0"/>
                          </a:rPr>
                        </m:ctrlPr>
                      </m:sSupPr>
                      <m:e>
                        <m:r>
                          <a:rPr lang="en-US" i="1" dirty="0">
                            <a:solidFill>
                              <a:schemeClr val="tx1"/>
                            </a:solidFill>
                            <a:latin typeface="Cambria Math" panose="02040503050406030204" pitchFamily="18" charset="0"/>
                          </a:rPr>
                          <m:t>𝑆</m:t>
                        </m:r>
                      </m:e>
                      <m:sup>
                        <m:r>
                          <a:rPr lang="en-US" b="0" i="1" dirty="0" smtClean="0">
                            <a:solidFill>
                              <a:schemeClr val="tx1"/>
                            </a:solidFill>
                            <a:latin typeface="Cambria Math" panose="02040503050406030204" pitchFamily="18" charset="0"/>
                          </a:rPr>
                          <m:t>′</m:t>
                        </m:r>
                      </m:sup>
                    </m:sSup>
                  </m:oMath>
                </a14:m>
                <a:r>
                  <a:rPr lang="en-US" dirty="0"/>
                  <a:t>.</a:t>
                </a:r>
              </a:p>
              <a:p>
                <a:pPr lvl="3"/>
                <a:endParaRPr lang="en-US" dirty="0"/>
              </a:p>
              <a:p>
                <a:r>
                  <a:rPr lang="en-US" dirty="0"/>
                  <a:t>The equilibrium will shift from point </a:t>
                </a:r>
                <a14:m>
                  <m:oMath xmlns:m="http://schemas.openxmlformats.org/officeDocument/2006/math">
                    <m:r>
                      <a:rPr lang="en-US" i="1" dirty="0" smtClean="0">
                        <a:latin typeface="Cambria Math" panose="02040503050406030204" pitchFamily="18" charset="0"/>
                      </a:rPr>
                      <m:t>𝐴</m:t>
                    </m:r>
                  </m:oMath>
                </a14:m>
                <a:r>
                  <a:rPr lang="en-US" dirty="0"/>
                  <a:t> to point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𝐴</m:t>
                        </m:r>
                      </m:e>
                      <m:sup>
                        <m:r>
                          <a:rPr lang="en-US" b="0" i="1" dirty="0" smtClean="0">
                            <a:latin typeface="Cambria Math" panose="02040503050406030204" pitchFamily="18" charset="0"/>
                          </a:rPr>
                          <m:t>′</m:t>
                        </m:r>
                      </m:sup>
                    </m:sSup>
                  </m:oMath>
                </a14:m>
                <a:r>
                  <a:rPr lang="en-US" dirty="0"/>
                  <a:t> along the LM curve.</a:t>
                </a:r>
              </a:p>
              <a:p>
                <a:pPr lvl="3"/>
                <a:endParaRPr lang="en-US" dirty="0"/>
              </a:p>
              <a:p>
                <a:r>
                  <a:rPr lang="en-US" dirty="0"/>
                  <a:t>The policy rate will remain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𝑟</m:t>
                        </m:r>
                      </m:e>
                    </m:acc>
                  </m:oMath>
                </a14:m>
                <a:r>
                  <a:rPr lang="en-US" dirty="0"/>
                  <a:t>, and the equilibrium output will drop from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𝑌</m:t>
                        </m:r>
                      </m:e>
                      <m:sup>
                        <m:r>
                          <a:rPr lang="en-US" i="1" dirty="0">
                            <a:latin typeface="Cambria Math" panose="02040503050406030204" pitchFamily="18" charset="0"/>
                          </a:rPr>
                          <m:t>∗</m:t>
                        </m:r>
                      </m:sup>
                    </m:sSup>
                  </m:oMath>
                </a14:m>
                <a:r>
                  <a:rPr lang="en-US" dirty="0"/>
                  <a:t> to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𝑌</m:t>
                        </m:r>
                      </m:e>
                      <m:sup>
                        <m:r>
                          <a:rPr lang="en-US" i="1" dirty="0">
                            <a:latin typeface="Cambria Math" panose="02040503050406030204" pitchFamily="18" charset="0"/>
                          </a:rPr>
                          <m:t>∗</m:t>
                        </m:r>
                        <m:r>
                          <a:rPr lang="en-US" b="0" i="1" dirty="0" smtClean="0">
                            <a:latin typeface="Cambria Math" panose="02040503050406030204" pitchFamily="18" charset="0"/>
                          </a:rPr>
                          <m:t>′</m:t>
                        </m:r>
                      </m:sup>
                    </m:sSup>
                  </m:oMath>
                </a14:m>
                <a:r>
                  <a:rPr lang="en-US" dirty="0"/>
                  <a:t>.</a:t>
                </a:r>
              </a:p>
            </p:txBody>
          </p:sp>
        </mc:Choice>
        <mc:Fallback>
          <p:sp>
            <p:nvSpPr>
              <p:cNvPr id="4" name="Content Placeholder 3">
                <a:extLst>
                  <a:ext uri="{FF2B5EF4-FFF2-40B4-BE49-F238E27FC236}">
                    <a16:creationId xmlns:a16="http://schemas.microsoft.com/office/drawing/2014/main" id="{B40ED42C-1DA5-6F27-4828-FE5698B3F0A4}"/>
                  </a:ext>
                </a:extLst>
              </p:cNvPr>
              <p:cNvSpPr>
                <a:spLocks noGrp="1" noRot="1" noChangeAspect="1" noMove="1" noResize="1" noEditPoints="1" noAdjustHandles="1" noChangeArrowheads="1" noChangeShapeType="1" noTextEdit="1"/>
              </p:cNvSpPr>
              <p:nvPr>
                <p:ph sz="half" idx="2"/>
              </p:nvPr>
            </p:nvSpPr>
            <p:spPr>
              <a:xfrm>
                <a:off x="4629149" y="1825625"/>
                <a:ext cx="4275860" cy="4351338"/>
              </a:xfrm>
              <a:blipFill>
                <a:blip r:embed="rId2"/>
                <a:stretch>
                  <a:fillRect l="-1852" t="-1821" r="-3561"/>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8AE47B8-DB48-73C8-7C12-73D0F660C80D}"/>
              </a:ext>
            </a:extLst>
          </p:cNvPr>
          <p:cNvSpPr>
            <a:spLocks noGrp="1"/>
          </p:cNvSpPr>
          <p:nvPr>
            <p:ph type="dt" sz="half" idx="10"/>
          </p:nvPr>
        </p:nvSpPr>
        <p:spPr/>
        <p:txBody>
          <a:bodyPr/>
          <a:lstStyle/>
          <a:p>
            <a:r>
              <a:rPr lang="en-US"/>
              <a:t>Spring 2024</a:t>
            </a:r>
            <a:endParaRPr lang="en-US" dirty="0"/>
          </a:p>
        </p:txBody>
      </p:sp>
      <p:sp>
        <p:nvSpPr>
          <p:cNvPr id="6" name="Footer Placeholder 5">
            <a:extLst>
              <a:ext uri="{FF2B5EF4-FFF2-40B4-BE49-F238E27FC236}">
                <a16:creationId xmlns:a16="http://schemas.microsoft.com/office/drawing/2014/main" id="{F9026A0E-DA65-9157-AF6A-CAADF50B3E2C}"/>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9E93CE9-23B7-1CB9-08E4-C0B100BBA063}"/>
              </a:ext>
            </a:extLst>
          </p:cNvPr>
          <p:cNvSpPr>
            <a:spLocks noGrp="1"/>
          </p:cNvSpPr>
          <p:nvPr>
            <p:ph type="sldNum" sz="quarter" idx="12"/>
          </p:nvPr>
        </p:nvSpPr>
        <p:spPr/>
        <p:txBody>
          <a:bodyPr/>
          <a:lstStyle/>
          <a:p>
            <a:fld id="{1A980C56-831A-4EAB-9EDE-57C090F4F877}" type="slidenum">
              <a:rPr lang="en-US" smtClean="0"/>
              <a:t>19</a:t>
            </a:fld>
            <a:endParaRPr lang="en-US" dirty="0"/>
          </a:p>
        </p:txBody>
      </p:sp>
      <p:cxnSp>
        <p:nvCxnSpPr>
          <p:cNvPr id="12" name="Straight Arrow Connector 11">
            <a:extLst>
              <a:ext uri="{FF2B5EF4-FFF2-40B4-BE49-F238E27FC236}">
                <a16:creationId xmlns:a16="http://schemas.microsoft.com/office/drawing/2014/main" id="{B66AC92C-8A88-3848-D654-D68051C6AB83}"/>
              </a:ext>
            </a:extLst>
          </p:cNvPr>
          <p:cNvCxnSpPr/>
          <p:nvPr/>
        </p:nvCxnSpPr>
        <p:spPr>
          <a:xfrm>
            <a:off x="628650" y="5031937"/>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F73FD52-F826-073C-65C5-83D44E1E7E16}"/>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1453694-8A7C-AA2A-7882-E2C1F72B92A1}"/>
              </a:ext>
            </a:extLst>
          </p:cNvPr>
          <p:cNvSpPr txBox="1"/>
          <p:nvPr/>
        </p:nvSpPr>
        <p:spPr>
          <a:xfrm>
            <a:off x="3839355" y="4744464"/>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A3834DB4-47CF-8CC2-D09C-5DBEBCB8EAE6}"/>
              </a:ext>
            </a:extLst>
          </p:cNvPr>
          <p:cNvSpPr txBox="1"/>
          <p:nvPr/>
        </p:nvSpPr>
        <p:spPr>
          <a:xfrm rot="16200000">
            <a:off x="-108764" y="2590935"/>
            <a:ext cx="1474827" cy="307777"/>
          </a:xfrm>
          <a:prstGeom prst="rect">
            <a:avLst/>
          </a:prstGeom>
          <a:noFill/>
        </p:spPr>
        <p:txBody>
          <a:bodyPr wrap="none" rtlCol="0">
            <a:spAutoFit/>
          </a:bodyPr>
          <a:lstStyle/>
          <a:p>
            <a:r>
              <a:rPr lang="en-US" sz="1400" dirty="0"/>
              <a:t>Real Interest Rate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9FDAA41-3E24-1769-99A8-8E3797AEE4C2}"/>
                  </a:ext>
                </a:extLst>
              </p:cNvPr>
              <p:cNvSpPr txBox="1"/>
              <p:nvPr/>
            </p:nvSpPr>
            <p:spPr>
              <a:xfrm>
                <a:off x="4125365" y="3711823"/>
                <a:ext cx="47756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𝐿𝑀</m:t>
                      </m:r>
                    </m:oMath>
                  </m:oMathPara>
                </a14:m>
                <a:endParaRPr lang="en-US" sz="1400" dirty="0">
                  <a:solidFill>
                    <a:srgbClr val="C00000"/>
                  </a:solidFill>
                </a:endParaRPr>
              </a:p>
            </p:txBody>
          </p:sp>
        </mc:Choice>
        <mc:Fallback xmlns="">
          <p:sp>
            <p:nvSpPr>
              <p:cNvPr id="20" name="TextBox 19">
                <a:extLst>
                  <a:ext uri="{FF2B5EF4-FFF2-40B4-BE49-F238E27FC236}">
                    <a16:creationId xmlns:a16="http://schemas.microsoft.com/office/drawing/2014/main" id="{3FFFDE51-7D5B-DDBC-38DC-C6FD45F7A333}"/>
                  </a:ext>
                </a:extLst>
              </p:cNvPr>
              <p:cNvSpPr txBox="1">
                <a:spLocks noRot="1" noChangeAspect="1" noMove="1" noResize="1" noEditPoints="1" noAdjustHandles="1" noChangeArrowheads="1" noChangeShapeType="1" noTextEdit="1"/>
              </p:cNvSpPr>
              <p:nvPr/>
            </p:nvSpPr>
            <p:spPr>
              <a:xfrm>
                <a:off x="4125365" y="3711823"/>
                <a:ext cx="477567"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82EE335B-13F4-E154-D040-BCCC9BD5BB15}"/>
                  </a:ext>
                </a:extLst>
              </p:cNvPr>
              <p:cNvSpPr txBox="1"/>
              <p:nvPr/>
            </p:nvSpPr>
            <p:spPr>
              <a:xfrm>
                <a:off x="360019" y="3853354"/>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𝑟</m:t>
                          </m:r>
                        </m:e>
                      </m:acc>
                    </m:oMath>
                  </m:oMathPara>
                </a14:m>
                <a:endParaRPr lang="en-US" dirty="0">
                  <a:solidFill>
                    <a:schemeClr val="tx1"/>
                  </a:solidFill>
                </a:endParaRPr>
              </a:p>
            </p:txBody>
          </p:sp>
        </mc:Choice>
        <mc:Fallback>
          <p:sp>
            <p:nvSpPr>
              <p:cNvPr id="24" name="TextBox 23">
                <a:extLst>
                  <a:ext uri="{FF2B5EF4-FFF2-40B4-BE49-F238E27FC236}">
                    <a16:creationId xmlns:a16="http://schemas.microsoft.com/office/drawing/2014/main" id="{82EE335B-13F4-E154-D040-BCCC9BD5BB15}"/>
                  </a:ext>
                </a:extLst>
              </p:cNvPr>
              <p:cNvSpPr txBox="1">
                <a:spLocks noRot="1" noChangeAspect="1" noMove="1" noResize="1" noEditPoints="1" noAdjustHandles="1" noChangeArrowheads="1" noChangeShapeType="1" noTextEdit="1"/>
              </p:cNvSpPr>
              <p:nvPr/>
            </p:nvSpPr>
            <p:spPr>
              <a:xfrm>
                <a:off x="360019" y="3853354"/>
                <a:ext cx="291136" cy="369332"/>
              </a:xfrm>
              <a:prstGeom prst="rect">
                <a:avLst/>
              </a:prstGeom>
              <a:blipFill>
                <a:blip r:embed="rId4"/>
                <a:stretch>
                  <a:fillRect r="-16667"/>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9CF9B0C0-77EE-F5CB-78B3-D5086BB03B8A}"/>
              </a:ext>
            </a:extLst>
          </p:cNvPr>
          <p:cNvCxnSpPr>
            <a:cxnSpLocks/>
          </p:cNvCxnSpPr>
          <p:nvPr/>
        </p:nvCxnSpPr>
        <p:spPr>
          <a:xfrm rot="16200000">
            <a:off x="793984" y="399229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26D434AC-480D-936F-F093-9BA4B3849A4C}"/>
              </a:ext>
            </a:extLst>
          </p:cNvPr>
          <p:cNvSpPr/>
          <p:nvPr/>
        </p:nvSpPr>
        <p:spPr>
          <a:xfrm>
            <a:off x="953834" y="2116958"/>
            <a:ext cx="3359150" cy="33528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942E5ED2-7933-3B07-E7B9-FE5686B980AE}"/>
                  </a:ext>
                </a:extLst>
              </p:cNvPr>
              <p:cNvSpPr txBox="1"/>
              <p:nvPr/>
            </p:nvSpPr>
            <p:spPr>
              <a:xfrm>
                <a:off x="4235854" y="5322607"/>
                <a:ext cx="3901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𝐼𝑆</m:t>
                      </m:r>
                    </m:oMath>
                  </m:oMathPara>
                </a14:m>
                <a:endParaRPr lang="en-US" sz="1400" dirty="0">
                  <a:solidFill>
                    <a:srgbClr val="00B0F0"/>
                  </a:solidFill>
                </a:endParaRPr>
              </a:p>
            </p:txBody>
          </p:sp>
        </mc:Choice>
        <mc:Fallback>
          <p:sp>
            <p:nvSpPr>
              <p:cNvPr id="21" name="TextBox 20">
                <a:extLst>
                  <a:ext uri="{FF2B5EF4-FFF2-40B4-BE49-F238E27FC236}">
                    <a16:creationId xmlns:a16="http://schemas.microsoft.com/office/drawing/2014/main" id="{942E5ED2-7933-3B07-E7B9-FE5686B980AE}"/>
                  </a:ext>
                </a:extLst>
              </p:cNvPr>
              <p:cNvSpPr txBox="1">
                <a:spLocks noRot="1" noChangeAspect="1" noMove="1" noResize="1" noEditPoints="1" noAdjustHandles="1" noChangeArrowheads="1" noChangeShapeType="1" noTextEdit="1"/>
              </p:cNvSpPr>
              <p:nvPr/>
            </p:nvSpPr>
            <p:spPr>
              <a:xfrm>
                <a:off x="4235854" y="5322607"/>
                <a:ext cx="390171" cy="307777"/>
              </a:xfrm>
              <a:prstGeom prst="rect">
                <a:avLst/>
              </a:prstGeom>
              <a:blipFill>
                <a:blip r:embed="rId5"/>
                <a:stretch>
                  <a:fillRect/>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D37BFB96-9622-E357-E8D2-C24E3559B553}"/>
              </a:ext>
            </a:extLst>
          </p:cNvPr>
          <p:cNvSpPr/>
          <p:nvPr/>
        </p:nvSpPr>
        <p:spPr>
          <a:xfrm>
            <a:off x="2140749" y="3989763"/>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20B9B4C7-818E-FBF8-7D98-4C07712BC638}"/>
              </a:ext>
            </a:extLst>
          </p:cNvPr>
          <p:cNvCxnSpPr/>
          <p:nvPr/>
        </p:nvCxnSpPr>
        <p:spPr>
          <a:xfrm>
            <a:off x="2178367" y="5001072"/>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BBB2FC87-46A4-DDAF-E75F-F4D792C3648A}"/>
                  </a:ext>
                </a:extLst>
              </p:cNvPr>
              <p:cNvSpPr txBox="1"/>
              <p:nvPr/>
            </p:nvSpPr>
            <p:spPr>
              <a:xfrm>
                <a:off x="2140749" y="4748069"/>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29" name="TextBox 28">
                <a:extLst>
                  <a:ext uri="{FF2B5EF4-FFF2-40B4-BE49-F238E27FC236}">
                    <a16:creationId xmlns:a16="http://schemas.microsoft.com/office/drawing/2014/main" id="{BBB2FC87-46A4-DDAF-E75F-F4D792C3648A}"/>
                  </a:ext>
                </a:extLst>
              </p:cNvPr>
              <p:cNvSpPr txBox="1">
                <a:spLocks noRot="1" noChangeAspect="1" noMove="1" noResize="1" noEditPoints="1" noAdjustHandles="1" noChangeArrowheads="1" noChangeShapeType="1" noTextEdit="1"/>
              </p:cNvSpPr>
              <p:nvPr/>
            </p:nvSpPr>
            <p:spPr>
              <a:xfrm>
                <a:off x="2140749" y="4748069"/>
                <a:ext cx="336188" cy="338554"/>
              </a:xfrm>
              <a:prstGeom prst="rect">
                <a:avLst/>
              </a:prstGeom>
              <a:blipFill>
                <a:blip r:embed="rId6"/>
                <a:stretch>
                  <a:fillRect r="-18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6B9D05A-1375-69B1-8210-E0612C87E99C}"/>
                  </a:ext>
                </a:extLst>
              </p:cNvPr>
              <p:cNvSpPr txBox="1"/>
              <p:nvPr/>
            </p:nvSpPr>
            <p:spPr>
              <a:xfrm>
                <a:off x="2112174" y="3687784"/>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p:sp>
            <p:nvSpPr>
              <p:cNvPr id="3" name="TextBox 2">
                <a:extLst>
                  <a:ext uri="{FF2B5EF4-FFF2-40B4-BE49-F238E27FC236}">
                    <a16:creationId xmlns:a16="http://schemas.microsoft.com/office/drawing/2014/main" id="{96B9D05A-1375-69B1-8210-E0612C87E99C}"/>
                  </a:ext>
                </a:extLst>
              </p:cNvPr>
              <p:cNvSpPr txBox="1">
                <a:spLocks noRot="1" noChangeAspect="1" noMove="1" noResize="1" noEditPoints="1" noAdjustHandles="1" noChangeArrowheads="1" noChangeShapeType="1" noTextEdit="1"/>
              </p:cNvSpPr>
              <p:nvPr/>
            </p:nvSpPr>
            <p:spPr>
              <a:xfrm>
                <a:off x="2112174" y="3687784"/>
                <a:ext cx="336188" cy="33855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2EC83D52-91D3-E962-9D72-9CD5D6970E6F}"/>
                  </a:ext>
                </a:extLst>
              </p:cNvPr>
              <p:cNvSpPr txBox="1"/>
              <p:nvPr/>
            </p:nvSpPr>
            <p:spPr>
              <a:xfrm>
                <a:off x="1176314" y="3710620"/>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m:t>
                          </m:r>
                        </m:sup>
                      </m:sSup>
                    </m:oMath>
                  </m:oMathPara>
                </a14:m>
                <a:endParaRPr lang="en-US" sz="1600" dirty="0"/>
              </a:p>
            </p:txBody>
          </p:sp>
        </mc:Choice>
        <mc:Fallback>
          <p:sp>
            <p:nvSpPr>
              <p:cNvPr id="15" name="TextBox 14">
                <a:extLst>
                  <a:ext uri="{FF2B5EF4-FFF2-40B4-BE49-F238E27FC236}">
                    <a16:creationId xmlns:a16="http://schemas.microsoft.com/office/drawing/2014/main" id="{2EC83D52-91D3-E962-9D72-9CD5D6970E6F}"/>
                  </a:ext>
                </a:extLst>
              </p:cNvPr>
              <p:cNvSpPr txBox="1">
                <a:spLocks noRot="1" noChangeAspect="1" noMove="1" noResize="1" noEditPoints="1" noAdjustHandles="1" noChangeArrowheads="1" noChangeShapeType="1" noTextEdit="1"/>
              </p:cNvSpPr>
              <p:nvPr/>
            </p:nvSpPr>
            <p:spPr>
              <a:xfrm>
                <a:off x="1176314" y="3710620"/>
                <a:ext cx="336188" cy="338554"/>
              </a:xfrm>
              <a:prstGeom prst="rect">
                <a:avLst/>
              </a:prstGeom>
              <a:blipFill>
                <a:blip r:embed="rId8"/>
                <a:stretch>
                  <a:fillRect/>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C2CFF9CA-977F-5DF2-1E96-E4444382E3E5}"/>
              </a:ext>
            </a:extLst>
          </p:cNvPr>
          <p:cNvCxnSpPr/>
          <p:nvPr/>
        </p:nvCxnSpPr>
        <p:spPr>
          <a:xfrm>
            <a:off x="1191579" y="500463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B2E86B30-A07B-1909-E038-A0FB0AFFAFA1}"/>
                  </a:ext>
                </a:extLst>
              </p:cNvPr>
              <p:cNvSpPr txBox="1"/>
              <p:nvPr/>
            </p:nvSpPr>
            <p:spPr>
              <a:xfrm>
                <a:off x="1189053" y="4744232"/>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33" name="TextBox 32">
                <a:extLst>
                  <a:ext uri="{FF2B5EF4-FFF2-40B4-BE49-F238E27FC236}">
                    <a16:creationId xmlns:a16="http://schemas.microsoft.com/office/drawing/2014/main" id="{B2E86B30-A07B-1909-E038-A0FB0AFFAFA1}"/>
                  </a:ext>
                </a:extLst>
              </p:cNvPr>
              <p:cNvSpPr txBox="1">
                <a:spLocks noRot="1" noChangeAspect="1" noMove="1" noResize="1" noEditPoints="1" noAdjustHandles="1" noChangeArrowheads="1" noChangeShapeType="1" noTextEdit="1"/>
              </p:cNvSpPr>
              <p:nvPr/>
            </p:nvSpPr>
            <p:spPr>
              <a:xfrm>
                <a:off x="1189053" y="4744232"/>
                <a:ext cx="336188" cy="338554"/>
              </a:xfrm>
              <a:prstGeom prst="rect">
                <a:avLst/>
              </a:prstGeom>
              <a:blipFill>
                <a:blip r:embed="rId9"/>
                <a:stretch>
                  <a:fillRect r="-18182"/>
                </a:stretch>
              </a:blipFill>
            </p:spPr>
            <p:txBody>
              <a:bodyPr/>
              <a:lstStyle/>
              <a:p>
                <a:r>
                  <a:rPr lang="en-US">
                    <a:noFill/>
                  </a:rPr>
                  <a:t> </a:t>
                </a:r>
              </a:p>
            </p:txBody>
          </p:sp>
        </mc:Fallback>
      </mc:AlternateContent>
      <p:sp>
        <p:nvSpPr>
          <p:cNvPr id="23" name="Freeform: Shape 22">
            <a:extLst>
              <a:ext uri="{FF2B5EF4-FFF2-40B4-BE49-F238E27FC236}">
                <a16:creationId xmlns:a16="http://schemas.microsoft.com/office/drawing/2014/main" id="{85E25906-EE1E-03CE-68ED-CADF6C7BCA41}"/>
              </a:ext>
            </a:extLst>
          </p:cNvPr>
          <p:cNvSpPr/>
          <p:nvPr/>
        </p:nvSpPr>
        <p:spPr>
          <a:xfrm>
            <a:off x="953834" y="3598175"/>
            <a:ext cx="2286000" cy="22860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2C251788-55B1-C866-332B-E86508CFDCA3}"/>
                  </a:ext>
                </a:extLst>
              </p:cNvPr>
              <p:cNvSpPr txBox="1"/>
              <p:nvPr/>
            </p:nvSpPr>
            <p:spPr>
              <a:xfrm>
                <a:off x="2567103" y="5685527"/>
                <a:ext cx="43667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m:t>
                      </m:r>
                      <m:sSup>
                        <m:sSupPr>
                          <m:ctrlPr>
                            <a:rPr lang="en-US" sz="1400" b="0" i="1" dirty="0" smtClean="0">
                              <a:solidFill>
                                <a:srgbClr val="00B0F0"/>
                              </a:solidFill>
                              <a:latin typeface="Cambria Math" panose="02040503050406030204" pitchFamily="18" charset="0"/>
                            </a:rPr>
                          </m:ctrlPr>
                        </m:sSupPr>
                        <m:e>
                          <m:r>
                            <a:rPr lang="en-US" sz="1400" b="0" i="1" dirty="0" smtClean="0">
                              <a:solidFill>
                                <a:srgbClr val="00B0F0"/>
                              </a:solidFill>
                              <a:latin typeface="Cambria Math" panose="02040503050406030204" pitchFamily="18" charset="0"/>
                            </a:rPr>
                            <m:t>𝑆</m:t>
                          </m:r>
                        </m:e>
                        <m:sup>
                          <m:r>
                            <a:rPr lang="en-US" sz="1400" b="0" i="1" dirty="0" smtClean="0">
                              <a:solidFill>
                                <a:srgbClr val="00B0F0"/>
                              </a:solidFill>
                              <a:latin typeface="Cambria Math" panose="02040503050406030204" pitchFamily="18" charset="0"/>
                            </a:rPr>
                            <m:t>′</m:t>
                          </m:r>
                        </m:sup>
                      </m:sSup>
                    </m:oMath>
                  </m:oMathPara>
                </a14:m>
                <a:endParaRPr lang="en-US" sz="1400" dirty="0">
                  <a:solidFill>
                    <a:srgbClr val="00B0F0"/>
                  </a:solidFill>
                </a:endParaRPr>
              </a:p>
            </p:txBody>
          </p:sp>
        </mc:Choice>
        <mc:Fallback>
          <p:sp>
            <p:nvSpPr>
              <p:cNvPr id="27" name="TextBox 26">
                <a:extLst>
                  <a:ext uri="{FF2B5EF4-FFF2-40B4-BE49-F238E27FC236}">
                    <a16:creationId xmlns:a16="http://schemas.microsoft.com/office/drawing/2014/main" id="{2C251788-55B1-C866-332B-E86508CFDCA3}"/>
                  </a:ext>
                </a:extLst>
              </p:cNvPr>
              <p:cNvSpPr txBox="1">
                <a:spLocks noRot="1" noChangeAspect="1" noMove="1" noResize="1" noEditPoints="1" noAdjustHandles="1" noChangeArrowheads="1" noChangeShapeType="1" noTextEdit="1"/>
              </p:cNvSpPr>
              <p:nvPr/>
            </p:nvSpPr>
            <p:spPr>
              <a:xfrm>
                <a:off x="2567103" y="5685527"/>
                <a:ext cx="436671" cy="307777"/>
              </a:xfrm>
              <a:prstGeom prst="rect">
                <a:avLst/>
              </a:prstGeom>
              <a:blipFill>
                <a:blip r:embed="rId10"/>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23F28E4A-C9C8-1922-425C-2E5C85C21EE2}"/>
              </a:ext>
            </a:extLst>
          </p:cNvPr>
          <p:cNvCxnSpPr>
            <a:cxnSpLocks/>
            <a:stCxn id="14" idx="4"/>
          </p:cNvCxnSpPr>
          <p:nvPr/>
        </p:nvCxnSpPr>
        <p:spPr>
          <a:xfrm>
            <a:off x="1190067" y="4062914"/>
            <a:ext cx="0" cy="96902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8A4A789-CE7B-077A-8A35-2F629C3CB2A6}"/>
              </a:ext>
            </a:extLst>
          </p:cNvPr>
          <p:cNvSpPr/>
          <p:nvPr/>
        </p:nvSpPr>
        <p:spPr>
          <a:xfrm>
            <a:off x="1153491" y="3989762"/>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417BA8D7-05F3-652D-4426-BF2B605394B7}"/>
                  </a:ext>
                </a:extLst>
              </p:cNvPr>
              <p:cNvSpPr txBox="1"/>
              <p:nvPr/>
            </p:nvSpPr>
            <p:spPr>
              <a:xfrm>
                <a:off x="346533" y="4832005"/>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p:sp>
            <p:nvSpPr>
              <p:cNvPr id="31" name="TextBox 30">
                <a:extLst>
                  <a:ext uri="{FF2B5EF4-FFF2-40B4-BE49-F238E27FC236}">
                    <a16:creationId xmlns:a16="http://schemas.microsoft.com/office/drawing/2014/main" id="{417BA8D7-05F3-652D-4426-BF2B605394B7}"/>
                  </a:ext>
                </a:extLst>
              </p:cNvPr>
              <p:cNvSpPr txBox="1">
                <a:spLocks noRot="1" noChangeAspect="1" noMove="1" noResize="1" noEditPoints="1" noAdjustHandles="1" noChangeArrowheads="1" noChangeShapeType="1" noTextEdit="1"/>
              </p:cNvSpPr>
              <p:nvPr/>
            </p:nvSpPr>
            <p:spPr>
              <a:xfrm>
                <a:off x="346533" y="4832005"/>
                <a:ext cx="291136" cy="369332"/>
              </a:xfrm>
              <a:prstGeom prst="rect">
                <a:avLst/>
              </a:prstGeom>
              <a:blipFill>
                <a:blip r:embed="rId11"/>
                <a:stretch>
                  <a:fillRect r="-2083"/>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D12C489E-EF19-632A-E090-DE60C1F55AEC}"/>
              </a:ext>
            </a:extLst>
          </p:cNvPr>
          <p:cNvCxnSpPr>
            <a:cxnSpLocks/>
            <a:stCxn id="22" idx="4"/>
          </p:cNvCxnSpPr>
          <p:nvPr/>
        </p:nvCxnSpPr>
        <p:spPr>
          <a:xfrm>
            <a:off x="2177325" y="4062915"/>
            <a:ext cx="0" cy="9655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33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50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par>
                                <p:cTn id="35" presetID="10"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3" grpId="0"/>
      <p:bldP spid="23" grpId="0" animBg="1"/>
      <p:bldP spid="27" grpId="0"/>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264B5-AEA5-BABC-4C53-99E38762B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E8F00-A098-A098-7684-F70B680C4BE2}"/>
              </a:ext>
            </a:extLst>
          </p:cNvPr>
          <p:cNvSpPr>
            <a:spLocks noGrp="1"/>
          </p:cNvSpPr>
          <p:nvPr>
            <p:ph type="title"/>
          </p:nvPr>
        </p:nvSpPr>
        <p:spPr/>
        <p:txBody>
          <a:bodyPr/>
          <a:lstStyle/>
          <a:p>
            <a:r>
              <a:rPr lang="en-US" dirty="0">
                <a:solidFill>
                  <a:srgbClr val="FF0000"/>
                </a:solidFill>
              </a:rPr>
              <a:t>POLLEVERYWHERE</a:t>
            </a:r>
          </a:p>
        </p:txBody>
      </p:sp>
      <p:sp>
        <p:nvSpPr>
          <p:cNvPr id="3" name="Content Placeholder 2">
            <a:extLst>
              <a:ext uri="{FF2B5EF4-FFF2-40B4-BE49-F238E27FC236}">
                <a16:creationId xmlns:a16="http://schemas.microsoft.com/office/drawing/2014/main" id="{340C599A-A8B5-1544-0C02-761FD291C689}"/>
              </a:ext>
            </a:extLst>
          </p:cNvPr>
          <p:cNvSpPr>
            <a:spLocks noGrp="1"/>
          </p:cNvSpPr>
          <p:nvPr>
            <p:ph idx="1"/>
          </p:nvPr>
        </p:nvSpPr>
        <p:spPr>
          <a:xfrm>
            <a:off x="628650" y="1825625"/>
            <a:ext cx="7886700" cy="4351338"/>
          </a:xfrm>
        </p:spPr>
        <p:txBody>
          <a:bodyPr/>
          <a:lstStyle/>
          <a:p>
            <a:r>
              <a:rPr lang="en-US" dirty="0">
                <a:solidFill>
                  <a:srgbClr val="FF0000"/>
                </a:solidFill>
              </a:rPr>
              <a:t>BOTH POLICY TOOLS, WHAT TO DO?</a:t>
            </a:r>
          </a:p>
        </p:txBody>
      </p:sp>
      <p:sp>
        <p:nvSpPr>
          <p:cNvPr id="4" name="Date Placeholder 3">
            <a:extLst>
              <a:ext uri="{FF2B5EF4-FFF2-40B4-BE49-F238E27FC236}">
                <a16:creationId xmlns:a16="http://schemas.microsoft.com/office/drawing/2014/main" id="{AB898410-4A2D-6BA8-9EBE-4AA3170A3C1C}"/>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CEA1010E-4789-6C65-7545-E384DE73F9FC}"/>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7842643F-496C-260B-2EC1-9E8086C79249}"/>
              </a:ext>
            </a:extLst>
          </p:cNvPr>
          <p:cNvSpPr>
            <a:spLocks noGrp="1"/>
          </p:cNvSpPr>
          <p:nvPr>
            <p:ph type="sldNum" sz="quarter" idx="12"/>
          </p:nvPr>
        </p:nvSpPr>
        <p:spPr/>
        <p:txBody>
          <a:bodyPr/>
          <a:lstStyle/>
          <a:p>
            <a:fld id="{1A980C56-831A-4EAB-9EDE-57C090F4F877}" type="slidenum">
              <a:rPr lang="en-US" smtClean="0"/>
              <a:t>20</a:t>
            </a:fld>
            <a:endParaRPr lang="en-US" dirty="0"/>
          </a:p>
        </p:txBody>
      </p:sp>
    </p:spTree>
    <p:extLst>
      <p:ext uri="{BB962C8B-B14F-4D97-AF65-F5344CB8AC3E}">
        <p14:creationId xmlns:p14="http://schemas.microsoft.com/office/powerpoint/2010/main" val="283272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CEF34-15F3-563B-A43D-4EDA403A9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AC7621-6A61-B02F-C1B3-747B26CA2823}"/>
              </a:ext>
            </a:extLst>
          </p:cNvPr>
          <p:cNvSpPr>
            <a:spLocks noGrp="1"/>
          </p:cNvSpPr>
          <p:nvPr>
            <p:ph type="title"/>
          </p:nvPr>
        </p:nvSpPr>
        <p:spPr/>
        <p:txBody>
          <a:bodyPr/>
          <a:lstStyle/>
          <a:p>
            <a:r>
              <a:rPr lang="en-US" dirty="0"/>
              <a:t>The Extended IS-LM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749E93-136B-445D-A241-7C563D15A240}"/>
                  </a:ext>
                </a:extLst>
              </p:cNvPr>
              <p:cNvSpPr>
                <a:spLocks noGrp="1"/>
              </p:cNvSpPr>
              <p:nvPr>
                <p:ph idx="1"/>
              </p:nvPr>
            </p:nvSpPr>
            <p:spPr>
              <a:xfrm>
                <a:off x="628649" y="1825625"/>
                <a:ext cx="7886701" cy="4351338"/>
              </a:xfrm>
            </p:spPr>
            <p:txBody>
              <a:bodyPr>
                <a:normAutofit/>
              </a:bodyPr>
              <a:lstStyle/>
              <a:p>
                <a:r>
                  <a:rPr lang="en-US" dirty="0"/>
                  <a:t>Let’s consider the fiscal policy required to boost output:</a:t>
                </a:r>
              </a:p>
              <a:p>
                <a:pPr lvl="1"/>
                <a:r>
                  <a:rPr lang="en-US" dirty="0"/>
                  <a:t>An increase in government expenditure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𝐺</m:t>
                    </m:r>
                    <m:r>
                      <a:rPr lang="en-US" i="1" dirty="0" smtClean="0">
                        <a:latin typeface="Cambria Math" panose="02040503050406030204" pitchFamily="18" charset="0"/>
                      </a:rPr>
                      <m:t>)</m:t>
                    </m:r>
                  </m:oMath>
                </a14:m>
                <a:r>
                  <a:rPr lang="en-US" dirty="0"/>
                  <a:t>, and/or</a:t>
                </a:r>
              </a:p>
              <a:p>
                <a:pPr lvl="1"/>
                <a:r>
                  <a:rPr lang="en-US" dirty="0"/>
                  <a:t>A decrease in taxation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𝑇</m:t>
                    </m:r>
                    <m:r>
                      <a:rPr lang="en-US" b="0" i="1" dirty="0" smtClean="0">
                        <a:latin typeface="Cambria Math" panose="02040503050406030204" pitchFamily="18" charset="0"/>
                      </a:rPr>
                      <m:t>)</m:t>
                    </m:r>
                  </m:oMath>
                </a14:m>
                <a:r>
                  <a:rPr lang="en-US" dirty="0"/>
                  <a:t>.</a:t>
                </a:r>
              </a:p>
              <a:p>
                <a:pPr lvl="3"/>
                <a:endParaRPr lang="en-US" dirty="0"/>
              </a:p>
              <a:p>
                <a:r>
                  <a:rPr lang="en-US" dirty="0"/>
                  <a:t>Expansionary fiscal policy will be able to shift the IS curve back to the right and restore the original level of output.</a:t>
                </a:r>
              </a:p>
              <a:p>
                <a:pPr lvl="3"/>
                <a:endParaRPr lang="en-US" dirty="0"/>
              </a:p>
              <a:p>
                <a:r>
                  <a:rPr lang="en-US" dirty="0"/>
                  <a:t>However, this approach inevitably leads to an increase in the budget deficit, which is often frowned upon.</a:t>
                </a:r>
              </a:p>
              <a:p>
                <a:pPr lvl="3"/>
                <a:endParaRPr lang="en-US" dirty="0"/>
              </a:p>
              <a:p>
                <a:r>
                  <a:rPr lang="en-US" dirty="0"/>
                  <a:t>What about monetary policy?</a:t>
                </a:r>
              </a:p>
            </p:txBody>
          </p:sp>
        </mc:Choice>
        <mc:Fallback>
          <p:sp>
            <p:nvSpPr>
              <p:cNvPr id="3" name="Content Placeholder 2">
                <a:extLst>
                  <a:ext uri="{FF2B5EF4-FFF2-40B4-BE49-F238E27FC236}">
                    <a16:creationId xmlns:a16="http://schemas.microsoft.com/office/drawing/2014/main" id="{DA749E93-136B-445D-A241-7C563D15A240}"/>
                  </a:ext>
                </a:extLst>
              </p:cNvPr>
              <p:cNvSpPr>
                <a:spLocks noGrp="1" noRot="1" noChangeAspect="1" noMove="1" noResize="1" noEditPoints="1" noAdjustHandles="1" noChangeArrowheads="1" noChangeShapeType="1" noTextEdit="1"/>
              </p:cNvSpPr>
              <p:nvPr>
                <p:ph idx="1"/>
              </p:nvPr>
            </p:nvSpPr>
            <p:spPr>
              <a:xfrm>
                <a:off x="628649" y="1825625"/>
                <a:ext cx="7886701" cy="4351338"/>
              </a:xfrm>
              <a:blipFill>
                <a:blip r:embed="rId2"/>
                <a:stretch>
                  <a:fillRect l="-1005" t="-1821" r="-85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2BA5C2CA-70A3-F5F4-D8FF-3BD3AF54B7BC}"/>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31CA8DAB-F560-2490-E12C-288F94B94A63}"/>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72883B82-30F5-D344-DA67-B3A33D5751DC}"/>
              </a:ext>
            </a:extLst>
          </p:cNvPr>
          <p:cNvSpPr>
            <a:spLocks noGrp="1"/>
          </p:cNvSpPr>
          <p:nvPr>
            <p:ph type="sldNum" sz="quarter" idx="12"/>
          </p:nvPr>
        </p:nvSpPr>
        <p:spPr/>
        <p:txBody>
          <a:bodyPr/>
          <a:lstStyle/>
          <a:p>
            <a:fld id="{1A980C56-831A-4EAB-9EDE-57C090F4F877}" type="slidenum">
              <a:rPr lang="en-US" smtClean="0"/>
              <a:t>21</a:t>
            </a:fld>
            <a:endParaRPr lang="en-US" dirty="0"/>
          </a:p>
        </p:txBody>
      </p:sp>
    </p:spTree>
    <p:extLst>
      <p:ext uri="{BB962C8B-B14F-4D97-AF65-F5344CB8AC3E}">
        <p14:creationId xmlns:p14="http://schemas.microsoft.com/office/powerpoint/2010/main" val="493263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9E05E-1B08-7889-08E0-3C2758E65DCB}"/>
            </a:ext>
          </a:extLst>
        </p:cNvPr>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E878516D-A4EB-BA89-8570-E677C4D8931C}"/>
              </a:ext>
            </a:extLst>
          </p:cNvPr>
          <p:cNvCxnSpPr>
            <a:cxnSpLocks/>
          </p:cNvCxnSpPr>
          <p:nvPr/>
        </p:nvCxnSpPr>
        <p:spPr>
          <a:xfrm flipV="1">
            <a:off x="828028" y="4026617"/>
            <a:ext cx="3621867" cy="29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26AA43E-435A-E131-D18D-121561E6FB85}"/>
              </a:ext>
            </a:extLst>
          </p:cNvPr>
          <p:cNvSpPr>
            <a:spLocks noGrp="1"/>
          </p:cNvSpPr>
          <p:nvPr>
            <p:ph type="title"/>
          </p:nvPr>
        </p:nvSpPr>
        <p:spPr/>
        <p:txBody>
          <a:bodyPr/>
          <a:lstStyle/>
          <a:p>
            <a:r>
              <a:rPr lang="en-US" dirty="0"/>
              <a:t>The Extended IS-LM Framework</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23244DE-4AEB-0269-FEA5-1233B761207A}"/>
                  </a:ext>
                </a:extLst>
              </p:cNvPr>
              <p:cNvSpPr>
                <a:spLocks noGrp="1"/>
              </p:cNvSpPr>
              <p:nvPr>
                <p:ph sz="half" idx="2"/>
              </p:nvPr>
            </p:nvSpPr>
            <p:spPr>
              <a:xfrm>
                <a:off x="4629149" y="1825625"/>
                <a:ext cx="4275860" cy="4351338"/>
              </a:xfrm>
            </p:spPr>
            <p:txBody>
              <a:bodyPr>
                <a:normAutofit/>
              </a:bodyPr>
              <a:lstStyle/>
              <a:p>
                <a:r>
                  <a:rPr lang="en-US" dirty="0"/>
                  <a:t>Recall that the real interest rate can be set </a:t>
                </a:r>
                <a:r>
                  <a:rPr lang="en-US" i="1" dirty="0"/>
                  <a:t>below</a:t>
                </a:r>
                <a:r>
                  <a:rPr lang="en-US" dirty="0"/>
                  <a:t> zero.</a:t>
                </a:r>
              </a:p>
              <a:p>
                <a:pPr lvl="1"/>
                <a:r>
                  <a:rPr lang="en-US" dirty="0"/>
                  <a:t>When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=0</m:t>
                    </m:r>
                  </m:oMath>
                </a14:m>
                <a:r>
                  <a:rPr lang="en-US" dirty="0"/>
                  <a:t>, then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𝑒</m:t>
                        </m:r>
                      </m:sup>
                    </m:sSup>
                  </m:oMath>
                </a14:m>
                <a:r>
                  <a:rPr lang="en-US" dirty="0"/>
                  <a:t>.</a:t>
                </a:r>
              </a:p>
              <a:p>
                <a:pPr lvl="1"/>
                <a:r>
                  <a:rPr lang="en-US" dirty="0"/>
                  <a:t>The lower bound for the real interest rate is “negative expected inflation.”</a:t>
                </a:r>
              </a:p>
              <a:p>
                <a:pPr lvl="3"/>
                <a:endParaRPr lang="en-US" dirty="0"/>
              </a:p>
              <a:p>
                <a:r>
                  <a:rPr lang="en-US" dirty="0"/>
                  <a:t>A sufficiently low policy rate may be able to shift the LM curve down up to the point where output returns to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𝑌</m:t>
                        </m:r>
                      </m:e>
                      <m:sup>
                        <m:r>
                          <a:rPr lang="en-US" i="1" dirty="0">
                            <a:latin typeface="Cambria Math" panose="02040503050406030204" pitchFamily="18" charset="0"/>
                          </a:rPr>
                          <m:t>∗</m:t>
                        </m:r>
                      </m:sup>
                    </m:sSup>
                  </m:oMath>
                </a14:m>
                <a:r>
                  <a:rPr lang="en-US" dirty="0"/>
                  <a:t>.</a:t>
                </a:r>
              </a:p>
            </p:txBody>
          </p:sp>
        </mc:Choice>
        <mc:Fallback>
          <p:sp>
            <p:nvSpPr>
              <p:cNvPr id="4" name="Content Placeholder 3">
                <a:extLst>
                  <a:ext uri="{FF2B5EF4-FFF2-40B4-BE49-F238E27FC236}">
                    <a16:creationId xmlns:a16="http://schemas.microsoft.com/office/drawing/2014/main" id="{F23244DE-4AEB-0269-FEA5-1233B761207A}"/>
                  </a:ext>
                </a:extLst>
              </p:cNvPr>
              <p:cNvSpPr>
                <a:spLocks noGrp="1" noRot="1" noChangeAspect="1" noMove="1" noResize="1" noEditPoints="1" noAdjustHandles="1" noChangeArrowheads="1" noChangeShapeType="1" noTextEdit="1"/>
              </p:cNvSpPr>
              <p:nvPr>
                <p:ph sz="half" idx="2"/>
              </p:nvPr>
            </p:nvSpPr>
            <p:spPr>
              <a:xfrm>
                <a:off x="4629149" y="1825625"/>
                <a:ext cx="4275860" cy="4351338"/>
              </a:xfrm>
              <a:blipFill>
                <a:blip r:embed="rId2"/>
                <a:stretch>
                  <a:fillRect l="-1852" t="-1821"/>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314D16EE-FEF6-6527-18EE-A55C113ADCA6}"/>
              </a:ext>
            </a:extLst>
          </p:cNvPr>
          <p:cNvSpPr>
            <a:spLocks noGrp="1"/>
          </p:cNvSpPr>
          <p:nvPr>
            <p:ph type="dt" sz="half" idx="10"/>
          </p:nvPr>
        </p:nvSpPr>
        <p:spPr/>
        <p:txBody>
          <a:bodyPr/>
          <a:lstStyle/>
          <a:p>
            <a:r>
              <a:rPr lang="en-US"/>
              <a:t>Spring 2024</a:t>
            </a:r>
            <a:endParaRPr lang="en-US" dirty="0"/>
          </a:p>
        </p:txBody>
      </p:sp>
      <p:sp>
        <p:nvSpPr>
          <p:cNvPr id="6" name="Footer Placeholder 5">
            <a:extLst>
              <a:ext uri="{FF2B5EF4-FFF2-40B4-BE49-F238E27FC236}">
                <a16:creationId xmlns:a16="http://schemas.microsoft.com/office/drawing/2014/main" id="{6C1EDD2C-5CD3-EEBB-12AB-74FE29865D01}"/>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1DD4D204-5E9A-90ED-A36F-222EE80A084A}"/>
              </a:ext>
            </a:extLst>
          </p:cNvPr>
          <p:cNvSpPr>
            <a:spLocks noGrp="1"/>
          </p:cNvSpPr>
          <p:nvPr>
            <p:ph type="sldNum" sz="quarter" idx="12"/>
          </p:nvPr>
        </p:nvSpPr>
        <p:spPr/>
        <p:txBody>
          <a:bodyPr/>
          <a:lstStyle/>
          <a:p>
            <a:fld id="{1A980C56-831A-4EAB-9EDE-57C090F4F877}" type="slidenum">
              <a:rPr lang="en-US" smtClean="0"/>
              <a:t>22</a:t>
            </a:fld>
            <a:endParaRPr lang="en-US" dirty="0"/>
          </a:p>
        </p:txBody>
      </p:sp>
      <p:cxnSp>
        <p:nvCxnSpPr>
          <p:cNvPr id="12" name="Straight Arrow Connector 11">
            <a:extLst>
              <a:ext uri="{FF2B5EF4-FFF2-40B4-BE49-F238E27FC236}">
                <a16:creationId xmlns:a16="http://schemas.microsoft.com/office/drawing/2014/main" id="{DF5992C7-96CD-2598-D744-3021CB505323}"/>
              </a:ext>
            </a:extLst>
          </p:cNvPr>
          <p:cNvCxnSpPr/>
          <p:nvPr/>
        </p:nvCxnSpPr>
        <p:spPr>
          <a:xfrm>
            <a:off x="628650" y="5031937"/>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7F8F026-8F69-C6F7-1008-93F3173DB23D}"/>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101EC49-5323-169D-DD67-2C1E5C24D328}"/>
              </a:ext>
            </a:extLst>
          </p:cNvPr>
          <p:cNvSpPr txBox="1"/>
          <p:nvPr/>
        </p:nvSpPr>
        <p:spPr>
          <a:xfrm>
            <a:off x="3837111" y="4745893"/>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414BEB72-C88C-8170-596C-EC1AF1205777}"/>
              </a:ext>
            </a:extLst>
          </p:cNvPr>
          <p:cNvSpPr txBox="1"/>
          <p:nvPr/>
        </p:nvSpPr>
        <p:spPr>
          <a:xfrm rot="16200000">
            <a:off x="-108764" y="2590935"/>
            <a:ext cx="1474827" cy="307777"/>
          </a:xfrm>
          <a:prstGeom prst="rect">
            <a:avLst/>
          </a:prstGeom>
          <a:noFill/>
        </p:spPr>
        <p:txBody>
          <a:bodyPr wrap="none" rtlCol="0">
            <a:spAutoFit/>
          </a:bodyPr>
          <a:lstStyle/>
          <a:p>
            <a:r>
              <a:rPr lang="en-US" sz="1400" dirty="0"/>
              <a:t>Real Interest Rate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D03338A-34BB-9C28-8473-A45AA8B5D1AB}"/>
                  </a:ext>
                </a:extLst>
              </p:cNvPr>
              <p:cNvSpPr txBox="1"/>
              <p:nvPr/>
            </p:nvSpPr>
            <p:spPr>
              <a:xfrm>
                <a:off x="4125365" y="3711823"/>
                <a:ext cx="47756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𝐿𝑀</m:t>
                      </m:r>
                    </m:oMath>
                  </m:oMathPara>
                </a14:m>
                <a:endParaRPr lang="en-US" sz="1400" dirty="0">
                  <a:solidFill>
                    <a:srgbClr val="C00000"/>
                  </a:solidFill>
                </a:endParaRPr>
              </a:p>
            </p:txBody>
          </p:sp>
        </mc:Choice>
        <mc:Fallback xmlns="">
          <p:sp>
            <p:nvSpPr>
              <p:cNvPr id="20" name="TextBox 19">
                <a:extLst>
                  <a:ext uri="{FF2B5EF4-FFF2-40B4-BE49-F238E27FC236}">
                    <a16:creationId xmlns:a16="http://schemas.microsoft.com/office/drawing/2014/main" id="{3FFFDE51-7D5B-DDBC-38DC-C6FD45F7A333}"/>
                  </a:ext>
                </a:extLst>
              </p:cNvPr>
              <p:cNvSpPr txBox="1">
                <a:spLocks noRot="1" noChangeAspect="1" noMove="1" noResize="1" noEditPoints="1" noAdjustHandles="1" noChangeArrowheads="1" noChangeShapeType="1" noTextEdit="1"/>
              </p:cNvSpPr>
              <p:nvPr/>
            </p:nvSpPr>
            <p:spPr>
              <a:xfrm>
                <a:off x="4125365" y="3711823"/>
                <a:ext cx="477567"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810F98D7-37B8-D69A-0770-AECE4358C548}"/>
                  </a:ext>
                </a:extLst>
              </p:cNvPr>
              <p:cNvSpPr txBox="1"/>
              <p:nvPr/>
            </p:nvSpPr>
            <p:spPr>
              <a:xfrm>
                <a:off x="360019" y="3853354"/>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𝑟</m:t>
                          </m:r>
                        </m:e>
                      </m:acc>
                    </m:oMath>
                  </m:oMathPara>
                </a14:m>
                <a:endParaRPr lang="en-US" dirty="0">
                  <a:solidFill>
                    <a:schemeClr val="tx1"/>
                  </a:solidFill>
                </a:endParaRPr>
              </a:p>
            </p:txBody>
          </p:sp>
        </mc:Choice>
        <mc:Fallback>
          <p:sp>
            <p:nvSpPr>
              <p:cNvPr id="24" name="TextBox 23">
                <a:extLst>
                  <a:ext uri="{FF2B5EF4-FFF2-40B4-BE49-F238E27FC236}">
                    <a16:creationId xmlns:a16="http://schemas.microsoft.com/office/drawing/2014/main" id="{810F98D7-37B8-D69A-0770-AECE4358C548}"/>
                  </a:ext>
                </a:extLst>
              </p:cNvPr>
              <p:cNvSpPr txBox="1">
                <a:spLocks noRot="1" noChangeAspect="1" noMove="1" noResize="1" noEditPoints="1" noAdjustHandles="1" noChangeArrowheads="1" noChangeShapeType="1" noTextEdit="1"/>
              </p:cNvSpPr>
              <p:nvPr/>
            </p:nvSpPr>
            <p:spPr>
              <a:xfrm>
                <a:off x="360019" y="3853354"/>
                <a:ext cx="291136" cy="369332"/>
              </a:xfrm>
              <a:prstGeom prst="rect">
                <a:avLst/>
              </a:prstGeom>
              <a:blipFill>
                <a:blip r:embed="rId4"/>
                <a:stretch>
                  <a:fillRect r="-16667"/>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151B0ED2-8C27-C92B-D036-AC07BC51B20B}"/>
              </a:ext>
            </a:extLst>
          </p:cNvPr>
          <p:cNvCxnSpPr>
            <a:cxnSpLocks/>
          </p:cNvCxnSpPr>
          <p:nvPr/>
        </p:nvCxnSpPr>
        <p:spPr>
          <a:xfrm rot="16200000">
            <a:off x="793984" y="399229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A3E047AF-ACE9-AD85-0D84-EC3AD111C152}"/>
              </a:ext>
            </a:extLst>
          </p:cNvPr>
          <p:cNvSpPr/>
          <p:nvPr/>
        </p:nvSpPr>
        <p:spPr>
          <a:xfrm>
            <a:off x="953834" y="2116958"/>
            <a:ext cx="3359150" cy="33528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55FDA7B3-B7FF-BAE4-A4CD-B7BAF32BB37C}"/>
                  </a:ext>
                </a:extLst>
              </p:cNvPr>
              <p:cNvSpPr txBox="1"/>
              <p:nvPr/>
            </p:nvSpPr>
            <p:spPr>
              <a:xfrm>
                <a:off x="4235854" y="5322607"/>
                <a:ext cx="3901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𝐼𝑆</m:t>
                      </m:r>
                    </m:oMath>
                  </m:oMathPara>
                </a14:m>
                <a:endParaRPr lang="en-US" sz="1400" dirty="0">
                  <a:solidFill>
                    <a:srgbClr val="00B0F0"/>
                  </a:solidFill>
                </a:endParaRPr>
              </a:p>
            </p:txBody>
          </p:sp>
        </mc:Choice>
        <mc:Fallback>
          <p:sp>
            <p:nvSpPr>
              <p:cNvPr id="21" name="TextBox 20">
                <a:extLst>
                  <a:ext uri="{FF2B5EF4-FFF2-40B4-BE49-F238E27FC236}">
                    <a16:creationId xmlns:a16="http://schemas.microsoft.com/office/drawing/2014/main" id="{55FDA7B3-B7FF-BAE4-A4CD-B7BAF32BB37C}"/>
                  </a:ext>
                </a:extLst>
              </p:cNvPr>
              <p:cNvSpPr txBox="1">
                <a:spLocks noRot="1" noChangeAspect="1" noMove="1" noResize="1" noEditPoints="1" noAdjustHandles="1" noChangeArrowheads="1" noChangeShapeType="1" noTextEdit="1"/>
              </p:cNvSpPr>
              <p:nvPr/>
            </p:nvSpPr>
            <p:spPr>
              <a:xfrm>
                <a:off x="4235854" y="5322607"/>
                <a:ext cx="390171" cy="307777"/>
              </a:xfrm>
              <a:prstGeom prst="rect">
                <a:avLst/>
              </a:prstGeom>
              <a:blipFill>
                <a:blip r:embed="rId5"/>
                <a:stretch>
                  <a:fillRect/>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99AB6956-881C-69FF-8186-0C6FAE25DCFC}"/>
              </a:ext>
            </a:extLst>
          </p:cNvPr>
          <p:cNvSpPr/>
          <p:nvPr/>
        </p:nvSpPr>
        <p:spPr>
          <a:xfrm>
            <a:off x="2140749" y="3989763"/>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693E8527-D9E8-5741-D0B3-DFFBF28162C1}"/>
              </a:ext>
            </a:extLst>
          </p:cNvPr>
          <p:cNvCxnSpPr/>
          <p:nvPr/>
        </p:nvCxnSpPr>
        <p:spPr>
          <a:xfrm>
            <a:off x="2178367" y="5001072"/>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7722463E-5B57-244C-3A40-DC07EA397065}"/>
                  </a:ext>
                </a:extLst>
              </p:cNvPr>
              <p:cNvSpPr txBox="1"/>
              <p:nvPr/>
            </p:nvSpPr>
            <p:spPr>
              <a:xfrm>
                <a:off x="2140749" y="4748069"/>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29" name="TextBox 28">
                <a:extLst>
                  <a:ext uri="{FF2B5EF4-FFF2-40B4-BE49-F238E27FC236}">
                    <a16:creationId xmlns:a16="http://schemas.microsoft.com/office/drawing/2014/main" id="{7722463E-5B57-244C-3A40-DC07EA397065}"/>
                  </a:ext>
                </a:extLst>
              </p:cNvPr>
              <p:cNvSpPr txBox="1">
                <a:spLocks noRot="1" noChangeAspect="1" noMove="1" noResize="1" noEditPoints="1" noAdjustHandles="1" noChangeArrowheads="1" noChangeShapeType="1" noTextEdit="1"/>
              </p:cNvSpPr>
              <p:nvPr/>
            </p:nvSpPr>
            <p:spPr>
              <a:xfrm>
                <a:off x="2140749" y="4748069"/>
                <a:ext cx="336188" cy="338554"/>
              </a:xfrm>
              <a:prstGeom prst="rect">
                <a:avLst/>
              </a:prstGeom>
              <a:blipFill>
                <a:blip r:embed="rId6"/>
                <a:stretch>
                  <a:fillRect r="-18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2C945D2-C880-D6A1-ACFA-72E671C20B69}"/>
                  </a:ext>
                </a:extLst>
              </p:cNvPr>
              <p:cNvSpPr txBox="1"/>
              <p:nvPr/>
            </p:nvSpPr>
            <p:spPr>
              <a:xfrm>
                <a:off x="2112174" y="3687784"/>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p:sp>
            <p:nvSpPr>
              <p:cNvPr id="3" name="TextBox 2">
                <a:extLst>
                  <a:ext uri="{FF2B5EF4-FFF2-40B4-BE49-F238E27FC236}">
                    <a16:creationId xmlns:a16="http://schemas.microsoft.com/office/drawing/2014/main" id="{A2C945D2-C880-D6A1-ACFA-72E671C20B69}"/>
                  </a:ext>
                </a:extLst>
              </p:cNvPr>
              <p:cNvSpPr txBox="1">
                <a:spLocks noRot="1" noChangeAspect="1" noMove="1" noResize="1" noEditPoints="1" noAdjustHandles="1" noChangeArrowheads="1" noChangeShapeType="1" noTextEdit="1"/>
              </p:cNvSpPr>
              <p:nvPr/>
            </p:nvSpPr>
            <p:spPr>
              <a:xfrm>
                <a:off x="2112174" y="3687784"/>
                <a:ext cx="336188" cy="33855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342A66B8-8308-4EC6-6E3A-9492BD99B260}"/>
                  </a:ext>
                </a:extLst>
              </p:cNvPr>
              <p:cNvSpPr txBox="1"/>
              <p:nvPr/>
            </p:nvSpPr>
            <p:spPr>
              <a:xfrm>
                <a:off x="1176314" y="3710620"/>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m:t>
                          </m:r>
                        </m:sup>
                      </m:sSup>
                    </m:oMath>
                  </m:oMathPara>
                </a14:m>
                <a:endParaRPr lang="en-US" sz="1600" dirty="0"/>
              </a:p>
            </p:txBody>
          </p:sp>
        </mc:Choice>
        <mc:Fallback>
          <p:sp>
            <p:nvSpPr>
              <p:cNvPr id="15" name="TextBox 14">
                <a:extLst>
                  <a:ext uri="{FF2B5EF4-FFF2-40B4-BE49-F238E27FC236}">
                    <a16:creationId xmlns:a16="http://schemas.microsoft.com/office/drawing/2014/main" id="{342A66B8-8308-4EC6-6E3A-9492BD99B260}"/>
                  </a:ext>
                </a:extLst>
              </p:cNvPr>
              <p:cNvSpPr txBox="1">
                <a:spLocks noRot="1" noChangeAspect="1" noMove="1" noResize="1" noEditPoints="1" noAdjustHandles="1" noChangeArrowheads="1" noChangeShapeType="1" noTextEdit="1"/>
              </p:cNvSpPr>
              <p:nvPr/>
            </p:nvSpPr>
            <p:spPr>
              <a:xfrm>
                <a:off x="1176314" y="3710620"/>
                <a:ext cx="336188" cy="338554"/>
              </a:xfrm>
              <a:prstGeom prst="rect">
                <a:avLst/>
              </a:prstGeom>
              <a:blipFill>
                <a:blip r:embed="rId8"/>
                <a:stretch>
                  <a:fillRect/>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0D76FE23-7BDC-21D9-8429-187291260B52}"/>
              </a:ext>
            </a:extLst>
          </p:cNvPr>
          <p:cNvCxnSpPr/>
          <p:nvPr/>
        </p:nvCxnSpPr>
        <p:spPr>
          <a:xfrm>
            <a:off x="1191579" y="500463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902C2BFF-0392-0664-EADE-7343103D5C6C}"/>
                  </a:ext>
                </a:extLst>
              </p:cNvPr>
              <p:cNvSpPr txBox="1"/>
              <p:nvPr/>
            </p:nvSpPr>
            <p:spPr>
              <a:xfrm>
                <a:off x="1190067" y="4743306"/>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33" name="TextBox 32">
                <a:extLst>
                  <a:ext uri="{FF2B5EF4-FFF2-40B4-BE49-F238E27FC236}">
                    <a16:creationId xmlns:a16="http://schemas.microsoft.com/office/drawing/2014/main" id="{902C2BFF-0392-0664-EADE-7343103D5C6C}"/>
                  </a:ext>
                </a:extLst>
              </p:cNvPr>
              <p:cNvSpPr txBox="1">
                <a:spLocks noRot="1" noChangeAspect="1" noMove="1" noResize="1" noEditPoints="1" noAdjustHandles="1" noChangeArrowheads="1" noChangeShapeType="1" noTextEdit="1"/>
              </p:cNvSpPr>
              <p:nvPr/>
            </p:nvSpPr>
            <p:spPr>
              <a:xfrm>
                <a:off x="1190067" y="4743306"/>
                <a:ext cx="336188" cy="338554"/>
              </a:xfrm>
              <a:prstGeom prst="rect">
                <a:avLst/>
              </a:prstGeom>
              <a:blipFill>
                <a:blip r:embed="rId9"/>
                <a:stretch>
                  <a:fillRect r="-18182"/>
                </a:stretch>
              </a:blipFill>
            </p:spPr>
            <p:txBody>
              <a:bodyPr/>
              <a:lstStyle/>
              <a:p>
                <a:r>
                  <a:rPr lang="en-US">
                    <a:noFill/>
                  </a:rPr>
                  <a:t> </a:t>
                </a:r>
              </a:p>
            </p:txBody>
          </p:sp>
        </mc:Fallback>
      </mc:AlternateContent>
      <p:sp>
        <p:nvSpPr>
          <p:cNvPr id="23" name="Freeform: Shape 22">
            <a:extLst>
              <a:ext uri="{FF2B5EF4-FFF2-40B4-BE49-F238E27FC236}">
                <a16:creationId xmlns:a16="http://schemas.microsoft.com/office/drawing/2014/main" id="{9961AB95-A4FC-D579-DBE3-27EADDF66AAB}"/>
              </a:ext>
            </a:extLst>
          </p:cNvPr>
          <p:cNvSpPr/>
          <p:nvPr/>
        </p:nvSpPr>
        <p:spPr>
          <a:xfrm>
            <a:off x="953834" y="3598175"/>
            <a:ext cx="2286000" cy="22860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5A9FBE33-D830-4FF7-AE83-64E448EBE46D}"/>
                  </a:ext>
                </a:extLst>
              </p:cNvPr>
              <p:cNvSpPr txBox="1"/>
              <p:nvPr/>
            </p:nvSpPr>
            <p:spPr>
              <a:xfrm>
                <a:off x="2567103" y="5685527"/>
                <a:ext cx="43667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m:t>
                      </m:r>
                      <m:sSup>
                        <m:sSupPr>
                          <m:ctrlPr>
                            <a:rPr lang="en-US" sz="1400" b="0" i="1" dirty="0" smtClean="0">
                              <a:solidFill>
                                <a:srgbClr val="00B0F0"/>
                              </a:solidFill>
                              <a:latin typeface="Cambria Math" panose="02040503050406030204" pitchFamily="18" charset="0"/>
                            </a:rPr>
                          </m:ctrlPr>
                        </m:sSupPr>
                        <m:e>
                          <m:r>
                            <a:rPr lang="en-US" sz="1400" b="0" i="1" dirty="0" smtClean="0">
                              <a:solidFill>
                                <a:srgbClr val="00B0F0"/>
                              </a:solidFill>
                              <a:latin typeface="Cambria Math" panose="02040503050406030204" pitchFamily="18" charset="0"/>
                            </a:rPr>
                            <m:t>𝑆</m:t>
                          </m:r>
                        </m:e>
                        <m:sup>
                          <m:r>
                            <a:rPr lang="en-US" sz="1400" b="0" i="1" dirty="0" smtClean="0">
                              <a:solidFill>
                                <a:srgbClr val="00B0F0"/>
                              </a:solidFill>
                              <a:latin typeface="Cambria Math" panose="02040503050406030204" pitchFamily="18" charset="0"/>
                            </a:rPr>
                            <m:t>′</m:t>
                          </m:r>
                        </m:sup>
                      </m:sSup>
                    </m:oMath>
                  </m:oMathPara>
                </a14:m>
                <a:endParaRPr lang="en-US" sz="1400" dirty="0">
                  <a:solidFill>
                    <a:srgbClr val="00B0F0"/>
                  </a:solidFill>
                </a:endParaRPr>
              </a:p>
            </p:txBody>
          </p:sp>
        </mc:Choice>
        <mc:Fallback>
          <p:sp>
            <p:nvSpPr>
              <p:cNvPr id="27" name="TextBox 26">
                <a:extLst>
                  <a:ext uri="{FF2B5EF4-FFF2-40B4-BE49-F238E27FC236}">
                    <a16:creationId xmlns:a16="http://schemas.microsoft.com/office/drawing/2014/main" id="{5A9FBE33-D830-4FF7-AE83-64E448EBE46D}"/>
                  </a:ext>
                </a:extLst>
              </p:cNvPr>
              <p:cNvSpPr txBox="1">
                <a:spLocks noRot="1" noChangeAspect="1" noMove="1" noResize="1" noEditPoints="1" noAdjustHandles="1" noChangeArrowheads="1" noChangeShapeType="1" noTextEdit="1"/>
              </p:cNvSpPr>
              <p:nvPr/>
            </p:nvSpPr>
            <p:spPr>
              <a:xfrm>
                <a:off x="2567103" y="5685527"/>
                <a:ext cx="436671" cy="307777"/>
              </a:xfrm>
              <a:prstGeom prst="rect">
                <a:avLst/>
              </a:prstGeom>
              <a:blipFill>
                <a:blip r:embed="rId10"/>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5FC58E70-FACF-E8B2-E361-01C457FCF130}"/>
              </a:ext>
            </a:extLst>
          </p:cNvPr>
          <p:cNvCxnSpPr>
            <a:cxnSpLocks/>
            <a:stCxn id="14" idx="4"/>
          </p:cNvCxnSpPr>
          <p:nvPr/>
        </p:nvCxnSpPr>
        <p:spPr>
          <a:xfrm>
            <a:off x="1190067" y="4062914"/>
            <a:ext cx="0" cy="96902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CDAD7B35-D3D8-E35E-81FC-2280405DB0B1}"/>
              </a:ext>
            </a:extLst>
          </p:cNvPr>
          <p:cNvSpPr/>
          <p:nvPr/>
        </p:nvSpPr>
        <p:spPr>
          <a:xfrm>
            <a:off x="1153491" y="3989762"/>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DCEBE112-B7AD-A5C2-B088-65CC1BFF0109}"/>
                  </a:ext>
                </a:extLst>
              </p:cNvPr>
              <p:cNvSpPr txBox="1"/>
              <p:nvPr/>
            </p:nvSpPr>
            <p:spPr>
              <a:xfrm>
                <a:off x="346533" y="4832005"/>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p:sp>
            <p:nvSpPr>
              <p:cNvPr id="31" name="TextBox 30">
                <a:extLst>
                  <a:ext uri="{FF2B5EF4-FFF2-40B4-BE49-F238E27FC236}">
                    <a16:creationId xmlns:a16="http://schemas.microsoft.com/office/drawing/2014/main" id="{DCEBE112-B7AD-A5C2-B088-65CC1BFF0109}"/>
                  </a:ext>
                </a:extLst>
              </p:cNvPr>
              <p:cNvSpPr txBox="1">
                <a:spLocks noRot="1" noChangeAspect="1" noMove="1" noResize="1" noEditPoints="1" noAdjustHandles="1" noChangeArrowheads="1" noChangeShapeType="1" noTextEdit="1"/>
              </p:cNvSpPr>
              <p:nvPr/>
            </p:nvSpPr>
            <p:spPr>
              <a:xfrm>
                <a:off x="346533" y="4832005"/>
                <a:ext cx="291136" cy="369332"/>
              </a:xfrm>
              <a:prstGeom prst="rect">
                <a:avLst/>
              </a:prstGeom>
              <a:blipFill>
                <a:blip r:embed="rId11"/>
                <a:stretch>
                  <a:fillRect r="-2083"/>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67E22FDB-3B83-B6D6-B4FF-3CC918B66EA0}"/>
              </a:ext>
            </a:extLst>
          </p:cNvPr>
          <p:cNvCxnSpPr>
            <a:cxnSpLocks/>
            <a:stCxn id="22" idx="4"/>
          </p:cNvCxnSpPr>
          <p:nvPr/>
        </p:nvCxnSpPr>
        <p:spPr>
          <a:xfrm>
            <a:off x="2177325" y="4062915"/>
            <a:ext cx="0" cy="9655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0A84782-7309-E5FE-AAA0-1B3E06EAAA69}"/>
              </a:ext>
            </a:extLst>
          </p:cNvPr>
          <p:cNvCxnSpPr>
            <a:cxnSpLocks/>
          </p:cNvCxnSpPr>
          <p:nvPr/>
        </p:nvCxnSpPr>
        <p:spPr>
          <a:xfrm flipV="1">
            <a:off x="782538" y="5266399"/>
            <a:ext cx="3621867" cy="29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E66FB-4C13-D1A1-0C32-43C513CEC7DA}"/>
              </a:ext>
            </a:extLst>
          </p:cNvPr>
          <p:cNvCxnSpPr>
            <a:cxnSpLocks/>
            <a:endCxn id="11" idx="0"/>
          </p:cNvCxnSpPr>
          <p:nvPr/>
        </p:nvCxnSpPr>
        <p:spPr>
          <a:xfrm>
            <a:off x="2177325" y="5035115"/>
            <a:ext cx="0" cy="18697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9EA491D-5AE3-9B52-7D6B-CA9D9BFCC7D3}"/>
              </a:ext>
            </a:extLst>
          </p:cNvPr>
          <p:cNvSpPr/>
          <p:nvPr/>
        </p:nvSpPr>
        <p:spPr>
          <a:xfrm>
            <a:off x="2140749" y="5222093"/>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76FE2B27-07F3-642D-A2EC-68C77B4134B6}"/>
                  </a:ext>
                </a:extLst>
              </p:cNvPr>
              <p:cNvSpPr txBox="1"/>
              <p:nvPr/>
            </p:nvSpPr>
            <p:spPr>
              <a:xfrm>
                <a:off x="4335359" y="5114463"/>
                <a:ext cx="53514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m:t>
                      </m:r>
                      <m:sSup>
                        <m:sSupPr>
                          <m:ctrlPr>
                            <a:rPr lang="en-US" sz="1400" b="0" i="1" dirty="0" smtClean="0">
                              <a:solidFill>
                                <a:srgbClr val="C00000"/>
                              </a:solidFill>
                              <a:latin typeface="Cambria Math" panose="02040503050406030204" pitchFamily="18" charset="0"/>
                            </a:rPr>
                          </m:ctrlPr>
                        </m:sSupPr>
                        <m:e>
                          <m:r>
                            <a:rPr lang="en-US" sz="1400" b="0" i="1" dirty="0" smtClean="0">
                              <a:solidFill>
                                <a:srgbClr val="C00000"/>
                              </a:solidFill>
                              <a:latin typeface="Cambria Math" panose="02040503050406030204" pitchFamily="18" charset="0"/>
                            </a:rPr>
                            <m:t>𝑀</m:t>
                          </m:r>
                        </m:e>
                        <m:sup>
                          <m:r>
                            <a:rPr lang="en-US" sz="1400" b="0" i="1" dirty="0" smtClean="0">
                              <a:solidFill>
                                <a:srgbClr val="C00000"/>
                              </a:solidFill>
                              <a:latin typeface="Cambria Math" panose="02040503050406030204" pitchFamily="18" charset="0"/>
                            </a:rPr>
                            <m:t>′</m:t>
                          </m:r>
                        </m:sup>
                      </m:sSup>
                    </m:oMath>
                  </m:oMathPara>
                </a14:m>
                <a:endParaRPr lang="en-US" sz="1400" dirty="0">
                  <a:solidFill>
                    <a:srgbClr val="C00000"/>
                  </a:solidFill>
                </a:endParaRPr>
              </a:p>
            </p:txBody>
          </p:sp>
        </mc:Choice>
        <mc:Fallback>
          <p:sp>
            <p:nvSpPr>
              <p:cNvPr id="26" name="TextBox 25">
                <a:extLst>
                  <a:ext uri="{FF2B5EF4-FFF2-40B4-BE49-F238E27FC236}">
                    <a16:creationId xmlns:a16="http://schemas.microsoft.com/office/drawing/2014/main" id="{76FE2B27-07F3-642D-A2EC-68C77B4134B6}"/>
                  </a:ext>
                </a:extLst>
              </p:cNvPr>
              <p:cNvSpPr txBox="1">
                <a:spLocks noRot="1" noChangeAspect="1" noMove="1" noResize="1" noEditPoints="1" noAdjustHandles="1" noChangeArrowheads="1" noChangeShapeType="1" noTextEdit="1"/>
              </p:cNvSpPr>
              <p:nvPr/>
            </p:nvSpPr>
            <p:spPr>
              <a:xfrm>
                <a:off x="4335359" y="5114463"/>
                <a:ext cx="535146"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9E8F2C36-E77B-7268-2584-B896F15F9E77}"/>
                  </a:ext>
                </a:extLst>
              </p:cNvPr>
              <p:cNvSpPr txBox="1"/>
              <p:nvPr/>
            </p:nvSpPr>
            <p:spPr>
              <a:xfrm>
                <a:off x="1835744" y="5266011"/>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m:t>
                          </m:r>
                        </m:sup>
                      </m:sSup>
                    </m:oMath>
                  </m:oMathPara>
                </a14:m>
                <a:endParaRPr lang="en-US" sz="1600" dirty="0"/>
              </a:p>
            </p:txBody>
          </p:sp>
        </mc:Choice>
        <mc:Fallback>
          <p:sp>
            <p:nvSpPr>
              <p:cNvPr id="35" name="TextBox 34">
                <a:extLst>
                  <a:ext uri="{FF2B5EF4-FFF2-40B4-BE49-F238E27FC236}">
                    <a16:creationId xmlns:a16="http://schemas.microsoft.com/office/drawing/2014/main" id="{9E8F2C36-E77B-7268-2584-B896F15F9E77}"/>
                  </a:ext>
                </a:extLst>
              </p:cNvPr>
              <p:cNvSpPr txBox="1">
                <a:spLocks noRot="1" noChangeAspect="1" noMove="1" noResize="1" noEditPoints="1" noAdjustHandles="1" noChangeArrowheads="1" noChangeShapeType="1" noTextEdit="1"/>
              </p:cNvSpPr>
              <p:nvPr/>
            </p:nvSpPr>
            <p:spPr>
              <a:xfrm>
                <a:off x="1835744" y="5266011"/>
                <a:ext cx="336188" cy="338554"/>
              </a:xfrm>
              <a:prstGeom prst="rect">
                <a:avLst/>
              </a:prstGeom>
              <a:blipFill>
                <a:blip r:embed="rId13"/>
                <a:stretch>
                  <a:fillRect r="-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83E79E6-FFDE-FF5B-482A-E0EAFDAD5794}"/>
                  </a:ext>
                </a:extLst>
              </p:cNvPr>
              <p:cNvSpPr txBox="1"/>
              <p:nvPr/>
            </p:nvSpPr>
            <p:spPr>
              <a:xfrm>
                <a:off x="356557" y="5137047"/>
                <a:ext cx="291136" cy="370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𝑟</m:t>
                              </m:r>
                            </m:e>
                            <m:sup>
                              <m:r>
                                <a:rPr lang="en-US" sz="1800" b="0" i="1" smtClean="0">
                                  <a:solidFill>
                                    <a:schemeClr val="tx1"/>
                                  </a:solidFill>
                                  <a:latin typeface="Cambria Math" panose="02040503050406030204" pitchFamily="18" charset="0"/>
                                </a:rPr>
                                <m:t>′</m:t>
                              </m:r>
                            </m:sup>
                          </m:sSup>
                        </m:e>
                      </m:acc>
                    </m:oMath>
                  </m:oMathPara>
                </a14:m>
                <a:endParaRPr lang="en-US" dirty="0">
                  <a:solidFill>
                    <a:schemeClr val="tx1"/>
                  </a:solidFill>
                </a:endParaRPr>
              </a:p>
            </p:txBody>
          </p:sp>
        </mc:Choice>
        <mc:Fallback>
          <p:sp>
            <p:nvSpPr>
              <p:cNvPr id="37" name="TextBox 36">
                <a:extLst>
                  <a:ext uri="{FF2B5EF4-FFF2-40B4-BE49-F238E27FC236}">
                    <a16:creationId xmlns:a16="http://schemas.microsoft.com/office/drawing/2014/main" id="{483E79E6-FFDE-FF5B-482A-E0EAFDAD5794}"/>
                  </a:ext>
                </a:extLst>
              </p:cNvPr>
              <p:cNvSpPr txBox="1">
                <a:spLocks noRot="1" noChangeAspect="1" noMove="1" noResize="1" noEditPoints="1" noAdjustHandles="1" noChangeArrowheads="1" noChangeShapeType="1" noTextEdit="1"/>
              </p:cNvSpPr>
              <p:nvPr/>
            </p:nvSpPr>
            <p:spPr>
              <a:xfrm>
                <a:off x="356557" y="5137047"/>
                <a:ext cx="291136" cy="370743"/>
              </a:xfrm>
              <a:prstGeom prst="rect">
                <a:avLst/>
              </a:prstGeom>
              <a:blipFill>
                <a:blip r:embed="rId14"/>
                <a:stretch>
                  <a:fillRect r="-10417"/>
                </a:stretch>
              </a:blipFill>
            </p:spPr>
            <p:txBody>
              <a:bodyPr/>
              <a:lstStyle/>
              <a:p>
                <a:r>
                  <a:rPr lang="en-US">
                    <a:noFill/>
                  </a:rPr>
                  <a:t> </a:t>
                </a:r>
              </a:p>
            </p:txBody>
          </p:sp>
        </mc:Fallback>
      </mc:AlternateContent>
      <p:cxnSp>
        <p:nvCxnSpPr>
          <p:cNvPr id="38" name="Straight Connector 37">
            <a:extLst>
              <a:ext uri="{FF2B5EF4-FFF2-40B4-BE49-F238E27FC236}">
                <a16:creationId xmlns:a16="http://schemas.microsoft.com/office/drawing/2014/main" id="{92FF7F95-9213-1313-9B9B-B39C595160FF}"/>
              </a:ext>
            </a:extLst>
          </p:cNvPr>
          <p:cNvCxnSpPr>
            <a:cxnSpLocks/>
          </p:cNvCxnSpPr>
          <p:nvPr/>
        </p:nvCxnSpPr>
        <p:spPr>
          <a:xfrm rot="16200000">
            <a:off x="792193" y="5232408"/>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292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500"/>
                                        <p:tgtEl>
                                          <p:spTgt spid="31"/>
                                        </p:tgtEl>
                                      </p:cBhvr>
                                    </p:animEffect>
                                  </p:childTnLst>
                                </p:cTn>
                              </p:par>
                              <p:par>
                                <p:cTn id="71" presetID="10" presetClass="entr" presetSubtype="0" fill="hold"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500"/>
                                        <p:tgtEl>
                                          <p:spTgt spid="3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4">
                                            <p:txEl>
                                              <p:pRg st="0" end="0"/>
                                            </p:txEl>
                                          </p:spTgt>
                                        </p:tgtEl>
                                        <p:attrNameLst>
                                          <p:attrName>style.visibility</p:attrName>
                                        </p:attrNameLst>
                                      </p:cBhvr>
                                      <p:to>
                                        <p:strVal val="visible"/>
                                      </p:to>
                                    </p:set>
                                    <p:animEffect transition="in" filter="fade">
                                      <p:cBhvr>
                                        <p:cTn id="78" dur="500"/>
                                        <p:tgtEl>
                                          <p:spTgt spid="4">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
                                            <p:txEl>
                                              <p:pRg st="1" end="1"/>
                                            </p:txEl>
                                          </p:spTgt>
                                        </p:tgtEl>
                                        <p:attrNameLst>
                                          <p:attrName>style.visibility</p:attrName>
                                        </p:attrNameLst>
                                      </p:cBhvr>
                                      <p:to>
                                        <p:strVal val="visible"/>
                                      </p:to>
                                    </p:set>
                                    <p:animEffect transition="in" filter="fade">
                                      <p:cBhvr>
                                        <p:cTn id="83" dur="500"/>
                                        <p:tgtEl>
                                          <p:spTgt spid="4">
                                            <p:txEl>
                                              <p:pRg st="1" end="1"/>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4">
                                            <p:txEl>
                                              <p:pRg st="2" end="2"/>
                                            </p:txEl>
                                          </p:spTgt>
                                        </p:tgtEl>
                                        <p:attrNameLst>
                                          <p:attrName>style.visibility</p:attrName>
                                        </p:attrNameLst>
                                      </p:cBhvr>
                                      <p:to>
                                        <p:strVal val="visible"/>
                                      </p:to>
                                    </p:set>
                                    <p:animEffect transition="in" filter="fade">
                                      <p:cBhvr>
                                        <p:cTn id="88" dur="500"/>
                                        <p:tgtEl>
                                          <p:spTgt spid="4">
                                            <p:txEl>
                                              <p:pRg st="2" end="2"/>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4">
                                            <p:txEl>
                                              <p:pRg st="4" end="4"/>
                                            </p:txEl>
                                          </p:spTgt>
                                        </p:tgtEl>
                                        <p:attrNameLst>
                                          <p:attrName>style.visibility</p:attrName>
                                        </p:attrNameLst>
                                      </p:cBhvr>
                                      <p:to>
                                        <p:strVal val="visible"/>
                                      </p:to>
                                    </p:set>
                                    <p:animEffect transition="in" filter="fade">
                                      <p:cBhvr>
                                        <p:cTn id="93" dur="500"/>
                                        <p:tgtEl>
                                          <p:spTgt spid="4">
                                            <p:txEl>
                                              <p:pRg st="4" end="4"/>
                                            </p:txEl>
                                          </p:spTgt>
                                        </p:tgtEl>
                                      </p:cBhvr>
                                    </p:animEffect>
                                  </p:childTnLst>
                                </p:cTn>
                              </p:par>
                              <p:par>
                                <p:cTn id="94" presetID="10" presetClass="entr" presetSubtype="0" fill="hold" nodeType="withEffect">
                                  <p:stCondLst>
                                    <p:cond delay="0"/>
                                  </p:stCondLst>
                                  <p:childTnLst>
                                    <p:set>
                                      <p:cBhvr>
                                        <p:cTn id="95" dur="1" fill="hold">
                                          <p:stCondLst>
                                            <p:cond delay="0"/>
                                          </p:stCondLst>
                                        </p:cTn>
                                        <p:tgtEl>
                                          <p:spTgt spid="8"/>
                                        </p:tgtEl>
                                        <p:attrNameLst>
                                          <p:attrName>style.visibility</p:attrName>
                                        </p:attrNameLst>
                                      </p:cBhvr>
                                      <p:to>
                                        <p:strVal val="visible"/>
                                      </p:to>
                                    </p:set>
                                    <p:animEffect transition="in" filter="fade">
                                      <p:cBhvr>
                                        <p:cTn id="96" dur="500"/>
                                        <p:tgtEl>
                                          <p:spTgt spid="8"/>
                                        </p:tgtEl>
                                      </p:cBhvr>
                                    </p:animEffect>
                                  </p:childTnLst>
                                </p:cTn>
                              </p:par>
                              <p:par>
                                <p:cTn id="97" presetID="10" presetClass="entr" presetSubtype="0" fill="hold" nodeType="withEffect">
                                  <p:stCondLst>
                                    <p:cond delay="0"/>
                                  </p:stCondLst>
                                  <p:childTnLst>
                                    <p:set>
                                      <p:cBhvr>
                                        <p:cTn id="98" dur="1" fill="hold">
                                          <p:stCondLst>
                                            <p:cond delay="0"/>
                                          </p:stCondLst>
                                        </p:cTn>
                                        <p:tgtEl>
                                          <p:spTgt spid="9"/>
                                        </p:tgtEl>
                                        <p:attrNameLst>
                                          <p:attrName>style.visibility</p:attrName>
                                        </p:attrNameLst>
                                      </p:cBhvr>
                                      <p:to>
                                        <p:strVal val="visible"/>
                                      </p:to>
                                    </p:set>
                                    <p:animEffect transition="in" filter="fade">
                                      <p:cBhvr>
                                        <p:cTn id="99" dur="500"/>
                                        <p:tgtEl>
                                          <p:spTgt spid="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11"/>
                                        </p:tgtEl>
                                        <p:attrNameLst>
                                          <p:attrName>style.visibility</p:attrName>
                                        </p:attrNameLst>
                                      </p:cBhvr>
                                      <p:to>
                                        <p:strVal val="visible"/>
                                      </p:to>
                                    </p:set>
                                    <p:animEffect transition="in" filter="fade">
                                      <p:cBhvr>
                                        <p:cTn id="102" dur="500"/>
                                        <p:tgtEl>
                                          <p:spTgt spid="1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500"/>
                                        <p:tgtEl>
                                          <p:spTgt spid="37"/>
                                        </p:tgtEl>
                                      </p:cBhvr>
                                    </p:animEffect>
                                  </p:childTnLst>
                                </p:cTn>
                              </p:par>
                              <p:par>
                                <p:cTn id="112" presetID="10" presetClass="entr" presetSubtype="0" fill="hold"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4" grpId="0"/>
      <p:bldP spid="19" grpId="0" animBg="1"/>
      <p:bldP spid="21" grpId="0"/>
      <p:bldP spid="22" grpId="0" animBg="1"/>
      <p:bldP spid="29" grpId="0"/>
      <p:bldP spid="3" grpId="0"/>
      <p:bldP spid="15" grpId="0"/>
      <p:bldP spid="33" grpId="0"/>
      <p:bldP spid="23" grpId="0" animBg="1"/>
      <p:bldP spid="27" grpId="0"/>
      <p:bldP spid="14" grpId="0" animBg="1"/>
      <p:bldP spid="31" grpId="0"/>
      <p:bldP spid="11" grpId="0" animBg="1"/>
      <p:bldP spid="26" grpId="0"/>
      <p:bldP spid="35" grpId="0"/>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0D40A-8D5A-5E3D-0DD6-5E2417CE72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CFFE5-EC3E-FE34-A4C2-8FEA98D643E2}"/>
              </a:ext>
            </a:extLst>
          </p:cNvPr>
          <p:cNvSpPr>
            <a:spLocks noGrp="1"/>
          </p:cNvSpPr>
          <p:nvPr>
            <p:ph type="title"/>
          </p:nvPr>
        </p:nvSpPr>
        <p:spPr/>
        <p:txBody>
          <a:bodyPr/>
          <a:lstStyle/>
          <a:p>
            <a:r>
              <a:rPr lang="en-US" dirty="0"/>
              <a:t>The Extended IS-LM Framework</a:t>
            </a:r>
          </a:p>
        </p:txBody>
      </p:sp>
      <p:sp>
        <p:nvSpPr>
          <p:cNvPr id="3" name="Content Placeholder 2">
            <a:extLst>
              <a:ext uri="{FF2B5EF4-FFF2-40B4-BE49-F238E27FC236}">
                <a16:creationId xmlns:a16="http://schemas.microsoft.com/office/drawing/2014/main" id="{60F0BE54-63B2-A5C5-68A0-127AD0F852B6}"/>
              </a:ext>
            </a:extLst>
          </p:cNvPr>
          <p:cNvSpPr>
            <a:spLocks noGrp="1"/>
          </p:cNvSpPr>
          <p:nvPr>
            <p:ph idx="1"/>
          </p:nvPr>
        </p:nvSpPr>
        <p:spPr>
          <a:xfrm>
            <a:off x="628649" y="1825625"/>
            <a:ext cx="7886701" cy="4351338"/>
          </a:xfrm>
        </p:spPr>
        <p:txBody>
          <a:bodyPr>
            <a:normAutofit/>
          </a:bodyPr>
          <a:lstStyle/>
          <a:p>
            <a:r>
              <a:rPr lang="en-US" dirty="0"/>
              <a:t>By extending the IS-LM framework, we can now explain how crises in the financial sector may affect the “real” side of the economy.</a:t>
            </a:r>
          </a:p>
          <a:p>
            <a:pPr lvl="3"/>
            <a:endParaRPr lang="en-US" dirty="0"/>
          </a:p>
          <a:p>
            <a:r>
              <a:rPr lang="en-US" dirty="0"/>
              <a:t>Prior to the Financial Crisis of 2008, many economists believed that the impact of declining housing prices would cause issues in the financial market.</a:t>
            </a:r>
          </a:p>
          <a:p>
            <a:pPr lvl="3"/>
            <a:endParaRPr lang="en-US" dirty="0"/>
          </a:p>
          <a:p>
            <a:r>
              <a:rPr lang="en-US" dirty="0"/>
              <a:t>However, most of said economists believed that the effect of this disruption would be mild.</a:t>
            </a:r>
          </a:p>
          <a:p>
            <a:pPr lvl="3"/>
            <a:endParaRPr lang="en-US" dirty="0"/>
          </a:p>
          <a:p>
            <a:r>
              <a:rPr lang="en-US" dirty="0"/>
              <a:t>This was definitely not the case…</a:t>
            </a:r>
          </a:p>
        </p:txBody>
      </p:sp>
      <p:sp>
        <p:nvSpPr>
          <p:cNvPr id="4" name="Date Placeholder 3">
            <a:extLst>
              <a:ext uri="{FF2B5EF4-FFF2-40B4-BE49-F238E27FC236}">
                <a16:creationId xmlns:a16="http://schemas.microsoft.com/office/drawing/2014/main" id="{A63BDEED-227C-6397-7E5A-1C9420951BB2}"/>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730DC98-9483-1F10-982A-BE51820986AB}"/>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4F4296E7-54E3-D6C6-3CD1-551CD9A622B1}"/>
              </a:ext>
            </a:extLst>
          </p:cNvPr>
          <p:cNvSpPr>
            <a:spLocks noGrp="1"/>
          </p:cNvSpPr>
          <p:nvPr>
            <p:ph type="sldNum" sz="quarter" idx="12"/>
          </p:nvPr>
        </p:nvSpPr>
        <p:spPr/>
        <p:txBody>
          <a:bodyPr/>
          <a:lstStyle/>
          <a:p>
            <a:fld id="{1A980C56-831A-4EAB-9EDE-57C090F4F877}" type="slidenum">
              <a:rPr lang="en-US" smtClean="0"/>
              <a:t>23</a:t>
            </a:fld>
            <a:endParaRPr lang="en-US" dirty="0"/>
          </a:p>
        </p:txBody>
      </p:sp>
    </p:spTree>
    <p:extLst>
      <p:ext uri="{BB962C8B-B14F-4D97-AF65-F5344CB8AC3E}">
        <p14:creationId xmlns:p14="http://schemas.microsoft.com/office/powerpoint/2010/main" val="257480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878CC-7170-BFFF-4FFE-829C0C6E3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41D45-1982-F992-F34E-F9DB4451041A}"/>
              </a:ext>
            </a:extLst>
          </p:cNvPr>
          <p:cNvSpPr>
            <a:spLocks noGrp="1"/>
          </p:cNvSpPr>
          <p:nvPr>
            <p:ph type="title"/>
          </p:nvPr>
        </p:nvSpPr>
        <p:spPr/>
        <p:txBody>
          <a:bodyPr/>
          <a:lstStyle/>
          <a:p>
            <a:r>
              <a:rPr lang="en-US" dirty="0"/>
              <a:t>The Great Recession</a:t>
            </a:r>
          </a:p>
        </p:txBody>
      </p:sp>
      <p:pic>
        <p:nvPicPr>
          <p:cNvPr id="8" name="Online Media 7" title="How it Happened - The 2008 Financial Crisis: Crash Course Economics #12">
            <a:hlinkClick r:id="" action="ppaction://media"/>
            <a:extLst>
              <a:ext uri="{FF2B5EF4-FFF2-40B4-BE49-F238E27FC236}">
                <a16:creationId xmlns:a16="http://schemas.microsoft.com/office/drawing/2014/main" id="{4FF6F57D-E2D3-5EBE-A259-D66513072F58}"/>
              </a:ext>
            </a:extLst>
          </p:cNvPr>
          <p:cNvPicPr>
            <a:picLocks noGrp="1" noRot="1" noChangeAspect="1"/>
          </p:cNvPicPr>
          <p:nvPr>
            <p:ph idx="1"/>
            <a:videoFile r:link="rId1"/>
          </p:nvPr>
        </p:nvPicPr>
        <p:blipFill>
          <a:blip r:embed="rId3"/>
          <a:stretch>
            <a:fillRect/>
          </a:stretch>
        </p:blipFill>
        <p:spPr>
          <a:xfrm>
            <a:off x="720725" y="1825625"/>
            <a:ext cx="7702550" cy="4351338"/>
          </a:xfrm>
          <a:prstGeom prst="rect">
            <a:avLst/>
          </a:prstGeom>
        </p:spPr>
      </p:pic>
      <p:sp>
        <p:nvSpPr>
          <p:cNvPr id="4" name="Date Placeholder 3">
            <a:extLst>
              <a:ext uri="{FF2B5EF4-FFF2-40B4-BE49-F238E27FC236}">
                <a16:creationId xmlns:a16="http://schemas.microsoft.com/office/drawing/2014/main" id="{5D20196A-CEC0-4E20-5B78-891228825976}"/>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0139C55D-109C-2001-690D-46411504DBE2}"/>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BAC47F85-6B7F-B526-5392-9720888F578D}"/>
              </a:ext>
            </a:extLst>
          </p:cNvPr>
          <p:cNvSpPr>
            <a:spLocks noGrp="1"/>
          </p:cNvSpPr>
          <p:nvPr>
            <p:ph type="sldNum" sz="quarter" idx="12"/>
          </p:nvPr>
        </p:nvSpPr>
        <p:spPr/>
        <p:txBody>
          <a:bodyPr/>
          <a:lstStyle/>
          <a:p>
            <a:fld id="{1A980C56-831A-4EAB-9EDE-57C090F4F877}" type="slidenum">
              <a:rPr lang="en-US" smtClean="0"/>
              <a:t>24</a:t>
            </a:fld>
            <a:endParaRPr lang="en-US" dirty="0"/>
          </a:p>
        </p:txBody>
      </p:sp>
    </p:spTree>
    <p:extLst>
      <p:ext uri="{BB962C8B-B14F-4D97-AF65-F5344CB8AC3E}">
        <p14:creationId xmlns:p14="http://schemas.microsoft.com/office/powerpoint/2010/main" val="136427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961A-E097-281A-4B19-E6C8523BD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026AC-6EE7-9764-63C1-ED57BE6F67E2}"/>
              </a:ext>
            </a:extLst>
          </p:cNvPr>
          <p:cNvSpPr>
            <a:spLocks noGrp="1"/>
          </p:cNvSpPr>
          <p:nvPr>
            <p:ph type="title"/>
          </p:nvPr>
        </p:nvSpPr>
        <p:spPr/>
        <p:txBody>
          <a:bodyPr/>
          <a:lstStyle/>
          <a:p>
            <a:r>
              <a:rPr lang="en-US" dirty="0"/>
              <a:t>The Great Recession</a:t>
            </a:r>
          </a:p>
        </p:txBody>
      </p:sp>
      <p:sp>
        <p:nvSpPr>
          <p:cNvPr id="3" name="Content Placeholder 2">
            <a:extLst>
              <a:ext uri="{FF2B5EF4-FFF2-40B4-BE49-F238E27FC236}">
                <a16:creationId xmlns:a16="http://schemas.microsoft.com/office/drawing/2014/main" id="{C4A43FBA-1913-BEF6-4C40-59248E689FDC}"/>
              </a:ext>
            </a:extLst>
          </p:cNvPr>
          <p:cNvSpPr>
            <a:spLocks noGrp="1"/>
          </p:cNvSpPr>
          <p:nvPr>
            <p:ph idx="1"/>
          </p:nvPr>
        </p:nvSpPr>
        <p:spPr>
          <a:xfrm>
            <a:off x="628649" y="1825625"/>
            <a:ext cx="7953376" cy="4351338"/>
          </a:xfrm>
        </p:spPr>
        <p:txBody>
          <a:bodyPr>
            <a:normAutofit/>
          </a:bodyPr>
          <a:lstStyle/>
          <a:p>
            <a:r>
              <a:rPr lang="en-US" dirty="0"/>
              <a:t>As the economy fell deeper into a financial crisis, interest rates increased while consumer / producer confidence dropped sharply.</a:t>
            </a:r>
          </a:p>
          <a:p>
            <a:pPr lvl="3"/>
            <a:endParaRPr lang="en-US" dirty="0"/>
          </a:p>
          <a:p>
            <a:r>
              <a:rPr lang="en-US" dirty="0"/>
              <a:t>Due to the higher cost of borrowing and lower confidence in the economy, the demand for goods also dropped.</a:t>
            </a:r>
          </a:p>
          <a:p>
            <a:pPr marL="1371600" lvl="3" indent="0">
              <a:buNone/>
            </a:pPr>
            <a:endParaRPr lang="en-US" dirty="0"/>
          </a:p>
          <a:p>
            <a:r>
              <a:rPr lang="en-US" dirty="0"/>
              <a:t>In the IS-LM Framework, this translates to the IS curve shifting to the left.</a:t>
            </a:r>
          </a:p>
          <a:p>
            <a:pPr lvl="3"/>
            <a:endParaRPr lang="en-US" dirty="0"/>
          </a:p>
          <a:p>
            <a:r>
              <a:rPr lang="en-US" dirty="0"/>
              <a:t>Both the Fed and the government conducted expansionary policies as a reaction to the crisis.</a:t>
            </a:r>
          </a:p>
        </p:txBody>
      </p:sp>
      <p:sp>
        <p:nvSpPr>
          <p:cNvPr id="4" name="Date Placeholder 3">
            <a:extLst>
              <a:ext uri="{FF2B5EF4-FFF2-40B4-BE49-F238E27FC236}">
                <a16:creationId xmlns:a16="http://schemas.microsoft.com/office/drawing/2014/main" id="{0A34D2DC-BCAA-A4C9-BC06-B9A573D464CF}"/>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A7412D05-742A-A2BF-B6E7-53616047F22D}"/>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D780514A-FAE1-5D8F-6048-96611694159A}"/>
              </a:ext>
            </a:extLst>
          </p:cNvPr>
          <p:cNvSpPr>
            <a:spLocks noGrp="1"/>
          </p:cNvSpPr>
          <p:nvPr>
            <p:ph type="sldNum" sz="quarter" idx="12"/>
          </p:nvPr>
        </p:nvSpPr>
        <p:spPr/>
        <p:txBody>
          <a:bodyPr/>
          <a:lstStyle/>
          <a:p>
            <a:fld id="{1A980C56-831A-4EAB-9EDE-57C090F4F877}" type="slidenum">
              <a:rPr lang="en-US" smtClean="0"/>
              <a:t>25</a:t>
            </a:fld>
            <a:endParaRPr lang="en-US" dirty="0"/>
          </a:p>
        </p:txBody>
      </p:sp>
    </p:spTree>
    <p:extLst>
      <p:ext uri="{BB962C8B-B14F-4D97-AF65-F5344CB8AC3E}">
        <p14:creationId xmlns:p14="http://schemas.microsoft.com/office/powerpoint/2010/main" val="315442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31827-9FDC-4C4B-A863-3EFF132F3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89043-28E4-AA6F-0796-40F0C00CFF96}"/>
              </a:ext>
            </a:extLst>
          </p:cNvPr>
          <p:cNvSpPr>
            <a:spLocks noGrp="1"/>
          </p:cNvSpPr>
          <p:nvPr>
            <p:ph type="title"/>
          </p:nvPr>
        </p:nvSpPr>
        <p:spPr/>
        <p:txBody>
          <a:bodyPr/>
          <a:lstStyle/>
          <a:p>
            <a:r>
              <a:rPr lang="en-US" dirty="0"/>
              <a:t>The Great Recession: The Scope</a:t>
            </a:r>
          </a:p>
        </p:txBody>
      </p:sp>
      <p:sp>
        <p:nvSpPr>
          <p:cNvPr id="4" name="Date Placeholder 3">
            <a:extLst>
              <a:ext uri="{FF2B5EF4-FFF2-40B4-BE49-F238E27FC236}">
                <a16:creationId xmlns:a16="http://schemas.microsoft.com/office/drawing/2014/main" id="{46D76637-41E8-B2A4-B6C1-24C9A7B1E9F2}"/>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EC5B0ECD-0699-DBE6-8193-1CC523F38399}"/>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1D6EA7F9-78E8-2F59-8382-6F2BC13A5B61}"/>
              </a:ext>
            </a:extLst>
          </p:cNvPr>
          <p:cNvSpPr>
            <a:spLocks noGrp="1"/>
          </p:cNvSpPr>
          <p:nvPr>
            <p:ph type="sldNum" sz="quarter" idx="12"/>
          </p:nvPr>
        </p:nvSpPr>
        <p:spPr/>
        <p:txBody>
          <a:bodyPr/>
          <a:lstStyle/>
          <a:p>
            <a:fld id="{1A980C56-831A-4EAB-9EDE-57C090F4F877}" type="slidenum">
              <a:rPr lang="en-US" smtClean="0"/>
              <a:t>26</a:t>
            </a:fld>
            <a:endParaRPr lang="en-US" dirty="0"/>
          </a:p>
        </p:txBody>
      </p:sp>
      <p:pic>
        <p:nvPicPr>
          <p:cNvPr id="10" name="Content Placeholder 9" descr="A graph showing the growth of the market&#10;&#10;Description automatically generated with medium confidence">
            <a:extLst>
              <a:ext uri="{FF2B5EF4-FFF2-40B4-BE49-F238E27FC236}">
                <a16:creationId xmlns:a16="http://schemas.microsoft.com/office/drawing/2014/main" id="{B8A8A002-FAE5-1617-5B9F-32F4F025C7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858169"/>
            <a:ext cx="7620000" cy="4286250"/>
          </a:xfrm>
        </p:spPr>
      </p:pic>
    </p:spTree>
    <p:extLst>
      <p:ext uri="{BB962C8B-B14F-4D97-AF65-F5344CB8AC3E}">
        <p14:creationId xmlns:p14="http://schemas.microsoft.com/office/powerpoint/2010/main" val="3655859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E09D9-EFDC-42BD-A6F4-CD2B3DDB2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533DE-0311-54FE-598A-4078C9F4B878}"/>
              </a:ext>
            </a:extLst>
          </p:cNvPr>
          <p:cNvSpPr>
            <a:spLocks noGrp="1"/>
          </p:cNvSpPr>
          <p:nvPr>
            <p:ph type="title"/>
          </p:nvPr>
        </p:nvSpPr>
        <p:spPr/>
        <p:txBody>
          <a:bodyPr/>
          <a:lstStyle/>
          <a:p>
            <a:r>
              <a:rPr lang="en-US" dirty="0"/>
              <a:t>The Great Recession: Responses</a:t>
            </a:r>
          </a:p>
        </p:txBody>
      </p:sp>
      <p:pic>
        <p:nvPicPr>
          <p:cNvPr id="8" name="Content Placeholder 7" descr="A graph showing the growth of the federal funds&#10;&#10;Description automatically generated">
            <a:extLst>
              <a:ext uri="{FF2B5EF4-FFF2-40B4-BE49-F238E27FC236}">
                <a16:creationId xmlns:a16="http://schemas.microsoft.com/office/drawing/2014/main" id="{61549743-1FEC-CBE1-39C4-BD725F25BC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5337" y="1858169"/>
            <a:ext cx="7620000" cy="4286250"/>
          </a:xfrm>
        </p:spPr>
      </p:pic>
      <p:sp>
        <p:nvSpPr>
          <p:cNvPr id="4" name="Date Placeholder 3">
            <a:extLst>
              <a:ext uri="{FF2B5EF4-FFF2-40B4-BE49-F238E27FC236}">
                <a16:creationId xmlns:a16="http://schemas.microsoft.com/office/drawing/2014/main" id="{D89B5C84-AE9B-3CBA-5CCB-46865D9CAA6E}"/>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7FA4CB4F-A0F9-82A5-92E4-A6A97ADF8463}"/>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77137206-919E-6B9A-A4B3-6221D2EBCD09}"/>
              </a:ext>
            </a:extLst>
          </p:cNvPr>
          <p:cNvSpPr>
            <a:spLocks noGrp="1"/>
          </p:cNvSpPr>
          <p:nvPr>
            <p:ph type="sldNum" sz="quarter" idx="12"/>
          </p:nvPr>
        </p:nvSpPr>
        <p:spPr/>
        <p:txBody>
          <a:bodyPr/>
          <a:lstStyle/>
          <a:p>
            <a:fld id="{1A980C56-831A-4EAB-9EDE-57C090F4F877}" type="slidenum">
              <a:rPr lang="en-US" smtClean="0"/>
              <a:t>27</a:t>
            </a:fld>
            <a:endParaRPr lang="en-US" dirty="0"/>
          </a:p>
        </p:txBody>
      </p:sp>
    </p:spTree>
    <p:extLst>
      <p:ext uri="{BB962C8B-B14F-4D97-AF65-F5344CB8AC3E}">
        <p14:creationId xmlns:p14="http://schemas.microsoft.com/office/powerpoint/2010/main" val="4202150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AB94A-EE7F-1333-06E7-C727B2F4C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A178F-8E55-AAC2-6133-63272311C621}"/>
              </a:ext>
            </a:extLst>
          </p:cNvPr>
          <p:cNvSpPr>
            <a:spLocks noGrp="1"/>
          </p:cNvSpPr>
          <p:nvPr>
            <p:ph type="title"/>
          </p:nvPr>
        </p:nvSpPr>
        <p:spPr/>
        <p:txBody>
          <a:bodyPr/>
          <a:lstStyle/>
          <a:p>
            <a:r>
              <a:rPr lang="en-US" dirty="0"/>
              <a:t>The Great Recession: Responses</a:t>
            </a:r>
          </a:p>
        </p:txBody>
      </p:sp>
      <p:sp>
        <p:nvSpPr>
          <p:cNvPr id="4" name="Date Placeholder 3">
            <a:extLst>
              <a:ext uri="{FF2B5EF4-FFF2-40B4-BE49-F238E27FC236}">
                <a16:creationId xmlns:a16="http://schemas.microsoft.com/office/drawing/2014/main" id="{D9917EC5-D38E-5A47-D702-41F0BB94291F}"/>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4CB6188C-B7A7-7AE9-B5F4-17CC1A682612}"/>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98FEE5BB-D0D6-9716-6827-22EC95D6DF4D}"/>
              </a:ext>
            </a:extLst>
          </p:cNvPr>
          <p:cNvSpPr>
            <a:spLocks noGrp="1"/>
          </p:cNvSpPr>
          <p:nvPr>
            <p:ph type="sldNum" sz="quarter" idx="12"/>
          </p:nvPr>
        </p:nvSpPr>
        <p:spPr/>
        <p:txBody>
          <a:bodyPr/>
          <a:lstStyle/>
          <a:p>
            <a:fld id="{1A980C56-831A-4EAB-9EDE-57C090F4F877}" type="slidenum">
              <a:rPr lang="en-US" smtClean="0"/>
              <a:t>28</a:t>
            </a:fld>
            <a:endParaRPr lang="en-US" dirty="0"/>
          </a:p>
        </p:txBody>
      </p:sp>
      <p:pic>
        <p:nvPicPr>
          <p:cNvPr id="10" name="Content Placeholder 9" descr="A graph showing the growth of a product&#10;&#10;Description automatically generated">
            <a:extLst>
              <a:ext uri="{FF2B5EF4-FFF2-40B4-BE49-F238E27FC236}">
                <a16:creationId xmlns:a16="http://schemas.microsoft.com/office/drawing/2014/main" id="{87CFB36A-CA21-1073-75AC-F5C788650F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858169"/>
            <a:ext cx="7620000" cy="4286250"/>
          </a:xfrm>
        </p:spPr>
      </p:pic>
    </p:spTree>
    <p:extLst>
      <p:ext uri="{BB962C8B-B14F-4D97-AF65-F5344CB8AC3E}">
        <p14:creationId xmlns:p14="http://schemas.microsoft.com/office/powerpoint/2010/main" val="2920277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2466F-AA1D-BECA-D6F5-30A20398E817}"/>
            </a:ext>
          </a:extLst>
        </p:cNvPr>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A27F84B5-1667-CD23-F065-DA90CFC08128}"/>
              </a:ext>
            </a:extLst>
          </p:cNvPr>
          <p:cNvCxnSpPr>
            <a:cxnSpLocks/>
          </p:cNvCxnSpPr>
          <p:nvPr/>
        </p:nvCxnSpPr>
        <p:spPr>
          <a:xfrm flipV="1">
            <a:off x="828028" y="4026617"/>
            <a:ext cx="3621867" cy="29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2D6F3D7-B7B2-8779-01A0-668194510BF4}"/>
              </a:ext>
            </a:extLst>
          </p:cNvPr>
          <p:cNvSpPr>
            <a:spLocks noGrp="1"/>
          </p:cNvSpPr>
          <p:nvPr>
            <p:ph type="title"/>
          </p:nvPr>
        </p:nvSpPr>
        <p:spPr/>
        <p:txBody>
          <a:bodyPr/>
          <a:lstStyle/>
          <a:p>
            <a:r>
              <a:rPr lang="en-US" dirty="0"/>
              <a:t>The Great Recession: Responses</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53FB83EF-FCA4-5FEE-0A97-6B54D1D0F298}"/>
                  </a:ext>
                </a:extLst>
              </p:cNvPr>
              <p:cNvSpPr>
                <a:spLocks noGrp="1"/>
              </p:cNvSpPr>
              <p:nvPr>
                <p:ph sz="half" idx="2"/>
              </p:nvPr>
            </p:nvSpPr>
            <p:spPr>
              <a:xfrm>
                <a:off x="4629149" y="1825625"/>
                <a:ext cx="4040088" cy="4351338"/>
              </a:xfrm>
            </p:spPr>
            <p:txBody>
              <a:bodyPr>
                <a:normAutofit/>
              </a:bodyPr>
              <a:lstStyle/>
              <a:p>
                <a:r>
                  <a:rPr lang="en-US" dirty="0"/>
                  <a:t>Monetary Policy:</a:t>
                </a:r>
              </a:p>
              <a:p>
                <a:pPr lvl="1"/>
                <a:r>
                  <a:rPr lang="en-US" dirty="0"/>
                  <a:t>Conventional method of lowering interest rates.</a:t>
                </a:r>
              </a:p>
              <a:p>
                <a:pPr lvl="1"/>
                <a:r>
                  <a:rPr lang="en-US" dirty="0"/>
                  <a:t>“Unconventional methods” to reduce uncertainty.</a:t>
                </a:r>
              </a:p>
              <a:p>
                <a:pPr lvl="1"/>
                <a:r>
                  <a:rPr lang="en-US" dirty="0"/>
                  <a:t>Shifts the LM curve down from </a:t>
                </a:r>
                <a14:m>
                  <m:oMath xmlns:m="http://schemas.openxmlformats.org/officeDocument/2006/math">
                    <m:r>
                      <a:rPr lang="en-US" i="1" dirty="0" smtClean="0">
                        <a:latin typeface="Cambria Math" panose="02040503050406030204" pitchFamily="18" charset="0"/>
                      </a:rPr>
                      <m:t>𝐿𝑀</m:t>
                    </m:r>
                  </m:oMath>
                </a14:m>
                <a:r>
                  <a:rPr lang="en-US" dirty="0"/>
                  <a:t> to </a:t>
                </a:r>
                <a14:m>
                  <m:oMath xmlns:m="http://schemas.openxmlformats.org/officeDocument/2006/math">
                    <m:r>
                      <a:rPr lang="en-US" i="1" dirty="0" smtClean="0">
                        <a:latin typeface="Cambria Math" panose="02040503050406030204" pitchFamily="18" charset="0"/>
                      </a:rPr>
                      <m:t>𝐿</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𝑀</m:t>
                        </m:r>
                      </m:e>
                      <m:sup>
                        <m:r>
                          <a:rPr lang="en-US" b="0" i="1" dirty="0" smtClean="0">
                            <a:latin typeface="Cambria Math" panose="02040503050406030204" pitchFamily="18" charset="0"/>
                          </a:rPr>
                          <m:t>′</m:t>
                        </m:r>
                      </m:sup>
                    </m:sSup>
                  </m:oMath>
                </a14:m>
                <a:r>
                  <a:rPr lang="en-US" dirty="0"/>
                  <a:t>.</a:t>
                </a:r>
              </a:p>
              <a:p>
                <a:pPr lvl="3"/>
                <a:endParaRPr lang="en-US" dirty="0"/>
              </a:p>
              <a:p>
                <a:r>
                  <a:rPr lang="en-US" dirty="0"/>
                  <a:t>Fiscal Policy:</a:t>
                </a:r>
              </a:p>
              <a:p>
                <a:pPr lvl="1"/>
                <a:r>
                  <a:rPr lang="en-US" dirty="0"/>
                  <a:t>“American Recovery and Reinvestment Act” ($780B)</a:t>
                </a:r>
              </a:p>
              <a:p>
                <a:pPr lvl="1"/>
                <a:r>
                  <a:rPr lang="en-US" dirty="0"/>
                  <a:t>Shifts the IS curve to the right from </a:t>
                </a:r>
                <a14:m>
                  <m:oMath xmlns:m="http://schemas.openxmlformats.org/officeDocument/2006/math">
                    <m:r>
                      <a:rPr lang="en-US" i="1" dirty="0" smtClean="0">
                        <a:latin typeface="Cambria Math" panose="02040503050406030204" pitchFamily="18" charset="0"/>
                      </a:rPr>
                      <m:t>𝐼</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𝑆</m:t>
                        </m:r>
                      </m:e>
                      <m:sup>
                        <m:r>
                          <a:rPr lang="en-US" b="0" i="1" dirty="0" smtClean="0">
                            <a:latin typeface="Cambria Math" panose="02040503050406030204" pitchFamily="18" charset="0"/>
                          </a:rPr>
                          <m:t>′</m:t>
                        </m:r>
                      </m:sup>
                    </m:sSup>
                  </m:oMath>
                </a14:m>
                <a:r>
                  <a:rPr lang="en-US" dirty="0"/>
                  <a:t> to </a:t>
                </a:r>
                <a14:m>
                  <m:oMath xmlns:m="http://schemas.openxmlformats.org/officeDocument/2006/math">
                    <m:r>
                      <a:rPr lang="en-US" i="1" dirty="0" smtClean="0">
                        <a:latin typeface="Cambria Math" panose="02040503050406030204" pitchFamily="18" charset="0"/>
                      </a:rPr>
                      <m:t>𝐼</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𝑆</m:t>
                        </m:r>
                      </m:e>
                      <m:sup>
                        <m:r>
                          <a:rPr lang="en-US" b="0" i="1" dirty="0" smtClean="0">
                            <a:latin typeface="Cambria Math" panose="02040503050406030204" pitchFamily="18" charset="0"/>
                          </a:rPr>
                          <m:t>′′</m:t>
                        </m:r>
                      </m:sup>
                    </m:sSup>
                  </m:oMath>
                </a14:m>
                <a:r>
                  <a:rPr lang="en-US" dirty="0"/>
                  <a:t>.</a:t>
                </a:r>
              </a:p>
            </p:txBody>
          </p:sp>
        </mc:Choice>
        <mc:Fallback>
          <p:sp>
            <p:nvSpPr>
              <p:cNvPr id="4" name="Content Placeholder 3">
                <a:extLst>
                  <a:ext uri="{FF2B5EF4-FFF2-40B4-BE49-F238E27FC236}">
                    <a16:creationId xmlns:a16="http://schemas.microsoft.com/office/drawing/2014/main" id="{53FB83EF-FCA4-5FEE-0A97-6B54D1D0F298}"/>
                  </a:ext>
                </a:extLst>
              </p:cNvPr>
              <p:cNvSpPr>
                <a:spLocks noGrp="1" noRot="1" noChangeAspect="1" noMove="1" noResize="1" noEditPoints="1" noAdjustHandles="1" noChangeArrowheads="1" noChangeShapeType="1" noTextEdit="1"/>
              </p:cNvSpPr>
              <p:nvPr>
                <p:ph sz="half" idx="2"/>
              </p:nvPr>
            </p:nvSpPr>
            <p:spPr>
              <a:xfrm>
                <a:off x="4629149" y="1825625"/>
                <a:ext cx="4040088" cy="4351338"/>
              </a:xfrm>
              <a:blipFill>
                <a:blip r:embed="rId3"/>
                <a:stretch>
                  <a:fillRect l="-1961" t="-1821" r="-2112"/>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A1989579-EA66-6F44-0539-E3AD829F016C}"/>
              </a:ext>
            </a:extLst>
          </p:cNvPr>
          <p:cNvSpPr>
            <a:spLocks noGrp="1"/>
          </p:cNvSpPr>
          <p:nvPr>
            <p:ph type="dt" sz="half" idx="10"/>
          </p:nvPr>
        </p:nvSpPr>
        <p:spPr/>
        <p:txBody>
          <a:bodyPr/>
          <a:lstStyle/>
          <a:p>
            <a:r>
              <a:rPr lang="en-US"/>
              <a:t>Spring 2024</a:t>
            </a:r>
            <a:endParaRPr lang="en-US" dirty="0"/>
          </a:p>
        </p:txBody>
      </p:sp>
      <p:sp>
        <p:nvSpPr>
          <p:cNvPr id="6" name="Footer Placeholder 5">
            <a:extLst>
              <a:ext uri="{FF2B5EF4-FFF2-40B4-BE49-F238E27FC236}">
                <a16:creationId xmlns:a16="http://schemas.microsoft.com/office/drawing/2014/main" id="{9C9AD72C-2208-EF3E-748C-030B911846EF}"/>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51BCD92A-CCD0-E67B-3B11-7DF518B5A0EF}"/>
              </a:ext>
            </a:extLst>
          </p:cNvPr>
          <p:cNvSpPr>
            <a:spLocks noGrp="1"/>
          </p:cNvSpPr>
          <p:nvPr>
            <p:ph type="sldNum" sz="quarter" idx="12"/>
          </p:nvPr>
        </p:nvSpPr>
        <p:spPr/>
        <p:txBody>
          <a:bodyPr/>
          <a:lstStyle/>
          <a:p>
            <a:fld id="{1A980C56-831A-4EAB-9EDE-57C090F4F877}" type="slidenum">
              <a:rPr lang="en-US" smtClean="0"/>
              <a:t>29</a:t>
            </a:fld>
            <a:endParaRPr lang="en-US" dirty="0"/>
          </a:p>
        </p:txBody>
      </p:sp>
      <p:cxnSp>
        <p:nvCxnSpPr>
          <p:cNvPr id="12" name="Straight Arrow Connector 11">
            <a:extLst>
              <a:ext uri="{FF2B5EF4-FFF2-40B4-BE49-F238E27FC236}">
                <a16:creationId xmlns:a16="http://schemas.microsoft.com/office/drawing/2014/main" id="{6C6D671B-5183-57EC-6A09-C75C555AA3A8}"/>
              </a:ext>
            </a:extLst>
          </p:cNvPr>
          <p:cNvCxnSpPr/>
          <p:nvPr/>
        </p:nvCxnSpPr>
        <p:spPr>
          <a:xfrm>
            <a:off x="628650" y="5031937"/>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711B153-24EC-436F-447B-CE469B0D4507}"/>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1BA64EE-C42E-8D5E-ED13-AD5010104441}"/>
              </a:ext>
            </a:extLst>
          </p:cNvPr>
          <p:cNvSpPr txBox="1"/>
          <p:nvPr/>
        </p:nvSpPr>
        <p:spPr>
          <a:xfrm>
            <a:off x="3837111" y="4745893"/>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38646B3A-93F6-0FE3-67A1-02C82DC2D7D5}"/>
              </a:ext>
            </a:extLst>
          </p:cNvPr>
          <p:cNvSpPr txBox="1"/>
          <p:nvPr/>
        </p:nvSpPr>
        <p:spPr>
          <a:xfrm rot="16200000">
            <a:off x="-108764" y="2590935"/>
            <a:ext cx="1474827" cy="307777"/>
          </a:xfrm>
          <a:prstGeom prst="rect">
            <a:avLst/>
          </a:prstGeom>
          <a:noFill/>
        </p:spPr>
        <p:txBody>
          <a:bodyPr wrap="none" rtlCol="0">
            <a:spAutoFit/>
          </a:bodyPr>
          <a:lstStyle/>
          <a:p>
            <a:r>
              <a:rPr lang="en-US" sz="1400" dirty="0"/>
              <a:t>Real Interest Rate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8331E72-664A-C685-7320-D1086DF65914}"/>
                  </a:ext>
                </a:extLst>
              </p:cNvPr>
              <p:cNvSpPr txBox="1"/>
              <p:nvPr/>
            </p:nvSpPr>
            <p:spPr>
              <a:xfrm>
                <a:off x="4125365" y="3711823"/>
                <a:ext cx="47756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𝐿𝑀</m:t>
                      </m:r>
                    </m:oMath>
                  </m:oMathPara>
                </a14:m>
                <a:endParaRPr lang="en-US" sz="1400" dirty="0">
                  <a:solidFill>
                    <a:srgbClr val="C00000"/>
                  </a:solidFill>
                </a:endParaRPr>
              </a:p>
            </p:txBody>
          </p:sp>
        </mc:Choice>
        <mc:Fallback xmlns="">
          <p:sp>
            <p:nvSpPr>
              <p:cNvPr id="20" name="TextBox 19">
                <a:extLst>
                  <a:ext uri="{FF2B5EF4-FFF2-40B4-BE49-F238E27FC236}">
                    <a16:creationId xmlns:a16="http://schemas.microsoft.com/office/drawing/2014/main" id="{3FFFDE51-7D5B-DDBC-38DC-C6FD45F7A333}"/>
                  </a:ext>
                </a:extLst>
              </p:cNvPr>
              <p:cNvSpPr txBox="1">
                <a:spLocks noRot="1" noChangeAspect="1" noMove="1" noResize="1" noEditPoints="1" noAdjustHandles="1" noChangeArrowheads="1" noChangeShapeType="1" noTextEdit="1"/>
              </p:cNvSpPr>
              <p:nvPr/>
            </p:nvSpPr>
            <p:spPr>
              <a:xfrm>
                <a:off x="4125365" y="3711823"/>
                <a:ext cx="477567"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57DF03D8-37B6-6271-7670-D51F2BC97850}"/>
                  </a:ext>
                </a:extLst>
              </p:cNvPr>
              <p:cNvSpPr txBox="1"/>
              <p:nvPr/>
            </p:nvSpPr>
            <p:spPr>
              <a:xfrm>
                <a:off x="360019" y="3853354"/>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𝑟</m:t>
                          </m:r>
                        </m:e>
                      </m:acc>
                    </m:oMath>
                  </m:oMathPara>
                </a14:m>
                <a:endParaRPr lang="en-US" dirty="0">
                  <a:solidFill>
                    <a:schemeClr val="tx1"/>
                  </a:solidFill>
                </a:endParaRPr>
              </a:p>
            </p:txBody>
          </p:sp>
        </mc:Choice>
        <mc:Fallback>
          <p:sp>
            <p:nvSpPr>
              <p:cNvPr id="24" name="TextBox 23">
                <a:extLst>
                  <a:ext uri="{FF2B5EF4-FFF2-40B4-BE49-F238E27FC236}">
                    <a16:creationId xmlns:a16="http://schemas.microsoft.com/office/drawing/2014/main" id="{57DF03D8-37B6-6271-7670-D51F2BC97850}"/>
                  </a:ext>
                </a:extLst>
              </p:cNvPr>
              <p:cNvSpPr txBox="1">
                <a:spLocks noRot="1" noChangeAspect="1" noMove="1" noResize="1" noEditPoints="1" noAdjustHandles="1" noChangeArrowheads="1" noChangeShapeType="1" noTextEdit="1"/>
              </p:cNvSpPr>
              <p:nvPr/>
            </p:nvSpPr>
            <p:spPr>
              <a:xfrm>
                <a:off x="360019" y="3853354"/>
                <a:ext cx="291136" cy="369332"/>
              </a:xfrm>
              <a:prstGeom prst="rect">
                <a:avLst/>
              </a:prstGeom>
              <a:blipFill>
                <a:blip r:embed="rId5"/>
                <a:stretch>
                  <a:fillRect r="-16667"/>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D362CE6F-BBB0-528B-566C-23CF5F6D4DED}"/>
              </a:ext>
            </a:extLst>
          </p:cNvPr>
          <p:cNvCxnSpPr>
            <a:cxnSpLocks/>
          </p:cNvCxnSpPr>
          <p:nvPr/>
        </p:nvCxnSpPr>
        <p:spPr>
          <a:xfrm rot="16200000">
            <a:off x="793984" y="399229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8261C5B7-9028-A194-0799-E1360F4E1398}"/>
              </a:ext>
            </a:extLst>
          </p:cNvPr>
          <p:cNvSpPr/>
          <p:nvPr/>
        </p:nvSpPr>
        <p:spPr>
          <a:xfrm>
            <a:off x="1490807" y="2379811"/>
            <a:ext cx="2971800" cy="29718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1A44237D-79A1-6581-60A6-EBFC83545107}"/>
                  </a:ext>
                </a:extLst>
              </p:cNvPr>
              <p:cNvSpPr txBox="1"/>
              <p:nvPr/>
            </p:nvSpPr>
            <p:spPr>
              <a:xfrm>
                <a:off x="4188773" y="5298802"/>
                <a:ext cx="3901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𝐼𝑆</m:t>
                      </m:r>
                    </m:oMath>
                  </m:oMathPara>
                </a14:m>
                <a:endParaRPr lang="en-US" sz="1400" dirty="0">
                  <a:solidFill>
                    <a:srgbClr val="00B0F0"/>
                  </a:solidFill>
                </a:endParaRPr>
              </a:p>
            </p:txBody>
          </p:sp>
        </mc:Choice>
        <mc:Fallback>
          <p:sp>
            <p:nvSpPr>
              <p:cNvPr id="21" name="TextBox 20">
                <a:extLst>
                  <a:ext uri="{FF2B5EF4-FFF2-40B4-BE49-F238E27FC236}">
                    <a16:creationId xmlns:a16="http://schemas.microsoft.com/office/drawing/2014/main" id="{1A44237D-79A1-6581-60A6-EBFC83545107}"/>
                  </a:ext>
                </a:extLst>
              </p:cNvPr>
              <p:cNvSpPr txBox="1">
                <a:spLocks noRot="1" noChangeAspect="1" noMove="1" noResize="1" noEditPoints="1" noAdjustHandles="1" noChangeArrowheads="1" noChangeShapeType="1" noTextEdit="1"/>
              </p:cNvSpPr>
              <p:nvPr/>
            </p:nvSpPr>
            <p:spPr>
              <a:xfrm>
                <a:off x="4188773" y="5298802"/>
                <a:ext cx="390171" cy="307777"/>
              </a:xfrm>
              <a:prstGeom prst="rect">
                <a:avLst/>
              </a:prstGeom>
              <a:blipFill>
                <a:blip r:embed="rId6"/>
                <a:stretch>
                  <a:fillRect/>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3A38370A-9F13-2910-49A5-E8902D32E34E}"/>
              </a:ext>
            </a:extLst>
          </p:cNvPr>
          <p:cNvSpPr/>
          <p:nvPr/>
        </p:nvSpPr>
        <p:spPr>
          <a:xfrm>
            <a:off x="2493177" y="3989763"/>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945C5BBF-1181-C1CD-DF6E-2A08931093E5}"/>
              </a:ext>
            </a:extLst>
          </p:cNvPr>
          <p:cNvCxnSpPr/>
          <p:nvPr/>
        </p:nvCxnSpPr>
        <p:spPr>
          <a:xfrm>
            <a:off x="2530795" y="5001072"/>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CEB1937C-1CC0-2C8D-9C23-AD2833A970DA}"/>
                  </a:ext>
                </a:extLst>
              </p:cNvPr>
              <p:cNvSpPr txBox="1"/>
              <p:nvPr/>
            </p:nvSpPr>
            <p:spPr>
              <a:xfrm>
                <a:off x="2471318" y="4998662"/>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29" name="TextBox 28">
                <a:extLst>
                  <a:ext uri="{FF2B5EF4-FFF2-40B4-BE49-F238E27FC236}">
                    <a16:creationId xmlns:a16="http://schemas.microsoft.com/office/drawing/2014/main" id="{CEB1937C-1CC0-2C8D-9C23-AD2833A970DA}"/>
                  </a:ext>
                </a:extLst>
              </p:cNvPr>
              <p:cNvSpPr txBox="1">
                <a:spLocks noRot="1" noChangeAspect="1" noMove="1" noResize="1" noEditPoints="1" noAdjustHandles="1" noChangeArrowheads="1" noChangeShapeType="1" noTextEdit="1"/>
              </p:cNvSpPr>
              <p:nvPr/>
            </p:nvSpPr>
            <p:spPr>
              <a:xfrm>
                <a:off x="2471318" y="4998662"/>
                <a:ext cx="336188" cy="33855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666CC6A-32A8-22A7-0551-1CD5BBA88F53}"/>
                  </a:ext>
                </a:extLst>
              </p:cNvPr>
              <p:cNvSpPr txBox="1"/>
              <p:nvPr/>
            </p:nvSpPr>
            <p:spPr>
              <a:xfrm>
                <a:off x="2464602" y="3687784"/>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p:sp>
            <p:nvSpPr>
              <p:cNvPr id="3" name="TextBox 2">
                <a:extLst>
                  <a:ext uri="{FF2B5EF4-FFF2-40B4-BE49-F238E27FC236}">
                    <a16:creationId xmlns:a16="http://schemas.microsoft.com/office/drawing/2014/main" id="{6666CC6A-32A8-22A7-0551-1CD5BBA88F53}"/>
                  </a:ext>
                </a:extLst>
              </p:cNvPr>
              <p:cNvSpPr txBox="1">
                <a:spLocks noRot="1" noChangeAspect="1" noMove="1" noResize="1" noEditPoints="1" noAdjustHandles="1" noChangeArrowheads="1" noChangeShapeType="1" noTextEdit="1"/>
              </p:cNvSpPr>
              <p:nvPr/>
            </p:nvSpPr>
            <p:spPr>
              <a:xfrm>
                <a:off x="2464602" y="3687784"/>
                <a:ext cx="336188"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442467FC-F915-D785-3E10-325125839AC2}"/>
                  </a:ext>
                </a:extLst>
              </p:cNvPr>
              <p:cNvSpPr txBox="1"/>
              <p:nvPr/>
            </p:nvSpPr>
            <p:spPr>
              <a:xfrm>
                <a:off x="1107257" y="3710620"/>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m:t>
                          </m:r>
                        </m:sup>
                      </m:sSup>
                    </m:oMath>
                  </m:oMathPara>
                </a14:m>
                <a:endParaRPr lang="en-US" sz="1600" dirty="0"/>
              </a:p>
            </p:txBody>
          </p:sp>
        </mc:Choice>
        <mc:Fallback>
          <p:sp>
            <p:nvSpPr>
              <p:cNvPr id="15" name="TextBox 14">
                <a:extLst>
                  <a:ext uri="{FF2B5EF4-FFF2-40B4-BE49-F238E27FC236}">
                    <a16:creationId xmlns:a16="http://schemas.microsoft.com/office/drawing/2014/main" id="{442467FC-F915-D785-3E10-325125839AC2}"/>
                  </a:ext>
                </a:extLst>
              </p:cNvPr>
              <p:cNvSpPr txBox="1">
                <a:spLocks noRot="1" noChangeAspect="1" noMove="1" noResize="1" noEditPoints="1" noAdjustHandles="1" noChangeArrowheads="1" noChangeShapeType="1" noTextEdit="1"/>
              </p:cNvSpPr>
              <p:nvPr/>
            </p:nvSpPr>
            <p:spPr>
              <a:xfrm>
                <a:off x="1107257" y="3710620"/>
                <a:ext cx="336188" cy="338554"/>
              </a:xfrm>
              <a:prstGeom prst="rect">
                <a:avLst/>
              </a:prstGeom>
              <a:blipFill>
                <a:blip r:embed="rId9"/>
                <a:stretch>
                  <a:fillRect/>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3B789301-96D1-E9AE-ECCC-745EBB3E68B1}"/>
              </a:ext>
            </a:extLst>
          </p:cNvPr>
          <p:cNvCxnSpPr/>
          <p:nvPr/>
        </p:nvCxnSpPr>
        <p:spPr>
          <a:xfrm>
            <a:off x="1122522" y="500463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6BB4E767-C01D-337B-762F-DC3A219F6204}"/>
                  </a:ext>
                </a:extLst>
              </p:cNvPr>
              <p:cNvSpPr txBox="1"/>
              <p:nvPr/>
            </p:nvSpPr>
            <p:spPr>
              <a:xfrm>
                <a:off x="1121010" y="4743306"/>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33" name="TextBox 32">
                <a:extLst>
                  <a:ext uri="{FF2B5EF4-FFF2-40B4-BE49-F238E27FC236}">
                    <a16:creationId xmlns:a16="http://schemas.microsoft.com/office/drawing/2014/main" id="{6BB4E767-C01D-337B-762F-DC3A219F6204}"/>
                  </a:ext>
                </a:extLst>
              </p:cNvPr>
              <p:cNvSpPr txBox="1">
                <a:spLocks noRot="1" noChangeAspect="1" noMove="1" noResize="1" noEditPoints="1" noAdjustHandles="1" noChangeArrowheads="1" noChangeShapeType="1" noTextEdit="1"/>
              </p:cNvSpPr>
              <p:nvPr/>
            </p:nvSpPr>
            <p:spPr>
              <a:xfrm>
                <a:off x="1121010" y="4743306"/>
                <a:ext cx="336188" cy="338554"/>
              </a:xfrm>
              <a:prstGeom prst="rect">
                <a:avLst/>
              </a:prstGeom>
              <a:blipFill>
                <a:blip r:embed="rId10"/>
                <a:stretch>
                  <a:fillRect r="-16364"/>
                </a:stretch>
              </a:blipFill>
            </p:spPr>
            <p:txBody>
              <a:bodyPr/>
              <a:lstStyle/>
              <a:p>
                <a:r>
                  <a:rPr lang="en-US">
                    <a:noFill/>
                  </a:rPr>
                  <a:t> </a:t>
                </a:r>
              </a:p>
            </p:txBody>
          </p:sp>
        </mc:Fallback>
      </mc:AlternateContent>
      <p:sp>
        <p:nvSpPr>
          <p:cNvPr id="23" name="Freeform: Shape 22">
            <a:extLst>
              <a:ext uri="{FF2B5EF4-FFF2-40B4-BE49-F238E27FC236}">
                <a16:creationId xmlns:a16="http://schemas.microsoft.com/office/drawing/2014/main" id="{DD9E08B9-CCCD-BE62-1E85-819E2C836CE8}"/>
              </a:ext>
            </a:extLst>
          </p:cNvPr>
          <p:cNvSpPr/>
          <p:nvPr/>
        </p:nvSpPr>
        <p:spPr>
          <a:xfrm>
            <a:off x="901833" y="3611681"/>
            <a:ext cx="2286000" cy="22860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55514B24-010D-DE8A-702E-2E484E74A58E}"/>
                  </a:ext>
                </a:extLst>
              </p:cNvPr>
              <p:cNvSpPr txBox="1"/>
              <p:nvPr/>
            </p:nvSpPr>
            <p:spPr>
              <a:xfrm>
                <a:off x="2582454" y="5715748"/>
                <a:ext cx="43667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m:t>
                      </m:r>
                      <m:sSup>
                        <m:sSupPr>
                          <m:ctrlPr>
                            <a:rPr lang="en-US" sz="1400" b="0" i="1" dirty="0" smtClean="0">
                              <a:solidFill>
                                <a:srgbClr val="00B0F0"/>
                              </a:solidFill>
                              <a:latin typeface="Cambria Math" panose="02040503050406030204" pitchFamily="18" charset="0"/>
                            </a:rPr>
                          </m:ctrlPr>
                        </m:sSupPr>
                        <m:e>
                          <m:r>
                            <a:rPr lang="en-US" sz="1400" b="0" i="1" dirty="0" smtClean="0">
                              <a:solidFill>
                                <a:srgbClr val="00B0F0"/>
                              </a:solidFill>
                              <a:latin typeface="Cambria Math" panose="02040503050406030204" pitchFamily="18" charset="0"/>
                            </a:rPr>
                            <m:t>𝑆</m:t>
                          </m:r>
                        </m:e>
                        <m:sup>
                          <m:r>
                            <a:rPr lang="en-US" sz="1400" b="0" i="1" dirty="0" smtClean="0">
                              <a:solidFill>
                                <a:srgbClr val="00B0F0"/>
                              </a:solidFill>
                              <a:latin typeface="Cambria Math" panose="02040503050406030204" pitchFamily="18" charset="0"/>
                            </a:rPr>
                            <m:t>′</m:t>
                          </m:r>
                        </m:sup>
                      </m:sSup>
                    </m:oMath>
                  </m:oMathPara>
                </a14:m>
                <a:endParaRPr lang="en-US" sz="1400" dirty="0">
                  <a:solidFill>
                    <a:srgbClr val="00B0F0"/>
                  </a:solidFill>
                </a:endParaRPr>
              </a:p>
            </p:txBody>
          </p:sp>
        </mc:Choice>
        <mc:Fallback>
          <p:sp>
            <p:nvSpPr>
              <p:cNvPr id="27" name="TextBox 26">
                <a:extLst>
                  <a:ext uri="{FF2B5EF4-FFF2-40B4-BE49-F238E27FC236}">
                    <a16:creationId xmlns:a16="http://schemas.microsoft.com/office/drawing/2014/main" id="{55514B24-010D-DE8A-702E-2E484E74A58E}"/>
                  </a:ext>
                </a:extLst>
              </p:cNvPr>
              <p:cNvSpPr txBox="1">
                <a:spLocks noRot="1" noChangeAspect="1" noMove="1" noResize="1" noEditPoints="1" noAdjustHandles="1" noChangeArrowheads="1" noChangeShapeType="1" noTextEdit="1"/>
              </p:cNvSpPr>
              <p:nvPr/>
            </p:nvSpPr>
            <p:spPr>
              <a:xfrm>
                <a:off x="2582454" y="5715748"/>
                <a:ext cx="436671" cy="307777"/>
              </a:xfrm>
              <a:prstGeom prst="rect">
                <a:avLst/>
              </a:prstGeom>
              <a:blipFill>
                <a:blip r:embed="rId11"/>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90A0733E-60A0-631E-0ABE-BEB0F41E39CB}"/>
              </a:ext>
            </a:extLst>
          </p:cNvPr>
          <p:cNvCxnSpPr>
            <a:cxnSpLocks/>
            <a:stCxn id="14" idx="4"/>
          </p:cNvCxnSpPr>
          <p:nvPr/>
        </p:nvCxnSpPr>
        <p:spPr>
          <a:xfrm>
            <a:off x="1121010" y="4062914"/>
            <a:ext cx="0" cy="96902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82A37A9F-90AA-9FD0-694F-3F6A132D88D5}"/>
              </a:ext>
            </a:extLst>
          </p:cNvPr>
          <p:cNvSpPr/>
          <p:nvPr/>
        </p:nvSpPr>
        <p:spPr>
          <a:xfrm>
            <a:off x="1084434" y="3989762"/>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2B1DB5E9-F9D5-7DB3-738C-69BA4073F3D5}"/>
                  </a:ext>
                </a:extLst>
              </p:cNvPr>
              <p:cNvSpPr txBox="1"/>
              <p:nvPr/>
            </p:nvSpPr>
            <p:spPr>
              <a:xfrm>
                <a:off x="346533" y="4832005"/>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p:sp>
            <p:nvSpPr>
              <p:cNvPr id="31" name="TextBox 30">
                <a:extLst>
                  <a:ext uri="{FF2B5EF4-FFF2-40B4-BE49-F238E27FC236}">
                    <a16:creationId xmlns:a16="http://schemas.microsoft.com/office/drawing/2014/main" id="{2B1DB5E9-F9D5-7DB3-738C-69BA4073F3D5}"/>
                  </a:ext>
                </a:extLst>
              </p:cNvPr>
              <p:cNvSpPr txBox="1">
                <a:spLocks noRot="1" noChangeAspect="1" noMove="1" noResize="1" noEditPoints="1" noAdjustHandles="1" noChangeArrowheads="1" noChangeShapeType="1" noTextEdit="1"/>
              </p:cNvSpPr>
              <p:nvPr/>
            </p:nvSpPr>
            <p:spPr>
              <a:xfrm>
                <a:off x="346533" y="4832005"/>
                <a:ext cx="291136" cy="369332"/>
              </a:xfrm>
              <a:prstGeom prst="rect">
                <a:avLst/>
              </a:prstGeom>
              <a:blipFill>
                <a:blip r:embed="rId12"/>
                <a:stretch>
                  <a:fillRect r="-2083"/>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84D59B28-C75B-AF7F-22F6-84B917AFB6DD}"/>
              </a:ext>
            </a:extLst>
          </p:cNvPr>
          <p:cNvCxnSpPr>
            <a:cxnSpLocks/>
            <a:stCxn id="22" idx="4"/>
          </p:cNvCxnSpPr>
          <p:nvPr/>
        </p:nvCxnSpPr>
        <p:spPr>
          <a:xfrm>
            <a:off x="2529753" y="4062915"/>
            <a:ext cx="0" cy="9655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D1EEBB9-7F7F-50B0-4F6B-2F8842A7C978}"/>
              </a:ext>
            </a:extLst>
          </p:cNvPr>
          <p:cNvCxnSpPr>
            <a:cxnSpLocks/>
          </p:cNvCxnSpPr>
          <p:nvPr/>
        </p:nvCxnSpPr>
        <p:spPr>
          <a:xfrm flipV="1">
            <a:off x="782538" y="4413902"/>
            <a:ext cx="3621867" cy="29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903FD87-2FE2-315F-5573-CC8F9058E91D}"/>
              </a:ext>
            </a:extLst>
          </p:cNvPr>
          <p:cNvCxnSpPr>
            <a:cxnSpLocks/>
            <a:endCxn id="11" idx="0"/>
          </p:cNvCxnSpPr>
          <p:nvPr/>
        </p:nvCxnSpPr>
        <p:spPr>
          <a:xfrm flipV="1">
            <a:off x="2089008" y="4377326"/>
            <a:ext cx="0" cy="65115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7B559007-6567-1818-BC9B-BB03A38E914B}"/>
                  </a:ext>
                </a:extLst>
              </p:cNvPr>
              <p:cNvSpPr txBox="1"/>
              <p:nvPr/>
            </p:nvSpPr>
            <p:spPr>
              <a:xfrm>
                <a:off x="4114827" y="4119786"/>
                <a:ext cx="53514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m:t>
                      </m:r>
                      <m:sSup>
                        <m:sSupPr>
                          <m:ctrlPr>
                            <a:rPr lang="en-US" sz="1400" b="0" i="1" dirty="0" smtClean="0">
                              <a:solidFill>
                                <a:srgbClr val="C00000"/>
                              </a:solidFill>
                              <a:latin typeface="Cambria Math" panose="02040503050406030204" pitchFamily="18" charset="0"/>
                            </a:rPr>
                          </m:ctrlPr>
                        </m:sSupPr>
                        <m:e>
                          <m:r>
                            <a:rPr lang="en-US" sz="1400" b="0" i="1" dirty="0" smtClean="0">
                              <a:solidFill>
                                <a:srgbClr val="C00000"/>
                              </a:solidFill>
                              <a:latin typeface="Cambria Math" panose="02040503050406030204" pitchFamily="18" charset="0"/>
                            </a:rPr>
                            <m:t>𝑀</m:t>
                          </m:r>
                        </m:e>
                        <m:sup>
                          <m:r>
                            <a:rPr lang="en-US" sz="1400" b="0" i="1" dirty="0" smtClean="0">
                              <a:solidFill>
                                <a:srgbClr val="C00000"/>
                              </a:solidFill>
                              <a:latin typeface="Cambria Math" panose="02040503050406030204" pitchFamily="18" charset="0"/>
                            </a:rPr>
                            <m:t>′</m:t>
                          </m:r>
                        </m:sup>
                      </m:sSup>
                    </m:oMath>
                  </m:oMathPara>
                </a14:m>
                <a:endParaRPr lang="en-US" sz="1400" dirty="0">
                  <a:solidFill>
                    <a:srgbClr val="C00000"/>
                  </a:solidFill>
                </a:endParaRPr>
              </a:p>
            </p:txBody>
          </p:sp>
        </mc:Choice>
        <mc:Fallback>
          <p:sp>
            <p:nvSpPr>
              <p:cNvPr id="26" name="TextBox 25">
                <a:extLst>
                  <a:ext uri="{FF2B5EF4-FFF2-40B4-BE49-F238E27FC236}">
                    <a16:creationId xmlns:a16="http://schemas.microsoft.com/office/drawing/2014/main" id="{7B559007-6567-1818-BC9B-BB03A38E914B}"/>
                  </a:ext>
                </a:extLst>
              </p:cNvPr>
              <p:cNvSpPr txBox="1">
                <a:spLocks noRot="1" noChangeAspect="1" noMove="1" noResize="1" noEditPoints="1" noAdjustHandles="1" noChangeArrowheads="1" noChangeShapeType="1" noTextEdit="1"/>
              </p:cNvSpPr>
              <p:nvPr/>
            </p:nvSpPr>
            <p:spPr>
              <a:xfrm>
                <a:off x="4114827" y="4119786"/>
                <a:ext cx="535146"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F8DB2504-323B-9994-BBA6-7B5E4EA22654}"/>
                  </a:ext>
                </a:extLst>
              </p:cNvPr>
              <p:cNvSpPr txBox="1"/>
              <p:nvPr/>
            </p:nvSpPr>
            <p:spPr>
              <a:xfrm>
                <a:off x="2020459" y="4102484"/>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m:t>
                          </m:r>
                        </m:sup>
                      </m:sSup>
                    </m:oMath>
                  </m:oMathPara>
                </a14:m>
                <a:endParaRPr lang="en-US" sz="1600" dirty="0"/>
              </a:p>
            </p:txBody>
          </p:sp>
        </mc:Choice>
        <mc:Fallback>
          <p:sp>
            <p:nvSpPr>
              <p:cNvPr id="35" name="TextBox 34">
                <a:extLst>
                  <a:ext uri="{FF2B5EF4-FFF2-40B4-BE49-F238E27FC236}">
                    <a16:creationId xmlns:a16="http://schemas.microsoft.com/office/drawing/2014/main" id="{F8DB2504-323B-9994-BBA6-7B5E4EA22654}"/>
                  </a:ext>
                </a:extLst>
              </p:cNvPr>
              <p:cNvSpPr txBox="1">
                <a:spLocks noRot="1" noChangeAspect="1" noMove="1" noResize="1" noEditPoints="1" noAdjustHandles="1" noChangeArrowheads="1" noChangeShapeType="1" noTextEdit="1"/>
              </p:cNvSpPr>
              <p:nvPr/>
            </p:nvSpPr>
            <p:spPr>
              <a:xfrm>
                <a:off x="2020459" y="4102484"/>
                <a:ext cx="336188" cy="338554"/>
              </a:xfrm>
              <a:prstGeom prst="rect">
                <a:avLst/>
              </a:prstGeom>
              <a:blipFill>
                <a:blip r:embed="rId14"/>
                <a:stretch>
                  <a:fillRect r="-71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AFEB1066-4195-19BE-0378-D92140DB61B3}"/>
                  </a:ext>
                </a:extLst>
              </p:cNvPr>
              <p:cNvSpPr txBox="1"/>
              <p:nvPr/>
            </p:nvSpPr>
            <p:spPr>
              <a:xfrm>
                <a:off x="356557" y="4284550"/>
                <a:ext cx="291136" cy="370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𝑟</m:t>
                              </m:r>
                            </m:e>
                            <m:sup>
                              <m:r>
                                <a:rPr lang="en-US" sz="1800" b="0" i="1" smtClean="0">
                                  <a:solidFill>
                                    <a:schemeClr val="tx1"/>
                                  </a:solidFill>
                                  <a:latin typeface="Cambria Math" panose="02040503050406030204" pitchFamily="18" charset="0"/>
                                </a:rPr>
                                <m:t>′</m:t>
                              </m:r>
                            </m:sup>
                          </m:sSup>
                        </m:e>
                      </m:acc>
                    </m:oMath>
                  </m:oMathPara>
                </a14:m>
                <a:endParaRPr lang="en-US" dirty="0">
                  <a:solidFill>
                    <a:schemeClr val="tx1"/>
                  </a:solidFill>
                </a:endParaRPr>
              </a:p>
            </p:txBody>
          </p:sp>
        </mc:Choice>
        <mc:Fallback>
          <p:sp>
            <p:nvSpPr>
              <p:cNvPr id="37" name="TextBox 36">
                <a:extLst>
                  <a:ext uri="{FF2B5EF4-FFF2-40B4-BE49-F238E27FC236}">
                    <a16:creationId xmlns:a16="http://schemas.microsoft.com/office/drawing/2014/main" id="{AFEB1066-4195-19BE-0378-D92140DB61B3}"/>
                  </a:ext>
                </a:extLst>
              </p:cNvPr>
              <p:cNvSpPr txBox="1">
                <a:spLocks noRot="1" noChangeAspect="1" noMove="1" noResize="1" noEditPoints="1" noAdjustHandles="1" noChangeArrowheads="1" noChangeShapeType="1" noTextEdit="1"/>
              </p:cNvSpPr>
              <p:nvPr/>
            </p:nvSpPr>
            <p:spPr>
              <a:xfrm>
                <a:off x="356557" y="4284550"/>
                <a:ext cx="291136" cy="370743"/>
              </a:xfrm>
              <a:prstGeom prst="rect">
                <a:avLst/>
              </a:prstGeom>
              <a:blipFill>
                <a:blip r:embed="rId15"/>
                <a:stretch>
                  <a:fillRect r="-10417"/>
                </a:stretch>
              </a:blipFill>
            </p:spPr>
            <p:txBody>
              <a:bodyPr/>
              <a:lstStyle/>
              <a:p>
                <a:r>
                  <a:rPr lang="en-US">
                    <a:noFill/>
                  </a:rPr>
                  <a:t> </a:t>
                </a:r>
              </a:p>
            </p:txBody>
          </p:sp>
        </mc:Fallback>
      </mc:AlternateContent>
      <p:cxnSp>
        <p:nvCxnSpPr>
          <p:cNvPr id="38" name="Straight Connector 37">
            <a:extLst>
              <a:ext uri="{FF2B5EF4-FFF2-40B4-BE49-F238E27FC236}">
                <a16:creationId xmlns:a16="http://schemas.microsoft.com/office/drawing/2014/main" id="{F4D29185-A9B6-FAB9-9943-8D1E1A7A6B2C}"/>
              </a:ext>
            </a:extLst>
          </p:cNvPr>
          <p:cNvCxnSpPr>
            <a:cxnSpLocks/>
          </p:cNvCxnSpPr>
          <p:nvPr/>
        </p:nvCxnSpPr>
        <p:spPr>
          <a:xfrm rot="16200000">
            <a:off x="792193" y="4379911"/>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376AA834-0D37-FC9E-E6EA-F0E52C86AE4F}"/>
              </a:ext>
            </a:extLst>
          </p:cNvPr>
          <p:cNvSpPr/>
          <p:nvPr/>
        </p:nvSpPr>
        <p:spPr>
          <a:xfrm>
            <a:off x="1196815" y="2971458"/>
            <a:ext cx="2743200" cy="27432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8C8CC326-8B9D-0069-216D-D85926196516}"/>
                  </a:ext>
                </a:extLst>
              </p:cNvPr>
              <p:cNvSpPr txBox="1"/>
              <p:nvPr/>
            </p:nvSpPr>
            <p:spPr>
              <a:xfrm>
                <a:off x="3415222" y="5571433"/>
                <a:ext cx="43667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m:t>
                      </m:r>
                      <m:sSup>
                        <m:sSupPr>
                          <m:ctrlPr>
                            <a:rPr lang="en-US" sz="1400" b="0" i="1" dirty="0" smtClean="0">
                              <a:solidFill>
                                <a:srgbClr val="00B0F0"/>
                              </a:solidFill>
                              <a:latin typeface="Cambria Math" panose="02040503050406030204" pitchFamily="18" charset="0"/>
                            </a:rPr>
                          </m:ctrlPr>
                        </m:sSupPr>
                        <m:e>
                          <m:r>
                            <a:rPr lang="en-US" sz="1400" b="0" i="1" dirty="0" smtClean="0">
                              <a:solidFill>
                                <a:srgbClr val="00B0F0"/>
                              </a:solidFill>
                              <a:latin typeface="Cambria Math" panose="02040503050406030204" pitchFamily="18" charset="0"/>
                            </a:rPr>
                            <m:t>𝑆</m:t>
                          </m:r>
                        </m:e>
                        <m:sup>
                          <m:r>
                            <a:rPr lang="en-US" sz="1400" b="0" i="1" dirty="0" smtClean="0">
                              <a:solidFill>
                                <a:srgbClr val="00B0F0"/>
                              </a:solidFill>
                              <a:latin typeface="Cambria Math" panose="02040503050406030204" pitchFamily="18" charset="0"/>
                            </a:rPr>
                            <m:t>′</m:t>
                          </m:r>
                          <m:r>
                            <a:rPr lang="en-US" sz="1400" b="0" i="1" dirty="0" smtClean="0">
                              <a:solidFill>
                                <a:srgbClr val="00B0F0"/>
                              </a:solidFill>
                              <a:latin typeface="Cambria Math" panose="02040503050406030204" pitchFamily="18" charset="0"/>
                            </a:rPr>
                            <m:t>′</m:t>
                          </m:r>
                        </m:sup>
                      </m:sSup>
                    </m:oMath>
                  </m:oMathPara>
                </a14:m>
                <a:endParaRPr lang="en-US" sz="1400" dirty="0">
                  <a:solidFill>
                    <a:srgbClr val="00B0F0"/>
                  </a:solidFill>
                </a:endParaRPr>
              </a:p>
            </p:txBody>
          </p:sp>
        </mc:Choice>
        <mc:Fallback>
          <p:sp>
            <p:nvSpPr>
              <p:cNvPr id="16" name="TextBox 15">
                <a:extLst>
                  <a:ext uri="{FF2B5EF4-FFF2-40B4-BE49-F238E27FC236}">
                    <a16:creationId xmlns:a16="http://schemas.microsoft.com/office/drawing/2014/main" id="{8C8CC326-8B9D-0069-216D-D85926196516}"/>
                  </a:ext>
                </a:extLst>
              </p:cNvPr>
              <p:cNvSpPr txBox="1">
                <a:spLocks noRot="1" noChangeAspect="1" noMove="1" noResize="1" noEditPoints="1" noAdjustHandles="1" noChangeArrowheads="1" noChangeShapeType="1" noTextEdit="1"/>
              </p:cNvSpPr>
              <p:nvPr/>
            </p:nvSpPr>
            <p:spPr>
              <a:xfrm>
                <a:off x="3415222" y="5571433"/>
                <a:ext cx="436671" cy="307777"/>
              </a:xfrm>
              <a:prstGeom prst="rect">
                <a:avLst/>
              </a:prstGeom>
              <a:blipFill>
                <a:blip r:embed="rId16"/>
                <a:stretch>
                  <a:fillRect/>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CAE3D851-BE12-B547-D359-00D1DEED67ED}"/>
              </a:ext>
            </a:extLst>
          </p:cNvPr>
          <p:cNvSpPr/>
          <p:nvPr/>
        </p:nvSpPr>
        <p:spPr>
          <a:xfrm>
            <a:off x="2052432" y="4377326"/>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92FD140-7355-1A8A-1A98-000054BD72B3}"/>
              </a:ext>
            </a:extLst>
          </p:cNvPr>
          <p:cNvCxnSpPr/>
          <p:nvPr/>
        </p:nvCxnSpPr>
        <p:spPr>
          <a:xfrm>
            <a:off x="2087063" y="5001072"/>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A25B6F87-ADA3-799F-A98A-786E136436E4}"/>
                  </a:ext>
                </a:extLst>
              </p:cNvPr>
              <p:cNvSpPr txBox="1"/>
              <p:nvPr/>
            </p:nvSpPr>
            <p:spPr>
              <a:xfrm>
                <a:off x="2049404" y="4739871"/>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r>
                            <a:rPr lang="en-US" sz="1600" b="0" i="1" dirty="0" smtClean="0">
                              <a:latin typeface="Cambria Math" panose="02040503050406030204" pitchFamily="18" charset="0"/>
                            </a:rPr>
                            <m:t>′′</m:t>
                          </m:r>
                        </m:sup>
                      </m:sSup>
                    </m:oMath>
                  </m:oMathPara>
                </a14:m>
                <a:endParaRPr lang="en-US" sz="1600" dirty="0"/>
              </a:p>
            </p:txBody>
          </p:sp>
        </mc:Choice>
        <mc:Fallback>
          <p:sp>
            <p:nvSpPr>
              <p:cNvPr id="42" name="TextBox 41">
                <a:extLst>
                  <a:ext uri="{FF2B5EF4-FFF2-40B4-BE49-F238E27FC236}">
                    <a16:creationId xmlns:a16="http://schemas.microsoft.com/office/drawing/2014/main" id="{A25B6F87-ADA3-799F-A98A-786E136436E4}"/>
                  </a:ext>
                </a:extLst>
              </p:cNvPr>
              <p:cNvSpPr txBox="1">
                <a:spLocks noRot="1" noChangeAspect="1" noMove="1" noResize="1" noEditPoints="1" noAdjustHandles="1" noChangeArrowheads="1" noChangeShapeType="1" noTextEdit="1"/>
              </p:cNvSpPr>
              <p:nvPr/>
            </p:nvSpPr>
            <p:spPr>
              <a:xfrm>
                <a:off x="2049404" y="4739871"/>
                <a:ext cx="336188" cy="338554"/>
              </a:xfrm>
              <a:prstGeom prst="rect">
                <a:avLst/>
              </a:prstGeom>
              <a:blipFill>
                <a:blip r:embed="rId17"/>
                <a:stretch>
                  <a:fillRect r="-32727"/>
                </a:stretch>
              </a:blipFill>
            </p:spPr>
            <p:txBody>
              <a:bodyPr/>
              <a:lstStyle/>
              <a:p>
                <a:r>
                  <a:rPr lang="en-US">
                    <a:noFill/>
                  </a:rPr>
                  <a:t> </a:t>
                </a:r>
              </a:p>
            </p:txBody>
          </p:sp>
        </mc:Fallback>
      </mc:AlternateContent>
    </p:spTree>
    <p:extLst>
      <p:ext uri="{BB962C8B-B14F-4D97-AF65-F5344CB8AC3E}">
        <p14:creationId xmlns:p14="http://schemas.microsoft.com/office/powerpoint/2010/main" val="671342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500"/>
                                        <p:tgtEl>
                                          <p:spTgt spid="31"/>
                                        </p:tgtEl>
                                      </p:cBhvr>
                                    </p:animEffect>
                                  </p:childTnLst>
                                </p:cTn>
                              </p:par>
                              <p:par>
                                <p:cTn id="71" presetID="10" presetClass="entr" presetSubtype="0" fill="hold"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500"/>
                                        <p:tgtEl>
                                          <p:spTgt spid="3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4">
                                            <p:txEl>
                                              <p:pRg st="0" end="0"/>
                                            </p:txEl>
                                          </p:spTgt>
                                        </p:tgtEl>
                                        <p:attrNameLst>
                                          <p:attrName>style.visibility</p:attrName>
                                        </p:attrNameLst>
                                      </p:cBhvr>
                                      <p:to>
                                        <p:strVal val="visible"/>
                                      </p:to>
                                    </p:set>
                                    <p:animEffect transition="in" filter="fade">
                                      <p:cBhvr>
                                        <p:cTn id="78" dur="500"/>
                                        <p:tgtEl>
                                          <p:spTgt spid="4">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
                                            <p:txEl>
                                              <p:pRg st="1" end="1"/>
                                            </p:txEl>
                                          </p:spTgt>
                                        </p:tgtEl>
                                        <p:attrNameLst>
                                          <p:attrName>style.visibility</p:attrName>
                                        </p:attrNameLst>
                                      </p:cBhvr>
                                      <p:to>
                                        <p:strVal val="visible"/>
                                      </p:to>
                                    </p:set>
                                    <p:animEffect transition="in" filter="fade">
                                      <p:cBhvr>
                                        <p:cTn id="83" dur="500"/>
                                        <p:tgtEl>
                                          <p:spTgt spid="4">
                                            <p:txEl>
                                              <p:pRg st="1" end="1"/>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4">
                                            <p:txEl>
                                              <p:pRg st="2" end="2"/>
                                            </p:txEl>
                                          </p:spTgt>
                                        </p:tgtEl>
                                        <p:attrNameLst>
                                          <p:attrName>style.visibility</p:attrName>
                                        </p:attrNameLst>
                                      </p:cBhvr>
                                      <p:to>
                                        <p:strVal val="visible"/>
                                      </p:to>
                                    </p:set>
                                    <p:animEffect transition="in" filter="fade">
                                      <p:cBhvr>
                                        <p:cTn id="88" dur="500"/>
                                        <p:tgtEl>
                                          <p:spTgt spid="4">
                                            <p:txEl>
                                              <p:pRg st="2" end="2"/>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4">
                                            <p:txEl>
                                              <p:pRg st="3" end="3"/>
                                            </p:txEl>
                                          </p:spTgt>
                                        </p:tgtEl>
                                        <p:attrNameLst>
                                          <p:attrName>style.visibility</p:attrName>
                                        </p:attrNameLst>
                                      </p:cBhvr>
                                      <p:to>
                                        <p:strVal val="visible"/>
                                      </p:to>
                                    </p:set>
                                    <p:animEffect transition="in" filter="fade">
                                      <p:cBhvr>
                                        <p:cTn id="93" dur="500"/>
                                        <p:tgtEl>
                                          <p:spTgt spid="4">
                                            <p:txEl>
                                              <p:pRg st="3" end="3"/>
                                            </p:txEl>
                                          </p:spTgt>
                                        </p:tgtEl>
                                      </p:cBhvr>
                                    </p:animEffect>
                                  </p:childTnLst>
                                </p:cTn>
                              </p:par>
                              <p:par>
                                <p:cTn id="94" presetID="10" presetClass="entr" presetSubtype="0" fill="hold"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5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0" presetID="10" presetClass="entr" presetSubtype="0" fill="hold" nodeType="withEffect">
                                  <p:stCondLst>
                                    <p:cond delay="0"/>
                                  </p:stCondLst>
                                  <p:childTnLst>
                                    <p:set>
                                      <p:cBhvr>
                                        <p:cTn id="101" dur="1" fill="hold">
                                          <p:stCondLst>
                                            <p:cond delay="0"/>
                                          </p:stCondLst>
                                        </p:cTn>
                                        <p:tgtEl>
                                          <p:spTgt spid="8"/>
                                        </p:tgtEl>
                                        <p:attrNameLst>
                                          <p:attrName>style.visibility</p:attrName>
                                        </p:attrNameLst>
                                      </p:cBhvr>
                                      <p:to>
                                        <p:strVal val="visible"/>
                                      </p:to>
                                    </p:set>
                                    <p:animEffect transition="in" filter="fade">
                                      <p:cBhvr>
                                        <p:cTn id="102" dur="500"/>
                                        <p:tgtEl>
                                          <p:spTgt spid="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4">
                                            <p:txEl>
                                              <p:pRg st="5" end="5"/>
                                            </p:txEl>
                                          </p:spTgt>
                                        </p:tgtEl>
                                        <p:attrNameLst>
                                          <p:attrName>style.visibility</p:attrName>
                                        </p:attrNameLst>
                                      </p:cBhvr>
                                      <p:to>
                                        <p:strVal val="visible"/>
                                      </p:to>
                                    </p:set>
                                    <p:animEffect transition="in" filter="fade">
                                      <p:cBhvr>
                                        <p:cTn id="110" dur="500"/>
                                        <p:tgtEl>
                                          <p:spTgt spid="4">
                                            <p:txEl>
                                              <p:pRg st="5" end="5"/>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4">
                                            <p:txEl>
                                              <p:pRg st="6" end="6"/>
                                            </p:txEl>
                                          </p:spTgt>
                                        </p:tgtEl>
                                        <p:attrNameLst>
                                          <p:attrName>style.visibility</p:attrName>
                                        </p:attrNameLst>
                                      </p:cBhvr>
                                      <p:to>
                                        <p:strVal val="visible"/>
                                      </p:to>
                                    </p:set>
                                    <p:animEffect transition="in" filter="fade">
                                      <p:cBhvr>
                                        <p:cTn id="115" dur="500"/>
                                        <p:tgtEl>
                                          <p:spTgt spid="4">
                                            <p:txEl>
                                              <p:pRg st="6" end="6"/>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4">
                                            <p:txEl>
                                              <p:pRg st="7" end="7"/>
                                            </p:txEl>
                                          </p:spTgt>
                                        </p:tgtEl>
                                        <p:attrNameLst>
                                          <p:attrName>style.visibility</p:attrName>
                                        </p:attrNameLst>
                                      </p:cBhvr>
                                      <p:to>
                                        <p:strVal val="visible"/>
                                      </p:to>
                                    </p:set>
                                    <p:animEffect transition="in" filter="fade">
                                      <p:cBhvr>
                                        <p:cTn id="120" dur="500"/>
                                        <p:tgtEl>
                                          <p:spTgt spid="4">
                                            <p:txEl>
                                              <p:pRg st="7" end="7"/>
                                            </p:txEl>
                                          </p:spTgt>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10"/>
                                        </p:tgtEl>
                                        <p:attrNameLst>
                                          <p:attrName>style.visibility</p:attrName>
                                        </p:attrNameLst>
                                      </p:cBhvr>
                                      <p:to>
                                        <p:strVal val="visible"/>
                                      </p:to>
                                    </p:set>
                                    <p:animEffect transition="in" filter="fade">
                                      <p:cBhvr>
                                        <p:cTn id="123" dur="500"/>
                                        <p:tgtEl>
                                          <p:spTgt spid="1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fade">
                                      <p:cBhvr>
                                        <p:cTn id="126" dur="500"/>
                                        <p:tgtEl>
                                          <p:spTgt spid="16"/>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9"/>
                                        </p:tgtEl>
                                        <p:attrNameLst>
                                          <p:attrName>style.visibility</p:attrName>
                                        </p:attrNameLst>
                                      </p:cBhvr>
                                      <p:to>
                                        <p:strVal val="visible"/>
                                      </p:to>
                                    </p:set>
                                    <p:animEffect transition="in" filter="fade">
                                      <p:cBhvr>
                                        <p:cTn id="131" dur="500"/>
                                        <p:tgtEl>
                                          <p:spTgt spid="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11"/>
                                        </p:tgtEl>
                                        <p:attrNameLst>
                                          <p:attrName>style.visibility</p:attrName>
                                        </p:attrNameLst>
                                      </p:cBhvr>
                                      <p:to>
                                        <p:strVal val="visible"/>
                                      </p:to>
                                    </p:set>
                                    <p:animEffect transition="in" filter="fade">
                                      <p:cBhvr>
                                        <p:cTn id="134" dur="500"/>
                                        <p:tgtEl>
                                          <p:spTgt spid="11"/>
                                        </p:tgtEl>
                                      </p:cBhvr>
                                    </p:animEffect>
                                  </p:childTnLst>
                                </p:cTn>
                              </p:par>
                              <p:par>
                                <p:cTn id="135" presetID="10" presetClass="entr" presetSubtype="0" fill="hold" nodeType="withEffect">
                                  <p:stCondLst>
                                    <p:cond delay="0"/>
                                  </p:stCondLst>
                                  <p:childTnLst>
                                    <p:set>
                                      <p:cBhvr>
                                        <p:cTn id="136" dur="1" fill="hold">
                                          <p:stCondLst>
                                            <p:cond delay="0"/>
                                          </p:stCondLst>
                                        </p:cTn>
                                        <p:tgtEl>
                                          <p:spTgt spid="41"/>
                                        </p:tgtEl>
                                        <p:attrNameLst>
                                          <p:attrName>style.visibility</p:attrName>
                                        </p:attrNameLst>
                                      </p:cBhvr>
                                      <p:to>
                                        <p:strVal val="visible"/>
                                      </p:to>
                                    </p:set>
                                    <p:animEffect transition="in" filter="fade">
                                      <p:cBhvr>
                                        <p:cTn id="137" dur="500"/>
                                        <p:tgtEl>
                                          <p:spTgt spid="41"/>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35"/>
                                        </p:tgtEl>
                                        <p:attrNameLst>
                                          <p:attrName>style.visibility</p:attrName>
                                        </p:attrNameLst>
                                      </p:cBhvr>
                                      <p:to>
                                        <p:strVal val="visible"/>
                                      </p:to>
                                    </p:set>
                                    <p:animEffect transition="in" filter="fade">
                                      <p:cBhvr>
                                        <p:cTn id="140" dur="500"/>
                                        <p:tgtEl>
                                          <p:spTgt spid="35"/>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2"/>
                                        </p:tgtEl>
                                        <p:attrNameLst>
                                          <p:attrName>style.visibility</p:attrName>
                                        </p:attrNameLst>
                                      </p:cBhvr>
                                      <p:to>
                                        <p:strVal val="visible"/>
                                      </p:to>
                                    </p:set>
                                    <p:animEffect transition="in" filter="fade">
                                      <p:cBhvr>
                                        <p:cTn id="14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4" grpId="0"/>
      <p:bldP spid="19" grpId="0" animBg="1"/>
      <p:bldP spid="21" grpId="0"/>
      <p:bldP spid="22" grpId="0" animBg="1"/>
      <p:bldP spid="29" grpId="0"/>
      <p:bldP spid="3" grpId="0"/>
      <p:bldP spid="15" grpId="0"/>
      <p:bldP spid="33" grpId="0"/>
      <p:bldP spid="23" grpId="0" animBg="1"/>
      <p:bldP spid="27" grpId="0"/>
      <p:bldP spid="14" grpId="0" animBg="1"/>
      <p:bldP spid="31" grpId="0"/>
      <p:bldP spid="26" grpId="0"/>
      <p:bldP spid="35" grpId="0"/>
      <p:bldP spid="37" grpId="0"/>
      <p:bldP spid="10" grpId="0" animBg="1"/>
      <p:bldP spid="16" grpId="0"/>
      <p:bldP spid="11" grpId="0" animBg="1"/>
      <p:bldP spid="4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6660E-5859-4A42-EC8B-A3C4B2B36889}"/>
            </a:ext>
          </a:extLst>
        </p:cNvPr>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4E8C6658-B241-3B29-CD99-6A5674E5D593}"/>
              </a:ext>
            </a:extLst>
          </p:cNvPr>
          <p:cNvCxnSpPr>
            <a:cxnSpLocks/>
          </p:cNvCxnSpPr>
          <p:nvPr/>
        </p:nvCxnSpPr>
        <p:spPr>
          <a:xfrm flipV="1">
            <a:off x="828028" y="4026617"/>
            <a:ext cx="3621867" cy="29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3478E5-9592-C151-DC6C-C94E20E655DE}"/>
              </a:ext>
            </a:extLst>
          </p:cNvPr>
          <p:cNvSpPr>
            <a:spLocks noGrp="1"/>
          </p:cNvSpPr>
          <p:nvPr>
            <p:ph type="title"/>
          </p:nvPr>
        </p:nvSpPr>
        <p:spPr/>
        <p:txBody>
          <a:bodyPr/>
          <a:lstStyle/>
          <a:p>
            <a:r>
              <a:rPr lang="en-US" dirty="0"/>
              <a:t>The Great Recession: Responses</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44AAF72-2440-58A7-C465-7E9816C79212}"/>
                  </a:ext>
                </a:extLst>
              </p:cNvPr>
              <p:cNvSpPr>
                <a:spLocks noGrp="1"/>
              </p:cNvSpPr>
              <p:nvPr>
                <p:ph sz="half" idx="2"/>
              </p:nvPr>
            </p:nvSpPr>
            <p:spPr>
              <a:xfrm>
                <a:off x="4629149" y="1825625"/>
                <a:ext cx="4040088" cy="4351338"/>
              </a:xfrm>
            </p:spPr>
            <p:txBody>
              <a:bodyPr>
                <a:normAutofit/>
              </a:bodyPr>
              <a:lstStyle/>
              <a:p>
                <a:r>
                  <a:rPr lang="en-US" dirty="0"/>
                  <a:t>Pre-crisis, the economy was at an equilibrium at </a:t>
                </a:r>
                <a14:m>
                  <m:oMath xmlns:m="http://schemas.openxmlformats.org/officeDocument/2006/math">
                    <m:r>
                      <a:rPr lang="en-US" i="1" dirty="0" smtClean="0">
                        <a:latin typeface="Cambria Math" panose="02040503050406030204" pitchFamily="18" charset="0"/>
                      </a:rPr>
                      <m:t>𝐴</m:t>
                    </m:r>
                  </m:oMath>
                </a14:m>
                <a:r>
                  <a:rPr lang="en-US" dirty="0"/>
                  <a:t>.</a:t>
                </a:r>
              </a:p>
              <a:p>
                <a:pPr lvl="3"/>
                <a:endParaRPr lang="en-US" dirty="0"/>
              </a:p>
              <a:p>
                <a:r>
                  <a:rPr lang="en-US" dirty="0"/>
                  <a:t>The financial crisis pushed the economy into a new equilibrium at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𝐴</m:t>
                        </m:r>
                      </m:e>
                      <m:sup>
                        <m:r>
                          <a:rPr lang="en-US" b="0" i="1" dirty="0" smtClean="0">
                            <a:latin typeface="Cambria Math" panose="02040503050406030204" pitchFamily="18" charset="0"/>
                          </a:rPr>
                          <m:t>′</m:t>
                        </m:r>
                      </m:sup>
                    </m:sSup>
                  </m:oMath>
                </a14:m>
                <a:r>
                  <a:rPr lang="en-US" dirty="0"/>
                  <a:t>.</a:t>
                </a:r>
              </a:p>
              <a:p>
                <a:pPr lvl="3"/>
                <a:endParaRPr lang="en-US" dirty="0"/>
              </a:p>
              <a:p>
                <a:r>
                  <a:rPr lang="en-US" dirty="0"/>
                  <a:t>Through a mix of monetary and fiscal policies, we were able to reach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𝐴</m:t>
                        </m:r>
                      </m:e>
                      <m:sup>
                        <m:r>
                          <a:rPr lang="en-US" b="0" i="1" dirty="0" smtClean="0">
                            <a:latin typeface="Cambria Math" panose="02040503050406030204" pitchFamily="18" charset="0"/>
                          </a:rPr>
                          <m:t>′′</m:t>
                        </m:r>
                      </m:sup>
                    </m:sSup>
                  </m:oMath>
                </a14:m>
                <a:r>
                  <a:rPr lang="en-US" dirty="0"/>
                  <a:t>.</a:t>
                </a:r>
              </a:p>
            </p:txBody>
          </p:sp>
        </mc:Choice>
        <mc:Fallback>
          <p:sp>
            <p:nvSpPr>
              <p:cNvPr id="4" name="Content Placeholder 3">
                <a:extLst>
                  <a:ext uri="{FF2B5EF4-FFF2-40B4-BE49-F238E27FC236}">
                    <a16:creationId xmlns:a16="http://schemas.microsoft.com/office/drawing/2014/main" id="{F44AAF72-2440-58A7-C465-7E9816C79212}"/>
                  </a:ext>
                </a:extLst>
              </p:cNvPr>
              <p:cNvSpPr>
                <a:spLocks noGrp="1" noRot="1" noChangeAspect="1" noMove="1" noResize="1" noEditPoints="1" noAdjustHandles="1" noChangeArrowheads="1" noChangeShapeType="1" noTextEdit="1"/>
              </p:cNvSpPr>
              <p:nvPr>
                <p:ph sz="half" idx="2"/>
              </p:nvPr>
            </p:nvSpPr>
            <p:spPr>
              <a:xfrm>
                <a:off x="4629149" y="1825625"/>
                <a:ext cx="4040088" cy="4351338"/>
              </a:xfrm>
              <a:blipFill>
                <a:blip r:embed="rId3"/>
                <a:stretch>
                  <a:fillRect l="-1961" t="-1821" r="-2262"/>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BAAD764E-3924-5D28-1E4D-091B0730C046}"/>
              </a:ext>
            </a:extLst>
          </p:cNvPr>
          <p:cNvSpPr>
            <a:spLocks noGrp="1"/>
          </p:cNvSpPr>
          <p:nvPr>
            <p:ph type="dt" sz="half" idx="10"/>
          </p:nvPr>
        </p:nvSpPr>
        <p:spPr/>
        <p:txBody>
          <a:bodyPr/>
          <a:lstStyle/>
          <a:p>
            <a:r>
              <a:rPr lang="en-US"/>
              <a:t>Spring 2024</a:t>
            </a:r>
            <a:endParaRPr lang="en-US" dirty="0"/>
          </a:p>
        </p:txBody>
      </p:sp>
      <p:sp>
        <p:nvSpPr>
          <p:cNvPr id="6" name="Footer Placeholder 5">
            <a:extLst>
              <a:ext uri="{FF2B5EF4-FFF2-40B4-BE49-F238E27FC236}">
                <a16:creationId xmlns:a16="http://schemas.microsoft.com/office/drawing/2014/main" id="{550D6E9B-C54A-F113-DAD1-9C9D8A33DC33}"/>
              </a:ext>
            </a:extLst>
          </p:cNvPr>
          <p:cNvSpPr>
            <a:spLocks noGrp="1"/>
          </p:cNvSpPr>
          <p:nvPr>
            <p:ph type="ftr" sz="quarter" idx="11"/>
          </p:nvPr>
        </p:nvSpPr>
        <p:spPr/>
        <p:txBody>
          <a:bodyPr/>
          <a:lstStyle/>
          <a:p>
            <a:r>
              <a:rPr lang="en-US"/>
              <a:t>DEPARTMENT OF BUSINESS &amp; ECONOMICS</a:t>
            </a:r>
            <a:endParaRPr lang="en-US" dirty="0"/>
          </a:p>
        </p:txBody>
      </p:sp>
      <p:sp>
        <p:nvSpPr>
          <p:cNvPr id="7" name="Slide Number Placeholder 6">
            <a:extLst>
              <a:ext uri="{FF2B5EF4-FFF2-40B4-BE49-F238E27FC236}">
                <a16:creationId xmlns:a16="http://schemas.microsoft.com/office/drawing/2014/main" id="{C2F7FB4B-6652-D0A0-A7AE-18E7E165095A}"/>
              </a:ext>
            </a:extLst>
          </p:cNvPr>
          <p:cNvSpPr>
            <a:spLocks noGrp="1"/>
          </p:cNvSpPr>
          <p:nvPr>
            <p:ph type="sldNum" sz="quarter" idx="12"/>
          </p:nvPr>
        </p:nvSpPr>
        <p:spPr/>
        <p:txBody>
          <a:bodyPr/>
          <a:lstStyle/>
          <a:p>
            <a:fld id="{1A980C56-831A-4EAB-9EDE-57C090F4F877}" type="slidenum">
              <a:rPr lang="en-US" smtClean="0"/>
              <a:t>30</a:t>
            </a:fld>
            <a:endParaRPr lang="en-US" dirty="0"/>
          </a:p>
        </p:txBody>
      </p:sp>
      <p:cxnSp>
        <p:nvCxnSpPr>
          <p:cNvPr id="12" name="Straight Arrow Connector 11">
            <a:extLst>
              <a:ext uri="{FF2B5EF4-FFF2-40B4-BE49-F238E27FC236}">
                <a16:creationId xmlns:a16="http://schemas.microsoft.com/office/drawing/2014/main" id="{1E4A16B4-A024-C73D-C9DE-99DBC0EE2565}"/>
              </a:ext>
            </a:extLst>
          </p:cNvPr>
          <p:cNvCxnSpPr/>
          <p:nvPr/>
        </p:nvCxnSpPr>
        <p:spPr>
          <a:xfrm>
            <a:off x="628650" y="5031937"/>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4074227-E7FD-984D-FD7A-921A398C7E3A}"/>
              </a:ext>
            </a:extLst>
          </p:cNvPr>
          <p:cNvCxnSpPr>
            <a:cxnSpLocks/>
          </p:cNvCxnSpPr>
          <p:nvPr/>
        </p:nvCxnSpPr>
        <p:spPr>
          <a:xfrm rot="16200000">
            <a:off x="-1151141" y="3954581"/>
            <a:ext cx="3886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2117BE2-EAB1-8B66-81E8-32440DD09E05}"/>
              </a:ext>
            </a:extLst>
          </p:cNvPr>
          <p:cNvSpPr txBox="1"/>
          <p:nvPr/>
        </p:nvSpPr>
        <p:spPr>
          <a:xfrm>
            <a:off x="3837111" y="4745893"/>
            <a:ext cx="708848" cy="307777"/>
          </a:xfrm>
          <a:prstGeom prst="rect">
            <a:avLst/>
          </a:prstGeom>
          <a:noFill/>
        </p:spPr>
        <p:txBody>
          <a:bodyPr wrap="none" rtlCol="0">
            <a:spAutoFit/>
          </a:bodyPr>
          <a:lstStyle/>
          <a:p>
            <a:r>
              <a:rPr lang="en-US" sz="1400" dirty="0"/>
              <a:t>Output</a:t>
            </a:r>
          </a:p>
        </p:txBody>
      </p:sp>
      <p:sp>
        <p:nvSpPr>
          <p:cNvPr id="18" name="TextBox 17">
            <a:extLst>
              <a:ext uri="{FF2B5EF4-FFF2-40B4-BE49-F238E27FC236}">
                <a16:creationId xmlns:a16="http://schemas.microsoft.com/office/drawing/2014/main" id="{758CF224-C09D-55DA-8D4A-EE5D3D4A2C53}"/>
              </a:ext>
            </a:extLst>
          </p:cNvPr>
          <p:cNvSpPr txBox="1"/>
          <p:nvPr/>
        </p:nvSpPr>
        <p:spPr>
          <a:xfrm rot="16200000">
            <a:off x="-108764" y="2590935"/>
            <a:ext cx="1474827" cy="307777"/>
          </a:xfrm>
          <a:prstGeom prst="rect">
            <a:avLst/>
          </a:prstGeom>
          <a:noFill/>
        </p:spPr>
        <p:txBody>
          <a:bodyPr wrap="none" rtlCol="0">
            <a:spAutoFit/>
          </a:bodyPr>
          <a:lstStyle/>
          <a:p>
            <a:r>
              <a:rPr lang="en-US" sz="1400" dirty="0"/>
              <a:t>Real Interest Rate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7F32A15-6E72-45A8-BFCB-829CD7EE768B}"/>
                  </a:ext>
                </a:extLst>
              </p:cNvPr>
              <p:cNvSpPr txBox="1"/>
              <p:nvPr/>
            </p:nvSpPr>
            <p:spPr>
              <a:xfrm>
                <a:off x="4125365" y="3711823"/>
                <a:ext cx="47756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𝐿𝑀</m:t>
                      </m:r>
                    </m:oMath>
                  </m:oMathPara>
                </a14:m>
                <a:endParaRPr lang="en-US" sz="1400" dirty="0">
                  <a:solidFill>
                    <a:srgbClr val="C00000"/>
                  </a:solidFill>
                </a:endParaRPr>
              </a:p>
            </p:txBody>
          </p:sp>
        </mc:Choice>
        <mc:Fallback xmlns="">
          <p:sp>
            <p:nvSpPr>
              <p:cNvPr id="20" name="TextBox 19">
                <a:extLst>
                  <a:ext uri="{FF2B5EF4-FFF2-40B4-BE49-F238E27FC236}">
                    <a16:creationId xmlns:a16="http://schemas.microsoft.com/office/drawing/2014/main" id="{3FFFDE51-7D5B-DDBC-38DC-C6FD45F7A333}"/>
                  </a:ext>
                </a:extLst>
              </p:cNvPr>
              <p:cNvSpPr txBox="1">
                <a:spLocks noRot="1" noChangeAspect="1" noMove="1" noResize="1" noEditPoints="1" noAdjustHandles="1" noChangeArrowheads="1" noChangeShapeType="1" noTextEdit="1"/>
              </p:cNvSpPr>
              <p:nvPr/>
            </p:nvSpPr>
            <p:spPr>
              <a:xfrm>
                <a:off x="4125365" y="3711823"/>
                <a:ext cx="477567"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E1FD3014-5ECB-C99A-16EB-C275D70DE89F}"/>
                  </a:ext>
                </a:extLst>
              </p:cNvPr>
              <p:cNvSpPr txBox="1"/>
              <p:nvPr/>
            </p:nvSpPr>
            <p:spPr>
              <a:xfrm>
                <a:off x="360019" y="3853354"/>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𝑟</m:t>
                          </m:r>
                        </m:e>
                      </m:acc>
                    </m:oMath>
                  </m:oMathPara>
                </a14:m>
                <a:endParaRPr lang="en-US" dirty="0">
                  <a:solidFill>
                    <a:schemeClr val="tx1"/>
                  </a:solidFill>
                </a:endParaRPr>
              </a:p>
            </p:txBody>
          </p:sp>
        </mc:Choice>
        <mc:Fallback>
          <p:sp>
            <p:nvSpPr>
              <p:cNvPr id="24" name="TextBox 23">
                <a:extLst>
                  <a:ext uri="{FF2B5EF4-FFF2-40B4-BE49-F238E27FC236}">
                    <a16:creationId xmlns:a16="http://schemas.microsoft.com/office/drawing/2014/main" id="{E1FD3014-5ECB-C99A-16EB-C275D70DE89F}"/>
                  </a:ext>
                </a:extLst>
              </p:cNvPr>
              <p:cNvSpPr txBox="1">
                <a:spLocks noRot="1" noChangeAspect="1" noMove="1" noResize="1" noEditPoints="1" noAdjustHandles="1" noChangeArrowheads="1" noChangeShapeType="1" noTextEdit="1"/>
              </p:cNvSpPr>
              <p:nvPr/>
            </p:nvSpPr>
            <p:spPr>
              <a:xfrm>
                <a:off x="360019" y="3853354"/>
                <a:ext cx="291136" cy="369332"/>
              </a:xfrm>
              <a:prstGeom prst="rect">
                <a:avLst/>
              </a:prstGeom>
              <a:blipFill>
                <a:blip r:embed="rId5"/>
                <a:stretch>
                  <a:fillRect r="-16667"/>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76E023C4-5C6A-4416-DA00-F8162FD1ED38}"/>
              </a:ext>
            </a:extLst>
          </p:cNvPr>
          <p:cNvCxnSpPr>
            <a:cxnSpLocks/>
          </p:cNvCxnSpPr>
          <p:nvPr/>
        </p:nvCxnSpPr>
        <p:spPr>
          <a:xfrm rot="16200000">
            <a:off x="793984" y="399229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AFDA03DA-8CF9-A47E-4456-46ECDFEA7466}"/>
              </a:ext>
            </a:extLst>
          </p:cNvPr>
          <p:cNvSpPr/>
          <p:nvPr/>
        </p:nvSpPr>
        <p:spPr>
          <a:xfrm>
            <a:off x="1490807" y="2379811"/>
            <a:ext cx="2971800" cy="29718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CED80277-F8BC-5A04-638D-EE27C3743451}"/>
                  </a:ext>
                </a:extLst>
              </p:cNvPr>
              <p:cNvSpPr txBox="1"/>
              <p:nvPr/>
            </p:nvSpPr>
            <p:spPr>
              <a:xfrm>
                <a:off x="4188773" y="5298802"/>
                <a:ext cx="3901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𝐼𝑆</m:t>
                      </m:r>
                    </m:oMath>
                  </m:oMathPara>
                </a14:m>
                <a:endParaRPr lang="en-US" sz="1400" dirty="0">
                  <a:solidFill>
                    <a:srgbClr val="00B0F0"/>
                  </a:solidFill>
                </a:endParaRPr>
              </a:p>
            </p:txBody>
          </p:sp>
        </mc:Choice>
        <mc:Fallback>
          <p:sp>
            <p:nvSpPr>
              <p:cNvPr id="21" name="TextBox 20">
                <a:extLst>
                  <a:ext uri="{FF2B5EF4-FFF2-40B4-BE49-F238E27FC236}">
                    <a16:creationId xmlns:a16="http://schemas.microsoft.com/office/drawing/2014/main" id="{CED80277-F8BC-5A04-638D-EE27C3743451}"/>
                  </a:ext>
                </a:extLst>
              </p:cNvPr>
              <p:cNvSpPr txBox="1">
                <a:spLocks noRot="1" noChangeAspect="1" noMove="1" noResize="1" noEditPoints="1" noAdjustHandles="1" noChangeArrowheads="1" noChangeShapeType="1" noTextEdit="1"/>
              </p:cNvSpPr>
              <p:nvPr/>
            </p:nvSpPr>
            <p:spPr>
              <a:xfrm>
                <a:off x="4188773" y="5298802"/>
                <a:ext cx="390171" cy="307777"/>
              </a:xfrm>
              <a:prstGeom prst="rect">
                <a:avLst/>
              </a:prstGeom>
              <a:blipFill>
                <a:blip r:embed="rId6"/>
                <a:stretch>
                  <a:fillRect/>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94A8360E-6639-9B77-2D1B-465F718FD32F}"/>
              </a:ext>
            </a:extLst>
          </p:cNvPr>
          <p:cNvSpPr/>
          <p:nvPr/>
        </p:nvSpPr>
        <p:spPr>
          <a:xfrm>
            <a:off x="2493177" y="3989763"/>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4439BF64-7FD7-6C7A-E66C-C25B49358B8A}"/>
              </a:ext>
            </a:extLst>
          </p:cNvPr>
          <p:cNvCxnSpPr/>
          <p:nvPr/>
        </p:nvCxnSpPr>
        <p:spPr>
          <a:xfrm>
            <a:off x="2530795" y="5001072"/>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BDDF9D1A-18DB-9D07-02E8-7801C5A35C6A}"/>
                  </a:ext>
                </a:extLst>
              </p:cNvPr>
              <p:cNvSpPr txBox="1"/>
              <p:nvPr/>
            </p:nvSpPr>
            <p:spPr>
              <a:xfrm>
                <a:off x="2471318" y="4998662"/>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29" name="TextBox 28">
                <a:extLst>
                  <a:ext uri="{FF2B5EF4-FFF2-40B4-BE49-F238E27FC236}">
                    <a16:creationId xmlns:a16="http://schemas.microsoft.com/office/drawing/2014/main" id="{BDDF9D1A-18DB-9D07-02E8-7801C5A35C6A}"/>
                  </a:ext>
                </a:extLst>
              </p:cNvPr>
              <p:cNvSpPr txBox="1">
                <a:spLocks noRot="1" noChangeAspect="1" noMove="1" noResize="1" noEditPoints="1" noAdjustHandles="1" noChangeArrowheads="1" noChangeShapeType="1" noTextEdit="1"/>
              </p:cNvSpPr>
              <p:nvPr/>
            </p:nvSpPr>
            <p:spPr>
              <a:xfrm>
                <a:off x="2471318" y="4998662"/>
                <a:ext cx="336188" cy="33855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B6478DC-627B-5994-3961-41F7E19507BD}"/>
                  </a:ext>
                </a:extLst>
              </p:cNvPr>
              <p:cNvSpPr txBox="1"/>
              <p:nvPr/>
            </p:nvSpPr>
            <p:spPr>
              <a:xfrm>
                <a:off x="2464602" y="3687784"/>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𝐴</m:t>
                      </m:r>
                    </m:oMath>
                  </m:oMathPara>
                </a14:m>
                <a:endParaRPr lang="en-US" sz="1600" dirty="0"/>
              </a:p>
            </p:txBody>
          </p:sp>
        </mc:Choice>
        <mc:Fallback>
          <p:sp>
            <p:nvSpPr>
              <p:cNvPr id="3" name="TextBox 2">
                <a:extLst>
                  <a:ext uri="{FF2B5EF4-FFF2-40B4-BE49-F238E27FC236}">
                    <a16:creationId xmlns:a16="http://schemas.microsoft.com/office/drawing/2014/main" id="{8B6478DC-627B-5994-3961-41F7E19507BD}"/>
                  </a:ext>
                </a:extLst>
              </p:cNvPr>
              <p:cNvSpPr txBox="1">
                <a:spLocks noRot="1" noChangeAspect="1" noMove="1" noResize="1" noEditPoints="1" noAdjustHandles="1" noChangeArrowheads="1" noChangeShapeType="1" noTextEdit="1"/>
              </p:cNvSpPr>
              <p:nvPr/>
            </p:nvSpPr>
            <p:spPr>
              <a:xfrm>
                <a:off x="2464602" y="3687784"/>
                <a:ext cx="336188" cy="3385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1856D1D-4642-5C37-6889-C8E1CF5E4662}"/>
                  </a:ext>
                </a:extLst>
              </p:cNvPr>
              <p:cNvSpPr txBox="1"/>
              <p:nvPr/>
            </p:nvSpPr>
            <p:spPr>
              <a:xfrm>
                <a:off x="1107257" y="3710620"/>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m:t>
                          </m:r>
                        </m:sup>
                      </m:sSup>
                    </m:oMath>
                  </m:oMathPara>
                </a14:m>
                <a:endParaRPr lang="en-US" sz="1600" dirty="0"/>
              </a:p>
            </p:txBody>
          </p:sp>
        </mc:Choice>
        <mc:Fallback>
          <p:sp>
            <p:nvSpPr>
              <p:cNvPr id="15" name="TextBox 14">
                <a:extLst>
                  <a:ext uri="{FF2B5EF4-FFF2-40B4-BE49-F238E27FC236}">
                    <a16:creationId xmlns:a16="http://schemas.microsoft.com/office/drawing/2014/main" id="{D1856D1D-4642-5C37-6889-C8E1CF5E4662}"/>
                  </a:ext>
                </a:extLst>
              </p:cNvPr>
              <p:cNvSpPr txBox="1">
                <a:spLocks noRot="1" noChangeAspect="1" noMove="1" noResize="1" noEditPoints="1" noAdjustHandles="1" noChangeArrowheads="1" noChangeShapeType="1" noTextEdit="1"/>
              </p:cNvSpPr>
              <p:nvPr/>
            </p:nvSpPr>
            <p:spPr>
              <a:xfrm>
                <a:off x="1107257" y="3710620"/>
                <a:ext cx="336188" cy="338554"/>
              </a:xfrm>
              <a:prstGeom prst="rect">
                <a:avLst/>
              </a:prstGeom>
              <a:blipFill>
                <a:blip r:embed="rId9"/>
                <a:stretch>
                  <a:fillRect/>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6A5EF97D-E634-0618-36E1-A5602F83FC5F}"/>
              </a:ext>
            </a:extLst>
          </p:cNvPr>
          <p:cNvCxnSpPr/>
          <p:nvPr/>
        </p:nvCxnSpPr>
        <p:spPr>
          <a:xfrm>
            <a:off x="1122522" y="5004635"/>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E274A5EC-F454-71DD-2184-90B6DAA7C2BB}"/>
                  </a:ext>
                </a:extLst>
              </p:cNvPr>
              <p:cNvSpPr txBox="1"/>
              <p:nvPr/>
            </p:nvSpPr>
            <p:spPr>
              <a:xfrm>
                <a:off x="1121010" y="4743306"/>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sup>
                      </m:sSup>
                    </m:oMath>
                  </m:oMathPara>
                </a14:m>
                <a:endParaRPr lang="en-US" sz="1600" dirty="0"/>
              </a:p>
            </p:txBody>
          </p:sp>
        </mc:Choice>
        <mc:Fallback>
          <p:sp>
            <p:nvSpPr>
              <p:cNvPr id="33" name="TextBox 32">
                <a:extLst>
                  <a:ext uri="{FF2B5EF4-FFF2-40B4-BE49-F238E27FC236}">
                    <a16:creationId xmlns:a16="http://schemas.microsoft.com/office/drawing/2014/main" id="{E274A5EC-F454-71DD-2184-90B6DAA7C2BB}"/>
                  </a:ext>
                </a:extLst>
              </p:cNvPr>
              <p:cNvSpPr txBox="1">
                <a:spLocks noRot="1" noChangeAspect="1" noMove="1" noResize="1" noEditPoints="1" noAdjustHandles="1" noChangeArrowheads="1" noChangeShapeType="1" noTextEdit="1"/>
              </p:cNvSpPr>
              <p:nvPr/>
            </p:nvSpPr>
            <p:spPr>
              <a:xfrm>
                <a:off x="1121010" y="4743306"/>
                <a:ext cx="336188" cy="338554"/>
              </a:xfrm>
              <a:prstGeom prst="rect">
                <a:avLst/>
              </a:prstGeom>
              <a:blipFill>
                <a:blip r:embed="rId10"/>
                <a:stretch>
                  <a:fillRect r="-16364"/>
                </a:stretch>
              </a:blipFill>
            </p:spPr>
            <p:txBody>
              <a:bodyPr/>
              <a:lstStyle/>
              <a:p>
                <a:r>
                  <a:rPr lang="en-US">
                    <a:noFill/>
                  </a:rPr>
                  <a:t> </a:t>
                </a:r>
              </a:p>
            </p:txBody>
          </p:sp>
        </mc:Fallback>
      </mc:AlternateContent>
      <p:sp>
        <p:nvSpPr>
          <p:cNvPr id="23" name="Freeform: Shape 22">
            <a:extLst>
              <a:ext uri="{FF2B5EF4-FFF2-40B4-BE49-F238E27FC236}">
                <a16:creationId xmlns:a16="http://schemas.microsoft.com/office/drawing/2014/main" id="{C9CA6E50-DEA0-7C8C-D8E4-4C77BFED102B}"/>
              </a:ext>
            </a:extLst>
          </p:cNvPr>
          <p:cNvSpPr/>
          <p:nvPr/>
        </p:nvSpPr>
        <p:spPr>
          <a:xfrm>
            <a:off x="901833" y="3611681"/>
            <a:ext cx="2286000" cy="22860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679E1700-E0DF-D01B-891E-72D79C137297}"/>
                  </a:ext>
                </a:extLst>
              </p:cNvPr>
              <p:cNvSpPr txBox="1"/>
              <p:nvPr/>
            </p:nvSpPr>
            <p:spPr>
              <a:xfrm>
                <a:off x="2582454" y="5715748"/>
                <a:ext cx="43667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m:t>
                      </m:r>
                      <m:sSup>
                        <m:sSupPr>
                          <m:ctrlPr>
                            <a:rPr lang="en-US" sz="1400" b="0" i="1" dirty="0" smtClean="0">
                              <a:solidFill>
                                <a:srgbClr val="00B0F0"/>
                              </a:solidFill>
                              <a:latin typeface="Cambria Math" panose="02040503050406030204" pitchFamily="18" charset="0"/>
                            </a:rPr>
                          </m:ctrlPr>
                        </m:sSupPr>
                        <m:e>
                          <m:r>
                            <a:rPr lang="en-US" sz="1400" b="0" i="1" dirty="0" smtClean="0">
                              <a:solidFill>
                                <a:srgbClr val="00B0F0"/>
                              </a:solidFill>
                              <a:latin typeface="Cambria Math" panose="02040503050406030204" pitchFamily="18" charset="0"/>
                            </a:rPr>
                            <m:t>𝑆</m:t>
                          </m:r>
                        </m:e>
                        <m:sup>
                          <m:r>
                            <a:rPr lang="en-US" sz="1400" b="0" i="1" dirty="0" smtClean="0">
                              <a:solidFill>
                                <a:srgbClr val="00B0F0"/>
                              </a:solidFill>
                              <a:latin typeface="Cambria Math" panose="02040503050406030204" pitchFamily="18" charset="0"/>
                            </a:rPr>
                            <m:t>′</m:t>
                          </m:r>
                        </m:sup>
                      </m:sSup>
                    </m:oMath>
                  </m:oMathPara>
                </a14:m>
                <a:endParaRPr lang="en-US" sz="1400" dirty="0">
                  <a:solidFill>
                    <a:srgbClr val="00B0F0"/>
                  </a:solidFill>
                </a:endParaRPr>
              </a:p>
            </p:txBody>
          </p:sp>
        </mc:Choice>
        <mc:Fallback>
          <p:sp>
            <p:nvSpPr>
              <p:cNvPr id="27" name="TextBox 26">
                <a:extLst>
                  <a:ext uri="{FF2B5EF4-FFF2-40B4-BE49-F238E27FC236}">
                    <a16:creationId xmlns:a16="http://schemas.microsoft.com/office/drawing/2014/main" id="{679E1700-E0DF-D01B-891E-72D79C137297}"/>
                  </a:ext>
                </a:extLst>
              </p:cNvPr>
              <p:cNvSpPr txBox="1">
                <a:spLocks noRot="1" noChangeAspect="1" noMove="1" noResize="1" noEditPoints="1" noAdjustHandles="1" noChangeArrowheads="1" noChangeShapeType="1" noTextEdit="1"/>
              </p:cNvSpPr>
              <p:nvPr/>
            </p:nvSpPr>
            <p:spPr>
              <a:xfrm>
                <a:off x="2582454" y="5715748"/>
                <a:ext cx="436671" cy="307777"/>
              </a:xfrm>
              <a:prstGeom prst="rect">
                <a:avLst/>
              </a:prstGeom>
              <a:blipFill>
                <a:blip r:embed="rId11"/>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C21D04F3-3339-40D7-C9AE-F2E28485ECA4}"/>
              </a:ext>
            </a:extLst>
          </p:cNvPr>
          <p:cNvCxnSpPr>
            <a:cxnSpLocks/>
            <a:stCxn id="14" idx="4"/>
          </p:cNvCxnSpPr>
          <p:nvPr/>
        </p:nvCxnSpPr>
        <p:spPr>
          <a:xfrm>
            <a:off x="1121010" y="4062914"/>
            <a:ext cx="0" cy="96902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47503F3-B44E-1C2C-78B0-695AA5133E4E}"/>
              </a:ext>
            </a:extLst>
          </p:cNvPr>
          <p:cNvSpPr/>
          <p:nvPr/>
        </p:nvSpPr>
        <p:spPr>
          <a:xfrm>
            <a:off x="1084434" y="3989762"/>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97B81A5A-61BA-5900-E84A-BFB10EC2D05B}"/>
                  </a:ext>
                </a:extLst>
              </p:cNvPr>
              <p:cNvSpPr txBox="1"/>
              <p:nvPr/>
            </p:nvSpPr>
            <p:spPr>
              <a:xfrm>
                <a:off x="346533" y="4832005"/>
                <a:ext cx="2911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p:sp>
            <p:nvSpPr>
              <p:cNvPr id="31" name="TextBox 30">
                <a:extLst>
                  <a:ext uri="{FF2B5EF4-FFF2-40B4-BE49-F238E27FC236}">
                    <a16:creationId xmlns:a16="http://schemas.microsoft.com/office/drawing/2014/main" id="{97B81A5A-61BA-5900-E84A-BFB10EC2D05B}"/>
                  </a:ext>
                </a:extLst>
              </p:cNvPr>
              <p:cNvSpPr txBox="1">
                <a:spLocks noRot="1" noChangeAspect="1" noMove="1" noResize="1" noEditPoints="1" noAdjustHandles="1" noChangeArrowheads="1" noChangeShapeType="1" noTextEdit="1"/>
              </p:cNvSpPr>
              <p:nvPr/>
            </p:nvSpPr>
            <p:spPr>
              <a:xfrm>
                <a:off x="346533" y="4832005"/>
                <a:ext cx="291136" cy="369332"/>
              </a:xfrm>
              <a:prstGeom prst="rect">
                <a:avLst/>
              </a:prstGeom>
              <a:blipFill>
                <a:blip r:embed="rId12"/>
                <a:stretch>
                  <a:fillRect r="-2083"/>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F13918D8-D335-1AEE-B95B-E6BC1ABDD2A8}"/>
              </a:ext>
            </a:extLst>
          </p:cNvPr>
          <p:cNvCxnSpPr>
            <a:cxnSpLocks/>
            <a:stCxn id="22" idx="4"/>
          </p:cNvCxnSpPr>
          <p:nvPr/>
        </p:nvCxnSpPr>
        <p:spPr>
          <a:xfrm>
            <a:off x="2529753" y="4062915"/>
            <a:ext cx="0" cy="9655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BF4F394-ACD6-F1F2-139C-E27B9B9608CD}"/>
              </a:ext>
            </a:extLst>
          </p:cNvPr>
          <p:cNvCxnSpPr>
            <a:cxnSpLocks/>
          </p:cNvCxnSpPr>
          <p:nvPr/>
        </p:nvCxnSpPr>
        <p:spPr>
          <a:xfrm flipV="1">
            <a:off x="782538" y="4413902"/>
            <a:ext cx="3621867" cy="29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7EF661-BB4B-9233-3321-2AF5E43D2297}"/>
              </a:ext>
            </a:extLst>
          </p:cNvPr>
          <p:cNvCxnSpPr>
            <a:cxnSpLocks/>
            <a:endCxn id="11" idx="0"/>
          </p:cNvCxnSpPr>
          <p:nvPr/>
        </p:nvCxnSpPr>
        <p:spPr>
          <a:xfrm flipV="1">
            <a:off x="2089008" y="4377326"/>
            <a:ext cx="0" cy="65115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7F1E6BE0-AC9A-53B9-1E5A-442219131DD6}"/>
                  </a:ext>
                </a:extLst>
              </p:cNvPr>
              <p:cNvSpPr txBox="1"/>
              <p:nvPr/>
            </p:nvSpPr>
            <p:spPr>
              <a:xfrm>
                <a:off x="4114827" y="4119786"/>
                <a:ext cx="53514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C00000"/>
                          </a:solidFill>
                          <a:latin typeface="Cambria Math" panose="02040503050406030204" pitchFamily="18" charset="0"/>
                        </a:rPr>
                        <m:t>𝐿</m:t>
                      </m:r>
                      <m:sSup>
                        <m:sSupPr>
                          <m:ctrlPr>
                            <a:rPr lang="en-US" sz="1400" b="0" i="1" dirty="0" smtClean="0">
                              <a:solidFill>
                                <a:srgbClr val="C00000"/>
                              </a:solidFill>
                              <a:latin typeface="Cambria Math" panose="02040503050406030204" pitchFamily="18" charset="0"/>
                            </a:rPr>
                          </m:ctrlPr>
                        </m:sSupPr>
                        <m:e>
                          <m:r>
                            <a:rPr lang="en-US" sz="1400" b="0" i="1" dirty="0" smtClean="0">
                              <a:solidFill>
                                <a:srgbClr val="C00000"/>
                              </a:solidFill>
                              <a:latin typeface="Cambria Math" panose="02040503050406030204" pitchFamily="18" charset="0"/>
                            </a:rPr>
                            <m:t>𝑀</m:t>
                          </m:r>
                        </m:e>
                        <m:sup>
                          <m:r>
                            <a:rPr lang="en-US" sz="1400" b="0" i="1" dirty="0" smtClean="0">
                              <a:solidFill>
                                <a:srgbClr val="C00000"/>
                              </a:solidFill>
                              <a:latin typeface="Cambria Math" panose="02040503050406030204" pitchFamily="18" charset="0"/>
                            </a:rPr>
                            <m:t>′</m:t>
                          </m:r>
                        </m:sup>
                      </m:sSup>
                    </m:oMath>
                  </m:oMathPara>
                </a14:m>
                <a:endParaRPr lang="en-US" sz="1400" dirty="0">
                  <a:solidFill>
                    <a:srgbClr val="C00000"/>
                  </a:solidFill>
                </a:endParaRPr>
              </a:p>
            </p:txBody>
          </p:sp>
        </mc:Choice>
        <mc:Fallback>
          <p:sp>
            <p:nvSpPr>
              <p:cNvPr id="26" name="TextBox 25">
                <a:extLst>
                  <a:ext uri="{FF2B5EF4-FFF2-40B4-BE49-F238E27FC236}">
                    <a16:creationId xmlns:a16="http://schemas.microsoft.com/office/drawing/2014/main" id="{7F1E6BE0-AC9A-53B9-1E5A-442219131DD6}"/>
                  </a:ext>
                </a:extLst>
              </p:cNvPr>
              <p:cNvSpPr txBox="1">
                <a:spLocks noRot="1" noChangeAspect="1" noMove="1" noResize="1" noEditPoints="1" noAdjustHandles="1" noChangeArrowheads="1" noChangeShapeType="1" noTextEdit="1"/>
              </p:cNvSpPr>
              <p:nvPr/>
            </p:nvSpPr>
            <p:spPr>
              <a:xfrm>
                <a:off x="4114827" y="4119786"/>
                <a:ext cx="535146"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D7951840-7A86-8E99-4351-CCB7F26D856E}"/>
                  </a:ext>
                </a:extLst>
              </p:cNvPr>
              <p:cNvSpPr txBox="1"/>
              <p:nvPr/>
            </p:nvSpPr>
            <p:spPr>
              <a:xfrm>
                <a:off x="2020459" y="4102484"/>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𝐴</m:t>
                          </m:r>
                        </m:e>
                        <m:sup>
                          <m:r>
                            <a:rPr lang="en-US" sz="1600" b="0" i="1" dirty="0" smtClean="0">
                              <a:latin typeface="Cambria Math" panose="02040503050406030204" pitchFamily="18" charset="0"/>
                            </a:rPr>
                            <m:t>′′</m:t>
                          </m:r>
                        </m:sup>
                      </m:sSup>
                    </m:oMath>
                  </m:oMathPara>
                </a14:m>
                <a:endParaRPr lang="en-US" sz="1600" dirty="0"/>
              </a:p>
            </p:txBody>
          </p:sp>
        </mc:Choice>
        <mc:Fallback>
          <p:sp>
            <p:nvSpPr>
              <p:cNvPr id="35" name="TextBox 34">
                <a:extLst>
                  <a:ext uri="{FF2B5EF4-FFF2-40B4-BE49-F238E27FC236}">
                    <a16:creationId xmlns:a16="http://schemas.microsoft.com/office/drawing/2014/main" id="{D7951840-7A86-8E99-4351-CCB7F26D856E}"/>
                  </a:ext>
                </a:extLst>
              </p:cNvPr>
              <p:cNvSpPr txBox="1">
                <a:spLocks noRot="1" noChangeAspect="1" noMove="1" noResize="1" noEditPoints="1" noAdjustHandles="1" noChangeArrowheads="1" noChangeShapeType="1" noTextEdit="1"/>
              </p:cNvSpPr>
              <p:nvPr/>
            </p:nvSpPr>
            <p:spPr>
              <a:xfrm>
                <a:off x="2020459" y="4102484"/>
                <a:ext cx="336188" cy="338554"/>
              </a:xfrm>
              <a:prstGeom prst="rect">
                <a:avLst/>
              </a:prstGeom>
              <a:blipFill>
                <a:blip r:embed="rId14"/>
                <a:stretch>
                  <a:fillRect r="-71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A4F1DEE3-0153-06C1-87FB-F1F8B5ECB364}"/>
                  </a:ext>
                </a:extLst>
              </p:cNvPr>
              <p:cNvSpPr txBox="1"/>
              <p:nvPr/>
            </p:nvSpPr>
            <p:spPr>
              <a:xfrm>
                <a:off x="356557" y="4284550"/>
                <a:ext cx="291136" cy="370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solidFill>
                                <a:schemeClr val="tx1"/>
                              </a:solidFill>
                              <a:latin typeface="Cambria Math" panose="02040503050406030204" pitchFamily="18" charset="0"/>
                            </a:rPr>
                          </m:ctrlPr>
                        </m:accPr>
                        <m:e>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𝑟</m:t>
                              </m:r>
                            </m:e>
                            <m:sup>
                              <m:r>
                                <a:rPr lang="en-US" sz="1800" b="0" i="1" smtClean="0">
                                  <a:solidFill>
                                    <a:schemeClr val="tx1"/>
                                  </a:solidFill>
                                  <a:latin typeface="Cambria Math" panose="02040503050406030204" pitchFamily="18" charset="0"/>
                                </a:rPr>
                                <m:t>′</m:t>
                              </m:r>
                            </m:sup>
                          </m:sSup>
                        </m:e>
                      </m:acc>
                    </m:oMath>
                  </m:oMathPara>
                </a14:m>
                <a:endParaRPr lang="en-US" dirty="0">
                  <a:solidFill>
                    <a:schemeClr val="tx1"/>
                  </a:solidFill>
                </a:endParaRPr>
              </a:p>
            </p:txBody>
          </p:sp>
        </mc:Choice>
        <mc:Fallback>
          <p:sp>
            <p:nvSpPr>
              <p:cNvPr id="37" name="TextBox 36">
                <a:extLst>
                  <a:ext uri="{FF2B5EF4-FFF2-40B4-BE49-F238E27FC236}">
                    <a16:creationId xmlns:a16="http://schemas.microsoft.com/office/drawing/2014/main" id="{A4F1DEE3-0153-06C1-87FB-F1F8B5ECB364}"/>
                  </a:ext>
                </a:extLst>
              </p:cNvPr>
              <p:cNvSpPr txBox="1">
                <a:spLocks noRot="1" noChangeAspect="1" noMove="1" noResize="1" noEditPoints="1" noAdjustHandles="1" noChangeArrowheads="1" noChangeShapeType="1" noTextEdit="1"/>
              </p:cNvSpPr>
              <p:nvPr/>
            </p:nvSpPr>
            <p:spPr>
              <a:xfrm>
                <a:off x="356557" y="4284550"/>
                <a:ext cx="291136" cy="370743"/>
              </a:xfrm>
              <a:prstGeom prst="rect">
                <a:avLst/>
              </a:prstGeom>
              <a:blipFill>
                <a:blip r:embed="rId15"/>
                <a:stretch>
                  <a:fillRect r="-10417"/>
                </a:stretch>
              </a:blipFill>
            </p:spPr>
            <p:txBody>
              <a:bodyPr/>
              <a:lstStyle/>
              <a:p>
                <a:r>
                  <a:rPr lang="en-US">
                    <a:noFill/>
                  </a:rPr>
                  <a:t> </a:t>
                </a:r>
              </a:p>
            </p:txBody>
          </p:sp>
        </mc:Fallback>
      </mc:AlternateContent>
      <p:cxnSp>
        <p:nvCxnSpPr>
          <p:cNvPr id="38" name="Straight Connector 37">
            <a:extLst>
              <a:ext uri="{FF2B5EF4-FFF2-40B4-BE49-F238E27FC236}">
                <a16:creationId xmlns:a16="http://schemas.microsoft.com/office/drawing/2014/main" id="{844A6907-18B0-D392-EC30-A643CD1341C0}"/>
              </a:ext>
            </a:extLst>
          </p:cNvPr>
          <p:cNvCxnSpPr>
            <a:cxnSpLocks/>
          </p:cNvCxnSpPr>
          <p:nvPr/>
        </p:nvCxnSpPr>
        <p:spPr>
          <a:xfrm rot="16200000">
            <a:off x="792193" y="4379911"/>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4C2758AD-F1D9-8285-7B07-FAA005E784F6}"/>
              </a:ext>
            </a:extLst>
          </p:cNvPr>
          <p:cNvSpPr/>
          <p:nvPr/>
        </p:nvSpPr>
        <p:spPr>
          <a:xfrm>
            <a:off x="1196815" y="2971458"/>
            <a:ext cx="2743200" cy="2743200"/>
          </a:xfrm>
          <a:custGeom>
            <a:avLst/>
            <a:gdLst>
              <a:gd name="connsiteX0" fmla="*/ 0 w 3359150"/>
              <a:gd name="connsiteY0" fmla="*/ 0 h 3352800"/>
              <a:gd name="connsiteX1" fmla="*/ 1358900 w 3359150"/>
              <a:gd name="connsiteY1" fmla="*/ 2051050 h 3352800"/>
              <a:gd name="connsiteX2" fmla="*/ 3359150 w 3359150"/>
              <a:gd name="connsiteY2" fmla="*/ 3352800 h 3352800"/>
            </a:gdLst>
            <a:ahLst/>
            <a:cxnLst>
              <a:cxn ang="0">
                <a:pos x="connsiteX0" y="connsiteY0"/>
              </a:cxn>
              <a:cxn ang="0">
                <a:pos x="connsiteX1" y="connsiteY1"/>
              </a:cxn>
              <a:cxn ang="0">
                <a:pos x="connsiteX2" y="connsiteY2"/>
              </a:cxn>
            </a:cxnLst>
            <a:rect l="l" t="t" r="r" b="b"/>
            <a:pathLst>
              <a:path w="3359150" h="3352800">
                <a:moveTo>
                  <a:pt x="0" y="0"/>
                </a:moveTo>
                <a:cubicBezTo>
                  <a:pt x="399521" y="746125"/>
                  <a:pt x="799042" y="1492250"/>
                  <a:pt x="1358900" y="2051050"/>
                </a:cubicBezTo>
                <a:cubicBezTo>
                  <a:pt x="1918758" y="2609850"/>
                  <a:pt x="2638954" y="2981325"/>
                  <a:pt x="3359150" y="3352800"/>
                </a:cubicBezTo>
              </a:path>
            </a:pathLst>
          </a:cu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82BD80F4-7CC2-BB28-8F25-4825851B6FC6}"/>
                  </a:ext>
                </a:extLst>
              </p:cNvPr>
              <p:cNvSpPr txBox="1"/>
              <p:nvPr/>
            </p:nvSpPr>
            <p:spPr>
              <a:xfrm>
                <a:off x="3415222" y="5571433"/>
                <a:ext cx="43667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rgbClr val="00B0F0"/>
                          </a:solidFill>
                          <a:latin typeface="Cambria Math" panose="02040503050406030204" pitchFamily="18" charset="0"/>
                        </a:rPr>
                        <m:t>𝐼</m:t>
                      </m:r>
                      <m:sSup>
                        <m:sSupPr>
                          <m:ctrlPr>
                            <a:rPr lang="en-US" sz="1400" b="0" i="1" dirty="0" smtClean="0">
                              <a:solidFill>
                                <a:srgbClr val="00B0F0"/>
                              </a:solidFill>
                              <a:latin typeface="Cambria Math" panose="02040503050406030204" pitchFamily="18" charset="0"/>
                            </a:rPr>
                          </m:ctrlPr>
                        </m:sSupPr>
                        <m:e>
                          <m:r>
                            <a:rPr lang="en-US" sz="1400" b="0" i="1" dirty="0" smtClean="0">
                              <a:solidFill>
                                <a:srgbClr val="00B0F0"/>
                              </a:solidFill>
                              <a:latin typeface="Cambria Math" panose="02040503050406030204" pitchFamily="18" charset="0"/>
                            </a:rPr>
                            <m:t>𝑆</m:t>
                          </m:r>
                        </m:e>
                        <m:sup>
                          <m:r>
                            <a:rPr lang="en-US" sz="1400" b="0" i="1" dirty="0" smtClean="0">
                              <a:solidFill>
                                <a:srgbClr val="00B0F0"/>
                              </a:solidFill>
                              <a:latin typeface="Cambria Math" panose="02040503050406030204" pitchFamily="18" charset="0"/>
                            </a:rPr>
                            <m:t>′</m:t>
                          </m:r>
                          <m:r>
                            <a:rPr lang="en-US" sz="1400" b="0" i="1" dirty="0" smtClean="0">
                              <a:solidFill>
                                <a:srgbClr val="00B0F0"/>
                              </a:solidFill>
                              <a:latin typeface="Cambria Math" panose="02040503050406030204" pitchFamily="18" charset="0"/>
                            </a:rPr>
                            <m:t>′</m:t>
                          </m:r>
                        </m:sup>
                      </m:sSup>
                    </m:oMath>
                  </m:oMathPara>
                </a14:m>
                <a:endParaRPr lang="en-US" sz="1400" dirty="0">
                  <a:solidFill>
                    <a:srgbClr val="00B0F0"/>
                  </a:solidFill>
                </a:endParaRPr>
              </a:p>
            </p:txBody>
          </p:sp>
        </mc:Choice>
        <mc:Fallback>
          <p:sp>
            <p:nvSpPr>
              <p:cNvPr id="16" name="TextBox 15">
                <a:extLst>
                  <a:ext uri="{FF2B5EF4-FFF2-40B4-BE49-F238E27FC236}">
                    <a16:creationId xmlns:a16="http://schemas.microsoft.com/office/drawing/2014/main" id="{82BD80F4-7CC2-BB28-8F25-4825851B6FC6}"/>
                  </a:ext>
                </a:extLst>
              </p:cNvPr>
              <p:cNvSpPr txBox="1">
                <a:spLocks noRot="1" noChangeAspect="1" noMove="1" noResize="1" noEditPoints="1" noAdjustHandles="1" noChangeArrowheads="1" noChangeShapeType="1" noTextEdit="1"/>
              </p:cNvSpPr>
              <p:nvPr/>
            </p:nvSpPr>
            <p:spPr>
              <a:xfrm>
                <a:off x="3415222" y="5571433"/>
                <a:ext cx="436671" cy="307777"/>
              </a:xfrm>
              <a:prstGeom prst="rect">
                <a:avLst/>
              </a:prstGeom>
              <a:blipFill>
                <a:blip r:embed="rId16"/>
                <a:stretch>
                  <a:fillRect/>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E8F7F0F5-223E-779F-F43B-3F41B2DCDFCA}"/>
              </a:ext>
            </a:extLst>
          </p:cNvPr>
          <p:cNvSpPr/>
          <p:nvPr/>
        </p:nvSpPr>
        <p:spPr>
          <a:xfrm>
            <a:off x="2052432" y="4377326"/>
            <a:ext cx="73152" cy="7315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253FF17-405A-A839-0956-170FDE52A2EC}"/>
              </a:ext>
            </a:extLst>
          </p:cNvPr>
          <p:cNvCxnSpPr/>
          <p:nvPr/>
        </p:nvCxnSpPr>
        <p:spPr>
          <a:xfrm>
            <a:off x="2087063" y="5001072"/>
            <a:ext cx="0" cy="680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A0A264CF-8525-FD1A-F004-199146FCCB36}"/>
                  </a:ext>
                </a:extLst>
              </p:cNvPr>
              <p:cNvSpPr txBox="1"/>
              <p:nvPr/>
            </p:nvSpPr>
            <p:spPr>
              <a:xfrm>
                <a:off x="2049404" y="4739871"/>
                <a:ext cx="33618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𝑌</m:t>
                          </m:r>
                        </m:e>
                        <m:sup>
                          <m:r>
                            <a:rPr lang="en-US" sz="1600" b="0" i="1" dirty="0" smtClean="0">
                              <a:latin typeface="Cambria Math" panose="02040503050406030204" pitchFamily="18" charset="0"/>
                            </a:rPr>
                            <m:t>∗</m:t>
                          </m:r>
                          <m:r>
                            <a:rPr lang="en-US" sz="1600" b="0" i="1" dirty="0" smtClean="0">
                              <a:latin typeface="Cambria Math" panose="02040503050406030204" pitchFamily="18" charset="0"/>
                            </a:rPr>
                            <m:t>′′</m:t>
                          </m:r>
                        </m:sup>
                      </m:sSup>
                    </m:oMath>
                  </m:oMathPara>
                </a14:m>
                <a:endParaRPr lang="en-US" sz="1600" dirty="0"/>
              </a:p>
            </p:txBody>
          </p:sp>
        </mc:Choice>
        <mc:Fallback>
          <p:sp>
            <p:nvSpPr>
              <p:cNvPr id="42" name="TextBox 41">
                <a:extLst>
                  <a:ext uri="{FF2B5EF4-FFF2-40B4-BE49-F238E27FC236}">
                    <a16:creationId xmlns:a16="http://schemas.microsoft.com/office/drawing/2014/main" id="{A0A264CF-8525-FD1A-F004-199146FCCB36}"/>
                  </a:ext>
                </a:extLst>
              </p:cNvPr>
              <p:cNvSpPr txBox="1">
                <a:spLocks noRot="1" noChangeAspect="1" noMove="1" noResize="1" noEditPoints="1" noAdjustHandles="1" noChangeArrowheads="1" noChangeShapeType="1" noTextEdit="1"/>
              </p:cNvSpPr>
              <p:nvPr/>
            </p:nvSpPr>
            <p:spPr>
              <a:xfrm>
                <a:off x="2049404" y="4739871"/>
                <a:ext cx="336188" cy="338554"/>
              </a:xfrm>
              <a:prstGeom prst="rect">
                <a:avLst/>
              </a:prstGeom>
              <a:blipFill>
                <a:blip r:embed="rId17"/>
                <a:stretch>
                  <a:fillRect r="-32727"/>
                </a:stretch>
              </a:blipFill>
            </p:spPr>
            <p:txBody>
              <a:bodyPr/>
              <a:lstStyle/>
              <a:p>
                <a:r>
                  <a:rPr lang="en-US">
                    <a:noFill/>
                  </a:rPr>
                  <a:t> </a:t>
                </a:r>
              </a:p>
            </p:txBody>
          </p:sp>
        </mc:Fallback>
      </mc:AlternateContent>
    </p:spTree>
    <p:extLst>
      <p:ext uri="{BB962C8B-B14F-4D97-AF65-F5344CB8AC3E}">
        <p14:creationId xmlns:p14="http://schemas.microsoft.com/office/powerpoint/2010/main" val="217047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66660-8C4E-F8A1-CB57-F738E3AC4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8DA33-162B-06EC-BCDA-278AB1DB9684}"/>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FD306339-7AE8-2589-C58D-96C111232A1A}"/>
              </a:ext>
            </a:extLst>
          </p:cNvPr>
          <p:cNvSpPr>
            <a:spLocks noGrp="1"/>
          </p:cNvSpPr>
          <p:nvPr>
            <p:ph idx="1"/>
          </p:nvPr>
        </p:nvSpPr>
        <p:spPr>
          <a:xfrm>
            <a:off x="628650" y="1825625"/>
            <a:ext cx="7886700" cy="4351338"/>
          </a:xfrm>
        </p:spPr>
        <p:txBody>
          <a:bodyPr/>
          <a:lstStyle/>
          <a:p>
            <a:r>
              <a:rPr lang="en-US" dirty="0"/>
              <a:t>You will not be asked to replicate these steps that are shown in the appendix section of the lecture notes.</a:t>
            </a:r>
          </a:p>
          <a:p>
            <a:pPr lvl="3"/>
            <a:endParaRPr lang="en-US" dirty="0"/>
          </a:p>
          <a:p>
            <a:r>
              <a:rPr lang="en-US" dirty="0"/>
              <a:t>These are included as optional reading material for those who are interested in how we derive the relation between the nominal and real interest rates, or how risk premia are calculated.</a:t>
            </a:r>
          </a:p>
          <a:p>
            <a:pPr lvl="3"/>
            <a:endParaRPr lang="en-US" dirty="0"/>
          </a:p>
          <a:p>
            <a:r>
              <a:rPr lang="en-US" dirty="0"/>
              <a:t>While you do not need to know how these relationships are derived, you will still need to know the results themselves.</a:t>
            </a:r>
          </a:p>
        </p:txBody>
      </p:sp>
      <p:sp>
        <p:nvSpPr>
          <p:cNvPr id="4" name="Date Placeholder 3">
            <a:extLst>
              <a:ext uri="{FF2B5EF4-FFF2-40B4-BE49-F238E27FC236}">
                <a16:creationId xmlns:a16="http://schemas.microsoft.com/office/drawing/2014/main" id="{E935B03C-64ED-4A73-E0CF-62F2AEAC6F1D}"/>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45B5F16C-DD53-5AED-751D-51A86F932254}"/>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C96B4FB2-C8A4-7A4D-8344-F94C00F2F2A0}"/>
              </a:ext>
            </a:extLst>
          </p:cNvPr>
          <p:cNvSpPr>
            <a:spLocks noGrp="1"/>
          </p:cNvSpPr>
          <p:nvPr>
            <p:ph type="sldNum" sz="quarter" idx="12"/>
          </p:nvPr>
        </p:nvSpPr>
        <p:spPr/>
        <p:txBody>
          <a:bodyPr/>
          <a:lstStyle/>
          <a:p>
            <a:fld id="{1A980C56-831A-4EAB-9EDE-57C090F4F877}" type="slidenum">
              <a:rPr lang="en-US" smtClean="0"/>
              <a:t>31</a:t>
            </a:fld>
            <a:endParaRPr lang="en-US" dirty="0"/>
          </a:p>
        </p:txBody>
      </p:sp>
    </p:spTree>
    <p:extLst>
      <p:ext uri="{BB962C8B-B14F-4D97-AF65-F5344CB8AC3E}">
        <p14:creationId xmlns:p14="http://schemas.microsoft.com/office/powerpoint/2010/main" val="95661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26FB4-4A50-C127-AA71-92BA55DC5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E9E84-BB19-DEA1-E97A-29B896AF2752}"/>
              </a:ext>
            </a:extLst>
          </p:cNvPr>
          <p:cNvSpPr>
            <a:spLocks noGrp="1"/>
          </p:cNvSpPr>
          <p:nvPr>
            <p:ph type="title"/>
          </p:nvPr>
        </p:nvSpPr>
        <p:spPr/>
        <p:txBody>
          <a:bodyPr/>
          <a:lstStyle/>
          <a:p>
            <a:r>
              <a:rPr lang="en-US" dirty="0"/>
              <a:t>Appendix:</a:t>
            </a:r>
            <a:br>
              <a:rPr lang="en-US" dirty="0"/>
            </a:br>
            <a:r>
              <a:rPr lang="en-US" dirty="0"/>
              <a:t>Deriving the Real Interest Rate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82F56FB-1B3D-13AA-70F4-8B78737E989E}"/>
                  </a:ext>
                </a:extLst>
              </p:cNvPr>
              <p:cNvSpPr>
                <a:spLocks noGrp="1"/>
              </p:cNvSpPr>
              <p:nvPr>
                <p:ph idx="1"/>
              </p:nvPr>
            </p:nvSpPr>
            <p:spPr>
              <a:xfrm>
                <a:off x="628650" y="1825625"/>
                <a:ext cx="7886700" cy="4351338"/>
              </a:xfrm>
            </p:spPr>
            <p:txBody>
              <a:bodyPr/>
              <a:lstStyle/>
              <a:p>
                <a:r>
                  <a:rPr lang="en-US" dirty="0"/>
                  <a:t>Suppose that you “borrow” 1 gallon of milk from your neighbor and promise to pay them back in a year’s time with </a:t>
                </a:r>
                <a14:m>
                  <m:oMath xmlns:m="http://schemas.openxmlformats.org/officeDocument/2006/math">
                    <m:r>
                      <a:rPr lang="en-US" i="1" dirty="0" smtClean="0">
                        <a:latin typeface="Cambria Math" panose="02040503050406030204" pitchFamily="18" charset="0"/>
                      </a:rPr>
                      <m:t>(1+</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r>
                      <a:rPr lang="en-US" i="1" dirty="0" smtClean="0">
                        <a:latin typeface="Cambria Math" panose="02040503050406030204" pitchFamily="18" charset="0"/>
                      </a:rPr>
                      <m:t>)</m:t>
                    </m:r>
                  </m:oMath>
                </a14:m>
                <a:r>
                  <a:rPr lang="en-US" dirty="0"/>
                  <a:t> gallons of milk.</a:t>
                </a:r>
              </a:p>
              <a:p>
                <a:pPr lvl="3"/>
                <a:endParaRPr lang="en-US" dirty="0"/>
              </a:p>
              <a:p>
                <a:r>
                  <a:rPr lang="en-US" dirty="0"/>
                  <a:t>You can think of this as the “real” interest rate, as the interest payment is defined in terms of goods.</a:t>
                </a:r>
              </a:p>
              <a:p>
                <a:pPr lvl="3"/>
                <a:endParaRPr lang="en-US" dirty="0"/>
              </a:p>
              <a:p>
                <a:r>
                  <a:rPr lang="en-US" dirty="0"/>
                  <a:t>Suppose that you went ahead and sold the gallon of milk, and invested in a bond that pays out an interest rate of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𝑖</m:t>
                        </m:r>
                      </m:e>
                      <m:sub>
                        <m:r>
                          <a:rPr lang="en-US" b="0" i="1" dirty="0" smtClean="0">
                            <a:latin typeface="Cambria Math" panose="02040503050406030204" pitchFamily="18" charset="0"/>
                          </a:rPr>
                          <m:t>𝑡</m:t>
                        </m:r>
                      </m:sub>
                    </m:sSub>
                  </m:oMath>
                </a14:m>
                <a:r>
                  <a:rPr lang="en-US" dirty="0"/>
                  <a:t>.</a:t>
                </a:r>
              </a:p>
              <a:p>
                <a:pPr lvl="3"/>
                <a:endParaRPr lang="en-US" dirty="0"/>
              </a:p>
              <a:p>
                <a:r>
                  <a:rPr lang="en-US" dirty="0"/>
                  <a:t>This is nominal interest, as payment is defined in dollars.</a:t>
                </a:r>
              </a:p>
            </p:txBody>
          </p:sp>
        </mc:Choice>
        <mc:Fallback>
          <p:sp>
            <p:nvSpPr>
              <p:cNvPr id="3" name="Content Placeholder 2">
                <a:extLst>
                  <a:ext uri="{FF2B5EF4-FFF2-40B4-BE49-F238E27FC236}">
                    <a16:creationId xmlns:a16="http://schemas.microsoft.com/office/drawing/2014/main" id="{382F56FB-1B3D-13AA-70F4-8B78737E989E}"/>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r="-77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367CF61-F707-B1F1-568D-4323C7A55A7D}"/>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70D556A5-0291-613D-1DAA-E22AAF24DF23}"/>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36FD6031-2204-C3F1-06F0-38905BC6FFC7}"/>
              </a:ext>
            </a:extLst>
          </p:cNvPr>
          <p:cNvSpPr>
            <a:spLocks noGrp="1"/>
          </p:cNvSpPr>
          <p:nvPr>
            <p:ph type="sldNum" sz="quarter" idx="12"/>
          </p:nvPr>
        </p:nvSpPr>
        <p:spPr/>
        <p:txBody>
          <a:bodyPr/>
          <a:lstStyle/>
          <a:p>
            <a:fld id="{1A980C56-831A-4EAB-9EDE-57C090F4F877}" type="slidenum">
              <a:rPr lang="en-US" smtClean="0"/>
              <a:t>32</a:t>
            </a:fld>
            <a:endParaRPr lang="en-US" dirty="0"/>
          </a:p>
        </p:txBody>
      </p:sp>
    </p:spTree>
    <p:extLst>
      <p:ext uri="{BB962C8B-B14F-4D97-AF65-F5344CB8AC3E}">
        <p14:creationId xmlns:p14="http://schemas.microsoft.com/office/powerpoint/2010/main" val="69403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41AB8-B1E2-7B0E-E7F6-D65101A48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CC9F9-B7C6-D687-E495-264AD8BE97FC}"/>
              </a:ext>
            </a:extLst>
          </p:cNvPr>
          <p:cNvSpPr>
            <a:spLocks noGrp="1"/>
          </p:cNvSpPr>
          <p:nvPr>
            <p:ph type="title"/>
          </p:nvPr>
        </p:nvSpPr>
        <p:spPr/>
        <p:txBody>
          <a:bodyPr/>
          <a:lstStyle/>
          <a:p>
            <a:r>
              <a:rPr lang="en-US" dirty="0"/>
              <a:t>Appendix:</a:t>
            </a:r>
            <a:br>
              <a:rPr lang="en-US" dirty="0"/>
            </a:br>
            <a:r>
              <a:rPr lang="en-US" dirty="0"/>
              <a:t>Deriving the Real Interest Rate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67CF75-851C-D21B-5BB7-EF6470DB2CC0}"/>
                  </a:ext>
                </a:extLst>
              </p:cNvPr>
              <p:cNvSpPr>
                <a:spLocks noGrp="1"/>
              </p:cNvSpPr>
              <p:nvPr>
                <p:ph idx="1"/>
              </p:nvPr>
            </p:nvSpPr>
            <p:spPr>
              <a:xfrm>
                <a:off x="628650" y="1825625"/>
                <a:ext cx="7886700" cy="4351338"/>
              </a:xfrm>
            </p:spPr>
            <p:txBody>
              <a:bodyPr/>
              <a:lstStyle/>
              <a:p>
                <a:r>
                  <a:rPr lang="en-US" dirty="0"/>
                  <a:t>By selling the gallon of milk, you receive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𝑡</m:t>
                        </m:r>
                      </m:sub>
                    </m:sSub>
                  </m:oMath>
                </a14:m>
                <a:r>
                  <a:rPr lang="en-US" dirty="0"/>
                  <a:t> dollars.</a:t>
                </a:r>
              </a:p>
              <a:p>
                <a:pPr marL="1371600" lvl="3" indent="0">
                  <a:buNone/>
                </a:pPr>
                <a:endParaRPr lang="en-US" dirty="0"/>
              </a:p>
              <a:p>
                <a:r>
                  <a:rPr lang="en-US" dirty="0"/>
                  <a:t>You know that you must pay back your neighbor in terms of milk, which you expect will cost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𝑃</m:t>
                        </m:r>
                      </m:e>
                      <m:sub>
                        <m: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𝑒</m:t>
                        </m:r>
                      </m:sup>
                    </m:sSubSup>
                  </m:oMath>
                </a14:m>
                <a:r>
                  <a:rPr lang="en-US" dirty="0"/>
                  <a:t> per gallon.</a:t>
                </a:r>
              </a:p>
              <a:p>
                <a:pPr lvl="3"/>
                <a:endParaRPr lang="en-US" dirty="0"/>
              </a:p>
              <a:p>
                <a:r>
                  <a:rPr lang="en-US" dirty="0"/>
                  <a:t>You would invest in the bond, and in one year’s time, it should pay out </a:t>
                </a:r>
                <a14:m>
                  <m:oMath xmlns:m="http://schemas.openxmlformats.org/officeDocument/2006/math">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e>
                    </m:d>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𝑡</m:t>
                        </m:r>
                      </m:sub>
                    </m:sSub>
                  </m:oMath>
                </a14:m>
                <a:r>
                  <a:rPr lang="en-US" dirty="0"/>
                  <a:t> dollars.</a:t>
                </a:r>
              </a:p>
              <a:p>
                <a:pPr lvl="3"/>
                <a:endParaRPr lang="en-US" dirty="0"/>
              </a:p>
              <a:p>
                <a:r>
                  <a:rPr lang="en-US" dirty="0"/>
                  <a:t>Then, you should be able to purchase </a:t>
                </a:r>
                <a14:m>
                  <m:oMath xmlns:m="http://schemas.openxmlformats.org/officeDocument/2006/math">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e>
                    </m:d>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𝑡</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1</m:t>
                        </m:r>
                      </m:num>
                      <m:den>
                        <m:sSubSup>
                          <m:sSubSupPr>
                            <m:ctrlPr>
                              <a:rPr lang="en-US" i="1" dirty="0">
                                <a:latin typeface="Cambria Math" panose="02040503050406030204" pitchFamily="18" charset="0"/>
                              </a:rPr>
                            </m:ctrlPr>
                          </m:sSubSupPr>
                          <m:e>
                            <m:r>
                              <a:rPr lang="en-US" i="1" dirty="0">
                                <a:latin typeface="Cambria Math" panose="02040503050406030204" pitchFamily="18" charset="0"/>
                              </a:rPr>
                              <m:t>𝑃</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den>
                    </m:f>
                  </m:oMath>
                </a14:m>
                <a:r>
                  <a:rPr lang="en-US" dirty="0"/>
                  <a:t> gallons of milk.</a:t>
                </a:r>
              </a:p>
              <a:p>
                <a:pPr marL="0" indent="0">
                  <a:buNone/>
                </a:pPr>
                <a:endParaRPr lang="en-US" dirty="0"/>
              </a:p>
            </p:txBody>
          </p:sp>
        </mc:Choice>
        <mc:Fallback>
          <p:sp>
            <p:nvSpPr>
              <p:cNvPr id="3" name="Content Placeholder 2">
                <a:extLst>
                  <a:ext uri="{FF2B5EF4-FFF2-40B4-BE49-F238E27FC236}">
                    <a16:creationId xmlns:a16="http://schemas.microsoft.com/office/drawing/2014/main" id="{BD67CF75-851C-D21B-5BB7-EF6470DB2CC0}"/>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3A58C5D-D598-003F-5B16-CB423F41D3C7}"/>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613EE2A5-FD15-B4E2-3DE3-4A78F0EBB1E3}"/>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95D934D8-FEAC-7609-2CA8-27EE4C69382D}"/>
              </a:ext>
            </a:extLst>
          </p:cNvPr>
          <p:cNvSpPr>
            <a:spLocks noGrp="1"/>
          </p:cNvSpPr>
          <p:nvPr>
            <p:ph type="sldNum" sz="quarter" idx="12"/>
          </p:nvPr>
        </p:nvSpPr>
        <p:spPr/>
        <p:txBody>
          <a:bodyPr/>
          <a:lstStyle/>
          <a:p>
            <a:fld id="{1A980C56-831A-4EAB-9EDE-57C090F4F877}" type="slidenum">
              <a:rPr lang="en-US" smtClean="0"/>
              <a:t>33</a:t>
            </a:fld>
            <a:endParaRPr lang="en-US" dirty="0"/>
          </a:p>
        </p:txBody>
      </p:sp>
    </p:spTree>
    <p:extLst>
      <p:ext uri="{BB962C8B-B14F-4D97-AF65-F5344CB8AC3E}">
        <p14:creationId xmlns:p14="http://schemas.microsoft.com/office/powerpoint/2010/main" val="248474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64699-4C14-7453-C534-FF8152A8B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987BA-F70A-4C67-BE7F-302CF65D81B8}"/>
              </a:ext>
            </a:extLst>
          </p:cNvPr>
          <p:cNvSpPr>
            <a:spLocks noGrp="1"/>
          </p:cNvSpPr>
          <p:nvPr>
            <p:ph type="title"/>
          </p:nvPr>
        </p:nvSpPr>
        <p:spPr/>
        <p:txBody>
          <a:bodyPr/>
          <a:lstStyle/>
          <a:p>
            <a:r>
              <a:rPr lang="en-US" dirty="0"/>
              <a:t>Appendix:</a:t>
            </a:r>
            <a:br>
              <a:rPr lang="en-US" dirty="0"/>
            </a:br>
            <a:r>
              <a:rPr lang="en-US" dirty="0"/>
              <a:t>Deriving the Real Interest Rate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328318D-635D-1964-EFAD-CF2BDAE57747}"/>
                  </a:ext>
                </a:extLst>
              </p:cNvPr>
              <p:cNvSpPr>
                <a:spLocks noGrp="1"/>
              </p:cNvSpPr>
              <p:nvPr>
                <p:ph idx="1"/>
              </p:nvPr>
            </p:nvSpPr>
            <p:spPr>
              <a:xfrm>
                <a:off x="628650" y="1825625"/>
                <a:ext cx="7886700" cy="4351338"/>
              </a:xfrm>
            </p:spPr>
            <p:txBody>
              <a:bodyPr/>
              <a:lstStyle/>
              <a:p>
                <a:r>
                  <a:rPr lang="en-US" dirty="0"/>
                  <a:t>If you expect that this would be more milk than you will owe, this is practically an infinite money machine. </a:t>
                </a:r>
              </a:p>
              <a:p>
                <a:pPr lvl="3"/>
                <a:endParaRPr lang="en-US" dirty="0"/>
              </a:p>
              <a:p>
                <a:r>
                  <a:rPr lang="en-US" dirty="0"/>
                  <a:t>If you expect that this is less than the milk you owe, you should not agree to the </a:t>
                </a:r>
                <a14:m>
                  <m:oMath xmlns:m="http://schemas.openxmlformats.org/officeDocument/2006/math">
                    <m:r>
                      <a:rPr lang="en-US" i="1" dirty="0" smtClean="0">
                        <a:latin typeface="Cambria Math" panose="02040503050406030204" pitchFamily="18" charset="0"/>
                      </a:rPr>
                      <m:t>(1+</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r>
                      <a:rPr lang="en-US" i="1" dirty="0" smtClean="0">
                        <a:latin typeface="Cambria Math" panose="02040503050406030204" pitchFamily="18" charset="0"/>
                      </a:rPr>
                      <m:t>)</m:t>
                    </m:r>
                  </m:oMath>
                </a14:m>
                <a:r>
                  <a:rPr lang="en-US" dirty="0"/>
                  <a:t> payment.</a:t>
                </a:r>
              </a:p>
              <a:p>
                <a:pPr lvl="3"/>
                <a:endParaRPr lang="en-US" dirty="0"/>
              </a:p>
              <a:p>
                <a:r>
                  <a:rPr lang="en-US" dirty="0"/>
                  <a:t>So, for there to be “no arbitrage” in the economy, the following equality must hold:</a:t>
                </a:r>
              </a:p>
              <a:p>
                <a:endParaRPr lang="en-US" sz="500" dirty="0"/>
              </a:p>
              <a:p>
                <a:pPr marL="0" indent="0">
                  <a:buNone/>
                </a:pPr>
                <a14:m>
                  <m:oMathPara xmlns:m="http://schemas.openxmlformats.org/officeDocument/2006/math">
                    <m:oMathParaPr>
                      <m:jc m:val="centerGroup"/>
                    </m:oMathParaPr>
                    <m:oMath xmlns:m="http://schemas.openxmlformats.org/officeDocument/2006/math">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𝑡</m:t>
                              </m:r>
                            </m:sub>
                          </m:sSub>
                        </m:e>
                      </m:d>
                      <m:r>
                        <a:rPr lang="en-US" b="0" i="1" dirty="0"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e>
                      </m:d>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𝑡</m:t>
                          </m:r>
                        </m:sub>
                      </m:sSub>
                      <m:r>
                        <a:rPr lang="en-US" b="0"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𝑃</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up>
                              <m:r>
                                <a:rPr lang="en-US" b="0" i="1" dirty="0" smtClean="0">
                                  <a:latin typeface="Cambria Math" panose="02040503050406030204" pitchFamily="18" charset="0"/>
                                </a:rPr>
                                <m:t>𝑒</m:t>
                              </m:r>
                            </m:sup>
                          </m:sSubSup>
                        </m:den>
                      </m:f>
                    </m:oMath>
                  </m:oMathPara>
                </a14:m>
                <a:endParaRPr lang="en-US" dirty="0"/>
              </a:p>
            </p:txBody>
          </p:sp>
        </mc:Choice>
        <mc:Fallback>
          <p:sp>
            <p:nvSpPr>
              <p:cNvPr id="3" name="Content Placeholder 2">
                <a:extLst>
                  <a:ext uri="{FF2B5EF4-FFF2-40B4-BE49-F238E27FC236}">
                    <a16:creationId xmlns:a16="http://schemas.microsoft.com/office/drawing/2014/main" id="{C328318D-635D-1964-EFAD-CF2BDAE57747}"/>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3A17745-EE31-1017-BFE9-6A7C1AA98847}"/>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5C97C3E4-FBAB-3F3D-CDC9-A89614C97356}"/>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76D5FEA7-6399-8FEC-6430-BD084F22406D}"/>
              </a:ext>
            </a:extLst>
          </p:cNvPr>
          <p:cNvSpPr>
            <a:spLocks noGrp="1"/>
          </p:cNvSpPr>
          <p:nvPr>
            <p:ph type="sldNum" sz="quarter" idx="12"/>
          </p:nvPr>
        </p:nvSpPr>
        <p:spPr/>
        <p:txBody>
          <a:bodyPr/>
          <a:lstStyle/>
          <a:p>
            <a:fld id="{1A980C56-831A-4EAB-9EDE-57C090F4F877}" type="slidenum">
              <a:rPr lang="en-US" smtClean="0"/>
              <a:t>34</a:t>
            </a:fld>
            <a:endParaRPr lang="en-US" dirty="0"/>
          </a:p>
        </p:txBody>
      </p:sp>
      <p:sp>
        <p:nvSpPr>
          <p:cNvPr id="7" name="Rectangle 6">
            <a:extLst>
              <a:ext uri="{FF2B5EF4-FFF2-40B4-BE49-F238E27FC236}">
                <a16:creationId xmlns:a16="http://schemas.microsoft.com/office/drawing/2014/main" id="{9477F641-8089-7A11-C214-07C953C2B615}"/>
              </a:ext>
            </a:extLst>
          </p:cNvPr>
          <p:cNvSpPr/>
          <p:nvPr/>
        </p:nvSpPr>
        <p:spPr>
          <a:xfrm>
            <a:off x="2552699" y="4791075"/>
            <a:ext cx="4038601" cy="8477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657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43C9-7E05-A313-D797-8DCD7B0CE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69CF4-B30F-F555-4DA2-D868FEA8ACFD}"/>
              </a:ext>
            </a:extLst>
          </p:cNvPr>
          <p:cNvSpPr>
            <a:spLocks noGrp="1"/>
          </p:cNvSpPr>
          <p:nvPr>
            <p:ph type="title"/>
          </p:nvPr>
        </p:nvSpPr>
        <p:spPr/>
        <p:txBody>
          <a:bodyPr/>
          <a:lstStyle/>
          <a:p>
            <a:r>
              <a:rPr lang="en-US" dirty="0"/>
              <a:t>Appendix:</a:t>
            </a:r>
            <a:br>
              <a:rPr lang="en-US" dirty="0"/>
            </a:br>
            <a:r>
              <a:rPr lang="en-US" dirty="0"/>
              <a:t>Deriving the Real Interest Rate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F2FCDFD-ACD0-D47B-8E70-CAD39507F2D4}"/>
                  </a:ext>
                </a:extLst>
              </p:cNvPr>
              <p:cNvSpPr>
                <a:spLocks noGrp="1"/>
              </p:cNvSpPr>
              <p:nvPr>
                <p:ph idx="1"/>
              </p:nvPr>
            </p:nvSpPr>
            <p:spPr>
              <a:xfrm>
                <a:off x="628650" y="1825625"/>
                <a:ext cx="7886700" cy="4351338"/>
              </a:xfrm>
            </p:spPr>
            <p:txBody>
              <a:bodyPr/>
              <a:lstStyle/>
              <a:p>
                <a:r>
                  <a:rPr lang="en-US" dirty="0"/>
                  <a:t>We will now define expected inflation as…</a:t>
                </a:r>
              </a:p>
              <a:p>
                <a:endParaRPr lang="en-US" sz="500" dirty="0"/>
              </a:p>
              <a:p>
                <a:pPr marL="0" indent="0">
                  <a:buNone/>
                </a:pPr>
                <a14:m>
                  <m:oMathPara xmlns:m="http://schemas.openxmlformats.org/officeDocument/2006/math">
                    <m:oMathParaPr>
                      <m:jc m:val="centerGroup"/>
                    </m:oMathParaPr>
                    <m:oMath xmlns:m="http://schemas.openxmlformats.org/officeDocument/2006/math">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rPr>
                            <m:t>𝜋</m:t>
                          </m:r>
                        </m:e>
                        <m:sub>
                          <m:r>
                            <a:rPr lang="en-US" sz="2000" b="0" i="1" dirty="0" smtClean="0">
                              <a:latin typeface="Cambria Math" panose="02040503050406030204" pitchFamily="18" charset="0"/>
                            </a:rPr>
                            <m:t>𝑡</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𝑒</m:t>
                          </m:r>
                        </m:sup>
                      </m:sSubSup>
                      <m:r>
                        <a:rPr lang="en-US" sz="2000" b="0" i="1" dirty="0" smtClean="0">
                          <a:latin typeface="Cambria Math" panose="02040503050406030204" pitchFamily="18" charset="0"/>
                          <a:ea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𝑃</m:t>
                              </m:r>
                            </m:e>
                            <m:sub>
                              <m:r>
                                <a:rPr lang="en-US" sz="2000" b="0" i="1" dirty="0" smtClean="0">
                                  <a:latin typeface="Cambria Math" panose="02040503050406030204" pitchFamily="18" charset="0"/>
                                </a:rPr>
                                <m:t>𝑡</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𝑒</m:t>
                              </m:r>
                            </m:sup>
                          </m:sSubSup>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𝑃</m:t>
                              </m:r>
                            </m:e>
                            <m:sub>
                              <m:r>
                                <a:rPr lang="en-US" sz="2000" b="0" i="1" dirty="0" smtClean="0">
                                  <a:latin typeface="Cambria Math" panose="02040503050406030204" pitchFamily="18" charset="0"/>
                                </a:rPr>
                                <m:t>𝑡</m:t>
                              </m:r>
                            </m:sub>
                          </m:sSub>
                        </m:num>
                        <m:den>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𝑃</m:t>
                              </m:r>
                            </m:e>
                            <m:sub>
                              <m:r>
                                <a:rPr lang="en-US" sz="2000" b="0" i="1" dirty="0" smtClean="0">
                                  <a:latin typeface="Cambria Math" panose="02040503050406030204" pitchFamily="18" charset="0"/>
                                </a:rPr>
                                <m:t>𝑡</m:t>
                              </m:r>
                            </m:sub>
                          </m:sSub>
                        </m:den>
                      </m:f>
                    </m:oMath>
                  </m:oMathPara>
                </a14:m>
                <a:endParaRPr lang="en-US" sz="2000" b="0" dirty="0"/>
              </a:p>
              <a:p>
                <a:pPr lvl="3"/>
                <a:endParaRPr lang="en-US" dirty="0"/>
              </a:p>
              <a:p>
                <a:r>
                  <a:rPr lang="en-US" dirty="0"/>
                  <a:t>Meddling with the term above, we can find:</a:t>
                </a:r>
              </a:p>
              <a:p>
                <a:endParaRPr lang="en-US" sz="500" dirty="0"/>
              </a:p>
              <a:p>
                <a:pPr marL="0" indent="0">
                  <a:buNone/>
                </a:pPr>
                <a:r>
                  <a:rPr lang="en-US" sz="2000" dirty="0"/>
                  <a:t>	</a:t>
                </a:r>
                <a14:m>
                  <m:oMath xmlns:m="http://schemas.openxmlformats.org/officeDocument/2006/math">
                    <m:sSubSup>
                      <m:sSubSupPr>
                        <m:ctrlPr>
                          <a:rPr lang="en-US" sz="2000" i="1" dirty="0">
                            <a:latin typeface="Cambria Math" panose="02040503050406030204" pitchFamily="18" charset="0"/>
                          </a:rPr>
                        </m:ctrlPr>
                      </m:sSubSupPr>
                      <m:e>
                        <m:r>
                          <a:rPr lang="en-US" sz="2000" b="0" i="1" dirty="0" smtClean="0">
                            <a:latin typeface="Cambria Math" panose="02040503050406030204" pitchFamily="18" charset="0"/>
                          </a:rPr>
                          <m:t>1+</m:t>
                        </m:r>
                        <m:r>
                          <a:rPr lang="en-US" sz="2000" i="1" dirty="0">
                            <a:latin typeface="Cambria Math" panose="02040503050406030204" pitchFamily="18" charset="0"/>
                          </a:rPr>
                          <m:t>𝜋</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r>
                      <a:rPr lang="en-US" sz="2000" b="0" i="1" dirty="0" smtClean="0">
                        <a:latin typeface="Cambria Math" panose="02040503050406030204" pitchFamily="18" charset="0"/>
                        <a:ea typeface="Cambria Math" panose="02040503050406030204" pitchFamily="18" charset="0"/>
                      </a:rPr>
                      <m:t>=1+</m:t>
                    </m:r>
                    <m:f>
                      <m:fPr>
                        <m:ctrlPr>
                          <a:rPr lang="en-US" sz="2000" i="1" dirty="0">
                            <a:latin typeface="Cambria Math" panose="02040503050406030204" pitchFamily="18" charset="0"/>
                          </a:rPr>
                        </m:ctrlPr>
                      </m:fPr>
                      <m:num>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𝑃</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𝑡</m:t>
                            </m:r>
                          </m:sub>
                        </m:sSub>
                      </m:num>
                      <m:den>
                        <m:sSub>
                          <m:sSubPr>
                            <m:ctrlPr>
                              <a:rPr lang="en-US"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𝑡</m:t>
                            </m:r>
                          </m:sub>
                        </m:sSub>
                      </m:den>
                    </m:f>
                    <m:r>
                      <a:rPr lang="en-US" sz="2000" b="0" i="1" dirty="0" smtClean="0">
                        <a:latin typeface="Cambria Math" panose="02040503050406030204" pitchFamily="18" charset="0"/>
                      </a:rPr>
                      <m:t>  </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  </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1+</m:t>
                        </m:r>
                        <m:r>
                          <a:rPr lang="en-US" sz="2000" i="1" dirty="0">
                            <a:latin typeface="Cambria Math" panose="02040503050406030204" pitchFamily="18" charset="0"/>
                          </a:rPr>
                          <m:t>𝜋</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r>
                      <a:rPr lang="en-US" sz="2000" i="1" dirty="0">
                        <a:latin typeface="Cambria Math" panose="02040503050406030204" pitchFamily="18" charset="0"/>
                        <a:ea typeface="Cambria Math" panose="02040503050406030204" pitchFamily="18" charset="0"/>
                      </a:rPr>
                      <m:t>=</m:t>
                    </m:r>
                    <m:f>
                      <m:fPr>
                        <m:ctrlPr>
                          <a:rPr lang="en-US" sz="2000" i="1" dirty="0" smtClean="0">
                            <a:latin typeface="Cambria Math" panose="02040503050406030204" pitchFamily="18" charset="0"/>
                            <a:ea typeface="Cambria Math" panose="02040503050406030204" pitchFamily="18" charset="0"/>
                          </a:rPr>
                        </m:ctrlPr>
                      </m:fPr>
                      <m:num>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𝑃</m:t>
                            </m:r>
                          </m:e>
                          <m:sub>
                            <m:r>
                              <a:rPr lang="en-US" sz="2000" b="0" i="1" dirty="0" smtClean="0">
                                <a:latin typeface="Cambria Math" panose="02040503050406030204" pitchFamily="18" charset="0"/>
                                <a:ea typeface="Cambria Math" panose="02040503050406030204" pitchFamily="18" charset="0"/>
                              </a:rPr>
                              <m:t>𝑡</m:t>
                            </m:r>
                          </m:sub>
                        </m:sSub>
                      </m:num>
                      <m:den>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𝑃</m:t>
                            </m:r>
                          </m:e>
                          <m:sub>
                            <m:r>
                              <a:rPr lang="en-US" sz="2000" b="0" i="1" dirty="0" smtClean="0">
                                <a:latin typeface="Cambria Math" panose="02040503050406030204" pitchFamily="18" charset="0"/>
                                <a:ea typeface="Cambria Math" panose="02040503050406030204" pitchFamily="18" charset="0"/>
                              </a:rPr>
                              <m:t>𝑡</m:t>
                            </m:r>
                          </m:sub>
                        </m:sSub>
                      </m:den>
                    </m:f>
                    <m:r>
                      <a:rPr lang="en-US" sz="2000" i="1" dirty="0">
                        <a:latin typeface="Cambria Math" panose="02040503050406030204" pitchFamily="18" charset="0"/>
                        <a:ea typeface="Cambria Math" panose="02040503050406030204" pitchFamily="18" charset="0"/>
                      </a:rPr>
                      <m:t>+</m:t>
                    </m:r>
                    <m:f>
                      <m:fPr>
                        <m:ctrlPr>
                          <a:rPr lang="en-US" sz="2000" i="1" dirty="0">
                            <a:latin typeface="Cambria Math" panose="02040503050406030204" pitchFamily="18" charset="0"/>
                          </a:rPr>
                        </m:ctrlPr>
                      </m:fPr>
                      <m:num>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𝑃</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𝑡</m:t>
                            </m:r>
                          </m:sub>
                        </m:sSub>
                      </m:num>
                      <m:den>
                        <m:sSub>
                          <m:sSubPr>
                            <m:ctrlPr>
                              <a:rPr lang="en-US"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𝑡</m:t>
                            </m:r>
                          </m:sub>
                        </m:sSub>
                      </m:den>
                    </m:f>
                  </m:oMath>
                </a14:m>
                <a:endParaRPr lang="en-US" sz="2000" dirty="0"/>
              </a:p>
              <a:p>
                <a:pPr marL="0" indent="0">
                  <a:buNone/>
                </a:pPr>
                <a:r>
                  <a:rPr lang="en-US" sz="2000" dirty="0">
                    <a:ea typeface="Cambria Math" panose="02040503050406030204" pitchFamily="18" charset="0"/>
                  </a:rPr>
                  <a:t>			            </a:t>
                </a:r>
                <a14:m>
                  <m:oMath xmlns:m="http://schemas.openxmlformats.org/officeDocument/2006/math">
                    <m:r>
                      <a:rPr lang="en-US" sz="2000" i="1" dirty="0">
                        <a:latin typeface="Cambria Math" panose="02040503050406030204" pitchFamily="18" charset="0"/>
                        <a:ea typeface="Cambria Math" panose="02040503050406030204" pitchFamily="18" charset="0"/>
                      </a:rPr>
                      <m:t>⟹  </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1+</m:t>
                        </m:r>
                        <m:r>
                          <a:rPr lang="en-US" sz="2000" i="1" dirty="0">
                            <a:latin typeface="Cambria Math" panose="02040503050406030204" pitchFamily="18" charset="0"/>
                          </a:rPr>
                          <m:t>𝜋</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r>
                      <a:rPr lang="en-US" sz="2000" i="1" dirty="0">
                        <a:latin typeface="Cambria Math" panose="02040503050406030204" pitchFamily="18" charset="0"/>
                        <a:ea typeface="Cambria Math" panose="02040503050406030204" pitchFamily="18" charset="0"/>
                      </a:rPr>
                      <m:t>=</m:t>
                    </m:r>
                    <m:f>
                      <m:fPr>
                        <m:ctrlPr>
                          <a:rPr lang="en-US" sz="2000" i="1" dirty="0">
                            <a:latin typeface="Cambria Math" panose="02040503050406030204" pitchFamily="18" charset="0"/>
                          </a:rPr>
                        </m:ctrlPr>
                      </m:fPr>
                      <m:num>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𝑃</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num>
                      <m:den>
                        <m:sSub>
                          <m:sSubPr>
                            <m:ctrlPr>
                              <a:rPr lang="en-US"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𝑡</m:t>
                            </m:r>
                          </m:sub>
                        </m:sSub>
                      </m:den>
                    </m:f>
                  </m:oMath>
                </a14:m>
                <a:endParaRPr lang="en-US" sz="2000" dirty="0"/>
              </a:p>
              <a:p>
                <a:pPr marL="0" indent="0">
                  <a:buNone/>
                </a:pPr>
                <a:r>
                  <a:rPr lang="en-US" sz="2000" dirty="0">
                    <a:ea typeface="Cambria Math" panose="02040503050406030204" pitchFamily="18" charset="0"/>
                  </a:rPr>
                  <a:t>			            </a:t>
                </a:r>
                <a14:m>
                  <m:oMath xmlns:m="http://schemas.openxmlformats.org/officeDocument/2006/math">
                    <m:r>
                      <a:rPr lang="en-US" sz="2000" i="1" dirty="0">
                        <a:latin typeface="Cambria Math" panose="02040503050406030204" pitchFamily="18" charset="0"/>
                        <a:ea typeface="Cambria Math" panose="02040503050406030204" pitchFamily="18" charset="0"/>
                      </a:rPr>
                      <m:t>⟹  </m:t>
                    </m:r>
                    <m:f>
                      <m:fPr>
                        <m:ctrlPr>
                          <a:rPr lang="en-US" sz="2000" i="1" dirty="0" smtClean="0">
                            <a:latin typeface="Cambria Math" panose="02040503050406030204" pitchFamily="18" charset="0"/>
                            <a:ea typeface="Cambria Math" panose="02040503050406030204" pitchFamily="18" charset="0"/>
                          </a:rPr>
                        </m:ctrlPr>
                      </m:fPr>
                      <m:num>
                        <m:r>
                          <a:rPr lang="en-US" sz="2000" b="0" i="1" dirty="0" smtClean="0">
                            <a:latin typeface="Cambria Math" panose="02040503050406030204" pitchFamily="18" charset="0"/>
                            <a:ea typeface="Cambria Math" panose="02040503050406030204" pitchFamily="18" charset="0"/>
                          </a:rPr>
                          <m:t>1</m:t>
                        </m:r>
                      </m:num>
                      <m:den>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1+</m:t>
                            </m:r>
                            <m:r>
                              <a:rPr lang="en-US" sz="2000" i="1" dirty="0">
                                <a:latin typeface="Cambria Math" panose="02040503050406030204" pitchFamily="18" charset="0"/>
                              </a:rPr>
                              <m:t>𝜋</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den>
                    </m:f>
                    <m:r>
                      <a:rPr lang="en-US" sz="2000" i="1" dirty="0">
                        <a:latin typeface="Cambria Math" panose="02040503050406030204" pitchFamily="18" charset="0"/>
                        <a:ea typeface="Cambria Math" panose="02040503050406030204" pitchFamily="18" charset="0"/>
                      </a:rPr>
                      <m:t>=</m:t>
                    </m:r>
                    <m:f>
                      <m:fPr>
                        <m:ctrlPr>
                          <a:rPr lang="en-US" sz="2000" i="1" dirty="0">
                            <a:latin typeface="Cambria Math" panose="02040503050406030204" pitchFamily="18" charset="0"/>
                          </a:rPr>
                        </m:ctrlPr>
                      </m:fPr>
                      <m:num>
                        <m:sSub>
                          <m:sSubPr>
                            <m:ctrlPr>
                              <a:rPr lang="en-US"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𝑡</m:t>
                            </m:r>
                          </m:sub>
                        </m:sSub>
                      </m:num>
                      <m:den>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𝑃</m:t>
                            </m:r>
                          </m:e>
                          <m:sub>
                            <m:r>
                              <a:rPr lang="en-US" sz="2000" i="1" dirty="0">
                                <a:latin typeface="Cambria Math" panose="02040503050406030204" pitchFamily="18" charset="0"/>
                              </a:rPr>
                              <m:t>𝑡</m:t>
                            </m:r>
                            <m:r>
                              <a:rPr lang="en-US" sz="2000" i="1" dirty="0">
                                <a:latin typeface="Cambria Math" panose="02040503050406030204" pitchFamily="18" charset="0"/>
                              </a:rPr>
                              <m:t>+1</m:t>
                            </m:r>
                          </m:sub>
                          <m:sup>
                            <m:r>
                              <a:rPr lang="en-US" sz="2000" i="1" dirty="0">
                                <a:latin typeface="Cambria Math" panose="02040503050406030204" pitchFamily="18" charset="0"/>
                              </a:rPr>
                              <m:t>𝑒</m:t>
                            </m:r>
                          </m:sup>
                        </m:sSubSup>
                      </m:den>
                    </m:f>
                  </m:oMath>
                </a14:m>
                <a:endParaRPr lang="en-US" sz="2000" dirty="0"/>
              </a:p>
              <a:p>
                <a:pPr marL="0" indent="0">
                  <a:buNone/>
                </a:pPr>
                <a:endParaRPr lang="en-US" sz="2000" dirty="0"/>
              </a:p>
            </p:txBody>
          </p:sp>
        </mc:Choice>
        <mc:Fallback>
          <p:sp>
            <p:nvSpPr>
              <p:cNvPr id="3" name="Content Placeholder 2">
                <a:extLst>
                  <a:ext uri="{FF2B5EF4-FFF2-40B4-BE49-F238E27FC236}">
                    <a16:creationId xmlns:a16="http://schemas.microsoft.com/office/drawing/2014/main" id="{0F2FCDFD-ACD0-D47B-8E70-CAD39507F2D4}"/>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7FEAA25-F80C-011A-EA8D-35FBD7C7A9C6}"/>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346687B6-2AB0-53F6-6671-1B9DAAF3134F}"/>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DE1F365E-043E-DE12-8C39-A40B26B35D38}"/>
              </a:ext>
            </a:extLst>
          </p:cNvPr>
          <p:cNvSpPr>
            <a:spLocks noGrp="1"/>
          </p:cNvSpPr>
          <p:nvPr>
            <p:ph type="sldNum" sz="quarter" idx="12"/>
          </p:nvPr>
        </p:nvSpPr>
        <p:spPr/>
        <p:txBody>
          <a:bodyPr/>
          <a:lstStyle/>
          <a:p>
            <a:fld id="{1A980C56-831A-4EAB-9EDE-57C090F4F877}" type="slidenum">
              <a:rPr lang="en-US" smtClean="0"/>
              <a:t>35</a:t>
            </a:fld>
            <a:endParaRPr lang="en-US" dirty="0"/>
          </a:p>
        </p:txBody>
      </p:sp>
      <p:sp>
        <p:nvSpPr>
          <p:cNvPr id="7" name="Rectangle 6">
            <a:extLst>
              <a:ext uri="{FF2B5EF4-FFF2-40B4-BE49-F238E27FC236}">
                <a16:creationId xmlns:a16="http://schemas.microsoft.com/office/drawing/2014/main" id="{F65B84BA-0BCD-D9AE-5A01-082640AAD8DF}"/>
              </a:ext>
            </a:extLst>
          </p:cNvPr>
          <p:cNvSpPr/>
          <p:nvPr/>
        </p:nvSpPr>
        <p:spPr>
          <a:xfrm>
            <a:off x="4572001" y="5124451"/>
            <a:ext cx="1600200" cy="6096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228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649BE-A07A-8522-C5B4-98F308CC1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7CBE6-AFB3-6C57-A641-8CA42F7DB571}"/>
              </a:ext>
            </a:extLst>
          </p:cNvPr>
          <p:cNvSpPr>
            <a:spLocks noGrp="1"/>
          </p:cNvSpPr>
          <p:nvPr>
            <p:ph type="title"/>
          </p:nvPr>
        </p:nvSpPr>
        <p:spPr/>
        <p:txBody>
          <a:bodyPr/>
          <a:lstStyle/>
          <a:p>
            <a:r>
              <a:rPr lang="en-US" dirty="0"/>
              <a:t>Appendix:</a:t>
            </a:r>
            <a:br>
              <a:rPr lang="en-US" dirty="0"/>
            </a:br>
            <a:r>
              <a:rPr lang="en-US" dirty="0"/>
              <a:t>Deriving the Real Interest Rate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1456402-FFFA-6385-FFF8-64F1B2FD282D}"/>
                  </a:ext>
                </a:extLst>
              </p:cNvPr>
              <p:cNvSpPr>
                <a:spLocks noGrp="1"/>
              </p:cNvSpPr>
              <p:nvPr>
                <p:ph idx="1"/>
              </p:nvPr>
            </p:nvSpPr>
            <p:spPr>
              <a:xfrm>
                <a:off x="628650" y="1825625"/>
                <a:ext cx="7886700" cy="4351338"/>
              </a:xfrm>
            </p:spPr>
            <p:txBody>
              <a:bodyPr/>
              <a:lstStyle/>
              <a:p>
                <a:r>
                  <a:rPr lang="en-US" dirty="0"/>
                  <a:t>Consider the following…</a:t>
                </a:r>
              </a:p>
              <a:p>
                <a:pPr lvl="3"/>
                <a:endParaRPr lang="en-US" sz="500" dirty="0"/>
              </a:p>
              <a:p>
                <a:pPr marL="0" indent="0" algn="ctr">
                  <a:buNone/>
                </a:pPr>
                <a14:m>
                  <m:oMathPara xmlns:m="http://schemas.openxmlformats.org/officeDocument/2006/math">
                    <m:oMathParaPr>
                      <m:jc m:val="centerGroup"/>
                    </m:oMathParaPr>
                    <m:oMath xmlns:m="http://schemas.openxmlformats.org/officeDocument/2006/math">
                      <m:d>
                        <m:dPr>
                          <m:ctrlPr>
                            <a:rPr lang="en-US" sz="1800" i="1" dirty="0">
                              <a:latin typeface="Cambria Math" panose="02040503050406030204" pitchFamily="18" charset="0"/>
                            </a:rPr>
                          </m:ctrlPr>
                        </m:dPr>
                        <m:e>
                          <m:r>
                            <a:rPr lang="en-US" sz="1800" i="1" dirty="0">
                              <a:latin typeface="Cambria Math" panose="02040503050406030204" pitchFamily="18" charset="0"/>
                            </a:rPr>
                            <m:t>1+</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𝑖</m:t>
                              </m:r>
                            </m:e>
                            <m:sub>
                              <m:r>
                                <a:rPr lang="en-US" sz="1800" i="1" dirty="0">
                                  <a:latin typeface="Cambria Math" panose="02040503050406030204" pitchFamily="18" charset="0"/>
                                </a:rPr>
                                <m:t>𝑡</m:t>
                              </m:r>
                            </m:sub>
                          </m:sSub>
                          <m:r>
                            <a:rPr lang="en-US" sz="1800" b="0" i="1" dirty="0" smtClean="0">
                              <a:latin typeface="Cambria Math" panose="02040503050406030204" pitchFamily="18" charset="0"/>
                            </a:rPr>
                            <m:t>−</m:t>
                          </m:r>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𝜋</m:t>
                              </m:r>
                            </m:e>
                            <m:sub>
                              <m:r>
                                <a:rPr lang="en-US" sz="1800" i="1" dirty="0">
                                  <a:latin typeface="Cambria Math" panose="02040503050406030204" pitchFamily="18" charset="0"/>
                                </a:rPr>
                                <m:t>𝑡</m:t>
                              </m:r>
                              <m:r>
                                <a:rPr lang="en-US" sz="1800" i="1" dirty="0">
                                  <a:latin typeface="Cambria Math" panose="02040503050406030204" pitchFamily="18" charset="0"/>
                                </a:rPr>
                                <m:t>+1</m:t>
                              </m:r>
                            </m:sub>
                            <m:sup>
                              <m:r>
                                <a:rPr lang="en-US" sz="1800" i="1" dirty="0">
                                  <a:latin typeface="Cambria Math" panose="02040503050406030204" pitchFamily="18" charset="0"/>
                                </a:rPr>
                                <m:t>𝑒</m:t>
                              </m:r>
                            </m:sup>
                          </m:sSubSup>
                        </m:e>
                      </m:d>
                      <m:r>
                        <a:rPr lang="en-US" sz="1800" b="0" i="1" dirty="0" smtClean="0">
                          <a:latin typeface="Cambria Math" panose="02040503050406030204" pitchFamily="18" charset="0"/>
                        </a:rPr>
                        <m:t>×</m:t>
                      </m:r>
                      <m:d>
                        <m:dPr>
                          <m:ctrlPr>
                            <a:rPr lang="en-US" sz="1800" i="1" dirty="0">
                              <a:latin typeface="Cambria Math" panose="02040503050406030204" pitchFamily="18" charset="0"/>
                            </a:rPr>
                          </m:ctrlPr>
                        </m:dPr>
                        <m:e>
                          <m:r>
                            <a:rPr lang="en-US" sz="1800" i="1" dirty="0">
                              <a:latin typeface="Cambria Math" panose="02040503050406030204" pitchFamily="18" charset="0"/>
                            </a:rPr>
                            <m:t>1+</m:t>
                          </m:r>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𝜋</m:t>
                              </m:r>
                            </m:e>
                            <m:sub>
                              <m:r>
                                <a:rPr lang="en-US" sz="1800" i="1" dirty="0">
                                  <a:latin typeface="Cambria Math" panose="02040503050406030204" pitchFamily="18" charset="0"/>
                                </a:rPr>
                                <m:t>𝑡</m:t>
                              </m:r>
                              <m:r>
                                <a:rPr lang="en-US" sz="1800" i="1" dirty="0">
                                  <a:latin typeface="Cambria Math" panose="02040503050406030204" pitchFamily="18" charset="0"/>
                                </a:rPr>
                                <m:t>+1</m:t>
                              </m:r>
                            </m:sub>
                            <m:sup>
                              <m:r>
                                <a:rPr lang="en-US" sz="1800" i="1" dirty="0">
                                  <a:latin typeface="Cambria Math" panose="02040503050406030204" pitchFamily="18" charset="0"/>
                                </a:rPr>
                                <m:t>𝑒</m:t>
                              </m:r>
                            </m:sup>
                          </m:sSubSup>
                        </m:e>
                      </m:d>
                      <m:r>
                        <a:rPr lang="en-US" sz="1800" b="0" i="1" dirty="0" smtClean="0">
                          <a:latin typeface="Cambria Math" panose="02040503050406030204" pitchFamily="18" charset="0"/>
                        </a:rPr>
                        <m:t>=1+</m:t>
                      </m:r>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𝜋</m:t>
                          </m:r>
                        </m:e>
                        <m:sub>
                          <m:r>
                            <a:rPr lang="en-US" sz="1800" b="0" i="1" dirty="0" smtClean="0">
                              <a:latin typeface="Cambria Math" panose="02040503050406030204" pitchFamily="18" charset="0"/>
                            </a:rPr>
                            <m:t>𝑡</m:t>
                          </m:r>
                          <m:r>
                            <a:rPr lang="en-US" sz="1800" b="0" i="1" dirty="0" smtClean="0">
                              <a:latin typeface="Cambria Math" panose="02040503050406030204" pitchFamily="18" charset="0"/>
                            </a:rPr>
                            <m:t>+1</m:t>
                          </m:r>
                        </m:sub>
                        <m:sup>
                          <m:r>
                            <a:rPr lang="en-US" sz="1800" b="0" i="1" dirty="0" smtClean="0">
                              <a:latin typeface="Cambria Math" panose="02040503050406030204" pitchFamily="18" charset="0"/>
                            </a:rPr>
                            <m:t>𝑒</m:t>
                          </m:r>
                        </m:sup>
                      </m:sSubSup>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𝑖</m:t>
                          </m:r>
                        </m:e>
                        <m:sub>
                          <m:r>
                            <a:rPr lang="en-US" sz="1800" b="0" i="1" dirty="0" smtClean="0">
                              <a:latin typeface="Cambria Math" panose="02040503050406030204" pitchFamily="18" charset="0"/>
                            </a:rPr>
                            <m:t>𝑡</m:t>
                          </m:r>
                        </m:sub>
                      </m:sSub>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𝑖</m:t>
                          </m:r>
                        </m:e>
                        <m:sub>
                          <m:r>
                            <a:rPr lang="en-US" sz="1800" b="0" i="1" dirty="0" smtClean="0">
                              <a:latin typeface="Cambria Math" panose="02040503050406030204" pitchFamily="18" charset="0"/>
                            </a:rPr>
                            <m:t>𝑡</m:t>
                          </m:r>
                        </m:sub>
                      </m:sSub>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𝜋</m:t>
                          </m:r>
                        </m:e>
                        <m:sub>
                          <m:r>
                            <a:rPr lang="en-US" sz="1800" i="1" dirty="0">
                              <a:latin typeface="Cambria Math" panose="02040503050406030204" pitchFamily="18" charset="0"/>
                            </a:rPr>
                            <m:t>𝑡</m:t>
                          </m:r>
                          <m:r>
                            <a:rPr lang="en-US" sz="1800" i="1" dirty="0">
                              <a:latin typeface="Cambria Math" panose="02040503050406030204" pitchFamily="18" charset="0"/>
                            </a:rPr>
                            <m:t>+1</m:t>
                          </m:r>
                        </m:sub>
                        <m:sup>
                          <m:r>
                            <a:rPr lang="en-US" sz="1800" i="1" dirty="0">
                              <a:latin typeface="Cambria Math" panose="02040503050406030204" pitchFamily="18" charset="0"/>
                            </a:rPr>
                            <m:t>𝑒</m:t>
                          </m:r>
                        </m:sup>
                      </m:sSubSup>
                      <m:r>
                        <a:rPr lang="en-US" sz="1800" i="1" dirty="0">
                          <a:latin typeface="Cambria Math" panose="02040503050406030204" pitchFamily="18" charset="0"/>
                        </a:rPr>
                        <m:t>−</m:t>
                      </m:r>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𝜋</m:t>
                          </m:r>
                        </m:e>
                        <m:sub>
                          <m:r>
                            <a:rPr lang="en-US" sz="1800" i="1" dirty="0">
                              <a:latin typeface="Cambria Math" panose="02040503050406030204" pitchFamily="18" charset="0"/>
                            </a:rPr>
                            <m:t>𝑡</m:t>
                          </m:r>
                          <m:r>
                            <a:rPr lang="en-US" sz="1800" i="1" dirty="0">
                              <a:latin typeface="Cambria Math" panose="02040503050406030204" pitchFamily="18" charset="0"/>
                            </a:rPr>
                            <m:t>+1</m:t>
                          </m:r>
                        </m:sub>
                        <m:sup>
                          <m:r>
                            <a:rPr lang="en-US" sz="1800" i="1" dirty="0">
                              <a:latin typeface="Cambria Math" panose="02040503050406030204" pitchFamily="18" charset="0"/>
                            </a:rPr>
                            <m:t>𝑒</m:t>
                          </m:r>
                        </m:sup>
                      </m:sSubSup>
                      <m:r>
                        <a:rPr lang="en-US" sz="1800" b="0" i="1" dirty="0" smtClean="0">
                          <a:latin typeface="Cambria Math" panose="02040503050406030204" pitchFamily="18" charset="0"/>
                        </a:rPr>
                        <m:t>−</m:t>
                      </m:r>
                      <m:sSup>
                        <m:sSupPr>
                          <m:ctrlPr>
                            <a:rPr lang="en-US" sz="1800" b="0" i="1" dirty="0" smtClean="0">
                              <a:latin typeface="Cambria Math" panose="02040503050406030204" pitchFamily="18" charset="0"/>
                            </a:rPr>
                          </m:ctrlPr>
                        </m:sSupPr>
                        <m:e>
                          <m:d>
                            <m:dPr>
                              <m:ctrlPr>
                                <a:rPr lang="en-US" sz="1800" b="0" i="1" dirty="0" smtClean="0">
                                  <a:latin typeface="Cambria Math" panose="02040503050406030204" pitchFamily="18" charset="0"/>
                                </a:rPr>
                              </m:ctrlPr>
                            </m:dPr>
                            <m:e>
                              <m:sSubSup>
                                <m:sSubSupPr>
                                  <m:ctrlPr>
                                    <a:rPr lang="en-US" sz="1800" i="1" dirty="0">
                                      <a:latin typeface="Cambria Math" panose="02040503050406030204" pitchFamily="18" charset="0"/>
                                    </a:rPr>
                                  </m:ctrlPr>
                                </m:sSubSupPr>
                                <m:e>
                                  <m:r>
                                    <a:rPr lang="en-US" sz="1800" i="1" dirty="0">
                                      <a:latin typeface="Cambria Math" panose="02040503050406030204" pitchFamily="18" charset="0"/>
                                    </a:rPr>
                                    <m:t>𝜋</m:t>
                                  </m:r>
                                </m:e>
                                <m:sub>
                                  <m:r>
                                    <a:rPr lang="en-US" sz="1800" i="1" dirty="0">
                                      <a:latin typeface="Cambria Math" panose="02040503050406030204" pitchFamily="18" charset="0"/>
                                    </a:rPr>
                                    <m:t>𝑡</m:t>
                                  </m:r>
                                  <m:r>
                                    <a:rPr lang="en-US" sz="1800" i="1" dirty="0">
                                      <a:latin typeface="Cambria Math" panose="02040503050406030204" pitchFamily="18" charset="0"/>
                                    </a:rPr>
                                    <m:t>+1</m:t>
                                  </m:r>
                                </m:sub>
                                <m:sup>
                                  <m:r>
                                    <a:rPr lang="en-US" sz="1800" i="1" dirty="0">
                                      <a:latin typeface="Cambria Math" panose="02040503050406030204" pitchFamily="18" charset="0"/>
                                    </a:rPr>
                                    <m:t>𝑒</m:t>
                                  </m:r>
                                </m:sup>
                              </m:sSubSup>
                            </m:e>
                          </m:d>
                        </m:e>
                        <m:sup>
                          <m:r>
                            <a:rPr lang="en-US" sz="1800" b="0" i="1" dirty="0" smtClean="0">
                              <a:latin typeface="Cambria Math" panose="02040503050406030204" pitchFamily="18" charset="0"/>
                            </a:rPr>
                            <m:t>2</m:t>
                          </m:r>
                        </m:sup>
                      </m:sSup>
                    </m:oMath>
                  </m:oMathPara>
                </a14:m>
                <a:endParaRPr lang="en-US" sz="1800" dirty="0"/>
              </a:p>
              <a:p>
                <a:pPr lvl="3"/>
                <a:endParaRPr lang="en-US" dirty="0"/>
              </a:p>
              <a:p>
                <a:r>
                  <a:rPr lang="en-US" dirty="0"/>
                  <a:t>When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𝑡</m:t>
                        </m:r>
                      </m:sub>
                    </m:sSub>
                  </m:oMath>
                </a14:m>
                <a:r>
                  <a:rPr lang="en-US" dirty="0"/>
                  <a:t> and </a:t>
                </a:r>
                <a14:m>
                  <m:oMath xmlns:m="http://schemas.openxmlformats.org/officeDocument/2006/math">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oMath>
                </a14:m>
                <a:r>
                  <a:rPr lang="en-US" dirty="0"/>
                  <a:t> are both “small,” we can see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oMath>
                </a14:m>
                <a:r>
                  <a:rPr lang="en-US" dirty="0"/>
                  <a:t> and </a:t>
                </a:r>
                <a14:m>
                  <m:oMath xmlns:m="http://schemas.openxmlformats.org/officeDocument/2006/math">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e>
                        </m:d>
                      </m:e>
                      <m:sup>
                        <m:r>
                          <a:rPr lang="en-US" i="1" dirty="0">
                            <a:latin typeface="Cambria Math" panose="02040503050406030204" pitchFamily="18" charset="0"/>
                          </a:rPr>
                          <m:t>2</m:t>
                        </m:r>
                      </m:sup>
                    </m:sSup>
                  </m:oMath>
                </a14:m>
                <a:r>
                  <a:rPr lang="en-US" dirty="0"/>
                  <a:t> are both even smaller, and we have:</a:t>
                </a:r>
              </a:p>
              <a:p>
                <a:endParaRPr lang="en-US" sz="500" dirty="0"/>
              </a:p>
              <a:p>
                <a:pPr marL="0" indent="0">
                  <a:buNone/>
                </a:pPr>
                <a14:m>
                  <m:oMathPara xmlns:m="http://schemas.openxmlformats.org/officeDocument/2006/math">
                    <m:oMathParaPr>
                      <m:jc m:val="centerGroup"/>
                    </m:oMathParaPr>
                    <m:oMath xmlns:m="http://schemas.openxmlformats.org/officeDocument/2006/math">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e>
                      </m:d>
                      <m:r>
                        <a:rPr lang="en-US" i="1" dirty="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e>
                      </m:d>
                      <m:r>
                        <a:rPr lang="en-US" i="1" dirty="0"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oMath>
                  </m:oMathPara>
                </a14:m>
                <a:endParaRPr lang="en-US" dirty="0"/>
              </a:p>
              <a:p>
                <a:pPr marL="0" indent="0">
                  <a:buNone/>
                </a:pPr>
                <a:endParaRPr lang="en-US" sz="1600" dirty="0"/>
              </a:p>
              <a:p>
                <a:r>
                  <a:rPr lang="en-US" dirty="0"/>
                  <a:t>Divide both sides by </a:t>
                </a:r>
                <a14:m>
                  <m:oMath xmlns:m="http://schemas.openxmlformats.org/officeDocument/2006/math">
                    <m:r>
                      <a:rPr lang="en-US" i="1" dirty="0">
                        <a:latin typeface="Cambria Math" panose="02040503050406030204" pitchFamily="18" charset="0"/>
                      </a:rPr>
                      <m:t>1+</m:t>
                    </m:r>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oMath>
                </a14:m>
                <a:r>
                  <a:rPr lang="en-US" dirty="0"/>
                  <a:t> to get:</a:t>
                </a:r>
              </a:p>
              <a:p>
                <a:endParaRPr lang="en-US" sz="500" dirty="0"/>
              </a:p>
              <a:p>
                <a:pPr marL="0" indent="0">
                  <a:buNone/>
                </a:pPr>
                <a14:m>
                  <m:oMathPara xmlns:m="http://schemas.openxmlformats.org/officeDocument/2006/math">
                    <m:oMathParaPr>
                      <m:jc m:val="centerGroup"/>
                    </m:oMathParaPr>
                    <m:oMath xmlns:m="http://schemas.openxmlformats.org/officeDocument/2006/math">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e>
                      </m:d>
                      <m:r>
                        <a:rPr lang="en-US" i="1" dirty="0">
                          <a:latin typeface="Cambria Math" panose="02040503050406030204" pitchFamily="18" charset="0"/>
                          <a:ea typeface="Cambria Math" panose="02040503050406030204" pitchFamily="18" charset="0"/>
                        </a:rPr>
                        <m:t>≈</m:t>
                      </m:r>
                      <m:f>
                        <m:fPr>
                          <m:ctrlPr>
                            <a:rPr lang="en-US" i="1" dirty="0" smtClean="0">
                              <a:latin typeface="Cambria Math" panose="02040503050406030204" pitchFamily="18" charset="0"/>
                            </a:rPr>
                          </m:ctrlPr>
                        </m:fPr>
                        <m:num>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num>
                        <m:den>
                          <m:r>
                            <a:rPr lang="en-US" i="1" dirty="0">
                              <a:latin typeface="Cambria Math" panose="02040503050406030204" pitchFamily="18" charset="0"/>
                            </a:rPr>
                            <m:t>1+</m:t>
                          </m:r>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den>
                      </m:f>
                    </m:oMath>
                  </m:oMathPara>
                </a14:m>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D1456402-FFFA-6385-FFF8-64F1B2FD282D}"/>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r="-208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0989F86-A43E-B3F0-8ADD-A45742717FCB}"/>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00994A02-00F7-2DA5-81E9-AAB49A408CC0}"/>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4278E8ED-977B-CA7A-BB04-72680842F1A2}"/>
              </a:ext>
            </a:extLst>
          </p:cNvPr>
          <p:cNvSpPr>
            <a:spLocks noGrp="1"/>
          </p:cNvSpPr>
          <p:nvPr>
            <p:ph type="sldNum" sz="quarter" idx="12"/>
          </p:nvPr>
        </p:nvSpPr>
        <p:spPr/>
        <p:txBody>
          <a:bodyPr/>
          <a:lstStyle/>
          <a:p>
            <a:fld id="{1A980C56-831A-4EAB-9EDE-57C090F4F877}" type="slidenum">
              <a:rPr lang="en-US" smtClean="0"/>
              <a:t>36</a:t>
            </a:fld>
            <a:endParaRPr lang="en-US" dirty="0"/>
          </a:p>
        </p:txBody>
      </p:sp>
      <p:sp>
        <p:nvSpPr>
          <p:cNvPr id="7" name="Rectangle 6">
            <a:extLst>
              <a:ext uri="{FF2B5EF4-FFF2-40B4-BE49-F238E27FC236}">
                <a16:creationId xmlns:a16="http://schemas.microsoft.com/office/drawing/2014/main" id="{40B6E018-E4D4-F9F5-C20B-5C4FD53090E6}"/>
              </a:ext>
            </a:extLst>
          </p:cNvPr>
          <p:cNvSpPr/>
          <p:nvPr/>
        </p:nvSpPr>
        <p:spPr>
          <a:xfrm>
            <a:off x="2809875" y="5076825"/>
            <a:ext cx="3571876" cy="87630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155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9244-87A2-0FE1-A7E2-C75DA4BC1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EC0C6-BF17-0621-1681-3272193B41D5}"/>
              </a:ext>
            </a:extLst>
          </p:cNvPr>
          <p:cNvSpPr>
            <a:spLocks noGrp="1"/>
          </p:cNvSpPr>
          <p:nvPr>
            <p:ph type="title"/>
          </p:nvPr>
        </p:nvSpPr>
        <p:spPr/>
        <p:txBody>
          <a:bodyPr/>
          <a:lstStyle/>
          <a:p>
            <a:r>
              <a:rPr lang="en-US" dirty="0"/>
              <a:t>Appendix:</a:t>
            </a:r>
            <a:br>
              <a:rPr lang="en-US" dirty="0"/>
            </a:br>
            <a:r>
              <a:rPr lang="en-US" dirty="0"/>
              <a:t>Deriving the Real Interest Rate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E0C6E2F-8FDC-78BE-C4A1-6F800250828E}"/>
                  </a:ext>
                </a:extLst>
              </p:cNvPr>
              <p:cNvSpPr>
                <a:spLocks noGrp="1"/>
              </p:cNvSpPr>
              <p:nvPr>
                <p:ph idx="1"/>
              </p:nvPr>
            </p:nvSpPr>
            <p:spPr>
              <a:xfrm>
                <a:off x="628650" y="1825625"/>
                <a:ext cx="7886700" cy="4351338"/>
              </a:xfrm>
            </p:spPr>
            <p:txBody>
              <a:bodyPr/>
              <a:lstStyle/>
              <a:p>
                <a:r>
                  <a:rPr lang="en-US" dirty="0"/>
                  <a:t>Plug in what we found in the </a:t>
                </a:r>
                <a:r>
                  <a:rPr lang="en-US" b="1" dirty="0">
                    <a:solidFill>
                      <a:srgbClr val="7030A0"/>
                    </a:solidFill>
                  </a:rPr>
                  <a:t>purple rectangle</a:t>
                </a:r>
                <a:r>
                  <a:rPr lang="en-US" dirty="0"/>
                  <a:t>, into the “no arbitrage” condition in the </a:t>
                </a:r>
                <a:r>
                  <a:rPr lang="en-US" b="1" dirty="0">
                    <a:solidFill>
                      <a:srgbClr val="FF0000"/>
                    </a:solidFill>
                  </a:rPr>
                  <a:t>red rectangle</a:t>
                </a:r>
                <a:r>
                  <a:rPr lang="en-US" dirty="0"/>
                  <a:t>:</a:t>
                </a:r>
              </a:p>
              <a:p>
                <a:endParaRPr lang="en-US" sz="500" dirty="0"/>
              </a:p>
              <a:p>
                <a:pPr marL="0" indent="0">
                  <a:buNone/>
                </a:pPr>
                <a14:m>
                  <m:oMathPara xmlns:m="http://schemas.openxmlformats.org/officeDocument/2006/math">
                    <m:oMathParaPr>
                      <m:jc m:val="centerGroup"/>
                    </m:oMathParaPr>
                    <m:oMath xmlns:m="http://schemas.openxmlformats.org/officeDocument/2006/math">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𝑟</m:t>
                              </m:r>
                            </m:e>
                            <m:sub>
                              <m:r>
                                <a:rPr lang="en-US" b="0" i="1" dirty="0" smtClean="0">
                                  <a:latin typeface="Cambria Math" panose="02040503050406030204" pitchFamily="18" charset="0"/>
                                </a:rPr>
                                <m:t>𝑡</m:t>
                              </m:r>
                            </m:sub>
                          </m:sSub>
                        </m:e>
                      </m:d>
                      <m:r>
                        <a:rPr lang="en-US" b="0" i="1" dirty="0"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e>
                      </m:d>
                      <m:f>
                        <m:fPr>
                          <m:ctrlPr>
                            <a:rPr lang="en-US" i="1" dirty="0" smtClean="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𝑡</m:t>
                              </m:r>
                            </m:sub>
                          </m:sSub>
                        </m:num>
                        <m:den>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𝑃</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up>
                              <m:r>
                                <a:rPr lang="en-US" b="0" i="1" dirty="0" smtClean="0">
                                  <a:latin typeface="Cambria Math" panose="02040503050406030204" pitchFamily="18" charset="0"/>
                                </a:rPr>
                                <m:t>𝑒</m:t>
                              </m:r>
                            </m:sup>
                          </m:sSubSup>
                        </m:den>
                      </m:f>
                      <m:r>
                        <a:rPr lang="en-US" b="0" i="1" dirty="0" smtClean="0">
                          <a:latin typeface="Cambria Math" panose="02040503050406030204" pitchFamily="18" charset="0"/>
                        </a:rPr>
                        <m:t>   </m:t>
                      </m:r>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   </m:t>
                      </m:r>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𝑡</m:t>
                          </m:r>
                        </m:sub>
                      </m:sSub>
                      <m:r>
                        <a:rPr lang="en-US" b="0" i="1" dirty="0" smtClean="0">
                          <a:latin typeface="Cambria Math" panose="02040503050406030204" pitchFamily="18" charset="0"/>
                        </a:rPr>
                        <m:t>=</m:t>
                      </m:r>
                      <m:f>
                        <m:fPr>
                          <m:ctrlPr>
                            <a:rPr lang="en-US" i="1" dirty="0">
                              <a:latin typeface="Cambria Math" panose="02040503050406030204" pitchFamily="18" charset="0"/>
                              <a:ea typeface="Cambria Math" panose="02040503050406030204" pitchFamily="18" charset="0"/>
                            </a:rPr>
                          </m:ctrlPr>
                        </m:fPr>
                        <m:num>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num>
                        <m:den>
                          <m:sSubSup>
                            <m:sSubSupPr>
                              <m:ctrlPr>
                                <a:rPr lang="en-US" i="1" dirty="0">
                                  <a:latin typeface="Cambria Math" panose="02040503050406030204" pitchFamily="18" charset="0"/>
                                </a:rPr>
                              </m:ctrlPr>
                            </m:sSubSupPr>
                            <m:e>
                              <m:r>
                                <a:rPr lang="en-US" i="1" dirty="0">
                                  <a:latin typeface="Cambria Math" panose="02040503050406030204" pitchFamily="18" charset="0"/>
                                </a:rPr>
                                <m:t>1+</m:t>
                              </m:r>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den>
                      </m:f>
                    </m:oMath>
                  </m:oMathPara>
                </a14:m>
                <a:endParaRPr lang="en-US" dirty="0"/>
              </a:p>
              <a:p>
                <a:pPr marL="0" indent="0">
                  <a:buNone/>
                </a:pPr>
                <a:endParaRPr lang="en-US" dirty="0"/>
              </a:p>
              <a:p>
                <a:r>
                  <a:rPr lang="en-US" dirty="0"/>
                  <a:t>Then apply our findings from the green rectangle into the result above:</a:t>
                </a:r>
              </a:p>
              <a:p>
                <a:pPr marL="0" indent="0">
                  <a:buNone/>
                </a:pPr>
                <a:r>
                  <a:rPr lang="en-US" dirty="0"/>
                  <a:t>	</a:t>
                </a:r>
                <a14:m>
                  <m:oMath xmlns:m="http://schemas.openxmlformats.org/officeDocument/2006/math">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𝑡</m:t>
                        </m:r>
                      </m:sub>
                    </m:sSub>
                    <m:r>
                      <a:rPr lang="en-US" i="1" dirty="0">
                        <a:latin typeface="Cambria Math" panose="02040503050406030204" pitchFamily="18" charset="0"/>
                      </a:rPr>
                      <m:t>=</m:t>
                    </m:r>
                    <m:f>
                      <m:fPr>
                        <m:ctrlPr>
                          <a:rPr lang="en-US" i="1" dirty="0">
                            <a:latin typeface="Cambria Math" panose="02040503050406030204" pitchFamily="18" charset="0"/>
                            <a:ea typeface="Cambria Math" panose="02040503050406030204" pitchFamily="18" charset="0"/>
                          </a:rPr>
                        </m:ctrlPr>
                      </m:fPr>
                      <m:num>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num>
                      <m:den>
                        <m:sSubSup>
                          <m:sSubSupPr>
                            <m:ctrlPr>
                              <a:rPr lang="en-US" i="1" dirty="0">
                                <a:latin typeface="Cambria Math" panose="02040503050406030204" pitchFamily="18" charset="0"/>
                              </a:rPr>
                            </m:ctrlPr>
                          </m:sSubSupPr>
                          <m:e>
                            <m:r>
                              <a:rPr lang="en-US" i="1" dirty="0">
                                <a:latin typeface="Cambria Math" panose="02040503050406030204" pitchFamily="18" charset="0"/>
                              </a:rPr>
                              <m:t>1+</m:t>
                            </m:r>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den>
                    </m:f>
                    <m:r>
                      <a:rPr lang="en-US" b="0" i="1" dirty="0" smtClean="0">
                        <a:latin typeface="Cambria Math" panose="02040503050406030204" pitchFamily="18" charset="0"/>
                      </a:rPr>
                      <m:t>   </m:t>
                    </m:r>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   1+</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𝑟</m:t>
                        </m:r>
                      </m:e>
                      <m:sub>
                        <m:r>
                          <a:rPr lang="en-US" b="0" i="1" dirty="0" smtClean="0">
                            <a:latin typeface="Cambria Math" panose="02040503050406030204" pitchFamily="18" charset="0"/>
                            <a:ea typeface="Cambria Math" panose="02040503050406030204" pitchFamily="18" charset="0"/>
                          </a:rPr>
                          <m:t>𝑡</m:t>
                        </m:r>
                      </m:sub>
                    </m:sSub>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oMath>
                </a14:m>
                <a:endParaRPr lang="en-US" dirty="0"/>
              </a:p>
              <a:p>
                <a:pPr marL="0" indent="0">
                  <a:buNone/>
                </a:pPr>
                <a:r>
                  <a:rPr lang="en-US" dirty="0">
                    <a:ea typeface="Cambria Math" panose="02040503050406030204" pitchFamily="18" charset="0"/>
                  </a:rPr>
                  <a:t>			     </a:t>
                </a:r>
                <a14:m>
                  <m:oMath xmlns:m="http://schemas.openxmlformats.org/officeDocument/2006/math">
                    <m:r>
                      <a:rPr lang="en-US" i="1" dirty="0">
                        <a:latin typeface="Cambria Math" panose="02040503050406030204" pitchFamily="18" charset="0"/>
                        <a:ea typeface="Cambria Math" panose="02040503050406030204" pitchFamily="18" charset="0"/>
                      </a:rPr>
                      <m:t>⟹   </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𝑟</m:t>
                        </m:r>
                      </m:e>
                      <m:sub>
                        <m:r>
                          <a:rPr lang="en-US" i="1" dirty="0">
                            <a:latin typeface="Cambria Math" panose="02040503050406030204" pitchFamily="18" charset="0"/>
                            <a:ea typeface="Cambria Math" panose="02040503050406030204" pitchFamily="18" charset="0"/>
                          </a:rPr>
                          <m:t>𝑡</m:t>
                        </m:r>
                      </m:sub>
                    </m:sSub>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𝑖</m:t>
                        </m:r>
                      </m:e>
                      <m:sub>
                        <m:r>
                          <a:rPr lang="en-US" i="1" dirty="0">
                            <a:latin typeface="Cambria Math" panose="02040503050406030204" pitchFamily="18" charset="0"/>
                          </a:rPr>
                          <m:t>𝑡</m:t>
                        </m:r>
                      </m:sub>
                    </m:sSub>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𝜋</m:t>
                        </m:r>
                      </m:e>
                      <m:sub>
                        <m:r>
                          <a:rPr lang="en-US" i="1" dirty="0">
                            <a:latin typeface="Cambria Math" panose="02040503050406030204" pitchFamily="18" charset="0"/>
                          </a:rPr>
                          <m:t>𝑡</m:t>
                        </m:r>
                        <m:r>
                          <a:rPr lang="en-US" i="1" dirty="0">
                            <a:latin typeface="Cambria Math" panose="02040503050406030204" pitchFamily="18" charset="0"/>
                          </a:rPr>
                          <m:t>+1</m:t>
                        </m:r>
                      </m:sub>
                      <m:sup>
                        <m:r>
                          <a:rPr lang="en-US" i="1" dirty="0">
                            <a:latin typeface="Cambria Math" panose="02040503050406030204" pitchFamily="18" charset="0"/>
                          </a:rPr>
                          <m:t>𝑒</m:t>
                        </m:r>
                      </m:sup>
                    </m:sSubSup>
                  </m:oMath>
                </a14:m>
                <a:endParaRPr lang="en-US" dirty="0"/>
              </a:p>
            </p:txBody>
          </p:sp>
        </mc:Choice>
        <mc:Fallback>
          <p:sp>
            <p:nvSpPr>
              <p:cNvPr id="3" name="Content Placeholder 2">
                <a:extLst>
                  <a:ext uri="{FF2B5EF4-FFF2-40B4-BE49-F238E27FC236}">
                    <a16:creationId xmlns:a16="http://schemas.microsoft.com/office/drawing/2014/main" id="{4E0C6E2F-8FDC-78BE-C4A1-6F800250828E}"/>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r="-1777"/>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57E5EF5-0EA6-363F-FA71-0FF2A668129B}"/>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00D93EA1-8A31-48A6-05B4-1EDE1663B360}"/>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868734FB-435F-365C-7D30-307CD53B9B44}"/>
              </a:ext>
            </a:extLst>
          </p:cNvPr>
          <p:cNvSpPr>
            <a:spLocks noGrp="1"/>
          </p:cNvSpPr>
          <p:nvPr>
            <p:ph type="sldNum" sz="quarter" idx="12"/>
          </p:nvPr>
        </p:nvSpPr>
        <p:spPr/>
        <p:txBody>
          <a:bodyPr/>
          <a:lstStyle/>
          <a:p>
            <a:fld id="{1A980C56-831A-4EAB-9EDE-57C090F4F877}" type="slidenum">
              <a:rPr lang="en-US" smtClean="0"/>
              <a:t>37</a:t>
            </a:fld>
            <a:endParaRPr lang="en-US" dirty="0"/>
          </a:p>
        </p:txBody>
      </p:sp>
    </p:spTree>
    <p:extLst>
      <p:ext uri="{BB962C8B-B14F-4D97-AF65-F5344CB8AC3E}">
        <p14:creationId xmlns:p14="http://schemas.microsoft.com/office/powerpoint/2010/main" val="300186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09481-BEBC-28A7-5CD8-19898D352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B0972-C647-856B-328B-9E1B94D0DBAD}"/>
              </a:ext>
            </a:extLst>
          </p:cNvPr>
          <p:cNvSpPr>
            <a:spLocks noGrp="1"/>
          </p:cNvSpPr>
          <p:nvPr>
            <p:ph type="title"/>
          </p:nvPr>
        </p:nvSpPr>
        <p:spPr/>
        <p:txBody>
          <a:bodyPr/>
          <a:lstStyle/>
          <a:p>
            <a:r>
              <a:rPr lang="en-US" dirty="0"/>
              <a:t>Appendix:</a:t>
            </a:r>
            <a:br>
              <a:rPr lang="en-US" dirty="0"/>
            </a:br>
            <a:r>
              <a:rPr lang="en-US" dirty="0"/>
              <a:t>Deriving the Risk Premium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51BDE2-C2FD-9A3B-A68C-09BAD6A1617B}"/>
                  </a:ext>
                </a:extLst>
              </p:cNvPr>
              <p:cNvSpPr>
                <a:spLocks noGrp="1"/>
              </p:cNvSpPr>
              <p:nvPr>
                <p:ph idx="1"/>
              </p:nvPr>
            </p:nvSpPr>
            <p:spPr>
              <a:xfrm>
                <a:off x="628650" y="1825625"/>
                <a:ext cx="7886700" cy="4351338"/>
              </a:xfrm>
            </p:spPr>
            <p:txBody>
              <a:bodyPr/>
              <a:lstStyle/>
              <a:p>
                <a:r>
                  <a:rPr lang="en-US" dirty="0"/>
                  <a:t>Assuming that individuals are risk-neutral, risk premia must be set so that the expected return from the risky asset matches the return from the risk-free asset.</a:t>
                </a:r>
              </a:p>
              <a:p>
                <a:endParaRPr lang="en-US" sz="500" dirty="0"/>
              </a:p>
              <a:p>
                <a:pPr marL="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𝑖</m:t>
                          </m:r>
                        </m:e>
                      </m:d>
                      <m:r>
                        <a:rPr lang="en-US" b="0" i="1" smtClean="0">
                          <a:latin typeface="Cambria Math" panose="02040503050406030204" pitchFamily="18" charset="0"/>
                        </a:rPr>
                        <m:t>=</m:t>
                      </m:r>
                      <m:limUpp>
                        <m:limUppPr>
                          <m:ctrlPr>
                            <a:rPr lang="en-US" i="1">
                              <a:latin typeface="Cambria Math" panose="02040503050406030204" pitchFamily="18" charset="0"/>
                            </a:rPr>
                          </m:ctrlPr>
                        </m:limUppPr>
                        <m:e>
                          <m:groupChr>
                            <m:groupChrPr>
                              <m:chr m:val="⏞"/>
                              <m:pos m:val="top"/>
                              <m:vertJc m:val="bot"/>
                              <m:ctrlPr>
                                <a:rPr lang="en-US" i="1">
                                  <a:latin typeface="Cambria Math" panose="02040503050406030204" pitchFamily="18" charset="0"/>
                                </a:rPr>
                              </m:ctrlPr>
                            </m:groupChr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𝑥</m:t>
                                  </m:r>
                                </m:e>
                              </m:d>
                            </m:e>
                          </m:groupChr>
                        </m:e>
                        <m:lim>
                          <m:eqArr>
                            <m:eqArrPr>
                              <m:ctrlPr>
                                <a:rPr lang="en-US" i="1">
                                  <a:latin typeface="Cambria Math" panose="02040503050406030204" pitchFamily="18" charset="0"/>
                                </a:rPr>
                              </m:ctrlPr>
                            </m:eqArrPr>
                            <m:e>
                              <m:r>
                                <m:rPr>
                                  <m:sty m:val="p"/>
                                </m:rPr>
                                <a:rPr lang="en-US">
                                  <a:latin typeface="Cambria Math" panose="02040503050406030204" pitchFamily="18" charset="0"/>
                                </a:rPr>
                                <m:t>Return</m:t>
                              </m:r>
                              <m:r>
                                <a:rPr lang="en-US">
                                  <a:latin typeface="Cambria Math" panose="02040503050406030204" pitchFamily="18" charset="0"/>
                                </a:rPr>
                                <m:t> </m:t>
                              </m:r>
                              <m:r>
                                <m:rPr>
                                  <m:sty m:val="p"/>
                                </m:rPr>
                                <a:rPr lang="en-US">
                                  <a:latin typeface="Cambria Math" panose="02040503050406030204" pitchFamily="18" charset="0"/>
                                </a:rPr>
                                <m:t>of</m:t>
                              </m:r>
                              <m:r>
                                <a:rPr lang="en-US">
                                  <a:latin typeface="Cambria Math" panose="02040503050406030204" pitchFamily="18" charset="0"/>
                                </a:rPr>
                                <m:t> </m:t>
                              </m:r>
                            </m:e>
                            <m:e>
                              <m:r>
                                <m:rPr>
                                  <m:sty m:val="p"/>
                                </m:rPr>
                                <a:rPr lang="en-US">
                                  <a:latin typeface="Cambria Math" panose="02040503050406030204" pitchFamily="18" charset="0"/>
                                </a:rPr>
                                <m:t>risky</m:t>
                              </m:r>
                              <m:r>
                                <a:rPr lang="en-US">
                                  <a:latin typeface="Cambria Math" panose="02040503050406030204" pitchFamily="18" charset="0"/>
                                </a:rPr>
                                <m:t> </m:t>
                              </m:r>
                              <m:r>
                                <m:rPr>
                                  <m:sty m:val="p"/>
                                </m:rPr>
                                <a:rPr lang="en-US">
                                  <a:latin typeface="Cambria Math" panose="02040503050406030204" pitchFamily="18" charset="0"/>
                                </a:rPr>
                                <m:t>asset</m:t>
                              </m:r>
                            </m:e>
                          </m:eqArr>
                        </m:lim>
                      </m:limUpp>
                      <m:r>
                        <a:rPr lang="en-US" i="1">
                          <a:latin typeface="Cambria Math" panose="02040503050406030204" pitchFamily="18" charset="0"/>
                        </a:rPr>
                        <m:t>×</m:t>
                      </m:r>
                      <m:limUpp>
                        <m:limUppPr>
                          <m:ctrlPr>
                            <a:rPr lang="en-US" i="1">
                              <a:latin typeface="Cambria Math" panose="02040503050406030204" pitchFamily="18" charset="0"/>
                            </a:rPr>
                          </m:ctrlPr>
                        </m:limUppPr>
                        <m:e>
                          <m:groupChr>
                            <m:groupChrPr>
                              <m:chr m:val="⏞"/>
                              <m:pos m:val="top"/>
                              <m:vertJc m:val="bot"/>
                              <m:ctrlPr>
                                <a:rPr lang="en-US" i="1">
                                  <a:latin typeface="Cambria Math" panose="02040503050406030204" pitchFamily="18" charset="0"/>
                                </a:rPr>
                              </m:ctrlPr>
                            </m:groupChr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𝑝</m:t>
                                  </m:r>
                                </m:e>
                              </m:d>
                            </m:e>
                          </m:groupChr>
                        </m:e>
                        <m:lim>
                          <m:eqArr>
                            <m:eqArrPr>
                              <m:ctrlPr>
                                <a:rPr lang="en-US" i="1">
                                  <a:latin typeface="Cambria Math" panose="02040503050406030204" pitchFamily="18" charset="0"/>
                                </a:rPr>
                              </m:ctrlPr>
                            </m:eqArrPr>
                            <m:e>
                              <m:r>
                                <m:rPr>
                                  <m:sty m:val="p"/>
                                </m:rPr>
                                <a:rPr lang="en-US">
                                  <a:latin typeface="Cambria Math" panose="02040503050406030204" pitchFamily="18" charset="0"/>
                                </a:rPr>
                                <m:t>Prob</m:t>
                              </m:r>
                              <m:r>
                                <a:rPr lang="en-US">
                                  <a:latin typeface="Cambria Math" panose="02040503050406030204" pitchFamily="18" charset="0"/>
                                </a:rPr>
                                <m:t>.  </m:t>
                              </m:r>
                              <m:r>
                                <m:rPr>
                                  <m:sty m:val="p"/>
                                </m:rPr>
                                <a:rPr lang="en-US">
                                  <a:latin typeface="Cambria Math" panose="02040503050406030204" pitchFamily="18" charset="0"/>
                                </a:rPr>
                                <m:t>of</m:t>
                              </m:r>
                            </m:e>
                            <m:e>
                              <m:r>
                                <m:rPr>
                                  <m:sty m:val="p"/>
                                </m:rPr>
                                <a:rPr lang="en-US">
                                  <a:latin typeface="Cambria Math" panose="02040503050406030204" pitchFamily="18" charset="0"/>
                                </a:rPr>
                                <m:t>payout</m:t>
                              </m:r>
                            </m:e>
                          </m:eqArr>
                        </m:lim>
                      </m:limUpp>
                      <m:r>
                        <a:rPr lang="en-US" b="0" i="1" smtClean="0">
                          <a:latin typeface="Cambria Math" panose="02040503050406030204" pitchFamily="18" charset="0"/>
                        </a:rPr>
                        <m:t>+</m:t>
                      </m:r>
                      <m:limUpp>
                        <m:limUppPr>
                          <m:ctrlPr>
                            <a:rPr lang="en-US" b="0" i="1" smtClean="0">
                              <a:latin typeface="Cambria Math" panose="02040503050406030204" pitchFamily="18" charset="0"/>
                            </a:rPr>
                          </m:ctrlPr>
                        </m:limUppPr>
                        <m:e>
                          <m:groupChr>
                            <m:groupChrPr>
                              <m:chr m:val="⏞"/>
                              <m:pos m:val="top"/>
                              <m:vertJc m:val="bot"/>
                              <m:ctrlPr>
                                <a:rPr lang="en-US" b="0" i="1" smtClean="0">
                                  <a:latin typeface="Cambria Math" panose="02040503050406030204" pitchFamily="18" charset="0"/>
                                </a:rPr>
                              </m:ctrlPr>
                            </m:groupChrPr>
                            <m:e>
                              <m:r>
                                <a:rPr lang="en-US" i="1">
                                  <a:latin typeface="Cambria Math" panose="02040503050406030204" pitchFamily="18" charset="0"/>
                                </a:rPr>
                                <m:t>0</m:t>
                              </m:r>
                            </m:e>
                          </m:groupChr>
                        </m:e>
                        <m:lim>
                          <m:eqArr>
                            <m:eqArrPr>
                              <m:ctrlPr>
                                <a:rPr lang="en-US" b="0" i="1" smtClean="0">
                                  <a:latin typeface="Cambria Math" panose="02040503050406030204" pitchFamily="18" charset="0"/>
                                </a:rPr>
                              </m:ctrlPr>
                            </m:eqArrPr>
                            <m:e>
                              <m:r>
                                <m:rPr>
                                  <m:sty m:val="p"/>
                                </m:rPr>
                                <a:rPr lang="en-US" b="0" i="0" smtClean="0">
                                  <a:latin typeface="Cambria Math" panose="02040503050406030204" pitchFamily="18" charset="0"/>
                                </a:rPr>
                                <m:t>Return</m:t>
                              </m:r>
                              <m:r>
                                <a:rPr lang="en-US" b="0" i="0" smtClean="0">
                                  <a:latin typeface="Cambria Math" panose="02040503050406030204" pitchFamily="18" charset="0"/>
                                </a:rPr>
                                <m:t> </m:t>
                              </m:r>
                              <m:r>
                                <m:rPr>
                                  <m:sty m:val="p"/>
                                </m:rPr>
                                <a:rPr lang="en-US" b="0" i="0" smtClean="0">
                                  <a:latin typeface="Cambria Math" panose="02040503050406030204" pitchFamily="18" charset="0"/>
                                </a:rPr>
                                <m:t>from</m:t>
                              </m:r>
                            </m:e>
                            <m:e>
                              <m:r>
                                <a:rPr lang="en-US" b="0" i="0" smtClean="0">
                                  <a:latin typeface="Cambria Math" panose="02040503050406030204" pitchFamily="18" charset="0"/>
                                </a:rPr>
                                <m:t> </m:t>
                              </m:r>
                              <m:r>
                                <m:rPr>
                                  <m:sty m:val="p"/>
                                </m:rPr>
                                <a:rPr lang="en-US" b="0" i="0" smtClean="0">
                                  <a:latin typeface="Cambria Math" panose="02040503050406030204" pitchFamily="18" charset="0"/>
                                </a:rPr>
                                <m:t>default</m:t>
                              </m:r>
                            </m:e>
                          </m:eqArr>
                        </m:lim>
                      </m:limUpp>
                      <m:r>
                        <a:rPr lang="en-US" b="0" i="1" smtClean="0">
                          <a:latin typeface="Cambria Math" panose="02040503050406030204" pitchFamily="18" charset="0"/>
                        </a:rPr>
                        <m:t>×</m:t>
                      </m:r>
                      <m:limUpp>
                        <m:limUppPr>
                          <m:ctrlPr>
                            <a:rPr lang="en-US" b="0" i="1" smtClean="0">
                              <a:latin typeface="Cambria Math" panose="02040503050406030204" pitchFamily="18" charset="0"/>
                            </a:rPr>
                          </m:ctrlPr>
                        </m:limUppPr>
                        <m:e>
                          <m:groupChr>
                            <m:groupChrPr>
                              <m:chr m:val="⏞"/>
                              <m:pos m:val="top"/>
                              <m:vertJc m:val="bot"/>
                              <m:ctrlPr>
                                <a:rPr lang="en-US" b="0" i="1" smtClean="0">
                                  <a:latin typeface="Cambria Math" panose="02040503050406030204" pitchFamily="18" charset="0"/>
                                </a:rPr>
                              </m:ctrlPr>
                            </m:groupChrPr>
                            <m:e>
                              <m:r>
                                <a:rPr lang="en-US" i="1">
                                  <a:latin typeface="Cambria Math" panose="02040503050406030204" pitchFamily="18" charset="0"/>
                                </a:rPr>
                                <m:t>𝑝</m:t>
                              </m:r>
                            </m:e>
                          </m:groupChr>
                        </m:e>
                        <m:lim>
                          <m:eqArr>
                            <m:eqArrPr>
                              <m:ctrlPr>
                                <a:rPr lang="en-US" b="0" i="1" smtClean="0">
                                  <a:latin typeface="Cambria Math" panose="02040503050406030204" pitchFamily="18" charset="0"/>
                                </a:rPr>
                              </m:ctrlPr>
                            </m:eqArrPr>
                            <m:e>
                              <m:r>
                                <m:rPr>
                                  <m:sty m:val="p"/>
                                </m:rPr>
                                <a:rPr lang="en-US" b="0" i="0" smtClean="0">
                                  <a:latin typeface="Cambria Math" panose="02040503050406030204" pitchFamily="18" charset="0"/>
                                </a:rPr>
                                <m:t>Prob</m:t>
                              </m:r>
                              <m:r>
                                <a:rPr lang="en-US" b="0" i="0" smtClean="0">
                                  <a:latin typeface="Cambria Math" panose="02040503050406030204" pitchFamily="18" charset="0"/>
                                </a:rPr>
                                <m:t>.  </m:t>
                              </m:r>
                              <m:r>
                                <m:rPr>
                                  <m:sty m:val="p"/>
                                </m:rPr>
                                <a:rPr lang="en-US" b="0" i="0" smtClean="0">
                                  <a:latin typeface="Cambria Math" panose="02040503050406030204" pitchFamily="18" charset="0"/>
                                </a:rPr>
                                <m:t>of</m:t>
                              </m:r>
                            </m:e>
                            <m:e>
                              <m:r>
                                <m:rPr>
                                  <m:sty m:val="p"/>
                                </m:rPr>
                                <a:rPr lang="en-US" b="0" i="0" smtClean="0">
                                  <a:latin typeface="Cambria Math" panose="02040503050406030204" pitchFamily="18" charset="0"/>
                                </a:rPr>
                                <m:t>default</m:t>
                              </m:r>
                            </m:e>
                          </m:eqArr>
                        </m:lim>
                      </m:limUpp>
                    </m:oMath>
                  </m:oMathPara>
                </a14:m>
                <a:endParaRPr lang="en-US" dirty="0"/>
              </a:p>
              <a:p>
                <a:pPr lvl="3"/>
                <a:endParaRPr lang="en-US" dirty="0"/>
              </a:p>
              <a:p>
                <a:r>
                  <a:rPr lang="en-US" dirty="0"/>
                  <a:t>Simplifying the relationship above:</a:t>
                </a:r>
              </a:p>
              <a:p>
                <a:endParaRPr lang="en-US" sz="5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1−</m:t>
                          </m:r>
                          <m:r>
                            <a:rPr lang="en-US" b="0" i="1" smtClean="0">
                              <a:latin typeface="Cambria Math" panose="02040503050406030204" pitchFamily="18" charset="0"/>
                            </a:rPr>
                            <m:t>𝑝</m:t>
                          </m:r>
                        </m:den>
                      </m:f>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E451BDE2-C2FD-9A3B-A68C-09BAD6A1617B}"/>
                  </a:ext>
                </a:extLst>
              </p:cNvPr>
              <p:cNvSpPr>
                <a:spLocks noGrp="1" noRot="1" noChangeAspect="1" noMove="1" noResize="1" noEditPoints="1" noAdjustHandles="1" noChangeArrowheads="1" noChangeShapeType="1" noTextEdit="1"/>
              </p:cNvSpPr>
              <p:nvPr>
                <p:ph idx="1"/>
              </p:nvPr>
            </p:nvSpPr>
            <p:spPr>
              <a:xfrm>
                <a:off x="628650" y="1825625"/>
                <a:ext cx="7886700" cy="4351338"/>
              </a:xfrm>
              <a:blipFill>
                <a:blip r:embed="rId2"/>
                <a:stretch>
                  <a:fillRect l="-1005" t="-182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8659C03-59E8-2FE9-08E1-9063E2F4120B}"/>
              </a:ext>
            </a:extLst>
          </p:cNvPr>
          <p:cNvSpPr>
            <a:spLocks noGrp="1"/>
          </p:cNvSpPr>
          <p:nvPr>
            <p:ph type="dt" sz="half" idx="10"/>
          </p:nvPr>
        </p:nvSpPr>
        <p:spPr/>
        <p:txBody>
          <a:bodyPr/>
          <a:lstStyle/>
          <a:p>
            <a:r>
              <a:rPr lang="en-US"/>
              <a:t>Spring 2024</a:t>
            </a:r>
            <a:endParaRPr lang="en-US" dirty="0"/>
          </a:p>
        </p:txBody>
      </p:sp>
      <p:sp>
        <p:nvSpPr>
          <p:cNvPr id="5" name="Footer Placeholder 4">
            <a:extLst>
              <a:ext uri="{FF2B5EF4-FFF2-40B4-BE49-F238E27FC236}">
                <a16:creationId xmlns:a16="http://schemas.microsoft.com/office/drawing/2014/main" id="{4DC1C9C9-42C6-5C40-F262-AFAE5C973E59}"/>
              </a:ext>
            </a:extLst>
          </p:cNvPr>
          <p:cNvSpPr>
            <a:spLocks noGrp="1"/>
          </p:cNvSpPr>
          <p:nvPr>
            <p:ph type="ftr" sz="quarter" idx="11"/>
          </p:nvPr>
        </p:nvSpPr>
        <p:spPr/>
        <p:txBody>
          <a:bodyPr/>
          <a:lstStyle/>
          <a:p>
            <a:r>
              <a:rPr lang="en-US"/>
              <a:t>DEPARTMENT OF BUSINESS &amp; ECONOMICS</a:t>
            </a:r>
            <a:endParaRPr lang="en-US" dirty="0"/>
          </a:p>
        </p:txBody>
      </p:sp>
      <p:sp>
        <p:nvSpPr>
          <p:cNvPr id="6" name="Slide Number Placeholder 5">
            <a:extLst>
              <a:ext uri="{FF2B5EF4-FFF2-40B4-BE49-F238E27FC236}">
                <a16:creationId xmlns:a16="http://schemas.microsoft.com/office/drawing/2014/main" id="{AC8AB4C6-36DB-5C19-D37D-25A1C2BF1BC8}"/>
              </a:ext>
            </a:extLst>
          </p:cNvPr>
          <p:cNvSpPr>
            <a:spLocks noGrp="1"/>
          </p:cNvSpPr>
          <p:nvPr>
            <p:ph type="sldNum" sz="quarter" idx="12"/>
          </p:nvPr>
        </p:nvSpPr>
        <p:spPr/>
        <p:txBody>
          <a:bodyPr/>
          <a:lstStyle/>
          <a:p>
            <a:fld id="{1A980C56-831A-4EAB-9EDE-57C090F4F877}" type="slidenum">
              <a:rPr lang="en-US" smtClean="0"/>
              <a:t>38</a:t>
            </a:fld>
            <a:endParaRPr lang="en-US" dirty="0"/>
          </a:p>
        </p:txBody>
      </p:sp>
    </p:spTree>
    <p:extLst>
      <p:ext uri="{BB962C8B-B14F-4D97-AF65-F5344CB8AC3E}">
        <p14:creationId xmlns:p14="http://schemas.microsoft.com/office/powerpoint/2010/main" val="308697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F630E01-D107-42E5-8DFC-48302BB3DFE2}" vid="{4BEE81CA-F64C-419F-A97B-23D16F4EA3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mc-presentation-template</Template>
  <TotalTime>11544</TotalTime>
  <Words>2617</Words>
  <Application>Microsoft Office PowerPoint</Application>
  <PresentationFormat>On-screen Show (4:3)</PresentationFormat>
  <Paragraphs>432</Paragraphs>
  <Slides>38</Slides>
  <Notes>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Cambria Math</vt:lpstr>
      <vt:lpstr>Franklin Gothic Book</vt:lpstr>
      <vt:lpstr>Office Theme</vt:lpstr>
      <vt:lpstr>The Short Run: Extensions to the IS-LM Framework</vt:lpstr>
      <vt:lpstr>https://pollev.com/brianpark046</vt:lpstr>
      <vt:lpstr>Expanding the Financial Market</vt:lpstr>
      <vt:lpstr>Nominal and Real Interest Rates</vt:lpstr>
      <vt:lpstr>Nominal and Real Interest Rates</vt:lpstr>
      <vt:lpstr>Nominal and Real Interest Rates</vt:lpstr>
      <vt:lpstr>Nominal and Real Interest Rates</vt:lpstr>
      <vt:lpstr>POLLEVERYWHERE</vt:lpstr>
      <vt:lpstr>Nominal and Real Interest Rates</vt:lpstr>
      <vt:lpstr>Risk and the Risk Premia</vt:lpstr>
      <vt:lpstr>Risk and the Risk Premia</vt:lpstr>
      <vt:lpstr>Risk and the Risk Premia</vt:lpstr>
      <vt:lpstr>Risk and the Risk Premia</vt:lpstr>
      <vt:lpstr>Risk and the Risk Premia</vt:lpstr>
      <vt:lpstr>Financial Intermediaries</vt:lpstr>
      <vt:lpstr>Financial Intermediaries</vt:lpstr>
      <vt:lpstr>The Extended IS-LM Framework</vt:lpstr>
      <vt:lpstr>The Extended IS-LM Framework</vt:lpstr>
      <vt:lpstr>The Extended IS-LM Framework</vt:lpstr>
      <vt:lpstr>POLLEVERYWHERE</vt:lpstr>
      <vt:lpstr>The Extended IS-LM Framework</vt:lpstr>
      <vt:lpstr>The Extended IS-LM Framework</vt:lpstr>
      <vt:lpstr>The Extended IS-LM Framework</vt:lpstr>
      <vt:lpstr>The Great Recession</vt:lpstr>
      <vt:lpstr>The Great Recession</vt:lpstr>
      <vt:lpstr>The Great Recession: The Scope</vt:lpstr>
      <vt:lpstr>The Great Recession: Responses</vt:lpstr>
      <vt:lpstr>The Great Recession: Responses</vt:lpstr>
      <vt:lpstr>The Great Recession: Responses</vt:lpstr>
      <vt:lpstr>The Great Recession: Responses</vt:lpstr>
      <vt:lpstr>Appendix</vt:lpstr>
      <vt:lpstr>Appendix: Deriving the Real Interest Rate</vt:lpstr>
      <vt:lpstr>Appendix: Deriving the Real Interest Rate</vt:lpstr>
      <vt:lpstr>Appendix: Deriving the Real Interest Rate</vt:lpstr>
      <vt:lpstr>Appendix: Deriving the Real Interest Rate</vt:lpstr>
      <vt:lpstr>Appendix: Deriving the Real Interest Rate</vt:lpstr>
      <vt:lpstr>Appendix: Deriving the Real Interest Rate</vt:lpstr>
      <vt:lpstr>Appendix: Deriving the Risk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Price Theory</dc:title>
  <dc:creator>Brian Park</dc:creator>
  <cp:lastModifiedBy>Brian Park</cp:lastModifiedBy>
  <cp:revision>177</cp:revision>
  <dcterms:created xsi:type="dcterms:W3CDTF">2023-08-17T23:00:51Z</dcterms:created>
  <dcterms:modified xsi:type="dcterms:W3CDTF">2024-02-16T04:37:20Z</dcterms:modified>
</cp:coreProperties>
</file>