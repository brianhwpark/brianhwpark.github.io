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4"/>
  </p:notesMasterIdLst>
  <p:sldIdLst>
    <p:sldId id="256" r:id="rId2"/>
    <p:sldId id="329" r:id="rId3"/>
    <p:sldId id="258" r:id="rId4"/>
    <p:sldId id="333" r:id="rId5"/>
    <p:sldId id="332" r:id="rId6"/>
    <p:sldId id="331" r:id="rId7"/>
    <p:sldId id="365" r:id="rId8"/>
    <p:sldId id="367" r:id="rId9"/>
    <p:sldId id="336" r:id="rId10"/>
    <p:sldId id="335" r:id="rId11"/>
    <p:sldId id="334" r:id="rId12"/>
    <p:sldId id="340" r:id="rId13"/>
    <p:sldId id="362" r:id="rId14"/>
    <p:sldId id="364" r:id="rId15"/>
    <p:sldId id="361" r:id="rId16"/>
    <p:sldId id="343" r:id="rId17"/>
    <p:sldId id="344" r:id="rId18"/>
    <p:sldId id="342" r:id="rId19"/>
    <p:sldId id="346" r:id="rId20"/>
    <p:sldId id="347" r:id="rId21"/>
    <p:sldId id="348" r:id="rId22"/>
    <p:sldId id="352" r:id="rId23"/>
    <p:sldId id="349" r:id="rId24"/>
    <p:sldId id="351" r:id="rId25"/>
    <p:sldId id="350" r:id="rId26"/>
    <p:sldId id="353" r:id="rId27"/>
    <p:sldId id="356" r:id="rId28"/>
    <p:sldId id="354" r:id="rId29"/>
    <p:sldId id="357" r:id="rId30"/>
    <p:sldId id="358" r:id="rId31"/>
    <p:sldId id="359" r:id="rId32"/>
    <p:sldId id="36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E05F65"/>
    <a:srgbClr val="00FFFF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83656" autoAdjust="0"/>
  </p:normalViewPr>
  <p:slideViewPr>
    <p:cSldViewPr snapToGrid="0">
      <p:cViewPr varScale="1">
        <p:scale>
          <a:sx n="69" d="100"/>
          <a:sy n="69" d="100"/>
        </p:scale>
        <p:origin x="21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2/13/2024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would happen to this diagram if the interest rate in the economy increases?
https://www.polleverywhere.com/multiple_choice_polls/Kpt0IkH9WXKx4dJimwEDl?display_state=instructions&amp;activity_state=opened&amp;state=opened&amp;flow=Engagement&amp;onscreen=persist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88A07-3268-B090-F87B-BDA1900C1B9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would happen to this diagram if the interest rate in the economy increases?
https://www.polleverywhere.com/multiple_choice_polls/Kpt0IkH9WXKx4dJimwEDl?display_state=chart&amp;activity_state=closed&amp;state=closed&amp;flow=Engagement&amp;onscreen=persist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19D2A-DFBE-53AC-A237-0E8D1D34AA4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49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5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13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506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would happen to the diagram if the government cuts taxes?
https://www.polleverywhere.com/multiple_choice_polls/CzM89CphMLMSqCxoolyMP?display_state=instructions&amp;activity_state=opened&amp;state=opened&amp;flow=Engagement&amp;onscreen=persist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5D971-2B40-E792-B0B7-620EBD1CA07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73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would happen to the diagram if the government cuts taxes?
https://www.polleverywhere.com/multiple_choice_polls/CzM89CphMLMSqCxoolyMP?display_state=chart&amp;activity_state=closed&amp;state=closed&amp;flow=Engagement&amp;onscreen=persist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C295B-DAAE-F9E3-EAA5-9ACA512975D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2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5.png"/><Relationship Id="rId3" Type="http://schemas.openxmlformats.org/officeDocument/2006/relationships/image" Target="../media/image150.png"/><Relationship Id="rId7" Type="http://schemas.openxmlformats.org/officeDocument/2006/relationships/image" Target="../media/image17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1" Type="http://schemas.openxmlformats.org/officeDocument/2006/relationships/image" Target="../media/image53.png"/><Relationship Id="rId5" Type="http://schemas.openxmlformats.org/officeDocument/2006/relationships/image" Target="../media/image44.png"/><Relationship Id="rId10" Type="http://schemas.openxmlformats.org/officeDocument/2006/relationships/image" Target="../media/image52.png"/><Relationship Id="rId4" Type="http://schemas.openxmlformats.org/officeDocument/2006/relationships/image" Target="../media/image43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1" Type="http://schemas.openxmlformats.org/officeDocument/2006/relationships/image" Target="../media/image51.png"/><Relationship Id="rId5" Type="http://schemas.openxmlformats.org/officeDocument/2006/relationships/image" Target="../media/image62.png"/><Relationship Id="rId10" Type="http://schemas.openxmlformats.org/officeDocument/2006/relationships/image" Target="../media/image65.png"/><Relationship Id="rId4" Type="http://schemas.openxmlformats.org/officeDocument/2006/relationships/image" Target="../media/image43.png"/><Relationship Id="rId9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The Short Run:</a:t>
            </a:r>
            <a:br>
              <a:rPr lang="en-US" sz="4200" dirty="0"/>
            </a:br>
            <a:r>
              <a:rPr lang="en-US" sz="4200" dirty="0"/>
              <a:t>Goods and Financial Markets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7618" r="7351" b="7660"/>
          <a:stretch/>
        </p:blipFill>
        <p:spPr>
          <a:xfrm>
            <a:off x="2088573" y="1339928"/>
            <a:ext cx="4966854" cy="49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3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3F6D-9EEF-3BB2-B5B6-637EF2FD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FC462-8EB1-3ABE-777B-9222958EE4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Aggregate demand in the goods market is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r>
                  <a:rPr lang="en-US" dirty="0"/>
                  <a:t>Previously, we assumed that investment was exogenous. Now we will expand the model: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 means that consumption is a function that depends on the value of income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taxation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 means that investment is now endogenous, and that it depends on the value of output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the interest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FC462-8EB1-3ABE-777B-9222958EE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6FAEA-1CB6-950A-7ED6-2C11A58B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BE927-5673-1A2D-A465-5C8F018F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A035A-05D3-6585-B6EE-DA7BE096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26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3898-71F2-C463-543E-6450B32E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B7B2-BC20-DB67-CB86-3D750883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67479-B3D7-D401-5B46-018A66DA5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take a closer look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output (income) increases, firms will increase their investment to increase production.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interest rate increases, the cost of borrowing increases, and firms will be discouraged to invest.</a:t>
                </a:r>
              </a:p>
              <a:p>
                <a:pPr lvl="3"/>
                <a:endParaRPr lang="en-US" sz="1200" dirty="0"/>
              </a:p>
              <a:p>
                <a:r>
                  <a:rPr lang="en-US" dirty="0"/>
                  <a:t>We will not be setting up a specific functional form for investment.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67479-B3D7-D401-5B46-018A66DA5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FDF8-787D-4FBB-9E5C-68485EFC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56077-2560-E5AD-276F-4E24F1BE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A1B68-370C-3571-469E-432B49C0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60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CB08-24B0-26A4-AFA0-ED2DDB3E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26E7-1E24-990E-2B53-98E55E1D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03C8B-2D8D-7557-3307-96F75B3314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At the equilibrium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, we now have: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increases…</a:t>
                </a:r>
              </a:p>
              <a:p>
                <a:pPr lvl="1"/>
                <a:r>
                  <a:rPr lang="en-US" dirty="0"/>
                  <a:t>Income increases, which leads to an increase in the households’ disposable income, and consumption will increase.</a:t>
                </a:r>
              </a:p>
              <a:p>
                <a:pPr lvl="1"/>
                <a:r>
                  <a:rPr lang="en-US" dirty="0"/>
                  <a:t>Income increases, which leads to increased sales, which leads to firms increasing investment to meet the increased sales.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To sum up,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increases, aggregate demand will increase due to increases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03C8B-2D8D-7557-3307-96F75B331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E3C28-80F9-2132-4735-66FD2E0B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12AF6-7F34-36E8-D391-4BF2C1FE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07D56-F40B-9A68-7C8B-73095368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6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C56AD82A-4C5F-1368-5025-B4C1497755B1}"/>
              </a:ext>
            </a:extLst>
          </p:cNvPr>
          <p:cNvSpPr/>
          <p:nvPr/>
        </p:nvSpPr>
        <p:spPr>
          <a:xfrm>
            <a:off x="882642" y="5482931"/>
            <a:ext cx="349249" cy="476241"/>
          </a:xfrm>
          <a:prstGeom prst="arc">
            <a:avLst>
              <a:gd name="adj1" fmla="val 15974147"/>
              <a:gd name="adj2" fmla="val 0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D14069-7683-C305-782F-C95F2A3379FD}"/>
              </a:ext>
            </a:extLst>
          </p:cNvPr>
          <p:cNvCxnSpPr>
            <a:cxnSpLocks/>
            <a:stCxn id="35" idx="4"/>
          </p:cNvCxnSpPr>
          <p:nvPr/>
        </p:nvCxnSpPr>
        <p:spPr>
          <a:xfrm>
            <a:off x="2530840" y="4027418"/>
            <a:ext cx="0" cy="16936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03F71E7-A3B9-A70A-AE06-057512FF3BAD}"/>
              </a:ext>
            </a:extLst>
          </p:cNvPr>
          <p:cNvSpPr/>
          <p:nvPr/>
        </p:nvSpPr>
        <p:spPr>
          <a:xfrm>
            <a:off x="792480" y="3086100"/>
            <a:ext cx="3703320" cy="1310640"/>
          </a:xfrm>
          <a:custGeom>
            <a:avLst/>
            <a:gdLst>
              <a:gd name="connsiteX0" fmla="*/ 0 w 3703320"/>
              <a:gd name="connsiteY0" fmla="*/ 1310640 h 1310640"/>
              <a:gd name="connsiteX1" fmla="*/ 1760220 w 3703320"/>
              <a:gd name="connsiteY1" fmla="*/ 899160 h 1310640"/>
              <a:gd name="connsiteX2" fmla="*/ 3703320 w 3703320"/>
              <a:gd name="connsiteY2" fmla="*/ 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310640">
                <a:moveTo>
                  <a:pt x="0" y="1310640"/>
                </a:moveTo>
                <a:cubicBezTo>
                  <a:pt x="571500" y="1214120"/>
                  <a:pt x="1143000" y="1117600"/>
                  <a:pt x="1760220" y="899160"/>
                </a:cubicBezTo>
                <a:cubicBezTo>
                  <a:pt x="2377440" y="680720"/>
                  <a:pt x="3040380" y="340360"/>
                  <a:pt x="37033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E04A36-BBD6-6C3F-7F1D-09A44C07A4CB}"/>
              </a:ext>
            </a:extLst>
          </p:cNvPr>
          <p:cNvCxnSpPr/>
          <p:nvPr/>
        </p:nvCxnSpPr>
        <p:spPr>
          <a:xfrm flipV="1">
            <a:off x="791440" y="2005013"/>
            <a:ext cx="3723403" cy="37255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A4F93E-A4CB-6914-B7DE-FE3006D8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13D3C2A-65ED-39F1-75E4-6A6911B56C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3066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Plotting this new relation, we find the following plot.</a:t>
                </a:r>
              </a:p>
              <a:p>
                <a:pPr lvl="3"/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Unlike the previous case,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now a slight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All other factors remain unchanged from the previous model in LEC02.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13D3C2A-65ED-39F1-75E4-6A6911B56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30667" cy="4351338"/>
              </a:xfrm>
              <a:blipFill>
                <a:blip r:embed="rId2"/>
                <a:stretch>
                  <a:fillRect l="-1964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6EAB3-EE5C-0C02-3CDD-ECA71CC5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C02FF-164F-5D0C-1896-33E804B7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D3114-1CC3-79EB-3840-A86066AA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BA6EF2-64FB-9008-5902-FEF5E676BB8E}"/>
              </a:ext>
            </a:extLst>
          </p:cNvPr>
          <p:cNvCxnSpPr/>
          <p:nvPr/>
        </p:nvCxnSpPr>
        <p:spPr>
          <a:xfrm>
            <a:off x="628650" y="5730586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10B871-DEC8-9B71-B9A2-D78972484624}"/>
              </a:ext>
            </a:extLst>
          </p:cNvPr>
          <p:cNvCxnSpPr>
            <a:cxnSpLocks/>
          </p:cNvCxnSpPr>
          <p:nvPr/>
        </p:nvCxnSpPr>
        <p:spPr>
          <a:xfrm rot="16200000">
            <a:off x="-1151659" y="3948113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90535B-F891-230F-F1A9-65C3908F8651}"/>
                  </a:ext>
                </a:extLst>
              </p:cNvPr>
              <p:cNvSpPr txBox="1"/>
              <p:nvPr/>
            </p:nvSpPr>
            <p:spPr>
              <a:xfrm>
                <a:off x="4207302" y="2842518"/>
                <a:ext cx="3349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90535B-F891-230F-F1A9-65C3908F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302" y="2842518"/>
                <a:ext cx="3349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6E3EDF-E71A-8586-9E5B-542D26D5779B}"/>
                  </a:ext>
                </a:extLst>
              </p:cNvPr>
              <p:cNvSpPr txBox="1"/>
              <p:nvPr/>
            </p:nvSpPr>
            <p:spPr>
              <a:xfrm>
                <a:off x="816944" y="5477827"/>
                <a:ext cx="480644" cy="3125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6E3EDF-E71A-8586-9E5B-542D26D57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44" y="5477827"/>
                <a:ext cx="480644" cy="3125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BE6C4514-870F-F675-98A4-98DCB14CE404}"/>
              </a:ext>
            </a:extLst>
          </p:cNvPr>
          <p:cNvSpPr/>
          <p:nvPr/>
        </p:nvSpPr>
        <p:spPr>
          <a:xfrm>
            <a:off x="2498836" y="396341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04E4FCE-4283-039F-A06C-04CD9AC3B823}"/>
              </a:ext>
            </a:extLst>
          </p:cNvPr>
          <p:cNvCxnSpPr/>
          <p:nvPr/>
        </p:nvCxnSpPr>
        <p:spPr>
          <a:xfrm>
            <a:off x="2533221" y="570406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C03C78-1D9E-4B76-45EE-316F881D0DB3}"/>
                  </a:ext>
                </a:extLst>
              </p:cNvPr>
              <p:cNvSpPr txBox="1"/>
              <p:nvPr/>
            </p:nvSpPr>
            <p:spPr>
              <a:xfrm>
                <a:off x="2349862" y="5716099"/>
                <a:ext cx="4437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C03C78-1D9E-4B76-45EE-316F881D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62" y="5716099"/>
                <a:ext cx="44377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D4ABF4B5-0CF3-E40F-4C7D-EDBD61ACB678}"/>
              </a:ext>
            </a:extLst>
          </p:cNvPr>
          <p:cNvSpPr txBox="1"/>
          <p:nvPr/>
        </p:nvSpPr>
        <p:spPr>
          <a:xfrm>
            <a:off x="3896486" y="5723819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B85D7D-1852-1E8D-0640-F9454F3B7E6C}"/>
              </a:ext>
            </a:extLst>
          </p:cNvPr>
          <p:cNvSpPr txBox="1"/>
          <p:nvPr/>
        </p:nvSpPr>
        <p:spPr>
          <a:xfrm rot="16200000">
            <a:off x="236359" y="2211274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BC004E-2A06-5BE4-2A64-EB723E46534C}"/>
                  </a:ext>
                </a:extLst>
              </p:cNvPr>
              <p:cNvSpPr txBox="1"/>
              <p:nvPr/>
            </p:nvSpPr>
            <p:spPr>
              <a:xfrm>
                <a:off x="3757300" y="1911442"/>
                <a:ext cx="681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BC004E-2A06-5BE4-2A64-EB723E465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300" y="1911442"/>
                <a:ext cx="68108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B17E7CB-0E6C-A50C-F60E-64E17AD52D93}"/>
                  </a:ext>
                </a:extLst>
              </p:cNvPr>
              <p:cNvSpPr txBox="1"/>
              <p:nvPr/>
            </p:nvSpPr>
            <p:spPr>
              <a:xfrm>
                <a:off x="2236850" y="371290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B17E7CB-0E6C-A50C-F60E-64E17AD52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50" y="3712903"/>
                <a:ext cx="34028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64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4" grpId="0" animBg="1"/>
      <p:bldP spid="16" grpId="0"/>
      <p:bldP spid="12" grpId="0"/>
      <p:bldP spid="35" grpId="0" animBg="1"/>
      <p:bldP spid="42" grpId="0"/>
      <p:bldP spid="43" grpId="0"/>
      <p:bldP spid="44" grpId="0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514799-127A-A181-37A8-ABE1FECE9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54777-6F8A-53A6-599C-C0D5FF6A3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E274A-ACB1-D9DE-EBFB-168E3184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6D0300-32F0-2F9C-4101-07222DE286A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4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6F203-50E2-2BA0-442F-FE71F2795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0AF0F-2D22-1318-DD1C-72676DA6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1AE3-08D3-AB15-B81B-DB034FDE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88FFD2-59C4-6FBD-D20B-B353E312720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5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2D59-B024-B1B6-0189-CB4BF60F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DC2BCF0C-7CD6-83B6-9F5D-0D5B40D04758}"/>
              </a:ext>
            </a:extLst>
          </p:cNvPr>
          <p:cNvSpPr/>
          <p:nvPr/>
        </p:nvSpPr>
        <p:spPr>
          <a:xfrm>
            <a:off x="882642" y="5482931"/>
            <a:ext cx="349249" cy="476241"/>
          </a:xfrm>
          <a:prstGeom prst="arc">
            <a:avLst>
              <a:gd name="adj1" fmla="val 15974147"/>
              <a:gd name="adj2" fmla="val 0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4B0FFC-F7CE-F153-3608-2CBD260F2984}"/>
              </a:ext>
            </a:extLst>
          </p:cNvPr>
          <p:cNvCxnSpPr>
            <a:cxnSpLocks/>
            <a:stCxn id="35" idx="4"/>
          </p:cNvCxnSpPr>
          <p:nvPr/>
        </p:nvCxnSpPr>
        <p:spPr>
          <a:xfrm>
            <a:off x="2530840" y="4027418"/>
            <a:ext cx="0" cy="16936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D43CEE1-3A69-9FFE-6C55-FD6D070508CF}"/>
              </a:ext>
            </a:extLst>
          </p:cNvPr>
          <p:cNvSpPr/>
          <p:nvPr/>
        </p:nvSpPr>
        <p:spPr>
          <a:xfrm>
            <a:off x="792480" y="3086100"/>
            <a:ext cx="3703320" cy="1310640"/>
          </a:xfrm>
          <a:custGeom>
            <a:avLst/>
            <a:gdLst>
              <a:gd name="connsiteX0" fmla="*/ 0 w 3703320"/>
              <a:gd name="connsiteY0" fmla="*/ 1310640 h 1310640"/>
              <a:gd name="connsiteX1" fmla="*/ 1760220 w 3703320"/>
              <a:gd name="connsiteY1" fmla="*/ 899160 h 1310640"/>
              <a:gd name="connsiteX2" fmla="*/ 3703320 w 3703320"/>
              <a:gd name="connsiteY2" fmla="*/ 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310640">
                <a:moveTo>
                  <a:pt x="0" y="1310640"/>
                </a:moveTo>
                <a:cubicBezTo>
                  <a:pt x="571500" y="1214120"/>
                  <a:pt x="1143000" y="1117600"/>
                  <a:pt x="1760220" y="899160"/>
                </a:cubicBezTo>
                <a:cubicBezTo>
                  <a:pt x="2377440" y="680720"/>
                  <a:pt x="3040380" y="340360"/>
                  <a:pt x="37033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F1F01E-C560-F888-6E77-2689641AC275}"/>
              </a:ext>
            </a:extLst>
          </p:cNvPr>
          <p:cNvCxnSpPr/>
          <p:nvPr/>
        </p:nvCxnSpPr>
        <p:spPr>
          <a:xfrm flipV="1">
            <a:off x="791440" y="2005013"/>
            <a:ext cx="3723403" cy="37255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C5EBD7-61B1-7772-F835-4AC80900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5CEF0A-0493-AF43-2399-5FAF7505369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3066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equilibrium is found at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where the output and interest rate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interest rates rise, investment decreases,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shifts downward.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interest rates rise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, the equilibrium is found at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, where we have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5CEF0A-0493-AF43-2399-5FAF75053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30667" cy="4351338"/>
              </a:xfrm>
              <a:blipFill>
                <a:blip r:embed="rId3"/>
                <a:stretch>
                  <a:fillRect l="-1964" t="-1821" r="-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5E227-3B69-A9C8-BFD7-02DF6A0A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CBDB0-0F93-F7D1-673B-2E00EF81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216D9-588C-955F-3847-E0A0297C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167937-876C-D969-CAFD-4C37805BE20F}"/>
              </a:ext>
            </a:extLst>
          </p:cNvPr>
          <p:cNvCxnSpPr/>
          <p:nvPr/>
        </p:nvCxnSpPr>
        <p:spPr>
          <a:xfrm>
            <a:off x="628650" y="5730586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8AF6A7-4064-E9D0-C287-2A6FB87C1D92}"/>
              </a:ext>
            </a:extLst>
          </p:cNvPr>
          <p:cNvCxnSpPr>
            <a:cxnSpLocks/>
          </p:cNvCxnSpPr>
          <p:nvPr/>
        </p:nvCxnSpPr>
        <p:spPr>
          <a:xfrm rot="16200000">
            <a:off x="-1151659" y="3948113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65B2F-110D-54B6-9A48-BC8CA56EC278}"/>
                  </a:ext>
                </a:extLst>
              </p:cNvPr>
              <p:cNvSpPr txBox="1"/>
              <p:nvPr/>
            </p:nvSpPr>
            <p:spPr>
              <a:xfrm>
                <a:off x="816944" y="5477827"/>
                <a:ext cx="480644" cy="3125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65B2F-110D-54B6-9A48-BC8CA56EC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44" y="5477827"/>
                <a:ext cx="480644" cy="3125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F5050AF8-A99C-A94F-1106-D9E57A05D6F1}"/>
              </a:ext>
            </a:extLst>
          </p:cNvPr>
          <p:cNvSpPr/>
          <p:nvPr/>
        </p:nvSpPr>
        <p:spPr>
          <a:xfrm>
            <a:off x="2498836" y="396341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249EF3D-7349-6342-496E-C31D666B6E5A}"/>
              </a:ext>
            </a:extLst>
          </p:cNvPr>
          <p:cNvCxnSpPr/>
          <p:nvPr/>
        </p:nvCxnSpPr>
        <p:spPr>
          <a:xfrm>
            <a:off x="2533221" y="570406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59B066-4A1C-33A7-6D4A-5353F5211EB3}"/>
                  </a:ext>
                </a:extLst>
              </p:cNvPr>
              <p:cNvSpPr txBox="1"/>
              <p:nvPr/>
            </p:nvSpPr>
            <p:spPr>
              <a:xfrm>
                <a:off x="2349862" y="5716099"/>
                <a:ext cx="4437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59B066-4A1C-33A7-6D4A-5353F521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62" y="5716099"/>
                <a:ext cx="44377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F7DDE29-20F8-7206-3F76-4529393B34DF}"/>
              </a:ext>
            </a:extLst>
          </p:cNvPr>
          <p:cNvSpPr txBox="1"/>
          <p:nvPr/>
        </p:nvSpPr>
        <p:spPr>
          <a:xfrm>
            <a:off x="3896486" y="5723819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C43F3F-8D88-1351-78DF-59A7254E3BFB}"/>
              </a:ext>
            </a:extLst>
          </p:cNvPr>
          <p:cNvSpPr txBox="1"/>
          <p:nvPr/>
        </p:nvSpPr>
        <p:spPr>
          <a:xfrm rot="16200000">
            <a:off x="236359" y="2211274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C279FFF-1DE2-75EB-40C1-3FD216C89CF0}"/>
                  </a:ext>
                </a:extLst>
              </p:cNvPr>
              <p:cNvSpPr txBox="1"/>
              <p:nvPr/>
            </p:nvSpPr>
            <p:spPr>
              <a:xfrm>
                <a:off x="3757300" y="1911442"/>
                <a:ext cx="681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C279FFF-1DE2-75EB-40C1-3FD216C89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300" y="1911442"/>
                <a:ext cx="68108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FA7C839-7475-161A-0FD5-8E4A3A681354}"/>
                  </a:ext>
                </a:extLst>
              </p:cNvPr>
              <p:cNvSpPr txBox="1"/>
              <p:nvPr/>
            </p:nvSpPr>
            <p:spPr>
              <a:xfrm>
                <a:off x="2236850" y="371290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FA7C839-7475-161A-0FD5-8E4A3A681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50" y="3712903"/>
                <a:ext cx="34028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C2C554-D6DF-E88C-E5D1-FAF9DD2DD1DE}"/>
                  </a:ext>
                </a:extLst>
              </p:cNvPr>
              <p:cNvSpPr txBox="1"/>
              <p:nvPr/>
            </p:nvSpPr>
            <p:spPr>
              <a:xfrm>
                <a:off x="3700176" y="2857855"/>
                <a:ext cx="7621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C2C554-D6DF-E88C-E5D1-FAF9DD2DD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176" y="2857855"/>
                <a:ext cx="762196" cy="307777"/>
              </a:xfrm>
              <a:prstGeom prst="rect">
                <a:avLst/>
              </a:prstGeom>
              <a:blipFill>
                <a:blip r:embed="rId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35D3AB-1322-6039-5345-29CA61899EE6}"/>
                  </a:ext>
                </a:extLst>
              </p:cNvPr>
              <p:cNvSpPr txBox="1"/>
              <p:nvPr/>
            </p:nvSpPr>
            <p:spPr>
              <a:xfrm>
                <a:off x="3695195" y="3603707"/>
                <a:ext cx="8510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35D3AB-1322-6039-5345-29CA6189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195" y="3603707"/>
                <a:ext cx="851056" cy="307777"/>
              </a:xfrm>
              <a:prstGeom prst="rect">
                <a:avLst/>
              </a:prstGeom>
              <a:blipFill>
                <a:blip r:embed="rId9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F40817F-7669-8FD8-1150-888595F7DFE3}"/>
              </a:ext>
            </a:extLst>
          </p:cNvPr>
          <p:cNvSpPr/>
          <p:nvPr/>
        </p:nvSpPr>
        <p:spPr>
          <a:xfrm>
            <a:off x="792480" y="3827982"/>
            <a:ext cx="3703320" cy="1310640"/>
          </a:xfrm>
          <a:custGeom>
            <a:avLst/>
            <a:gdLst>
              <a:gd name="connsiteX0" fmla="*/ 0 w 3703320"/>
              <a:gd name="connsiteY0" fmla="*/ 1310640 h 1310640"/>
              <a:gd name="connsiteX1" fmla="*/ 1760220 w 3703320"/>
              <a:gd name="connsiteY1" fmla="*/ 899160 h 1310640"/>
              <a:gd name="connsiteX2" fmla="*/ 3703320 w 3703320"/>
              <a:gd name="connsiteY2" fmla="*/ 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310640">
                <a:moveTo>
                  <a:pt x="0" y="1310640"/>
                </a:moveTo>
                <a:cubicBezTo>
                  <a:pt x="571500" y="1214120"/>
                  <a:pt x="1143000" y="1117600"/>
                  <a:pt x="1760220" y="899160"/>
                </a:cubicBezTo>
                <a:cubicBezTo>
                  <a:pt x="2377440" y="680720"/>
                  <a:pt x="3040380" y="340360"/>
                  <a:pt x="37033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5992C1-34F1-87C5-86AD-1B1A8E11AD6B}"/>
              </a:ext>
            </a:extLst>
          </p:cNvPr>
          <p:cNvCxnSpPr>
            <a:cxnSpLocks/>
          </p:cNvCxnSpPr>
          <p:nvPr/>
        </p:nvCxnSpPr>
        <p:spPr>
          <a:xfrm>
            <a:off x="1502139" y="5041185"/>
            <a:ext cx="0" cy="6826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52B74F-BE52-DA44-35CE-B6FC443FAE3B}"/>
              </a:ext>
            </a:extLst>
          </p:cNvPr>
          <p:cNvCxnSpPr/>
          <p:nvPr/>
        </p:nvCxnSpPr>
        <p:spPr>
          <a:xfrm>
            <a:off x="1499205" y="5694319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96695D-B09B-556D-76E9-8698AE90F639}"/>
                  </a:ext>
                </a:extLst>
              </p:cNvPr>
              <p:cNvSpPr txBox="1"/>
              <p:nvPr/>
            </p:nvSpPr>
            <p:spPr>
              <a:xfrm>
                <a:off x="1315846" y="5706355"/>
                <a:ext cx="3233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96695D-B09B-556D-76E9-8698AE90F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846" y="5706355"/>
                <a:ext cx="323315" cy="338554"/>
              </a:xfrm>
              <a:prstGeom prst="rect">
                <a:avLst/>
              </a:prstGeom>
              <a:blipFill>
                <a:blip r:embed="rId10"/>
                <a:stretch>
                  <a:fillRect r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6F59A912-E97D-9A21-DA54-801EC6893A55}"/>
              </a:ext>
            </a:extLst>
          </p:cNvPr>
          <p:cNvSpPr/>
          <p:nvPr/>
        </p:nvSpPr>
        <p:spPr>
          <a:xfrm>
            <a:off x="1478817" y="4981365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78D08F-4CD4-F21D-05AE-3BE2CB08591F}"/>
                  </a:ext>
                </a:extLst>
              </p:cNvPr>
              <p:cNvSpPr txBox="1"/>
              <p:nvPr/>
            </p:nvSpPr>
            <p:spPr>
              <a:xfrm>
                <a:off x="1216831" y="4730858"/>
                <a:ext cx="3906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78D08F-4CD4-F21D-05AE-3BE2CB085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831" y="4730858"/>
                <a:ext cx="39068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00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 animBg="1"/>
      <p:bldP spid="18" grpId="0"/>
      <p:bldP spid="1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45A6-6E73-37C2-732A-4FF6C5F7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CEE2-7D6A-13CC-3937-4FC7F9E6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IS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2F32E1-7D59-88BB-443B-90EAC5C72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We want to create a single diagram that captures both the equilibrium in the goods market and the financial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Recall that the variables that link the goods and financial markets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IS curve represents the equilibrium in the goods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Specifically, it depicts the inverse relationship between the economy’s equilibrium output and its interest rates.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2F32E1-7D59-88BB-443B-90EAC5C72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268CC-51E5-B14C-120C-3AB1E421A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F7B89-76C8-5299-D436-B5D4AEDA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61981-BE67-3FEB-CCD2-85187B20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4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03A86-6B44-55CB-E956-FCA2C72D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24E365F-6BD2-66F0-30B3-34F76D5B0EBB}"/>
              </a:ext>
            </a:extLst>
          </p:cNvPr>
          <p:cNvCxnSpPr>
            <a:stCxn id="31" idx="2"/>
          </p:cNvCxnSpPr>
          <p:nvPr/>
        </p:nvCxnSpPr>
        <p:spPr>
          <a:xfrm flipH="1">
            <a:off x="4944340" y="3429000"/>
            <a:ext cx="81839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7F046E2-D6E5-DA7C-8709-94A82CC6A735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5794740" y="3461004"/>
            <a:ext cx="0" cy="22628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093E81-A63B-5B66-E21A-9B4D2974CA29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4944340" y="4615484"/>
            <a:ext cx="186680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6130EF-7BF5-7FA9-C1F0-0A0E4FA33915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6843146" y="4647488"/>
            <a:ext cx="0" cy="108309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5D5FA58-7D6C-00E7-A1EC-A9D262316A3B}"/>
              </a:ext>
            </a:extLst>
          </p:cNvPr>
          <p:cNvCxnSpPr>
            <a:cxnSpLocks/>
          </p:cNvCxnSpPr>
          <p:nvPr/>
        </p:nvCxnSpPr>
        <p:spPr>
          <a:xfrm>
            <a:off x="2530840" y="4027418"/>
            <a:ext cx="0" cy="16936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D58CE3D-D423-3BB7-8590-4BDA5D8FC99B}"/>
              </a:ext>
            </a:extLst>
          </p:cNvPr>
          <p:cNvSpPr/>
          <p:nvPr/>
        </p:nvSpPr>
        <p:spPr>
          <a:xfrm>
            <a:off x="792480" y="3086100"/>
            <a:ext cx="3703320" cy="1310640"/>
          </a:xfrm>
          <a:custGeom>
            <a:avLst/>
            <a:gdLst>
              <a:gd name="connsiteX0" fmla="*/ 0 w 3703320"/>
              <a:gd name="connsiteY0" fmla="*/ 1310640 h 1310640"/>
              <a:gd name="connsiteX1" fmla="*/ 1760220 w 3703320"/>
              <a:gd name="connsiteY1" fmla="*/ 899160 h 1310640"/>
              <a:gd name="connsiteX2" fmla="*/ 3703320 w 3703320"/>
              <a:gd name="connsiteY2" fmla="*/ 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310640">
                <a:moveTo>
                  <a:pt x="0" y="1310640"/>
                </a:moveTo>
                <a:cubicBezTo>
                  <a:pt x="571500" y="1214120"/>
                  <a:pt x="1143000" y="1117600"/>
                  <a:pt x="1760220" y="899160"/>
                </a:cubicBezTo>
                <a:cubicBezTo>
                  <a:pt x="2377440" y="680720"/>
                  <a:pt x="3040380" y="340360"/>
                  <a:pt x="37033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0A34DE-4CBC-584B-FDD4-15144CFD92B2}"/>
              </a:ext>
            </a:extLst>
          </p:cNvPr>
          <p:cNvCxnSpPr/>
          <p:nvPr/>
        </p:nvCxnSpPr>
        <p:spPr>
          <a:xfrm flipV="1">
            <a:off x="791440" y="2005013"/>
            <a:ext cx="3723403" cy="37255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1C32787-89D1-9A56-C39D-59ABA770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IS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30902-D576-D2FD-C6D9-81467B37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E1FD5-C9F9-FA19-0EF4-2FEDE2C9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93C9F-CEE0-C30F-3C4F-592BD24E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173B4A-501E-9425-653D-114BB7557290}"/>
              </a:ext>
            </a:extLst>
          </p:cNvPr>
          <p:cNvCxnSpPr/>
          <p:nvPr/>
        </p:nvCxnSpPr>
        <p:spPr>
          <a:xfrm>
            <a:off x="628650" y="5730586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7B8D83-A6FC-DC1A-03F8-19E873C38599}"/>
              </a:ext>
            </a:extLst>
          </p:cNvPr>
          <p:cNvCxnSpPr>
            <a:cxnSpLocks/>
          </p:cNvCxnSpPr>
          <p:nvPr/>
        </p:nvCxnSpPr>
        <p:spPr>
          <a:xfrm rot="16200000">
            <a:off x="-1151659" y="3948113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99218B-6157-CD91-3A1B-75F57B314A40}"/>
                  </a:ext>
                </a:extLst>
              </p:cNvPr>
              <p:cNvSpPr txBox="1"/>
              <p:nvPr/>
            </p:nvSpPr>
            <p:spPr>
              <a:xfrm>
                <a:off x="3700176" y="2857855"/>
                <a:ext cx="7621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99218B-6157-CD91-3A1B-75F57B314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176" y="2857855"/>
                <a:ext cx="762196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F6DA9D-32F4-21E5-D3A2-16C2CB1B0FC9}"/>
              </a:ext>
            </a:extLst>
          </p:cNvPr>
          <p:cNvCxnSpPr/>
          <p:nvPr/>
        </p:nvCxnSpPr>
        <p:spPr>
          <a:xfrm>
            <a:off x="2533221" y="570406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45E020-7BF8-348C-B912-FB16E8ECD61E}"/>
                  </a:ext>
                </a:extLst>
              </p:cNvPr>
              <p:cNvSpPr txBox="1"/>
              <p:nvPr/>
            </p:nvSpPr>
            <p:spPr>
              <a:xfrm>
                <a:off x="2349862" y="571609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45E020-7BF8-348C-B912-FB16E8ECD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62" y="5716099"/>
                <a:ext cx="33618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FD4AD78-CAA7-5988-AAF6-95486E4B8198}"/>
              </a:ext>
            </a:extLst>
          </p:cNvPr>
          <p:cNvSpPr txBox="1"/>
          <p:nvPr/>
        </p:nvSpPr>
        <p:spPr>
          <a:xfrm>
            <a:off x="3896486" y="5723819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037418-7AEC-2BDE-5B26-91FE7436C8B8}"/>
              </a:ext>
            </a:extLst>
          </p:cNvPr>
          <p:cNvSpPr txBox="1"/>
          <p:nvPr/>
        </p:nvSpPr>
        <p:spPr>
          <a:xfrm rot="16200000">
            <a:off x="236359" y="2211274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8E2BA2-4068-EE2F-544B-BE081343C111}"/>
                  </a:ext>
                </a:extLst>
              </p:cNvPr>
              <p:cNvSpPr txBox="1"/>
              <p:nvPr/>
            </p:nvSpPr>
            <p:spPr>
              <a:xfrm>
                <a:off x="3740732" y="1925941"/>
                <a:ext cx="681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8E2BA2-4068-EE2F-544B-BE081343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32" y="1925941"/>
                <a:ext cx="68108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F72ED4-82FA-2477-97C3-A5F42AAA7F43}"/>
              </a:ext>
            </a:extLst>
          </p:cNvPr>
          <p:cNvCxnSpPr/>
          <p:nvPr/>
        </p:nvCxnSpPr>
        <p:spPr>
          <a:xfrm>
            <a:off x="4781550" y="5730586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4CE0A0-3504-5130-7145-6AAE6E5C2185}"/>
              </a:ext>
            </a:extLst>
          </p:cNvPr>
          <p:cNvCxnSpPr>
            <a:cxnSpLocks/>
          </p:cNvCxnSpPr>
          <p:nvPr/>
        </p:nvCxnSpPr>
        <p:spPr>
          <a:xfrm rot="16200000">
            <a:off x="3001241" y="3948113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9EB04B-EB0B-5379-BEB0-5A2D5A2EDBF9}"/>
              </a:ext>
            </a:extLst>
          </p:cNvPr>
          <p:cNvSpPr/>
          <p:nvPr/>
        </p:nvSpPr>
        <p:spPr>
          <a:xfrm>
            <a:off x="792480" y="3827982"/>
            <a:ext cx="3703320" cy="1310640"/>
          </a:xfrm>
          <a:custGeom>
            <a:avLst/>
            <a:gdLst>
              <a:gd name="connsiteX0" fmla="*/ 0 w 3703320"/>
              <a:gd name="connsiteY0" fmla="*/ 1310640 h 1310640"/>
              <a:gd name="connsiteX1" fmla="*/ 1760220 w 3703320"/>
              <a:gd name="connsiteY1" fmla="*/ 899160 h 1310640"/>
              <a:gd name="connsiteX2" fmla="*/ 3703320 w 3703320"/>
              <a:gd name="connsiteY2" fmla="*/ 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310640">
                <a:moveTo>
                  <a:pt x="0" y="1310640"/>
                </a:moveTo>
                <a:cubicBezTo>
                  <a:pt x="571500" y="1214120"/>
                  <a:pt x="1143000" y="1117600"/>
                  <a:pt x="1760220" y="899160"/>
                </a:cubicBezTo>
                <a:cubicBezTo>
                  <a:pt x="2377440" y="680720"/>
                  <a:pt x="3040380" y="340360"/>
                  <a:pt x="37033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EC9EB8-BDB5-D133-A170-28E5FDB8D683}"/>
                  </a:ext>
                </a:extLst>
              </p:cNvPr>
              <p:cNvSpPr txBox="1"/>
              <p:nvPr/>
            </p:nvSpPr>
            <p:spPr>
              <a:xfrm>
                <a:off x="3695195" y="3603707"/>
                <a:ext cx="8510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EC9EB8-BDB5-D133-A170-28E5FDB8D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195" y="3603707"/>
                <a:ext cx="851056" cy="307777"/>
              </a:xfrm>
              <a:prstGeom prst="rect">
                <a:avLst/>
              </a:prstGeom>
              <a:blipFill>
                <a:blip r:embed="rId6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F2D3F2-73C3-6B82-8868-5D5CE15EC19E}"/>
              </a:ext>
            </a:extLst>
          </p:cNvPr>
          <p:cNvCxnSpPr>
            <a:cxnSpLocks/>
          </p:cNvCxnSpPr>
          <p:nvPr/>
        </p:nvCxnSpPr>
        <p:spPr>
          <a:xfrm>
            <a:off x="1502139" y="5041185"/>
            <a:ext cx="0" cy="6826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738D60-150A-C4A9-F858-12912AACA52D}"/>
              </a:ext>
            </a:extLst>
          </p:cNvPr>
          <p:cNvCxnSpPr/>
          <p:nvPr/>
        </p:nvCxnSpPr>
        <p:spPr>
          <a:xfrm>
            <a:off x="1499205" y="5694319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DA94A6-6A73-BC36-01A6-F96E3EB0ED23}"/>
                  </a:ext>
                </a:extLst>
              </p:cNvPr>
              <p:cNvSpPr txBox="1"/>
              <p:nvPr/>
            </p:nvSpPr>
            <p:spPr>
              <a:xfrm>
                <a:off x="1315846" y="5706355"/>
                <a:ext cx="3233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DA94A6-6A73-BC36-01A6-F96E3EB0E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846" y="5706355"/>
                <a:ext cx="323315" cy="338554"/>
              </a:xfrm>
              <a:prstGeom prst="rect">
                <a:avLst/>
              </a:prstGeom>
              <a:blipFill>
                <a:blip r:embed="rId7"/>
                <a:stretch>
                  <a:fillRect r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BEAD774-030F-C83E-4D77-DB3EE5ADA1EF}"/>
              </a:ext>
            </a:extLst>
          </p:cNvPr>
          <p:cNvSpPr txBox="1"/>
          <p:nvPr/>
        </p:nvSpPr>
        <p:spPr>
          <a:xfrm>
            <a:off x="8029805" y="5723819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6D65CF-EBFF-26A5-D51B-B62A3BB613F0}"/>
              </a:ext>
            </a:extLst>
          </p:cNvPr>
          <p:cNvSpPr txBox="1"/>
          <p:nvPr/>
        </p:nvSpPr>
        <p:spPr>
          <a:xfrm rot="16200000">
            <a:off x="4229403" y="2192038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2AF212-797E-224E-0740-34714D6E1E56}"/>
              </a:ext>
            </a:extLst>
          </p:cNvPr>
          <p:cNvSpPr/>
          <p:nvPr/>
        </p:nvSpPr>
        <p:spPr>
          <a:xfrm>
            <a:off x="2498836" y="396341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56FECA-31A0-3844-3A5C-A6577F9A4B44}"/>
                  </a:ext>
                </a:extLst>
              </p:cNvPr>
              <p:cNvSpPr txBox="1"/>
              <p:nvPr/>
            </p:nvSpPr>
            <p:spPr>
              <a:xfrm>
                <a:off x="2236850" y="371290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56FECA-31A0-3844-3A5C-A6577F9A4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50" y="3712903"/>
                <a:ext cx="34028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B9532BAE-1422-D254-E5FF-AFCF4D68156E}"/>
              </a:ext>
            </a:extLst>
          </p:cNvPr>
          <p:cNvSpPr/>
          <p:nvPr/>
        </p:nvSpPr>
        <p:spPr>
          <a:xfrm>
            <a:off x="1478817" y="4981365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6FBC59-50F9-6763-4918-005EFD530A2C}"/>
                  </a:ext>
                </a:extLst>
              </p:cNvPr>
              <p:cNvSpPr txBox="1"/>
              <p:nvPr/>
            </p:nvSpPr>
            <p:spPr>
              <a:xfrm>
                <a:off x="1216831" y="4730858"/>
                <a:ext cx="3906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6FBC59-50F9-6763-4918-005EFD530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831" y="4730858"/>
                <a:ext cx="39068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E1D6FFE-3E4D-04A0-A18A-F40CCAC35E16}"/>
              </a:ext>
            </a:extLst>
          </p:cNvPr>
          <p:cNvSpPr/>
          <p:nvPr/>
        </p:nvSpPr>
        <p:spPr>
          <a:xfrm>
            <a:off x="5107133" y="2235084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CD8962-76DB-C414-EFBF-0A95133BD4B7}"/>
                  </a:ext>
                </a:extLst>
              </p:cNvPr>
              <p:cNvSpPr txBox="1"/>
              <p:nvPr/>
            </p:nvSpPr>
            <p:spPr>
              <a:xfrm>
                <a:off x="8189143" y="5140094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CD8962-76DB-C414-EFBF-0A95133BD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143" y="5140094"/>
                <a:ext cx="39017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3164B93C-A7D3-27B6-F2C1-EAC3D9BA676E}"/>
              </a:ext>
            </a:extLst>
          </p:cNvPr>
          <p:cNvSpPr/>
          <p:nvPr/>
        </p:nvSpPr>
        <p:spPr>
          <a:xfrm>
            <a:off x="5762736" y="3396996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F6C46F3-4755-829E-1C45-0346F0E2940F}"/>
              </a:ext>
            </a:extLst>
          </p:cNvPr>
          <p:cNvSpPr/>
          <p:nvPr/>
        </p:nvSpPr>
        <p:spPr>
          <a:xfrm>
            <a:off x="6811142" y="458348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01FF04A-8051-F915-0068-E9D3146C0B7B}"/>
              </a:ext>
            </a:extLst>
          </p:cNvPr>
          <p:cNvCxnSpPr/>
          <p:nvPr/>
        </p:nvCxnSpPr>
        <p:spPr>
          <a:xfrm>
            <a:off x="6846465" y="569769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0698F59-F2CF-2729-AA20-6BE1C9A41BC9}"/>
                  </a:ext>
                </a:extLst>
              </p:cNvPr>
              <p:cNvSpPr txBox="1"/>
              <p:nvPr/>
            </p:nvSpPr>
            <p:spPr>
              <a:xfrm>
                <a:off x="6663106" y="5709729"/>
                <a:ext cx="3805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0698F59-F2CF-2729-AA20-6BE1C9A41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106" y="5709729"/>
                <a:ext cx="380555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713342-CBFF-EDF6-7EDD-89849DFAB434}"/>
              </a:ext>
            </a:extLst>
          </p:cNvPr>
          <p:cNvCxnSpPr/>
          <p:nvPr/>
        </p:nvCxnSpPr>
        <p:spPr>
          <a:xfrm>
            <a:off x="5795144" y="570036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333F4E6-BAB8-947A-BFEF-F172285D6E1E}"/>
                  </a:ext>
                </a:extLst>
              </p:cNvPr>
              <p:cNvSpPr txBox="1"/>
              <p:nvPr/>
            </p:nvSpPr>
            <p:spPr>
              <a:xfrm>
                <a:off x="5611785" y="5712401"/>
                <a:ext cx="3805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333F4E6-BAB8-947A-BFEF-F172285D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785" y="5712401"/>
                <a:ext cx="380557" cy="338554"/>
              </a:xfrm>
              <a:prstGeom prst="rect">
                <a:avLst/>
              </a:prstGeom>
              <a:blipFill>
                <a:blip r:embed="rId12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38D73FB-781A-CCC4-3DD3-D872348829DB}"/>
                  </a:ext>
                </a:extLst>
              </p:cNvPr>
              <p:cNvSpPr txBox="1"/>
              <p:nvPr/>
            </p:nvSpPr>
            <p:spPr>
              <a:xfrm>
                <a:off x="4645124" y="4430818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38D73FB-781A-CCC4-3DD3-D87234882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124" y="4430818"/>
                <a:ext cx="29113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571F2F1-6879-A320-ECC7-0C32321727D4}"/>
                  </a:ext>
                </a:extLst>
              </p:cNvPr>
              <p:cNvSpPr txBox="1"/>
              <p:nvPr/>
            </p:nvSpPr>
            <p:spPr>
              <a:xfrm>
                <a:off x="4676532" y="3244694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571F2F1-6879-A320-ECC7-0C323217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532" y="3244694"/>
                <a:ext cx="29113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99556CF-C2C5-CF66-8917-71F8ECA446A1}"/>
              </a:ext>
            </a:extLst>
          </p:cNvPr>
          <p:cNvCxnSpPr>
            <a:cxnSpLocks/>
          </p:cNvCxnSpPr>
          <p:nvPr/>
        </p:nvCxnSpPr>
        <p:spPr>
          <a:xfrm rot="16200000">
            <a:off x="4946366" y="4581142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063D69-7D80-C88E-66E1-E1E9CA0EA1EC}"/>
              </a:ext>
            </a:extLst>
          </p:cNvPr>
          <p:cNvCxnSpPr>
            <a:cxnSpLocks/>
          </p:cNvCxnSpPr>
          <p:nvPr/>
        </p:nvCxnSpPr>
        <p:spPr>
          <a:xfrm rot="16200000">
            <a:off x="4943986" y="339934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FE82002E-396E-4000-327E-32388F69B005}"/>
              </a:ext>
            </a:extLst>
          </p:cNvPr>
          <p:cNvCxnSpPr>
            <a:cxnSpLocks/>
            <a:stCxn id="21" idx="2"/>
            <a:endCxn id="53" idx="2"/>
          </p:cNvCxnSpPr>
          <p:nvPr/>
        </p:nvCxnSpPr>
        <p:spPr>
          <a:xfrm rot="16200000" flipH="1">
            <a:off x="3636761" y="3885652"/>
            <a:ext cx="6046" cy="4324560"/>
          </a:xfrm>
          <a:prstGeom prst="bentConnector3">
            <a:avLst>
              <a:gd name="adj1" fmla="val 1990506"/>
            </a:avLst>
          </a:prstGeom>
          <a:ln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A55EC11-86FA-2A32-1175-8E15CFA06853}"/>
              </a:ext>
            </a:extLst>
          </p:cNvPr>
          <p:cNvCxnSpPr>
            <a:cxnSpLocks/>
            <a:stCxn id="42" idx="2"/>
            <a:endCxn id="51" idx="2"/>
          </p:cNvCxnSpPr>
          <p:nvPr/>
        </p:nvCxnSpPr>
        <p:spPr>
          <a:xfrm rot="5400000" flipH="1" flipV="1">
            <a:off x="4682485" y="3883754"/>
            <a:ext cx="6370" cy="4335428"/>
          </a:xfrm>
          <a:prstGeom prst="bentConnector3">
            <a:avLst>
              <a:gd name="adj1" fmla="val -4037284"/>
            </a:avLst>
          </a:prstGeom>
          <a:ln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AD8006B-80AA-F709-1C48-8B0DE78DA2F5}"/>
              </a:ext>
            </a:extLst>
          </p:cNvPr>
          <p:cNvCxnSpPr>
            <a:cxnSpLocks/>
            <a:stCxn id="16" idx="3"/>
            <a:endCxn id="55" idx="1"/>
          </p:cNvCxnSpPr>
          <p:nvPr/>
        </p:nvCxnSpPr>
        <p:spPr>
          <a:xfrm>
            <a:off x="4462372" y="3011744"/>
            <a:ext cx="182752" cy="1603740"/>
          </a:xfrm>
          <a:prstGeom prst="bentConnector3">
            <a:avLst>
              <a:gd name="adj1" fmla="val 96908"/>
            </a:avLst>
          </a:prstGeom>
          <a:ln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0F3C5143-0A54-ED7E-1245-1C8D8995B4DF}"/>
              </a:ext>
            </a:extLst>
          </p:cNvPr>
          <p:cNvCxnSpPr>
            <a:cxnSpLocks/>
            <a:stCxn id="13" idx="3"/>
            <a:endCxn id="56" idx="2"/>
          </p:cNvCxnSpPr>
          <p:nvPr/>
        </p:nvCxnSpPr>
        <p:spPr>
          <a:xfrm flipV="1">
            <a:off x="4546251" y="3614026"/>
            <a:ext cx="275849" cy="143570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49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6" grpId="0"/>
      <p:bldP spid="42" grpId="0"/>
      <p:bldP spid="43" grpId="0"/>
      <p:bldP spid="44" grpId="0"/>
      <p:bldP spid="45" grpId="0"/>
      <p:bldP spid="10" grpId="0" animBg="1"/>
      <p:bldP spid="13" grpId="0"/>
      <p:bldP spid="21" grpId="0"/>
      <p:bldP spid="22" grpId="0"/>
      <p:bldP spid="23" grpId="0"/>
      <p:bldP spid="24" grpId="0" animBg="1"/>
      <p:bldP spid="25" grpId="0"/>
      <p:bldP spid="26" grpId="0" animBg="1"/>
      <p:bldP spid="27" grpId="0"/>
      <p:bldP spid="29" grpId="0" animBg="1"/>
      <p:bldP spid="30" grpId="0"/>
      <p:bldP spid="31" grpId="0" animBg="1"/>
      <p:bldP spid="40" grpId="0" animBg="1"/>
      <p:bldP spid="51" grpId="0"/>
      <p:bldP spid="53" grpId="0"/>
      <p:bldP spid="55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F846-3A62-2807-40F5-DA53A7DC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D5D5-EC3D-1F2D-A46F-7A41E231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Shifts of the IS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F26FB8-E08E-8EA3-A7B2-730AEF32078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3066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our expanded model for the goods market, the exogenous variables left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increases, for the same level of interest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demand will be greater, and thus output will be greater.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the IS curve will shift to the right.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F26FB8-E08E-8EA3-A7B2-730AEF3207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30667" cy="4351338"/>
              </a:xfrm>
              <a:blipFill>
                <a:blip r:embed="rId3"/>
                <a:stretch>
                  <a:fillRect l="-1964" t="-1821" r="-3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A4B62-7C49-5879-85F1-E20F9343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4C64D-B6C8-D670-7FB5-DBC00819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49843-3D95-EA29-9F8D-16344F81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6AA7D0-3140-62C6-9476-6688A9FB4EA8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91958" y="4023520"/>
            <a:ext cx="124767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0A13C6-1BDA-6F28-A930-E319F956EFFF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2071639" y="4055524"/>
            <a:ext cx="0" cy="16606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56517C-3D6F-E5A1-2525-8472B6CD0154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C7DCA4-9639-E8EF-92A7-1A476DC1389F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D116D4-A920-B893-D16C-FCA226CBB2BC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1B641-B079-468B-810D-FC4CF7C987E9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EA2324-FBB3-D783-0D2D-2A7860A1AC38}"/>
              </a:ext>
            </a:extLst>
          </p:cNvPr>
          <p:cNvSpPr/>
          <p:nvPr/>
        </p:nvSpPr>
        <p:spPr>
          <a:xfrm>
            <a:off x="954751" y="2241552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BA422C-2D85-F3B7-B01D-D6062B871106}"/>
                  </a:ext>
                </a:extLst>
              </p:cNvPr>
              <p:cNvSpPr txBox="1"/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BA422C-2D85-F3B7-B01D-D6062B871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6DE5E967-43D7-5E14-9CE4-0093415521B5}"/>
              </a:ext>
            </a:extLst>
          </p:cNvPr>
          <p:cNvSpPr/>
          <p:nvPr/>
        </p:nvSpPr>
        <p:spPr>
          <a:xfrm>
            <a:off x="2039635" y="3991516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7AF818-E436-9A2C-0E6D-740EE720426A}"/>
              </a:ext>
            </a:extLst>
          </p:cNvPr>
          <p:cNvCxnSpPr/>
          <p:nvPr/>
        </p:nvCxnSpPr>
        <p:spPr>
          <a:xfrm>
            <a:off x="2064561" y="5704161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CA9B5CE-3AB0-40CA-4E56-946EAEA94866}"/>
                  </a:ext>
                </a:extLst>
              </p:cNvPr>
              <p:cNvSpPr txBox="1"/>
              <p:nvPr/>
            </p:nvSpPr>
            <p:spPr>
              <a:xfrm>
                <a:off x="1881202" y="5716197"/>
                <a:ext cx="3805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CA9B5CE-3AB0-40CA-4E56-946EAEA94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202" y="5716197"/>
                <a:ext cx="38055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96734C-29AD-64A8-A1AD-29F86D82F35A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96734C-29AD-64A8-A1AD-29F86D82F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99314A-2DE9-C39B-6238-2E97AD608FA5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77D832E-B452-791B-39C0-9B8329907719}"/>
              </a:ext>
            </a:extLst>
          </p:cNvPr>
          <p:cNvSpPr/>
          <p:nvPr/>
        </p:nvSpPr>
        <p:spPr>
          <a:xfrm>
            <a:off x="1455657" y="1983350"/>
            <a:ext cx="3072384" cy="3073518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508335C-CD44-1A42-99C2-E476F27966FE}"/>
              </a:ext>
            </a:extLst>
          </p:cNvPr>
          <p:cNvSpPr/>
          <p:nvPr/>
        </p:nvSpPr>
        <p:spPr>
          <a:xfrm>
            <a:off x="2847776" y="4001294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85DA052-A861-C7FA-DC69-14C4B9CA9C38}"/>
                  </a:ext>
                </a:extLst>
              </p:cNvPr>
              <p:cNvSpPr txBox="1"/>
              <p:nvPr/>
            </p:nvSpPr>
            <p:spPr>
              <a:xfrm>
                <a:off x="4013510" y="4520498"/>
                <a:ext cx="436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85DA052-A861-C7FA-DC69-14C4B9CA9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510" y="4520498"/>
                <a:ext cx="43667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02F01A6-8805-DA02-B99E-52A4BF4DD5FC}"/>
              </a:ext>
            </a:extLst>
          </p:cNvPr>
          <p:cNvCxnSpPr>
            <a:cxnSpLocks/>
          </p:cNvCxnSpPr>
          <p:nvPr/>
        </p:nvCxnSpPr>
        <p:spPr>
          <a:xfrm>
            <a:off x="2879780" y="4076381"/>
            <a:ext cx="0" cy="16606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EEC4916-4A53-03C7-000C-606F84A50227}"/>
              </a:ext>
            </a:extLst>
          </p:cNvPr>
          <p:cNvCxnSpPr/>
          <p:nvPr/>
        </p:nvCxnSpPr>
        <p:spPr>
          <a:xfrm>
            <a:off x="2879663" y="570144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A8EB00-8E7E-544A-BBAF-57DC092B6856}"/>
                  </a:ext>
                </a:extLst>
              </p:cNvPr>
              <p:cNvSpPr txBox="1"/>
              <p:nvPr/>
            </p:nvSpPr>
            <p:spPr>
              <a:xfrm>
                <a:off x="2696304" y="5713481"/>
                <a:ext cx="3805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A8EB00-8E7E-544A-BBAF-57DC092B6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304" y="5713481"/>
                <a:ext cx="380555" cy="338554"/>
              </a:xfrm>
              <a:prstGeom prst="rect">
                <a:avLst/>
              </a:prstGeom>
              <a:blipFill>
                <a:blip r:embed="rId8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618464-8CDD-4E91-E738-DC0A7CC839AE}"/>
              </a:ext>
            </a:extLst>
          </p:cNvPr>
          <p:cNvCxnSpPr>
            <a:cxnSpLocks/>
            <a:stCxn id="39" idx="2"/>
            <a:endCxn id="24" idx="6"/>
          </p:cNvCxnSpPr>
          <p:nvPr/>
        </p:nvCxnSpPr>
        <p:spPr>
          <a:xfrm flipH="1" flipV="1">
            <a:off x="2103643" y="4023520"/>
            <a:ext cx="744133" cy="977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50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4" grpId="0" animBg="1"/>
      <p:bldP spid="26" grpId="0"/>
      <p:bldP spid="29" grpId="0"/>
      <p:bldP spid="40" grpId="0" animBg="1"/>
      <p:bldP spid="39" grpId="0" animBg="1"/>
      <p:bldP spid="47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2B14B-87EA-AF19-019A-899C0DB0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C5FD4-2EA5-46B6-0B53-0618876D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2D15-E4EB-5807-B9E4-B87B7C7A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6B5350-166C-DAD8-86F9-A60B97ED5DF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6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E6DFF-4A4C-7D88-92E6-635C47FB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A6700-A175-F749-08B4-6AE3059A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E9B99-7763-010A-3403-6993C323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88B30-C418-6726-687B-A5B06DECA7E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17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DF5F9-25C3-2967-0009-C0EE9412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0FDE-56A6-1D4B-6D80-B7DB7D94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In-Class Poll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24D8B-904B-4415-8A4A-6BB737F4F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A tax cut will be equivalent to an increase of government expenditure in this model.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decreased, then households’ disposable income will increase, which leads to increased demand.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Output will meet the increased demand instantly.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equilibrium output will </a:t>
                </a:r>
                <a:r>
                  <a:rPr lang="en-US"/>
                  <a:t>increase given the same interest rate, and the IS curve shifts to the right.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24D8B-904B-4415-8A4A-6BB737F4F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67B00-E9B4-181E-9B68-8C125FB1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C66CA-266D-3ABF-661C-E0A53152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46157-24A6-E97B-AC17-D9599251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7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1B04-5C37-ADCB-4356-07C82669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2DFB-67B8-8C44-50DF-7AA00D2E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LM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20746-4A44-4A62-A1B7-2102AAE7DE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Recall that the equilibrium in the financial market is represented by money supply matching money demand: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We will transform this money demand in “real” terms by dividing both sides by the overall price level: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𝑁𝐺𝐷𝑃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𝑅𝐺𝐷𝑃</m:t>
                        </m:r>
                      </m:den>
                    </m:f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𝑅𝐺𝐷𝑃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𝑁𝐺𝐷𝑃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So, we now have everything expressed in real terms.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20746-4A44-4A62-A1B7-2102AAE7DE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5D9C5-37ED-8C49-81F9-92F27FF9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85ED4-47B7-3CD8-FB4C-6539B0F8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A37AC-E87B-71E0-7E66-6D244CAC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8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E410-0F70-32F2-F2D0-4425BE89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1A36-0848-8D90-F8FA-CB0A26DA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LM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90FDDF-4934-805E-BEB8-EDB449AF4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equation that links output, interest rates, and money is the LM (Liquidity-Money) relation: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r>
                  <a:rPr lang="en-US" dirty="0"/>
                  <a:t>The “traditional” LM curve follows this logic…</a:t>
                </a:r>
              </a:p>
              <a:p>
                <a:pPr lvl="1"/>
                <a:r>
                  <a:rPr lang="en-US" dirty="0"/>
                  <a:t>If the interest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increases,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will decrease…</a:t>
                </a:r>
              </a:p>
              <a:p>
                <a:pPr lvl="1"/>
                <a:r>
                  <a:rPr lang="en-US" dirty="0"/>
                  <a:t>…and output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must increase to keep the equality.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be relying on an updated interpretation…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90FDDF-4934-805E-BEB8-EDB449AF4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6852A-6F6A-8222-14BD-CB0381F8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C71D1-3E83-F51A-95E7-CF1C23A2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2D5CB-677E-96E6-7820-725C4B9E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43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38D0-0DC6-F53F-3B0B-F6468AFA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8E33288-0BEA-F199-2F62-466E3ACB6359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B8BDE3-5562-05D7-DEC7-8B07E985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LM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A501241-D06D-3197-B6FC-49BE43E2E32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8234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will assume that the Fed will select an interest rate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the fed will conduct monetary policy such that it can achieve its target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instance, if the demand for money increases, the Fed will expand money supply to maintain the interest rate of the economy.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A501241-D06D-3197-B6FC-49BE43E2E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82340" cy="4351338"/>
              </a:xfrm>
              <a:blipFill>
                <a:blip r:embed="rId2"/>
                <a:stretch>
                  <a:fillRect l="-1895" t="-1821" r="-2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A2290-8BF7-8B3A-672C-A9A863E5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384F1-9BE3-5514-9015-CA8068FBC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F87BB-91AA-97EE-5097-25B6289D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4655DE-BD2A-1011-CCBF-59C731FEA8E9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1E9FA3-4646-BF43-6F85-0D03E7F0A1AD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8A26A53-B5EA-D69E-3133-46ED98080612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8C4BC-4BFE-E672-4109-7AF2A3DE5460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E662FA-459B-CDCE-64CF-918764EE3A44}"/>
                  </a:ext>
                </a:extLst>
              </p:cNvPr>
              <p:cNvSpPr txBox="1"/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E662FA-459B-CDCE-64CF-918764EE3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8B6308-ACC2-C6CC-7D4B-A4D36F27B00E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8B6308-ACC2-C6CC-7D4B-A4D36F27B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165624-A934-EB90-CAE0-F19CF665270E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12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F50B-6638-E636-B667-5A0BE1FC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4B45F9-A33F-0CA3-B5C0-526E9F340549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0B0C2D7-C4C5-AB1D-B56A-D686D874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Shifts of the LM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F0B3DF5-3432-0CD7-8949-35D7C1CB914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8234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Fed decides to raise interest rates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LM curve will shift upward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Fed decides to lower interest rates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LM curve will shift upward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F0B3DF5-3432-0CD7-8949-35D7C1CB9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82340" cy="4351338"/>
              </a:xfrm>
              <a:blipFill>
                <a:blip r:embed="rId2"/>
                <a:stretch>
                  <a:fillRect l="-1895" t="-1821" r="-1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B480-272D-3245-9D79-02EFCEA1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87A96-8C90-C66D-41D3-9FC92B83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21416-1D2F-3639-F5A8-157FFFE0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462B4F-31D2-D16A-83E0-C772CDF68CD6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838138-8A18-3C1A-24A4-55DE20CB1FCB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65BBFD-17EE-F2BA-E3C3-BD8D0859AA3E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E4ACF-991A-9C3E-1AAF-69E85C65B1B7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7DDEF5-F538-288D-08DA-594DEDEC94BF}"/>
                  </a:ext>
                </a:extLst>
              </p:cNvPr>
              <p:cNvSpPr txBox="1"/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7DDEF5-F538-288D-08DA-594DEDEC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BA39E1-2F36-7633-F7BF-9E02AA26E5FA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BA39E1-2F36-7633-F7BF-9E02AA26E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E3F8AF-E97B-1296-552D-0205D9AA9869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40FAA1-34BF-0868-0746-7ED48BFF0937}"/>
              </a:ext>
            </a:extLst>
          </p:cNvPr>
          <p:cNvCxnSpPr>
            <a:cxnSpLocks/>
          </p:cNvCxnSpPr>
          <p:nvPr/>
        </p:nvCxnSpPr>
        <p:spPr>
          <a:xfrm flipV="1">
            <a:off x="791958" y="3214784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40C7AA-690B-545F-7D99-DA7AE06A07EE}"/>
                  </a:ext>
                </a:extLst>
              </p:cNvPr>
              <p:cNvSpPr txBox="1"/>
              <p:nvPr/>
            </p:nvSpPr>
            <p:spPr>
              <a:xfrm>
                <a:off x="480038" y="3031774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40C7AA-690B-545F-7D99-DA7AE06A0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38" y="3031774"/>
                <a:ext cx="291136" cy="369332"/>
              </a:xfrm>
              <a:prstGeom prst="rect">
                <a:avLst/>
              </a:prstGeom>
              <a:blipFill>
                <a:blip r:embed="rId5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47C3D1-9DAF-E56D-3E33-C1FF6CFB2244}"/>
              </a:ext>
            </a:extLst>
          </p:cNvPr>
          <p:cNvCxnSpPr>
            <a:cxnSpLocks/>
          </p:cNvCxnSpPr>
          <p:nvPr/>
        </p:nvCxnSpPr>
        <p:spPr>
          <a:xfrm rot="16200000">
            <a:off x="802062" y="3182098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B43FF5-D0FB-13B6-C680-9C5283BC90B7}"/>
                  </a:ext>
                </a:extLst>
              </p:cNvPr>
              <p:cNvSpPr txBox="1"/>
              <p:nvPr/>
            </p:nvSpPr>
            <p:spPr>
              <a:xfrm>
                <a:off x="3928177" y="2884239"/>
                <a:ext cx="5351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B43FF5-D0FB-13B6-C680-9C5283BC9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7" y="2884239"/>
                <a:ext cx="5351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FB2AC5-A4D7-2746-8ED1-F3EBDA5AAF2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36845" y="4846972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1DA0E8-DAD0-A6F2-0361-F824E6978A98}"/>
                  </a:ext>
                </a:extLst>
              </p:cNvPr>
              <p:cNvSpPr txBox="1"/>
              <p:nvPr/>
            </p:nvSpPr>
            <p:spPr>
              <a:xfrm>
                <a:off x="3912318" y="4532457"/>
                <a:ext cx="5816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1DA0E8-DAD0-A6F2-0361-F824E6978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318" y="4532457"/>
                <a:ext cx="58163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5E1721-7AEC-8803-099C-01A92245F2E9}"/>
                  </a:ext>
                </a:extLst>
              </p:cNvPr>
              <p:cNvSpPr txBox="1"/>
              <p:nvPr/>
            </p:nvSpPr>
            <p:spPr>
              <a:xfrm>
                <a:off x="445709" y="4662605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5E1721-7AEC-8803-099C-01A92245F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09" y="4662605"/>
                <a:ext cx="291136" cy="369332"/>
              </a:xfrm>
              <a:prstGeom prst="rect">
                <a:avLst/>
              </a:prstGeom>
              <a:blipFill>
                <a:blip r:embed="rId8"/>
                <a:stretch>
                  <a:fillRect r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AD524A-D1EB-0BE2-782B-51E10275C7FD}"/>
              </a:ext>
            </a:extLst>
          </p:cNvPr>
          <p:cNvCxnSpPr>
            <a:cxnSpLocks/>
          </p:cNvCxnSpPr>
          <p:nvPr/>
        </p:nvCxnSpPr>
        <p:spPr>
          <a:xfrm rot="16200000">
            <a:off x="778124" y="4812929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45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A5BD9-E52B-82A2-2C04-EB50895E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2B049BA-8D8C-5540-3B0D-2D920BFB9F42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D192631-8D04-2432-67DF-6E07CA8B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IS-LM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A784D9-1259-A8B3-A68F-569BB9FDFF2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IS relation summarized: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LM relation summarized: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two relations combined will determine the equilibrium level of output in the short run.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A784D9-1259-A8B3-A68F-569BB9FDF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  <a:blipFill>
                <a:blip r:embed="rId2"/>
                <a:stretch>
                  <a:fillRect l="-1852" t="-1821" r="-2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5BDD6-5DE8-BF22-6D75-CD578287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365FC-8AA8-1766-1F6B-D5BA8904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18B63-2E0B-E1D3-528C-A3688F61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958D3A-976B-D9B9-0A84-258ADDC8F476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ACFA17-5C25-3445-6BD4-71B9EF731EF5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DA3E7A-18CD-FB0D-E432-9F762BD01747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BD6A6-35CD-361D-F435-181ACC3A5E58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41CE4F-2F0D-3BC9-1C09-96D0F96A5053}"/>
                  </a:ext>
                </a:extLst>
              </p:cNvPr>
              <p:cNvSpPr txBox="1"/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41CE4F-2F0D-3BC9-1C09-96D0F96A5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3ADD3-CBE4-1A08-17D7-2DA6C582B229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3ADD3-CBE4-1A08-17D7-2DA6C582B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4B454D-0AFD-B2A9-3158-11DFEBC87A44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EE350A-2575-D690-4AEE-B41AEAFEAB65}"/>
              </a:ext>
            </a:extLst>
          </p:cNvPr>
          <p:cNvSpPr/>
          <p:nvPr/>
        </p:nvSpPr>
        <p:spPr>
          <a:xfrm>
            <a:off x="954751" y="2241552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C92FF4-22E1-A04C-5E1C-0D3BF5ED6A1E}"/>
                  </a:ext>
                </a:extLst>
              </p:cNvPr>
              <p:cNvSpPr txBox="1"/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C92FF4-22E1-A04C-5E1C-0D3BF5ED6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F1A45172-3E59-4008-04E8-2AB18F77BD74}"/>
              </a:ext>
            </a:extLst>
          </p:cNvPr>
          <p:cNvSpPr/>
          <p:nvPr/>
        </p:nvSpPr>
        <p:spPr>
          <a:xfrm>
            <a:off x="2031206" y="3989762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B4960C-96E8-D9A0-D56A-6204E1C1340A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2067782" y="4062914"/>
            <a:ext cx="0" cy="16673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CF0086-F957-FE10-040A-A24EA2E6D660}"/>
              </a:ext>
            </a:extLst>
          </p:cNvPr>
          <p:cNvCxnSpPr/>
          <p:nvPr/>
        </p:nvCxnSpPr>
        <p:spPr>
          <a:xfrm>
            <a:off x="2068761" y="569909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AE51296-D507-4217-D691-9FAA790044BF}"/>
                  </a:ext>
                </a:extLst>
              </p:cNvPr>
              <p:cNvSpPr txBox="1"/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AE51296-D507-4217-D691-9FAA7900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47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C724-CB39-1D81-AF8B-6BA65B30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EC0CE1-92C4-98F1-B04F-0274C904CD84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3AC2410-2F62-A01F-5D58-06970A34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IS-LM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FA1682-9063-D726-5976-FAC0EBBA53A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Points along the IS curve represent equilibria in the goods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Points along the LM curve represent equilibria in the financial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Only at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where the IS and LM curves intersect is both the goods and financial markets in equilibrium.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FA1682-9063-D726-5976-FAC0EBBA5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  <a:blipFill>
                <a:blip r:embed="rId2"/>
                <a:stretch>
                  <a:fillRect l="-185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F8830-AE79-BE5C-0E25-ACDF101E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88976-1127-8081-2671-99468DCF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2A403-F9D5-7FA7-450D-1596F097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72F868-1D5A-5C87-B481-4C7C6C6D2F29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05470A-A340-D3AE-C05C-928EF81944C1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BBD608-0EE6-566E-237B-E66F99C49AC7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4B846B-77E1-8185-B3BE-FCEA3E361C26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7339CC-65F0-1199-3F23-756F7C006490}"/>
                  </a:ext>
                </a:extLst>
              </p:cNvPr>
              <p:cNvSpPr txBox="1"/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7339CC-65F0-1199-3F23-756F7C006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1391A3-3845-8834-8F83-3B58BB4EE7AC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1391A3-3845-8834-8F83-3B58BB4EE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F5A8B8-300E-0495-0A1F-8667AE39BA79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E4F3B45-8452-7F05-88C7-92FBF66D901F}"/>
              </a:ext>
            </a:extLst>
          </p:cNvPr>
          <p:cNvSpPr/>
          <p:nvPr/>
        </p:nvSpPr>
        <p:spPr>
          <a:xfrm>
            <a:off x="954751" y="2241552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9793FE-8833-23DB-4B5F-CE2B3A53786F}"/>
                  </a:ext>
                </a:extLst>
              </p:cNvPr>
              <p:cNvSpPr txBox="1"/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9793FE-8833-23DB-4B5F-CE2B3A537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489891ED-FA02-31B5-3CF5-AB6B1DFE8E0A}"/>
              </a:ext>
            </a:extLst>
          </p:cNvPr>
          <p:cNvSpPr/>
          <p:nvPr/>
        </p:nvSpPr>
        <p:spPr>
          <a:xfrm>
            <a:off x="2031206" y="3989762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C79F9B-FF1A-9AAD-E67E-97DCCE5C723A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2067782" y="4062914"/>
            <a:ext cx="0" cy="16673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CD2297-9BEA-8040-B578-A4B105231277}"/>
              </a:ext>
            </a:extLst>
          </p:cNvPr>
          <p:cNvCxnSpPr/>
          <p:nvPr/>
        </p:nvCxnSpPr>
        <p:spPr>
          <a:xfrm>
            <a:off x="2068761" y="569909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3A32E1-85AC-9DAD-08C1-90ADC1A5B501}"/>
                  </a:ext>
                </a:extLst>
              </p:cNvPr>
              <p:cNvSpPr txBox="1"/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3A32E1-85AC-9DAD-08C1-90ADC1A5B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DA19C5-1C40-CB80-2E4A-2848467E1A34}"/>
                  </a:ext>
                </a:extLst>
              </p:cNvPr>
              <p:cNvSpPr txBox="1"/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DA19C5-1C40-CB80-2E4A-2848467E1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9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9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07C5C-2E12-88F1-7BA8-CFBB74D7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E8B6-152D-7952-D2C4-E890ECAA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76C78-2A03-F56C-7A80-5622A5F5F6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use this framework to determine the impacts of fiscal and monetary policies.</a:t>
                </a:r>
              </a:p>
              <a:p>
                <a:pPr marL="1828800" lvl="4" indent="0">
                  <a:buNone/>
                </a:pPr>
                <a:endParaRPr lang="en-US" dirty="0"/>
              </a:p>
              <a:p>
                <a:r>
                  <a:rPr lang="en-US" dirty="0"/>
                  <a:t>Monetary Policy: The Fed deciding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through changing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Monetary Expansion: The Fed decreasing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through increasing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Monetary Contraction: The Fed raising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through decreasing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Fiscal Policy: The Government deciding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Fiscal Expansion: Either an increase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or decrease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Specifically, an increase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Fiscal Contraction: Either a decrease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or increase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 Specifically, a decrease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76C78-2A03-F56C-7A80-5622A5F5F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 r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19194-60B2-B7C9-5A65-03F9CF48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E9459-1141-F45D-1FA0-A844FF7C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960F5-F367-37F0-7123-7A22B744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6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FA63-289C-22BE-AAA5-01421230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AEB678-8C4D-397D-4143-1BB277C7E2A7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056F60-0D11-B382-9B28-BC855A3E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</a:t>
            </a:r>
            <a:br>
              <a:rPr lang="en-US" dirty="0"/>
            </a:br>
            <a:r>
              <a:rPr lang="en-US" dirty="0"/>
              <a:t>Contractionary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96389D-63E3-B482-5B72-52B5FFAA475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Fed decides to increase the interest rate in the economy.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Does the IS curve shift?</a:t>
                </a:r>
              </a:p>
              <a:p>
                <a:pPr lvl="1"/>
                <a:r>
                  <a:rPr lang="en-US" dirty="0"/>
                  <a:t>No.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Does the LM curve shift?</a:t>
                </a:r>
              </a:p>
              <a:p>
                <a:pPr lvl="1"/>
                <a:r>
                  <a:rPr lang="en-US" dirty="0"/>
                  <a:t>Yes, upward.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economy’s equilibrium shifts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96389D-63E3-B482-5B72-52B5FFAA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  <a:blipFill>
                <a:blip r:embed="rId2"/>
                <a:stretch>
                  <a:fillRect l="-1852" t="-1821" r="-3989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962F3-02C5-324F-210F-D8D25919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046DB-9385-0BE9-7F3B-D3007D96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73D8B-5850-50CA-304B-6A96DF3A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C3AAC2-E806-D9F3-6C65-E33BD3369F1A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190441-A102-DE3A-11D6-B9796D02813D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E89B73-9EA6-9E7B-7DDF-92F5046074A5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559E9A-7624-A0AC-AFBF-C99A6F44BE4E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CC5C94-7333-D432-BF06-EA05E9946E51}"/>
                  </a:ext>
                </a:extLst>
              </p:cNvPr>
              <p:cNvSpPr txBox="1"/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CC5C94-7333-D432-BF06-EA05E9946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DAA4FC-3CCA-B1AE-453F-DDA544CA7016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DAA4FC-3CCA-B1AE-453F-DDA544CA7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11695C-EF61-27CD-8A0E-ABBBAB051667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35C0C6-FA09-FD83-3775-27AB448C0E4E}"/>
              </a:ext>
            </a:extLst>
          </p:cNvPr>
          <p:cNvSpPr/>
          <p:nvPr/>
        </p:nvSpPr>
        <p:spPr>
          <a:xfrm>
            <a:off x="954751" y="2241552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BE19EF-6EB3-D001-7567-9572A528A577}"/>
                  </a:ext>
                </a:extLst>
              </p:cNvPr>
              <p:cNvSpPr txBox="1"/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BE19EF-6EB3-D001-7567-9572A528A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47F6F21B-8EF8-7841-9685-1F523845F819}"/>
              </a:ext>
            </a:extLst>
          </p:cNvPr>
          <p:cNvSpPr/>
          <p:nvPr/>
        </p:nvSpPr>
        <p:spPr>
          <a:xfrm>
            <a:off x="2031206" y="3989762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59F52E-6F1D-59B3-F602-794F4026A65A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2067782" y="4062914"/>
            <a:ext cx="0" cy="16673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DBD6C5-4BF3-C1FC-79B8-74F129F197D0}"/>
              </a:ext>
            </a:extLst>
          </p:cNvPr>
          <p:cNvCxnSpPr/>
          <p:nvPr/>
        </p:nvCxnSpPr>
        <p:spPr>
          <a:xfrm>
            <a:off x="2068761" y="569909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3482B2-97DF-043A-7863-3B6B114450A7}"/>
                  </a:ext>
                </a:extLst>
              </p:cNvPr>
              <p:cNvSpPr txBox="1"/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3482B2-97DF-043A-7863-3B6B11445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A5ECEE-F2A4-8F0A-4D62-BB74178AA9B3}"/>
                  </a:ext>
                </a:extLst>
              </p:cNvPr>
              <p:cNvSpPr txBox="1"/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A5ECEE-F2A4-8F0A-4D62-BB74178AA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F53F75-852F-06ED-E5C6-42452B216603}"/>
              </a:ext>
            </a:extLst>
          </p:cNvPr>
          <p:cNvCxnSpPr>
            <a:cxnSpLocks/>
          </p:cNvCxnSpPr>
          <p:nvPr/>
        </p:nvCxnSpPr>
        <p:spPr>
          <a:xfrm flipV="1">
            <a:off x="791958" y="3214784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3DA7ED-624E-E9F4-CC78-318D929A1053}"/>
                  </a:ext>
                </a:extLst>
              </p:cNvPr>
              <p:cNvSpPr txBox="1"/>
              <p:nvPr/>
            </p:nvSpPr>
            <p:spPr>
              <a:xfrm>
                <a:off x="480038" y="3031774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3DA7ED-624E-E9F4-CC78-318D929A1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38" y="3031774"/>
                <a:ext cx="291136" cy="369332"/>
              </a:xfrm>
              <a:prstGeom prst="rect">
                <a:avLst/>
              </a:prstGeom>
              <a:blipFill>
                <a:blip r:embed="rId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AA6769-A2CD-EC8C-3921-B3295FBA15CA}"/>
              </a:ext>
            </a:extLst>
          </p:cNvPr>
          <p:cNvCxnSpPr>
            <a:cxnSpLocks/>
          </p:cNvCxnSpPr>
          <p:nvPr/>
        </p:nvCxnSpPr>
        <p:spPr>
          <a:xfrm rot="16200000">
            <a:off x="802062" y="3182098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88657F-E9F3-495D-D9EE-AE97216775E3}"/>
                  </a:ext>
                </a:extLst>
              </p:cNvPr>
              <p:cNvSpPr txBox="1"/>
              <p:nvPr/>
            </p:nvSpPr>
            <p:spPr>
              <a:xfrm>
                <a:off x="3928177" y="2884239"/>
                <a:ext cx="5351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88657F-E9F3-495D-D9EE-AE9721677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7" y="2884239"/>
                <a:ext cx="5351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1A3E8A5B-892E-EE3E-E7BB-F459264B0CB0}"/>
              </a:ext>
            </a:extLst>
          </p:cNvPr>
          <p:cNvSpPr/>
          <p:nvPr/>
        </p:nvSpPr>
        <p:spPr>
          <a:xfrm>
            <a:off x="1458873" y="3178208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78E4FE-A4FA-171A-D302-3E9C1523D370}"/>
                  </a:ext>
                </a:extLst>
              </p:cNvPr>
              <p:cNvSpPr txBox="1"/>
              <p:nvPr/>
            </p:nvSpPr>
            <p:spPr>
              <a:xfrm>
                <a:off x="1449868" y="2910121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78E4FE-A4FA-171A-D302-3E9C1523D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868" y="2910121"/>
                <a:ext cx="336188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FC1681-38EE-2FEF-2100-92C3509FB406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1481249" y="3251360"/>
            <a:ext cx="14200" cy="24789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BD6681-D273-2C89-024D-9D86C414BF0B}"/>
              </a:ext>
            </a:extLst>
          </p:cNvPr>
          <p:cNvCxnSpPr/>
          <p:nvPr/>
        </p:nvCxnSpPr>
        <p:spPr>
          <a:xfrm>
            <a:off x="1483728" y="5701346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3664C4-55EB-82A0-B424-AAF0FCA7E078}"/>
                  </a:ext>
                </a:extLst>
              </p:cNvPr>
              <p:cNvSpPr txBox="1"/>
              <p:nvPr/>
            </p:nvSpPr>
            <p:spPr>
              <a:xfrm>
                <a:off x="1300369" y="5713382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3664C4-55EB-82A0-B424-AAF0FCA7E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369" y="5713382"/>
                <a:ext cx="336188" cy="338554"/>
              </a:xfrm>
              <a:prstGeom prst="rect">
                <a:avLst/>
              </a:prstGeom>
              <a:blipFill>
                <a:blip r:embed="rId11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62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5D81-2D2F-A0D1-A461-94F3C693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BDA2-F542-8E75-3BE5-5C61B192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</a:t>
            </a:r>
            <a:br>
              <a:rPr lang="en-US" dirty="0"/>
            </a:br>
            <a:r>
              <a:rPr lang="en-US" dirty="0"/>
              <a:t>Contractionary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79EC1-94BA-CBCE-594E-8AC45A1D8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explain this using words: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As the interest rate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increases, the cost of borrowing rises, and investment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decrease.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When investment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decreases, aggregate demand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also fall. Recall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Decreased aggregate demand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will lead to a decrease in the equilibrium output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goods market.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The economy will reach a new equilibrium moving along the IS curve to a higher interest rate and lower output.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79EC1-94BA-CBCE-594E-8AC45A1D8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397B-9F93-6EE9-E391-D6DADAF4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4052-B4C4-2A14-1C94-CE98CD98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9FC23-ECFD-74AF-9577-9A018485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87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A10E-4801-DAE4-5B5E-8F354450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73B7B41-1963-104A-EAAA-A3F9D1AAB87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7E68BC7-6F78-9A19-DE75-9335BA13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</a:t>
            </a:r>
            <a:br>
              <a:rPr lang="en-US" dirty="0"/>
            </a:br>
            <a:r>
              <a:rPr lang="en-US" dirty="0"/>
              <a:t>Expansionary Fiscal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B09818-433C-A0E7-7CC0-0616917FA0E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government decides to issue a tax cut.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Does the IS curve shift?</a:t>
                </a:r>
              </a:p>
              <a:p>
                <a:pPr lvl="1"/>
                <a:r>
                  <a:rPr lang="en-US" dirty="0"/>
                  <a:t>Yes, to the right.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Does the LM curve shift?</a:t>
                </a:r>
              </a:p>
              <a:p>
                <a:pPr lvl="1"/>
                <a:r>
                  <a:rPr lang="en-US" dirty="0"/>
                  <a:t>No.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economy’s equilibrium shifts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B09818-433C-A0E7-7CC0-0616917FA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  <a:blipFill>
                <a:blip r:embed="rId2"/>
                <a:stretch>
                  <a:fillRect l="-1852" t="-1821" r="-2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B6A39-782B-E679-53CB-DACDC4A4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F62EF-7690-646B-6D82-C5F686A8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33893-5591-DA50-247D-8E38977B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164C7D-9E34-973C-4AEF-EB21213BFA96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F79B2C-654C-F9B0-B2D6-DDAFA8FBC409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8CF6B6-F5B2-0D52-23B4-44143A5F2A2B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5EBE2E-26C4-8FE7-65CB-4E05CAF1590B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4EE17C-98FE-C1F1-A50B-0F2DD583D509}"/>
                  </a:ext>
                </a:extLst>
              </p:cNvPr>
              <p:cNvSpPr txBox="1"/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CC5C94-7333-D432-BF06-EA05E9946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78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28A294-B9E5-A808-42F4-F3981821F93F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DAA4FC-3CCA-B1AE-453F-DDA544CA7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AAC5B0-1CC7-7ED3-39B9-B06AC8B83756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F662799-1530-EB71-FA4B-F844437B794D}"/>
              </a:ext>
            </a:extLst>
          </p:cNvPr>
          <p:cNvSpPr/>
          <p:nvPr/>
        </p:nvSpPr>
        <p:spPr>
          <a:xfrm>
            <a:off x="954751" y="2241552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7814AB-9784-F853-6CA4-B82A049FC8F9}"/>
                  </a:ext>
                </a:extLst>
              </p:cNvPr>
              <p:cNvSpPr txBox="1"/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BE19EF-6EB3-D001-7567-9572A528A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61" y="5146562"/>
                <a:ext cx="39017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4B5C6E4B-E2E0-D208-7615-41715C7B29B3}"/>
              </a:ext>
            </a:extLst>
          </p:cNvPr>
          <p:cNvSpPr/>
          <p:nvPr/>
        </p:nvSpPr>
        <p:spPr>
          <a:xfrm>
            <a:off x="2031206" y="3989762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DECC60-7ED0-8B07-D6AD-1E7DF7C1620D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2067782" y="4062914"/>
            <a:ext cx="0" cy="16673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CB0E8D-F94F-B2F5-26EB-42E9E028B8E3}"/>
              </a:ext>
            </a:extLst>
          </p:cNvPr>
          <p:cNvCxnSpPr/>
          <p:nvPr/>
        </p:nvCxnSpPr>
        <p:spPr>
          <a:xfrm>
            <a:off x="2068761" y="569909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010422-F91F-8C28-F47D-E42F6CC0CE7E}"/>
                  </a:ext>
                </a:extLst>
              </p:cNvPr>
              <p:cNvSpPr txBox="1"/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3482B2-97DF-043A-7863-3B6B11445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28F8D6-5A79-340C-FD72-69C969CCA941}"/>
                  </a:ext>
                </a:extLst>
              </p:cNvPr>
              <p:cNvSpPr txBox="1"/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A5ECEE-F2A4-8F0A-4D62-BB74178AA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2A6869-4406-B008-DB8F-296C4DD488F4}"/>
                  </a:ext>
                </a:extLst>
              </p:cNvPr>
              <p:cNvSpPr txBox="1"/>
              <p:nvPr/>
            </p:nvSpPr>
            <p:spPr>
              <a:xfrm>
                <a:off x="2822078" y="3711823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2A6869-4406-B008-DB8F-296C4DD48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078" y="3711823"/>
                <a:ext cx="33618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D7A716-BB9B-338E-A566-D8708AE3FCBD}"/>
              </a:ext>
            </a:extLst>
          </p:cNvPr>
          <p:cNvCxnSpPr/>
          <p:nvPr/>
        </p:nvCxnSpPr>
        <p:spPr>
          <a:xfrm>
            <a:off x="2899058" y="5710959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9529D-1F33-3680-4728-44930176F51A}"/>
                  </a:ext>
                </a:extLst>
              </p:cNvPr>
              <p:cNvSpPr txBox="1"/>
              <p:nvPr/>
            </p:nvSpPr>
            <p:spPr>
              <a:xfrm>
                <a:off x="2715699" y="5722995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9529D-1F33-3680-4728-44930176F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699" y="5722995"/>
                <a:ext cx="336188" cy="338554"/>
              </a:xfrm>
              <a:prstGeom prst="rect">
                <a:avLst/>
              </a:prstGeom>
              <a:blipFill>
                <a:blip r:embed="rId9"/>
                <a:stretch>
                  <a:fillRect r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0FA9FF-846A-B39C-F0E9-DD54F0C3BEFC}"/>
              </a:ext>
            </a:extLst>
          </p:cNvPr>
          <p:cNvSpPr/>
          <p:nvPr/>
        </p:nvSpPr>
        <p:spPr>
          <a:xfrm>
            <a:off x="1455657" y="1983350"/>
            <a:ext cx="3072384" cy="3073518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B62D7D6-1008-6647-9BBB-C38AB30F934C}"/>
                  </a:ext>
                </a:extLst>
              </p:cNvPr>
              <p:cNvSpPr txBox="1"/>
              <p:nvPr/>
            </p:nvSpPr>
            <p:spPr>
              <a:xfrm>
                <a:off x="4013510" y="4520498"/>
                <a:ext cx="436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B62D7D6-1008-6647-9BBB-C38AB30F9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510" y="4520498"/>
                <a:ext cx="43667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BA4A62D8-C60A-D8FD-D58E-21A8AA1FC5B1}"/>
              </a:ext>
            </a:extLst>
          </p:cNvPr>
          <p:cNvSpPr/>
          <p:nvPr/>
        </p:nvSpPr>
        <p:spPr>
          <a:xfrm>
            <a:off x="2831083" y="3979910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866352-5985-FA5E-508A-CE458FAEBBFE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2867659" y="4053062"/>
            <a:ext cx="30803" cy="16772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59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3" grpId="0"/>
      <p:bldP spid="23" grpId="0" animBg="1"/>
      <p:bldP spid="27" grpId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016B-8D1F-E2CD-0B2E-30DBE986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982A-78E7-710A-FD33-D0BC42E1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</a:t>
            </a:r>
            <a:br>
              <a:rPr lang="en-US" dirty="0"/>
            </a:br>
            <a:r>
              <a:rPr lang="en-US" dirty="0"/>
              <a:t>Expansionary Fiscal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A02EC5-146D-EDBD-E7F3-D499849265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explain this using words: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As taxation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decreases, households’ disposable income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increases.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When disposable income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increases, aggregate demand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also increase. Recall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Decreased aggregate demand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will lead to a decrease in the equilibrium output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goods market.</a:t>
                </a:r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The economy will reach a new equilibrium moving along the LM curve to higher output, and an unchanged interest rate.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A02EC5-146D-EDBD-E7F3-D49984926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8342-0939-CAB8-0A82-282A6EC2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BE48F-B04F-1905-636D-C7D0BA78C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216ED-D836-B4E1-8D85-6D95DFFD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47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76499-6EE5-50D1-FF8F-0AF2E234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716E-782C-3F05-3830-F17F214D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Fiscal and Monetary Policy Mix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FCEB4-ADDC-3594-C3B0-E3336D199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In the real world, most economies will see a mix of fiscal and monetary policies occurring in conjunction.</a:t>
            </a:r>
          </a:p>
          <a:p>
            <a:pPr lvl="3"/>
            <a:endParaRPr lang="en-US" dirty="0"/>
          </a:p>
          <a:p>
            <a:r>
              <a:rPr lang="en-US" dirty="0"/>
              <a:t>If the government is already running a large deficit, it may be better to get some help from monetary policy.</a:t>
            </a:r>
          </a:p>
          <a:p>
            <a:pPr lvl="3"/>
            <a:endParaRPr lang="en-US" dirty="0"/>
          </a:p>
          <a:p>
            <a:r>
              <a:rPr lang="en-US" dirty="0"/>
              <a:t>If the interest rate is already incredibly low, there is not a lot of room for monetary policy, and it may be beneficial to get some help from fiscal policy.</a:t>
            </a:r>
          </a:p>
          <a:p>
            <a:pPr lvl="3"/>
            <a:endParaRPr lang="en-US" dirty="0"/>
          </a:p>
          <a:p>
            <a:r>
              <a:rPr lang="en-US" dirty="0"/>
              <a:t>Long story short, using both fiscal and monetary policy allows us to “share the burden.”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C5FA4-B50C-90BF-7C1E-CE6FFFAC9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FF814-BEC5-98D3-9830-599631D3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22BDB-07AA-404F-CBD0-5D7A3A14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3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101A9-FE94-DE25-083E-5E1FDAA5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8F0CEE-9714-8398-E067-FB2E125C010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83878" y="4026338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F8BA23E-FD4F-46DD-0A00-3B444F81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Expansionary Fiscal</a:t>
            </a:r>
            <a:br>
              <a:rPr lang="en-US" dirty="0"/>
            </a:br>
            <a:r>
              <a:rPr lang="en-US" dirty="0"/>
              <a:t>and Expansionary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B2A3B7F-15A9-C9B6-B567-38513EDF3BC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Fed and the government both decide to run an expansionary policy.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Does the IS curve shift?</a:t>
                </a:r>
              </a:p>
              <a:p>
                <a:pPr lvl="1"/>
                <a:r>
                  <a:rPr lang="en-US" dirty="0"/>
                  <a:t>Yes, to the right.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Does the LM curve shift?</a:t>
                </a:r>
              </a:p>
              <a:p>
                <a:pPr lvl="1"/>
                <a:r>
                  <a:rPr lang="en-US" dirty="0"/>
                  <a:t>Yes, downward.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economy’s equilibrium shifts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B2A3B7F-15A9-C9B6-B567-38513EDF3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275860" cy="4351338"/>
              </a:xfrm>
              <a:blipFill>
                <a:blip r:embed="rId2"/>
                <a:stretch>
                  <a:fillRect l="-1852" t="-1821" r="-299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9D243-5261-71D0-43FC-3785B19E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0ED5C-6CD7-86E6-C97B-054844D5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FF7C2-BCC7-6A7E-0D3B-AFE59520F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438FBB-6F7A-0DE9-65B9-09DD5054978E}"/>
              </a:ext>
            </a:extLst>
          </p:cNvPr>
          <p:cNvCxnSpPr/>
          <p:nvPr/>
        </p:nvCxnSpPr>
        <p:spPr>
          <a:xfrm>
            <a:off x="629168" y="573705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7EB7A0-8B60-36A0-F8AF-5272170B0034}"/>
              </a:ext>
            </a:extLst>
          </p:cNvPr>
          <p:cNvCxnSpPr>
            <a:cxnSpLocks/>
          </p:cNvCxnSpPr>
          <p:nvPr/>
        </p:nvCxnSpPr>
        <p:spPr>
          <a:xfrm rot="16200000">
            <a:off x="-1151141" y="395458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7E22C4-BE6B-2600-3B23-41567F323CAE}"/>
              </a:ext>
            </a:extLst>
          </p:cNvPr>
          <p:cNvSpPr txBox="1"/>
          <p:nvPr/>
        </p:nvSpPr>
        <p:spPr>
          <a:xfrm>
            <a:off x="3877423" y="573028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9BAAD-96A1-0997-A1EE-5E0D2A49C1AC}"/>
              </a:ext>
            </a:extLst>
          </p:cNvPr>
          <p:cNvSpPr txBox="1"/>
          <p:nvPr/>
        </p:nvSpPr>
        <p:spPr>
          <a:xfrm rot="16200000">
            <a:off x="77021" y="2198506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FFDE51-7D5B-DDBC-38DC-C6FD45F7A333}"/>
                  </a:ext>
                </a:extLst>
              </p:cNvPr>
              <p:cNvSpPr txBox="1"/>
              <p:nvPr/>
            </p:nvSpPr>
            <p:spPr>
              <a:xfrm>
                <a:off x="4125365" y="3711823"/>
                <a:ext cx="4775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FFDE51-7D5B-DDBC-38DC-C6FD45F7A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65" y="3711823"/>
                <a:ext cx="47756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B29E15-6D10-7D45-EF42-1881AB26C827}"/>
                  </a:ext>
                </a:extLst>
              </p:cNvPr>
              <p:cNvSpPr txBox="1"/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DAA4FC-3CCA-B1AE-453F-DDA544CA7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2" y="3841971"/>
                <a:ext cx="2911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4F3114-8A60-13E1-0293-CEA6BECEFB7E}"/>
              </a:ext>
            </a:extLst>
          </p:cNvPr>
          <p:cNvCxnSpPr>
            <a:cxnSpLocks/>
          </p:cNvCxnSpPr>
          <p:nvPr/>
        </p:nvCxnSpPr>
        <p:spPr>
          <a:xfrm rot="16200000">
            <a:off x="793984" y="3992295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42CDB51-FE1B-D2A1-867C-904815D5F6A4}"/>
              </a:ext>
            </a:extLst>
          </p:cNvPr>
          <p:cNvSpPr/>
          <p:nvPr/>
        </p:nvSpPr>
        <p:spPr>
          <a:xfrm>
            <a:off x="954751" y="2241552"/>
            <a:ext cx="3359150" cy="3352800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5D6B25-B519-943D-6A6A-0AE3332ECD79}"/>
                  </a:ext>
                </a:extLst>
              </p:cNvPr>
              <p:cNvSpPr txBox="1"/>
              <p:nvPr/>
            </p:nvSpPr>
            <p:spPr>
              <a:xfrm>
                <a:off x="4217539" y="5333003"/>
                <a:ext cx="390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5D6B25-B519-943D-6A6A-0AE3332EC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539" y="5333003"/>
                <a:ext cx="39017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1350A701-83D8-EA22-6966-79723CDA091B}"/>
              </a:ext>
            </a:extLst>
          </p:cNvPr>
          <p:cNvSpPr/>
          <p:nvPr/>
        </p:nvSpPr>
        <p:spPr>
          <a:xfrm>
            <a:off x="2031206" y="3989762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E7170C-C892-1E88-A091-135DC014C46D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2067782" y="4062914"/>
            <a:ext cx="0" cy="16673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0ADC1F-8A62-CF39-9955-580B37D73B6E}"/>
              </a:ext>
            </a:extLst>
          </p:cNvPr>
          <p:cNvCxnSpPr/>
          <p:nvPr/>
        </p:nvCxnSpPr>
        <p:spPr>
          <a:xfrm>
            <a:off x="2068761" y="569909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9470F7-22F0-B38C-51D8-78B9C90A5344}"/>
                  </a:ext>
                </a:extLst>
              </p:cNvPr>
              <p:cNvSpPr txBox="1"/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3482B2-97DF-043A-7863-3B6B11445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402" y="5711129"/>
                <a:ext cx="336188" cy="338554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31DF08-7F3F-101F-F969-42AF73880C02}"/>
                  </a:ext>
                </a:extLst>
              </p:cNvPr>
              <p:cNvSpPr txBox="1"/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A5ECEE-F2A4-8F0A-4D62-BB74178AA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631" y="3687783"/>
                <a:ext cx="3361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416234-5722-1685-1A40-B75122A4D228}"/>
                  </a:ext>
                </a:extLst>
              </p:cNvPr>
              <p:cNvSpPr txBox="1"/>
              <p:nvPr/>
            </p:nvSpPr>
            <p:spPr>
              <a:xfrm>
                <a:off x="3613112" y="4537516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416234-5722-1685-1A40-B75122A4D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112" y="4537516"/>
                <a:ext cx="33618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85835B8-2407-6746-F5A7-2F21527FF7F1}"/>
              </a:ext>
            </a:extLst>
          </p:cNvPr>
          <p:cNvCxnSpPr/>
          <p:nvPr/>
        </p:nvCxnSpPr>
        <p:spPr>
          <a:xfrm>
            <a:off x="3659104" y="5696113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49273E-57CB-B289-F2F7-6D3162A78B93}"/>
                  </a:ext>
                </a:extLst>
              </p:cNvPr>
              <p:cNvSpPr txBox="1"/>
              <p:nvPr/>
            </p:nvSpPr>
            <p:spPr>
              <a:xfrm>
                <a:off x="3475745" y="5708149"/>
                <a:ext cx="336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49273E-57CB-B289-F2F7-6D3162A78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745" y="5708149"/>
                <a:ext cx="336188" cy="338554"/>
              </a:xfrm>
              <a:prstGeom prst="rect">
                <a:avLst/>
              </a:prstGeom>
              <a:blipFill>
                <a:blip r:embed="rId9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6042824-732D-0F9D-8414-A6CD8D6F64AF}"/>
              </a:ext>
            </a:extLst>
          </p:cNvPr>
          <p:cNvSpPr/>
          <p:nvPr/>
        </p:nvSpPr>
        <p:spPr>
          <a:xfrm>
            <a:off x="1258549" y="2126420"/>
            <a:ext cx="3072384" cy="3073518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A91B36-1BEB-DB2F-416A-8CAEBDB4CE27}"/>
                  </a:ext>
                </a:extLst>
              </p:cNvPr>
              <p:cNvSpPr txBox="1"/>
              <p:nvPr/>
            </p:nvSpPr>
            <p:spPr>
              <a:xfrm>
                <a:off x="4210944" y="4882524"/>
                <a:ext cx="436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A91B36-1BEB-DB2F-416A-8CAEBDB4C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944" y="4882524"/>
                <a:ext cx="43667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AE41FA5-AA41-617B-AE0F-2B1B70769727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3658693" y="4878755"/>
            <a:ext cx="0" cy="8582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1671DE-169E-0D09-6941-9F3528A53D5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736845" y="4846972"/>
            <a:ext cx="3621867" cy="2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18757E-5B08-6FBE-C0BB-593E9C3B5E73}"/>
                  </a:ext>
                </a:extLst>
              </p:cNvPr>
              <p:cNvSpPr txBox="1"/>
              <p:nvPr/>
            </p:nvSpPr>
            <p:spPr>
              <a:xfrm>
                <a:off x="4138462" y="4511324"/>
                <a:ext cx="5351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18757E-5B08-6FBE-C0BB-593E9C3B5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462" y="4511324"/>
                <a:ext cx="53514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BF8DD-9C79-92F6-4E7A-A0C1877364EF}"/>
                  </a:ext>
                </a:extLst>
              </p:cNvPr>
              <p:cNvSpPr txBox="1"/>
              <p:nvPr/>
            </p:nvSpPr>
            <p:spPr>
              <a:xfrm>
                <a:off x="445709" y="4662605"/>
                <a:ext cx="291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BF8DD-9C79-92F6-4E7A-A0C187736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09" y="4662605"/>
                <a:ext cx="29113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18FA3E-7E2F-2E1E-4B87-738C5A4DC86A}"/>
              </a:ext>
            </a:extLst>
          </p:cNvPr>
          <p:cNvCxnSpPr>
            <a:cxnSpLocks/>
          </p:cNvCxnSpPr>
          <p:nvPr/>
        </p:nvCxnSpPr>
        <p:spPr>
          <a:xfrm rot="16200000">
            <a:off x="778124" y="4812929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FAF3C84-234A-BB6E-B757-8E4BF5A206E2}"/>
              </a:ext>
            </a:extLst>
          </p:cNvPr>
          <p:cNvSpPr/>
          <p:nvPr/>
        </p:nvSpPr>
        <p:spPr>
          <a:xfrm>
            <a:off x="3622117" y="4805603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6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3" grpId="0"/>
      <p:bldP spid="23" grpId="0" animBg="1"/>
      <p:bldP spid="27" grpId="0"/>
      <p:bldP spid="9" grpId="0"/>
      <p:bldP spid="10" grpId="0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B008-6A3B-13C2-26F6-0032C063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Combating Recessions: 2001</a:t>
            </a:r>
          </a:p>
        </p:txBody>
      </p:sp>
      <p:pic>
        <p:nvPicPr>
          <p:cNvPr id="8" name="Content Placeholder 7" descr="A graph showing the growth of the market&#10;&#10;Description automatically generated">
            <a:extLst>
              <a:ext uri="{FF2B5EF4-FFF2-40B4-BE49-F238E27FC236}">
                <a16:creationId xmlns:a16="http://schemas.microsoft.com/office/drawing/2014/main" id="{78EC9600-B62D-9064-083D-E43551812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58169"/>
            <a:ext cx="7620000" cy="42862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09E7F-8C04-8157-9878-15FFACAD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6FAC6-545F-BDE3-4B56-2468296AA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0586-1969-C585-A2D6-B97BF683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98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E365-902C-8827-D42E-56AF7453A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FC2A-7C3D-4F06-633B-85244244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Combating Recessions: 2001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3CF3-44BD-5E29-EF04-9F3057FC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48AD1-6CAB-C366-CC51-69DEED0A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D3A17-1317-D50C-901C-4AA6A0C1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10" name="Content Placeholder 9" descr="A graph showing the growth of the federal funds&#10;&#10;Description automatically generated">
            <a:extLst>
              <a:ext uri="{FF2B5EF4-FFF2-40B4-BE49-F238E27FC236}">
                <a16:creationId xmlns:a16="http://schemas.microsoft.com/office/drawing/2014/main" id="{C2096D07-D9EE-B102-DD45-FA3E51F58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58169"/>
            <a:ext cx="7620000" cy="4286250"/>
          </a:xfrm>
        </p:spPr>
      </p:pic>
    </p:spTree>
    <p:extLst>
      <p:ext uri="{BB962C8B-B14F-4D97-AF65-F5344CB8AC3E}">
        <p14:creationId xmlns:p14="http://schemas.microsoft.com/office/powerpoint/2010/main" val="1477566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442B-7B6E-8567-9A81-7753B044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575A-3E23-EA95-029D-07F61C04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Combating Recessions: 2001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37E68-6693-DE35-0CE2-43CB3E3A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CAC6A-DA40-1B32-AE20-3E54D51F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3600-146A-9270-5160-411154D2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  <p:pic>
        <p:nvPicPr>
          <p:cNvPr id="9" name="Content Placeholder 8" descr="A graph showing the growth of the company's revenue&#10;&#10;Description automatically generated">
            <a:extLst>
              <a:ext uri="{FF2B5EF4-FFF2-40B4-BE49-F238E27FC236}">
                <a16:creationId xmlns:a16="http://schemas.microsoft.com/office/drawing/2014/main" id="{19A585CF-D417-8AD4-7487-AF8689DDE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58169"/>
            <a:ext cx="7620000" cy="4286250"/>
          </a:xfrm>
        </p:spPr>
      </p:pic>
    </p:spTree>
    <p:extLst>
      <p:ext uri="{BB962C8B-B14F-4D97-AF65-F5344CB8AC3E}">
        <p14:creationId xmlns:p14="http://schemas.microsoft.com/office/powerpoint/2010/main" val="28860110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8C339-0EF6-36D6-DCC4-3464A7FA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CEBA-A61E-21F5-A8EB-53B3F0D7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Combating Recessions: 2001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BFCC1-2B4C-0CA6-3012-77395FD3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4CFFB-4BFB-1E2B-8ACA-3253C415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B2B09-BBD8-31A8-A9C1-70BADFBA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  <p:pic>
        <p:nvPicPr>
          <p:cNvPr id="9" name="Content Placeholder 8" descr="A graph showing the growth of tax receipts&#10;&#10;Description automatically generated">
            <a:extLst>
              <a:ext uri="{FF2B5EF4-FFF2-40B4-BE49-F238E27FC236}">
                <a16:creationId xmlns:a16="http://schemas.microsoft.com/office/drawing/2014/main" id="{9CB2C0CB-534E-5315-27EE-BFDADFB9B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58169"/>
            <a:ext cx="7620000" cy="4286250"/>
          </a:xfrm>
        </p:spPr>
      </p:pic>
    </p:spTree>
    <p:extLst>
      <p:ext uri="{BB962C8B-B14F-4D97-AF65-F5344CB8AC3E}">
        <p14:creationId xmlns:p14="http://schemas.microsoft.com/office/powerpoint/2010/main" val="37191415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1df7a61-04fc-4d20-92ae-a88dbe8a2b5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4ff9c9b-16d9-4cdb-822f-d5aef3e2c75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22760c8-3c80-4bec-8829-08c174d750e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5ce6c83-04a7-4319-90e1-61450a96986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10696</TotalTime>
  <Words>2233</Words>
  <Application>Microsoft Office PowerPoint</Application>
  <PresentationFormat>On-screen Show (4:3)</PresentationFormat>
  <Paragraphs>392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 Math</vt:lpstr>
      <vt:lpstr>Franklin Gothic Book</vt:lpstr>
      <vt:lpstr>Office Theme</vt:lpstr>
      <vt:lpstr>The Short Run: Goods and Financial Markets</vt:lpstr>
      <vt:lpstr>https://pollev.com/brianpark046</vt:lpstr>
      <vt:lpstr>Expanding the Goods Market</vt:lpstr>
      <vt:lpstr>Expanding the Goods Market</vt:lpstr>
      <vt:lpstr>Expanding the Goods Market</vt:lpstr>
      <vt:lpstr>Expanding the Goods Market</vt:lpstr>
      <vt:lpstr>PowerPoint Presentation</vt:lpstr>
      <vt:lpstr>PowerPoint Presentation</vt:lpstr>
      <vt:lpstr>Expanding the Goods Market</vt:lpstr>
      <vt:lpstr>Deriving the IS Curve</vt:lpstr>
      <vt:lpstr>Deriving the IS Curve</vt:lpstr>
      <vt:lpstr>Shifts of the IS Curve</vt:lpstr>
      <vt:lpstr>PowerPoint Presentation</vt:lpstr>
      <vt:lpstr>PowerPoint Presentation</vt:lpstr>
      <vt:lpstr>Solution to In-Class Poll</vt:lpstr>
      <vt:lpstr>Deriving the LM Curve</vt:lpstr>
      <vt:lpstr>Deriving the LM Curve</vt:lpstr>
      <vt:lpstr>Deriving the LM Curve</vt:lpstr>
      <vt:lpstr>Shifts of the LM Curve</vt:lpstr>
      <vt:lpstr>The IS-LM Framework</vt:lpstr>
      <vt:lpstr>The IS-LM Framework</vt:lpstr>
      <vt:lpstr>Why does this Matter?</vt:lpstr>
      <vt:lpstr>The Impact of  Contractionary Monetary Policy</vt:lpstr>
      <vt:lpstr>The Impact of  Contractionary Monetary Policy</vt:lpstr>
      <vt:lpstr>The Impact of  Expansionary Fiscal Policy</vt:lpstr>
      <vt:lpstr>The Impact of  Expansionary Fiscal Policy</vt:lpstr>
      <vt:lpstr>Fiscal and Monetary Policy Mix</vt:lpstr>
      <vt:lpstr>The Impact of Expansionary Fiscal and Expansionary Monetary Policy</vt:lpstr>
      <vt:lpstr>Combating Recessions: 2001</vt:lpstr>
      <vt:lpstr>Combating Recessions: 2001</vt:lpstr>
      <vt:lpstr>Combating Recessions: 2001</vt:lpstr>
      <vt:lpstr>Combating Recessions: 2001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166</cp:revision>
  <dcterms:created xsi:type="dcterms:W3CDTF">2023-08-17T23:00:51Z</dcterms:created>
  <dcterms:modified xsi:type="dcterms:W3CDTF">2024-02-14T04:25:48Z</dcterms:modified>
</cp:coreProperties>
</file>