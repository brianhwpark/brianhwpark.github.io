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39"/>
  </p:notesMasterIdLst>
  <p:sldIdLst>
    <p:sldId id="256" r:id="rId2"/>
    <p:sldId id="329" r:id="rId3"/>
    <p:sldId id="259" r:id="rId4"/>
    <p:sldId id="258" r:id="rId5"/>
    <p:sldId id="261" r:id="rId6"/>
    <p:sldId id="260" r:id="rId7"/>
    <p:sldId id="390" r:id="rId8"/>
    <p:sldId id="392" r:id="rId9"/>
    <p:sldId id="357" r:id="rId10"/>
    <p:sldId id="358" r:id="rId11"/>
    <p:sldId id="359" r:id="rId12"/>
    <p:sldId id="360" r:id="rId13"/>
    <p:sldId id="361" r:id="rId14"/>
    <p:sldId id="362" r:id="rId15"/>
    <p:sldId id="367" r:id="rId16"/>
    <p:sldId id="368" r:id="rId17"/>
    <p:sldId id="369" r:id="rId18"/>
    <p:sldId id="366" r:id="rId19"/>
    <p:sldId id="370" r:id="rId20"/>
    <p:sldId id="371" r:id="rId21"/>
    <p:sldId id="372" r:id="rId22"/>
    <p:sldId id="373" r:id="rId23"/>
    <p:sldId id="374" r:id="rId24"/>
    <p:sldId id="375" r:id="rId25"/>
    <p:sldId id="376" r:id="rId26"/>
    <p:sldId id="377" r:id="rId27"/>
    <p:sldId id="378" r:id="rId28"/>
    <p:sldId id="379" r:id="rId29"/>
    <p:sldId id="393" r:id="rId30"/>
    <p:sldId id="395" r:id="rId31"/>
    <p:sldId id="380" r:id="rId32"/>
    <p:sldId id="384" r:id="rId33"/>
    <p:sldId id="385" r:id="rId34"/>
    <p:sldId id="396" r:id="rId35"/>
    <p:sldId id="398" r:id="rId36"/>
    <p:sldId id="389" r:id="rId37"/>
    <p:sldId id="399"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FF0000"/>
    <a:srgbClr val="9C5BCD"/>
    <a:srgbClr val="E05F65"/>
    <a:srgbClr val="FF7C80"/>
    <a:srgbClr val="CC0000"/>
    <a:srgbClr val="D4282F"/>
    <a:srgbClr val="F5CF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84" autoAdjust="0"/>
    <p:restoredTop sz="92978" autoAdjust="0"/>
  </p:normalViewPr>
  <p:slideViewPr>
    <p:cSldViewPr snapToGrid="0">
      <p:cViewPr varScale="1">
        <p:scale>
          <a:sx n="103" d="100"/>
          <a:sy n="103" d="100"/>
        </p:scale>
        <p:origin x="128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0A6441-4E79-42FF-805B-86C90BDFD38D}" type="datetimeFigureOut">
              <a:rPr lang="en-US" smtClean="0"/>
              <a:t>4/16/2024</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A29054-221E-4755-818D-C35A08AFDBE7}" type="slidenum">
              <a:rPr lang="en-US" smtClean="0"/>
              <a:t>‹#›</a:t>
            </a:fld>
            <a:endParaRPr lang="en-US" dirty="0"/>
          </a:p>
        </p:txBody>
      </p:sp>
    </p:spTree>
    <p:extLst>
      <p:ext uri="{BB962C8B-B14F-4D97-AF65-F5344CB8AC3E}">
        <p14:creationId xmlns:p14="http://schemas.microsoft.com/office/powerpoint/2010/main" val="3342785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When domestic output increases, we should expect the trade deficit to...
https://www.polleverywhere.com/multiple_choice_polls/0D7GRekkE19ejrbsdmyOm?display_state=instructions&amp;activity_state=opened&amp;state=opened&amp;flow=Engagement&amp;onscreen=persist</a:t>
            </a:r>
          </a:p>
        </p:txBody>
      </p:sp>
      <p:sp>
        <p:nvSpPr>
          <p:cNvPr id="4" name="Slide Number Placeholder 3"/>
          <p:cNvSpPr>
            <a:spLocks noGrp="1"/>
          </p:cNvSpPr>
          <p:nvPr>
            <p:ph type="sldNum" sz="quarter" idx="5"/>
          </p:nvPr>
        </p:nvSpPr>
        <p:spPr/>
        <p:txBody>
          <a:bodyPr/>
          <a:lstStyle/>
          <a:p>
            <a:fld id="{64A29054-221E-4755-818D-C35A08AFDBE7}" type="slidenum">
              <a:rPr lang="en-US" smtClean="0"/>
              <a:t>7</a:t>
            </a:fld>
            <a:endParaRPr lang="en-US" dirty="0"/>
          </a:p>
        </p:txBody>
      </p:sp>
      <p:sp>
        <p:nvSpPr>
          <p:cNvPr id="5" name="TextBox 4">
            <a:extLst>
              <a:ext uri="{FF2B5EF4-FFF2-40B4-BE49-F238E27FC236}">
                <a16:creationId xmlns:a16="http://schemas.microsoft.com/office/drawing/2014/main" id="{D77EE781-5C1D-6672-083B-56B83CE95B8E}"/>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24034134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When domestic output increases, we should expect the trade deficit to...
https://www.polleverywhere.com/multiple_choice_polls/0D7GRekkE19ejrbsdmyOm?display_state=chart&amp;activity_state=closed&amp;state=closed&amp;flow=Engagement&amp;onscreen=persist</a:t>
            </a:r>
          </a:p>
        </p:txBody>
      </p:sp>
      <p:sp>
        <p:nvSpPr>
          <p:cNvPr id="4" name="Slide Number Placeholder 3"/>
          <p:cNvSpPr>
            <a:spLocks noGrp="1"/>
          </p:cNvSpPr>
          <p:nvPr>
            <p:ph type="sldNum" sz="quarter" idx="5"/>
          </p:nvPr>
        </p:nvSpPr>
        <p:spPr/>
        <p:txBody>
          <a:bodyPr/>
          <a:lstStyle/>
          <a:p>
            <a:fld id="{64A29054-221E-4755-818D-C35A08AFDBE7}" type="slidenum">
              <a:rPr lang="en-US" smtClean="0"/>
              <a:t>8</a:t>
            </a:fld>
            <a:endParaRPr lang="en-US" dirty="0"/>
          </a:p>
        </p:txBody>
      </p:sp>
      <p:sp>
        <p:nvSpPr>
          <p:cNvPr id="5" name="TextBox 4">
            <a:extLst>
              <a:ext uri="{FF2B5EF4-FFF2-40B4-BE49-F238E27FC236}">
                <a16:creationId xmlns:a16="http://schemas.microsoft.com/office/drawing/2014/main" id="{19F7ACC4-D76A-7A0F-747B-47A678025864}"/>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779459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An economy is at its medium-run equilibrium, but running a large trade deficit. How can the government reduce the trade deficit while keeping output at $$Y_n$$?
https://www.polleverywhere.com/multiple_choice_polls/5VJZC85jct271OoworQur?display_state=instructions&amp;activity_state=opened&amp;state=opened&amp;flow=Engagement&amp;onscreen=persist</a:t>
            </a:r>
          </a:p>
        </p:txBody>
      </p:sp>
      <p:sp>
        <p:nvSpPr>
          <p:cNvPr id="4" name="Slide Number Placeholder 3"/>
          <p:cNvSpPr>
            <a:spLocks noGrp="1"/>
          </p:cNvSpPr>
          <p:nvPr>
            <p:ph type="sldNum" sz="quarter" idx="5"/>
          </p:nvPr>
        </p:nvSpPr>
        <p:spPr/>
        <p:txBody>
          <a:bodyPr/>
          <a:lstStyle/>
          <a:p>
            <a:fld id="{64A29054-221E-4755-818D-C35A08AFDBE7}" type="slidenum">
              <a:rPr lang="en-US" smtClean="0"/>
              <a:t>29</a:t>
            </a:fld>
            <a:endParaRPr lang="en-US" dirty="0"/>
          </a:p>
        </p:txBody>
      </p:sp>
      <p:sp>
        <p:nvSpPr>
          <p:cNvPr id="5" name="TextBox 4">
            <a:extLst>
              <a:ext uri="{FF2B5EF4-FFF2-40B4-BE49-F238E27FC236}">
                <a16:creationId xmlns:a16="http://schemas.microsoft.com/office/drawing/2014/main" id="{9EBA731A-7CF5-AD6B-88AA-585D2696FBE5}"/>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3988617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An economy is at its medium-run equilibrium, but running a large trade deficit. How can the government reduce the trade deficit while keeping output at $$Y_n$$?
https://www.polleverywhere.com/multiple_choice_polls/5VJZC85jct271OoworQur?display_state=chart&amp;activity_state=closed&amp;state=closed&amp;flow=Engagement&amp;onscreen=persist</a:t>
            </a:r>
          </a:p>
        </p:txBody>
      </p:sp>
      <p:sp>
        <p:nvSpPr>
          <p:cNvPr id="4" name="Slide Number Placeholder 3"/>
          <p:cNvSpPr>
            <a:spLocks noGrp="1"/>
          </p:cNvSpPr>
          <p:nvPr>
            <p:ph type="sldNum" sz="quarter" idx="5"/>
          </p:nvPr>
        </p:nvSpPr>
        <p:spPr/>
        <p:txBody>
          <a:bodyPr/>
          <a:lstStyle/>
          <a:p>
            <a:fld id="{64A29054-221E-4755-818D-C35A08AFDBE7}" type="slidenum">
              <a:rPr lang="en-US" smtClean="0"/>
              <a:t>30</a:t>
            </a:fld>
            <a:endParaRPr lang="en-US" dirty="0"/>
          </a:p>
        </p:txBody>
      </p:sp>
      <p:sp>
        <p:nvSpPr>
          <p:cNvPr id="5" name="TextBox 4">
            <a:extLst>
              <a:ext uri="{FF2B5EF4-FFF2-40B4-BE49-F238E27FC236}">
                <a16:creationId xmlns:a16="http://schemas.microsoft.com/office/drawing/2014/main" id="{FEAB889A-33E6-B1E1-DC65-CE6676D7570C}"/>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2618241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What is the optimal approach to take when the economy is producing above its potential output and recording a trade surplus?
https://www.polleverywhere.com/multiple_choice_polls/slWDCZG94MAb7r3hLdkck?display_state=instructions&amp;activity_state=opened&amp;state=opened&amp;flow=Engagement&amp;onscreen=persist</a:t>
            </a:r>
          </a:p>
        </p:txBody>
      </p:sp>
      <p:sp>
        <p:nvSpPr>
          <p:cNvPr id="4" name="Slide Number Placeholder 3"/>
          <p:cNvSpPr>
            <a:spLocks noGrp="1"/>
          </p:cNvSpPr>
          <p:nvPr>
            <p:ph type="sldNum" sz="quarter" idx="5"/>
          </p:nvPr>
        </p:nvSpPr>
        <p:spPr/>
        <p:txBody>
          <a:bodyPr/>
          <a:lstStyle/>
          <a:p>
            <a:fld id="{64A29054-221E-4755-818D-C35A08AFDBE7}" type="slidenum">
              <a:rPr lang="en-US" smtClean="0"/>
              <a:t>34</a:t>
            </a:fld>
            <a:endParaRPr lang="en-US" dirty="0"/>
          </a:p>
        </p:txBody>
      </p:sp>
      <p:sp>
        <p:nvSpPr>
          <p:cNvPr id="5" name="TextBox 4">
            <a:extLst>
              <a:ext uri="{FF2B5EF4-FFF2-40B4-BE49-F238E27FC236}">
                <a16:creationId xmlns:a16="http://schemas.microsoft.com/office/drawing/2014/main" id="{DB7954D2-D824-55FA-4B11-E221962D981F}"/>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22377230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What is the optimal approach to take when the economy is producing above its potential output and recording a trade surplus?
https://www.polleverywhere.com/multiple_choice_polls/slWDCZG94MAb7r3hLdkck?display_state=chart&amp;activity_state=closed&amp;state=closed&amp;flow=Engagement&amp;onscreen=persist</a:t>
            </a:r>
          </a:p>
        </p:txBody>
      </p:sp>
      <p:sp>
        <p:nvSpPr>
          <p:cNvPr id="4" name="Slide Number Placeholder 3"/>
          <p:cNvSpPr>
            <a:spLocks noGrp="1"/>
          </p:cNvSpPr>
          <p:nvPr>
            <p:ph type="sldNum" sz="quarter" idx="5"/>
          </p:nvPr>
        </p:nvSpPr>
        <p:spPr/>
        <p:txBody>
          <a:bodyPr/>
          <a:lstStyle/>
          <a:p>
            <a:fld id="{64A29054-221E-4755-818D-C35A08AFDBE7}" type="slidenum">
              <a:rPr lang="en-US" smtClean="0"/>
              <a:t>35</a:t>
            </a:fld>
            <a:endParaRPr lang="en-US" dirty="0"/>
          </a:p>
        </p:txBody>
      </p:sp>
      <p:sp>
        <p:nvSpPr>
          <p:cNvPr id="5" name="TextBox 4">
            <a:extLst>
              <a:ext uri="{FF2B5EF4-FFF2-40B4-BE49-F238E27FC236}">
                <a16:creationId xmlns:a16="http://schemas.microsoft.com/office/drawing/2014/main" id="{B73E2768-07B6-2CDC-CA37-94395ACD3805}"/>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965586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normAutofit/>
          </a:bodyPr>
          <a:lstStyle>
            <a:lvl1pPr algn="ctr">
              <a:defRPr sz="4400">
                <a:solidFill>
                  <a:srgbClr val="C00000"/>
                </a:solidFill>
              </a:defRPr>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32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Spring 2024</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92;p13">
            <a:extLst>
              <a:ext uri="{FF2B5EF4-FFF2-40B4-BE49-F238E27FC236}">
                <a16:creationId xmlns:a16="http://schemas.microsoft.com/office/drawing/2014/main" id="{BF16982E-3E38-0665-4F07-437DD3F0D5A4}"/>
              </a:ext>
            </a:extLst>
          </p:cNvPr>
          <p:cNvPicPr preferRelativeResize="0"/>
          <p:nvPr/>
        </p:nvPicPr>
        <p:blipFill rotWithShape="1">
          <a:blip r:embed="rId2">
            <a:alphaModFix/>
          </a:blip>
          <a:srcRect/>
          <a:stretch/>
        </p:blipFill>
        <p:spPr>
          <a:xfrm>
            <a:off x="3634323" y="228601"/>
            <a:ext cx="1875353" cy="990599"/>
          </a:xfrm>
          <a:prstGeom prst="rect">
            <a:avLst/>
          </a:prstGeom>
          <a:noFill/>
          <a:ln>
            <a:noFill/>
          </a:ln>
        </p:spPr>
      </p:pic>
    </p:spTree>
    <p:extLst>
      <p:ext uri="{BB962C8B-B14F-4D97-AF65-F5344CB8AC3E}">
        <p14:creationId xmlns:p14="http://schemas.microsoft.com/office/powerpoint/2010/main" val="813549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Spring 2024</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859BA894-242B-5A6C-EFD3-428444AAFEC4}"/>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4197355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normAutofit/>
          </a:bodyPr>
          <a:lstStyle>
            <a:lvl1pPr>
              <a:defRPr sz="4400">
                <a:solidFill>
                  <a:srgbClr val="C00000"/>
                </a:solidFill>
              </a:defRPr>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normAutofit/>
          </a:bodyPr>
          <a:lstStyle>
            <a:lvl1pPr marL="0" indent="0" algn="ctr">
              <a:buNone/>
              <a:defRPr sz="32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Spring 2024</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92;p13">
            <a:extLst>
              <a:ext uri="{FF2B5EF4-FFF2-40B4-BE49-F238E27FC236}">
                <a16:creationId xmlns:a16="http://schemas.microsoft.com/office/drawing/2014/main" id="{A5DC9873-6BF3-A825-551C-17B7FBCA97F5}"/>
              </a:ext>
            </a:extLst>
          </p:cNvPr>
          <p:cNvPicPr preferRelativeResize="0"/>
          <p:nvPr/>
        </p:nvPicPr>
        <p:blipFill rotWithShape="1">
          <a:blip r:embed="rId2">
            <a:alphaModFix/>
          </a:blip>
          <a:srcRect/>
          <a:stretch/>
        </p:blipFill>
        <p:spPr>
          <a:xfrm>
            <a:off x="3634323" y="228601"/>
            <a:ext cx="1875353" cy="990599"/>
          </a:xfrm>
          <a:prstGeom prst="rect">
            <a:avLst/>
          </a:prstGeom>
          <a:noFill/>
          <a:ln>
            <a:noFill/>
          </a:ln>
        </p:spPr>
      </p:pic>
    </p:spTree>
    <p:extLst>
      <p:ext uri="{BB962C8B-B14F-4D97-AF65-F5344CB8AC3E}">
        <p14:creationId xmlns:p14="http://schemas.microsoft.com/office/powerpoint/2010/main" val="3150585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dirty="0"/>
              <a:t>Spring 2024</a:t>
            </a:r>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F820AB4E-4F46-3C81-9BD0-65A4D2A2DBEC}"/>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199459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r>
              <a:rPr lang="en-US" dirty="0"/>
              <a:t>Spring 2024</a:t>
            </a:r>
          </a:p>
        </p:txBody>
      </p:sp>
      <p:sp>
        <p:nvSpPr>
          <p:cNvPr id="8" name="Footer Placeholder 7"/>
          <p:cNvSpPr>
            <a:spLocks noGrp="1"/>
          </p:cNvSpPr>
          <p:nvPr>
            <p:ph type="ftr" sz="quarter" idx="11"/>
          </p:nvPr>
        </p:nvSpPr>
        <p:spPr/>
        <p:txBody>
          <a:bodyPr/>
          <a:lstStyle/>
          <a:p>
            <a:r>
              <a:rPr lang="en-US" dirty="0"/>
              <a:t>DEPARTMENT OF BUSINESS &amp; ECONOMICS</a:t>
            </a: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10" name="Google Shape;101;p14">
            <a:extLst>
              <a:ext uri="{FF2B5EF4-FFF2-40B4-BE49-F238E27FC236}">
                <a16:creationId xmlns:a16="http://schemas.microsoft.com/office/drawing/2014/main" id="{C854E680-04A2-EA76-C6A6-8EF6A2AD0BB9}"/>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514257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r>
              <a:rPr lang="en-US" dirty="0"/>
              <a:t>Spring 2024</a:t>
            </a:r>
          </a:p>
        </p:txBody>
      </p:sp>
      <p:sp>
        <p:nvSpPr>
          <p:cNvPr id="4" name="Footer Placeholder 3"/>
          <p:cNvSpPr>
            <a:spLocks noGrp="1"/>
          </p:cNvSpPr>
          <p:nvPr>
            <p:ph type="ftr" sz="quarter" idx="11"/>
          </p:nvPr>
        </p:nvSpPr>
        <p:spPr/>
        <p:txBody>
          <a:bodyPr/>
          <a:lstStyle/>
          <a:p>
            <a:r>
              <a:rPr lang="en-US" dirty="0"/>
              <a:t>DEPARTMENT OF BUSINESS &amp; ECONOMICS</a:t>
            </a: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6" name="Google Shape;101;p14">
            <a:extLst>
              <a:ext uri="{FF2B5EF4-FFF2-40B4-BE49-F238E27FC236}">
                <a16:creationId xmlns:a16="http://schemas.microsoft.com/office/drawing/2014/main" id="{0E4BED26-AE3D-9FD7-372D-89389F761105}"/>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1551955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r>
              <a:rPr lang="en-US" dirty="0"/>
              <a:t>Spring 2024</a:t>
            </a:r>
          </a:p>
        </p:txBody>
      </p:sp>
      <p:sp>
        <p:nvSpPr>
          <p:cNvPr id="3" name="Footer Placeholder 2"/>
          <p:cNvSpPr>
            <a:spLocks noGrp="1"/>
          </p:cNvSpPr>
          <p:nvPr>
            <p:ph type="ftr" sz="quarter" idx="11"/>
          </p:nvPr>
        </p:nvSpPr>
        <p:spPr/>
        <p:txBody>
          <a:bodyPr/>
          <a:lstStyle/>
          <a:p>
            <a:r>
              <a:rPr lang="en-US" dirty="0"/>
              <a:t>DEPARTMENT OF BUSINESS &amp; ECONOMICS</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5" name="Google Shape;101;p14">
            <a:extLst>
              <a:ext uri="{FF2B5EF4-FFF2-40B4-BE49-F238E27FC236}">
                <a16:creationId xmlns:a16="http://schemas.microsoft.com/office/drawing/2014/main" id="{63FB725D-7839-2629-E2FD-4289B983E673}"/>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374983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dirty="0"/>
              <a:t>Spring 2024</a:t>
            </a:r>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ADE22408-2DD9-F1EF-2438-A0546996FB22}"/>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2633184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dirty="0"/>
              <a:t>Spring 2024</a:t>
            </a:r>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19CEB84E-A1D1-9AFA-DEC7-31056DF6BFAD}"/>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2351165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Spring 2024</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1F852EF2-DB2E-EDA3-947F-AD7E6C19EBD8}"/>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3938102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Spring 2024</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297A800C-E47B-35AC-0EA8-24F3738049A6}"/>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902633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300" b="1">
                <a:solidFill>
                  <a:schemeClr val="tx1"/>
                </a:solidFill>
                <a:latin typeface="Franklin Gothic Book" panose="020B0503020102020204" pitchFamily="34" charset="0"/>
                <a:cs typeface="Forte Forward" panose="020F0502020204030204" pitchFamily="2" charset="0"/>
              </a:defRPr>
            </a:lvl1pPr>
          </a:lstStyle>
          <a:p>
            <a:r>
              <a:rPr lang="en-US" dirty="0"/>
              <a:t>Spring 2024</a:t>
            </a:r>
          </a:p>
        </p:txBody>
      </p:sp>
      <p:sp>
        <p:nvSpPr>
          <p:cNvPr id="5" name="Footer Placeholder 4"/>
          <p:cNvSpPr>
            <a:spLocks noGrp="1"/>
          </p:cNvSpPr>
          <p:nvPr>
            <p:ph type="ftr" sz="quarter" idx="3"/>
          </p:nvPr>
        </p:nvSpPr>
        <p:spPr>
          <a:xfrm>
            <a:off x="1690777" y="6356351"/>
            <a:ext cx="5762446" cy="365125"/>
          </a:xfrm>
          <a:prstGeom prst="rect">
            <a:avLst/>
          </a:prstGeom>
        </p:spPr>
        <p:txBody>
          <a:bodyPr vert="horz" lIns="91440" tIns="45720" rIns="91440" bIns="45720" rtlCol="0" anchor="ctr"/>
          <a:lstStyle>
            <a:lvl1pPr algn="ctr">
              <a:defRPr sz="1300" b="1">
                <a:solidFill>
                  <a:schemeClr val="tx1"/>
                </a:solidFill>
                <a:latin typeface="Franklin Gothic Book" panose="020B0503020102020204" pitchFamily="34" charset="0"/>
              </a:defRPr>
            </a:lvl1pPr>
          </a:lstStyle>
          <a:p>
            <a:r>
              <a:rPr lang="en-US" dirty="0"/>
              <a:t>DEPARTMENT OF BUSINESS &amp; ECONOMICS</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300" b="1">
                <a:solidFill>
                  <a:schemeClr val="tx1"/>
                </a:solidFill>
                <a:latin typeface="Franklin Gothic Book" panose="020B0503020102020204" pitchFamily="34" charset="0"/>
              </a:defRPr>
            </a:lvl1pPr>
          </a:lstStyle>
          <a:p>
            <a:fld id="{1A980C56-831A-4EAB-9EDE-57C090F4F877}" type="slidenum">
              <a:rPr lang="en-US" smtClean="0"/>
              <a:t>‹#›</a:t>
            </a:fld>
            <a:endParaRPr lang="en-US" dirty="0"/>
          </a:p>
        </p:txBody>
      </p:sp>
      <p:pic>
        <p:nvPicPr>
          <p:cNvPr id="7" name="Google Shape;91;p13">
            <a:extLst>
              <a:ext uri="{FF2B5EF4-FFF2-40B4-BE49-F238E27FC236}">
                <a16:creationId xmlns:a16="http://schemas.microsoft.com/office/drawing/2014/main" id="{9C136CE5-665B-2FA1-3A31-86C4E8EC1DBB}"/>
              </a:ext>
            </a:extLst>
          </p:cNvPr>
          <p:cNvPicPr preferRelativeResize="0"/>
          <p:nvPr/>
        </p:nvPicPr>
        <p:blipFill rotWithShape="1">
          <a:blip r:embed="rId13">
            <a:alphaModFix/>
          </a:blip>
          <a:srcRect/>
          <a:stretch/>
        </p:blipFill>
        <p:spPr>
          <a:xfrm>
            <a:off x="0" y="0"/>
            <a:ext cx="9144000" cy="423060"/>
          </a:xfrm>
          <a:prstGeom prst="rect">
            <a:avLst/>
          </a:prstGeom>
          <a:noFill/>
          <a:ln>
            <a:noFill/>
          </a:ln>
        </p:spPr>
      </p:pic>
    </p:spTree>
    <p:extLst>
      <p:ext uri="{BB962C8B-B14F-4D97-AF65-F5344CB8AC3E}">
        <p14:creationId xmlns:p14="http://schemas.microsoft.com/office/powerpoint/2010/main" val="382595532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p:txStyles>
    <p:titleStyle>
      <a:lvl1pPr algn="ctr" defTabSz="914400" rtl="0" eaLnBrk="1" latinLnBrk="0" hangingPunct="1">
        <a:lnSpc>
          <a:spcPct val="90000"/>
        </a:lnSpc>
        <a:spcBef>
          <a:spcPct val="0"/>
        </a:spcBef>
        <a:buNone/>
        <a:defRPr sz="3600" b="1" kern="1200">
          <a:solidFill>
            <a:schemeClr val="tx1"/>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17.png"/><Relationship Id="rId2"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3.png"/><Relationship Id="rId7" Type="http://schemas.openxmlformats.org/officeDocument/2006/relationships/image" Target="../media/image29.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4.png"/><Relationship Id="rId9"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4.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1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40.png"/><Relationship Id="rId1" Type="http://schemas.openxmlformats.org/officeDocument/2006/relationships/slideLayout" Target="../slideLayouts/slideLayout4.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18.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7.png"/><Relationship Id="rId3" Type="http://schemas.openxmlformats.org/officeDocument/2006/relationships/image" Target="../media/image23.png"/><Relationship Id="rId7" Type="http://schemas.openxmlformats.org/officeDocument/2006/relationships/image" Target="../media/image42.png"/><Relationship Id="rId12" Type="http://schemas.openxmlformats.org/officeDocument/2006/relationships/image" Target="../media/image46.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45.png"/><Relationship Id="rId5" Type="http://schemas.openxmlformats.org/officeDocument/2006/relationships/image" Target="../media/image41.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5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4.xml"/><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5.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5.xml"/><Relationship Id="rId4" Type="http://schemas.openxmlformats.org/officeDocument/2006/relationships/image" Target="../media/image67.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6.xml"/><Relationship Id="rId4" Type="http://schemas.openxmlformats.org/officeDocument/2006/relationships/image" Target="../media/image68.png"/></Relationships>
</file>

<file path=ppt/slides/_rels/slide3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981AA-C880-955A-8ACC-D4284C4A7939}"/>
              </a:ext>
            </a:extLst>
          </p:cNvPr>
          <p:cNvSpPr>
            <a:spLocks noGrp="1"/>
          </p:cNvSpPr>
          <p:nvPr>
            <p:ph type="ctrTitle"/>
          </p:nvPr>
        </p:nvSpPr>
        <p:spPr>
          <a:xfrm>
            <a:off x="517585" y="1122363"/>
            <a:ext cx="8108830" cy="2387600"/>
          </a:xfrm>
        </p:spPr>
        <p:txBody>
          <a:bodyPr>
            <a:normAutofit/>
          </a:bodyPr>
          <a:lstStyle/>
          <a:p>
            <a:r>
              <a:rPr lang="en-US" sz="4200" dirty="0"/>
              <a:t>The Open Economy:</a:t>
            </a:r>
            <a:br>
              <a:rPr lang="en-US" sz="4200" dirty="0"/>
            </a:br>
            <a:r>
              <a:rPr lang="en-US" sz="4200" dirty="0"/>
              <a:t>The Goods Market</a:t>
            </a:r>
          </a:p>
        </p:txBody>
      </p:sp>
      <p:sp>
        <p:nvSpPr>
          <p:cNvPr id="3" name="Subtitle 2">
            <a:extLst>
              <a:ext uri="{FF2B5EF4-FFF2-40B4-BE49-F238E27FC236}">
                <a16:creationId xmlns:a16="http://schemas.microsoft.com/office/drawing/2014/main" id="{57868834-9371-0482-209B-C2EBDB2D93F1}"/>
              </a:ext>
            </a:extLst>
          </p:cNvPr>
          <p:cNvSpPr>
            <a:spLocks noGrp="1"/>
          </p:cNvSpPr>
          <p:nvPr>
            <p:ph type="subTitle" idx="1"/>
          </p:nvPr>
        </p:nvSpPr>
        <p:spPr/>
        <p:txBody>
          <a:bodyPr>
            <a:normAutofit/>
          </a:bodyPr>
          <a:lstStyle/>
          <a:p>
            <a:r>
              <a:rPr lang="en-US" sz="3200" dirty="0"/>
              <a:t>ECON 301</a:t>
            </a:r>
          </a:p>
        </p:txBody>
      </p:sp>
      <p:sp>
        <p:nvSpPr>
          <p:cNvPr id="4" name="Date Placeholder 3">
            <a:extLst>
              <a:ext uri="{FF2B5EF4-FFF2-40B4-BE49-F238E27FC236}">
                <a16:creationId xmlns:a16="http://schemas.microsoft.com/office/drawing/2014/main" id="{C343A60A-CBE6-B5CE-B9CE-C7DC9386921B}"/>
              </a:ext>
            </a:extLst>
          </p:cNvPr>
          <p:cNvSpPr>
            <a:spLocks noGrp="1"/>
          </p:cNvSpPr>
          <p:nvPr>
            <p:ph type="dt" sz="half" idx="10"/>
          </p:nvPr>
        </p:nvSpPr>
        <p:spPr/>
        <p:txBody>
          <a:bodyPr/>
          <a:lstStyle/>
          <a:p>
            <a:r>
              <a:rPr lang="en-US" dirty="0"/>
              <a:t>Spring 2024</a:t>
            </a:r>
          </a:p>
        </p:txBody>
      </p:sp>
      <p:sp>
        <p:nvSpPr>
          <p:cNvPr id="5" name="Footer Placeholder 4">
            <a:extLst>
              <a:ext uri="{FF2B5EF4-FFF2-40B4-BE49-F238E27FC236}">
                <a16:creationId xmlns:a16="http://schemas.microsoft.com/office/drawing/2014/main" id="{1EDF44A7-8470-0B18-F1D2-F47845ECB758}"/>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86BCC6C-06D2-CC1B-BC1A-B87124A36DE8}"/>
              </a:ext>
            </a:extLst>
          </p:cNvPr>
          <p:cNvSpPr>
            <a:spLocks noGrp="1"/>
          </p:cNvSpPr>
          <p:nvPr>
            <p:ph type="sldNum" sz="quarter" idx="12"/>
          </p:nvPr>
        </p:nvSpPr>
        <p:spPr/>
        <p:txBody>
          <a:bodyPr/>
          <a:lstStyle/>
          <a:p>
            <a:fld id="{1A980C56-831A-4EAB-9EDE-57C090F4F877}" type="slidenum">
              <a:rPr lang="en-US" smtClean="0"/>
              <a:t>1</a:t>
            </a:fld>
            <a:endParaRPr lang="en-US" dirty="0"/>
          </a:p>
        </p:txBody>
      </p:sp>
    </p:spTree>
    <p:extLst>
      <p:ext uri="{BB962C8B-B14F-4D97-AF65-F5344CB8AC3E}">
        <p14:creationId xmlns:p14="http://schemas.microsoft.com/office/powerpoint/2010/main" val="2505806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B09A4-5BC9-4EA8-C267-D3B26A49D07E}"/>
              </a:ext>
            </a:extLst>
          </p:cNvPr>
          <p:cNvSpPr>
            <a:spLocks noGrp="1"/>
          </p:cNvSpPr>
          <p:nvPr>
            <p:ph type="title"/>
          </p:nvPr>
        </p:nvSpPr>
        <p:spPr/>
        <p:txBody>
          <a:bodyPr/>
          <a:lstStyle/>
          <a:p>
            <a:pPr marL="0" indent="0" algn="ctr">
              <a:buNone/>
            </a:pPr>
            <a:r>
              <a:rPr lang="en-US" dirty="0"/>
              <a:t>https://pollev.com/brianpark046</a:t>
            </a:r>
          </a:p>
        </p:txBody>
      </p:sp>
      <p:sp>
        <p:nvSpPr>
          <p:cNvPr id="4" name="Date Placeholder 3">
            <a:extLst>
              <a:ext uri="{FF2B5EF4-FFF2-40B4-BE49-F238E27FC236}">
                <a16:creationId xmlns:a16="http://schemas.microsoft.com/office/drawing/2014/main" id="{CE725A02-EA7A-7321-8B8B-168BF05EA587}"/>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024C4429-8EF0-A6CF-DF65-1DD6365F71D2}"/>
              </a:ext>
            </a:extLst>
          </p:cNvPr>
          <p:cNvSpPr>
            <a:spLocks noGrp="1"/>
          </p:cNvSpPr>
          <p:nvPr>
            <p:ph type="ftr" sz="quarter" idx="11"/>
          </p:nvPr>
        </p:nvSpPr>
        <p:spPr/>
        <p:txBody>
          <a:bodyPr/>
          <a:lstStyle/>
          <a:p>
            <a:r>
              <a:rPr lang="en-US"/>
              <a:t>DEPARTMENT OF BUSINESS &amp; ECONOMICS</a:t>
            </a:r>
          </a:p>
        </p:txBody>
      </p:sp>
      <p:sp>
        <p:nvSpPr>
          <p:cNvPr id="6" name="Slide Number Placeholder 5">
            <a:extLst>
              <a:ext uri="{FF2B5EF4-FFF2-40B4-BE49-F238E27FC236}">
                <a16:creationId xmlns:a16="http://schemas.microsoft.com/office/drawing/2014/main" id="{E35CE67F-4580-2DF1-52D2-80C99C5F60C8}"/>
              </a:ext>
            </a:extLst>
          </p:cNvPr>
          <p:cNvSpPr>
            <a:spLocks noGrp="1"/>
          </p:cNvSpPr>
          <p:nvPr>
            <p:ph type="sldNum" sz="quarter" idx="12"/>
          </p:nvPr>
        </p:nvSpPr>
        <p:spPr/>
        <p:txBody>
          <a:bodyPr/>
          <a:lstStyle/>
          <a:p>
            <a:fld id="{1A980C56-831A-4EAB-9EDE-57C090F4F877}" type="slidenum">
              <a:rPr lang="en-US" smtClean="0"/>
              <a:t>2</a:t>
            </a:fld>
            <a:endParaRPr lang="en-US"/>
          </a:p>
        </p:txBody>
      </p:sp>
      <p:pic>
        <p:nvPicPr>
          <p:cNvPr id="8" name="Picture 7" descr="A qr code on a white background&#10;&#10;Description automatically generated">
            <a:extLst>
              <a:ext uri="{FF2B5EF4-FFF2-40B4-BE49-F238E27FC236}">
                <a16:creationId xmlns:a16="http://schemas.microsoft.com/office/drawing/2014/main" id="{2623E16C-1165-FEA6-D775-025B907AAFC0}"/>
              </a:ext>
            </a:extLst>
          </p:cNvPr>
          <p:cNvPicPr>
            <a:picLocks noChangeAspect="1"/>
          </p:cNvPicPr>
          <p:nvPr/>
        </p:nvPicPr>
        <p:blipFill rotWithShape="1">
          <a:blip r:embed="rId2">
            <a:extLst>
              <a:ext uri="{28A0092B-C50C-407E-A947-70E740481C1C}">
                <a14:useLocalDpi xmlns:a14="http://schemas.microsoft.com/office/drawing/2010/main" val="0"/>
              </a:ext>
            </a:extLst>
          </a:blip>
          <a:srcRect l="7351" t="7618" r="7351" b="7660"/>
          <a:stretch/>
        </p:blipFill>
        <p:spPr>
          <a:xfrm>
            <a:off x="2088573" y="1339928"/>
            <a:ext cx="4966854" cy="4933296"/>
          </a:xfrm>
          <a:prstGeom prst="rect">
            <a:avLst/>
          </a:prstGeom>
        </p:spPr>
      </p:pic>
    </p:spTree>
    <p:extLst>
      <p:ext uri="{BB962C8B-B14F-4D97-AF65-F5344CB8AC3E}">
        <p14:creationId xmlns:p14="http://schemas.microsoft.com/office/powerpoint/2010/main" val="1465233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The Goods Market &amp; IS Relation</a:t>
            </a:r>
            <a:br>
              <a:rPr lang="en-US" dirty="0"/>
            </a:br>
            <a:r>
              <a:rPr lang="en-US" dirty="0"/>
              <a:t>in an Open Economy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6BE3FD-D149-E947-1228-E11B36CD05B2}"/>
                  </a:ext>
                </a:extLst>
              </p:cNvPr>
              <p:cNvSpPr>
                <a:spLocks noGrp="1"/>
              </p:cNvSpPr>
              <p:nvPr>
                <p:ph idx="1"/>
              </p:nvPr>
            </p:nvSpPr>
            <p:spPr/>
            <p:txBody>
              <a:bodyPr/>
              <a:lstStyle/>
              <a:p>
                <a:r>
                  <a:rPr lang="en-US" dirty="0"/>
                  <a:t>The </a:t>
                </a:r>
                <a:r>
                  <a:rPr lang="en-US" b="1" dirty="0"/>
                  <a:t>demand for domestic goods</a:t>
                </a:r>
                <a:r>
                  <a:rPr lang="en-US" dirty="0"/>
                  <a:t> is expressed as:</a:t>
                </a:r>
              </a:p>
              <a:p>
                <a:endParaRPr lang="en-US" sz="5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r>
                        <a:rPr lang="en-US" b="0" i="1" smtClean="0">
                          <a:latin typeface="Cambria Math" panose="02040503050406030204" pitchFamily="18" charset="0"/>
                        </a:rPr>
                        <m:t>𝐺</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𝐼𝑀</m:t>
                          </m:r>
                        </m:num>
                        <m:den>
                          <m:r>
                            <a:rPr lang="en-US" b="0" i="1" smtClean="0">
                              <a:latin typeface="Cambria Math" panose="02040503050406030204" pitchFamily="18" charset="0"/>
                            </a:rPr>
                            <m:t>𝜀</m:t>
                          </m:r>
                        </m:den>
                      </m:f>
                      <m:r>
                        <a:rPr lang="en-US" b="0" i="1" smtClean="0">
                          <a:latin typeface="Cambria Math" panose="02040503050406030204" pitchFamily="18" charset="0"/>
                        </a:rPr>
                        <m:t>+</m:t>
                      </m:r>
                      <m:r>
                        <a:rPr lang="en-US" b="0" i="1" smtClean="0">
                          <a:latin typeface="Cambria Math" panose="02040503050406030204" pitchFamily="18" charset="0"/>
                        </a:rPr>
                        <m:t>𝑋</m:t>
                      </m:r>
                    </m:oMath>
                  </m:oMathPara>
                </a14:m>
                <a:endParaRPr lang="en-US" dirty="0"/>
              </a:p>
              <a:p>
                <a:pPr lvl="3"/>
                <a:endParaRPr lang="en-US" sz="500" dirty="0"/>
              </a:p>
              <a:p>
                <a:pPr lvl="1"/>
                <a14:m>
                  <m:oMath xmlns:m="http://schemas.openxmlformats.org/officeDocument/2006/math">
                    <m:r>
                      <a:rPr lang="en-US" i="1" dirty="0" smtClean="0">
                        <a:latin typeface="Cambria Math" panose="02040503050406030204" pitchFamily="18" charset="0"/>
                      </a:rPr>
                      <m:t>𝐶</m:t>
                    </m:r>
                    <m:r>
                      <a:rPr lang="en-US" i="1" dirty="0" smtClean="0">
                        <a:latin typeface="Cambria Math" panose="02040503050406030204" pitchFamily="18" charset="0"/>
                      </a:rPr>
                      <m:t>+</m:t>
                    </m:r>
                    <m:r>
                      <a:rPr lang="en-US" i="1" dirty="0" smtClean="0">
                        <a:latin typeface="Cambria Math" panose="02040503050406030204" pitchFamily="18" charset="0"/>
                      </a:rPr>
                      <m:t>𝐼</m:t>
                    </m:r>
                    <m:r>
                      <a:rPr lang="en-US" i="1" dirty="0" smtClean="0">
                        <a:latin typeface="Cambria Math" panose="02040503050406030204" pitchFamily="18" charset="0"/>
                      </a:rPr>
                      <m:t>+</m:t>
                    </m:r>
                    <m:r>
                      <a:rPr lang="en-US" i="1" dirty="0" smtClean="0">
                        <a:latin typeface="Cambria Math" panose="02040503050406030204" pitchFamily="18" charset="0"/>
                      </a:rPr>
                      <m:t>𝐺</m:t>
                    </m:r>
                  </m:oMath>
                </a14:m>
                <a:r>
                  <a:rPr lang="en-US" dirty="0"/>
                  <a:t>, is the domestic demand for goods.</a:t>
                </a:r>
              </a:p>
              <a:p>
                <a:pPr lvl="1"/>
                <a:endParaRPr lang="en-US" sz="500" dirty="0"/>
              </a:p>
              <a:p>
                <a:pPr lvl="1"/>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𝐼𝑀</m:t>
                        </m:r>
                      </m:num>
                      <m:den>
                        <m:r>
                          <a:rPr lang="en-US" b="0" i="1" smtClean="0">
                            <a:latin typeface="Cambria Math" panose="02040503050406030204" pitchFamily="18" charset="0"/>
                          </a:rPr>
                          <m:t>𝜀</m:t>
                        </m:r>
                      </m:den>
                    </m:f>
                  </m:oMath>
                </a14:m>
                <a:r>
                  <a:rPr lang="en-US" dirty="0"/>
                  <a:t> is the domestic demand for foreign goods.</a:t>
                </a:r>
              </a:p>
              <a:p>
                <a:pPr lvl="1"/>
                <a:endParaRPr lang="en-US" sz="500" dirty="0"/>
              </a:p>
              <a:p>
                <a:pPr lvl="1"/>
                <a14:m>
                  <m:oMath xmlns:m="http://schemas.openxmlformats.org/officeDocument/2006/math">
                    <m:r>
                      <a:rPr lang="en-US" b="0" i="1" smtClean="0">
                        <a:latin typeface="Cambria Math" panose="02040503050406030204" pitchFamily="18" charset="0"/>
                      </a:rPr>
                      <m:t>𝑋</m:t>
                    </m:r>
                  </m:oMath>
                </a14:m>
                <a:r>
                  <a:rPr lang="en-US" dirty="0"/>
                  <a:t> is the foreign demand for domestic goods.</a:t>
                </a:r>
              </a:p>
              <a:p>
                <a:pPr lvl="1"/>
                <a:endParaRPr lang="en-US" dirty="0"/>
              </a:p>
              <a:p>
                <a:r>
                  <a:rPr lang="en-US" dirty="0"/>
                  <a:t>When we leave out the rest of the world from the model, the demand for domestic goods was equal to domestic demand for goods.</a:t>
                </a:r>
              </a:p>
            </p:txBody>
          </p:sp>
        </mc:Choice>
        <mc:Fallback xmlns="">
          <p:sp>
            <p:nvSpPr>
              <p:cNvPr id="3" name="Content Placeholder 2">
                <a:extLst>
                  <a:ext uri="{FF2B5EF4-FFF2-40B4-BE49-F238E27FC236}">
                    <a16:creationId xmlns:a16="http://schemas.microsoft.com/office/drawing/2014/main" id="{C46BE3FD-D149-E947-1228-E11B36CD05B2}"/>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dirty="0"/>
              <a:t>Spring 2024</a:t>
            </a:r>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3</a:t>
            </a:fld>
            <a:endParaRPr lang="en-US" dirty="0"/>
          </a:p>
        </p:txBody>
      </p:sp>
    </p:spTree>
    <p:extLst>
      <p:ext uri="{BB962C8B-B14F-4D97-AF65-F5344CB8AC3E}">
        <p14:creationId xmlns:p14="http://schemas.microsoft.com/office/powerpoint/2010/main" val="2019533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500"/>
                                        <p:tgtEl>
                                          <p:spTgt spid="3">
                                            <p:txEl>
                                              <p:pRg st="6" end="6"/>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10" end="10"/>
                                            </p:txEl>
                                          </p:spTgt>
                                        </p:tgtEl>
                                        <p:attrNameLst>
                                          <p:attrName>style.visibility</p:attrName>
                                        </p:attrNameLst>
                                      </p:cBhvr>
                                      <p:to>
                                        <p:strVal val="visible"/>
                                      </p:to>
                                    </p:set>
                                    <p:animEffect transition="in" filter="fade">
                                      <p:cBhvr>
                                        <p:cTn id="30"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Accounting for Imports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6BE3FD-D149-E947-1228-E11B36CD05B2}"/>
                  </a:ext>
                </a:extLst>
              </p:cNvPr>
              <p:cNvSpPr>
                <a:spLocks noGrp="1"/>
              </p:cNvSpPr>
              <p:nvPr>
                <p:ph idx="1"/>
              </p:nvPr>
            </p:nvSpPr>
            <p:spPr>
              <a:xfrm>
                <a:off x="628649" y="1825625"/>
                <a:ext cx="8048819" cy="4351338"/>
              </a:xfrm>
            </p:spPr>
            <p:txBody>
              <a:bodyPr/>
              <a:lstStyle/>
              <a:p>
                <a:r>
                  <a:rPr lang="en-US" dirty="0"/>
                  <a:t>In an open economy, we first subtract imports… But why not simply subtract </a:t>
                </a:r>
                <a14:m>
                  <m:oMath xmlns:m="http://schemas.openxmlformats.org/officeDocument/2006/math">
                    <m:r>
                      <a:rPr lang="en-US" i="1" dirty="0" smtClean="0">
                        <a:latin typeface="Cambria Math" panose="02040503050406030204" pitchFamily="18" charset="0"/>
                      </a:rPr>
                      <m:t>𝐼𝑀</m:t>
                    </m:r>
                  </m:oMath>
                </a14:m>
                <a:r>
                  <a:rPr lang="en-US" dirty="0"/>
                  <a:t>, but subtract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𝐼𝑀</m:t>
                        </m:r>
                      </m:num>
                      <m:den>
                        <m:r>
                          <m:rPr>
                            <m:sty m:val="p"/>
                          </m:rPr>
                          <a:rPr lang="en-US" b="0" i="1" smtClean="0">
                            <a:latin typeface="Cambria Math" panose="02040503050406030204" pitchFamily="18" charset="0"/>
                          </a:rPr>
                          <m:t>ε</m:t>
                        </m:r>
                      </m:den>
                    </m:f>
                  </m:oMath>
                </a14:m>
                <a:r>
                  <a:rPr lang="en-US" dirty="0"/>
                  <a:t>?</a:t>
                </a:r>
              </a:p>
              <a:p>
                <a:pPr lvl="3"/>
                <a:endParaRPr lang="en-US" dirty="0"/>
              </a:p>
              <a:p>
                <a:r>
                  <a:rPr lang="en-US" dirty="0"/>
                  <a:t>Foreign goods are foreign currency denominated. So, we must convert it into domestic currency values.</a:t>
                </a:r>
              </a:p>
              <a:p>
                <a:pPr lvl="3"/>
                <a:endParaRPr lang="en-US" dirty="0"/>
              </a:p>
              <a:p>
                <a14:m>
                  <m:oMath xmlns:m="http://schemas.openxmlformats.org/officeDocument/2006/math">
                    <m:r>
                      <m:rPr>
                        <m:sty m:val="p"/>
                      </m:rPr>
                      <a:rPr lang="en-US" b="0" i="1" smtClean="0">
                        <a:latin typeface="Cambria Math" panose="02040503050406030204" pitchFamily="18" charset="0"/>
                      </a:rPr>
                      <m:t>ε</m:t>
                    </m:r>
                  </m:oMath>
                </a14:m>
                <a:r>
                  <a:rPr lang="en-US" dirty="0"/>
                  <a:t> is the “price of domestic goods in terms of foreign goods.” </a:t>
                </a:r>
              </a:p>
              <a:p>
                <a:pPr lvl="3"/>
                <a:endParaRPr lang="en-US" dirty="0"/>
              </a:p>
              <a:p>
                <a:r>
                  <a:rPr lang="en-US" dirty="0"/>
                  <a:t>Thus, we want to multiply </a:t>
                </a:r>
                <a14:m>
                  <m:oMath xmlns:m="http://schemas.openxmlformats.org/officeDocument/2006/math">
                    <m:r>
                      <a:rPr lang="en-US" i="1" dirty="0">
                        <a:latin typeface="Cambria Math" panose="02040503050406030204" pitchFamily="18" charset="0"/>
                      </a:rPr>
                      <m:t>𝐼𝑀</m:t>
                    </m:r>
                  </m:oMath>
                </a14:m>
                <a:r>
                  <a:rPr lang="en-US" dirty="0"/>
                  <a:t> by its reciprocal, </a:t>
                </a:r>
                <a14:m>
                  <m:oMath xmlns:m="http://schemas.openxmlformats.org/officeDocument/2006/math">
                    <m:f>
                      <m:fPr>
                        <m:ctrlPr>
                          <a:rPr lang="en-US" i="1">
                            <a:latin typeface="Cambria Math" panose="02040503050406030204" pitchFamily="18" charset="0"/>
                          </a:rPr>
                        </m:ctrlPr>
                      </m:fPr>
                      <m:num>
                        <m:r>
                          <a:rPr lang="en-US" b="0" i="1" smtClean="0">
                            <a:latin typeface="Cambria Math" panose="02040503050406030204" pitchFamily="18" charset="0"/>
                          </a:rPr>
                          <m:t>1</m:t>
                        </m:r>
                      </m:num>
                      <m:den>
                        <m:r>
                          <m:rPr>
                            <m:sty m:val="p"/>
                          </m:rPr>
                          <a:rPr lang="en-US" i="1">
                            <a:latin typeface="Cambria Math" panose="02040503050406030204" pitchFamily="18" charset="0"/>
                          </a:rPr>
                          <m:t>ε</m:t>
                        </m:r>
                      </m:den>
                    </m:f>
                  </m:oMath>
                </a14:m>
                <a:r>
                  <a:rPr lang="en-US" dirty="0"/>
                  <a:t>, to find the “price of foreign imports in terms of domestic goods.”</a:t>
                </a:r>
              </a:p>
            </p:txBody>
          </p:sp>
        </mc:Choice>
        <mc:Fallback xmlns="">
          <p:sp>
            <p:nvSpPr>
              <p:cNvPr id="3" name="Content Placeholder 2">
                <a:extLst>
                  <a:ext uri="{FF2B5EF4-FFF2-40B4-BE49-F238E27FC236}">
                    <a16:creationId xmlns:a16="http://schemas.microsoft.com/office/drawing/2014/main" id="{C46BE3FD-D149-E947-1228-E11B36CD05B2}"/>
                  </a:ext>
                </a:extLst>
              </p:cNvPr>
              <p:cNvSpPr>
                <a:spLocks noGrp="1" noRot="1" noChangeAspect="1" noMove="1" noResize="1" noEditPoints="1" noAdjustHandles="1" noChangeArrowheads="1" noChangeShapeType="1" noTextEdit="1"/>
              </p:cNvSpPr>
              <p:nvPr>
                <p:ph idx="1"/>
              </p:nvPr>
            </p:nvSpPr>
            <p:spPr>
              <a:xfrm>
                <a:off x="628649" y="1825625"/>
                <a:ext cx="8048819" cy="4351338"/>
              </a:xfrm>
              <a:blipFill>
                <a:blip r:embed="rId2"/>
                <a:stretch>
                  <a:fillRect l="-985" t="-1821" r="-21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dirty="0"/>
              <a:t>Spring 2024</a:t>
            </a:r>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4</a:t>
            </a:fld>
            <a:endParaRPr lang="en-US" dirty="0"/>
          </a:p>
        </p:txBody>
      </p:sp>
    </p:spTree>
    <p:extLst>
      <p:ext uri="{BB962C8B-B14F-4D97-AF65-F5344CB8AC3E}">
        <p14:creationId xmlns:p14="http://schemas.microsoft.com/office/powerpoint/2010/main" val="495165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Accounting for Imports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6BE3FD-D149-E947-1228-E11B36CD05B2}"/>
                  </a:ext>
                </a:extLst>
              </p:cNvPr>
              <p:cNvSpPr>
                <a:spLocks noGrp="1"/>
              </p:cNvSpPr>
              <p:nvPr>
                <p:ph idx="1"/>
              </p:nvPr>
            </p:nvSpPr>
            <p:spPr>
              <a:xfrm>
                <a:off x="628649" y="1825625"/>
                <a:ext cx="8067482" cy="4351338"/>
              </a:xfrm>
            </p:spPr>
            <p:txBody>
              <a:bodyPr/>
              <a:lstStyle/>
              <a:p>
                <a:r>
                  <a:rPr lang="en-US" dirty="0"/>
                  <a:t>In the real-world, imports will depend on countless factors, but we will be simplifying as:</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𝐼𝑀</m:t>
                      </m:r>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𝜀</m:t>
                      </m:r>
                      <m:r>
                        <a:rPr lang="en-US" b="0" i="1" smtClean="0">
                          <a:latin typeface="Cambria Math" panose="02040503050406030204" pitchFamily="18" charset="0"/>
                        </a:rPr>
                        <m:t>)</m:t>
                      </m:r>
                    </m:oMath>
                  </m:oMathPara>
                </a14:m>
                <a:endParaRPr lang="en-US" dirty="0"/>
              </a:p>
              <a:p>
                <a:pPr lvl="3"/>
                <a:endParaRPr lang="en-US" dirty="0"/>
              </a:p>
              <a:p>
                <a:r>
                  <a:rPr lang="en-US" dirty="0"/>
                  <a:t>When the domestic consumers’ income </a:t>
                </a:r>
                <a14:m>
                  <m:oMath xmlns:m="http://schemas.openxmlformats.org/officeDocument/2006/math">
                    <m:r>
                      <a:rPr lang="en-US" b="0" i="1" smtClean="0">
                        <a:latin typeface="Cambria Math" panose="02040503050406030204" pitchFamily="18" charset="0"/>
                      </a:rPr>
                      <m:t>𝑌</m:t>
                    </m:r>
                  </m:oMath>
                </a14:m>
                <a:r>
                  <a:rPr lang="en-US" dirty="0"/>
                  <a:t> increases, they will want to consume more goods in general, and demand for foreign products </a:t>
                </a:r>
                <a14:m>
                  <m:oMath xmlns:m="http://schemas.openxmlformats.org/officeDocument/2006/math">
                    <m:r>
                      <a:rPr lang="en-US" b="0" i="1" smtClean="0">
                        <a:latin typeface="Cambria Math" panose="02040503050406030204" pitchFamily="18" charset="0"/>
                      </a:rPr>
                      <m:t>𝐼𝑀</m:t>
                    </m:r>
                  </m:oMath>
                </a14:m>
                <a:r>
                  <a:rPr lang="en-US" dirty="0"/>
                  <a:t>, will also increase.</a:t>
                </a:r>
              </a:p>
              <a:p>
                <a:pPr lvl="3"/>
                <a:endParaRPr lang="en-US" dirty="0"/>
              </a:p>
              <a:p>
                <a:r>
                  <a:rPr lang="en-US" dirty="0"/>
                  <a:t>If the real exchange rate </a:t>
                </a:r>
                <a14:m>
                  <m:oMath xmlns:m="http://schemas.openxmlformats.org/officeDocument/2006/math">
                    <m:r>
                      <a:rPr lang="en-US" b="0" i="1" smtClean="0">
                        <a:latin typeface="Cambria Math" panose="02040503050406030204" pitchFamily="18" charset="0"/>
                      </a:rPr>
                      <m:t>𝜀</m:t>
                    </m:r>
                  </m:oMath>
                </a14:m>
                <a:r>
                  <a:rPr lang="en-US" dirty="0"/>
                  <a:t> increases, domestic goods get more expensive compared to foreign goods, and the domestic demand for foreign goods </a:t>
                </a:r>
                <a14:m>
                  <m:oMath xmlns:m="http://schemas.openxmlformats.org/officeDocument/2006/math">
                    <m:r>
                      <a:rPr lang="en-US" i="1" dirty="0" smtClean="0">
                        <a:latin typeface="Cambria Math" panose="02040503050406030204" pitchFamily="18" charset="0"/>
                      </a:rPr>
                      <m:t>𝐼𝑀</m:t>
                    </m:r>
                  </m:oMath>
                </a14:m>
                <a:r>
                  <a:rPr lang="en-US" dirty="0"/>
                  <a:t> will increase.</a:t>
                </a:r>
              </a:p>
            </p:txBody>
          </p:sp>
        </mc:Choice>
        <mc:Fallback xmlns="">
          <p:sp>
            <p:nvSpPr>
              <p:cNvPr id="3" name="Content Placeholder 2">
                <a:extLst>
                  <a:ext uri="{FF2B5EF4-FFF2-40B4-BE49-F238E27FC236}">
                    <a16:creationId xmlns:a16="http://schemas.microsoft.com/office/drawing/2014/main" id="{C46BE3FD-D149-E947-1228-E11B36CD05B2}"/>
                  </a:ext>
                </a:extLst>
              </p:cNvPr>
              <p:cNvSpPr>
                <a:spLocks noGrp="1" noRot="1" noChangeAspect="1" noMove="1" noResize="1" noEditPoints="1" noAdjustHandles="1" noChangeArrowheads="1" noChangeShapeType="1" noTextEdit="1"/>
              </p:cNvSpPr>
              <p:nvPr>
                <p:ph idx="1"/>
              </p:nvPr>
            </p:nvSpPr>
            <p:spPr>
              <a:xfrm>
                <a:off x="628649" y="1825625"/>
                <a:ext cx="8067482" cy="4351338"/>
              </a:xfrm>
              <a:blipFill>
                <a:blip r:embed="rId2"/>
                <a:stretch>
                  <a:fillRect l="-982" t="-1821" r="-76"/>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dirty="0"/>
              <a:t>Spring 2024</a:t>
            </a:r>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5</a:t>
            </a:fld>
            <a:endParaRPr lang="en-US" dirty="0"/>
          </a:p>
        </p:txBody>
      </p:sp>
    </p:spTree>
    <p:extLst>
      <p:ext uri="{BB962C8B-B14F-4D97-AF65-F5344CB8AC3E}">
        <p14:creationId xmlns:p14="http://schemas.microsoft.com/office/powerpoint/2010/main" val="1214541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Accounting for Exports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6BE3FD-D149-E947-1228-E11B36CD05B2}"/>
                  </a:ext>
                </a:extLst>
              </p:cNvPr>
              <p:cNvSpPr>
                <a:spLocks noGrp="1"/>
              </p:cNvSpPr>
              <p:nvPr>
                <p:ph idx="1"/>
              </p:nvPr>
            </p:nvSpPr>
            <p:spPr>
              <a:xfrm>
                <a:off x="628649" y="1825625"/>
                <a:ext cx="8048819" cy="4351338"/>
              </a:xfrm>
            </p:spPr>
            <p:txBody>
              <a:bodyPr/>
              <a:lstStyle/>
              <a:p>
                <a:r>
                  <a:rPr lang="en-US" dirty="0"/>
                  <a:t>We do not need to adjust the value of </a:t>
                </a:r>
                <a14:m>
                  <m:oMath xmlns:m="http://schemas.openxmlformats.org/officeDocument/2006/math">
                    <m:r>
                      <a:rPr lang="en-US" i="1" dirty="0" smtClean="0">
                        <a:latin typeface="Cambria Math" panose="02040503050406030204" pitchFamily="18" charset="0"/>
                      </a:rPr>
                      <m:t>𝑋</m:t>
                    </m:r>
                  </m:oMath>
                </a14:m>
                <a:r>
                  <a:rPr lang="en-US" dirty="0"/>
                  <a:t>, since products that we export are denominated in the domestic currency.</a:t>
                </a:r>
              </a:p>
              <a:p>
                <a:pPr marL="0" indent="0">
                  <a:buNone/>
                </a:pPr>
                <a:endParaRPr lang="en-US" sz="5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𝑌</m:t>
                          </m:r>
                        </m:e>
                        <m:sup>
                          <m:r>
                            <a:rPr lang="en-US" b="0" i="1" smtClean="0">
                              <a:latin typeface="Cambria Math" panose="02040503050406030204" pitchFamily="18" charset="0"/>
                            </a:rPr>
                            <m:t>𝐹</m:t>
                          </m:r>
                        </m:sup>
                      </m:sSup>
                      <m:r>
                        <a:rPr lang="en-US" b="0" i="1" smtClean="0">
                          <a:latin typeface="Cambria Math" panose="02040503050406030204" pitchFamily="18" charset="0"/>
                        </a:rPr>
                        <m:t>,</m:t>
                      </m:r>
                      <m:r>
                        <a:rPr lang="en-US" b="0" i="1" smtClean="0">
                          <a:latin typeface="Cambria Math" panose="02040503050406030204" pitchFamily="18" charset="0"/>
                        </a:rPr>
                        <m:t>𝜀</m:t>
                      </m:r>
                      <m:r>
                        <a:rPr lang="en-US" b="0" i="1" smtClean="0">
                          <a:latin typeface="Cambria Math" panose="02040503050406030204" pitchFamily="18" charset="0"/>
                        </a:rPr>
                        <m:t>)</m:t>
                      </m:r>
                    </m:oMath>
                  </m:oMathPara>
                </a14:m>
                <a:endParaRPr lang="en-US" dirty="0"/>
              </a:p>
              <a:p>
                <a:pPr marL="0" indent="0">
                  <a:buNone/>
                </a:pPr>
                <a:endParaRPr lang="en-US" sz="1600" dirty="0"/>
              </a:p>
              <a:p>
                <a:r>
                  <a:rPr lang="en-US" dirty="0"/>
                  <a:t>When foreign consumers’ income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𝑌</m:t>
                        </m:r>
                      </m:e>
                      <m:sup>
                        <m:r>
                          <a:rPr lang="en-US" b="0" i="1" smtClean="0">
                            <a:latin typeface="Cambria Math" panose="02040503050406030204" pitchFamily="18" charset="0"/>
                          </a:rPr>
                          <m:t>𝐹</m:t>
                        </m:r>
                      </m:sup>
                    </m:sSup>
                  </m:oMath>
                </a14:m>
                <a:r>
                  <a:rPr lang="en-US" dirty="0"/>
                  <a:t> increases, then they will demand more goods in general, and the foreign demand for domestic goods </a:t>
                </a:r>
                <a14:m>
                  <m:oMath xmlns:m="http://schemas.openxmlformats.org/officeDocument/2006/math">
                    <m:r>
                      <a:rPr lang="en-US" i="1" dirty="0" smtClean="0">
                        <a:latin typeface="Cambria Math" panose="02040503050406030204" pitchFamily="18" charset="0"/>
                      </a:rPr>
                      <m:t>𝑋</m:t>
                    </m:r>
                  </m:oMath>
                </a14:m>
                <a:r>
                  <a:rPr lang="en-US" dirty="0"/>
                  <a:t> will also increase.</a:t>
                </a:r>
              </a:p>
              <a:p>
                <a:pPr lvl="3"/>
                <a:endParaRPr lang="en-US" dirty="0"/>
              </a:p>
              <a:p>
                <a:r>
                  <a:rPr lang="en-US" dirty="0"/>
                  <a:t>If </a:t>
                </a:r>
                <a14:m>
                  <m:oMath xmlns:m="http://schemas.openxmlformats.org/officeDocument/2006/math">
                    <m:r>
                      <a:rPr lang="en-US" b="0" i="1" smtClean="0">
                        <a:latin typeface="Cambria Math" panose="02040503050406030204" pitchFamily="18" charset="0"/>
                      </a:rPr>
                      <m:t>𝜀</m:t>
                    </m:r>
                  </m:oMath>
                </a14:m>
                <a:r>
                  <a:rPr lang="en-US" dirty="0"/>
                  <a:t> increases, domestic goods are more expensive than foreign goods, foreign demand for domestic goods falls, thus exports </a:t>
                </a:r>
                <a14:m>
                  <m:oMath xmlns:m="http://schemas.openxmlformats.org/officeDocument/2006/math">
                    <m:r>
                      <a:rPr lang="en-US" i="1" dirty="0" smtClean="0">
                        <a:latin typeface="Cambria Math" panose="02040503050406030204" pitchFamily="18" charset="0"/>
                      </a:rPr>
                      <m:t>𝑋</m:t>
                    </m:r>
                  </m:oMath>
                </a14:m>
                <a:r>
                  <a:rPr lang="en-US" dirty="0"/>
                  <a:t> will fall.</a:t>
                </a:r>
              </a:p>
            </p:txBody>
          </p:sp>
        </mc:Choice>
        <mc:Fallback xmlns="">
          <p:sp>
            <p:nvSpPr>
              <p:cNvPr id="3" name="Content Placeholder 2">
                <a:extLst>
                  <a:ext uri="{FF2B5EF4-FFF2-40B4-BE49-F238E27FC236}">
                    <a16:creationId xmlns:a16="http://schemas.microsoft.com/office/drawing/2014/main" id="{C46BE3FD-D149-E947-1228-E11B36CD05B2}"/>
                  </a:ext>
                </a:extLst>
              </p:cNvPr>
              <p:cNvSpPr>
                <a:spLocks noGrp="1" noRot="1" noChangeAspect="1" noMove="1" noResize="1" noEditPoints="1" noAdjustHandles="1" noChangeArrowheads="1" noChangeShapeType="1" noTextEdit="1"/>
              </p:cNvSpPr>
              <p:nvPr>
                <p:ph idx="1"/>
              </p:nvPr>
            </p:nvSpPr>
            <p:spPr>
              <a:xfrm>
                <a:off x="628649" y="1825625"/>
                <a:ext cx="8048819" cy="4351338"/>
              </a:xfrm>
              <a:blipFill>
                <a:blip r:embed="rId2"/>
                <a:stretch>
                  <a:fillRect l="-98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dirty="0"/>
              <a:t>Spring 2024</a:t>
            </a:r>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6</a:t>
            </a:fld>
            <a:endParaRPr lang="en-US" dirty="0"/>
          </a:p>
        </p:txBody>
      </p:sp>
    </p:spTree>
    <p:extLst>
      <p:ext uri="{BB962C8B-B14F-4D97-AF65-F5344CB8AC3E}">
        <p14:creationId xmlns:p14="http://schemas.microsoft.com/office/powerpoint/2010/main" val="3706257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85A5F1-B4DE-AD0E-B99C-F330DBE050D9}"/>
              </a:ext>
            </a:extLst>
          </p:cNvPr>
          <p:cNvSpPr>
            <a:spLocks noGrp="1"/>
          </p:cNvSpPr>
          <p:nvPr>
            <p:ph type="dt" sz="half" idx="10"/>
          </p:nvPr>
        </p:nvSpPr>
        <p:spPr/>
        <p:txBody>
          <a:bodyPr/>
          <a:lstStyle/>
          <a:p>
            <a:r>
              <a:rPr lang="en-US"/>
              <a:t>Spring 2024</a:t>
            </a:r>
            <a:endParaRPr lang="en-US" dirty="0"/>
          </a:p>
        </p:txBody>
      </p:sp>
      <p:sp>
        <p:nvSpPr>
          <p:cNvPr id="3" name="Footer Placeholder 2">
            <a:extLst>
              <a:ext uri="{FF2B5EF4-FFF2-40B4-BE49-F238E27FC236}">
                <a16:creationId xmlns:a16="http://schemas.microsoft.com/office/drawing/2014/main" id="{B8E59625-7AF8-4AC7-7AF1-E48977851F5A}"/>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FDBDF4BE-2572-67C7-1808-FBBB186ADE1E}"/>
              </a:ext>
            </a:extLst>
          </p:cNvPr>
          <p:cNvSpPr>
            <a:spLocks noGrp="1"/>
          </p:cNvSpPr>
          <p:nvPr>
            <p:ph type="sldNum" sz="quarter" idx="12"/>
          </p:nvPr>
        </p:nvSpPr>
        <p:spPr/>
        <p:txBody>
          <a:bodyPr/>
          <a:lstStyle/>
          <a:p>
            <a:fld id="{1A980C56-831A-4EAB-9EDE-57C090F4F877}" type="slidenum">
              <a:rPr lang="en-US" smtClean="0"/>
              <a:t>7</a:t>
            </a:fld>
            <a:endParaRPr lang="en-US" dirty="0"/>
          </a:p>
        </p:txBody>
      </p:sp>
      <p:pic>
        <p:nvPicPr>
          <p:cNvPr id="6" name="Picture 5">
            <a:extLst>
              <a:ext uri="{FF2B5EF4-FFF2-40B4-BE49-F238E27FC236}">
                <a16:creationId xmlns:a16="http://schemas.microsoft.com/office/drawing/2014/main" id="{1603EA40-BE88-25ED-FE03-F12D8660ED82}"/>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656080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EF8883-8DF5-EE49-803B-D1C737DF98B9}"/>
              </a:ext>
            </a:extLst>
          </p:cNvPr>
          <p:cNvSpPr>
            <a:spLocks noGrp="1"/>
          </p:cNvSpPr>
          <p:nvPr>
            <p:ph type="dt" sz="half" idx="10"/>
          </p:nvPr>
        </p:nvSpPr>
        <p:spPr/>
        <p:txBody>
          <a:bodyPr/>
          <a:lstStyle/>
          <a:p>
            <a:r>
              <a:rPr lang="en-US"/>
              <a:t>Spring 2024</a:t>
            </a:r>
            <a:endParaRPr lang="en-US" dirty="0"/>
          </a:p>
        </p:txBody>
      </p:sp>
      <p:sp>
        <p:nvSpPr>
          <p:cNvPr id="3" name="Footer Placeholder 2">
            <a:extLst>
              <a:ext uri="{FF2B5EF4-FFF2-40B4-BE49-F238E27FC236}">
                <a16:creationId xmlns:a16="http://schemas.microsoft.com/office/drawing/2014/main" id="{D1BC4558-F8A1-E53B-754F-9CFBC331CF02}"/>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0761FFB4-3033-DFF2-7507-85EFA7580B90}"/>
              </a:ext>
            </a:extLst>
          </p:cNvPr>
          <p:cNvSpPr>
            <a:spLocks noGrp="1"/>
          </p:cNvSpPr>
          <p:nvPr>
            <p:ph type="sldNum" sz="quarter" idx="12"/>
          </p:nvPr>
        </p:nvSpPr>
        <p:spPr/>
        <p:txBody>
          <a:bodyPr/>
          <a:lstStyle/>
          <a:p>
            <a:fld id="{1A980C56-831A-4EAB-9EDE-57C090F4F877}" type="slidenum">
              <a:rPr lang="en-US" smtClean="0"/>
              <a:t>8</a:t>
            </a:fld>
            <a:endParaRPr lang="en-US" dirty="0"/>
          </a:p>
        </p:txBody>
      </p:sp>
      <p:pic>
        <p:nvPicPr>
          <p:cNvPr id="6" name="Picture 5">
            <a:extLst>
              <a:ext uri="{FF2B5EF4-FFF2-40B4-BE49-F238E27FC236}">
                <a16:creationId xmlns:a16="http://schemas.microsoft.com/office/drawing/2014/main" id="{40EBF3E8-05C6-BFDE-E3D1-BCE1A854B169}"/>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991135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6C07A-0C0B-4DCC-CC8E-158479CD25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FE3D26-3934-E1FE-5157-09BCDDD91E23}"/>
              </a:ext>
            </a:extLst>
          </p:cNvPr>
          <p:cNvSpPr>
            <a:spLocks noGrp="1"/>
          </p:cNvSpPr>
          <p:nvPr>
            <p:ph type="title"/>
          </p:nvPr>
        </p:nvSpPr>
        <p:spPr/>
        <p:txBody>
          <a:bodyPr/>
          <a:lstStyle/>
          <a:p>
            <a:r>
              <a:rPr lang="en-US" dirty="0"/>
              <a:t>Visualizing the Open Goods Market</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40ED42C-1DA5-6F27-4828-FE5698B3F0A4}"/>
                  </a:ext>
                </a:extLst>
              </p:cNvPr>
              <p:cNvSpPr>
                <a:spLocks noGrp="1"/>
              </p:cNvSpPr>
              <p:nvPr>
                <p:ph sz="half" idx="2"/>
              </p:nvPr>
            </p:nvSpPr>
            <p:spPr>
              <a:xfrm>
                <a:off x="4629150" y="1825625"/>
                <a:ext cx="3886200" cy="4351338"/>
              </a:xfrm>
            </p:spPr>
            <p:txBody>
              <a:bodyPr>
                <a:normAutofit/>
              </a:bodyPr>
              <a:lstStyle/>
              <a:p>
                <a:r>
                  <a:rPr lang="en-US" dirty="0"/>
                  <a:t>Domestic demand is…</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𝐶</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𝐼</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𝐺</m:t>
                      </m:r>
                    </m:oMath>
                  </m:oMathPara>
                </a14:m>
                <a:endParaRPr lang="en-US" sz="2000" dirty="0">
                  <a:solidFill>
                    <a:srgbClr val="FF0000"/>
                  </a:solidFill>
                </a:endParaRPr>
              </a:p>
              <a:p>
                <a:pPr lvl="3"/>
                <a:endParaRPr lang="en-US" dirty="0"/>
              </a:p>
              <a:p>
                <a:r>
                  <a:rPr lang="en-US" dirty="0"/>
                  <a:t>Taking away imports…</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sz="2000" i="1">
                          <a:solidFill>
                            <a:srgbClr val="9C5BCD"/>
                          </a:solidFill>
                          <a:latin typeface="Cambria Math" panose="02040503050406030204" pitchFamily="18" charset="0"/>
                        </a:rPr>
                        <m:t>𝐶</m:t>
                      </m:r>
                      <m:r>
                        <a:rPr lang="en-US" sz="2000" i="1">
                          <a:solidFill>
                            <a:srgbClr val="9C5BCD"/>
                          </a:solidFill>
                          <a:latin typeface="Cambria Math" panose="02040503050406030204" pitchFamily="18" charset="0"/>
                        </a:rPr>
                        <m:t>+</m:t>
                      </m:r>
                      <m:r>
                        <a:rPr lang="en-US" sz="2000" i="1">
                          <a:solidFill>
                            <a:srgbClr val="9C5BCD"/>
                          </a:solidFill>
                          <a:latin typeface="Cambria Math" panose="02040503050406030204" pitchFamily="18" charset="0"/>
                        </a:rPr>
                        <m:t>𝐼</m:t>
                      </m:r>
                      <m:r>
                        <a:rPr lang="en-US" sz="2000" i="1">
                          <a:solidFill>
                            <a:srgbClr val="9C5BCD"/>
                          </a:solidFill>
                          <a:latin typeface="Cambria Math" panose="02040503050406030204" pitchFamily="18" charset="0"/>
                        </a:rPr>
                        <m:t>+</m:t>
                      </m:r>
                      <m:r>
                        <a:rPr lang="en-US" sz="2000" i="1">
                          <a:solidFill>
                            <a:srgbClr val="9C5BCD"/>
                          </a:solidFill>
                          <a:latin typeface="Cambria Math" panose="02040503050406030204" pitchFamily="18" charset="0"/>
                        </a:rPr>
                        <m:t>𝐺</m:t>
                      </m:r>
                      <m:r>
                        <a:rPr lang="en-US" sz="2000" i="1">
                          <a:solidFill>
                            <a:srgbClr val="9C5BCD"/>
                          </a:solidFill>
                          <a:latin typeface="Cambria Math" panose="02040503050406030204" pitchFamily="18" charset="0"/>
                        </a:rPr>
                        <m:t>−</m:t>
                      </m:r>
                      <m:f>
                        <m:fPr>
                          <m:ctrlPr>
                            <a:rPr lang="en-US" sz="2000" i="1">
                              <a:solidFill>
                                <a:srgbClr val="9C5BCD"/>
                              </a:solidFill>
                              <a:latin typeface="Cambria Math" panose="02040503050406030204" pitchFamily="18" charset="0"/>
                            </a:rPr>
                          </m:ctrlPr>
                        </m:fPr>
                        <m:num>
                          <m:r>
                            <a:rPr lang="en-US" sz="2000" i="1">
                              <a:solidFill>
                                <a:srgbClr val="9C5BCD"/>
                              </a:solidFill>
                              <a:latin typeface="Cambria Math" panose="02040503050406030204" pitchFamily="18" charset="0"/>
                            </a:rPr>
                            <m:t>𝐼𝑀</m:t>
                          </m:r>
                        </m:num>
                        <m:den>
                          <m:r>
                            <a:rPr lang="en-US" sz="2000" i="1">
                              <a:solidFill>
                                <a:srgbClr val="9C5BCD"/>
                              </a:solidFill>
                              <a:latin typeface="Cambria Math" panose="02040503050406030204" pitchFamily="18" charset="0"/>
                            </a:rPr>
                            <m:t>𝜀</m:t>
                          </m:r>
                        </m:den>
                      </m:f>
                    </m:oMath>
                  </m:oMathPara>
                </a14:m>
                <a:endParaRPr lang="en-US" sz="2000" dirty="0">
                  <a:solidFill>
                    <a:srgbClr val="9C5BCD"/>
                  </a:solidFill>
                </a:endParaRPr>
              </a:p>
              <a:p>
                <a:pPr lvl="3"/>
                <a:endParaRPr lang="en-US" dirty="0"/>
              </a:p>
              <a:p>
                <a:r>
                  <a:rPr lang="en-US" dirty="0">
                    <a:solidFill>
                      <a:schemeClr val="tx1"/>
                    </a:solidFill>
                  </a:rPr>
                  <a:t>This new demand leaving out imports is “flatter.”</a:t>
                </a:r>
              </a:p>
              <a:p>
                <a:pPr lvl="1"/>
                <a14:m>
                  <m:oMath xmlns:m="http://schemas.openxmlformats.org/officeDocument/2006/math">
                    <m:r>
                      <a:rPr lang="en-US" i="1" dirty="0" smtClean="0">
                        <a:latin typeface="Cambria Math" panose="02040503050406030204" pitchFamily="18" charset="0"/>
                      </a:rPr>
                      <m:t>𝐼𝑀</m:t>
                    </m:r>
                  </m:oMath>
                </a14:m>
                <a:r>
                  <a:rPr lang="en-US" dirty="0"/>
                  <a:t> is lower when </a:t>
                </a:r>
                <a14:m>
                  <m:oMath xmlns:m="http://schemas.openxmlformats.org/officeDocument/2006/math">
                    <m:r>
                      <a:rPr lang="en-US" i="1" dirty="0" smtClean="0">
                        <a:latin typeface="Cambria Math" panose="02040503050406030204" pitchFamily="18" charset="0"/>
                      </a:rPr>
                      <m:t>𝑌</m:t>
                    </m:r>
                  </m:oMath>
                </a14:m>
                <a:r>
                  <a:rPr lang="en-US" dirty="0">
                    <a:latin typeface="Cambria Math" panose="02040503050406030204" pitchFamily="18" charset="0"/>
                  </a:rPr>
                  <a:t> </a:t>
                </a:r>
                <a:r>
                  <a:rPr lang="en-US" dirty="0"/>
                  <a:t>is low.</a:t>
                </a:r>
              </a:p>
              <a:p>
                <a:pPr lvl="1"/>
                <a14:m>
                  <m:oMath xmlns:m="http://schemas.openxmlformats.org/officeDocument/2006/math">
                    <m:r>
                      <a:rPr lang="en-US" i="1" dirty="0">
                        <a:latin typeface="Cambria Math" panose="02040503050406030204" pitchFamily="18" charset="0"/>
                      </a:rPr>
                      <m:t>𝐼𝑀</m:t>
                    </m:r>
                  </m:oMath>
                </a14:m>
                <a:r>
                  <a:rPr lang="en-US" dirty="0"/>
                  <a:t> is higher when </a:t>
                </a:r>
                <a14:m>
                  <m:oMath xmlns:m="http://schemas.openxmlformats.org/officeDocument/2006/math">
                    <m:r>
                      <a:rPr lang="en-US" i="1" dirty="0">
                        <a:latin typeface="Cambria Math" panose="02040503050406030204" pitchFamily="18" charset="0"/>
                      </a:rPr>
                      <m:t>𝑌</m:t>
                    </m:r>
                  </m:oMath>
                </a14:m>
                <a:r>
                  <a:rPr lang="en-US" dirty="0">
                    <a:latin typeface="Cambria Math" panose="02040503050406030204" pitchFamily="18" charset="0"/>
                  </a:rPr>
                  <a:t> </a:t>
                </a:r>
                <a:r>
                  <a:rPr lang="en-US" dirty="0"/>
                  <a:t>is high.</a:t>
                </a:r>
              </a:p>
            </p:txBody>
          </p:sp>
        </mc:Choice>
        <mc:Fallback xmlns="">
          <p:sp>
            <p:nvSpPr>
              <p:cNvPr id="4" name="Content Placeholder 3">
                <a:extLst>
                  <a:ext uri="{FF2B5EF4-FFF2-40B4-BE49-F238E27FC236}">
                    <a16:creationId xmlns:a16="http://schemas.microsoft.com/office/drawing/2014/main" id="{B40ED42C-1DA5-6F27-4828-FE5698B3F0A4}"/>
                  </a:ext>
                </a:extLst>
              </p:cNvPr>
              <p:cNvSpPr>
                <a:spLocks noGrp="1" noRot="1" noChangeAspect="1" noMove="1" noResize="1" noEditPoints="1" noAdjustHandles="1" noChangeArrowheads="1" noChangeShapeType="1" noTextEdit="1"/>
              </p:cNvSpPr>
              <p:nvPr>
                <p:ph sz="half" idx="2"/>
              </p:nvPr>
            </p:nvSpPr>
            <p:spPr>
              <a:xfrm>
                <a:off x="4629150" y="1825625"/>
                <a:ext cx="3886200" cy="4351338"/>
              </a:xfrm>
              <a:blipFill>
                <a:blip r:embed="rId2"/>
                <a:stretch>
                  <a:fillRect l="-2038" t="-1821" r="-940"/>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E8AE47B8-DB48-73C8-7C12-73D0F660C80D}"/>
              </a:ext>
            </a:extLst>
          </p:cNvPr>
          <p:cNvSpPr>
            <a:spLocks noGrp="1"/>
          </p:cNvSpPr>
          <p:nvPr>
            <p:ph type="dt" sz="half" idx="10"/>
          </p:nvPr>
        </p:nvSpPr>
        <p:spPr/>
        <p:txBody>
          <a:bodyPr/>
          <a:lstStyle/>
          <a:p>
            <a:r>
              <a:rPr lang="en-US" dirty="0"/>
              <a:t>Spring 2024</a:t>
            </a:r>
          </a:p>
        </p:txBody>
      </p:sp>
      <p:sp>
        <p:nvSpPr>
          <p:cNvPr id="6" name="Footer Placeholder 5">
            <a:extLst>
              <a:ext uri="{FF2B5EF4-FFF2-40B4-BE49-F238E27FC236}">
                <a16:creationId xmlns:a16="http://schemas.microsoft.com/office/drawing/2014/main" id="{F9026A0E-DA65-9157-AF6A-CAADF50B3E2C}"/>
              </a:ext>
            </a:extLst>
          </p:cNvPr>
          <p:cNvSpPr>
            <a:spLocks noGrp="1"/>
          </p:cNvSpPr>
          <p:nvPr>
            <p:ph type="ftr" sz="quarter" idx="11"/>
          </p:nvPr>
        </p:nvSpPr>
        <p:spPr/>
        <p:txBody>
          <a:bodyPr/>
          <a:lstStyle/>
          <a:p>
            <a:r>
              <a:rPr lang="en-US" dirty="0"/>
              <a:t>DEPARTMENT OF BUSINESS &amp; ECONOMICS</a:t>
            </a:r>
          </a:p>
        </p:txBody>
      </p:sp>
      <p:sp>
        <p:nvSpPr>
          <p:cNvPr id="7" name="Slide Number Placeholder 6">
            <a:extLst>
              <a:ext uri="{FF2B5EF4-FFF2-40B4-BE49-F238E27FC236}">
                <a16:creationId xmlns:a16="http://schemas.microsoft.com/office/drawing/2014/main" id="{C9E93CE9-23B7-1CB9-08E4-C0B100BBA063}"/>
              </a:ext>
            </a:extLst>
          </p:cNvPr>
          <p:cNvSpPr>
            <a:spLocks noGrp="1"/>
          </p:cNvSpPr>
          <p:nvPr>
            <p:ph type="sldNum" sz="quarter" idx="12"/>
          </p:nvPr>
        </p:nvSpPr>
        <p:spPr/>
        <p:txBody>
          <a:bodyPr/>
          <a:lstStyle/>
          <a:p>
            <a:fld id="{1A980C56-831A-4EAB-9EDE-57C090F4F877}" type="slidenum">
              <a:rPr lang="en-US" smtClean="0"/>
              <a:t>9</a:t>
            </a:fld>
            <a:endParaRPr lang="en-US" dirty="0"/>
          </a:p>
        </p:txBody>
      </p:sp>
      <p:cxnSp>
        <p:nvCxnSpPr>
          <p:cNvPr id="12" name="Straight Arrow Connector 11">
            <a:extLst>
              <a:ext uri="{FF2B5EF4-FFF2-40B4-BE49-F238E27FC236}">
                <a16:creationId xmlns:a16="http://schemas.microsoft.com/office/drawing/2014/main" id="{B66AC92C-8A88-3848-D654-D68051C6AB83}"/>
              </a:ext>
            </a:extLst>
          </p:cNvPr>
          <p:cNvCxnSpPr/>
          <p:nvPr/>
        </p:nvCxnSpPr>
        <p:spPr>
          <a:xfrm>
            <a:off x="628649" y="5731731"/>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F73FD52-F826-073C-65C5-83D44E1E7E16}"/>
              </a:ext>
            </a:extLst>
          </p:cNvPr>
          <p:cNvCxnSpPr>
            <a:cxnSpLocks/>
          </p:cNvCxnSpPr>
          <p:nvPr/>
        </p:nvCxnSpPr>
        <p:spPr>
          <a:xfrm rot="16200000">
            <a:off x="-1151141" y="3954581"/>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1453694-8A7C-AA2A-7882-E2C1F72B92A1}"/>
              </a:ext>
            </a:extLst>
          </p:cNvPr>
          <p:cNvSpPr txBox="1"/>
          <p:nvPr/>
        </p:nvSpPr>
        <p:spPr>
          <a:xfrm>
            <a:off x="3864546" y="5731731"/>
            <a:ext cx="708848" cy="307777"/>
          </a:xfrm>
          <a:prstGeom prst="rect">
            <a:avLst/>
          </a:prstGeom>
          <a:noFill/>
        </p:spPr>
        <p:txBody>
          <a:bodyPr wrap="none" rtlCol="0">
            <a:spAutoFit/>
          </a:bodyPr>
          <a:lstStyle/>
          <a:p>
            <a:r>
              <a:rPr lang="en-US" sz="1400" dirty="0"/>
              <a:t>Output</a:t>
            </a:r>
          </a:p>
        </p:txBody>
      </p:sp>
      <p:sp>
        <p:nvSpPr>
          <p:cNvPr id="18" name="TextBox 17">
            <a:extLst>
              <a:ext uri="{FF2B5EF4-FFF2-40B4-BE49-F238E27FC236}">
                <a16:creationId xmlns:a16="http://schemas.microsoft.com/office/drawing/2014/main" id="{A3834DB4-47CF-8CC2-D09C-5DBEBCB8EAE6}"/>
              </a:ext>
            </a:extLst>
          </p:cNvPr>
          <p:cNvSpPr txBox="1"/>
          <p:nvPr/>
        </p:nvSpPr>
        <p:spPr>
          <a:xfrm rot="16200000">
            <a:off x="226937" y="2259305"/>
            <a:ext cx="803425" cy="307777"/>
          </a:xfrm>
          <a:prstGeom prst="rect">
            <a:avLst/>
          </a:prstGeom>
          <a:noFill/>
        </p:spPr>
        <p:txBody>
          <a:bodyPr wrap="none" rtlCol="0">
            <a:spAutoFit/>
          </a:bodyPr>
          <a:lstStyle/>
          <a:p>
            <a:r>
              <a:rPr lang="en-US" sz="1400" dirty="0"/>
              <a:t>Demand</a:t>
            </a:r>
          </a:p>
        </p:txBody>
      </p:sp>
      <p:cxnSp>
        <p:nvCxnSpPr>
          <p:cNvPr id="9" name="Straight Connector 8">
            <a:extLst>
              <a:ext uri="{FF2B5EF4-FFF2-40B4-BE49-F238E27FC236}">
                <a16:creationId xmlns:a16="http://schemas.microsoft.com/office/drawing/2014/main" id="{99409940-2529-464B-83F1-16838F81ECD9}"/>
              </a:ext>
            </a:extLst>
          </p:cNvPr>
          <p:cNvCxnSpPr>
            <a:cxnSpLocks/>
          </p:cNvCxnSpPr>
          <p:nvPr/>
        </p:nvCxnSpPr>
        <p:spPr>
          <a:xfrm flipV="1">
            <a:off x="791958" y="2603424"/>
            <a:ext cx="3732311" cy="223141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68F910E-A0DE-7693-0969-CFE0993CF97B}"/>
              </a:ext>
            </a:extLst>
          </p:cNvPr>
          <p:cNvCxnSpPr>
            <a:cxnSpLocks/>
          </p:cNvCxnSpPr>
          <p:nvPr/>
        </p:nvCxnSpPr>
        <p:spPr>
          <a:xfrm flipV="1">
            <a:off x="782538" y="3957386"/>
            <a:ext cx="3732311" cy="998376"/>
          </a:xfrm>
          <a:prstGeom prst="line">
            <a:avLst/>
          </a:prstGeom>
          <a:ln w="28575">
            <a:solidFill>
              <a:srgbClr val="9C5BCD"/>
            </a:solidFill>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FD5A82BC-72A5-9ECF-7635-DD8CF145D9D2}"/>
              </a:ext>
            </a:extLst>
          </p:cNvPr>
          <p:cNvCxnSpPr>
            <a:cxnSpLocks/>
          </p:cNvCxnSpPr>
          <p:nvPr/>
        </p:nvCxnSpPr>
        <p:spPr>
          <a:xfrm>
            <a:off x="1384300" y="4502150"/>
            <a:ext cx="0" cy="27940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DB33091F-3D8E-6937-FF0D-8593572E2CD5}"/>
              </a:ext>
            </a:extLst>
          </p:cNvPr>
          <p:cNvCxnSpPr>
            <a:cxnSpLocks/>
          </p:cNvCxnSpPr>
          <p:nvPr/>
        </p:nvCxnSpPr>
        <p:spPr>
          <a:xfrm>
            <a:off x="3778250" y="3079750"/>
            <a:ext cx="0" cy="106680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485B34A1-7C2A-28DC-1A72-A39D9960BF81}"/>
                  </a:ext>
                </a:extLst>
              </p:cNvPr>
              <p:cNvSpPr txBox="1"/>
              <p:nvPr/>
            </p:nvSpPr>
            <p:spPr>
              <a:xfrm>
                <a:off x="3481163" y="4165923"/>
                <a:ext cx="1043106" cy="3457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solidFill>
                            <a:srgbClr val="9C5BCD"/>
                          </a:solidFill>
                          <a:latin typeface="Cambria Math" panose="02040503050406030204" pitchFamily="18" charset="0"/>
                        </a:rPr>
                        <m:t>𝐶</m:t>
                      </m:r>
                      <m:r>
                        <a:rPr lang="en-US" sz="1200" b="0" i="1" smtClean="0">
                          <a:solidFill>
                            <a:srgbClr val="9C5BCD"/>
                          </a:solidFill>
                          <a:latin typeface="Cambria Math" panose="02040503050406030204" pitchFamily="18" charset="0"/>
                        </a:rPr>
                        <m:t>+</m:t>
                      </m:r>
                      <m:r>
                        <a:rPr lang="en-US" sz="1200" b="0" i="1" smtClean="0">
                          <a:solidFill>
                            <a:srgbClr val="9C5BCD"/>
                          </a:solidFill>
                          <a:latin typeface="Cambria Math" panose="02040503050406030204" pitchFamily="18" charset="0"/>
                        </a:rPr>
                        <m:t>𝐼</m:t>
                      </m:r>
                      <m:r>
                        <a:rPr lang="en-US" sz="1200" b="0" i="1" smtClean="0">
                          <a:solidFill>
                            <a:srgbClr val="9C5BCD"/>
                          </a:solidFill>
                          <a:latin typeface="Cambria Math" panose="02040503050406030204" pitchFamily="18" charset="0"/>
                        </a:rPr>
                        <m:t>+</m:t>
                      </m:r>
                      <m:r>
                        <a:rPr lang="en-US" sz="1200" b="0" i="1" smtClean="0">
                          <a:solidFill>
                            <a:srgbClr val="9C5BCD"/>
                          </a:solidFill>
                          <a:latin typeface="Cambria Math" panose="02040503050406030204" pitchFamily="18" charset="0"/>
                        </a:rPr>
                        <m:t>𝐺</m:t>
                      </m:r>
                      <m:r>
                        <a:rPr lang="en-US" sz="1200" b="0" i="1" smtClean="0">
                          <a:solidFill>
                            <a:srgbClr val="9C5BCD"/>
                          </a:solidFill>
                          <a:latin typeface="Cambria Math" panose="02040503050406030204" pitchFamily="18" charset="0"/>
                        </a:rPr>
                        <m:t>−</m:t>
                      </m:r>
                      <m:f>
                        <m:fPr>
                          <m:ctrlPr>
                            <a:rPr lang="en-US" sz="1200" b="0" i="1" smtClean="0">
                              <a:solidFill>
                                <a:srgbClr val="9C5BCD"/>
                              </a:solidFill>
                              <a:latin typeface="Cambria Math" panose="02040503050406030204" pitchFamily="18" charset="0"/>
                            </a:rPr>
                          </m:ctrlPr>
                        </m:fPr>
                        <m:num>
                          <m:r>
                            <a:rPr lang="en-US" sz="1200" b="0" i="1" smtClean="0">
                              <a:solidFill>
                                <a:srgbClr val="9C5BCD"/>
                              </a:solidFill>
                              <a:latin typeface="Cambria Math" panose="02040503050406030204" pitchFamily="18" charset="0"/>
                            </a:rPr>
                            <m:t>𝐼𝑀</m:t>
                          </m:r>
                        </m:num>
                        <m:den>
                          <m:r>
                            <a:rPr lang="en-US" sz="1200" b="0" i="1" smtClean="0">
                              <a:solidFill>
                                <a:srgbClr val="9C5BCD"/>
                              </a:solidFill>
                              <a:latin typeface="Cambria Math" panose="02040503050406030204" pitchFamily="18" charset="0"/>
                            </a:rPr>
                            <m:t>𝜀</m:t>
                          </m:r>
                        </m:den>
                      </m:f>
                    </m:oMath>
                  </m:oMathPara>
                </a14:m>
                <a:endParaRPr lang="en-US" sz="1200" dirty="0">
                  <a:solidFill>
                    <a:srgbClr val="9C5BCD"/>
                  </a:solidFill>
                </a:endParaRPr>
              </a:p>
            </p:txBody>
          </p:sp>
        </mc:Choice>
        <mc:Fallback xmlns="">
          <p:sp>
            <p:nvSpPr>
              <p:cNvPr id="49" name="TextBox 48">
                <a:extLst>
                  <a:ext uri="{FF2B5EF4-FFF2-40B4-BE49-F238E27FC236}">
                    <a16:creationId xmlns:a16="http://schemas.microsoft.com/office/drawing/2014/main" id="{485B34A1-7C2A-28DC-1A72-A39D9960BF81}"/>
                  </a:ext>
                </a:extLst>
              </p:cNvPr>
              <p:cNvSpPr txBox="1">
                <a:spLocks noRot="1" noChangeAspect="1" noMove="1" noResize="1" noEditPoints="1" noAdjustHandles="1" noChangeArrowheads="1" noChangeShapeType="1" noTextEdit="1"/>
              </p:cNvSpPr>
              <p:nvPr/>
            </p:nvSpPr>
            <p:spPr>
              <a:xfrm>
                <a:off x="3481163" y="4165923"/>
                <a:ext cx="1043106" cy="345736"/>
              </a:xfrm>
              <a:prstGeom prst="rect">
                <a:avLst/>
              </a:prstGeom>
              <a:blipFill>
                <a:blip r:embed="rId3"/>
                <a:stretch>
                  <a:fillRect l="-2924" t="-1754" r="-2339"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241B51C0-BBAC-2B4A-B130-D901A9F4282D}"/>
                  </a:ext>
                </a:extLst>
              </p:cNvPr>
              <p:cNvSpPr txBox="1"/>
              <p:nvPr/>
            </p:nvSpPr>
            <p:spPr>
              <a:xfrm>
                <a:off x="3857869" y="2393845"/>
                <a:ext cx="666400"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solidFill>
                            <a:srgbClr val="FF0000"/>
                          </a:solidFill>
                          <a:latin typeface="Cambria Math" panose="02040503050406030204" pitchFamily="18" charset="0"/>
                        </a:rPr>
                        <m:t>𝐶</m:t>
                      </m:r>
                      <m:r>
                        <a:rPr lang="en-US" sz="1200" b="0" i="1" smtClean="0">
                          <a:solidFill>
                            <a:srgbClr val="FF0000"/>
                          </a:solidFill>
                          <a:latin typeface="Cambria Math" panose="02040503050406030204" pitchFamily="18" charset="0"/>
                        </a:rPr>
                        <m:t>+</m:t>
                      </m:r>
                      <m:r>
                        <a:rPr lang="en-US" sz="1200" b="0" i="1" smtClean="0">
                          <a:solidFill>
                            <a:srgbClr val="FF0000"/>
                          </a:solidFill>
                          <a:latin typeface="Cambria Math" panose="02040503050406030204" pitchFamily="18" charset="0"/>
                        </a:rPr>
                        <m:t>𝐼</m:t>
                      </m:r>
                      <m:r>
                        <a:rPr lang="en-US" sz="1200" b="0" i="1" smtClean="0">
                          <a:solidFill>
                            <a:srgbClr val="FF0000"/>
                          </a:solidFill>
                          <a:latin typeface="Cambria Math" panose="02040503050406030204" pitchFamily="18" charset="0"/>
                        </a:rPr>
                        <m:t>+</m:t>
                      </m:r>
                      <m:r>
                        <a:rPr lang="en-US" sz="1200" b="0" i="1" smtClean="0">
                          <a:solidFill>
                            <a:srgbClr val="FF0000"/>
                          </a:solidFill>
                          <a:latin typeface="Cambria Math" panose="02040503050406030204" pitchFamily="18" charset="0"/>
                        </a:rPr>
                        <m:t>𝐺</m:t>
                      </m:r>
                    </m:oMath>
                  </m:oMathPara>
                </a14:m>
                <a:endParaRPr lang="en-US" sz="1200" dirty="0">
                  <a:solidFill>
                    <a:srgbClr val="FF0000"/>
                  </a:solidFill>
                </a:endParaRPr>
              </a:p>
            </p:txBody>
          </p:sp>
        </mc:Choice>
        <mc:Fallback xmlns="">
          <p:sp>
            <p:nvSpPr>
              <p:cNvPr id="50" name="TextBox 49">
                <a:extLst>
                  <a:ext uri="{FF2B5EF4-FFF2-40B4-BE49-F238E27FC236}">
                    <a16:creationId xmlns:a16="http://schemas.microsoft.com/office/drawing/2014/main" id="{241B51C0-BBAC-2B4A-B130-D901A9F4282D}"/>
                  </a:ext>
                </a:extLst>
              </p:cNvPr>
              <p:cNvSpPr txBox="1">
                <a:spLocks noRot="1" noChangeAspect="1" noMove="1" noResize="1" noEditPoints="1" noAdjustHandles="1" noChangeArrowheads="1" noChangeShapeType="1" noTextEdit="1"/>
              </p:cNvSpPr>
              <p:nvPr/>
            </p:nvSpPr>
            <p:spPr>
              <a:xfrm>
                <a:off x="3857869" y="2393845"/>
                <a:ext cx="666400" cy="184666"/>
              </a:xfrm>
              <a:prstGeom prst="rect">
                <a:avLst/>
              </a:prstGeom>
              <a:blipFill>
                <a:blip r:embed="rId4"/>
                <a:stretch>
                  <a:fillRect l="-5505" r="-4587" b="-6667"/>
                </a:stretch>
              </a:blipFill>
            </p:spPr>
            <p:txBody>
              <a:bodyPr/>
              <a:lstStyle/>
              <a:p>
                <a:r>
                  <a:rPr lang="en-US">
                    <a:noFill/>
                  </a:rPr>
                  <a:t> </a:t>
                </a:r>
              </a:p>
            </p:txBody>
          </p:sp>
        </mc:Fallback>
      </mc:AlternateContent>
    </p:spTree>
    <p:extLst>
      <p:ext uri="{BB962C8B-B14F-4D97-AF65-F5344CB8AC3E}">
        <p14:creationId xmlns:p14="http://schemas.microsoft.com/office/powerpoint/2010/main" val="302338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fade">
                                      <p:cBhvr>
                                        <p:cTn id="21" dur="500"/>
                                        <p:tgtEl>
                                          <p:spTgt spid="4">
                                            <p:txEl>
                                              <p:pRg st="0" end="0"/>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fade">
                                      <p:cBhvr>
                                        <p:cTn id="27" dur="500"/>
                                        <p:tgtEl>
                                          <p:spTgt spid="4">
                                            <p:txEl>
                                              <p:pRg st="2" end="2"/>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0"/>
                                        </p:tgtEl>
                                        <p:attrNameLst>
                                          <p:attrName>style.visibility</p:attrName>
                                        </p:attrNameLst>
                                      </p:cBhvr>
                                      <p:to>
                                        <p:strVal val="visible"/>
                                      </p:to>
                                    </p:set>
                                    <p:animEffect transition="in" filter="fade">
                                      <p:cBhvr>
                                        <p:cTn id="30" dur="500"/>
                                        <p:tgtEl>
                                          <p:spTgt spid="5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500"/>
                                        <p:tgtEl>
                                          <p:spTgt spid="4">
                                            <p:txEl>
                                              <p:pRg st="4" end="4"/>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4">
                                            <p:txEl>
                                              <p:pRg st="6" end="6"/>
                                            </p:txEl>
                                          </p:spTgt>
                                        </p:tgtEl>
                                        <p:attrNameLst>
                                          <p:attrName>style.visibility</p:attrName>
                                        </p:attrNameLst>
                                      </p:cBhvr>
                                      <p:to>
                                        <p:strVal val="visible"/>
                                      </p:to>
                                    </p:set>
                                    <p:animEffect transition="in" filter="fade">
                                      <p:cBhvr>
                                        <p:cTn id="38" dur="500"/>
                                        <p:tgtEl>
                                          <p:spTgt spid="4">
                                            <p:txEl>
                                              <p:pRg st="6" end="6"/>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9"/>
                                        </p:tgtEl>
                                        <p:attrNameLst>
                                          <p:attrName>style.visibility</p:attrName>
                                        </p:attrNameLst>
                                      </p:cBhvr>
                                      <p:to>
                                        <p:strVal val="visible"/>
                                      </p:to>
                                    </p:set>
                                    <p:animEffect transition="in" filter="fade">
                                      <p:cBhvr>
                                        <p:cTn id="41" dur="500"/>
                                        <p:tgtEl>
                                          <p:spTgt spid="49"/>
                                        </p:tgtEl>
                                      </p:cBhvr>
                                    </p:animEffect>
                                  </p:childTnLst>
                                </p:cTn>
                              </p:par>
                              <p:par>
                                <p:cTn id="42" presetID="10" presetClass="entr" presetSubtype="0" fill="hold"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500"/>
                                        <p:tgtEl>
                                          <p:spTgt spid="2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4">
                                            <p:txEl>
                                              <p:pRg st="8" end="8"/>
                                            </p:txEl>
                                          </p:spTgt>
                                        </p:tgtEl>
                                        <p:attrNameLst>
                                          <p:attrName>style.visibility</p:attrName>
                                        </p:attrNameLst>
                                      </p:cBhvr>
                                      <p:to>
                                        <p:strVal val="visible"/>
                                      </p:to>
                                    </p:set>
                                    <p:animEffect transition="in" filter="fade">
                                      <p:cBhvr>
                                        <p:cTn id="49" dur="500"/>
                                        <p:tgtEl>
                                          <p:spTgt spid="4">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4">
                                            <p:txEl>
                                              <p:pRg st="9" end="9"/>
                                            </p:txEl>
                                          </p:spTgt>
                                        </p:tgtEl>
                                        <p:attrNameLst>
                                          <p:attrName>style.visibility</p:attrName>
                                        </p:attrNameLst>
                                      </p:cBhvr>
                                      <p:to>
                                        <p:strVal val="visible"/>
                                      </p:to>
                                    </p:set>
                                    <p:animEffect transition="in" filter="fade">
                                      <p:cBhvr>
                                        <p:cTn id="54" dur="500"/>
                                        <p:tgtEl>
                                          <p:spTgt spid="4">
                                            <p:txEl>
                                              <p:pRg st="9" end="9"/>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45"/>
                                        </p:tgtEl>
                                        <p:attrNameLst>
                                          <p:attrName>style.visibility</p:attrName>
                                        </p:attrNameLst>
                                      </p:cBhvr>
                                      <p:to>
                                        <p:strVal val="visible"/>
                                      </p:to>
                                    </p:set>
                                    <p:animEffect transition="in" filter="fade">
                                      <p:cBhvr>
                                        <p:cTn id="57" dur="500"/>
                                        <p:tgtEl>
                                          <p:spTgt spid="4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
                                            <p:txEl>
                                              <p:pRg st="10" end="10"/>
                                            </p:txEl>
                                          </p:spTgt>
                                        </p:tgtEl>
                                        <p:attrNameLst>
                                          <p:attrName>style.visibility</p:attrName>
                                        </p:attrNameLst>
                                      </p:cBhvr>
                                      <p:to>
                                        <p:strVal val="visible"/>
                                      </p:to>
                                    </p:set>
                                    <p:animEffect transition="in" filter="fade">
                                      <p:cBhvr>
                                        <p:cTn id="62" dur="500"/>
                                        <p:tgtEl>
                                          <p:spTgt spid="4">
                                            <p:txEl>
                                              <p:pRg st="10" end="10"/>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47"/>
                                        </p:tgtEl>
                                        <p:attrNameLst>
                                          <p:attrName>style.visibility</p:attrName>
                                        </p:attrNameLst>
                                      </p:cBhvr>
                                      <p:to>
                                        <p:strVal val="visible"/>
                                      </p:to>
                                    </p:set>
                                    <p:animEffect transition="in" filter="fade">
                                      <p:cBhvr>
                                        <p:cTn id="65"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49" grpId="0"/>
      <p:bldP spid="5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6C07A-0C0B-4DCC-CC8E-158479CD25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FE3D26-3934-E1FE-5157-09BCDDD91E23}"/>
              </a:ext>
            </a:extLst>
          </p:cNvPr>
          <p:cNvSpPr>
            <a:spLocks noGrp="1"/>
          </p:cNvSpPr>
          <p:nvPr>
            <p:ph type="title"/>
          </p:nvPr>
        </p:nvSpPr>
        <p:spPr/>
        <p:txBody>
          <a:bodyPr/>
          <a:lstStyle/>
          <a:p>
            <a:r>
              <a:rPr lang="en-US" dirty="0"/>
              <a:t>Observations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40ED42C-1DA5-6F27-4828-FE5698B3F0A4}"/>
                  </a:ext>
                </a:extLst>
              </p:cNvPr>
              <p:cNvSpPr>
                <a:spLocks noGrp="1"/>
              </p:cNvSpPr>
              <p:nvPr>
                <p:ph sz="half" idx="2"/>
              </p:nvPr>
            </p:nvSpPr>
            <p:spPr>
              <a:xfrm>
                <a:off x="4629149" y="1825625"/>
                <a:ext cx="3886199" cy="4351338"/>
              </a:xfrm>
            </p:spPr>
            <p:txBody>
              <a:bodyPr>
                <a:normAutofit/>
              </a:bodyPr>
              <a:lstStyle/>
              <a:p>
                <a:r>
                  <a:rPr lang="en-US" dirty="0"/>
                  <a:t>Finally, we add exports.</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sz="2000" i="1">
                          <a:solidFill>
                            <a:srgbClr val="0070C0"/>
                          </a:solidFill>
                          <a:latin typeface="Cambria Math" panose="02040503050406030204" pitchFamily="18" charset="0"/>
                        </a:rPr>
                        <m:t>𝐶</m:t>
                      </m:r>
                      <m:r>
                        <a:rPr lang="en-US" sz="2000" i="1">
                          <a:solidFill>
                            <a:srgbClr val="0070C0"/>
                          </a:solidFill>
                          <a:latin typeface="Cambria Math" panose="02040503050406030204" pitchFamily="18" charset="0"/>
                        </a:rPr>
                        <m:t>+</m:t>
                      </m:r>
                      <m:r>
                        <a:rPr lang="en-US" sz="2000" i="1">
                          <a:solidFill>
                            <a:srgbClr val="0070C0"/>
                          </a:solidFill>
                          <a:latin typeface="Cambria Math" panose="02040503050406030204" pitchFamily="18" charset="0"/>
                        </a:rPr>
                        <m:t>𝐼</m:t>
                      </m:r>
                      <m:r>
                        <a:rPr lang="en-US" sz="2000" i="1">
                          <a:solidFill>
                            <a:srgbClr val="0070C0"/>
                          </a:solidFill>
                          <a:latin typeface="Cambria Math" panose="02040503050406030204" pitchFamily="18" charset="0"/>
                        </a:rPr>
                        <m:t>+</m:t>
                      </m:r>
                      <m:r>
                        <a:rPr lang="en-US" sz="2000" i="1">
                          <a:solidFill>
                            <a:srgbClr val="0070C0"/>
                          </a:solidFill>
                          <a:latin typeface="Cambria Math" panose="02040503050406030204" pitchFamily="18" charset="0"/>
                        </a:rPr>
                        <m:t>𝐺</m:t>
                      </m:r>
                      <m:r>
                        <a:rPr lang="en-US" sz="2000" i="1">
                          <a:solidFill>
                            <a:srgbClr val="0070C0"/>
                          </a:solidFill>
                          <a:latin typeface="Cambria Math" panose="02040503050406030204" pitchFamily="18" charset="0"/>
                        </a:rPr>
                        <m:t>−</m:t>
                      </m:r>
                      <m:f>
                        <m:fPr>
                          <m:ctrlPr>
                            <a:rPr lang="en-US" sz="2000" i="1">
                              <a:solidFill>
                                <a:srgbClr val="0070C0"/>
                              </a:solidFill>
                              <a:latin typeface="Cambria Math" panose="02040503050406030204" pitchFamily="18" charset="0"/>
                            </a:rPr>
                          </m:ctrlPr>
                        </m:fPr>
                        <m:num>
                          <m:r>
                            <a:rPr lang="en-US" sz="2000" i="1">
                              <a:solidFill>
                                <a:srgbClr val="0070C0"/>
                              </a:solidFill>
                              <a:latin typeface="Cambria Math" panose="02040503050406030204" pitchFamily="18" charset="0"/>
                            </a:rPr>
                            <m:t>𝐼𝑀</m:t>
                          </m:r>
                        </m:num>
                        <m:den>
                          <m:r>
                            <a:rPr lang="en-US" sz="2000" i="1">
                              <a:solidFill>
                                <a:srgbClr val="0070C0"/>
                              </a:solidFill>
                              <a:latin typeface="Cambria Math" panose="02040503050406030204" pitchFamily="18" charset="0"/>
                            </a:rPr>
                            <m:t>𝜀</m:t>
                          </m:r>
                        </m:den>
                      </m:f>
                      <m:r>
                        <a:rPr lang="en-US" sz="2000" i="1">
                          <a:solidFill>
                            <a:srgbClr val="0070C0"/>
                          </a:solidFill>
                          <a:latin typeface="Cambria Math" panose="02040503050406030204" pitchFamily="18" charset="0"/>
                        </a:rPr>
                        <m:t>+</m:t>
                      </m:r>
                      <m:r>
                        <a:rPr lang="en-US" sz="2000" i="1">
                          <a:solidFill>
                            <a:srgbClr val="0070C0"/>
                          </a:solidFill>
                          <a:latin typeface="Cambria Math" panose="02040503050406030204" pitchFamily="18" charset="0"/>
                        </a:rPr>
                        <m:t>𝑋</m:t>
                      </m:r>
                    </m:oMath>
                  </m:oMathPara>
                </a14:m>
                <a:endParaRPr lang="en-US" sz="2000" dirty="0">
                  <a:solidFill>
                    <a:srgbClr val="0070C0"/>
                  </a:solidFill>
                </a:endParaRPr>
              </a:p>
              <a:p>
                <a:pPr marL="0" indent="0">
                  <a:buNone/>
                </a:pPr>
                <a:endParaRPr lang="en-US" sz="1600" dirty="0">
                  <a:solidFill>
                    <a:srgbClr val="0070C0"/>
                  </a:solidFill>
                </a:endParaRPr>
              </a:p>
              <a:p>
                <a:r>
                  <a:rPr lang="en-US" dirty="0"/>
                  <a:t>The demand with exports has the same slope as the demand with imports.</a:t>
                </a:r>
              </a:p>
              <a:p>
                <a:pPr lvl="3"/>
                <a:endParaRPr lang="en-US" dirty="0"/>
              </a:p>
              <a:p>
                <a:r>
                  <a:rPr lang="en-US" dirty="0"/>
                  <a:t>Exports do not depend on domestic output.</a:t>
                </a:r>
              </a:p>
              <a:p>
                <a:endParaRPr lang="en-US" dirty="0"/>
              </a:p>
            </p:txBody>
          </p:sp>
        </mc:Choice>
        <mc:Fallback xmlns="">
          <p:sp>
            <p:nvSpPr>
              <p:cNvPr id="4" name="Content Placeholder 3">
                <a:extLst>
                  <a:ext uri="{FF2B5EF4-FFF2-40B4-BE49-F238E27FC236}">
                    <a16:creationId xmlns:a16="http://schemas.microsoft.com/office/drawing/2014/main" id="{B40ED42C-1DA5-6F27-4828-FE5698B3F0A4}"/>
                  </a:ext>
                </a:extLst>
              </p:cNvPr>
              <p:cNvSpPr>
                <a:spLocks noGrp="1" noRot="1" noChangeAspect="1" noMove="1" noResize="1" noEditPoints="1" noAdjustHandles="1" noChangeArrowheads="1" noChangeShapeType="1" noTextEdit="1"/>
              </p:cNvSpPr>
              <p:nvPr>
                <p:ph sz="half" idx="2"/>
              </p:nvPr>
            </p:nvSpPr>
            <p:spPr>
              <a:xfrm>
                <a:off x="4629149" y="1825625"/>
                <a:ext cx="3886199" cy="4351338"/>
              </a:xfrm>
              <a:blipFill>
                <a:blip r:embed="rId2"/>
                <a:stretch>
                  <a:fillRect l="-2038" t="-1821" r="-2194"/>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E8AE47B8-DB48-73C8-7C12-73D0F660C80D}"/>
              </a:ext>
            </a:extLst>
          </p:cNvPr>
          <p:cNvSpPr>
            <a:spLocks noGrp="1"/>
          </p:cNvSpPr>
          <p:nvPr>
            <p:ph type="dt" sz="half" idx="10"/>
          </p:nvPr>
        </p:nvSpPr>
        <p:spPr/>
        <p:txBody>
          <a:bodyPr/>
          <a:lstStyle/>
          <a:p>
            <a:r>
              <a:rPr lang="en-US" dirty="0"/>
              <a:t>Spring 2024</a:t>
            </a:r>
          </a:p>
        </p:txBody>
      </p:sp>
      <p:sp>
        <p:nvSpPr>
          <p:cNvPr id="6" name="Footer Placeholder 5">
            <a:extLst>
              <a:ext uri="{FF2B5EF4-FFF2-40B4-BE49-F238E27FC236}">
                <a16:creationId xmlns:a16="http://schemas.microsoft.com/office/drawing/2014/main" id="{F9026A0E-DA65-9157-AF6A-CAADF50B3E2C}"/>
              </a:ext>
            </a:extLst>
          </p:cNvPr>
          <p:cNvSpPr>
            <a:spLocks noGrp="1"/>
          </p:cNvSpPr>
          <p:nvPr>
            <p:ph type="ftr" sz="quarter" idx="11"/>
          </p:nvPr>
        </p:nvSpPr>
        <p:spPr/>
        <p:txBody>
          <a:bodyPr/>
          <a:lstStyle/>
          <a:p>
            <a:r>
              <a:rPr lang="en-US" dirty="0"/>
              <a:t>DEPARTMENT OF BUSINESS &amp; ECONOMICS</a:t>
            </a:r>
          </a:p>
        </p:txBody>
      </p:sp>
      <p:sp>
        <p:nvSpPr>
          <p:cNvPr id="7" name="Slide Number Placeholder 6">
            <a:extLst>
              <a:ext uri="{FF2B5EF4-FFF2-40B4-BE49-F238E27FC236}">
                <a16:creationId xmlns:a16="http://schemas.microsoft.com/office/drawing/2014/main" id="{C9E93CE9-23B7-1CB9-08E4-C0B100BBA063}"/>
              </a:ext>
            </a:extLst>
          </p:cNvPr>
          <p:cNvSpPr>
            <a:spLocks noGrp="1"/>
          </p:cNvSpPr>
          <p:nvPr>
            <p:ph type="sldNum" sz="quarter" idx="12"/>
          </p:nvPr>
        </p:nvSpPr>
        <p:spPr/>
        <p:txBody>
          <a:bodyPr/>
          <a:lstStyle/>
          <a:p>
            <a:fld id="{1A980C56-831A-4EAB-9EDE-57C090F4F877}" type="slidenum">
              <a:rPr lang="en-US" smtClean="0"/>
              <a:t>10</a:t>
            </a:fld>
            <a:endParaRPr lang="en-US" dirty="0"/>
          </a:p>
        </p:txBody>
      </p:sp>
      <p:cxnSp>
        <p:nvCxnSpPr>
          <p:cNvPr id="12" name="Straight Arrow Connector 11">
            <a:extLst>
              <a:ext uri="{FF2B5EF4-FFF2-40B4-BE49-F238E27FC236}">
                <a16:creationId xmlns:a16="http://schemas.microsoft.com/office/drawing/2014/main" id="{B66AC92C-8A88-3848-D654-D68051C6AB83}"/>
              </a:ext>
            </a:extLst>
          </p:cNvPr>
          <p:cNvCxnSpPr/>
          <p:nvPr/>
        </p:nvCxnSpPr>
        <p:spPr>
          <a:xfrm>
            <a:off x="628649" y="5731731"/>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F73FD52-F826-073C-65C5-83D44E1E7E16}"/>
              </a:ext>
            </a:extLst>
          </p:cNvPr>
          <p:cNvCxnSpPr>
            <a:cxnSpLocks/>
          </p:cNvCxnSpPr>
          <p:nvPr/>
        </p:nvCxnSpPr>
        <p:spPr>
          <a:xfrm rot="16200000">
            <a:off x="-1151141" y="3954581"/>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1453694-8A7C-AA2A-7882-E2C1F72B92A1}"/>
              </a:ext>
            </a:extLst>
          </p:cNvPr>
          <p:cNvSpPr txBox="1"/>
          <p:nvPr/>
        </p:nvSpPr>
        <p:spPr>
          <a:xfrm>
            <a:off x="3864546" y="5731731"/>
            <a:ext cx="708848" cy="307777"/>
          </a:xfrm>
          <a:prstGeom prst="rect">
            <a:avLst/>
          </a:prstGeom>
          <a:noFill/>
        </p:spPr>
        <p:txBody>
          <a:bodyPr wrap="none" rtlCol="0">
            <a:spAutoFit/>
          </a:bodyPr>
          <a:lstStyle/>
          <a:p>
            <a:r>
              <a:rPr lang="en-US" sz="1400" dirty="0"/>
              <a:t>Output</a:t>
            </a:r>
          </a:p>
        </p:txBody>
      </p:sp>
      <p:sp>
        <p:nvSpPr>
          <p:cNvPr id="18" name="TextBox 17">
            <a:extLst>
              <a:ext uri="{FF2B5EF4-FFF2-40B4-BE49-F238E27FC236}">
                <a16:creationId xmlns:a16="http://schemas.microsoft.com/office/drawing/2014/main" id="{A3834DB4-47CF-8CC2-D09C-5DBEBCB8EAE6}"/>
              </a:ext>
            </a:extLst>
          </p:cNvPr>
          <p:cNvSpPr txBox="1"/>
          <p:nvPr/>
        </p:nvSpPr>
        <p:spPr>
          <a:xfrm rot="16200000">
            <a:off x="226937" y="2259305"/>
            <a:ext cx="803425" cy="307777"/>
          </a:xfrm>
          <a:prstGeom prst="rect">
            <a:avLst/>
          </a:prstGeom>
          <a:noFill/>
        </p:spPr>
        <p:txBody>
          <a:bodyPr wrap="none" rtlCol="0">
            <a:spAutoFit/>
          </a:bodyPr>
          <a:lstStyle/>
          <a:p>
            <a:r>
              <a:rPr lang="en-US" sz="1400" dirty="0"/>
              <a:t>Demand</a:t>
            </a:r>
          </a:p>
        </p:txBody>
      </p:sp>
      <p:cxnSp>
        <p:nvCxnSpPr>
          <p:cNvPr id="9" name="Straight Connector 8">
            <a:extLst>
              <a:ext uri="{FF2B5EF4-FFF2-40B4-BE49-F238E27FC236}">
                <a16:creationId xmlns:a16="http://schemas.microsoft.com/office/drawing/2014/main" id="{99409940-2529-464B-83F1-16838F81ECD9}"/>
              </a:ext>
            </a:extLst>
          </p:cNvPr>
          <p:cNvCxnSpPr>
            <a:cxnSpLocks/>
          </p:cNvCxnSpPr>
          <p:nvPr/>
        </p:nvCxnSpPr>
        <p:spPr>
          <a:xfrm flipV="1">
            <a:off x="791958" y="2603424"/>
            <a:ext cx="3732311" cy="2231414"/>
          </a:xfrm>
          <a:prstGeom prst="line">
            <a:avLst/>
          </a:prstGeom>
          <a:ln w="28575">
            <a:solidFill>
              <a:srgbClr val="FF0000">
                <a:alpha val="25098"/>
              </a:srgbClr>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68F910E-A0DE-7693-0969-CFE0993CF97B}"/>
              </a:ext>
            </a:extLst>
          </p:cNvPr>
          <p:cNvCxnSpPr>
            <a:cxnSpLocks/>
          </p:cNvCxnSpPr>
          <p:nvPr/>
        </p:nvCxnSpPr>
        <p:spPr>
          <a:xfrm flipV="1">
            <a:off x="782538" y="3957386"/>
            <a:ext cx="3732311" cy="998376"/>
          </a:xfrm>
          <a:prstGeom prst="line">
            <a:avLst/>
          </a:prstGeom>
          <a:ln w="28575">
            <a:solidFill>
              <a:srgbClr val="9C5BCD"/>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7775FBA-143D-187C-630A-4BB75AE68F38}"/>
              </a:ext>
            </a:extLst>
          </p:cNvPr>
          <p:cNvCxnSpPr>
            <a:cxnSpLocks/>
          </p:cNvCxnSpPr>
          <p:nvPr/>
        </p:nvCxnSpPr>
        <p:spPr>
          <a:xfrm flipV="1">
            <a:off x="782538" y="3198248"/>
            <a:ext cx="3732311" cy="998376"/>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4E0015A-4719-98E2-81AA-88DFE168C4C9}"/>
                  </a:ext>
                </a:extLst>
              </p:cNvPr>
              <p:cNvSpPr txBox="1"/>
              <p:nvPr/>
            </p:nvSpPr>
            <p:spPr>
              <a:xfrm>
                <a:off x="3857869" y="2393845"/>
                <a:ext cx="666400"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solidFill>
                            <a:srgbClr val="FF0000">
                              <a:alpha val="25000"/>
                            </a:srgbClr>
                          </a:solidFill>
                          <a:latin typeface="Cambria Math" panose="02040503050406030204" pitchFamily="18" charset="0"/>
                        </a:rPr>
                        <m:t>𝐶</m:t>
                      </m:r>
                      <m:r>
                        <a:rPr lang="en-US" sz="1200" b="0" i="1" smtClean="0">
                          <a:solidFill>
                            <a:srgbClr val="FF0000">
                              <a:alpha val="25000"/>
                            </a:srgbClr>
                          </a:solidFill>
                          <a:latin typeface="Cambria Math" panose="02040503050406030204" pitchFamily="18" charset="0"/>
                        </a:rPr>
                        <m:t>+</m:t>
                      </m:r>
                      <m:r>
                        <a:rPr lang="en-US" sz="1200" b="0" i="1" smtClean="0">
                          <a:solidFill>
                            <a:srgbClr val="FF0000">
                              <a:alpha val="25000"/>
                            </a:srgbClr>
                          </a:solidFill>
                          <a:latin typeface="Cambria Math" panose="02040503050406030204" pitchFamily="18" charset="0"/>
                        </a:rPr>
                        <m:t>𝐼</m:t>
                      </m:r>
                      <m:r>
                        <a:rPr lang="en-US" sz="1200" b="0" i="1" smtClean="0">
                          <a:solidFill>
                            <a:srgbClr val="FF0000">
                              <a:alpha val="25000"/>
                            </a:srgbClr>
                          </a:solidFill>
                          <a:latin typeface="Cambria Math" panose="02040503050406030204" pitchFamily="18" charset="0"/>
                        </a:rPr>
                        <m:t>+</m:t>
                      </m:r>
                      <m:r>
                        <a:rPr lang="en-US" sz="1200" b="0" i="1" smtClean="0">
                          <a:solidFill>
                            <a:srgbClr val="FF0000">
                              <a:alpha val="25000"/>
                            </a:srgbClr>
                          </a:solidFill>
                          <a:latin typeface="Cambria Math" panose="02040503050406030204" pitchFamily="18" charset="0"/>
                        </a:rPr>
                        <m:t>𝐺</m:t>
                      </m:r>
                    </m:oMath>
                  </m:oMathPara>
                </a14:m>
                <a:endParaRPr lang="en-US" sz="1200" dirty="0">
                  <a:solidFill>
                    <a:srgbClr val="FF0000">
                      <a:alpha val="25000"/>
                    </a:srgbClr>
                  </a:solidFill>
                </a:endParaRPr>
              </a:p>
            </p:txBody>
          </p:sp>
        </mc:Choice>
        <mc:Fallback xmlns="">
          <p:sp>
            <p:nvSpPr>
              <p:cNvPr id="3" name="TextBox 2">
                <a:extLst>
                  <a:ext uri="{FF2B5EF4-FFF2-40B4-BE49-F238E27FC236}">
                    <a16:creationId xmlns:a16="http://schemas.microsoft.com/office/drawing/2014/main" id="{54E0015A-4719-98E2-81AA-88DFE168C4C9}"/>
                  </a:ext>
                </a:extLst>
              </p:cNvPr>
              <p:cNvSpPr txBox="1">
                <a:spLocks noRot="1" noChangeAspect="1" noMove="1" noResize="1" noEditPoints="1" noAdjustHandles="1" noChangeArrowheads="1" noChangeShapeType="1" noTextEdit="1"/>
              </p:cNvSpPr>
              <p:nvPr/>
            </p:nvSpPr>
            <p:spPr>
              <a:xfrm>
                <a:off x="3857869" y="2393845"/>
                <a:ext cx="666400" cy="184666"/>
              </a:xfrm>
              <a:prstGeom prst="rect">
                <a:avLst/>
              </a:prstGeom>
              <a:blipFill>
                <a:blip r:embed="rId3"/>
                <a:stretch>
                  <a:fillRect l="-5505" r="-4587"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A2385CF-D86E-25BA-C83F-00D4E66A3267}"/>
                  </a:ext>
                </a:extLst>
              </p:cNvPr>
              <p:cNvSpPr txBox="1"/>
              <p:nvPr/>
            </p:nvSpPr>
            <p:spPr>
              <a:xfrm>
                <a:off x="3481163" y="4165923"/>
                <a:ext cx="1043106" cy="3457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solidFill>
                            <a:srgbClr val="9C5BCD"/>
                          </a:solidFill>
                          <a:latin typeface="Cambria Math" panose="02040503050406030204" pitchFamily="18" charset="0"/>
                        </a:rPr>
                        <m:t>𝐶</m:t>
                      </m:r>
                      <m:r>
                        <a:rPr lang="en-US" sz="1200" b="0" i="1" smtClean="0">
                          <a:solidFill>
                            <a:srgbClr val="9C5BCD"/>
                          </a:solidFill>
                          <a:latin typeface="Cambria Math" panose="02040503050406030204" pitchFamily="18" charset="0"/>
                        </a:rPr>
                        <m:t>+</m:t>
                      </m:r>
                      <m:r>
                        <a:rPr lang="en-US" sz="1200" b="0" i="1" smtClean="0">
                          <a:solidFill>
                            <a:srgbClr val="9C5BCD"/>
                          </a:solidFill>
                          <a:latin typeface="Cambria Math" panose="02040503050406030204" pitchFamily="18" charset="0"/>
                        </a:rPr>
                        <m:t>𝐼</m:t>
                      </m:r>
                      <m:r>
                        <a:rPr lang="en-US" sz="1200" b="0" i="1" smtClean="0">
                          <a:solidFill>
                            <a:srgbClr val="9C5BCD"/>
                          </a:solidFill>
                          <a:latin typeface="Cambria Math" panose="02040503050406030204" pitchFamily="18" charset="0"/>
                        </a:rPr>
                        <m:t>+</m:t>
                      </m:r>
                      <m:r>
                        <a:rPr lang="en-US" sz="1200" b="0" i="1" smtClean="0">
                          <a:solidFill>
                            <a:srgbClr val="9C5BCD"/>
                          </a:solidFill>
                          <a:latin typeface="Cambria Math" panose="02040503050406030204" pitchFamily="18" charset="0"/>
                        </a:rPr>
                        <m:t>𝐺</m:t>
                      </m:r>
                      <m:r>
                        <a:rPr lang="en-US" sz="1200" b="0" i="1" smtClean="0">
                          <a:solidFill>
                            <a:srgbClr val="9C5BCD"/>
                          </a:solidFill>
                          <a:latin typeface="Cambria Math" panose="02040503050406030204" pitchFamily="18" charset="0"/>
                        </a:rPr>
                        <m:t>−</m:t>
                      </m:r>
                      <m:f>
                        <m:fPr>
                          <m:ctrlPr>
                            <a:rPr lang="en-US" sz="1200" b="0" i="1" smtClean="0">
                              <a:solidFill>
                                <a:srgbClr val="9C5BCD"/>
                              </a:solidFill>
                              <a:latin typeface="Cambria Math" panose="02040503050406030204" pitchFamily="18" charset="0"/>
                            </a:rPr>
                          </m:ctrlPr>
                        </m:fPr>
                        <m:num>
                          <m:r>
                            <a:rPr lang="en-US" sz="1200" b="0" i="1" smtClean="0">
                              <a:solidFill>
                                <a:srgbClr val="9C5BCD"/>
                              </a:solidFill>
                              <a:latin typeface="Cambria Math" panose="02040503050406030204" pitchFamily="18" charset="0"/>
                            </a:rPr>
                            <m:t>𝐼𝑀</m:t>
                          </m:r>
                        </m:num>
                        <m:den>
                          <m:r>
                            <a:rPr lang="en-US" sz="1200" b="0" i="1" smtClean="0">
                              <a:solidFill>
                                <a:srgbClr val="9C5BCD"/>
                              </a:solidFill>
                              <a:latin typeface="Cambria Math" panose="02040503050406030204" pitchFamily="18" charset="0"/>
                            </a:rPr>
                            <m:t>𝜀</m:t>
                          </m:r>
                        </m:den>
                      </m:f>
                    </m:oMath>
                  </m:oMathPara>
                </a14:m>
                <a:endParaRPr lang="en-US" sz="1200" dirty="0">
                  <a:solidFill>
                    <a:srgbClr val="9C5BCD"/>
                  </a:solidFill>
                </a:endParaRPr>
              </a:p>
            </p:txBody>
          </p:sp>
        </mc:Choice>
        <mc:Fallback xmlns="">
          <p:sp>
            <p:nvSpPr>
              <p:cNvPr id="8" name="TextBox 7">
                <a:extLst>
                  <a:ext uri="{FF2B5EF4-FFF2-40B4-BE49-F238E27FC236}">
                    <a16:creationId xmlns:a16="http://schemas.microsoft.com/office/drawing/2014/main" id="{EA2385CF-D86E-25BA-C83F-00D4E66A3267}"/>
                  </a:ext>
                </a:extLst>
              </p:cNvPr>
              <p:cNvSpPr txBox="1">
                <a:spLocks noRot="1" noChangeAspect="1" noMove="1" noResize="1" noEditPoints="1" noAdjustHandles="1" noChangeArrowheads="1" noChangeShapeType="1" noTextEdit="1"/>
              </p:cNvSpPr>
              <p:nvPr/>
            </p:nvSpPr>
            <p:spPr>
              <a:xfrm>
                <a:off x="3481163" y="4165923"/>
                <a:ext cx="1043106" cy="345736"/>
              </a:xfrm>
              <a:prstGeom prst="rect">
                <a:avLst/>
              </a:prstGeom>
              <a:blipFill>
                <a:blip r:embed="rId4"/>
                <a:stretch>
                  <a:fillRect l="-2924" t="-1754" r="-2339"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E69DE09-65B6-26A9-6768-853AAB72C145}"/>
                  </a:ext>
                </a:extLst>
              </p:cNvPr>
              <p:cNvSpPr txBox="1"/>
              <p:nvPr/>
            </p:nvSpPr>
            <p:spPr>
              <a:xfrm>
                <a:off x="854228" y="3419979"/>
                <a:ext cx="1626150" cy="3457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solidFill>
                            <a:srgbClr val="0070C0"/>
                          </a:solidFill>
                          <a:latin typeface="Cambria Math" panose="02040503050406030204" pitchFamily="18" charset="0"/>
                        </a:rPr>
                        <m:t>𝑍</m:t>
                      </m:r>
                      <m:r>
                        <a:rPr lang="en-US" sz="1200" b="0" i="1" smtClean="0">
                          <a:solidFill>
                            <a:srgbClr val="0070C0"/>
                          </a:solidFill>
                          <a:latin typeface="Cambria Math" panose="02040503050406030204" pitchFamily="18" charset="0"/>
                        </a:rPr>
                        <m:t>=</m:t>
                      </m:r>
                      <m:r>
                        <a:rPr lang="en-US" sz="1200" b="0" i="1" smtClean="0">
                          <a:solidFill>
                            <a:srgbClr val="0070C0"/>
                          </a:solidFill>
                          <a:latin typeface="Cambria Math" panose="02040503050406030204" pitchFamily="18" charset="0"/>
                        </a:rPr>
                        <m:t>𝐶</m:t>
                      </m:r>
                      <m:r>
                        <a:rPr lang="en-US" sz="1200" b="0" i="1" smtClean="0">
                          <a:solidFill>
                            <a:srgbClr val="0070C0"/>
                          </a:solidFill>
                          <a:latin typeface="Cambria Math" panose="02040503050406030204" pitchFamily="18" charset="0"/>
                        </a:rPr>
                        <m:t>+</m:t>
                      </m:r>
                      <m:r>
                        <a:rPr lang="en-US" sz="1200" b="0" i="1" smtClean="0">
                          <a:solidFill>
                            <a:srgbClr val="0070C0"/>
                          </a:solidFill>
                          <a:latin typeface="Cambria Math" panose="02040503050406030204" pitchFamily="18" charset="0"/>
                        </a:rPr>
                        <m:t>𝐼</m:t>
                      </m:r>
                      <m:r>
                        <a:rPr lang="en-US" sz="1200" b="0" i="1" smtClean="0">
                          <a:solidFill>
                            <a:srgbClr val="0070C0"/>
                          </a:solidFill>
                          <a:latin typeface="Cambria Math" panose="02040503050406030204" pitchFamily="18" charset="0"/>
                        </a:rPr>
                        <m:t>+</m:t>
                      </m:r>
                      <m:r>
                        <a:rPr lang="en-US" sz="1200" b="0" i="1" smtClean="0">
                          <a:solidFill>
                            <a:srgbClr val="0070C0"/>
                          </a:solidFill>
                          <a:latin typeface="Cambria Math" panose="02040503050406030204" pitchFamily="18" charset="0"/>
                        </a:rPr>
                        <m:t>𝐺</m:t>
                      </m:r>
                      <m:r>
                        <a:rPr lang="en-US" sz="1200" b="0" i="1" smtClean="0">
                          <a:solidFill>
                            <a:srgbClr val="0070C0"/>
                          </a:solidFill>
                          <a:latin typeface="Cambria Math" panose="02040503050406030204" pitchFamily="18" charset="0"/>
                        </a:rPr>
                        <m:t>−</m:t>
                      </m:r>
                      <m:f>
                        <m:fPr>
                          <m:ctrlPr>
                            <a:rPr lang="en-US" sz="1200" b="0" i="1" smtClean="0">
                              <a:solidFill>
                                <a:srgbClr val="0070C0"/>
                              </a:solidFill>
                              <a:latin typeface="Cambria Math" panose="02040503050406030204" pitchFamily="18" charset="0"/>
                            </a:rPr>
                          </m:ctrlPr>
                        </m:fPr>
                        <m:num>
                          <m:r>
                            <a:rPr lang="en-US" sz="1200" b="0" i="1" smtClean="0">
                              <a:solidFill>
                                <a:srgbClr val="0070C0"/>
                              </a:solidFill>
                              <a:latin typeface="Cambria Math" panose="02040503050406030204" pitchFamily="18" charset="0"/>
                            </a:rPr>
                            <m:t>𝐼𝑀</m:t>
                          </m:r>
                        </m:num>
                        <m:den>
                          <m:r>
                            <a:rPr lang="en-US" sz="1200" b="0" i="1" smtClean="0">
                              <a:solidFill>
                                <a:srgbClr val="0070C0"/>
                              </a:solidFill>
                              <a:latin typeface="Cambria Math" panose="02040503050406030204" pitchFamily="18" charset="0"/>
                            </a:rPr>
                            <m:t>𝜀</m:t>
                          </m:r>
                        </m:den>
                      </m:f>
                      <m:r>
                        <a:rPr lang="en-US" sz="1200" b="0" i="1" smtClean="0">
                          <a:solidFill>
                            <a:srgbClr val="0070C0"/>
                          </a:solidFill>
                          <a:latin typeface="Cambria Math" panose="02040503050406030204" pitchFamily="18" charset="0"/>
                        </a:rPr>
                        <m:t>+</m:t>
                      </m:r>
                      <m:r>
                        <a:rPr lang="en-US" sz="1200" b="0" i="1" smtClean="0">
                          <a:solidFill>
                            <a:srgbClr val="0070C0"/>
                          </a:solidFill>
                          <a:latin typeface="Cambria Math" panose="02040503050406030204" pitchFamily="18" charset="0"/>
                        </a:rPr>
                        <m:t>𝑋</m:t>
                      </m:r>
                    </m:oMath>
                  </m:oMathPara>
                </a14:m>
                <a:endParaRPr lang="en-US" sz="1200" dirty="0">
                  <a:solidFill>
                    <a:srgbClr val="0070C0"/>
                  </a:solidFill>
                </a:endParaRPr>
              </a:p>
            </p:txBody>
          </p:sp>
        </mc:Choice>
        <mc:Fallback xmlns="">
          <p:sp>
            <p:nvSpPr>
              <p:cNvPr id="11" name="TextBox 10">
                <a:extLst>
                  <a:ext uri="{FF2B5EF4-FFF2-40B4-BE49-F238E27FC236}">
                    <a16:creationId xmlns:a16="http://schemas.microsoft.com/office/drawing/2014/main" id="{FE69DE09-65B6-26A9-6768-853AAB72C145}"/>
                  </a:ext>
                </a:extLst>
              </p:cNvPr>
              <p:cNvSpPr txBox="1">
                <a:spLocks noRot="1" noChangeAspect="1" noMove="1" noResize="1" noEditPoints="1" noAdjustHandles="1" noChangeArrowheads="1" noChangeShapeType="1" noTextEdit="1"/>
              </p:cNvSpPr>
              <p:nvPr/>
            </p:nvSpPr>
            <p:spPr>
              <a:xfrm>
                <a:off x="854228" y="3419979"/>
                <a:ext cx="1626150" cy="345736"/>
              </a:xfrm>
              <a:prstGeom prst="rect">
                <a:avLst/>
              </a:prstGeom>
              <a:blipFill>
                <a:blip r:embed="rId5"/>
                <a:stretch>
                  <a:fillRect l="-1873" t="-3509" r="-1498" b="-10526"/>
                </a:stretch>
              </a:blipFill>
            </p:spPr>
            <p:txBody>
              <a:bodyPr/>
              <a:lstStyle/>
              <a:p>
                <a:r>
                  <a:rPr lang="en-US">
                    <a:noFill/>
                  </a:rPr>
                  <a:t> </a:t>
                </a:r>
              </a:p>
            </p:txBody>
          </p:sp>
        </mc:Fallback>
      </mc:AlternateContent>
    </p:spTree>
    <p:extLst>
      <p:ext uri="{BB962C8B-B14F-4D97-AF65-F5344CB8AC3E}">
        <p14:creationId xmlns:p14="http://schemas.microsoft.com/office/powerpoint/2010/main" val="3218170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500"/>
                                        <p:tgtEl>
                                          <p:spTgt spid="4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
                                            <p:txEl>
                                              <p:pRg st="6" end="6"/>
                                            </p:txEl>
                                          </p:spTgt>
                                        </p:tgtEl>
                                        <p:attrNameLst>
                                          <p:attrName>style.visibility</p:attrName>
                                        </p:attrNameLst>
                                      </p:cBhvr>
                                      <p:to>
                                        <p:strVal val="visible"/>
                                      </p:to>
                                    </p:set>
                                    <p:animEffect transition="in" filter="fade">
                                      <p:cBhvr>
                                        <p:cTn id="26"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6C07A-0C0B-4DCC-CC8E-158479CD2502}"/>
            </a:ext>
          </a:extLst>
        </p:cNvPr>
        <p:cNvGrpSpPr/>
        <p:nvPr/>
      </p:nvGrpSpPr>
      <p:grpSpPr>
        <a:xfrm>
          <a:off x="0" y="0"/>
          <a:ext cx="0" cy="0"/>
          <a:chOff x="0" y="0"/>
          <a:chExt cx="0" cy="0"/>
        </a:xfrm>
      </p:grpSpPr>
      <p:cxnSp>
        <p:nvCxnSpPr>
          <p:cNvPr id="14" name="Straight Arrow Connector 13">
            <a:extLst>
              <a:ext uri="{FF2B5EF4-FFF2-40B4-BE49-F238E27FC236}">
                <a16:creationId xmlns:a16="http://schemas.microsoft.com/office/drawing/2014/main" id="{39A036D7-BCA8-3A48-903B-AE7B5F1B6BB3}"/>
              </a:ext>
            </a:extLst>
          </p:cNvPr>
          <p:cNvCxnSpPr/>
          <p:nvPr/>
        </p:nvCxnSpPr>
        <p:spPr>
          <a:xfrm>
            <a:off x="4741113" y="4196624"/>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3A29FCA-4E94-2126-9DE1-F23C4332C408}"/>
              </a:ext>
            </a:extLst>
          </p:cNvPr>
          <p:cNvCxnSpPr>
            <a:cxnSpLocks/>
          </p:cNvCxnSpPr>
          <p:nvPr/>
        </p:nvCxnSpPr>
        <p:spPr>
          <a:xfrm>
            <a:off x="4908202" y="3581400"/>
            <a:ext cx="3680967" cy="1226344"/>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3FE3D26-3934-E1FE-5157-09BCDDD91E23}"/>
              </a:ext>
            </a:extLst>
          </p:cNvPr>
          <p:cNvSpPr>
            <a:spLocks noGrp="1"/>
          </p:cNvSpPr>
          <p:nvPr>
            <p:ph type="title"/>
          </p:nvPr>
        </p:nvSpPr>
        <p:spPr/>
        <p:txBody>
          <a:bodyPr/>
          <a:lstStyle/>
          <a:p>
            <a:r>
              <a:rPr lang="en-US" dirty="0"/>
              <a:t>Visualizing the Open Goods Market</a:t>
            </a:r>
          </a:p>
        </p:txBody>
      </p:sp>
      <p:sp>
        <p:nvSpPr>
          <p:cNvPr id="5" name="Date Placeholder 4">
            <a:extLst>
              <a:ext uri="{FF2B5EF4-FFF2-40B4-BE49-F238E27FC236}">
                <a16:creationId xmlns:a16="http://schemas.microsoft.com/office/drawing/2014/main" id="{E8AE47B8-DB48-73C8-7C12-73D0F660C80D}"/>
              </a:ext>
            </a:extLst>
          </p:cNvPr>
          <p:cNvSpPr>
            <a:spLocks noGrp="1"/>
          </p:cNvSpPr>
          <p:nvPr>
            <p:ph type="dt" sz="half" idx="10"/>
          </p:nvPr>
        </p:nvSpPr>
        <p:spPr/>
        <p:txBody>
          <a:bodyPr/>
          <a:lstStyle/>
          <a:p>
            <a:r>
              <a:rPr lang="en-US" dirty="0"/>
              <a:t>Spring 2024</a:t>
            </a:r>
          </a:p>
        </p:txBody>
      </p:sp>
      <p:sp>
        <p:nvSpPr>
          <p:cNvPr id="6" name="Footer Placeholder 5">
            <a:extLst>
              <a:ext uri="{FF2B5EF4-FFF2-40B4-BE49-F238E27FC236}">
                <a16:creationId xmlns:a16="http://schemas.microsoft.com/office/drawing/2014/main" id="{F9026A0E-DA65-9157-AF6A-CAADF50B3E2C}"/>
              </a:ext>
            </a:extLst>
          </p:cNvPr>
          <p:cNvSpPr>
            <a:spLocks noGrp="1"/>
          </p:cNvSpPr>
          <p:nvPr>
            <p:ph type="ftr" sz="quarter" idx="11"/>
          </p:nvPr>
        </p:nvSpPr>
        <p:spPr/>
        <p:txBody>
          <a:bodyPr/>
          <a:lstStyle/>
          <a:p>
            <a:r>
              <a:rPr lang="en-US" dirty="0"/>
              <a:t>DEPARTMENT OF BUSINESS &amp; ECONOMICS</a:t>
            </a:r>
          </a:p>
        </p:txBody>
      </p:sp>
      <p:sp>
        <p:nvSpPr>
          <p:cNvPr id="7" name="Slide Number Placeholder 6">
            <a:extLst>
              <a:ext uri="{FF2B5EF4-FFF2-40B4-BE49-F238E27FC236}">
                <a16:creationId xmlns:a16="http://schemas.microsoft.com/office/drawing/2014/main" id="{C9E93CE9-23B7-1CB9-08E4-C0B100BBA063}"/>
              </a:ext>
            </a:extLst>
          </p:cNvPr>
          <p:cNvSpPr>
            <a:spLocks noGrp="1"/>
          </p:cNvSpPr>
          <p:nvPr>
            <p:ph type="sldNum" sz="quarter" idx="12"/>
          </p:nvPr>
        </p:nvSpPr>
        <p:spPr/>
        <p:txBody>
          <a:bodyPr/>
          <a:lstStyle/>
          <a:p>
            <a:fld id="{1A980C56-831A-4EAB-9EDE-57C090F4F877}" type="slidenum">
              <a:rPr lang="en-US" smtClean="0"/>
              <a:t>11</a:t>
            </a:fld>
            <a:endParaRPr lang="en-US" dirty="0"/>
          </a:p>
        </p:txBody>
      </p:sp>
      <p:cxnSp>
        <p:nvCxnSpPr>
          <p:cNvPr id="12" name="Straight Arrow Connector 11">
            <a:extLst>
              <a:ext uri="{FF2B5EF4-FFF2-40B4-BE49-F238E27FC236}">
                <a16:creationId xmlns:a16="http://schemas.microsoft.com/office/drawing/2014/main" id="{B66AC92C-8A88-3848-D654-D68051C6AB83}"/>
              </a:ext>
            </a:extLst>
          </p:cNvPr>
          <p:cNvCxnSpPr/>
          <p:nvPr/>
        </p:nvCxnSpPr>
        <p:spPr>
          <a:xfrm>
            <a:off x="628649" y="5731731"/>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F73FD52-F826-073C-65C5-83D44E1E7E16}"/>
              </a:ext>
            </a:extLst>
          </p:cNvPr>
          <p:cNvCxnSpPr>
            <a:cxnSpLocks/>
          </p:cNvCxnSpPr>
          <p:nvPr/>
        </p:nvCxnSpPr>
        <p:spPr>
          <a:xfrm rot="16200000">
            <a:off x="-1151141" y="3954581"/>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1453694-8A7C-AA2A-7882-E2C1F72B92A1}"/>
              </a:ext>
            </a:extLst>
          </p:cNvPr>
          <p:cNvSpPr txBox="1"/>
          <p:nvPr/>
        </p:nvSpPr>
        <p:spPr>
          <a:xfrm>
            <a:off x="3864546" y="5731731"/>
            <a:ext cx="708848" cy="307777"/>
          </a:xfrm>
          <a:prstGeom prst="rect">
            <a:avLst/>
          </a:prstGeom>
          <a:noFill/>
        </p:spPr>
        <p:txBody>
          <a:bodyPr wrap="none" rtlCol="0">
            <a:spAutoFit/>
          </a:bodyPr>
          <a:lstStyle/>
          <a:p>
            <a:r>
              <a:rPr lang="en-US" sz="1400" dirty="0"/>
              <a:t>Output</a:t>
            </a:r>
          </a:p>
        </p:txBody>
      </p:sp>
      <p:sp>
        <p:nvSpPr>
          <p:cNvPr id="18" name="TextBox 17">
            <a:extLst>
              <a:ext uri="{FF2B5EF4-FFF2-40B4-BE49-F238E27FC236}">
                <a16:creationId xmlns:a16="http://schemas.microsoft.com/office/drawing/2014/main" id="{A3834DB4-47CF-8CC2-D09C-5DBEBCB8EAE6}"/>
              </a:ext>
            </a:extLst>
          </p:cNvPr>
          <p:cNvSpPr txBox="1"/>
          <p:nvPr/>
        </p:nvSpPr>
        <p:spPr>
          <a:xfrm rot="16200000">
            <a:off x="226937" y="2259305"/>
            <a:ext cx="803425" cy="307777"/>
          </a:xfrm>
          <a:prstGeom prst="rect">
            <a:avLst/>
          </a:prstGeom>
          <a:noFill/>
        </p:spPr>
        <p:txBody>
          <a:bodyPr wrap="none" rtlCol="0">
            <a:spAutoFit/>
          </a:bodyPr>
          <a:lstStyle/>
          <a:p>
            <a:r>
              <a:rPr lang="en-US" sz="1400" dirty="0"/>
              <a:t>Demand</a:t>
            </a:r>
          </a:p>
        </p:txBody>
      </p:sp>
      <p:cxnSp>
        <p:nvCxnSpPr>
          <p:cNvPr id="9" name="Straight Connector 8">
            <a:extLst>
              <a:ext uri="{FF2B5EF4-FFF2-40B4-BE49-F238E27FC236}">
                <a16:creationId xmlns:a16="http://schemas.microsoft.com/office/drawing/2014/main" id="{99409940-2529-464B-83F1-16838F81ECD9}"/>
              </a:ext>
            </a:extLst>
          </p:cNvPr>
          <p:cNvCxnSpPr>
            <a:cxnSpLocks/>
          </p:cNvCxnSpPr>
          <p:nvPr/>
        </p:nvCxnSpPr>
        <p:spPr>
          <a:xfrm flipV="1">
            <a:off x="791958" y="2603424"/>
            <a:ext cx="3732311" cy="223141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AF8B977-F0E3-A359-2B02-7F90E0567B55}"/>
                  </a:ext>
                </a:extLst>
              </p:cNvPr>
              <p:cNvSpPr txBox="1"/>
              <p:nvPr/>
            </p:nvSpPr>
            <p:spPr>
              <a:xfrm>
                <a:off x="3857869" y="2393845"/>
                <a:ext cx="666400"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solidFill>
                            <a:srgbClr val="FF0000"/>
                          </a:solidFill>
                          <a:latin typeface="Cambria Math" panose="02040503050406030204" pitchFamily="18" charset="0"/>
                        </a:rPr>
                        <m:t>𝐶</m:t>
                      </m:r>
                      <m:r>
                        <a:rPr lang="en-US" sz="1200" b="0" i="1" smtClean="0">
                          <a:solidFill>
                            <a:srgbClr val="FF0000"/>
                          </a:solidFill>
                          <a:latin typeface="Cambria Math" panose="02040503050406030204" pitchFamily="18" charset="0"/>
                        </a:rPr>
                        <m:t>+</m:t>
                      </m:r>
                      <m:r>
                        <a:rPr lang="en-US" sz="1200" b="0" i="1" smtClean="0">
                          <a:solidFill>
                            <a:srgbClr val="FF0000"/>
                          </a:solidFill>
                          <a:latin typeface="Cambria Math" panose="02040503050406030204" pitchFamily="18" charset="0"/>
                        </a:rPr>
                        <m:t>𝐼</m:t>
                      </m:r>
                      <m:r>
                        <a:rPr lang="en-US" sz="1200" b="0" i="1" smtClean="0">
                          <a:solidFill>
                            <a:srgbClr val="FF0000"/>
                          </a:solidFill>
                          <a:latin typeface="Cambria Math" panose="02040503050406030204" pitchFamily="18" charset="0"/>
                        </a:rPr>
                        <m:t>+</m:t>
                      </m:r>
                      <m:r>
                        <a:rPr lang="en-US" sz="1200" b="0" i="1" smtClean="0">
                          <a:solidFill>
                            <a:srgbClr val="FF0000"/>
                          </a:solidFill>
                          <a:latin typeface="Cambria Math" panose="02040503050406030204" pitchFamily="18" charset="0"/>
                        </a:rPr>
                        <m:t>𝐺</m:t>
                      </m:r>
                    </m:oMath>
                  </m:oMathPara>
                </a14:m>
                <a:endParaRPr lang="en-US" sz="1200" dirty="0">
                  <a:solidFill>
                    <a:srgbClr val="FF0000"/>
                  </a:solidFill>
                </a:endParaRPr>
              </a:p>
            </p:txBody>
          </p:sp>
        </mc:Choice>
        <mc:Fallback xmlns="">
          <p:sp>
            <p:nvSpPr>
              <p:cNvPr id="10" name="TextBox 9">
                <a:extLst>
                  <a:ext uri="{FF2B5EF4-FFF2-40B4-BE49-F238E27FC236}">
                    <a16:creationId xmlns:a16="http://schemas.microsoft.com/office/drawing/2014/main" id="{AAF8B977-F0E3-A359-2B02-7F90E0567B55}"/>
                  </a:ext>
                </a:extLst>
              </p:cNvPr>
              <p:cNvSpPr txBox="1">
                <a:spLocks noRot="1" noChangeAspect="1" noMove="1" noResize="1" noEditPoints="1" noAdjustHandles="1" noChangeArrowheads="1" noChangeShapeType="1" noTextEdit="1"/>
              </p:cNvSpPr>
              <p:nvPr/>
            </p:nvSpPr>
            <p:spPr>
              <a:xfrm>
                <a:off x="3857869" y="2393845"/>
                <a:ext cx="666400" cy="184666"/>
              </a:xfrm>
              <a:prstGeom prst="rect">
                <a:avLst/>
              </a:prstGeom>
              <a:blipFill>
                <a:blip r:embed="rId2"/>
                <a:stretch>
                  <a:fillRect l="-5505" r="-4587" b="-6667"/>
                </a:stretch>
              </a:blipFill>
            </p:spPr>
            <p:txBody>
              <a:bodyPr/>
              <a:lstStyle/>
              <a:p>
                <a:r>
                  <a:rPr lang="en-US">
                    <a:noFill/>
                  </a:rPr>
                  <a:t> </a:t>
                </a:r>
              </a:p>
            </p:txBody>
          </p:sp>
        </mc:Fallback>
      </mc:AlternateContent>
      <p:cxnSp>
        <p:nvCxnSpPr>
          <p:cNvPr id="26" name="Straight Connector 25">
            <a:extLst>
              <a:ext uri="{FF2B5EF4-FFF2-40B4-BE49-F238E27FC236}">
                <a16:creationId xmlns:a16="http://schemas.microsoft.com/office/drawing/2014/main" id="{D68F910E-A0DE-7693-0969-CFE0993CF97B}"/>
              </a:ext>
            </a:extLst>
          </p:cNvPr>
          <p:cNvCxnSpPr>
            <a:cxnSpLocks/>
          </p:cNvCxnSpPr>
          <p:nvPr/>
        </p:nvCxnSpPr>
        <p:spPr>
          <a:xfrm flipV="1">
            <a:off x="782538" y="3957386"/>
            <a:ext cx="3732311" cy="998376"/>
          </a:xfrm>
          <a:prstGeom prst="line">
            <a:avLst/>
          </a:prstGeom>
          <a:ln w="28575">
            <a:solidFill>
              <a:srgbClr val="9C5BCD">
                <a:alpha val="25000"/>
              </a:srgb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27DF20E5-0C45-5132-2AD0-F800768EF88E}"/>
                  </a:ext>
                </a:extLst>
              </p:cNvPr>
              <p:cNvSpPr txBox="1"/>
              <p:nvPr/>
            </p:nvSpPr>
            <p:spPr>
              <a:xfrm>
                <a:off x="3481163" y="4165923"/>
                <a:ext cx="1043106" cy="3457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solidFill>
                            <a:srgbClr val="9C5BCD">
                              <a:alpha val="25000"/>
                            </a:srgbClr>
                          </a:solidFill>
                          <a:latin typeface="Cambria Math" panose="02040503050406030204" pitchFamily="18" charset="0"/>
                        </a:rPr>
                        <m:t>𝐶</m:t>
                      </m:r>
                      <m:r>
                        <a:rPr lang="en-US" sz="1200" b="0" i="1" smtClean="0">
                          <a:solidFill>
                            <a:srgbClr val="9C5BCD">
                              <a:alpha val="25000"/>
                            </a:srgbClr>
                          </a:solidFill>
                          <a:latin typeface="Cambria Math" panose="02040503050406030204" pitchFamily="18" charset="0"/>
                        </a:rPr>
                        <m:t>+</m:t>
                      </m:r>
                      <m:r>
                        <a:rPr lang="en-US" sz="1200" b="0" i="1" smtClean="0">
                          <a:solidFill>
                            <a:srgbClr val="9C5BCD">
                              <a:alpha val="25000"/>
                            </a:srgbClr>
                          </a:solidFill>
                          <a:latin typeface="Cambria Math" panose="02040503050406030204" pitchFamily="18" charset="0"/>
                        </a:rPr>
                        <m:t>𝐼</m:t>
                      </m:r>
                      <m:r>
                        <a:rPr lang="en-US" sz="1200" b="0" i="1" smtClean="0">
                          <a:solidFill>
                            <a:srgbClr val="9C5BCD">
                              <a:alpha val="25000"/>
                            </a:srgbClr>
                          </a:solidFill>
                          <a:latin typeface="Cambria Math" panose="02040503050406030204" pitchFamily="18" charset="0"/>
                        </a:rPr>
                        <m:t>+</m:t>
                      </m:r>
                      <m:r>
                        <a:rPr lang="en-US" sz="1200" b="0" i="1" smtClean="0">
                          <a:solidFill>
                            <a:srgbClr val="9C5BCD">
                              <a:alpha val="25000"/>
                            </a:srgbClr>
                          </a:solidFill>
                          <a:latin typeface="Cambria Math" panose="02040503050406030204" pitchFamily="18" charset="0"/>
                        </a:rPr>
                        <m:t>𝐺</m:t>
                      </m:r>
                      <m:r>
                        <a:rPr lang="en-US" sz="1200" b="0" i="1" smtClean="0">
                          <a:solidFill>
                            <a:srgbClr val="9C5BCD">
                              <a:alpha val="25000"/>
                            </a:srgbClr>
                          </a:solidFill>
                          <a:latin typeface="Cambria Math" panose="02040503050406030204" pitchFamily="18" charset="0"/>
                        </a:rPr>
                        <m:t>−</m:t>
                      </m:r>
                      <m:f>
                        <m:fPr>
                          <m:ctrlPr>
                            <a:rPr lang="en-US" sz="1200" b="0" i="1" smtClean="0">
                              <a:solidFill>
                                <a:srgbClr val="9C5BCD">
                                  <a:alpha val="25000"/>
                                </a:srgbClr>
                              </a:solidFill>
                              <a:latin typeface="Cambria Math" panose="02040503050406030204" pitchFamily="18" charset="0"/>
                            </a:rPr>
                          </m:ctrlPr>
                        </m:fPr>
                        <m:num>
                          <m:r>
                            <a:rPr lang="en-US" sz="1200" b="0" i="1" smtClean="0">
                              <a:solidFill>
                                <a:srgbClr val="9C5BCD">
                                  <a:alpha val="25000"/>
                                </a:srgbClr>
                              </a:solidFill>
                              <a:latin typeface="Cambria Math" panose="02040503050406030204" pitchFamily="18" charset="0"/>
                            </a:rPr>
                            <m:t>𝐼𝑀</m:t>
                          </m:r>
                        </m:num>
                        <m:den>
                          <m:r>
                            <a:rPr lang="en-US" sz="1200" b="0" i="1" smtClean="0">
                              <a:solidFill>
                                <a:srgbClr val="9C5BCD">
                                  <a:alpha val="25000"/>
                                </a:srgbClr>
                              </a:solidFill>
                              <a:latin typeface="Cambria Math" panose="02040503050406030204" pitchFamily="18" charset="0"/>
                            </a:rPr>
                            <m:t>𝜀</m:t>
                          </m:r>
                        </m:den>
                      </m:f>
                    </m:oMath>
                  </m:oMathPara>
                </a14:m>
                <a:endParaRPr lang="en-US" sz="1200" dirty="0">
                  <a:solidFill>
                    <a:srgbClr val="9C5BCD">
                      <a:alpha val="25000"/>
                    </a:srgbClr>
                  </a:solidFill>
                </a:endParaRPr>
              </a:p>
            </p:txBody>
          </p:sp>
        </mc:Choice>
        <mc:Fallback xmlns="">
          <p:sp>
            <p:nvSpPr>
              <p:cNvPr id="38" name="TextBox 37">
                <a:extLst>
                  <a:ext uri="{FF2B5EF4-FFF2-40B4-BE49-F238E27FC236}">
                    <a16:creationId xmlns:a16="http://schemas.microsoft.com/office/drawing/2014/main" id="{27DF20E5-0C45-5132-2AD0-F800768EF88E}"/>
                  </a:ext>
                </a:extLst>
              </p:cNvPr>
              <p:cNvSpPr txBox="1">
                <a:spLocks noRot="1" noChangeAspect="1" noMove="1" noResize="1" noEditPoints="1" noAdjustHandles="1" noChangeArrowheads="1" noChangeShapeType="1" noTextEdit="1"/>
              </p:cNvSpPr>
              <p:nvPr/>
            </p:nvSpPr>
            <p:spPr>
              <a:xfrm>
                <a:off x="3481163" y="4165923"/>
                <a:ext cx="1043106" cy="345736"/>
              </a:xfrm>
              <a:prstGeom prst="rect">
                <a:avLst/>
              </a:prstGeom>
              <a:blipFill>
                <a:blip r:embed="rId3"/>
                <a:stretch>
                  <a:fillRect l="-2924" t="-1754" r="-2339" b="-10526"/>
                </a:stretch>
              </a:blipFill>
            </p:spPr>
            <p:txBody>
              <a:bodyPr/>
              <a:lstStyle/>
              <a:p>
                <a:r>
                  <a:rPr lang="en-US">
                    <a:noFill/>
                  </a:rPr>
                  <a:t> </a:t>
                </a:r>
              </a:p>
            </p:txBody>
          </p:sp>
        </mc:Fallback>
      </mc:AlternateContent>
      <p:cxnSp>
        <p:nvCxnSpPr>
          <p:cNvPr id="41" name="Straight Connector 40">
            <a:extLst>
              <a:ext uri="{FF2B5EF4-FFF2-40B4-BE49-F238E27FC236}">
                <a16:creationId xmlns:a16="http://schemas.microsoft.com/office/drawing/2014/main" id="{77775FBA-143D-187C-630A-4BB75AE68F38}"/>
              </a:ext>
            </a:extLst>
          </p:cNvPr>
          <p:cNvCxnSpPr>
            <a:cxnSpLocks/>
          </p:cNvCxnSpPr>
          <p:nvPr/>
        </p:nvCxnSpPr>
        <p:spPr>
          <a:xfrm flipV="1">
            <a:off x="782538" y="3198248"/>
            <a:ext cx="3732311" cy="998376"/>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C4E1CB1-8EA7-9C38-3D0F-53AB3A8D7AAC}"/>
                  </a:ext>
                </a:extLst>
              </p:cNvPr>
              <p:cNvSpPr txBox="1"/>
              <p:nvPr/>
            </p:nvSpPr>
            <p:spPr>
              <a:xfrm>
                <a:off x="854228" y="3419979"/>
                <a:ext cx="1626150" cy="3457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solidFill>
                            <a:srgbClr val="0070C0"/>
                          </a:solidFill>
                          <a:latin typeface="Cambria Math" panose="02040503050406030204" pitchFamily="18" charset="0"/>
                        </a:rPr>
                        <m:t>𝑍</m:t>
                      </m:r>
                      <m:r>
                        <a:rPr lang="en-US" sz="1200" b="0" i="1" smtClean="0">
                          <a:solidFill>
                            <a:srgbClr val="0070C0"/>
                          </a:solidFill>
                          <a:latin typeface="Cambria Math" panose="02040503050406030204" pitchFamily="18" charset="0"/>
                        </a:rPr>
                        <m:t>=</m:t>
                      </m:r>
                      <m:r>
                        <a:rPr lang="en-US" sz="1200" b="0" i="1" smtClean="0">
                          <a:solidFill>
                            <a:srgbClr val="0070C0"/>
                          </a:solidFill>
                          <a:latin typeface="Cambria Math" panose="02040503050406030204" pitchFamily="18" charset="0"/>
                        </a:rPr>
                        <m:t>𝐶</m:t>
                      </m:r>
                      <m:r>
                        <a:rPr lang="en-US" sz="1200" b="0" i="1" smtClean="0">
                          <a:solidFill>
                            <a:srgbClr val="0070C0"/>
                          </a:solidFill>
                          <a:latin typeface="Cambria Math" panose="02040503050406030204" pitchFamily="18" charset="0"/>
                        </a:rPr>
                        <m:t>+</m:t>
                      </m:r>
                      <m:r>
                        <a:rPr lang="en-US" sz="1200" b="0" i="1" smtClean="0">
                          <a:solidFill>
                            <a:srgbClr val="0070C0"/>
                          </a:solidFill>
                          <a:latin typeface="Cambria Math" panose="02040503050406030204" pitchFamily="18" charset="0"/>
                        </a:rPr>
                        <m:t>𝐼</m:t>
                      </m:r>
                      <m:r>
                        <a:rPr lang="en-US" sz="1200" b="0" i="1" smtClean="0">
                          <a:solidFill>
                            <a:srgbClr val="0070C0"/>
                          </a:solidFill>
                          <a:latin typeface="Cambria Math" panose="02040503050406030204" pitchFamily="18" charset="0"/>
                        </a:rPr>
                        <m:t>+</m:t>
                      </m:r>
                      <m:r>
                        <a:rPr lang="en-US" sz="1200" b="0" i="1" smtClean="0">
                          <a:solidFill>
                            <a:srgbClr val="0070C0"/>
                          </a:solidFill>
                          <a:latin typeface="Cambria Math" panose="02040503050406030204" pitchFamily="18" charset="0"/>
                        </a:rPr>
                        <m:t>𝐺</m:t>
                      </m:r>
                      <m:r>
                        <a:rPr lang="en-US" sz="1200" b="0" i="1" smtClean="0">
                          <a:solidFill>
                            <a:srgbClr val="0070C0"/>
                          </a:solidFill>
                          <a:latin typeface="Cambria Math" panose="02040503050406030204" pitchFamily="18" charset="0"/>
                        </a:rPr>
                        <m:t>−</m:t>
                      </m:r>
                      <m:f>
                        <m:fPr>
                          <m:ctrlPr>
                            <a:rPr lang="en-US" sz="1200" b="0" i="1" smtClean="0">
                              <a:solidFill>
                                <a:srgbClr val="0070C0"/>
                              </a:solidFill>
                              <a:latin typeface="Cambria Math" panose="02040503050406030204" pitchFamily="18" charset="0"/>
                            </a:rPr>
                          </m:ctrlPr>
                        </m:fPr>
                        <m:num>
                          <m:r>
                            <a:rPr lang="en-US" sz="1200" b="0" i="1" smtClean="0">
                              <a:solidFill>
                                <a:srgbClr val="0070C0"/>
                              </a:solidFill>
                              <a:latin typeface="Cambria Math" panose="02040503050406030204" pitchFamily="18" charset="0"/>
                            </a:rPr>
                            <m:t>𝐼𝑀</m:t>
                          </m:r>
                        </m:num>
                        <m:den>
                          <m:r>
                            <a:rPr lang="en-US" sz="1200" b="0" i="1" smtClean="0">
                              <a:solidFill>
                                <a:srgbClr val="0070C0"/>
                              </a:solidFill>
                              <a:latin typeface="Cambria Math" panose="02040503050406030204" pitchFamily="18" charset="0"/>
                            </a:rPr>
                            <m:t>𝜀</m:t>
                          </m:r>
                        </m:den>
                      </m:f>
                      <m:r>
                        <a:rPr lang="en-US" sz="1200" b="0" i="1" smtClean="0">
                          <a:solidFill>
                            <a:srgbClr val="0070C0"/>
                          </a:solidFill>
                          <a:latin typeface="Cambria Math" panose="02040503050406030204" pitchFamily="18" charset="0"/>
                        </a:rPr>
                        <m:t>+</m:t>
                      </m:r>
                      <m:r>
                        <a:rPr lang="en-US" sz="1200" b="0" i="1" smtClean="0">
                          <a:solidFill>
                            <a:srgbClr val="0070C0"/>
                          </a:solidFill>
                          <a:latin typeface="Cambria Math" panose="02040503050406030204" pitchFamily="18" charset="0"/>
                        </a:rPr>
                        <m:t>𝑋</m:t>
                      </m:r>
                    </m:oMath>
                  </m:oMathPara>
                </a14:m>
                <a:endParaRPr lang="en-US" sz="1200" dirty="0">
                  <a:solidFill>
                    <a:srgbClr val="0070C0"/>
                  </a:solidFill>
                </a:endParaRPr>
              </a:p>
            </p:txBody>
          </p:sp>
        </mc:Choice>
        <mc:Fallback xmlns="">
          <p:sp>
            <p:nvSpPr>
              <p:cNvPr id="42" name="TextBox 41">
                <a:extLst>
                  <a:ext uri="{FF2B5EF4-FFF2-40B4-BE49-F238E27FC236}">
                    <a16:creationId xmlns:a16="http://schemas.microsoft.com/office/drawing/2014/main" id="{1C4E1CB1-8EA7-9C38-3D0F-53AB3A8D7AAC}"/>
                  </a:ext>
                </a:extLst>
              </p:cNvPr>
              <p:cNvSpPr txBox="1">
                <a:spLocks noRot="1" noChangeAspect="1" noMove="1" noResize="1" noEditPoints="1" noAdjustHandles="1" noChangeArrowheads="1" noChangeShapeType="1" noTextEdit="1"/>
              </p:cNvSpPr>
              <p:nvPr/>
            </p:nvSpPr>
            <p:spPr>
              <a:xfrm>
                <a:off x="854228" y="3419979"/>
                <a:ext cx="1626150" cy="345736"/>
              </a:xfrm>
              <a:prstGeom prst="rect">
                <a:avLst/>
              </a:prstGeom>
              <a:blipFill>
                <a:blip r:embed="rId4"/>
                <a:stretch>
                  <a:fillRect l="-1873" t="-3509" r="-1498" b="-10526"/>
                </a:stretch>
              </a:blipFill>
            </p:spPr>
            <p:txBody>
              <a:bodyPr/>
              <a:lstStyle/>
              <a:p>
                <a:r>
                  <a:rPr lang="en-US">
                    <a:noFill/>
                  </a:rPr>
                  <a:t> </a:t>
                </a:r>
              </a:p>
            </p:txBody>
          </p:sp>
        </mc:Fallback>
      </mc:AlternateContent>
      <p:cxnSp>
        <p:nvCxnSpPr>
          <p:cNvPr id="3" name="Straight Arrow Connector 2">
            <a:extLst>
              <a:ext uri="{FF2B5EF4-FFF2-40B4-BE49-F238E27FC236}">
                <a16:creationId xmlns:a16="http://schemas.microsoft.com/office/drawing/2014/main" id="{9F3B8B34-EFDD-F489-E431-C940236095ED}"/>
              </a:ext>
            </a:extLst>
          </p:cNvPr>
          <p:cNvCxnSpPr>
            <a:cxnSpLocks/>
          </p:cNvCxnSpPr>
          <p:nvPr/>
        </p:nvCxnSpPr>
        <p:spPr>
          <a:xfrm>
            <a:off x="943921" y="4201937"/>
            <a:ext cx="0" cy="485937"/>
          </a:xfrm>
          <a:prstGeom prst="straightConnector1">
            <a:avLst/>
          </a:prstGeom>
          <a:ln w="12700">
            <a:solidFill>
              <a:srgbClr val="FFC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05BF92DC-60DE-3EF9-1DBB-F36BEF46947E}"/>
              </a:ext>
            </a:extLst>
          </p:cNvPr>
          <p:cNvSpPr/>
          <p:nvPr/>
        </p:nvSpPr>
        <p:spPr>
          <a:xfrm>
            <a:off x="911511" y="4115134"/>
            <a:ext cx="64008" cy="64008"/>
          </a:xfrm>
          <a:prstGeom prst="ellipse">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Arrow Connector 14">
            <a:extLst>
              <a:ext uri="{FF2B5EF4-FFF2-40B4-BE49-F238E27FC236}">
                <a16:creationId xmlns:a16="http://schemas.microsoft.com/office/drawing/2014/main" id="{09DA5E02-30E6-7D5E-CF7D-3D01D18937EE}"/>
              </a:ext>
            </a:extLst>
          </p:cNvPr>
          <p:cNvCxnSpPr>
            <a:cxnSpLocks/>
          </p:cNvCxnSpPr>
          <p:nvPr/>
        </p:nvCxnSpPr>
        <p:spPr>
          <a:xfrm rot="16200000">
            <a:off x="2961429" y="3954581"/>
            <a:ext cx="3886200" cy="0"/>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9BF189A-CD47-8741-A7D3-A252AC2547C6}"/>
              </a:ext>
            </a:extLst>
          </p:cNvPr>
          <p:cNvSpPr txBox="1"/>
          <p:nvPr/>
        </p:nvSpPr>
        <p:spPr>
          <a:xfrm rot="16200000">
            <a:off x="4221259" y="2315343"/>
            <a:ext cx="1039708" cy="307777"/>
          </a:xfrm>
          <a:prstGeom prst="rect">
            <a:avLst/>
          </a:prstGeom>
          <a:noFill/>
        </p:spPr>
        <p:txBody>
          <a:bodyPr wrap="none" rtlCol="0">
            <a:spAutoFit/>
          </a:bodyPr>
          <a:lstStyle/>
          <a:p>
            <a:r>
              <a:rPr lang="en-US" sz="1400" dirty="0"/>
              <a:t>Net Exports</a:t>
            </a:r>
          </a:p>
        </p:txBody>
      </p:sp>
      <p:sp>
        <p:nvSpPr>
          <p:cNvPr id="20" name="Oval 19">
            <a:extLst>
              <a:ext uri="{FF2B5EF4-FFF2-40B4-BE49-F238E27FC236}">
                <a16:creationId xmlns:a16="http://schemas.microsoft.com/office/drawing/2014/main" id="{A3D24695-72CA-303A-2FF8-2021F147C422}"/>
              </a:ext>
            </a:extLst>
          </p:cNvPr>
          <p:cNvSpPr/>
          <p:nvPr/>
        </p:nvSpPr>
        <p:spPr>
          <a:xfrm>
            <a:off x="911511" y="4707077"/>
            <a:ext cx="64008" cy="64008"/>
          </a:xfrm>
          <a:prstGeom prst="ellipse">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1" name="Straight Arrow Connector 20">
            <a:extLst>
              <a:ext uri="{FF2B5EF4-FFF2-40B4-BE49-F238E27FC236}">
                <a16:creationId xmlns:a16="http://schemas.microsoft.com/office/drawing/2014/main" id="{499F683C-02A5-21A7-07CB-E268C9DEE454}"/>
              </a:ext>
            </a:extLst>
          </p:cNvPr>
          <p:cNvCxnSpPr>
            <a:cxnSpLocks/>
          </p:cNvCxnSpPr>
          <p:nvPr/>
        </p:nvCxnSpPr>
        <p:spPr>
          <a:xfrm>
            <a:off x="5061831" y="3691681"/>
            <a:ext cx="0" cy="485937"/>
          </a:xfrm>
          <a:prstGeom prst="straightConnector1">
            <a:avLst/>
          </a:prstGeom>
          <a:ln w="12700">
            <a:solidFill>
              <a:srgbClr val="FFC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F91FA82-56AC-0227-BCB4-FBFB3F4ED59F}"/>
              </a:ext>
            </a:extLst>
          </p:cNvPr>
          <p:cNvCxnSpPr>
            <a:cxnSpLocks/>
          </p:cNvCxnSpPr>
          <p:nvPr/>
        </p:nvCxnSpPr>
        <p:spPr>
          <a:xfrm>
            <a:off x="4429731" y="2707485"/>
            <a:ext cx="0" cy="471654"/>
          </a:xfrm>
          <a:prstGeom prst="straightConnector1">
            <a:avLst/>
          </a:prstGeom>
          <a:ln w="12700">
            <a:solidFill>
              <a:srgbClr val="00B05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BF1BA69E-47AA-C93E-4E44-9D6B0B458D70}"/>
              </a:ext>
            </a:extLst>
          </p:cNvPr>
          <p:cNvSpPr/>
          <p:nvPr/>
        </p:nvSpPr>
        <p:spPr>
          <a:xfrm>
            <a:off x="4395539" y="2626810"/>
            <a:ext cx="64008" cy="64008"/>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A0D38388-2305-7320-4251-2706D6BA2558}"/>
              </a:ext>
            </a:extLst>
          </p:cNvPr>
          <p:cNvSpPr/>
          <p:nvPr/>
        </p:nvSpPr>
        <p:spPr>
          <a:xfrm>
            <a:off x="4397921" y="3194942"/>
            <a:ext cx="64008" cy="64008"/>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7" name="Straight Arrow Connector 26">
            <a:extLst>
              <a:ext uri="{FF2B5EF4-FFF2-40B4-BE49-F238E27FC236}">
                <a16:creationId xmlns:a16="http://schemas.microsoft.com/office/drawing/2014/main" id="{A7F3FA7E-4CE6-4599-EEA5-BBEEFAC85913}"/>
              </a:ext>
            </a:extLst>
          </p:cNvPr>
          <p:cNvCxnSpPr>
            <a:cxnSpLocks/>
          </p:cNvCxnSpPr>
          <p:nvPr/>
        </p:nvCxnSpPr>
        <p:spPr>
          <a:xfrm>
            <a:off x="8422611" y="4221537"/>
            <a:ext cx="0" cy="471654"/>
          </a:xfrm>
          <a:prstGeom prst="straightConnector1">
            <a:avLst/>
          </a:prstGeom>
          <a:ln w="12700">
            <a:solidFill>
              <a:srgbClr val="00B05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F725027-31C0-21CD-9CBA-4D9BCBC06D58}"/>
              </a:ext>
            </a:extLst>
          </p:cNvPr>
          <p:cNvSpPr txBox="1"/>
          <p:nvPr/>
        </p:nvSpPr>
        <p:spPr>
          <a:xfrm>
            <a:off x="7997618" y="3907910"/>
            <a:ext cx="708848" cy="307777"/>
          </a:xfrm>
          <a:prstGeom prst="rect">
            <a:avLst/>
          </a:prstGeom>
          <a:noFill/>
        </p:spPr>
        <p:txBody>
          <a:bodyPr wrap="none" rtlCol="0">
            <a:spAutoFit/>
          </a:bodyPr>
          <a:lstStyle/>
          <a:p>
            <a:r>
              <a:rPr lang="en-US" sz="1400" dirty="0"/>
              <a:t>Output</a:t>
            </a:r>
          </a:p>
        </p:txBody>
      </p:sp>
      <p:sp>
        <p:nvSpPr>
          <p:cNvPr id="28" name="Oval 27">
            <a:extLst>
              <a:ext uri="{FF2B5EF4-FFF2-40B4-BE49-F238E27FC236}">
                <a16:creationId xmlns:a16="http://schemas.microsoft.com/office/drawing/2014/main" id="{CE0992B6-2588-AA2B-F6F7-98DC62004278}"/>
              </a:ext>
            </a:extLst>
          </p:cNvPr>
          <p:cNvSpPr/>
          <p:nvPr/>
        </p:nvSpPr>
        <p:spPr>
          <a:xfrm>
            <a:off x="5029827" y="3599022"/>
            <a:ext cx="64008" cy="64008"/>
          </a:xfrm>
          <a:prstGeom prst="ellipse">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98DF53E1-D8FA-7FCB-AA51-259B4CE3ADEC}"/>
              </a:ext>
            </a:extLst>
          </p:cNvPr>
          <p:cNvSpPr/>
          <p:nvPr/>
        </p:nvSpPr>
        <p:spPr>
          <a:xfrm>
            <a:off x="8382987" y="4714697"/>
            <a:ext cx="64008" cy="64008"/>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E20AC2E0-9594-87F2-A168-E0B2C8CB4F2C}"/>
                  </a:ext>
                </a:extLst>
              </p:cNvPr>
              <p:cNvSpPr txBox="1"/>
              <p:nvPr/>
            </p:nvSpPr>
            <p:spPr>
              <a:xfrm>
                <a:off x="8446995" y="4850771"/>
                <a:ext cx="29129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accent4">
                              <a:lumMod val="75000"/>
                            </a:schemeClr>
                          </a:solidFill>
                          <a:latin typeface="Cambria Math" panose="02040503050406030204" pitchFamily="18" charset="0"/>
                        </a:rPr>
                        <m:t>𝑁𝑋</m:t>
                      </m:r>
                    </m:oMath>
                  </m:oMathPara>
                </a14:m>
                <a:endParaRPr lang="en-US" sz="1400" dirty="0">
                  <a:solidFill>
                    <a:schemeClr val="accent4">
                      <a:lumMod val="75000"/>
                    </a:schemeClr>
                  </a:solidFill>
                </a:endParaRPr>
              </a:p>
            </p:txBody>
          </p:sp>
        </mc:Choice>
        <mc:Fallback xmlns="">
          <p:sp>
            <p:nvSpPr>
              <p:cNvPr id="39" name="TextBox 38">
                <a:extLst>
                  <a:ext uri="{FF2B5EF4-FFF2-40B4-BE49-F238E27FC236}">
                    <a16:creationId xmlns:a16="http://schemas.microsoft.com/office/drawing/2014/main" id="{E20AC2E0-9594-87F2-A168-E0B2C8CB4F2C}"/>
                  </a:ext>
                </a:extLst>
              </p:cNvPr>
              <p:cNvSpPr txBox="1">
                <a:spLocks noRot="1" noChangeAspect="1" noMove="1" noResize="1" noEditPoints="1" noAdjustHandles="1" noChangeArrowheads="1" noChangeShapeType="1" noTextEdit="1"/>
              </p:cNvSpPr>
              <p:nvPr/>
            </p:nvSpPr>
            <p:spPr>
              <a:xfrm>
                <a:off x="8446995" y="4850771"/>
                <a:ext cx="291298" cy="215444"/>
              </a:xfrm>
              <a:prstGeom prst="rect">
                <a:avLst/>
              </a:prstGeom>
              <a:blipFill>
                <a:blip r:embed="rId5"/>
                <a:stretch>
                  <a:fillRect l="-14894" r="-12766" b="-5714"/>
                </a:stretch>
              </a:blipFill>
            </p:spPr>
            <p:txBody>
              <a:bodyPr/>
              <a:lstStyle/>
              <a:p>
                <a:r>
                  <a:rPr lang="en-US">
                    <a:noFill/>
                  </a:rPr>
                  <a:t> </a:t>
                </a:r>
              </a:p>
            </p:txBody>
          </p:sp>
        </mc:Fallback>
      </mc:AlternateContent>
    </p:spTree>
    <p:extLst>
      <p:ext uri="{BB962C8B-B14F-4D97-AF65-F5344CB8AC3E}">
        <p14:creationId xmlns:p14="http://schemas.microsoft.com/office/powerpoint/2010/main" val="2388147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par>
                          <p:cTn id="28" fill="hold">
                            <p:stCondLst>
                              <p:cond delay="500"/>
                            </p:stCondLst>
                            <p:childTnLst>
                              <p:par>
                                <p:cTn id="29" presetID="10" presetClass="entr" presetSubtype="0" fill="hold"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fade">
                                      <p:cBhvr>
                                        <p:cTn id="48" dur="500"/>
                                        <p:tgtEl>
                                          <p:spTgt spid="39"/>
                                        </p:tgtEl>
                                      </p:cBhvr>
                                    </p:animEffect>
                                  </p:childTnLst>
                                </p:cTn>
                              </p:par>
                            </p:childTnLst>
                          </p:cTn>
                        </p:par>
                        <p:par>
                          <p:cTn id="49" fill="hold">
                            <p:stCondLst>
                              <p:cond delay="500"/>
                            </p:stCondLst>
                            <p:childTnLst>
                              <p:par>
                                <p:cTn id="50" presetID="10" presetClass="entr" presetSubtype="0" fill="hold" nodeType="after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500"/>
                                        <p:tgtEl>
                                          <p:spTgt spid="2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500"/>
                                        <p:tgtEl>
                                          <p:spTgt spid="29"/>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p:bldP spid="20" grpId="0" animBg="1"/>
      <p:bldP spid="23" grpId="0" animBg="1"/>
      <p:bldP spid="24" grpId="0" animBg="1"/>
      <p:bldP spid="35" grpId="0"/>
      <p:bldP spid="28" grpId="0" animBg="1"/>
      <p:bldP spid="29" grpId="0" animBg="1"/>
      <p:bldP spid="3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6C07A-0C0B-4DCC-CC8E-158479CD25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FE3D26-3934-E1FE-5157-09BCDDD91E23}"/>
              </a:ext>
            </a:extLst>
          </p:cNvPr>
          <p:cNvSpPr>
            <a:spLocks noGrp="1"/>
          </p:cNvSpPr>
          <p:nvPr>
            <p:ph type="title"/>
          </p:nvPr>
        </p:nvSpPr>
        <p:spPr/>
        <p:txBody>
          <a:bodyPr/>
          <a:lstStyle/>
          <a:p>
            <a:r>
              <a:rPr lang="en-US" dirty="0"/>
              <a:t>Visualizing the Open Goods Market</a:t>
            </a:r>
          </a:p>
        </p:txBody>
      </p:sp>
      <p:sp>
        <p:nvSpPr>
          <p:cNvPr id="5" name="Date Placeholder 4">
            <a:extLst>
              <a:ext uri="{FF2B5EF4-FFF2-40B4-BE49-F238E27FC236}">
                <a16:creationId xmlns:a16="http://schemas.microsoft.com/office/drawing/2014/main" id="{E8AE47B8-DB48-73C8-7C12-73D0F660C80D}"/>
              </a:ext>
            </a:extLst>
          </p:cNvPr>
          <p:cNvSpPr>
            <a:spLocks noGrp="1"/>
          </p:cNvSpPr>
          <p:nvPr>
            <p:ph type="dt" sz="half" idx="10"/>
          </p:nvPr>
        </p:nvSpPr>
        <p:spPr/>
        <p:txBody>
          <a:bodyPr/>
          <a:lstStyle/>
          <a:p>
            <a:r>
              <a:rPr lang="en-US" dirty="0"/>
              <a:t>Spring 2024</a:t>
            </a:r>
          </a:p>
        </p:txBody>
      </p:sp>
      <p:sp>
        <p:nvSpPr>
          <p:cNvPr id="6" name="Footer Placeholder 5">
            <a:extLst>
              <a:ext uri="{FF2B5EF4-FFF2-40B4-BE49-F238E27FC236}">
                <a16:creationId xmlns:a16="http://schemas.microsoft.com/office/drawing/2014/main" id="{F9026A0E-DA65-9157-AF6A-CAADF50B3E2C}"/>
              </a:ext>
            </a:extLst>
          </p:cNvPr>
          <p:cNvSpPr>
            <a:spLocks noGrp="1"/>
          </p:cNvSpPr>
          <p:nvPr>
            <p:ph type="ftr" sz="quarter" idx="11"/>
          </p:nvPr>
        </p:nvSpPr>
        <p:spPr/>
        <p:txBody>
          <a:bodyPr/>
          <a:lstStyle/>
          <a:p>
            <a:r>
              <a:rPr lang="en-US" dirty="0"/>
              <a:t>DEPARTMENT OF BUSINESS &amp; ECONOMICS</a:t>
            </a:r>
          </a:p>
        </p:txBody>
      </p:sp>
      <p:sp>
        <p:nvSpPr>
          <p:cNvPr id="7" name="Slide Number Placeholder 6">
            <a:extLst>
              <a:ext uri="{FF2B5EF4-FFF2-40B4-BE49-F238E27FC236}">
                <a16:creationId xmlns:a16="http://schemas.microsoft.com/office/drawing/2014/main" id="{C9E93CE9-23B7-1CB9-08E4-C0B100BBA063}"/>
              </a:ext>
            </a:extLst>
          </p:cNvPr>
          <p:cNvSpPr>
            <a:spLocks noGrp="1"/>
          </p:cNvSpPr>
          <p:nvPr>
            <p:ph type="sldNum" sz="quarter" idx="12"/>
          </p:nvPr>
        </p:nvSpPr>
        <p:spPr/>
        <p:txBody>
          <a:bodyPr/>
          <a:lstStyle/>
          <a:p>
            <a:fld id="{1A980C56-831A-4EAB-9EDE-57C090F4F877}" type="slidenum">
              <a:rPr lang="en-US" smtClean="0"/>
              <a:t>12</a:t>
            </a:fld>
            <a:endParaRPr lang="en-US" dirty="0"/>
          </a:p>
        </p:txBody>
      </p:sp>
      <p:cxnSp>
        <p:nvCxnSpPr>
          <p:cNvPr id="14" name="Straight Arrow Connector 13">
            <a:extLst>
              <a:ext uri="{FF2B5EF4-FFF2-40B4-BE49-F238E27FC236}">
                <a16:creationId xmlns:a16="http://schemas.microsoft.com/office/drawing/2014/main" id="{39A036D7-BCA8-3A48-903B-AE7B5F1B6BB3}"/>
              </a:ext>
            </a:extLst>
          </p:cNvPr>
          <p:cNvCxnSpPr/>
          <p:nvPr/>
        </p:nvCxnSpPr>
        <p:spPr>
          <a:xfrm>
            <a:off x="626311" y="4196624"/>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9DA5E02-30E6-7D5E-CF7D-3D01D18937EE}"/>
              </a:ext>
            </a:extLst>
          </p:cNvPr>
          <p:cNvCxnSpPr>
            <a:cxnSpLocks/>
          </p:cNvCxnSpPr>
          <p:nvPr/>
        </p:nvCxnSpPr>
        <p:spPr>
          <a:xfrm rot="16200000">
            <a:off x="-1153373" y="3954581"/>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9BF189A-CD47-8741-A7D3-A252AC2547C6}"/>
                  </a:ext>
                </a:extLst>
              </p:cNvPr>
              <p:cNvSpPr txBox="1"/>
              <p:nvPr/>
            </p:nvSpPr>
            <p:spPr>
              <a:xfrm rot="16200000">
                <a:off x="-122145" y="2529192"/>
                <a:ext cx="1478482" cy="307777"/>
              </a:xfrm>
              <a:prstGeom prst="rect">
                <a:avLst/>
              </a:prstGeom>
              <a:noFill/>
            </p:spPr>
            <p:txBody>
              <a:bodyPr wrap="none" rtlCol="0">
                <a:spAutoFit/>
              </a:bodyPr>
              <a:lstStyle/>
              <a:p>
                <a:r>
                  <a:rPr lang="en-US" sz="1400" dirty="0"/>
                  <a:t>Net Exports </a:t>
                </a:r>
                <a14:m>
                  <m:oMath xmlns:m="http://schemas.openxmlformats.org/officeDocument/2006/math">
                    <m:r>
                      <a:rPr lang="en-US" sz="1400" i="1" dirty="0" smtClean="0">
                        <a:latin typeface="Cambria Math" panose="02040503050406030204" pitchFamily="18" charset="0"/>
                      </a:rPr>
                      <m:t>(</m:t>
                    </m:r>
                    <m:r>
                      <a:rPr lang="en-US" sz="1400" i="1" dirty="0" smtClean="0">
                        <a:latin typeface="Cambria Math" panose="02040503050406030204" pitchFamily="18" charset="0"/>
                      </a:rPr>
                      <m:t>𝑁𝑋</m:t>
                    </m:r>
                    <m:r>
                      <a:rPr lang="en-US" sz="1400" i="1" dirty="0" smtClean="0">
                        <a:latin typeface="Cambria Math" panose="02040503050406030204" pitchFamily="18" charset="0"/>
                      </a:rPr>
                      <m:t>)</m:t>
                    </m:r>
                  </m:oMath>
                </a14:m>
                <a:endParaRPr lang="en-US" sz="1400" dirty="0"/>
              </a:p>
            </p:txBody>
          </p:sp>
        </mc:Choice>
        <mc:Fallback xmlns="">
          <p:sp>
            <p:nvSpPr>
              <p:cNvPr id="19" name="TextBox 18">
                <a:extLst>
                  <a:ext uri="{FF2B5EF4-FFF2-40B4-BE49-F238E27FC236}">
                    <a16:creationId xmlns:a16="http://schemas.microsoft.com/office/drawing/2014/main" id="{79BF189A-CD47-8741-A7D3-A252AC2547C6}"/>
                  </a:ext>
                </a:extLst>
              </p:cNvPr>
              <p:cNvSpPr txBox="1">
                <a:spLocks noRot="1" noChangeAspect="1" noMove="1" noResize="1" noEditPoints="1" noAdjustHandles="1" noChangeArrowheads="1" noChangeShapeType="1" noTextEdit="1"/>
              </p:cNvSpPr>
              <p:nvPr/>
            </p:nvSpPr>
            <p:spPr>
              <a:xfrm rot="16200000">
                <a:off x="-122145" y="2529192"/>
                <a:ext cx="1478482" cy="307777"/>
              </a:xfrm>
              <a:prstGeom prst="rect">
                <a:avLst/>
              </a:prstGeom>
              <a:blipFill>
                <a:blip r:embed="rId2"/>
                <a:stretch>
                  <a:fillRect l="-4000" r="-20000" b="-1240"/>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63A29FCA-4E94-2126-9DE1-F23C4332C408}"/>
              </a:ext>
            </a:extLst>
          </p:cNvPr>
          <p:cNvCxnSpPr>
            <a:cxnSpLocks/>
          </p:cNvCxnSpPr>
          <p:nvPr/>
        </p:nvCxnSpPr>
        <p:spPr>
          <a:xfrm>
            <a:off x="793400" y="3581400"/>
            <a:ext cx="3680967" cy="1226344"/>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F725027-31C0-21CD-9CBA-4D9BCBC06D58}"/>
              </a:ext>
            </a:extLst>
          </p:cNvPr>
          <p:cNvSpPr txBox="1"/>
          <p:nvPr/>
        </p:nvSpPr>
        <p:spPr>
          <a:xfrm>
            <a:off x="3882816" y="3907910"/>
            <a:ext cx="708848" cy="307777"/>
          </a:xfrm>
          <a:prstGeom prst="rect">
            <a:avLst/>
          </a:prstGeom>
          <a:noFill/>
        </p:spPr>
        <p:txBody>
          <a:bodyPr wrap="none" rtlCol="0">
            <a:spAutoFit/>
          </a:bodyPr>
          <a:lstStyle/>
          <a:p>
            <a:r>
              <a:rPr lang="en-US" sz="1400" dirty="0"/>
              <a:t>Output</a:t>
            </a:r>
          </a:p>
        </p:txBody>
      </p:sp>
      <mc:AlternateContent xmlns:mc="http://schemas.openxmlformats.org/markup-compatibility/2006" xmlns:a14="http://schemas.microsoft.com/office/drawing/2010/main">
        <mc:Choice Requires="a14">
          <p:sp>
            <p:nvSpPr>
              <p:cNvPr id="8" name="Content Placeholder 3">
                <a:extLst>
                  <a:ext uri="{FF2B5EF4-FFF2-40B4-BE49-F238E27FC236}">
                    <a16:creationId xmlns:a16="http://schemas.microsoft.com/office/drawing/2014/main" id="{403CCE34-E8F6-B53A-DD49-3158ADD8E2A0}"/>
                  </a:ext>
                </a:extLst>
              </p:cNvPr>
              <p:cNvSpPr txBox="1">
                <a:spLocks/>
              </p:cNvSpPr>
              <p:nvPr/>
            </p:nvSpPr>
            <p:spPr>
              <a:xfrm>
                <a:off x="4629149" y="1825625"/>
                <a:ext cx="388619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There will exist a level of output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𝑇𝐵</m:t>
                        </m:r>
                      </m:sub>
                    </m:sSub>
                  </m:oMath>
                </a14:m>
                <a:r>
                  <a:rPr lang="en-US" dirty="0"/>
                  <a:t> that leads to  “balanced trade.”</a:t>
                </a:r>
              </a:p>
              <a:p>
                <a:pPr lvl="3"/>
                <a:endParaRPr lang="en-US" dirty="0"/>
              </a:p>
              <a:p>
                <a:r>
                  <a:rPr lang="en-US" dirty="0"/>
                  <a:t>When domestic output is below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𝑇𝐵</m:t>
                        </m:r>
                      </m:sub>
                    </m:sSub>
                  </m:oMath>
                </a14:m>
                <a:r>
                  <a:rPr lang="en-US" dirty="0"/>
                  <a:t>, we will see a trade surplus.</a:t>
                </a:r>
              </a:p>
              <a:p>
                <a:pPr lvl="3"/>
                <a:endParaRPr lang="en-US" dirty="0"/>
              </a:p>
              <a:p>
                <a:r>
                  <a:rPr lang="en-US" dirty="0"/>
                  <a:t>When domestic output is above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𝑇𝐵</m:t>
                        </m:r>
                      </m:sub>
                    </m:sSub>
                  </m:oMath>
                </a14:m>
                <a:r>
                  <a:rPr lang="en-US" dirty="0"/>
                  <a:t>, we will have a trade deficit.</a:t>
                </a:r>
              </a:p>
            </p:txBody>
          </p:sp>
        </mc:Choice>
        <mc:Fallback xmlns="">
          <p:sp>
            <p:nvSpPr>
              <p:cNvPr id="8" name="Content Placeholder 3">
                <a:extLst>
                  <a:ext uri="{FF2B5EF4-FFF2-40B4-BE49-F238E27FC236}">
                    <a16:creationId xmlns:a16="http://schemas.microsoft.com/office/drawing/2014/main" id="{403CCE34-E8F6-B53A-DD49-3158ADD8E2A0}"/>
                  </a:ext>
                </a:extLst>
              </p:cNvPr>
              <p:cNvSpPr txBox="1">
                <a:spLocks noRot="1" noChangeAspect="1" noMove="1" noResize="1" noEditPoints="1" noAdjustHandles="1" noChangeArrowheads="1" noChangeShapeType="1" noTextEdit="1"/>
              </p:cNvSpPr>
              <p:nvPr/>
            </p:nvSpPr>
            <p:spPr>
              <a:xfrm>
                <a:off x="4629149" y="1825625"/>
                <a:ext cx="3886199" cy="4351338"/>
              </a:xfrm>
              <a:prstGeom prst="rect">
                <a:avLst/>
              </a:prstGeom>
              <a:blipFill>
                <a:blip r:embed="rId3"/>
                <a:stretch>
                  <a:fillRect l="-2038" t="-1821"/>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A212FB53-B0BA-F62A-96F0-006D578B57FA}"/>
              </a:ext>
            </a:extLst>
          </p:cNvPr>
          <p:cNvSpPr/>
          <p:nvPr/>
        </p:nvSpPr>
        <p:spPr>
          <a:xfrm>
            <a:off x="2608799" y="4163288"/>
            <a:ext cx="64008" cy="6400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F72D1BE-2205-E648-7DFC-771360991764}"/>
                  </a:ext>
                </a:extLst>
              </p:cNvPr>
              <p:cNvSpPr txBox="1"/>
              <p:nvPr/>
            </p:nvSpPr>
            <p:spPr>
              <a:xfrm>
                <a:off x="2466557" y="4253397"/>
                <a:ext cx="34849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𝑌</m:t>
                          </m:r>
                        </m:e>
                        <m:sub>
                          <m:r>
                            <a:rPr lang="en-US" sz="1600" b="0" i="1" smtClean="0">
                              <a:solidFill>
                                <a:schemeClr val="tx1"/>
                              </a:solidFill>
                              <a:latin typeface="Cambria Math" panose="02040503050406030204" pitchFamily="18" charset="0"/>
                            </a:rPr>
                            <m:t>𝑇𝐵</m:t>
                          </m:r>
                        </m:sub>
                      </m:sSub>
                    </m:oMath>
                  </m:oMathPara>
                </a14:m>
                <a:endParaRPr lang="en-US" sz="1600" dirty="0">
                  <a:solidFill>
                    <a:schemeClr val="tx1"/>
                  </a:solidFill>
                </a:endParaRPr>
              </a:p>
            </p:txBody>
          </p:sp>
        </mc:Choice>
        <mc:Fallback xmlns="">
          <p:sp>
            <p:nvSpPr>
              <p:cNvPr id="25" name="TextBox 24">
                <a:extLst>
                  <a:ext uri="{FF2B5EF4-FFF2-40B4-BE49-F238E27FC236}">
                    <a16:creationId xmlns:a16="http://schemas.microsoft.com/office/drawing/2014/main" id="{AF72D1BE-2205-E648-7DFC-771360991764}"/>
                  </a:ext>
                </a:extLst>
              </p:cNvPr>
              <p:cNvSpPr txBox="1">
                <a:spLocks noRot="1" noChangeAspect="1" noMove="1" noResize="1" noEditPoints="1" noAdjustHandles="1" noChangeArrowheads="1" noChangeShapeType="1" noTextEdit="1"/>
              </p:cNvSpPr>
              <p:nvPr/>
            </p:nvSpPr>
            <p:spPr>
              <a:xfrm>
                <a:off x="2466557" y="4253397"/>
                <a:ext cx="348493" cy="246221"/>
              </a:xfrm>
              <a:prstGeom prst="rect">
                <a:avLst/>
              </a:prstGeom>
              <a:blipFill>
                <a:blip r:embed="rId4"/>
                <a:stretch>
                  <a:fillRect l="-14035" r="-3509"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037672B-E67B-8CDD-B8BE-76810B16A416}"/>
                  </a:ext>
                </a:extLst>
              </p:cNvPr>
              <p:cNvSpPr txBox="1"/>
              <p:nvPr/>
            </p:nvSpPr>
            <p:spPr>
              <a:xfrm>
                <a:off x="4300366" y="4897859"/>
                <a:ext cx="29129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accent4">
                              <a:lumMod val="75000"/>
                            </a:schemeClr>
                          </a:solidFill>
                          <a:latin typeface="Cambria Math" panose="02040503050406030204" pitchFamily="18" charset="0"/>
                        </a:rPr>
                        <m:t>𝑁𝑋</m:t>
                      </m:r>
                    </m:oMath>
                  </m:oMathPara>
                </a14:m>
                <a:endParaRPr lang="en-US" sz="1400" dirty="0">
                  <a:solidFill>
                    <a:schemeClr val="accent4">
                      <a:lumMod val="75000"/>
                    </a:schemeClr>
                  </a:solidFill>
                </a:endParaRPr>
              </a:p>
            </p:txBody>
          </p:sp>
        </mc:Choice>
        <mc:Fallback xmlns="">
          <p:sp>
            <p:nvSpPr>
              <p:cNvPr id="30" name="TextBox 29">
                <a:extLst>
                  <a:ext uri="{FF2B5EF4-FFF2-40B4-BE49-F238E27FC236}">
                    <a16:creationId xmlns:a16="http://schemas.microsoft.com/office/drawing/2014/main" id="{C037672B-E67B-8CDD-B8BE-76810B16A416}"/>
                  </a:ext>
                </a:extLst>
              </p:cNvPr>
              <p:cNvSpPr txBox="1">
                <a:spLocks noRot="1" noChangeAspect="1" noMove="1" noResize="1" noEditPoints="1" noAdjustHandles="1" noChangeArrowheads="1" noChangeShapeType="1" noTextEdit="1"/>
              </p:cNvSpPr>
              <p:nvPr/>
            </p:nvSpPr>
            <p:spPr>
              <a:xfrm>
                <a:off x="4300366" y="4897859"/>
                <a:ext cx="291298" cy="215444"/>
              </a:xfrm>
              <a:prstGeom prst="rect">
                <a:avLst/>
              </a:prstGeom>
              <a:blipFill>
                <a:blip r:embed="rId5"/>
                <a:stretch>
                  <a:fillRect l="-14583" r="-10417" b="-2778"/>
                </a:stretch>
              </a:blipFill>
            </p:spPr>
            <p:txBody>
              <a:bodyPr/>
              <a:lstStyle/>
              <a:p>
                <a:r>
                  <a:rPr lang="en-US">
                    <a:noFill/>
                  </a:rPr>
                  <a:t> </a:t>
                </a:r>
              </a:p>
            </p:txBody>
          </p:sp>
        </mc:Fallback>
      </mc:AlternateContent>
    </p:spTree>
    <p:extLst>
      <p:ext uri="{BB962C8B-B14F-4D97-AF65-F5344CB8AC3E}">
        <p14:creationId xmlns:p14="http://schemas.microsoft.com/office/powerpoint/2010/main" val="3155153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500"/>
                                        <p:tgtEl>
                                          <p:spTgt spid="3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animEffect transition="in" filter="fade">
                                      <p:cBhvr>
                                        <p:cTn id="33" dur="500"/>
                                        <p:tgtEl>
                                          <p:spTgt spid="8">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8">
                                            <p:txEl>
                                              <p:pRg st="2" end="2"/>
                                            </p:txEl>
                                          </p:spTgt>
                                        </p:tgtEl>
                                        <p:attrNameLst>
                                          <p:attrName>style.visibility</p:attrName>
                                        </p:attrNameLst>
                                      </p:cBhvr>
                                      <p:to>
                                        <p:strVal val="visible"/>
                                      </p:to>
                                    </p:set>
                                    <p:animEffect transition="in" filter="fade">
                                      <p:cBhvr>
                                        <p:cTn id="38" dur="500"/>
                                        <p:tgtEl>
                                          <p:spTgt spid="8">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8">
                                            <p:txEl>
                                              <p:pRg st="4" end="4"/>
                                            </p:txEl>
                                          </p:spTgt>
                                        </p:tgtEl>
                                        <p:attrNameLst>
                                          <p:attrName>style.visibility</p:attrName>
                                        </p:attrNameLst>
                                      </p:cBhvr>
                                      <p:to>
                                        <p:strVal val="visible"/>
                                      </p:to>
                                    </p:set>
                                    <p:animEffect transition="in" filter="fade">
                                      <p:cBhvr>
                                        <p:cTn id="43"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5" grpId="0"/>
      <p:bldP spid="16" grpId="0" animBg="1"/>
      <p:bldP spid="25" grpId="0"/>
      <p:bldP spid="3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6C07A-0C0B-4DCC-CC8E-158479CD25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FE3D26-3934-E1FE-5157-09BCDDD91E23}"/>
              </a:ext>
            </a:extLst>
          </p:cNvPr>
          <p:cNvSpPr>
            <a:spLocks noGrp="1"/>
          </p:cNvSpPr>
          <p:nvPr>
            <p:ph type="title"/>
          </p:nvPr>
        </p:nvSpPr>
        <p:spPr/>
        <p:txBody>
          <a:bodyPr/>
          <a:lstStyle/>
          <a:p>
            <a:r>
              <a:rPr lang="en-US" dirty="0"/>
              <a:t>Visualizing the Open Goods Market</a:t>
            </a:r>
          </a:p>
        </p:txBody>
      </p:sp>
      <p:sp>
        <p:nvSpPr>
          <p:cNvPr id="5" name="Date Placeholder 4">
            <a:extLst>
              <a:ext uri="{FF2B5EF4-FFF2-40B4-BE49-F238E27FC236}">
                <a16:creationId xmlns:a16="http://schemas.microsoft.com/office/drawing/2014/main" id="{E8AE47B8-DB48-73C8-7C12-73D0F660C80D}"/>
              </a:ext>
            </a:extLst>
          </p:cNvPr>
          <p:cNvSpPr>
            <a:spLocks noGrp="1"/>
          </p:cNvSpPr>
          <p:nvPr>
            <p:ph type="dt" sz="half" idx="10"/>
          </p:nvPr>
        </p:nvSpPr>
        <p:spPr/>
        <p:txBody>
          <a:bodyPr/>
          <a:lstStyle/>
          <a:p>
            <a:r>
              <a:rPr lang="en-US" dirty="0"/>
              <a:t>Spring 2024</a:t>
            </a:r>
          </a:p>
        </p:txBody>
      </p:sp>
      <p:sp>
        <p:nvSpPr>
          <p:cNvPr id="6" name="Footer Placeholder 5">
            <a:extLst>
              <a:ext uri="{FF2B5EF4-FFF2-40B4-BE49-F238E27FC236}">
                <a16:creationId xmlns:a16="http://schemas.microsoft.com/office/drawing/2014/main" id="{F9026A0E-DA65-9157-AF6A-CAADF50B3E2C}"/>
              </a:ext>
            </a:extLst>
          </p:cNvPr>
          <p:cNvSpPr>
            <a:spLocks noGrp="1"/>
          </p:cNvSpPr>
          <p:nvPr>
            <p:ph type="ftr" sz="quarter" idx="11"/>
          </p:nvPr>
        </p:nvSpPr>
        <p:spPr/>
        <p:txBody>
          <a:bodyPr/>
          <a:lstStyle/>
          <a:p>
            <a:r>
              <a:rPr lang="en-US" dirty="0"/>
              <a:t>DEPARTMENT OF BUSINESS &amp; ECONOMICS</a:t>
            </a:r>
          </a:p>
        </p:txBody>
      </p:sp>
      <p:sp>
        <p:nvSpPr>
          <p:cNvPr id="7" name="Slide Number Placeholder 6">
            <a:extLst>
              <a:ext uri="{FF2B5EF4-FFF2-40B4-BE49-F238E27FC236}">
                <a16:creationId xmlns:a16="http://schemas.microsoft.com/office/drawing/2014/main" id="{C9E93CE9-23B7-1CB9-08E4-C0B100BBA063}"/>
              </a:ext>
            </a:extLst>
          </p:cNvPr>
          <p:cNvSpPr>
            <a:spLocks noGrp="1"/>
          </p:cNvSpPr>
          <p:nvPr>
            <p:ph type="sldNum" sz="quarter" idx="12"/>
          </p:nvPr>
        </p:nvSpPr>
        <p:spPr/>
        <p:txBody>
          <a:bodyPr/>
          <a:lstStyle/>
          <a:p>
            <a:fld id="{1A980C56-831A-4EAB-9EDE-57C090F4F877}" type="slidenum">
              <a:rPr lang="en-US" smtClean="0"/>
              <a:t>13</a:t>
            </a:fld>
            <a:endParaRPr lang="en-US" dirty="0"/>
          </a:p>
        </p:txBody>
      </p:sp>
      <p:cxnSp>
        <p:nvCxnSpPr>
          <p:cNvPr id="12" name="Straight Arrow Connector 11">
            <a:extLst>
              <a:ext uri="{FF2B5EF4-FFF2-40B4-BE49-F238E27FC236}">
                <a16:creationId xmlns:a16="http://schemas.microsoft.com/office/drawing/2014/main" id="{B66AC92C-8A88-3848-D654-D68051C6AB83}"/>
              </a:ext>
            </a:extLst>
          </p:cNvPr>
          <p:cNvCxnSpPr/>
          <p:nvPr/>
        </p:nvCxnSpPr>
        <p:spPr>
          <a:xfrm>
            <a:off x="703294" y="4402875"/>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F73FD52-F826-073C-65C5-83D44E1E7E16}"/>
              </a:ext>
            </a:extLst>
          </p:cNvPr>
          <p:cNvCxnSpPr>
            <a:cxnSpLocks/>
          </p:cNvCxnSpPr>
          <p:nvPr/>
        </p:nvCxnSpPr>
        <p:spPr>
          <a:xfrm rot="16200000">
            <a:off x="-504996" y="3197225"/>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1453694-8A7C-AA2A-7882-E2C1F72B92A1}"/>
              </a:ext>
            </a:extLst>
          </p:cNvPr>
          <p:cNvSpPr txBox="1"/>
          <p:nvPr/>
        </p:nvSpPr>
        <p:spPr>
          <a:xfrm>
            <a:off x="3085071" y="4108081"/>
            <a:ext cx="708848" cy="307777"/>
          </a:xfrm>
          <a:prstGeom prst="rect">
            <a:avLst/>
          </a:prstGeom>
          <a:noFill/>
        </p:spPr>
        <p:txBody>
          <a:bodyPr wrap="none" rtlCol="0">
            <a:spAutoFit/>
          </a:bodyPr>
          <a:lstStyle/>
          <a:p>
            <a:r>
              <a:rPr lang="en-US" sz="1400" dirty="0"/>
              <a:t>Output</a:t>
            </a:r>
          </a:p>
        </p:txBody>
      </p:sp>
      <p:sp>
        <p:nvSpPr>
          <p:cNvPr id="18" name="TextBox 17">
            <a:extLst>
              <a:ext uri="{FF2B5EF4-FFF2-40B4-BE49-F238E27FC236}">
                <a16:creationId xmlns:a16="http://schemas.microsoft.com/office/drawing/2014/main" id="{A3834DB4-47CF-8CC2-D09C-5DBEBCB8EAE6}"/>
              </a:ext>
            </a:extLst>
          </p:cNvPr>
          <p:cNvSpPr txBox="1"/>
          <p:nvPr/>
        </p:nvSpPr>
        <p:spPr>
          <a:xfrm rot="16200000">
            <a:off x="301581" y="2046700"/>
            <a:ext cx="803425" cy="307777"/>
          </a:xfrm>
          <a:prstGeom prst="rect">
            <a:avLst/>
          </a:prstGeom>
          <a:noFill/>
        </p:spPr>
        <p:txBody>
          <a:bodyPr wrap="none" rtlCol="0">
            <a:spAutoFit/>
          </a:bodyPr>
          <a:lstStyle/>
          <a:p>
            <a:r>
              <a:rPr lang="en-US" sz="1400" dirty="0"/>
              <a:t>Demand</a:t>
            </a:r>
          </a:p>
        </p:txBody>
      </p:sp>
      <p:cxnSp>
        <p:nvCxnSpPr>
          <p:cNvPr id="41" name="Straight Connector 40">
            <a:extLst>
              <a:ext uri="{FF2B5EF4-FFF2-40B4-BE49-F238E27FC236}">
                <a16:creationId xmlns:a16="http://schemas.microsoft.com/office/drawing/2014/main" id="{77775FBA-143D-187C-630A-4BB75AE68F38}"/>
              </a:ext>
            </a:extLst>
          </p:cNvPr>
          <p:cNvCxnSpPr>
            <a:cxnSpLocks/>
          </p:cNvCxnSpPr>
          <p:nvPr/>
        </p:nvCxnSpPr>
        <p:spPr>
          <a:xfrm flipV="1">
            <a:off x="869197" y="2319941"/>
            <a:ext cx="2513560" cy="672366"/>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C4E1CB1-8EA7-9C38-3D0F-53AB3A8D7AAC}"/>
                  </a:ext>
                </a:extLst>
              </p:cNvPr>
              <p:cNvSpPr txBox="1"/>
              <p:nvPr/>
            </p:nvSpPr>
            <p:spPr>
              <a:xfrm>
                <a:off x="3233742" y="2358751"/>
                <a:ext cx="17331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rgbClr val="0070C0"/>
                          </a:solidFill>
                          <a:latin typeface="Cambria Math" panose="02040503050406030204" pitchFamily="18" charset="0"/>
                        </a:rPr>
                        <m:t>𝑍</m:t>
                      </m:r>
                    </m:oMath>
                  </m:oMathPara>
                </a14:m>
                <a:endParaRPr lang="en-US" sz="1600" dirty="0">
                  <a:solidFill>
                    <a:srgbClr val="0070C0"/>
                  </a:solidFill>
                </a:endParaRPr>
              </a:p>
            </p:txBody>
          </p:sp>
        </mc:Choice>
        <mc:Fallback xmlns="">
          <p:sp>
            <p:nvSpPr>
              <p:cNvPr id="42" name="TextBox 41">
                <a:extLst>
                  <a:ext uri="{FF2B5EF4-FFF2-40B4-BE49-F238E27FC236}">
                    <a16:creationId xmlns:a16="http://schemas.microsoft.com/office/drawing/2014/main" id="{1C4E1CB1-8EA7-9C38-3D0F-53AB3A8D7AAC}"/>
                  </a:ext>
                </a:extLst>
              </p:cNvPr>
              <p:cNvSpPr txBox="1">
                <a:spLocks noRot="1" noChangeAspect="1" noMove="1" noResize="1" noEditPoints="1" noAdjustHandles="1" noChangeArrowheads="1" noChangeShapeType="1" noTextEdit="1"/>
              </p:cNvSpPr>
              <p:nvPr/>
            </p:nvSpPr>
            <p:spPr>
              <a:xfrm>
                <a:off x="3233742" y="2358751"/>
                <a:ext cx="173316" cy="246221"/>
              </a:xfrm>
              <a:prstGeom prst="rect">
                <a:avLst/>
              </a:prstGeom>
              <a:blipFill>
                <a:blip r:embed="rId2"/>
                <a:stretch>
                  <a:fillRect l="-24138" r="-24138" b="-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1B063F87-F4A0-0705-ACB9-8EBB930E3CB7}"/>
                  </a:ext>
                </a:extLst>
              </p:cNvPr>
              <p:cNvSpPr txBox="1">
                <a:spLocks/>
              </p:cNvSpPr>
              <p:nvPr/>
            </p:nvSpPr>
            <p:spPr>
              <a:xfrm>
                <a:off x="3793919" y="1825625"/>
                <a:ext cx="472142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equilibrium condition for the goods market remains </a:t>
                </a:r>
                <a14:m>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𝑍</m:t>
                    </m:r>
                  </m:oMath>
                </a14:m>
                <a:r>
                  <a:rPr lang="en-US" dirty="0"/>
                  <a:t>.</a:t>
                </a:r>
              </a:p>
              <a:p>
                <a:pPr lvl="3"/>
                <a:endParaRPr lang="en-US" dirty="0"/>
              </a:p>
              <a:p>
                <a:r>
                  <a:rPr lang="en-US" dirty="0"/>
                  <a:t>Plotting the domestic demand for the open economy, we find the equilibrium output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𝑌</m:t>
                        </m:r>
                      </m:e>
                      <m:sup>
                        <m:r>
                          <a:rPr lang="en-US" i="1">
                            <a:latin typeface="Cambria Math" panose="02040503050406030204" pitchFamily="18" charset="0"/>
                          </a:rPr>
                          <m:t>∗</m:t>
                        </m:r>
                      </m:sup>
                    </m:sSup>
                  </m:oMath>
                </a14:m>
                <a:r>
                  <a:rPr lang="en-US" dirty="0"/>
                  <a:t>.</a:t>
                </a:r>
              </a:p>
              <a:p>
                <a:pPr lvl="3"/>
                <a:endParaRPr lang="en-US" dirty="0"/>
              </a:p>
              <a:p>
                <a:r>
                  <a:rPr lang="en-US" dirty="0"/>
                  <a:t>The economy’s trade surplus / deficit can be found by plotting the net exports curve.</a:t>
                </a:r>
              </a:p>
              <a:p>
                <a:pPr lvl="3"/>
                <a:endParaRPr lang="en-US" dirty="0"/>
              </a:p>
              <a:p>
                <a:r>
                  <a:rPr lang="en-US" dirty="0"/>
                  <a:t>Surplus/deficit depends on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𝑌</m:t>
                        </m:r>
                      </m:e>
                      <m:sup>
                        <m:r>
                          <a:rPr lang="en-US" i="1">
                            <a:latin typeface="Cambria Math" panose="02040503050406030204" pitchFamily="18" charset="0"/>
                          </a:rPr>
                          <m:t>∗</m:t>
                        </m:r>
                      </m:sup>
                    </m:sSup>
                  </m:oMath>
                </a14:m>
                <a:r>
                  <a:rPr lang="en-US" dirty="0"/>
                  <a:t>.</a:t>
                </a:r>
              </a:p>
              <a:p>
                <a:pPr lvl="3"/>
                <a:endParaRPr lang="en-US" dirty="0"/>
              </a:p>
              <a:p>
                <a:endParaRPr lang="en-US" dirty="0"/>
              </a:p>
              <a:p>
                <a:pPr lvl="3"/>
                <a:endParaRPr lang="en-US" dirty="0"/>
              </a:p>
              <a:p>
                <a:endParaRPr lang="en-US" dirty="0"/>
              </a:p>
            </p:txBody>
          </p:sp>
        </mc:Choice>
        <mc:Fallback xmlns="">
          <p:sp>
            <p:nvSpPr>
              <p:cNvPr id="4" name="Content Placeholder 3">
                <a:extLst>
                  <a:ext uri="{FF2B5EF4-FFF2-40B4-BE49-F238E27FC236}">
                    <a16:creationId xmlns:a16="http://schemas.microsoft.com/office/drawing/2014/main" id="{1B063F87-F4A0-0705-ACB9-8EBB930E3CB7}"/>
                  </a:ext>
                </a:extLst>
              </p:cNvPr>
              <p:cNvSpPr txBox="1">
                <a:spLocks noRot="1" noChangeAspect="1" noMove="1" noResize="1" noEditPoints="1" noAdjustHandles="1" noChangeArrowheads="1" noChangeShapeType="1" noTextEdit="1"/>
              </p:cNvSpPr>
              <p:nvPr/>
            </p:nvSpPr>
            <p:spPr>
              <a:xfrm>
                <a:off x="3793919" y="1825625"/>
                <a:ext cx="4721429" cy="4351338"/>
              </a:xfrm>
              <a:prstGeom prst="rect">
                <a:avLst/>
              </a:prstGeom>
              <a:blipFill>
                <a:blip r:embed="rId3"/>
                <a:stretch>
                  <a:fillRect l="-1677" t="-1821" r="-2839" b="-1681"/>
                </a:stretch>
              </a:blipFill>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A487DF4A-753C-6A3F-9066-EF0384E8F5E7}"/>
              </a:ext>
            </a:extLst>
          </p:cNvPr>
          <p:cNvCxnSpPr>
            <a:cxnSpLocks/>
          </p:cNvCxnSpPr>
          <p:nvPr/>
        </p:nvCxnSpPr>
        <p:spPr>
          <a:xfrm flipH="1">
            <a:off x="866603" y="1917585"/>
            <a:ext cx="2501019" cy="2483278"/>
          </a:xfrm>
          <a:prstGeom prst="straightConnector1">
            <a:avLst/>
          </a:prstGeom>
          <a:ln>
            <a:solidFill>
              <a:srgbClr val="FFC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DABA28CC-6520-2F53-6CF2-1D2CC18903AA}"/>
              </a:ext>
            </a:extLst>
          </p:cNvPr>
          <p:cNvSpPr/>
          <p:nvPr/>
        </p:nvSpPr>
        <p:spPr>
          <a:xfrm>
            <a:off x="2774686" y="2442854"/>
            <a:ext cx="64008" cy="6400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0" name="Straight Arrow Connector 39">
            <a:extLst>
              <a:ext uri="{FF2B5EF4-FFF2-40B4-BE49-F238E27FC236}">
                <a16:creationId xmlns:a16="http://schemas.microsoft.com/office/drawing/2014/main" id="{D689E14F-7AEF-E714-4AB2-85845C2BFC2F}"/>
              </a:ext>
            </a:extLst>
          </p:cNvPr>
          <p:cNvCxnSpPr/>
          <p:nvPr/>
        </p:nvCxnSpPr>
        <p:spPr>
          <a:xfrm>
            <a:off x="703294" y="5576518"/>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6256089-C6B3-4F2C-5F38-4D39F68632DC}"/>
              </a:ext>
            </a:extLst>
          </p:cNvPr>
          <p:cNvCxnSpPr>
            <a:cxnSpLocks/>
          </p:cNvCxnSpPr>
          <p:nvPr/>
        </p:nvCxnSpPr>
        <p:spPr>
          <a:xfrm flipV="1">
            <a:off x="880014" y="4692001"/>
            <a:ext cx="0" cy="1568840"/>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56A344D5-CDD3-1765-2426-D1DAFC2099F5}"/>
              </a:ext>
            </a:extLst>
          </p:cNvPr>
          <p:cNvCxnSpPr>
            <a:cxnSpLocks/>
          </p:cNvCxnSpPr>
          <p:nvPr/>
        </p:nvCxnSpPr>
        <p:spPr>
          <a:xfrm>
            <a:off x="880014" y="5180695"/>
            <a:ext cx="2574266" cy="857638"/>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94D1231E-2E4F-AF0B-1E88-EC16FE3FB5B4}"/>
                  </a:ext>
                </a:extLst>
              </p:cNvPr>
              <p:cNvSpPr txBox="1"/>
              <p:nvPr/>
            </p:nvSpPr>
            <p:spPr>
              <a:xfrm rot="16200000">
                <a:off x="486914" y="4722833"/>
                <a:ext cx="47596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dirty="0" smtClean="0">
                          <a:latin typeface="Cambria Math" panose="02040503050406030204" pitchFamily="18" charset="0"/>
                        </a:rPr>
                        <m:t>𝑁𝑋</m:t>
                      </m:r>
                    </m:oMath>
                  </m:oMathPara>
                </a14:m>
                <a:endParaRPr lang="en-US" sz="1400" dirty="0"/>
              </a:p>
            </p:txBody>
          </p:sp>
        </mc:Choice>
        <mc:Fallback xmlns="">
          <p:sp>
            <p:nvSpPr>
              <p:cNvPr id="50" name="TextBox 49">
                <a:extLst>
                  <a:ext uri="{FF2B5EF4-FFF2-40B4-BE49-F238E27FC236}">
                    <a16:creationId xmlns:a16="http://schemas.microsoft.com/office/drawing/2014/main" id="{94D1231E-2E4F-AF0B-1E88-EC16FE3FB5B4}"/>
                  </a:ext>
                </a:extLst>
              </p:cNvPr>
              <p:cNvSpPr txBox="1">
                <a:spLocks noRot="1" noChangeAspect="1" noMove="1" noResize="1" noEditPoints="1" noAdjustHandles="1" noChangeArrowheads="1" noChangeShapeType="1" noTextEdit="1"/>
              </p:cNvSpPr>
              <p:nvPr/>
            </p:nvSpPr>
            <p:spPr>
              <a:xfrm rot="16200000">
                <a:off x="486914" y="4722833"/>
                <a:ext cx="475964" cy="307777"/>
              </a:xfrm>
              <a:prstGeom prst="rect">
                <a:avLst/>
              </a:prstGeom>
              <a:blipFill>
                <a:blip r:embed="rId4"/>
                <a:stretch>
                  <a:fillRect/>
                </a:stretch>
              </a:blipFill>
            </p:spPr>
            <p:txBody>
              <a:bodyPr/>
              <a:lstStyle/>
              <a:p>
                <a:r>
                  <a:rPr lang="en-US">
                    <a:noFill/>
                  </a:rPr>
                  <a:t> </a:t>
                </a:r>
              </a:p>
            </p:txBody>
          </p:sp>
        </mc:Fallback>
      </mc:AlternateContent>
      <p:sp>
        <p:nvSpPr>
          <p:cNvPr id="51" name="TextBox 50">
            <a:extLst>
              <a:ext uri="{FF2B5EF4-FFF2-40B4-BE49-F238E27FC236}">
                <a16:creationId xmlns:a16="http://schemas.microsoft.com/office/drawing/2014/main" id="{6B1FB76C-0B53-B698-B36F-3FE8D29070F4}"/>
              </a:ext>
            </a:extLst>
          </p:cNvPr>
          <p:cNvSpPr txBox="1"/>
          <p:nvPr/>
        </p:nvSpPr>
        <p:spPr>
          <a:xfrm>
            <a:off x="3085071" y="5261780"/>
            <a:ext cx="708848" cy="307777"/>
          </a:xfrm>
          <a:prstGeom prst="rect">
            <a:avLst/>
          </a:prstGeom>
          <a:noFill/>
        </p:spPr>
        <p:txBody>
          <a:bodyPr wrap="none" rtlCol="0">
            <a:spAutoFit/>
          </a:bodyPr>
          <a:lstStyle/>
          <a:p>
            <a:r>
              <a:rPr lang="en-US" sz="1400" dirty="0"/>
              <a:t>Output</a:t>
            </a:r>
          </a:p>
        </p:txBody>
      </p:sp>
      <p:sp>
        <p:nvSpPr>
          <p:cNvPr id="52" name="Oval 51">
            <a:extLst>
              <a:ext uri="{FF2B5EF4-FFF2-40B4-BE49-F238E27FC236}">
                <a16:creationId xmlns:a16="http://schemas.microsoft.com/office/drawing/2014/main" id="{A3EAA259-6F4F-03C6-725B-EE599CC2A973}"/>
              </a:ext>
            </a:extLst>
          </p:cNvPr>
          <p:cNvSpPr/>
          <p:nvPr/>
        </p:nvSpPr>
        <p:spPr>
          <a:xfrm>
            <a:off x="2030666" y="5542501"/>
            <a:ext cx="64008" cy="6400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4" name="Straight Connector 53">
            <a:extLst>
              <a:ext uri="{FF2B5EF4-FFF2-40B4-BE49-F238E27FC236}">
                <a16:creationId xmlns:a16="http://schemas.microsoft.com/office/drawing/2014/main" id="{41625368-F00E-6689-0CED-F407BBF16255}"/>
              </a:ext>
            </a:extLst>
          </p:cNvPr>
          <p:cNvCxnSpPr>
            <a:cxnSpLocks/>
            <a:stCxn id="32" idx="4"/>
          </p:cNvCxnSpPr>
          <p:nvPr/>
        </p:nvCxnSpPr>
        <p:spPr>
          <a:xfrm>
            <a:off x="2806690" y="2506862"/>
            <a:ext cx="0" cy="189400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8891229-BA54-7115-9055-D0738441B54F}"/>
              </a:ext>
            </a:extLst>
          </p:cNvPr>
          <p:cNvCxnSpPr>
            <a:cxnSpLocks/>
          </p:cNvCxnSpPr>
          <p:nvPr/>
        </p:nvCxnSpPr>
        <p:spPr>
          <a:xfrm>
            <a:off x="2806690" y="4400863"/>
            <a:ext cx="0" cy="142843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5C9A6FB2-E190-D782-0937-52551AB87DDB}"/>
                  </a:ext>
                </a:extLst>
              </p:cNvPr>
              <p:cNvSpPr txBox="1"/>
              <p:nvPr/>
            </p:nvSpPr>
            <p:spPr>
              <a:xfrm>
                <a:off x="2865854" y="4417967"/>
                <a:ext cx="22487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smtClean="0">
                              <a:solidFill>
                                <a:schemeClr val="tx1"/>
                              </a:solidFill>
                              <a:latin typeface="Cambria Math" panose="02040503050406030204" pitchFamily="18" charset="0"/>
                            </a:rPr>
                          </m:ctrlPr>
                        </m:sSupPr>
                        <m:e>
                          <m:r>
                            <a:rPr lang="en-US" sz="1400" b="0" i="1" smtClean="0">
                              <a:solidFill>
                                <a:schemeClr val="tx1"/>
                              </a:solidFill>
                              <a:latin typeface="Cambria Math" panose="02040503050406030204" pitchFamily="18" charset="0"/>
                            </a:rPr>
                            <m:t>𝑌</m:t>
                          </m:r>
                        </m:e>
                        <m:sup>
                          <m:r>
                            <a:rPr lang="en-US" sz="1400" b="0" i="1" smtClean="0">
                              <a:solidFill>
                                <a:schemeClr val="tx1"/>
                              </a:solidFill>
                              <a:latin typeface="Cambria Math" panose="02040503050406030204" pitchFamily="18" charset="0"/>
                            </a:rPr>
                            <m:t>∗</m:t>
                          </m:r>
                        </m:sup>
                      </m:sSup>
                    </m:oMath>
                  </m:oMathPara>
                </a14:m>
                <a:endParaRPr lang="en-US" sz="1400" dirty="0">
                  <a:solidFill>
                    <a:schemeClr val="tx1"/>
                  </a:solidFill>
                </a:endParaRPr>
              </a:p>
            </p:txBody>
          </p:sp>
        </mc:Choice>
        <mc:Fallback xmlns="">
          <p:sp>
            <p:nvSpPr>
              <p:cNvPr id="58" name="TextBox 57">
                <a:extLst>
                  <a:ext uri="{FF2B5EF4-FFF2-40B4-BE49-F238E27FC236}">
                    <a16:creationId xmlns:a16="http://schemas.microsoft.com/office/drawing/2014/main" id="{5C9A6FB2-E190-D782-0937-52551AB87DDB}"/>
                  </a:ext>
                </a:extLst>
              </p:cNvPr>
              <p:cNvSpPr txBox="1">
                <a:spLocks noRot="1" noChangeAspect="1" noMove="1" noResize="1" noEditPoints="1" noAdjustHandles="1" noChangeArrowheads="1" noChangeShapeType="1" noTextEdit="1"/>
              </p:cNvSpPr>
              <p:nvPr/>
            </p:nvSpPr>
            <p:spPr>
              <a:xfrm>
                <a:off x="2865854" y="4417967"/>
                <a:ext cx="224870" cy="215444"/>
              </a:xfrm>
              <a:prstGeom prst="rect">
                <a:avLst/>
              </a:prstGeom>
              <a:blipFill>
                <a:blip r:embed="rId5"/>
                <a:stretch>
                  <a:fillRect l="-18919" r="-2703"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32B2C4F3-DE19-BBDA-91DE-81D2769890CF}"/>
                  </a:ext>
                </a:extLst>
              </p:cNvPr>
              <p:cNvSpPr txBox="1"/>
              <p:nvPr/>
            </p:nvSpPr>
            <p:spPr>
              <a:xfrm>
                <a:off x="1942805" y="5249872"/>
                <a:ext cx="30373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𝑌</m:t>
                          </m:r>
                        </m:e>
                        <m:sub>
                          <m:r>
                            <a:rPr lang="en-US" sz="1400" b="0" i="1" smtClean="0">
                              <a:latin typeface="Cambria Math" panose="02040503050406030204" pitchFamily="18" charset="0"/>
                            </a:rPr>
                            <m:t>𝑇𝐵</m:t>
                          </m:r>
                        </m:sub>
                      </m:sSub>
                    </m:oMath>
                  </m:oMathPara>
                </a14:m>
                <a:endParaRPr lang="en-US" sz="1400" dirty="0"/>
              </a:p>
            </p:txBody>
          </p:sp>
        </mc:Choice>
        <mc:Fallback xmlns="">
          <p:sp>
            <p:nvSpPr>
              <p:cNvPr id="59" name="TextBox 58">
                <a:extLst>
                  <a:ext uri="{FF2B5EF4-FFF2-40B4-BE49-F238E27FC236}">
                    <a16:creationId xmlns:a16="http://schemas.microsoft.com/office/drawing/2014/main" id="{32B2C4F3-DE19-BBDA-91DE-81D2769890CF}"/>
                  </a:ext>
                </a:extLst>
              </p:cNvPr>
              <p:cNvSpPr txBox="1">
                <a:spLocks noRot="1" noChangeAspect="1" noMove="1" noResize="1" noEditPoints="1" noAdjustHandles="1" noChangeArrowheads="1" noChangeShapeType="1" noTextEdit="1"/>
              </p:cNvSpPr>
              <p:nvPr/>
            </p:nvSpPr>
            <p:spPr>
              <a:xfrm>
                <a:off x="1942805" y="5249872"/>
                <a:ext cx="303738" cy="215444"/>
              </a:xfrm>
              <a:prstGeom prst="rect">
                <a:avLst/>
              </a:prstGeom>
              <a:blipFill>
                <a:blip r:embed="rId6"/>
                <a:stretch>
                  <a:fillRect l="-14000" r="-2000" b="-11111"/>
                </a:stretch>
              </a:blipFill>
            </p:spPr>
            <p:txBody>
              <a:bodyPr/>
              <a:lstStyle/>
              <a:p>
                <a:r>
                  <a:rPr lang="en-US">
                    <a:noFill/>
                  </a:rPr>
                  <a:t> </a:t>
                </a:r>
              </a:p>
            </p:txBody>
          </p:sp>
        </mc:Fallback>
      </mc:AlternateContent>
      <p:cxnSp>
        <p:nvCxnSpPr>
          <p:cNvPr id="61" name="Straight Connector 60">
            <a:extLst>
              <a:ext uri="{FF2B5EF4-FFF2-40B4-BE49-F238E27FC236}">
                <a16:creationId xmlns:a16="http://schemas.microsoft.com/office/drawing/2014/main" id="{D8755229-3077-BE2E-3B07-72D3AF20554E}"/>
              </a:ext>
            </a:extLst>
          </p:cNvPr>
          <p:cNvCxnSpPr/>
          <p:nvPr/>
        </p:nvCxnSpPr>
        <p:spPr>
          <a:xfrm flipH="1">
            <a:off x="878785" y="5829300"/>
            <a:ext cx="1927905"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C479C4D4-230B-2792-F558-4982E6229A7E}"/>
              </a:ext>
            </a:extLst>
          </p:cNvPr>
          <p:cNvCxnSpPr>
            <a:cxnSpLocks/>
          </p:cNvCxnSpPr>
          <p:nvPr/>
        </p:nvCxnSpPr>
        <p:spPr>
          <a:xfrm>
            <a:off x="949325" y="5594350"/>
            <a:ext cx="0" cy="228600"/>
          </a:xfrm>
          <a:prstGeom prst="straightConnector1">
            <a:avLst/>
          </a:prstGeom>
          <a:ln>
            <a:solidFill>
              <a:srgbClr val="00B050"/>
            </a:solidFill>
            <a:headEnd type="stealth" w="sm" len="sm"/>
            <a:tailEnd type="stealth" w="sm" len="sm"/>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67B47C57-64D6-3D78-67DA-6CB7B4D1725B}"/>
              </a:ext>
            </a:extLst>
          </p:cNvPr>
          <p:cNvSpPr txBox="1"/>
          <p:nvPr/>
        </p:nvSpPr>
        <p:spPr>
          <a:xfrm>
            <a:off x="891727" y="5565993"/>
            <a:ext cx="970522" cy="276999"/>
          </a:xfrm>
          <a:prstGeom prst="rect">
            <a:avLst/>
          </a:prstGeom>
          <a:noFill/>
        </p:spPr>
        <p:txBody>
          <a:bodyPr wrap="none" rtlCol="0">
            <a:spAutoFit/>
          </a:bodyPr>
          <a:lstStyle/>
          <a:p>
            <a:r>
              <a:rPr lang="en-US" sz="1200" dirty="0">
                <a:solidFill>
                  <a:srgbClr val="00B050"/>
                </a:solidFill>
              </a:rPr>
              <a:t>Trade Deficit</a:t>
            </a:r>
          </a:p>
        </p:txBody>
      </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A2C67AC3-70F4-F324-35C4-7B715FB34A9D}"/>
                  </a:ext>
                </a:extLst>
              </p:cNvPr>
              <p:cNvSpPr txBox="1"/>
              <p:nvPr/>
            </p:nvSpPr>
            <p:spPr>
              <a:xfrm>
                <a:off x="3293846" y="6070589"/>
                <a:ext cx="29129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accent4">
                              <a:lumMod val="75000"/>
                            </a:schemeClr>
                          </a:solidFill>
                          <a:latin typeface="Cambria Math" panose="02040503050406030204" pitchFamily="18" charset="0"/>
                        </a:rPr>
                        <m:t>𝑁𝑋</m:t>
                      </m:r>
                    </m:oMath>
                  </m:oMathPara>
                </a14:m>
                <a:endParaRPr lang="en-US" sz="1400" dirty="0">
                  <a:solidFill>
                    <a:schemeClr val="accent4">
                      <a:lumMod val="75000"/>
                    </a:schemeClr>
                  </a:solidFill>
                </a:endParaRPr>
              </a:p>
            </p:txBody>
          </p:sp>
        </mc:Choice>
        <mc:Fallback xmlns="">
          <p:sp>
            <p:nvSpPr>
              <p:cNvPr id="66" name="TextBox 65">
                <a:extLst>
                  <a:ext uri="{FF2B5EF4-FFF2-40B4-BE49-F238E27FC236}">
                    <a16:creationId xmlns:a16="http://schemas.microsoft.com/office/drawing/2014/main" id="{A2C67AC3-70F4-F324-35C4-7B715FB34A9D}"/>
                  </a:ext>
                </a:extLst>
              </p:cNvPr>
              <p:cNvSpPr txBox="1">
                <a:spLocks noRot="1" noChangeAspect="1" noMove="1" noResize="1" noEditPoints="1" noAdjustHandles="1" noChangeArrowheads="1" noChangeShapeType="1" noTextEdit="1"/>
              </p:cNvSpPr>
              <p:nvPr/>
            </p:nvSpPr>
            <p:spPr>
              <a:xfrm>
                <a:off x="3293846" y="6070589"/>
                <a:ext cx="291298" cy="215444"/>
              </a:xfrm>
              <a:prstGeom prst="rect">
                <a:avLst/>
              </a:prstGeom>
              <a:blipFill>
                <a:blip r:embed="rId7"/>
                <a:stretch>
                  <a:fillRect l="-14583" r="-10417" b="-5714"/>
                </a:stretch>
              </a:blipFill>
            </p:spPr>
            <p:txBody>
              <a:bodyPr/>
              <a:lstStyle/>
              <a:p>
                <a:r>
                  <a:rPr lang="en-US">
                    <a:noFill/>
                  </a:rPr>
                  <a:t> </a:t>
                </a:r>
              </a:p>
            </p:txBody>
          </p:sp>
        </mc:Fallback>
      </mc:AlternateContent>
    </p:spTree>
    <p:extLst>
      <p:ext uri="{BB962C8B-B14F-4D97-AF65-F5344CB8AC3E}">
        <p14:creationId xmlns:p14="http://schemas.microsoft.com/office/powerpoint/2010/main" val="342819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fade">
                                      <p:cBhvr>
                                        <p:cTn id="21" dur="500"/>
                                        <p:tgtEl>
                                          <p:spTgt spid="4">
                                            <p:txEl>
                                              <p:pRg st="0" end="0"/>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500"/>
                                        <p:tgtEl>
                                          <p:spTgt spid="2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animEffect transition="in" filter="fade">
                                      <p:cBhvr>
                                        <p:cTn id="29" dur="500"/>
                                        <p:tgtEl>
                                          <p:spTgt spid="4">
                                            <p:txEl>
                                              <p:pRg st="2" end="2"/>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500"/>
                                        <p:tgtEl>
                                          <p:spTgt spid="4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fade">
                                      <p:cBhvr>
                                        <p:cTn id="35" dur="500"/>
                                        <p:tgtEl>
                                          <p:spTgt spid="4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8"/>
                                        </p:tgtEl>
                                        <p:attrNameLst>
                                          <p:attrName>style.visibility</p:attrName>
                                        </p:attrNameLst>
                                      </p:cBhvr>
                                      <p:to>
                                        <p:strVal val="visible"/>
                                      </p:to>
                                    </p:set>
                                    <p:animEffect transition="in" filter="fade">
                                      <p:cBhvr>
                                        <p:cTn id="38" dur="500"/>
                                        <p:tgtEl>
                                          <p:spTgt spid="58"/>
                                        </p:tgtEl>
                                      </p:cBhvr>
                                    </p:animEffect>
                                  </p:childTnLst>
                                </p:cTn>
                              </p:par>
                              <p:par>
                                <p:cTn id="39" presetID="10" presetClass="entr" presetSubtype="0" fill="hold" nodeType="withEffect">
                                  <p:stCondLst>
                                    <p:cond delay="0"/>
                                  </p:stCondLst>
                                  <p:childTnLst>
                                    <p:set>
                                      <p:cBhvr>
                                        <p:cTn id="40" dur="1" fill="hold">
                                          <p:stCondLst>
                                            <p:cond delay="0"/>
                                          </p:stCondLst>
                                        </p:cTn>
                                        <p:tgtEl>
                                          <p:spTgt spid="54"/>
                                        </p:tgtEl>
                                        <p:attrNameLst>
                                          <p:attrName>style.visibility</p:attrName>
                                        </p:attrNameLst>
                                      </p:cBhvr>
                                      <p:to>
                                        <p:strVal val="visible"/>
                                      </p:to>
                                    </p:set>
                                    <p:animEffect transition="in" filter="fade">
                                      <p:cBhvr>
                                        <p:cTn id="41" dur="500"/>
                                        <p:tgtEl>
                                          <p:spTgt spid="5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4">
                                            <p:txEl>
                                              <p:pRg st="4" end="4"/>
                                            </p:txEl>
                                          </p:spTgt>
                                        </p:tgtEl>
                                        <p:attrNameLst>
                                          <p:attrName>style.visibility</p:attrName>
                                        </p:attrNameLst>
                                      </p:cBhvr>
                                      <p:to>
                                        <p:strVal val="visible"/>
                                      </p:to>
                                    </p:set>
                                    <p:animEffect transition="in" filter="fade">
                                      <p:cBhvr>
                                        <p:cTn id="46" dur="500"/>
                                        <p:tgtEl>
                                          <p:spTgt spid="4">
                                            <p:txEl>
                                              <p:pRg st="4" end="4"/>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fade">
                                      <p:cBhvr>
                                        <p:cTn id="49" dur="500"/>
                                        <p:tgtEl>
                                          <p:spTgt spid="32"/>
                                        </p:tgtEl>
                                      </p:cBhvr>
                                    </p:animEffect>
                                  </p:childTnLst>
                                </p:cTn>
                              </p:par>
                              <p:par>
                                <p:cTn id="50" presetID="10" presetClass="entr" presetSubtype="0" fill="hold" nodeType="with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fade">
                                      <p:cBhvr>
                                        <p:cTn id="52" dur="500"/>
                                        <p:tgtEl>
                                          <p:spTgt spid="46"/>
                                        </p:tgtEl>
                                      </p:cBhvr>
                                    </p:animEffect>
                                  </p:childTnLst>
                                </p:cTn>
                              </p:par>
                              <p:par>
                                <p:cTn id="53" presetID="10" presetClass="entr" presetSubtype="0" fill="hold" nodeType="withEffect">
                                  <p:stCondLst>
                                    <p:cond delay="0"/>
                                  </p:stCondLst>
                                  <p:childTnLst>
                                    <p:set>
                                      <p:cBhvr>
                                        <p:cTn id="54" dur="1" fill="hold">
                                          <p:stCondLst>
                                            <p:cond delay="0"/>
                                          </p:stCondLst>
                                        </p:cTn>
                                        <p:tgtEl>
                                          <p:spTgt spid="43"/>
                                        </p:tgtEl>
                                        <p:attrNameLst>
                                          <p:attrName>style.visibility</p:attrName>
                                        </p:attrNameLst>
                                      </p:cBhvr>
                                      <p:to>
                                        <p:strVal val="visible"/>
                                      </p:to>
                                    </p:set>
                                    <p:animEffect transition="in" filter="fade">
                                      <p:cBhvr>
                                        <p:cTn id="55" dur="500"/>
                                        <p:tgtEl>
                                          <p:spTgt spid="43"/>
                                        </p:tgtEl>
                                      </p:cBhvr>
                                    </p:animEffect>
                                  </p:childTnLst>
                                </p:cTn>
                              </p:par>
                              <p:par>
                                <p:cTn id="56" presetID="10" presetClass="entr" presetSubtype="0" fill="hold" nodeType="withEffect">
                                  <p:stCondLst>
                                    <p:cond delay="0"/>
                                  </p:stCondLst>
                                  <p:childTnLst>
                                    <p:set>
                                      <p:cBhvr>
                                        <p:cTn id="57" dur="1" fill="hold">
                                          <p:stCondLst>
                                            <p:cond delay="0"/>
                                          </p:stCondLst>
                                        </p:cTn>
                                        <p:tgtEl>
                                          <p:spTgt spid="40"/>
                                        </p:tgtEl>
                                        <p:attrNameLst>
                                          <p:attrName>style.visibility</p:attrName>
                                        </p:attrNameLst>
                                      </p:cBhvr>
                                      <p:to>
                                        <p:strVal val="visible"/>
                                      </p:to>
                                    </p:set>
                                    <p:animEffect transition="in" filter="fade">
                                      <p:cBhvr>
                                        <p:cTn id="58" dur="500"/>
                                        <p:tgtEl>
                                          <p:spTgt spid="4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1"/>
                                        </p:tgtEl>
                                        <p:attrNameLst>
                                          <p:attrName>style.visibility</p:attrName>
                                        </p:attrNameLst>
                                      </p:cBhvr>
                                      <p:to>
                                        <p:strVal val="visible"/>
                                      </p:to>
                                    </p:set>
                                    <p:animEffect transition="in" filter="fade">
                                      <p:cBhvr>
                                        <p:cTn id="61" dur="500"/>
                                        <p:tgtEl>
                                          <p:spTgt spid="5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50"/>
                                        </p:tgtEl>
                                        <p:attrNameLst>
                                          <p:attrName>style.visibility</p:attrName>
                                        </p:attrNameLst>
                                      </p:cBhvr>
                                      <p:to>
                                        <p:strVal val="visible"/>
                                      </p:to>
                                    </p:set>
                                    <p:animEffect transition="in" filter="fade">
                                      <p:cBhvr>
                                        <p:cTn id="64" dur="500"/>
                                        <p:tgtEl>
                                          <p:spTgt spid="5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2"/>
                                        </p:tgtEl>
                                        <p:attrNameLst>
                                          <p:attrName>style.visibility</p:attrName>
                                        </p:attrNameLst>
                                      </p:cBhvr>
                                      <p:to>
                                        <p:strVal val="visible"/>
                                      </p:to>
                                    </p:set>
                                    <p:animEffect transition="in" filter="fade">
                                      <p:cBhvr>
                                        <p:cTn id="67" dur="500"/>
                                        <p:tgtEl>
                                          <p:spTgt spid="5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9"/>
                                        </p:tgtEl>
                                        <p:attrNameLst>
                                          <p:attrName>style.visibility</p:attrName>
                                        </p:attrNameLst>
                                      </p:cBhvr>
                                      <p:to>
                                        <p:strVal val="visible"/>
                                      </p:to>
                                    </p:set>
                                    <p:animEffect transition="in" filter="fade">
                                      <p:cBhvr>
                                        <p:cTn id="70" dur="500"/>
                                        <p:tgtEl>
                                          <p:spTgt spid="5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6"/>
                                        </p:tgtEl>
                                        <p:attrNameLst>
                                          <p:attrName>style.visibility</p:attrName>
                                        </p:attrNameLst>
                                      </p:cBhvr>
                                      <p:to>
                                        <p:strVal val="visible"/>
                                      </p:to>
                                    </p:set>
                                    <p:animEffect transition="in" filter="fade">
                                      <p:cBhvr>
                                        <p:cTn id="73" dur="500"/>
                                        <p:tgtEl>
                                          <p:spTgt spid="66"/>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4">
                                            <p:txEl>
                                              <p:pRg st="6" end="6"/>
                                            </p:txEl>
                                          </p:spTgt>
                                        </p:tgtEl>
                                        <p:attrNameLst>
                                          <p:attrName>style.visibility</p:attrName>
                                        </p:attrNameLst>
                                      </p:cBhvr>
                                      <p:to>
                                        <p:strVal val="visible"/>
                                      </p:to>
                                    </p:set>
                                    <p:animEffect transition="in" filter="fade">
                                      <p:cBhvr>
                                        <p:cTn id="78" dur="500"/>
                                        <p:tgtEl>
                                          <p:spTgt spid="4">
                                            <p:txEl>
                                              <p:pRg st="6" end="6"/>
                                            </p:txEl>
                                          </p:spTgt>
                                        </p:tgtEl>
                                      </p:cBhvr>
                                    </p:animEffect>
                                  </p:childTnLst>
                                </p:cTn>
                              </p:par>
                              <p:par>
                                <p:cTn id="79" presetID="10" presetClass="entr" presetSubtype="0" fill="hold" nodeType="withEffect">
                                  <p:stCondLst>
                                    <p:cond delay="0"/>
                                  </p:stCondLst>
                                  <p:childTnLst>
                                    <p:set>
                                      <p:cBhvr>
                                        <p:cTn id="80" dur="1" fill="hold">
                                          <p:stCondLst>
                                            <p:cond delay="0"/>
                                          </p:stCondLst>
                                        </p:cTn>
                                        <p:tgtEl>
                                          <p:spTgt spid="56"/>
                                        </p:tgtEl>
                                        <p:attrNameLst>
                                          <p:attrName>style.visibility</p:attrName>
                                        </p:attrNameLst>
                                      </p:cBhvr>
                                      <p:to>
                                        <p:strVal val="visible"/>
                                      </p:to>
                                    </p:set>
                                    <p:animEffect transition="in" filter="fade">
                                      <p:cBhvr>
                                        <p:cTn id="81" dur="500"/>
                                        <p:tgtEl>
                                          <p:spTgt spid="56"/>
                                        </p:tgtEl>
                                      </p:cBhvr>
                                    </p:animEffect>
                                  </p:childTnLst>
                                </p:cTn>
                              </p:par>
                              <p:par>
                                <p:cTn id="82" presetID="10" presetClass="entr" presetSubtype="0" fill="hold" nodeType="withEffect">
                                  <p:stCondLst>
                                    <p:cond delay="0"/>
                                  </p:stCondLst>
                                  <p:childTnLst>
                                    <p:set>
                                      <p:cBhvr>
                                        <p:cTn id="83" dur="1" fill="hold">
                                          <p:stCondLst>
                                            <p:cond delay="0"/>
                                          </p:stCondLst>
                                        </p:cTn>
                                        <p:tgtEl>
                                          <p:spTgt spid="63"/>
                                        </p:tgtEl>
                                        <p:attrNameLst>
                                          <p:attrName>style.visibility</p:attrName>
                                        </p:attrNameLst>
                                      </p:cBhvr>
                                      <p:to>
                                        <p:strVal val="visible"/>
                                      </p:to>
                                    </p:set>
                                    <p:animEffect transition="in" filter="fade">
                                      <p:cBhvr>
                                        <p:cTn id="84" dur="500"/>
                                        <p:tgtEl>
                                          <p:spTgt spid="6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65"/>
                                        </p:tgtEl>
                                        <p:attrNameLst>
                                          <p:attrName>style.visibility</p:attrName>
                                        </p:attrNameLst>
                                      </p:cBhvr>
                                      <p:to>
                                        <p:strVal val="visible"/>
                                      </p:to>
                                    </p:set>
                                    <p:animEffect transition="in" filter="fade">
                                      <p:cBhvr>
                                        <p:cTn id="87" dur="500"/>
                                        <p:tgtEl>
                                          <p:spTgt spid="65"/>
                                        </p:tgtEl>
                                      </p:cBhvr>
                                    </p:animEffect>
                                  </p:childTnLst>
                                </p:cTn>
                              </p:par>
                              <p:par>
                                <p:cTn id="88" presetID="10" presetClass="entr" presetSubtype="0" fill="hold" nodeType="withEffect">
                                  <p:stCondLst>
                                    <p:cond delay="0"/>
                                  </p:stCondLst>
                                  <p:childTnLst>
                                    <p:set>
                                      <p:cBhvr>
                                        <p:cTn id="89" dur="1" fill="hold">
                                          <p:stCondLst>
                                            <p:cond delay="0"/>
                                          </p:stCondLst>
                                        </p:cTn>
                                        <p:tgtEl>
                                          <p:spTgt spid="61"/>
                                        </p:tgtEl>
                                        <p:attrNameLst>
                                          <p:attrName>style.visibility</p:attrName>
                                        </p:attrNameLst>
                                      </p:cBhvr>
                                      <p:to>
                                        <p:strVal val="visible"/>
                                      </p:to>
                                    </p:set>
                                    <p:animEffect transition="in" filter="fade">
                                      <p:cBhvr>
                                        <p:cTn id="90"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42" grpId="0"/>
      <p:bldP spid="32" grpId="0" animBg="1"/>
      <p:bldP spid="50" grpId="0"/>
      <p:bldP spid="51" grpId="0"/>
      <p:bldP spid="52" grpId="0" animBg="1"/>
      <p:bldP spid="58" grpId="0"/>
      <p:bldP spid="59" grpId="0"/>
      <p:bldP spid="65" grpId="0"/>
      <p:bldP spid="6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Changes to Demand:</a:t>
            </a:r>
            <a:br>
              <a:rPr lang="en-US" dirty="0"/>
            </a:br>
            <a:r>
              <a:rPr lang="en-US" dirty="0"/>
              <a:t>Government Expenditure</a:t>
            </a:r>
          </a:p>
        </p:txBody>
      </p:sp>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dirty="0"/>
              <a:t>Spring 2024</a:t>
            </a:r>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14</a:t>
            </a:fld>
            <a:endParaRPr lang="en-US" dirty="0"/>
          </a:p>
        </p:txBody>
      </p:sp>
      <p:cxnSp>
        <p:nvCxnSpPr>
          <p:cNvPr id="9" name="Straight Arrow Connector 8">
            <a:extLst>
              <a:ext uri="{FF2B5EF4-FFF2-40B4-BE49-F238E27FC236}">
                <a16:creationId xmlns:a16="http://schemas.microsoft.com/office/drawing/2014/main" id="{C232E70B-65A1-AC86-BDD7-361A8BA55D3D}"/>
              </a:ext>
            </a:extLst>
          </p:cNvPr>
          <p:cNvCxnSpPr/>
          <p:nvPr/>
        </p:nvCxnSpPr>
        <p:spPr>
          <a:xfrm>
            <a:off x="703294" y="4402875"/>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EC32647-EF98-85BB-C53E-4696F416F6D4}"/>
              </a:ext>
            </a:extLst>
          </p:cNvPr>
          <p:cNvCxnSpPr>
            <a:cxnSpLocks/>
          </p:cNvCxnSpPr>
          <p:nvPr/>
        </p:nvCxnSpPr>
        <p:spPr>
          <a:xfrm rot="16200000">
            <a:off x="-504996" y="3197225"/>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445ECD4-AD2C-9586-7F60-FB0FD7C4FFE5}"/>
              </a:ext>
            </a:extLst>
          </p:cNvPr>
          <p:cNvCxnSpPr>
            <a:cxnSpLocks/>
          </p:cNvCxnSpPr>
          <p:nvPr/>
        </p:nvCxnSpPr>
        <p:spPr>
          <a:xfrm>
            <a:off x="880014" y="5180695"/>
            <a:ext cx="2574266" cy="857638"/>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06470AF-3359-F148-EB8F-60284AEBD8B7}"/>
              </a:ext>
            </a:extLst>
          </p:cNvPr>
          <p:cNvSpPr txBox="1"/>
          <p:nvPr/>
        </p:nvSpPr>
        <p:spPr>
          <a:xfrm>
            <a:off x="3085071" y="4108081"/>
            <a:ext cx="708848" cy="307777"/>
          </a:xfrm>
          <a:prstGeom prst="rect">
            <a:avLst/>
          </a:prstGeom>
          <a:noFill/>
        </p:spPr>
        <p:txBody>
          <a:bodyPr wrap="none" rtlCol="0">
            <a:spAutoFit/>
          </a:bodyPr>
          <a:lstStyle/>
          <a:p>
            <a:r>
              <a:rPr lang="en-US" sz="1400" dirty="0"/>
              <a:t>Output</a:t>
            </a:r>
          </a:p>
        </p:txBody>
      </p:sp>
      <p:sp>
        <p:nvSpPr>
          <p:cNvPr id="12" name="TextBox 11">
            <a:extLst>
              <a:ext uri="{FF2B5EF4-FFF2-40B4-BE49-F238E27FC236}">
                <a16:creationId xmlns:a16="http://schemas.microsoft.com/office/drawing/2014/main" id="{18B9E9F8-0EB6-C9F6-2E3C-47DB9E65CCF9}"/>
              </a:ext>
            </a:extLst>
          </p:cNvPr>
          <p:cNvSpPr txBox="1"/>
          <p:nvPr/>
        </p:nvSpPr>
        <p:spPr>
          <a:xfrm rot="16200000">
            <a:off x="301581" y="2046700"/>
            <a:ext cx="803425" cy="307777"/>
          </a:xfrm>
          <a:prstGeom prst="rect">
            <a:avLst/>
          </a:prstGeom>
          <a:noFill/>
        </p:spPr>
        <p:txBody>
          <a:bodyPr wrap="none" rtlCol="0">
            <a:spAutoFit/>
          </a:bodyPr>
          <a:lstStyle/>
          <a:p>
            <a:r>
              <a:rPr lang="en-US" sz="1400" dirty="0"/>
              <a:t>Demand</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5CB1933-3E55-A919-DEF0-A5F3ED487933}"/>
                  </a:ext>
                </a:extLst>
              </p:cNvPr>
              <p:cNvSpPr txBox="1"/>
              <p:nvPr/>
            </p:nvSpPr>
            <p:spPr>
              <a:xfrm>
                <a:off x="3413725" y="2732700"/>
                <a:ext cx="17331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rgbClr val="0070C0"/>
                          </a:solidFill>
                          <a:latin typeface="Cambria Math" panose="02040503050406030204" pitchFamily="18" charset="0"/>
                        </a:rPr>
                        <m:t>𝑍</m:t>
                      </m:r>
                    </m:oMath>
                  </m:oMathPara>
                </a14:m>
                <a:endParaRPr lang="en-US" sz="1600" dirty="0">
                  <a:solidFill>
                    <a:srgbClr val="0070C0"/>
                  </a:solidFill>
                </a:endParaRPr>
              </a:p>
            </p:txBody>
          </p:sp>
        </mc:Choice>
        <mc:Fallback xmlns="">
          <p:sp>
            <p:nvSpPr>
              <p:cNvPr id="14" name="TextBox 13">
                <a:extLst>
                  <a:ext uri="{FF2B5EF4-FFF2-40B4-BE49-F238E27FC236}">
                    <a16:creationId xmlns:a16="http://schemas.microsoft.com/office/drawing/2014/main" id="{B5CB1933-3E55-A919-DEF0-A5F3ED487933}"/>
                  </a:ext>
                </a:extLst>
              </p:cNvPr>
              <p:cNvSpPr txBox="1">
                <a:spLocks noRot="1" noChangeAspect="1" noMove="1" noResize="1" noEditPoints="1" noAdjustHandles="1" noChangeArrowheads="1" noChangeShapeType="1" noTextEdit="1"/>
              </p:cNvSpPr>
              <p:nvPr/>
            </p:nvSpPr>
            <p:spPr>
              <a:xfrm>
                <a:off x="3413725" y="2732700"/>
                <a:ext cx="173316" cy="246221"/>
              </a:xfrm>
              <a:prstGeom prst="rect">
                <a:avLst/>
              </a:prstGeom>
              <a:blipFill>
                <a:blip r:embed="rId2"/>
                <a:stretch>
                  <a:fillRect l="-28571" r="-25000" b="-4878"/>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728A673D-640F-B6BC-2B39-45BC47C16553}"/>
              </a:ext>
            </a:extLst>
          </p:cNvPr>
          <p:cNvCxnSpPr>
            <a:cxnSpLocks/>
          </p:cNvCxnSpPr>
          <p:nvPr/>
        </p:nvCxnSpPr>
        <p:spPr>
          <a:xfrm flipH="1">
            <a:off x="866603" y="1917585"/>
            <a:ext cx="2501019" cy="2483278"/>
          </a:xfrm>
          <a:prstGeom prst="straightConnector1">
            <a:avLst/>
          </a:prstGeom>
          <a:ln>
            <a:solidFill>
              <a:srgbClr val="FFC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3DDD585-B5AD-B2AB-5C5E-A4170E44B06F}"/>
              </a:ext>
            </a:extLst>
          </p:cNvPr>
          <p:cNvCxnSpPr/>
          <p:nvPr/>
        </p:nvCxnSpPr>
        <p:spPr>
          <a:xfrm>
            <a:off x="703294" y="5576518"/>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91896AA-2FAB-EB68-EB30-5583E80538D5}"/>
              </a:ext>
            </a:extLst>
          </p:cNvPr>
          <p:cNvCxnSpPr>
            <a:cxnSpLocks/>
          </p:cNvCxnSpPr>
          <p:nvPr/>
        </p:nvCxnSpPr>
        <p:spPr>
          <a:xfrm flipV="1">
            <a:off x="880014" y="4692001"/>
            <a:ext cx="0" cy="1568840"/>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75CAD38-3672-D5A9-290C-57A40565E986}"/>
                  </a:ext>
                </a:extLst>
              </p:cNvPr>
              <p:cNvSpPr txBox="1"/>
              <p:nvPr/>
            </p:nvSpPr>
            <p:spPr>
              <a:xfrm rot="16200000">
                <a:off x="486914" y="4722833"/>
                <a:ext cx="47596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dirty="0" smtClean="0">
                          <a:latin typeface="Cambria Math" panose="02040503050406030204" pitchFamily="18" charset="0"/>
                        </a:rPr>
                        <m:t>𝑁𝑋</m:t>
                      </m:r>
                    </m:oMath>
                  </m:oMathPara>
                </a14:m>
                <a:endParaRPr lang="en-US" sz="1400" dirty="0"/>
              </a:p>
            </p:txBody>
          </p:sp>
        </mc:Choice>
        <mc:Fallback xmlns="">
          <p:sp>
            <p:nvSpPr>
              <p:cNvPr id="20" name="TextBox 19">
                <a:extLst>
                  <a:ext uri="{FF2B5EF4-FFF2-40B4-BE49-F238E27FC236}">
                    <a16:creationId xmlns:a16="http://schemas.microsoft.com/office/drawing/2014/main" id="{E75CAD38-3672-D5A9-290C-57A40565E986}"/>
                  </a:ext>
                </a:extLst>
              </p:cNvPr>
              <p:cNvSpPr txBox="1">
                <a:spLocks noRot="1" noChangeAspect="1" noMove="1" noResize="1" noEditPoints="1" noAdjustHandles="1" noChangeArrowheads="1" noChangeShapeType="1" noTextEdit="1"/>
              </p:cNvSpPr>
              <p:nvPr/>
            </p:nvSpPr>
            <p:spPr>
              <a:xfrm rot="16200000">
                <a:off x="486914" y="4722833"/>
                <a:ext cx="475964" cy="307777"/>
              </a:xfrm>
              <a:prstGeom prst="rect">
                <a:avLst/>
              </a:prstGeom>
              <a:blipFill>
                <a:blip r:embed="rId3"/>
                <a:stretch>
                  <a:fillRect/>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D9ED65C3-2371-057E-EAEC-293974ABA3D9}"/>
              </a:ext>
            </a:extLst>
          </p:cNvPr>
          <p:cNvSpPr txBox="1"/>
          <p:nvPr/>
        </p:nvSpPr>
        <p:spPr>
          <a:xfrm>
            <a:off x="3085071" y="5261780"/>
            <a:ext cx="708848" cy="307777"/>
          </a:xfrm>
          <a:prstGeom prst="rect">
            <a:avLst/>
          </a:prstGeom>
          <a:noFill/>
        </p:spPr>
        <p:txBody>
          <a:bodyPr wrap="none" rtlCol="0">
            <a:spAutoFit/>
          </a:bodyPr>
          <a:lstStyle/>
          <a:p>
            <a:r>
              <a:rPr lang="en-US" sz="1400" dirty="0"/>
              <a:t>Output</a:t>
            </a:r>
          </a:p>
        </p:txBody>
      </p:sp>
      <p:sp>
        <p:nvSpPr>
          <p:cNvPr id="22" name="Oval 21">
            <a:extLst>
              <a:ext uri="{FF2B5EF4-FFF2-40B4-BE49-F238E27FC236}">
                <a16:creationId xmlns:a16="http://schemas.microsoft.com/office/drawing/2014/main" id="{2D876AD9-58D5-E226-D8FD-94B6C46680CC}"/>
              </a:ext>
            </a:extLst>
          </p:cNvPr>
          <p:cNvSpPr/>
          <p:nvPr/>
        </p:nvSpPr>
        <p:spPr>
          <a:xfrm>
            <a:off x="2030666" y="5542501"/>
            <a:ext cx="64008" cy="6400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102F162-C7E9-386F-26A7-E544503BF731}"/>
                  </a:ext>
                </a:extLst>
              </p:cNvPr>
              <p:cNvSpPr txBox="1"/>
              <p:nvPr/>
            </p:nvSpPr>
            <p:spPr>
              <a:xfrm>
                <a:off x="2074894" y="4409839"/>
                <a:ext cx="22487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smtClean="0">
                              <a:solidFill>
                                <a:schemeClr val="tx1"/>
                              </a:solidFill>
                              <a:latin typeface="Cambria Math" panose="02040503050406030204" pitchFamily="18" charset="0"/>
                            </a:rPr>
                          </m:ctrlPr>
                        </m:sSupPr>
                        <m:e>
                          <m:r>
                            <a:rPr lang="en-US" sz="1400" b="0" i="1" smtClean="0">
                              <a:solidFill>
                                <a:schemeClr val="tx1"/>
                              </a:solidFill>
                              <a:latin typeface="Cambria Math" panose="02040503050406030204" pitchFamily="18" charset="0"/>
                            </a:rPr>
                            <m:t>𝑌</m:t>
                          </m:r>
                        </m:e>
                        <m:sup>
                          <m:r>
                            <a:rPr lang="en-US" sz="1400" b="0" i="1" smtClean="0">
                              <a:solidFill>
                                <a:schemeClr val="tx1"/>
                              </a:solidFill>
                              <a:latin typeface="Cambria Math" panose="02040503050406030204" pitchFamily="18" charset="0"/>
                            </a:rPr>
                            <m:t>∗</m:t>
                          </m:r>
                        </m:sup>
                      </m:sSup>
                    </m:oMath>
                  </m:oMathPara>
                </a14:m>
                <a:endParaRPr lang="en-US" sz="1400" dirty="0">
                  <a:solidFill>
                    <a:schemeClr val="tx1"/>
                  </a:solidFill>
                </a:endParaRPr>
              </a:p>
            </p:txBody>
          </p:sp>
        </mc:Choice>
        <mc:Fallback xmlns="">
          <p:sp>
            <p:nvSpPr>
              <p:cNvPr id="25" name="TextBox 24">
                <a:extLst>
                  <a:ext uri="{FF2B5EF4-FFF2-40B4-BE49-F238E27FC236}">
                    <a16:creationId xmlns:a16="http://schemas.microsoft.com/office/drawing/2014/main" id="{3102F162-C7E9-386F-26A7-E544503BF731}"/>
                  </a:ext>
                </a:extLst>
              </p:cNvPr>
              <p:cNvSpPr txBox="1">
                <a:spLocks noRot="1" noChangeAspect="1" noMove="1" noResize="1" noEditPoints="1" noAdjustHandles="1" noChangeArrowheads="1" noChangeShapeType="1" noTextEdit="1"/>
              </p:cNvSpPr>
              <p:nvPr/>
            </p:nvSpPr>
            <p:spPr>
              <a:xfrm>
                <a:off x="2074894" y="4409839"/>
                <a:ext cx="224870" cy="215444"/>
              </a:xfrm>
              <a:prstGeom prst="rect">
                <a:avLst/>
              </a:prstGeom>
              <a:blipFill>
                <a:blip r:embed="rId4"/>
                <a:stretch>
                  <a:fillRect l="-18919" r="-2703" b="-2778"/>
                </a:stretch>
              </a:blipFill>
            </p:spPr>
            <p:txBody>
              <a:bodyPr/>
              <a:lstStyle/>
              <a:p>
                <a:r>
                  <a:rPr lang="en-US">
                    <a:noFill/>
                  </a:rPr>
                  <a:t> </a:t>
                </a:r>
              </a:p>
            </p:txBody>
          </p:sp>
        </mc:Fallback>
      </mc:AlternateContent>
      <p:cxnSp>
        <p:nvCxnSpPr>
          <p:cNvPr id="30" name="Straight Connector 29">
            <a:extLst>
              <a:ext uri="{FF2B5EF4-FFF2-40B4-BE49-F238E27FC236}">
                <a16:creationId xmlns:a16="http://schemas.microsoft.com/office/drawing/2014/main" id="{E8D13CA6-E83E-7714-59B0-040E5D41EE5D}"/>
              </a:ext>
            </a:extLst>
          </p:cNvPr>
          <p:cNvCxnSpPr>
            <a:cxnSpLocks/>
          </p:cNvCxnSpPr>
          <p:nvPr/>
        </p:nvCxnSpPr>
        <p:spPr>
          <a:xfrm flipV="1">
            <a:off x="866603" y="2857615"/>
            <a:ext cx="2513560" cy="672366"/>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690E30B9-8017-D1D8-11F8-28A8D623A8D3}"/>
              </a:ext>
            </a:extLst>
          </p:cNvPr>
          <p:cNvSpPr/>
          <p:nvPr/>
        </p:nvSpPr>
        <p:spPr>
          <a:xfrm>
            <a:off x="2030666" y="3179204"/>
            <a:ext cx="64008" cy="6400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8" name="Content Placeholder 3">
                <a:extLst>
                  <a:ext uri="{FF2B5EF4-FFF2-40B4-BE49-F238E27FC236}">
                    <a16:creationId xmlns:a16="http://schemas.microsoft.com/office/drawing/2014/main" id="{2DC14353-35AC-A7AB-AFA7-F36D50081826}"/>
                  </a:ext>
                </a:extLst>
              </p:cNvPr>
              <p:cNvSpPr txBox="1">
                <a:spLocks/>
              </p:cNvSpPr>
              <p:nvPr/>
            </p:nvSpPr>
            <p:spPr>
              <a:xfrm>
                <a:off x="3793919" y="1825625"/>
                <a:ext cx="472142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Suppose that we are initially at demand for domestic goods </a:t>
                </a:r>
                <a14:m>
                  <m:oMath xmlns:m="http://schemas.openxmlformats.org/officeDocument/2006/math">
                    <m:r>
                      <a:rPr lang="en-US" b="0" i="1" dirty="0" smtClean="0">
                        <a:latin typeface="Cambria Math" panose="02040503050406030204" pitchFamily="18" charset="0"/>
                      </a:rPr>
                      <m:t>𝑍</m:t>
                    </m:r>
                  </m:oMath>
                </a14:m>
                <a:r>
                  <a:rPr lang="en-US" dirty="0"/>
                  <a:t> producing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𝑌</m:t>
                        </m:r>
                      </m:e>
                      <m:sub>
                        <m:r>
                          <a:rPr lang="en-US" b="0" i="1" dirty="0" smtClean="0">
                            <a:latin typeface="Cambria Math" panose="02040503050406030204" pitchFamily="18" charset="0"/>
                          </a:rPr>
                          <m:t>𝑇𝐵</m:t>
                        </m:r>
                      </m:sub>
                    </m:sSub>
                  </m:oMath>
                </a14:m>
                <a:r>
                  <a:rPr lang="en-US" dirty="0"/>
                  <a:t>.</a:t>
                </a:r>
              </a:p>
              <a:p>
                <a:pPr lvl="3"/>
                <a:endParaRPr lang="en-US" dirty="0"/>
              </a:p>
              <a:p>
                <a:r>
                  <a:rPr lang="en-US" dirty="0"/>
                  <a:t>Suppose that the government decides to raise its expenditure.</a:t>
                </a:r>
              </a:p>
              <a:p>
                <a:pPr lvl="3"/>
                <a:endParaRPr lang="en-US" dirty="0"/>
              </a:p>
              <a:p>
                <a:r>
                  <a:rPr lang="en-US" dirty="0"/>
                  <a:t>Domestic demand will rise to </a:t>
                </a:r>
                <a14:m>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𝑍</m:t>
                        </m:r>
                      </m:e>
                      <m:sup>
                        <m:r>
                          <a:rPr lang="en-US" b="0" i="1" dirty="0" smtClean="0">
                            <a:latin typeface="Cambria Math" panose="02040503050406030204" pitchFamily="18" charset="0"/>
                          </a:rPr>
                          <m:t>′</m:t>
                        </m:r>
                      </m:sup>
                    </m:sSup>
                  </m:oMath>
                </a14:m>
                <a:r>
                  <a:rPr lang="en-US" dirty="0"/>
                  <a:t>.</a:t>
                </a:r>
              </a:p>
              <a:p>
                <a:pPr lvl="3"/>
                <a:endParaRPr lang="en-US" dirty="0"/>
              </a:p>
              <a:p>
                <a:r>
                  <a:rPr lang="en-US" dirty="0"/>
                  <a:t>Output will increase, but we will now run a trade deficit.</a:t>
                </a:r>
              </a:p>
              <a:p>
                <a:endParaRPr lang="en-US" dirty="0"/>
              </a:p>
              <a:p>
                <a:pPr lvl="3"/>
                <a:endParaRPr lang="en-US" dirty="0"/>
              </a:p>
              <a:p>
                <a:endParaRPr lang="en-US" dirty="0"/>
              </a:p>
            </p:txBody>
          </p:sp>
        </mc:Choice>
        <mc:Fallback xmlns="">
          <p:sp>
            <p:nvSpPr>
              <p:cNvPr id="38" name="Content Placeholder 3">
                <a:extLst>
                  <a:ext uri="{FF2B5EF4-FFF2-40B4-BE49-F238E27FC236}">
                    <a16:creationId xmlns:a16="http://schemas.microsoft.com/office/drawing/2014/main" id="{2DC14353-35AC-A7AB-AFA7-F36D50081826}"/>
                  </a:ext>
                </a:extLst>
              </p:cNvPr>
              <p:cNvSpPr txBox="1">
                <a:spLocks noRot="1" noChangeAspect="1" noMove="1" noResize="1" noEditPoints="1" noAdjustHandles="1" noChangeArrowheads="1" noChangeShapeType="1" noTextEdit="1"/>
              </p:cNvSpPr>
              <p:nvPr/>
            </p:nvSpPr>
            <p:spPr>
              <a:xfrm>
                <a:off x="3793919" y="1825625"/>
                <a:ext cx="4721429" cy="4351338"/>
              </a:xfrm>
              <a:prstGeom prst="rect">
                <a:avLst/>
              </a:prstGeom>
              <a:blipFill>
                <a:blip r:embed="rId5"/>
                <a:stretch>
                  <a:fillRect l="-1677" t="-18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FEA4A81C-2B23-B7B8-6732-0ABF7C0F76CB}"/>
                  </a:ext>
                </a:extLst>
              </p:cNvPr>
              <p:cNvSpPr txBox="1"/>
              <p:nvPr/>
            </p:nvSpPr>
            <p:spPr>
              <a:xfrm>
                <a:off x="3413725" y="2139948"/>
                <a:ext cx="23827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600" b="0" i="1" smtClean="0">
                              <a:solidFill>
                                <a:srgbClr val="0070C0"/>
                              </a:solidFill>
                              <a:latin typeface="Cambria Math" panose="02040503050406030204" pitchFamily="18" charset="0"/>
                            </a:rPr>
                          </m:ctrlPr>
                        </m:sSupPr>
                        <m:e>
                          <m:r>
                            <a:rPr lang="en-US" sz="1600" b="0" i="1" smtClean="0">
                              <a:solidFill>
                                <a:srgbClr val="0070C0"/>
                              </a:solidFill>
                              <a:latin typeface="Cambria Math" panose="02040503050406030204" pitchFamily="18" charset="0"/>
                            </a:rPr>
                            <m:t>𝑍</m:t>
                          </m:r>
                        </m:e>
                        <m:sup>
                          <m:r>
                            <a:rPr lang="en-US" sz="1600" b="0" i="1" smtClean="0">
                              <a:solidFill>
                                <a:srgbClr val="0070C0"/>
                              </a:solidFill>
                              <a:latin typeface="Cambria Math" panose="02040503050406030204" pitchFamily="18" charset="0"/>
                            </a:rPr>
                            <m:t>′</m:t>
                          </m:r>
                        </m:sup>
                      </m:sSup>
                    </m:oMath>
                  </m:oMathPara>
                </a14:m>
                <a:endParaRPr lang="en-US" sz="1600" dirty="0">
                  <a:solidFill>
                    <a:srgbClr val="0070C0"/>
                  </a:solidFill>
                </a:endParaRPr>
              </a:p>
            </p:txBody>
          </p:sp>
        </mc:Choice>
        <mc:Fallback xmlns="">
          <p:sp>
            <p:nvSpPr>
              <p:cNvPr id="40" name="TextBox 39">
                <a:extLst>
                  <a:ext uri="{FF2B5EF4-FFF2-40B4-BE49-F238E27FC236}">
                    <a16:creationId xmlns:a16="http://schemas.microsoft.com/office/drawing/2014/main" id="{FEA4A81C-2B23-B7B8-6732-0ABF7C0F76CB}"/>
                  </a:ext>
                </a:extLst>
              </p:cNvPr>
              <p:cNvSpPr txBox="1">
                <a:spLocks noRot="1" noChangeAspect="1" noMove="1" noResize="1" noEditPoints="1" noAdjustHandles="1" noChangeArrowheads="1" noChangeShapeType="1" noTextEdit="1"/>
              </p:cNvSpPr>
              <p:nvPr/>
            </p:nvSpPr>
            <p:spPr>
              <a:xfrm>
                <a:off x="3413725" y="2139948"/>
                <a:ext cx="238270" cy="246221"/>
              </a:xfrm>
              <a:prstGeom prst="rect">
                <a:avLst/>
              </a:prstGeom>
              <a:blipFill>
                <a:blip r:embed="rId6"/>
                <a:stretch>
                  <a:fillRect l="-20513" r="-5128" b="-7500"/>
                </a:stretch>
              </a:blipFill>
            </p:spPr>
            <p:txBody>
              <a:bodyPr/>
              <a:lstStyle/>
              <a:p>
                <a:r>
                  <a:rPr lang="en-US">
                    <a:noFill/>
                  </a:rPr>
                  <a:t> </a:t>
                </a:r>
              </a:p>
            </p:txBody>
          </p:sp>
        </mc:Fallback>
      </mc:AlternateContent>
      <p:cxnSp>
        <p:nvCxnSpPr>
          <p:cNvPr id="42" name="Straight Connector 41">
            <a:extLst>
              <a:ext uri="{FF2B5EF4-FFF2-40B4-BE49-F238E27FC236}">
                <a16:creationId xmlns:a16="http://schemas.microsoft.com/office/drawing/2014/main" id="{C3D20D49-C998-B04C-1274-BC8091C3F3F6}"/>
              </a:ext>
            </a:extLst>
          </p:cNvPr>
          <p:cNvCxnSpPr>
            <a:cxnSpLocks/>
            <a:stCxn id="22" idx="0"/>
          </p:cNvCxnSpPr>
          <p:nvPr/>
        </p:nvCxnSpPr>
        <p:spPr>
          <a:xfrm flipV="1">
            <a:off x="2062670" y="3214688"/>
            <a:ext cx="0" cy="232781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DE50B5E-23C4-8BB2-79FE-D11AD469F4B9}"/>
              </a:ext>
            </a:extLst>
          </p:cNvPr>
          <p:cNvCxnSpPr>
            <a:cxnSpLocks/>
          </p:cNvCxnSpPr>
          <p:nvPr/>
        </p:nvCxnSpPr>
        <p:spPr>
          <a:xfrm flipV="1">
            <a:off x="870764" y="2282418"/>
            <a:ext cx="2513560" cy="672366"/>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06419C45-13D2-BC21-14D1-F6714D108678}"/>
              </a:ext>
            </a:extLst>
          </p:cNvPr>
          <p:cNvSpPr/>
          <p:nvPr/>
        </p:nvSpPr>
        <p:spPr>
          <a:xfrm>
            <a:off x="2833850" y="2383353"/>
            <a:ext cx="64008" cy="6400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7" name="Straight Connector 46">
            <a:extLst>
              <a:ext uri="{FF2B5EF4-FFF2-40B4-BE49-F238E27FC236}">
                <a16:creationId xmlns:a16="http://schemas.microsoft.com/office/drawing/2014/main" id="{4A9C375A-7135-C742-BFE3-58DDFCEBBE02}"/>
              </a:ext>
            </a:extLst>
          </p:cNvPr>
          <p:cNvCxnSpPr>
            <a:stCxn id="45" idx="4"/>
          </p:cNvCxnSpPr>
          <p:nvPr/>
        </p:nvCxnSpPr>
        <p:spPr>
          <a:xfrm>
            <a:off x="2865854" y="2447361"/>
            <a:ext cx="0" cy="339596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AAC311D2-5434-28DD-04CF-77C7C6CBEC4D}"/>
                  </a:ext>
                </a:extLst>
              </p:cNvPr>
              <p:cNvSpPr txBox="1"/>
              <p:nvPr/>
            </p:nvSpPr>
            <p:spPr>
              <a:xfrm>
                <a:off x="2869197" y="4409839"/>
                <a:ext cx="27135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smtClean="0">
                              <a:solidFill>
                                <a:schemeClr val="tx1"/>
                              </a:solidFill>
                              <a:latin typeface="Cambria Math" panose="02040503050406030204" pitchFamily="18" charset="0"/>
                            </a:rPr>
                          </m:ctrlPr>
                        </m:sSupPr>
                        <m:e>
                          <m:r>
                            <a:rPr lang="en-US" sz="1400" b="0" i="1" smtClean="0">
                              <a:solidFill>
                                <a:schemeClr val="tx1"/>
                              </a:solidFill>
                              <a:latin typeface="Cambria Math" panose="02040503050406030204" pitchFamily="18" charset="0"/>
                            </a:rPr>
                            <m:t>𝑌</m:t>
                          </m:r>
                        </m:e>
                        <m:sup>
                          <m:r>
                            <a:rPr lang="en-US" sz="1400" b="0" i="1" smtClean="0">
                              <a:solidFill>
                                <a:schemeClr val="tx1"/>
                              </a:solidFill>
                              <a:latin typeface="Cambria Math" panose="02040503050406030204" pitchFamily="18" charset="0"/>
                            </a:rPr>
                            <m:t>∗′</m:t>
                          </m:r>
                        </m:sup>
                      </m:sSup>
                    </m:oMath>
                  </m:oMathPara>
                </a14:m>
                <a:endParaRPr lang="en-US" sz="1400" dirty="0">
                  <a:solidFill>
                    <a:schemeClr val="tx1"/>
                  </a:solidFill>
                </a:endParaRPr>
              </a:p>
            </p:txBody>
          </p:sp>
        </mc:Choice>
        <mc:Fallback xmlns="">
          <p:sp>
            <p:nvSpPr>
              <p:cNvPr id="48" name="TextBox 47">
                <a:extLst>
                  <a:ext uri="{FF2B5EF4-FFF2-40B4-BE49-F238E27FC236}">
                    <a16:creationId xmlns:a16="http://schemas.microsoft.com/office/drawing/2014/main" id="{AAC311D2-5434-28DD-04CF-77C7C6CBEC4D}"/>
                  </a:ext>
                </a:extLst>
              </p:cNvPr>
              <p:cNvSpPr txBox="1">
                <a:spLocks noRot="1" noChangeAspect="1" noMove="1" noResize="1" noEditPoints="1" noAdjustHandles="1" noChangeArrowheads="1" noChangeShapeType="1" noTextEdit="1"/>
              </p:cNvSpPr>
              <p:nvPr/>
            </p:nvSpPr>
            <p:spPr>
              <a:xfrm>
                <a:off x="2869197" y="4409839"/>
                <a:ext cx="271356" cy="215444"/>
              </a:xfrm>
              <a:prstGeom prst="rect">
                <a:avLst/>
              </a:prstGeom>
              <a:blipFill>
                <a:blip r:embed="rId7"/>
                <a:stretch>
                  <a:fillRect l="-15909" r="-2273" b="-2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F90605C2-C451-825A-1A52-240FD735B3E9}"/>
                  </a:ext>
                </a:extLst>
              </p:cNvPr>
              <p:cNvSpPr txBox="1"/>
              <p:nvPr/>
            </p:nvSpPr>
            <p:spPr>
              <a:xfrm>
                <a:off x="2074894" y="5335993"/>
                <a:ext cx="30373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tx1"/>
                              </a:solidFill>
                              <a:latin typeface="Cambria Math" panose="02040503050406030204" pitchFamily="18" charset="0"/>
                            </a:rPr>
                          </m:ctrlPr>
                        </m:sSubPr>
                        <m:e>
                          <m:r>
                            <a:rPr lang="en-US" sz="1400" b="0" i="1" smtClean="0">
                              <a:solidFill>
                                <a:schemeClr val="tx1"/>
                              </a:solidFill>
                              <a:latin typeface="Cambria Math" panose="02040503050406030204" pitchFamily="18" charset="0"/>
                            </a:rPr>
                            <m:t>𝑌</m:t>
                          </m:r>
                        </m:e>
                        <m:sub>
                          <m:r>
                            <a:rPr lang="en-US" sz="1400" b="0" i="1" smtClean="0">
                              <a:solidFill>
                                <a:schemeClr val="tx1"/>
                              </a:solidFill>
                              <a:latin typeface="Cambria Math" panose="02040503050406030204" pitchFamily="18" charset="0"/>
                            </a:rPr>
                            <m:t>𝑇𝐵</m:t>
                          </m:r>
                        </m:sub>
                      </m:sSub>
                    </m:oMath>
                  </m:oMathPara>
                </a14:m>
                <a:endParaRPr lang="en-US" sz="1400" dirty="0">
                  <a:solidFill>
                    <a:schemeClr val="tx1"/>
                  </a:solidFill>
                </a:endParaRPr>
              </a:p>
            </p:txBody>
          </p:sp>
        </mc:Choice>
        <mc:Fallback xmlns="">
          <p:sp>
            <p:nvSpPr>
              <p:cNvPr id="49" name="TextBox 48">
                <a:extLst>
                  <a:ext uri="{FF2B5EF4-FFF2-40B4-BE49-F238E27FC236}">
                    <a16:creationId xmlns:a16="http://schemas.microsoft.com/office/drawing/2014/main" id="{F90605C2-C451-825A-1A52-240FD735B3E9}"/>
                  </a:ext>
                </a:extLst>
              </p:cNvPr>
              <p:cNvSpPr txBox="1">
                <a:spLocks noRot="1" noChangeAspect="1" noMove="1" noResize="1" noEditPoints="1" noAdjustHandles="1" noChangeArrowheads="1" noChangeShapeType="1" noTextEdit="1"/>
              </p:cNvSpPr>
              <p:nvPr/>
            </p:nvSpPr>
            <p:spPr>
              <a:xfrm>
                <a:off x="2074894" y="5335993"/>
                <a:ext cx="303738" cy="215444"/>
              </a:xfrm>
              <a:prstGeom prst="rect">
                <a:avLst/>
              </a:prstGeom>
              <a:blipFill>
                <a:blip r:embed="rId8"/>
                <a:stretch>
                  <a:fillRect l="-14000" r="-2000"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FBD58D7-9149-90AC-D6F7-B86FF953F060}"/>
                  </a:ext>
                </a:extLst>
              </p:cNvPr>
              <p:cNvSpPr txBox="1"/>
              <p:nvPr/>
            </p:nvSpPr>
            <p:spPr>
              <a:xfrm>
                <a:off x="3293846" y="6070589"/>
                <a:ext cx="29129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accent4">
                              <a:lumMod val="75000"/>
                            </a:schemeClr>
                          </a:solidFill>
                          <a:latin typeface="Cambria Math" panose="02040503050406030204" pitchFamily="18" charset="0"/>
                        </a:rPr>
                        <m:t>𝑁𝑋</m:t>
                      </m:r>
                    </m:oMath>
                  </m:oMathPara>
                </a14:m>
                <a:endParaRPr lang="en-US" sz="1400" dirty="0">
                  <a:solidFill>
                    <a:schemeClr val="accent4">
                      <a:lumMod val="75000"/>
                    </a:schemeClr>
                  </a:solidFill>
                </a:endParaRPr>
              </a:p>
            </p:txBody>
          </p:sp>
        </mc:Choice>
        <mc:Fallback xmlns="">
          <p:sp>
            <p:nvSpPr>
              <p:cNvPr id="50" name="TextBox 49">
                <a:extLst>
                  <a:ext uri="{FF2B5EF4-FFF2-40B4-BE49-F238E27FC236}">
                    <a16:creationId xmlns:a16="http://schemas.microsoft.com/office/drawing/2014/main" id="{FFBD58D7-9149-90AC-D6F7-B86FF953F060}"/>
                  </a:ext>
                </a:extLst>
              </p:cNvPr>
              <p:cNvSpPr txBox="1">
                <a:spLocks noRot="1" noChangeAspect="1" noMove="1" noResize="1" noEditPoints="1" noAdjustHandles="1" noChangeArrowheads="1" noChangeShapeType="1" noTextEdit="1"/>
              </p:cNvSpPr>
              <p:nvPr/>
            </p:nvSpPr>
            <p:spPr>
              <a:xfrm>
                <a:off x="3293846" y="6070589"/>
                <a:ext cx="291298" cy="215444"/>
              </a:xfrm>
              <a:prstGeom prst="rect">
                <a:avLst/>
              </a:prstGeom>
              <a:blipFill>
                <a:blip r:embed="rId9"/>
                <a:stretch>
                  <a:fillRect l="-14583" r="-10417" b="-5714"/>
                </a:stretch>
              </a:blipFill>
            </p:spPr>
            <p:txBody>
              <a:bodyPr/>
              <a:lstStyle/>
              <a:p>
                <a:r>
                  <a:rPr lang="en-US">
                    <a:noFill/>
                  </a:rPr>
                  <a:t> </a:t>
                </a:r>
              </a:p>
            </p:txBody>
          </p:sp>
        </mc:Fallback>
      </mc:AlternateContent>
    </p:spTree>
    <p:extLst>
      <p:ext uri="{BB962C8B-B14F-4D97-AF65-F5344CB8AC3E}">
        <p14:creationId xmlns:p14="http://schemas.microsoft.com/office/powerpoint/2010/main" val="1030505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fade">
                                      <p:cBhvr>
                                        <p:cTn id="7" dur="500"/>
                                        <p:tgtEl>
                                          <p:spTgt spid="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
                                            <p:txEl>
                                              <p:pRg st="2" end="2"/>
                                            </p:txEl>
                                          </p:spTgt>
                                        </p:tgtEl>
                                        <p:attrNameLst>
                                          <p:attrName>style.visibility</p:attrName>
                                        </p:attrNameLst>
                                      </p:cBhvr>
                                      <p:to>
                                        <p:strVal val="visible"/>
                                      </p:to>
                                    </p:set>
                                    <p:animEffect transition="in" filter="fade">
                                      <p:cBhvr>
                                        <p:cTn id="12" dur="500"/>
                                        <p:tgtEl>
                                          <p:spTgt spid="3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
                                            <p:txEl>
                                              <p:pRg st="4" end="4"/>
                                            </p:txEl>
                                          </p:spTgt>
                                        </p:tgtEl>
                                        <p:attrNameLst>
                                          <p:attrName>style.visibility</p:attrName>
                                        </p:attrNameLst>
                                      </p:cBhvr>
                                      <p:to>
                                        <p:strVal val="visible"/>
                                      </p:to>
                                    </p:set>
                                    <p:animEffect transition="in" filter="fade">
                                      <p:cBhvr>
                                        <p:cTn id="17" dur="500"/>
                                        <p:tgtEl>
                                          <p:spTgt spid="38">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44"/>
                                        </p:tgtEl>
                                        <p:attrNameLst>
                                          <p:attrName>style.visibility</p:attrName>
                                        </p:attrNameLst>
                                      </p:cBhvr>
                                      <p:to>
                                        <p:strVal val="visible"/>
                                      </p:to>
                                    </p:set>
                                    <p:animEffect transition="in" filter="fade">
                                      <p:cBhvr>
                                        <p:cTn id="20" dur="500"/>
                                        <p:tgtEl>
                                          <p:spTgt spid="4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500"/>
                                        <p:tgtEl>
                                          <p:spTgt spid="4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5"/>
                                        </p:tgtEl>
                                        <p:attrNameLst>
                                          <p:attrName>style.visibility</p:attrName>
                                        </p:attrNameLst>
                                      </p:cBhvr>
                                      <p:to>
                                        <p:strVal val="visible"/>
                                      </p:to>
                                    </p:set>
                                    <p:animEffect transition="in" filter="fade">
                                      <p:cBhvr>
                                        <p:cTn id="26" dur="500"/>
                                        <p:tgtEl>
                                          <p:spTgt spid="4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8">
                                            <p:txEl>
                                              <p:pRg st="6" end="6"/>
                                            </p:txEl>
                                          </p:spTgt>
                                        </p:tgtEl>
                                        <p:attrNameLst>
                                          <p:attrName>style.visibility</p:attrName>
                                        </p:attrNameLst>
                                      </p:cBhvr>
                                      <p:to>
                                        <p:strVal val="visible"/>
                                      </p:to>
                                    </p:set>
                                    <p:animEffect transition="in" filter="fade">
                                      <p:cBhvr>
                                        <p:cTn id="31" dur="500"/>
                                        <p:tgtEl>
                                          <p:spTgt spid="38">
                                            <p:txEl>
                                              <p:pRg st="6" end="6"/>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47"/>
                                        </p:tgtEl>
                                        <p:attrNameLst>
                                          <p:attrName>style.visibility</p:attrName>
                                        </p:attrNameLst>
                                      </p:cBhvr>
                                      <p:to>
                                        <p:strVal val="visible"/>
                                      </p:to>
                                    </p:set>
                                    <p:animEffect transition="in" filter="fade">
                                      <p:cBhvr>
                                        <p:cTn id="34" dur="500"/>
                                        <p:tgtEl>
                                          <p:spTgt spid="4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fade">
                                      <p:cBhvr>
                                        <p:cTn id="3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5" grpId="0" animBg="1"/>
      <p:bldP spid="4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Changes to Demand:</a:t>
            </a:r>
            <a:br>
              <a:rPr lang="en-US" dirty="0"/>
            </a:br>
            <a:r>
              <a:rPr lang="en-US" dirty="0"/>
              <a:t>Government Expenditure</a:t>
            </a:r>
          </a:p>
        </p:txBody>
      </p:sp>
      <p:sp>
        <p:nvSpPr>
          <p:cNvPr id="3" name="Content Placeholder 2">
            <a:extLst>
              <a:ext uri="{FF2B5EF4-FFF2-40B4-BE49-F238E27FC236}">
                <a16:creationId xmlns:a16="http://schemas.microsoft.com/office/drawing/2014/main" id="{C46BE3FD-D149-E947-1228-E11B36CD05B2}"/>
              </a:ext>
            </a:extLst>
          </p:cNvPr>
          <p:cNvSpPr>
            <a:spLocks noGrp="1"/>
          </p:cNvSpPr>
          <p:nvPr>
            <p:ph idx="1"/>
          </p:nvPr>
        </p:nvSpPr>
        <p:spPr>
          <a:xfrm>
            <a:off x="628649" y="1825625"/>
            <a:ext cx="8067482" cy="4351338"/>
          </a:xfrm>
        </p:spPr>
        <p:txBody>
          <a:bodyPr/>
          <a:lstStyle/>
          <a:p>
            <a:r>
              <a:rPr lang="en-US" dirty="0"/>
              <a:t>In the closed economy, the increase in households’ income (demand) would be directed entirely towards domestic goods.</a:t>
            </a:r>
          </a:p>
          <a:p>
            <a:pPr lvl="3"/>
            <a:endParaRPr lang="en-US" dirty="0"/>
          </a:p>
          <a:p>
            <a:r>
              <a:rPr lang="en-US" dirty="0"/>
              <a:t>In the open economy, the increased demand will be shared by domestic and foreign goods.</a:t>
            </a:r>
          </a:p>
          <a:p>
            <a:pPr lvl="3"/>
            <a:endParaRPr lang="en-US" dirty="0"/>
          </a:p>
          <a:p>
            <a:r>
              <a:rPr lang="en-US" dirty="0"/>
              <a:t>This leads to two noticeable effects in our model.</a:t>
            </a:r>
          </a:p>
          <a:p>
            <a:pPr lvl="1"/>
            <a:r>
              <a:rPr lang="en-US" dirty="0"/>
              <a:t>The trade deficit will increase, and</a:t>
            </a:r>
          </a:p>
          <a:p>
            <a:pPr lvl="1"/>
            <a:r>
              <a:rPr lang="en-US" dirty="0"/>
              <a:t>The government expenditure multiplier will be smaller.</a:t>
            </a:r>
          </a:p>
          <a:p>
            <a:pPr lvl="3"/>
            <a:endParaRPr lang="en-US" dirty="0"/>
          </a:p>
          <a:p>
            <a:r>
              <a:rPr lang="en-US" dirty="0"/>
              <a:t>Then what when foreign demand increases?</a:t>
            </a:r>
          </a:p>
        </p:txBody>
      </p:sp>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dirty="0"/>
              <a:t>Spring 2024</a:t>
            </a:r>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15</a:t>
            </a:fld>
            <a:endParaRPr lang="en-US" dirty="0"/>
          </a:p>
        </p:txBody>
      </p:sp>
    </p:spTree>
    <p:extLst>
      <p:ext uri="{BB962C8B-B14F-4D97-AF65-F5344CB8AC3E}">
        <p14:creationId xmlns:p14="http://schemas.microsoft.com/office/powerpoint/2010/main" val="2956700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6C07A-0C0B-4DCC-CC8E-158479CD2502}"/>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99409940-2529-464B-83F1-16838F81ECD9}"/>
              </a:ext>
            </a:extLst>
          </p:cNvPr>
          <p:cNvCxnSpPr>
            <a:cxnSpLocks/>
          </p:cNvCxnSpPr>
          <p:nvPr/>
        </p:nvCxnSpPr>
        <p:spPr>
          <a:xfrm flipV="1">
            <a:off x="790845" y="3002129"/>
            <a:ext cx="3689176" cy="2093996"/>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7775FBA-143D-187C-630A-4BB75AE68F38}"/>
              </a:ext>
            </a:extLst>
          </p:cNvPr>
          <p:cNvCxnSpPr>
            <a:cxnSpLocks/>
          </p:cNvCxnSpPr>
          <p:nvPr/>
        </p:nvCxnSpPr>
        <p:spPr>
          <a:xfrm flipV="1">
            <a:off x="798782" y="3893885"/>
            <a:ext cx="3704050" cy="63299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60FFE7B-EDE8-9154-40E7-7EEF38D58E0B}"/>
              </a:ext>
            </a:extLst>
          </p:cNvPr>
          <p:cNvCxnSpPr>
            <a:cxnSpLocks/>
          </p:cNvCxnSpPr>
          <p:nvPr/>
        </p:nvCxnSpPr>
        <p:spPr>
          <a:xfrm flipV="1">
            <a:off x="796221" y="3192435"/>
            <a:ext cx="3704050" cy="63299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3FE3D26-3934-E1FE-5157-09BCDDD91E23}"/>
              </a:ext>
            </a:extLst>
          </p:cNvPr>
          <p:cNvSpPr>
            <a:spLocks noGrp="1"/>
          </p:cNvSpPr>
          <p:nvPr>
            <p:ph type="title"/>
          </p:nvPr>
        </p:nvSpPr>
        <p:spPr/>
        <p:txBody>
          <a:bodyPr/>
          <a:lstStyle/>
          <a:p>
            <a:r>
              <a:rPr lang="en-US" dirty="0"/>
              <a:t>Changes to Demand:</a:t>
            </a:r>
            <a:br>
              <a:rPr lang="en-US" dirty="0"/>
            </a:br>
            <a:r>
              <a:rPr lang="en-US" dirty="0"/>
              <a:t>Foreign Demand</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40ED42C-1DA5-6F27-4828-FE5698B3F0A4}"/>
                  </a:ext>
                </a:extLst>
              </p:cNvPr>
              <p:cNvSpPr>
                <a:spLocks noGrp="1"/>
              </p:cNvSpPr>
              <p:nvPr>
                <p:ph sz="half" idx="2"/>
              </p:nvPr>
            </p:nvSpPr>
            <p:spPr>
              <a:xfrm>
                <a:off x="4629150" y="1825624"/>
                <a:ext cx="3886198" cy="4530721"/>
              </a:xfrm>
            </p:spPr>
            <p:txBody>
              <a:bodyPr>
                <a:normAutofit/>
              </a:bodyPr>
              <a:lstStyle/>
              <a:p>
                <a:r>
                  <a:rPr lang="en-US" dirty="0"/>
                  <a:t>Suppose that we are at demand for domestic goods </a:t>
                </a:r>
                <a14:m>
                  <m:oMath xmlns:m="http://schemas.openxmlformats.org/officeDocument/2006/math">
                    <m:r>
                      <a:rPr lang="en-US" i="1" dirty="0">
                        <a:latin typeface="Cambria Math" panose="02040503050406030204" pitchFamily="18" charset="0"/>
                      </a:rPr>
                      <m:t>𝑍</m:t>
                    </m:r>
                  </m:oMath>
                </a14:m>
                <a:r>
                  <a:rPr lang="en-US" dirty="0"/>
                  <a:t> producing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𝑇𝐵</m:t>
                        </m:r>
                      </m:sub>
                    </m:sSub>
                  </m:oMath>
                </a14:m>
                <a:r>
                  <a:rPr lang="en-US" dirty="0"/>
                  <a:t>.</a:t>
                </a:r>
              </a:p>
              <a:p>
                <a:pPr lvl="3"/>
                <a:endParaRPr lang="en-US" dirty="0"/>
              </a:p>
              <a:p>
                <a:r>
                  <a:rPr lang="en-US" dirty="0"/>
                  <a:t>We overlay the graph with the domestic demand for goods </a:t>
                </a:r>
                <a14:m>
                  <m:oMath xmlns:m="http://schemas.openxmlformats.org/officeDocument/2006/math">
                    <m:r>
                      <a:rPr lang="en-US" i="1" dirty="0">
                        <a:latin typeface="Cambria Math" panose="02040503050406030204" pitchFamily="18" charset="0"/>
                      </a:rPr>
                      <m:t>𝐷</m:t>
                    </m:r>
                  </m:oMath>
                </a14:m>
                <a:r>
                  <a:rPr lang="en-US" dirty="0"/>
                  <a:t>.</a:t>
                </a:r>
              </a:p>
              <a:p>
                <a:pPr lvl="3"/>
                <a:endParaRPr lang="en-US" dirty="0"/>
              </a:p>
              <a:p>
                <a:r>
                  <a:rPr lang="en-US" dirty="0"/>
                  <a:t>If foreign demand rises, </a:t>
                </a:r>
                <a14:m>
                  <m:oMath xmlns:m="http://schemas.openxmlformats.org/officeDocument/2006/math">
                    <m:r>
                      <a:rPr lang="en-US" i="1" dirty="0">
                        <a:latin typeface="Cambria Math" panose="02040503050406030204" pitchFamily="18" charset="0"/>
                      </a:rPr>
                      <m:t>𝑍</m:t>
                    </m:r>
                  </m:oMath>
                </a14:m>
                <a:r>
                  <a:rPr lang="en-US" dirty="0"/>
                  <a:t> will shift upward to </a:t>
                </a:r>
                <a14:m>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rPr>
                          <m:t>𝑍</m:t>
                        </m:r>
                      </m:e>
                      <m:sup>
                        <m:r>
                          <a:rPr lang="en-US" i="1" dirty="0">
                            <a:latin typeface="Cambria Math" panose="02040503050406030204" pitchFamily="18" charset="0"/>
                          </a:rPr>
                          <m:t>′</m:t>
                        </m:r>
                      </m:sup>
                    </m:sSup>
                  </m:oMath>
                </a14:m>
                <a:r>
                  <a:rPr lang="en-US" dirty="0"/>
                  <a:t>.</a:t>
                </a:r>
              </a:p>
              <a:p>
                <a:pPr lvl="3"/>
                <a:endParaRPr lang="en-US" dirty="0"/>
              </a:p>
              <a:p>
                <a:r>
                  <a:rPr lang="en-US" dirty="0"/>
                  <a:t>The size of the shift is </a:t>
                </a:r>
                <a14:m>
                  <m:oMath xmlns:m="http://schemas.openxmlformats.org/officeDocument/2006/math">
                    <m:r>
                      <a:rPr lang="en-US" b="0" i="1" smtClean="0">
                        <a:latin typeface="Cambria Math" panose="02040503050406030204" pitchFamily="18" charset="0"/>
                      </a:rPr>
                      <m:t>𝛥</m:t>
                    </m:r>
                    <m:r>
                      <a:rPr lang="en-US" b="0" i="1" smtClean="0">
                        <a:latin typeface="Cambria Math" panose="02040503050406030204" pitchFamily="18" charset="0"/>
                      </a:rPr>
                      <m:t>𝑋</m:t>
                    </m:r>
                  </m:oMath>
                </a14:m>
                <a:r>
                  <a:rPr lang="en-US" i="1" dirty="0"/>
                  <a:t>.</a:t>
                </a:r>
              </a:p>
            </p:txBody>
          </p:sp>
        </mc:Choice>
        <mc:Fallback xmlns="">
          <p:sp>
            <p:nvSpPr>
              <p:cNvPr id="4" name="Content Placeholder 3">
                <a:extLst>
                  <a:ext uri="{FF2B5EF4-FFF2-40B4-BE49-F238E27FC236}">
                    <a16:creationId xmlns:a16="http://schemas.microsoft.com/office/drawing/2014/main" id="{B40ED42C-1DA5-6F27-4828-FE5698B3F0A4}"/>
                  </a:ext>
                </a:extLst>
              </p:cNvPr>
              <p:cNvSpPr>
                <a:spLocks noGrp="1" noRot="1" noChangeAspect="1" noMove="1" noResize="1" noEditPoints="1" noAdjustHandles="1" noChangeArrowheads="1" noChangeShapeType="1" noTextEdit="1"/>
              </p:cNvSpPr>
              <p:nvPr>
                <p:ph sz="half" idx="2"/>
              </p:nvPr>
            </p:nvSpPr>
            <p:spPr>
              <a:xfrm>
                <a:off x="4629150" y="1825624"/>
                <a:ext cx="3886198" cy="4530721"/>
              </a:xfrm>
              <a:blipFill>
                <a:blip r:embed="rId2"/>
                <a:stretch>
                  <a:fillRect l="-2038" t="-1747"/>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E8AE47B8-DB48-73C8-7C12-73D0F660C80D}"/>
              </a:ext>
            </a:extLst>
          </p:cNvPr>
          <p:cNvSpPr>
            <a:spLocks noGrp="1"/>
          </p:cNvSpPr>
          <p:nvPr>
            <p:ph type="dt" sz="half" idx="10"/>
          </p:nvPr>
        </p:nvSpPr>
        <p:spPr/>
        <p:txBody>
          <a:bodyPr/>
          <a:lstStyle/>
          <a:p>
            <a:r>
              <a:rPr lang="en-US" dirty="0"/>
              <a:t>Spring 2024</a:t>
            </a:r>
          </a:p>
        </p:txBody>
      </p:sp>
      <p:sp>
        <p:nvSpPr>
          <p:cNvPr id="6" name="Footer Placeholder 5">
            <a:extLst>
              <a:ext uri="{FF2B5EF4-FFF2-40B4-BE49-F238E27FC236}">
                <a16:creationId xmlns:a16="http://schemas.microsoft.com/office/drawing/2014/main" id="{F9026A0E-DA65-9157-AF6A-CAADF50B3E2C}"/>
              </a:ext>
            </a:extLst>
          </p:cNvPr>
          <p:cNvSpPr>
            <a:spLocks noGrp="1"/>
          </p:cNvSpPr>
          <p:nvPr>
            <p:ph type="ftr" sz="quarter" idx="11"/>
          </p:nvPr>
        </p:nvSpPr>
        <p:spPr/>
        <p:txBody>
          <a:bodyPr/>
          <a:lstStyle/>
          <a:p>
            <a:r>
              <a:rPr lang="en-US" dirty="0"/>
              <a:t>DEPARTMENT OF BUSINESS &amp; ECONOMICS</a:t>
            </a:r>
          </a:p>
        </p:txBody>
      </p:sp>
      <p:sp>
        <p:nvSpPr>
          <p:cNvPr id="7" name="Slide Number Placeholder 6">
            <a:extLst>
              <a:ext uri="{FF2B5EF4-FFF2-40B4-BE49-F238E27FC236}">
                <a16:creationId xmlns:a16="http://schemas.microsoft.com/office/drawing/2014/main" id="{C9E93CE9-23B7-1CB9-08E4-C0B100BBA063}"/>
              </a:ext>
            </a:extLst>
          </p:cNvPr>
          <p:cNvSpPr>
            <a:spLocks noGrp="1"/>
          </p:cNvSpPr>
          <p:nvPr>
            <p:ph type="sldNum" sz="quarter" idx="12"/>
          </p:nvPr>
        </p:nvSpPr>
        <p:spPr/>
        <p:txBody>
          <a:bodyPr/>
          <a:lstStyle/>
          <a:p>
            <a:fld id="{1A980C56-831A-4EAB-9EDE-57C090F4F877}" type="slidenum">
              <a:rPr lang="en-US" smtClean="0"/>
              <a:t>16</a:t>
            </a:fld>
            <a:endParaRPr lang="en-US" dirty="0"/>
          </a:p>
        </p:txBody>
      </p:sp>
      <p:cxnSp>
        <p:nvCxnSpPr>
          <p:cNvPr id="12" name="Straight Arrow Connector 11">
            <a:extLst>
              <a:ext uri="{FF2B5EF4-FFF2-40B4-BE49-F238E27FC236}">
                <a16:creationId xmlns:a16="http://schemas.microsoft.com/office/drawing/2014/main" id="{B66AC92C-8A88-3848-D654-D68051C6AB83}"/>
              </a:ext>
            </a:extLst>
          </p:cNvPr>
          <p:cNvCxnSpPr/>
          <p:nvPr/>
        </p:nvCxnSpPr>
        <p:spPr>
          <a:xfrm>
            <a:off x="628649" y="5731731"/>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F73FD52-F826-073C-65C5-83D44E1E7E16}"/>
              </a:ext>
            </a:extLst>
          </p:cNvPr>
          <p:cNvCxnSpPr>
            <a:cxnSpLocks/>
          </p:cNvCxnSpPr>
          <p:nvPr/>
        </p:nvCxnSpPr>
        <p:spPr>
          <a:xfrm rot="16200000">
            <a:off x="-1151141" y="3954581"/>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1453694-8A7C-AA2A-7882-E2C1F72B92A1}"/>
              </a:ext>
            </a:extLst>
          </p:cNvPr>
          <p:cNvSpPr txBox="1"/>
          <p:nvPr/>
        </p:nvSpPr>
        <p:spPr>
          <a:xfrm>
            <a:off x="3864546" y="5731731"/>
            <a:ext cx="708848" cy="307777"/>
          </a:xfrm>
          <a:prstGeom prst="rect">
            <a:avLst/>
          </a:prstGeom>
          <a:noFill/>
        </p:spPr>
        <p:txBody>
          <a:bodyPr wrap="none" rtlCol="0">
            <a:spAutoFit/>
          </a:bodyPr>
          <a:lstStyle/>
          <a:p>
            <a:r>
              <a:rPr lang="en-US" sz="1400" dirty="0"/>
              <a:t>Output</a:t>
            </a:r>
          </a:p>
        </p:txBody>
      </p:sp>
      <p:sp>
        <p:nvSpPr>
          <p:cNvPr id="18" name="TextBox 17">
            <a:extLst>
              <a:ext uri="{FF2B5EF4-FFF2-40B4-BE49-F238E27FC236}">
                <a16:creationId xmlns:a16="http://schemas.microsoft.com/office/drawing/2014/main" id="{A3834DB4-47CF-8CC2-D09C-5DBEBCB8EAE6}"/>
              </a:ext>
            </a:extLst>
          </p:cNvPr>
          <p:cNvSpPr txBox="1"/>
          <p:nvPr/>
        </p:nvSpPr>
        <p:spPr>
          <a:xfrm rot="16200000">
            <a:off x="226937" y="2259305"/>
            <a:ext cx="803425" cy="307777"/>
          </a:xfrm>
          <a:prstGeom prst="rect">
            <a:avLst/>
          </a:prstGeom>
          <a:noFill/>
        </p:spPr>
        <p:txBody>
          <a:bodyPr wrap="none" rtlCol="0">
            <a:spAutoFit/>
          </a:bodyPr>
          <a:lstStyle/>
          <a:p>
            <a:r>
              <a:rPr lang="en-US" sz="1400" dirty="0"/>
              <a:t>Demand</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0C07709-CE62-C46A-1CEC-E47D31CE1573}"/>
                  </a:ext>
                </a:extLst>
              </p:cNvPr>
              <p:cNvSpPr txBox="1"/>
              <p:nvPr/>
            </p:nvSpPr>
            <p:spPr>
              <a:xfrm>
                <a:off x="4326955" y="3944674"/>
                <a:ext cx="17331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rgbClr val="0070C0"/>
                          </a:solidFill>
                          <a:latin typeface="Cambria Math" panose="02040503050406030204" pitchFamily="18" charset="0"/>
                        </a:rPr>
                        <m:t>𝑍</m:t>
                      </m:r>
                    </m:oMath>
                  </m:oMathPara>
                </a14:m>
                <a:endParaRPr lang="en-US" sz="1600" dirty="0">
                  <a:solidFill>
                    <a:srgbClr val="0070C0"/>
                  </a:solidFill>
                </a:endParaRPr>
              </a:p>
            </p:txBody>
          </p:sp>
        </mc:Choice>
        <mc:Fallback xmlns="">
          <p:sp>
            <p:nvSpPr>
              <p:cNvPr id="10" name="TextBox 9">
                <a:extLst>
                  <a:ext uri="{FF2B5EF4-FFF2-40B4-BE49-F238E27FC236}">
                    <a16:creationId xmlns:a16="http://schemas.microsoft.com/office/drawing/2014/main" id="{C0C07709-CE62-C46A-1CEC-E47D31CE1573}"/>
                  </a:ext>
                </a:extLst>
              </p:cNvPr>
              <p:cNvSpPr txBox="1">
                <a:spLocks noRot="1" noChangeAspect="1" noMove="1" noResize="1" noEditPoints="1" noAdjustHandles="1" noChangeArrowheads="1" noChangeShapeType="1" noTextEdit="1"/>
              </p:cNvSpPr>
              <p:nvPr/>
            </p:nvSpPr>
            <p:spPr>
              <a:xfrm>
                <a:off x="4326955" y="3944674"/>
                <a:ext cx="173316" cy="246221"/>
              </a:xfrm>
              <a:prstGeom prst="rect">
                <a:avLst/>
              </a:prstGeom>
              <a:blipFill>
                <a:blip r:embed="rId3"/>
                <a:stretch>
                  <a:fillRect l="-28571" r="-25000" b="-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FC0662F-5865-6426-C30C-454507B563CF}"/>
                  </a:ext>
                </a:extLst>
              </p:cNvPr>
              <p:cNvSpPr txBox="1"/>
              <p:nvPr/>
            </p:nvSpPr>
            <p:spPr>
              <a:xfrm>
                <a:off x="4355274" y="2686055"/>
                <a:ext cx="19518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rgbClr val="FF0000"/>
                          </a:solidFill>
                          <a:latin typeface="Cambria Math" panose="02040503050406030204" pitchFamily="18" charset="0"/>
                        </a:rPr>
                        <m:t>𝐷</m:t>
                      </m:r>
                    </m:oMath>
                  </m:oMathPara>
                </a14:m>
                <a:endParaRPr lang="en-US" sz="1600" dirty="0">
                  <a:solidFill>
                    <a:srgbClr val="FF0000"/>
                  </a:solidFill>
                </a:endParaRPr>
              </a:p>
            </p:txBody>
          </p:sp>
        </mc:Choice>
        <mc:Fallback xmlns="">
          <p:sp>
            <p:nvSpPr>
              <p:cNvPr id="14" name="TextBox 13">
                <a:extLst>
                  <a:ext uri="{FF2B5EF4-FFF2-40B4-BE49-F238E27FC236}">
                    <a16:creationId xmlns:a16="http://schemas.microsoft.com/office/drawing/2014/main" id="{CFC0662F-5865-6426-C30C-454507B563CF}"/>
                  </a:ext>
                </a:extLst>
              </p:cNvPr>
              <p:cNvSpPr txBox="1">
                <a:spLocks noRot="1" noChangeAspect="1" noMove="1" noResize="1" noEditPoints="1" noAdjustHandles="1" noChangeArrowheads="1" noChangeShapeType="1" noTextEdit="1"/>
              </p:cNvSpPr>
              <p:nvPr/>
            </p:nvSpPr>
            <p:spPr>
              <a:xfrm>
                <a:off x="4355274" y="2686055"/>
                <a:ext cx="195182" cy="246221"/>
              </a:xfrm>
              <a:prstGeom prst="rect">
                <a:avLst/>
              </a:prstGeom>
              <a:blipFill>
                <a:blip r:embed="rId4"/>
                <a:stretch>
                  <a:fillRect l="-21875" r="-21875" b="-5000"/>
                </a:stretch>
              </a:blipFill>
            </p:spPr>
            <p:txBody>
              <a:bodyPr/>
              <a:lstStyle/>
              <a:p>
                <a:r>
                  <a:rPr lang="en-US">
                    <a:noFill/>
                  </a:rPr>
                  <a:t> </a:t>
                </a:r>
              </a:p>
            </p:txBody>
          </p:sp>
        </mc:Fallback>
      </mc:AlternateContent>
      <p:cxnSp>
        <p:nvCxnSpPr>
          <p:cNvPr id="19" name="Straight Connector 18">
            <a:extLst>
              <a:ext uri="{FF2B5EF4-FFF2-40B4-BE49-F238E27FC236}">
                <a16:creationId xmlns:a16="http://schemas.microsoft.com/office/drawing/2014/main" id="{8E25C865-46CD-0AB1-535A-7F66C4DB60FF}"/>
              </a:ext>
            </a:extLst>
          </p:cNvPr>
          <p:cNvCxnSpPr>
            <a:cxnSpLocks/>
            <a:stCxn id="15" idx="4"/>
          </p:cNvCxnSpPr>
          <p:nvPr/>
        </p:nvCxnSpPr>
        <p:spPr>
          <a:xfrm>
            <a:off x="2252912" y="4308657"/>
            <a:ext cx="0" cy="142307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3B6A19E-3403-9243-E55E-6073C905D7C6}"/>
                  </a:ext>
                </a:extLst>
              </p:cNvPr>
              <p:cNvSpPr txBox="1"/>
              <p:nvPr/>
            </p:nvSpPr>
            <p:spPr>
              <a:xfrm>
                <a:off x="2009072" y="5686951"/>
                <a:ext cx="487680"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i="1" dirty="0">
                              <a:latin typeface="Cambria Math" panose="02040503050406030204" pitchFamily="18" charset="0"/>
                            </a:rPr>
                            <m:t>𝑌</m:t>
                          </m:r>
                        </m:e>
                        <m:sub>
                          <m:r>
                            <a:rPr lang="en-US" sz="1400" i="1" dirty="0">
                              <a:latin typeface="Cambria Math" panose="02040503050406030204" pitchFamily="18" charset="0"/>
                            </a:rPr>
                            <m:t>𝑇𝐵</m:t>
                          </m:r>
                        </m:sub>
                      </m:sSub>
                    </m:oMath>
                  </m:oMathPara>
                </a14:m>
                <a:endParaRPr lang="en-US" sz="1400" dirty="0"/>
              </a:p>
            </p:txBody>
          </p:sp>
        </mc:Choice>
        <mc:Fallback xmlns="">
          <p:sp>
            <p:nvSpPr>
              <p:cNvPr id="21" name="TextBox 20">
                <a:extLst>
                  <a:ext uri="{FF2B5EF4-FFF2-40B4-BE49-F238E27FC236}">
                    <a16:creationId xmlns:a16="http://schemas.microsoft.com/office/drawing/2014/main" id="{63B6A19E-3403-9243-E55E-6073C905D7C6}"/>
                  </a:ext>
                </a:extLst>
              </p:cNvPr>
              <p:cNvSpPr txBox="1">
                <a:spLocks noRot="1" noChangeAspect="1" noMove="1" noResize="1" noEditPoints="1" noAdjustHandles="1" noChangeArrowheads="1" noChangeShapeType="1" noTextEdit="1"/>
              </p:cNvSpPr>
              <p:nvPr/>
            </p:nvSpPr>
            <p:spPr>
              <a:xfrm>
                <a:off x="2009072" y="5686951"/>
                <a:ext cx="487680" cy="307777"/>
              </a:xfrm>
              <a:prstGeom prst="rect">
                <a:avLst/>
              </a:prstGeom>
              <a:blipFill>
                <a:blip r:embed="rId5"/>
                <a:stretch>
                  <a:fillRect/>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540A3D2A-9E3C-88EB-CAF6-B4E8A51D2A6B}"/>
              </a:ext>
            </a:extLst>
          </p:cNvPr>
          <p:cNvCxnSpPr/>
          <p:nvPr/>
        </p:nvCxnSpPr>
        <p:spPr>
          <a:xfrm flipH="1">
            <a:off x="791958" y="2110740"/>
            <a:ext cx="3627640" cy="3620988"/>
          </a:xfrm>
          <a:prstGeom prst="line">
            <a:avLst/>
          </a:prstGeom>
          <a:ln>
            <a:solidFill>
              <a:srgbClr val="FFC000"/>
            </a:solidFill>
            <a:prstDash val="dash"/>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FB4A1110-C062-EF0B-1420-28A87C3F8E3D}"/>
              </a:ext>
            </a:extLst>
          </p:cNvPr>
          <p:cNvSpPr/>
          <p:nvPr/>
        </p:nvSpPr>
        <p:spPr>
          <a:xfrm>
            <a:off x="2220908" y="4244649"/>
            <a:ext cx="64008" cy="6400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E025334-27E0-A7F1-1759-0A668F3B3854}"/>
                  </a:ext>
                </a:extLst>
              </p:cNvPr>
              <p:cNvSpPr txBox="1"/>
              <p:nvPr/>
            </p:nvSpPr>
            <p:spPr>
              <a:xfrm>
                <a:off x="4333730" y="3258548"/>
                <a:ext cx="23827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600" b="0" i="1" smtClean="0">
                              <a:solidFill>
                                <a:srgbClr val="0070C0"/>
                              </a:solidFill>
                              <a:latin typeface="Cambria Math" panose="02040503050406030204" pitchFamily="18" charset="0"/>
                            </a:rPr>
                          </m:ctrlPr>
                        </m:sSupPr>
                        <m:e>
                          <m:r>
                            <a:rPr lang="en-US" sz="1600" b="0" i="1" smtClean="0">
                              <a:solidFill>
                                <a:srgbClr val="0070C0"/>
                              </a:solidFill>
                              <a:latin typeface="Cambria Math" panose="02040503050406030204" pitchFamily="18" charset="0"/>
                            </a:rPr>
                            <m:t>𝑍</m:t>
                          </m:r>
                        </m:e>
                        <m:sup>
                          <m:r>
                            <a:rPr lang="en-US" sz="1600" b="0" i="1" smtClean="0">
                              <a:solidFill>
                                <a:srgbClr val="0070C0"/>
                              </a:solidFill>
                              <a:latin typeface="Cambria Math" panose="02040503050406030204" pitchFamily="18" charset="0"/>
                            </a:rPr>
                            <m:t>′</m:t>
                          </m:r>
                        </m:sup>
                      </m:sSup>
                    </m:oMath>
                  </m:oMathPara>
                </a14:m>
                <a:endParaRPr lang="en-US" sz="1600" dirty="0">
                  <a:solidFill>
                    <a:srgbClr val="0070C0"/>
                  </a:solidFill>
                </a:endParaRPr>
              </a:p>
            </p:txBody>
          </p:sp>
        </mc:Choice>
        <mc:Fallback xmlns="">
          <p:sp>
            <p:nvSpPr>
              <p:cNvPr id="36" name="TextBox 35">
                <a:extLst>
                  <a:ext uri="{FF2B5EF4-FFF2-40B4-BE49-F238E27FC236}">
                    <a16:creationId xmlns:a16="http://schemas.microsoft.com/office/drawing/2014/main" id="{2E025334-27E0-A7F1-1759-0A668F3B3854}"/>
                  </a:ext>
                </a:extLst>
              </p:cNvPr>
              <p:cNvSpPr txBox="1">
                <a:spLocks noRot="1" noChangeAspect="1" noMove="1" noResize="1" noEditPoints="1" noAdjustHandles="1" noChangeArrowheads="1" noChangeShapeType="1" noTextEdit="1"/>
              </p:cNvSpPr>
              <p:nvPr/>
            </p:nvSpPr>
            <p:spPr>
              <a:xfrm>
                <a:off x="4333730" y="3258548"/>
                <a:ext cx="238270" cy="246221"/>
              </a:xfrm>
              <a:prstGeom prst="rect">
                <a:avLst/>
              </a:prstGeom>
              <a:blipFill>
                <a:blip r:embed="rId6"/>
                <a:stretch>
                  <a:fillRect l="-20513" r="-5128" b="-5000"/>
                </a:stretch>
              </a:blipFill>
            </p:spPr>
            <p:txBody>
              <a:bodyPr/>
              <a:lstStyle/>
              <a:p>
                <a:r>
                  <a:rPr lang="en-US">
                    <a:noFill/>
                  </a:rPr>
                  <a:t> </a:t>
                </a:r>
              </a:p>
            </p:txBody>
          </p:sp>
        </mc:Fallback>
      </mc:AlternateContent>
      <p:sp>
        <p:nvSpPr>
          <p:cNvPr id="37" name="Oval 36">
            <a:extLst>
              <a:ext uri="{FF2B5EF4-FFF2-40B4-BE49-F238E27FC236}">
                <a16:creationId xmlns:a16="http://schemas.microsoft.com/office/drawing/2014/main" id="{D563105F-4179-D9D3-0FA6-BED7F11B7595}"/>
              </a:ext>
            </a:extLst>
          </p:cNvPr>
          <p:cNvSpPr/>
          <p:nvPr/>
        </p:nvSpPr>
        <p:spPr>
          <a:xfrm>
            <a:off x="3059108" y="3409696"/>
            <a:ext cx="64008" cy="6400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5" name="Straight Connector 44">
            <a:extLst>
              <a:ext uri="{FF2B5EF4-FFF2-40B4-BE49-F238E27FC236}">
                <a16:creationId xmlns:a16="http://schemas.microsoft.com/office/drawing/2014/main" id="{43A92AE9-4562-0052-38B5-52419C650844}"/>
              </a:ext>
            </a:extLst>
          </p:cNvPr>
          <p:cNvCxnSpPr>
            <a:stCxn id="37" idx="4"/>
          </p:cNvCxnSpPr>
          <p:nvPr/>
        </p:nvCxnSpPr>
        <p:spPr>
          <a:xfrm flipH="1">
            <a:off x="3086100" y="3473704"/>
            <a:ext cx="5012" cy="225802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1F4D09B5-046F-3AB0-5085-913B01581677}"/>
              </a:ext>
            </a:extLst>
          </p:cNvPr>
          <p:cNvSpPr/>
          <p:nvPr/>
        </p:nvSpPr>
        <p:spPr>
          <a:xfrm>
            <a:off x="3059108" y="3761421"/>
            <a:ext cx="64008" cy="6400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F7099D95-B61E-14E1-A02D-FDDB70918011}"/>
                  </a:ext>
                </a:extLst>
              </p:cNvPr>
              <p:cNvSpPr txBox="1"/>
              <p:nvPr/>
            </p:nvSpPr>
            <p:spPr>
              <a:xfrm>
                <a:off x="2861330" y="3166331"/>
                <a:ext cx="329116"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200" b="0" i="1" dirty="0" smtClean="0">
                              <a:latin typeface="Cambria Math" panose="02040503050406030204" pitchFamily="18" charset="0"/>
                            </a:rPr>
                          </m:ctrlPr>
                        </m:sSupPr>
                        <m:e>
                          <m:r>
                            <a:rPr lang="en-US" sz="1200" i="1" dirty="0" smtClean="0">
                              <a:latin typeface="Cambria Math" panose="02040503050406030204" pitchFamily="18" charset="0"/>
                            </a:rPr>
                            <m:t>𝐴</m:t>
                          </m:r>
                        </m:e>
                        <m:sup>
                          <m:r>
                            <a:rPr lang="en-US" sz="1200" b="0" i="1" dirty="0" smtClean="0">
                              <a:latin typeface="Cambria Math" panose="02040503050406030204" pitchFamily="18" charset="0"/>
                            </a:rPr>
                            <m:t>′</m:t>
                          </m:r>
                        </m:sup>
                      </m:sSup>
                    </m:oMath>
                  </m:oMathPara>
                </a14:m>
                <a:endParaRPr lang="en-US" sz="1200" dirty="0"/>
              </a:p>
            </p:txBody>
          </p:sp>
        </mc:Choice>
        <mc:Fallback xmlns="">
          <p:sp>
            <p:nvSpPr>
              <p:cNvPr id="47" name="TextBox 46">
                <a:extLst>
                  <a:ext uri="{FF2B5EF4-FFF2-40B4-BE49-F238E27FC236}">
                    <a16:creationId xmlns:a16="http://schemas.microsoft.com/office/drawing/2014/main" id="{F7099D95-B61E-14E1-A02D-FDDB70918011}"/>
                  </a:ext>
                </a:extLst>
              </p:cNvPr>
              <p:cNvSpPr txBox="1">
                <a:spLocks noRot="1" noChangeAspect="1" noMove="1" noResize="1" noEditPoints="1" noAdjustHandles="1" noChangeArrowheads="1" noChangeShapeType="1" noTextEdit="1"/>
              </p:cNvSpPr>
              <p:nvPr/>
            </p:nvSpPr>
            <p:spPr>
              <a:xfrm>
                <a:off x="2861330" y="3166331"/>
                <a:ext cx="329116" cy="27699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9A6D174E-FD4D-2C9A-4E4B-0031D88B22AE}"/>
                  </a:ext>
                </a:extLst>
              </p:cNvPr>
              <p:cNvSpPr txBox="1"/>
              <p:nvPr/>
            </p:nvSpPr>
            <p:spPr>
              <a:xfrm>
                <a:off x="2000881" y="4005636"/>
                <a:ext cx="329116"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0" i="1" dirty="0" smtClean="0">
                          <a:latin typeface="Cambria Math" panose="02040503050406030204" pitchFamily="18" charset="0"/>
                        </a:rPr>
                        <m:t>𝐴</m:t>
                      </m:r>
                    </m:oMath>
                  </m:oMathPara>
                </a14:m>
                <a:endParaRPr lang="en-US" sz="1200" dirty="0"/>
              </a:p>
            </p:txBody>
          </p:sp>
        </mc:Choice>
        <mc:Fallback xmlns="">
          <p:sp>
            <p:nvSpPr>
              <p:cNvPr id="48" name="TextBox 47">
                <a:extLst>
                  <a:ext uri="{FF2B5EF4-FFF2-40B4-BE49-F238E27FC236}">
                    <a16:creationId xmlns:a16="http://schemas.microsoft.com/office/drawing/2014/main" id="{9A6D174E-FD4D-2C9A-4E4B-0031D88B22AE}"/>
                  </a:ext>
                </a:extLst>
              </p:cNvPr>
              <p:cNvSpPr txBox="1">
                <a:spLocks noRot="1" noChangeAspect="1" noMove="1" noResize="1" noEditPoints="1" noAdjustHandles="1" noChangeArrowheads="1" noChangeShapeType="1" noTextEdit="1"/>
              </p:cNvSpPr>
              <p:nvPr/>
            </p:nvSpPr>
            <p:spPr>
              <a:xfrm>
                <a:off x="2000881" y="4005636"/>
                <a:ext cx="329116" cy="276999"/>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B6E7A9B-1539-70D8-7378-5B5CB05E910B}"/>
                  </a:ext>
                </a:extLst>
              </p:cNvPr>
              <p:cNvSpPr txBox="1"/>
              <p:nvPr/>
            </p:nvSpPr>
            <p:spPr>
              <a:xfrm>
                <a:off x="3025888" y="3724320"/>
                <a:ext cx="329116"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0" i="1" dirty="0" smtClean="0">
                          <a:latin typeface="Cambria Math" panose="02040503050406030204" pitchFamily="18" charset="0"/>
                        </a:rPr>
                        <m:t>𝐶</m:t>
                      </m:r>
                    </m:oMath>
                  </m:oMathPara>
                </a14:m>
                <a:endParaRPr lang="en-US" sz="1200" dirty="0"/>
              </a:p>
            </p:txBody>
          </p:sp>
        </mc:Choice>
        <mc:Fallback xmlns="">
          <p:sp>
            <p:nvSpPr>
              <p:cNvPr id="49" name="TextBox 48">
                <a:extLst>
                  <a:ext uri="{FF2B5EF4-FFF2-40B4-BE49-F238E27FC236}">
                    <a16:creationId xmlns:a16="http://schemas.microsoft.com/office/drawing/2014/main" id="{9B6E7A9B-1539-70D8-7378-5B5CB05E910B}"/>
                  </a:ext>
                </a:extLst>
              </p:cNvPr>
              <p:cNvSpPr txBox="1">
                <a:spLocks noRot="1" noChangeAspect="1" noMove="1" noResize="1" noEditPoints="1" noAdjustHandles="1" noChangeArrowheads="1" noChangeShapeType="1" noTextEdit="1"/>
              </p:cNvSpPr>
              <p:nvPr/>
            </p:nvSpPr>
            <p:spPr>
              <a:xfrm>
                <a:off x="3025888" y="3724320"/>
                <a:ext cx="329116" cy="276999"/>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B5C95AB-7D0E-6B5C-9478-BFD11C8CD7A1}"/>
                  </a:ext>
                </a:extLst>
              </p:cNvPr>
              <p:cNvSpPr txBox="1"/>
              <p:nvPr/>
            </p:nvSpPr>
            <p:spPr>
              <a:xfrm>
                <a:off x="2842260" y="5703148"/>
                <a:ext cx="487680"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𝑌</m:t>
                          </m:r>
                        </m:e>
                        <m:sup>
                          <m:r>
                            <a:rPr lang="en-US" sz="1400" i="1">
                              <a:latin typeface="Cambria Math" panose="02040503050406030204" pitchFamily="18" charset="0"/>
                            </a:rPr>
                            <m:t>∗′</m:t>
                          </m:r>
                        </m:sup>
                      </m:sSup>
                    </m:oMath>
                  </m:oMathPara>
                </a14:m>
                <a:endParaRPr lang="en-US" sz="1400" dirty="0"/>
              </a:p>
            </p:txBody>
          </p:sp>
        </mc:Choice>
        <mc:Fallback xmlns="">
          <p:sp>
            <p:nvSpPr>
              <p:cNvPr id="50" name="TextBox 49">
                <a:extLst>
                  <a:ext uri="{FF2B5EF4-FFF2-40B4-BE49-F238E27FC236}">
                    <a16:creationId xmlns:a16="http://schemas.microsoft.com/office/drawing/2014/main" id="{CB5C95AB-7D0E-6B5C-9478-BFD11C8CD7A1}"/>
                  </a:ext>
                </a:extLst>
              </p:cNvPr>
              <p:cNvSpPr txBox="1">
                <a:spLocks noRot="1" noChangeAspect="1" noMove="1" noResize="1" noEditPoints="1" noAdjustHandles="1" noChangeArrowheads="1" noChangeShapeType="1" noTextEdit="1"/>
              </p:cNvSpPr>
              <p:nvPr/>
            </p:nvSpPr>
            <p:spPr>
              <a:xfrm>
                <a:off x="2842260" y="5703148"/>
                <a:ext cx="487680" cy="307777"/>
              </a:xfrm>
              <a:prstGeom prst="rect">
                <a:avLst/>
              </a:prstGeom>
              <a:blipFill>
                <a:blip r:embed="rId10"/>
                <a:stretch>
                  <a:fillRect/>
                </a:stretch>
              </a:blipFill>
            </p:spPr>
            <p:txBody>
              <a:bodyPr/>
              <a:lstStyle/>
              <a:p>
                <a:r>
                  <a:rPr lang="en-US">
                    <a:noFill/>
                  </a:rPr>
                  <a:t> </a:t>
                </a:r>
              </a:p>
            </p:txBody>
          </p:sp>
        </mc:Fallback>
      </mc:AlternateContent>
      <p:cxnSp>
        <p:nvCxnSpPr>
          <p:cNvPr id="52" name="Straight Arrow Connector 51">
            <a:extLst>
              <a:ext uri="{FF2B5EF4-FFF2-40B4-BE49-F238E27FC236}">
                <a16:creationId xmlns:a16="http://schemas.microsoft.com/office/drawing/2014/main" id="{E17D6D30-52CE-7B4A-80E6-168CE4868595}"/>
              </a:ext>
            </a:extLst>
          </p:cNvPr>
          <p:cNvCxnSpPr/>
          <p:nvPr/>
        </p:nvCxnSpPr>
        <p:spPr>
          <a:xfrm flipV="1">
            <a:off x="995363" y="3825429"/>
            <a:ext cx="0" cy="608459"/>
          </a:xfrm>
          <a:prstGeom prst="straightConnector1">
            <a:avLst/>
          </a:prstGeom>
          <a:ln>
            <a:solidFill>
              <a:schemeClr val="tx1"/>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90DAE35F-DDC4-D165-70CA-1C727649FC5D}"/>
                  </a:ext>
                </a:extLst>
              </p:cNvPr>
              <p:cNvSpPr txBox="1"/>
              <p:nvPr/>
            </p:nvSpPr>
            <p:spPr>
              <a:xfrm>
                <a:off x="948305" y="3942682"/>
                <a:ext cx="47506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𝛥</m:t>
                      </m:r>
                      <m:r>
                        <a:rPr lang="en-US" b="0" i="1" smtClean="0">
                          <a:latin typeface="Cambria Math" panose="02040503050406030204" pitchFamily="18" charset="0"/>
                        </a:rPr>
                        <m:t>𝑋</m:t>
                      </m:r>
                    </m:oMath>
                  </m:oMathPara>
                </a14:m>
                <a:endParaRPr lang="en-US" dirty="0"/>
              </a:p>
            </p:txBody>
          </p:sp>
        </mc:Choice>
        <mc:Fallback xmlns="">
          <p:sp>
            <p:nvSpPr>
              <p:cNvPr id="54" name="TextBox 53">
                <a:extLst>
                  <a:ext uri="{FF2B5EF4-FFF2-40B4-BE49-F238E27FC236}">
                    <a16:creationId xmlns:a16="http://schemas.microsoft.com/office/drawing/2014/main" id="{90DAE35F-DDC4-D165-70CA-1C727649FC5D}"/>
                  </a:ext>
                </a:extLst>
              </p:cNvPr>
              <p:cNvSpPr txBox="1">
                <a:spLocks noRot="1" noChangeAspect="1" noMove="1" noResize="1" noEditPoints="1" noAdjustHandles="1" noChangeArrowheads="1" noChangeShapeType="1" noTextEdit="1"/>
              </p:cNvSpPr>
              <p:nvPr/>
            </p:nvSpPr>
            <p:spPr>
              <a:xfrm>
                <a:off x="948305" y="3942682"/>
                <a:ext cx="475067" cy="369332"/>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5220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500"/>
                                        <p:tgtEl>
                                          <p:spTgt spid="41"/>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fade">
                                      <p:cBhvr>
                                        <p:cTn id="31" dur="500"/>
                                        <p:tgtEl>
                                          <p:spTgt spid="4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4">
                                            <p:txEl>
                                              <p:pRg st="2" end="2"/>
                                            </p:txEl>
                                          </p:spTgt>
                                        </p:tgtEl>
                                        <p:attrNameLst>
                                          <p:attrName>style.visibility</p:attrName>
                                        </p:attrNameLst>
                                      </p:cBhvr>
                                      <p:to>
                                        <p:strVal val="visible"/>
                                      </p:to>
                                    </p:set>
                                    <p:animEffect transition="in" filter="fade">
                                      <p:cBhvr>
                                        <p:cTn id="45" dur="500"/>
                                        <p:tgtEl>
                                          <p:spTgt spid="4">
                                            <p:txEl>
                                              <p:pRg st="2" end="2"/>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childTnLst>
                                </p:cTn>
                              </p:par>
                              <p:par>
                                <p:cTn id="49" presetID="10" presetClass="entr" presetSubtype="0" fill="hold" nodeType="with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500"/>
                                        <p:tgtEl>
                                          <p:spTgt spid="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4">
                                            <p:txEl>
                                              <p:pRg st="4" end="4"/>
                                            </p:txEl>
                                          </p:spTgt>
                                        </p:tgtEl>
                                        <p:attrNameLst>
                                          <p:attrName>style.visibility</p:attrName>
                                        </p:attrNameLst>
                                      </p:cBhvr>
                                      <p:to>
                                        <p:strVal val="visible"/>
                                      </p:to>
                                    </p:set>
                                    <p:animEffect transition="in" filter="fade">
                                      <p:cBhvr>
                                        <p:cTn id="56" dur="500"/>
                                        <p:tgtEl>
                                          <p:spTgt spid="4">
                                            <p:txEl>
                                              <p:pRg st="4" end="4"/>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500"/>
                                        <p:tgtEl>
                                          <p:spTgt spid="2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fade">
                                      <p:cBhvr>
                                        <p:cTn id="62" dur="500"/>
                                        <p:tgtEl>
                                          <p:spTgt spid="3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50"/>
                                        </p:tgtEl>
                                        <p:attrNameLst>
                                          <p:attrName>style.visibility</p:attrName>
                                        </p:attrNameLst>
                                      </p:cBhvr>
                                      <p:to>
                                        <p:strVal val="visible"/>
                                      </p:to>
                                    </p:set>
                                    <p:animEffect transition="in" filter="fade">
                                      <p:cBhvr>
                                        <p:cTn id="65" dur="500"/>
                                        <p:tgtEl>
                                          <p:spTgt spid="5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fade">
                                      <p:cBhvr>
                                        <p:cTn id="68" dur="500"/>
                                        <p:tgtEl>
                                          <p:spTgt spid="37"/>
                                        </p:tgtEl>
                                      </p:cBhvr>
                                    </p:animEffect>
                                  </p:childTnLst>
                                </p:cTn>
                              </p:par>
                              <p:par>
                                <p:cTn id="69" presetID="10" presetClass="entr" presetSubtype="0" fill="hold" nodeType="withEffect">
                                  <p:stCondLst>
                                    <p:cond delay="0"/>
                                  </p:stCondLst>
                                  <p:childTnLst>
                                    <p:set>
                                      <p:cBhvr>
                                        <p:cTn id="70" dur="1" fill="hold">
                                          <p:stCondLst>
                                            <p:cond delay="0"/>
                                          </p:stCondLst>
                                        </p:cTn>
                                        <p:tgtEl>
                                          <p:spTgt spid="45"/>
                                        </p:tgtEl>
                                        <p:attrNameLst>
                                          <p:attrName>style.visibility</p:attrName>
                                        </p:attrNameLst>
                                      </p:cBhvr>
                                      <p:to>
                                        <p:strVal val="visible"/>
                                      </p:to>
                                    </p:set>
                                    <p:animEffect transition="in" filter="fade">
                                      <p:cBhvr>
                                        <p:cTn id="71" dur="500"/>
                                        <p:tgtEl>
                                          <p:spTgt spid="4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6"/>
                                        </p:tgtEl>
                                        <p:attrNameLst>
                                          <p:attrName>style.visibility</p:attrName>
                                        </p:attrNameLst>
                                      </p:cBhvr>
                                      <p:to>
                                        <p:strVal val="visible"/>
                                      </p:to>
                                    </p:set>
                                    <p:animEffect transition="in" filter="fade">
                                      <p:cBhvr>
                                        <p:cTn id="74" dur="500"/>
                                        <p:tgtEl>
                                          <p:spTgt spid="4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7"/>
                                        </p:tgtEl>
                                        <p:attrNameLst>
                                          <p:attrName>style.visibility</p:attrName>
                                        </p:attrNameLst>
                                      </p:cBhvr>
                                      <p:to>
                                        <p:strVal val="visible"/>
                                      </p:to>
                                    </p:set>
                                    <p:animEffect transition="in" filter="fade">
                                      <p:cBhvr>
                                        <p:cTn id="77" dur="500"/>
                                        <p:tgtEl>
                                          <p:spTgt spid="4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9"/>
                                        </p:tgtEl>
                                        <p:attrNameLst>
                                          <p:attrName>style.visibility</p:attrName>
                                        </p:attrNameLst>
                                      </p:cBhvr>
                                      <p:to>
                                        <p:strVal val="visible"/>
                                      </p:to>
                                    </p:set>
                                    <p:animEffect transition="in" filter="fade">
                                      <p:cBhvr>
                                        <p:cTn id="80" dur="500"/>
                                        <p:tgtEl>
                                          <p:spTgt spid="49"/>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4">
                                            <p:txEl>
                                              <p:pRg st="6" end="6"/>
                                            </p:txEl>
                                          </p:spTgt>
                                        </p:tgtEl>
                                        <p:attrNameLst>
                                          <p:attrName>style.visibility</p:attrName>
                                        </p:attrNameLst>
                                      </p:cBhvr>
                                      <p:to>
                                        <p:strVal val="visible"/>
                                      </p:to>
                                    </p:set>
                                    <p:animEffect transition="in" filter="fade">
                                      <p:cBhvr>
                                        <p:cTn id="85" dur="500"/>
                                        <p:tgtEl>
                                          <p:spTgt spid="4">
                                            <p:txEl>
                                              <p:pRg st="6" end="6"/>
                                            </p:txEl>
                                          </p:spTgt>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4"/>
                                        </p:tgtEl>
                                        <p:attrNameLst>
                                          <p:attrName>style.visibility</p:attrName>
                                        </p:attrNameLst>
                                      </p:cBhvr>
                                      <p:to>
                                        <p:strVal val="visible"/>
                                      </p:to>
                                    </p:set>
                                    <p:animEffect transition="in" filter="fade">
                                      <p:cBhvr>
                                        <p:cTn id="88" dur="500"/>
                                        <p:tgtEl>
                                          <p:spTgt spid="54"/>
                                        </p:tgtEl>
                                      </p:cBhvr>
                                    </p:animEffect>
                                  </p:childTnLst>
                                </p:cTn>
                              </p:par>
                              <p:par>
                                <p:cTn id="89" presetID="10" presetClass="entr" presetSubtype="0" fill="hold" nodeType="withEffect">
                                  <p:stCondLst>
                                    <p:cond delay="0"/>
                                  </p:stCondLst>
                                  <p:childTnLst>
                                    <p:set>
                                      <p:cBhvr>
                                        <p:cTn id="90" dur="1" fill="hold">
                                          <p:stCondLst>
                                            <p:cond delay="0"/>
                                          </p:stCondLst>
                                        </p:cTn>
                                        <p:tgtEl>
                                          <p:spTgt spid="52"/>
                                        </p:tgtEl>
                                        <p:attrNameLst>
                                          <p:attrName>style.visibility</p:attrName>
                                        </p:attrNameLst>
                                      </p:cBhvr>
                                      <p:to>
                                        <p:strVal val="visible"/>
                                      </p:to>
                                    </p:set>
                                    <p:animEffect transition="in" filter="fade">
                                      <p:cBhvr>
                                        <p:cTn id="91"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0" grpId="0"/>
      <p:bldP spid="14" grpId="0"/>
      <p:bldP spid="21" grpId="0"/>
      <p:bldP spid="15" grpId="0" animBg="1"/>
      <p:bldP spid="36" grpId="0"/>
      <p:bldP spid="37" grpId="0" animBg="1"/>
      <p:bldP spid="46" grpId="0" animBg="1"/>
      <p:bldP spid="47" grpId="0"/>
      <p:bldP spid="48" grpId="0"/>
      <p:bldP spid="49" grpId="0"/>
      <p:bldP spid="50" grpId="0"/>
      <p:bldP spid="5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6C07A-0C0B-4DCC-CC8E-158479CD2502}"/>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99409940-2529-464B-83F1-16838F81ECD9}"/>
              </a:ext>
            </a:extLst>
          </p:cNvPr>
          <p:cNvCxnSpPr>
            <a:cxnSpLocks/>
          </p:cNvCxnSpPr>
          <p:nvPr/>
        </p:nvCxnSpPr>
        <p:spPr>
          <a:xfrm flipV="1">
            <a:off x="790845" y="3002129"/>
            <a:ext cx="3689176" cy="2093996"/>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7775FBA-143D-187C-630A-4BB75AE68F38}"/>
              </a:ext>
            </a:extLst>
          </p:cNvPr>
          <p:cNvCxnSpPr>
            <a:cxnSpLocks/>
          </p:cNvCxnSpPr>
          <p:nvPr/>
        </p:nvCxnSpPr>
        <p:spPr>
          <a:xfrm flipV="1">
            <a:off x="798782" y="3893885"/>
            <a:ext cx="3704050" cy="63299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60FFE7B-EDE8-9154-40E7-7EEF38D58E0B}"/>
              </a:ext>
            </a:extLst>
          </p:cNvPr>
          <p:cNvCxnSpPr>
            <a:cxnSpLocks/>
          </p:cNvCxnSpPr>
          <p:nvPr/>
        </p:nvCxnSpPr>
        <p:spPr>
          <a:xfrm flipV="1">
            <a:off x="796221" y="3192435"/>
            <a:ext cx="3704050" cy="63299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3FE3D26-3934-E1FE-5157-09BCDDD91E23}"/>
              </a:ext>
            </a:extLst>
          </p:cNvPr>
          <p:cNvSpPr>
            <a:spLocks noGrp="1"/>
          </p:cNvSpPr>
          <p:nvPr>
            <p:ph type="title"/>
          </p:nvPr>
        </p:nvSpPr>
        <p:spPr/>
        <p:txBody>
          <a:bodyPr/>
          <a:lstStyle/>
          <a:p>
            <a:r>
              <a:rPr lang="en-US" dirty="0"/>
              <a:t>Changes to Demand:</a:t>
            </a:r>
            <a:br>
              <a:rPr lang="en-US" dirty="0"/>
            </a:br>
            <a:r>
              <a:rPr lang="en-US" dirty="0"/>
              <a:t>Foreign Demand</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40ED42C-1DA5-6F27-4828-FE5698B3F0A4}"/>
                  </a:ext>
                </a:extLst>
              </p:cNvPr>
              <p:cNvSpPr>
                <a:spLocks noGrp="1"/>
              </p:cNvSpPr>
              <p:nvPr>
                <p:ph sz="half" idx="2"/>
              </p:nvPr>
            </p:nvSpPr>
            <p:spPr>
              <a:xfrm>
                <a:off x="4629150" y="1825624"/>
                <a:ext cx="3886198" cy="4530721"/>
              </a:xfrm>
            </p:spPr>
            <p:txBody>
              <a:bodyPr>
                <a:normAutofit/>
              </a:bodyPr>
              <a:lstStyle/>
              <a:p>
                <a:r>
                  <a:rPr lang="en-US" dirty="0"/>
                  <a:t>The equilibrium output has now increased to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𝑌</m:t>
                        </m:r>
                      </m:e>
                      <m:sup>
                        <m:r>
                          <a:rPr lang="en-US" i="1">
                            <a:latin typeface="Cambria Math" panose="02040503050406030204" pitchFamily="18" charset="0"/>
                          </a:rPr>
                          <m:t>∗′</m:t>
                        </m:r>
                      </m:sup>
                    </m:sSup>
                  </m:oMath>
                </a14:m>
                <a:r>
                  <a:rPr lang="en-US" i="1" dirty="0"/>
                  <a:t>.</a:t>
                </a:r>
              </a:p>
              <a:p>
                <a:pPr lvl="3"/>
                <a:endParaRPr lang="en-US" sz="1200" i="1" dirty="0"/>
              </a:p>
              <a:p>
                <a:r>
                  <a:rPr lang="en-US" dirty="0"/>
                  <a:t>The domestic demand for goods when the output is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𝑌</m:t>
                        </m:r>
                      </m:e>
                      <m:sup>
                        <m:r>
                          <a:rPr lang="en-US" i="1">
                            <a:latin typeface="Cambria Math" panose="02040503050406030204" pitchFamily="18" charset="0"/>
                          </a:rPr>
                          <m:t>∗′</m:t>
                        </m:r>
                      </m:sup>
                    </m:sSup>
                  </m:oMath>
                </a14:m>
                <a:r>
                  <a:rPr lang="en-US" dirty="0"/>
                  <a:t> should be </a:t>
                </a:r>
                <a14:m>
                  <m:oMath xmlns:m="http://schemas.openxmlformats.org/officeDocument/2006/math">
                    <m:r>
                      <a:rPr lang="en-US" b="0" i="1" smtClean="0">
                        <a:latin typeface="Cambria Math" panose="02040503050406030204" pitchFamily="18" charset="0"/>
                      </a:rPr>
                      <m:t>𝐶</m:t>
                    </m:r>
                  </m:oMath>
                </a14:m>
                <a:r>
                  <a:rPr lang="en-US" dirty="0"/>
                  <a:t>.</a:t>
                </a:r>
              </a:p>
              <a:p>
                <a:pPr lvl="3"/>
                <a:endParaRPr lang="en-US" sz="1200" dirty="0"/>
              </a:p>
              <a:p>
                <a:r>
                  <a:rPr lang="en-US" dirty="0"/>
                  <a:t>Meanwhile, the demand for domestic goods at this point is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oMath>
                </a14:m>
                <a:r>
                  <a:rPr lang="en-US" dirty="0"/>
                  <a:t>.</a:t>
                </a:r>
              </a:p>
              <a:p>
                <a:pPr lvl="3"/>
                <a:endParaRPr lang="en-US" sz="1200" dirty="0"/>
              </a:p>
              <a:p>
                <a14:m>
                  <m:oMath xmlns:m="http://schemas.openxmlformats.org/officeDocument/2006/math">
                    <m:acc>
                      <m:accPr>
                        <m:chr m:val="̅"/>
                        <m:ctrlPr>
                          <a:rPr lang="en-US" i="1" dirty="0" smtClean="0">
                            <a:latin typeface="Cambria Math" panose="02040503050406030204" pitchFamily="18" charset="0"/>
                          </a:rPr>
                        </m:ctrlPr>
                      </m:accPr>
                      <m:e>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𝐴</m:t>
                            </m:r>
                          </m:e>
                          <m:sup>
                            <m:r>
                              <a:rPr lang="en-US" b="0" i="1" dirty="0" smtClean="0">
                                <a:latin typeface="Cambria Math" panose="02040503050406030204" pitchFamily="18" charset="0"/>
                              </a:rPr>
                              <m:t>′</m:t>
                            </m:r>
                          </m:sup>
                        </m:sSup>
                        <m:r>
                          <a:rPr lang="en-US" b="0" i="1" dirty="0" smtClean="0">
                            <a:latin typeface="Cambria Math" panose="02040503050406030204" pitchFamily="18" charset="0"/>
                          </a:rPr>
                          <m:t>𝐶</m:t>
                        </m:r>
                      </m:e>
                    </m:acc>
                  </m:oMath>
                </a14:m>
                <a:r>
                  <a:rPr lang="en-US" dirty="0"/>
                  <a:t> represents the change in net exports.</a:t>
                </a:r>
              </a:p>
            </p:txBody>
          </p:sp>
        </mc:Choice>
        <mc:Fallback xmlns="">
          <p:sp>
            <p:nvSpPr>
              <p:cNvPr id="4" name="Content Placeholder 3">
                <a:extLst>
                  <a:ext uri="{FF2B5EF4-FFF2-40B4-BE49-F238E27FC236}">
                    <a16:creationId xmlns:a16="http://schemas.microsoft.com/office/drawing/2014/main" id="{B40ED42C-1DA5-6F27-4828-FE5698B3F0A4}"/>
                  </a:ext>
                </a:extLst>
              </p:cNvPr>
              <p:cNvSpPr>
                <a:spLocks noGrp="1" noRot="1" noChangeAspect="1" noMove="1" noResize="1" noEditPoints="1" noAdjustHandles="1" noChangeArrowheads="1" noChangeShapeType="1" noTextEdit="1"/>
              </p:cNvSpPr>
              <p:nvPr>
                <p:ph sz="half" idx="2"/>
              </p:nvPr>
            </p:nvSpPr>
            <p:spPr>
              <a:xfrm>
                <a:off x="4629150" y="1825624"/>
                <a:ext cx="3886198" cy="4530721"/>
              </a:xfrm>
              <a:blipFill>
                <a:blip r:embed="rId2"/>
                <a:stretch>
                  <a:fillRect l="-2038" t="-1747" r="-3918" b="-1344"/>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E8AE47B8-DB48-73C8-7C12-73D0F660C80D}"/>
              </a:ext>
            </a:extLst>
          </p:cNvPr>
          <p:cNvSpPr>
            <a:spLocks noGrp="1"/>
          </p:cNvSpPr>
          <p:nvPr>
            <p:ph type="dt" sz="half" idx="10"/>
          </p:nvPr>
        </p:nvSpPr>
        <p:spPr/>
        <p:txBody>
          <a:bodyPr/>
          <a:lstStyle/>
          <a:p>
            <a:r>
              <a:rPr lang="en-US" dirty="0"/>
              <a:t>Spring 2024</a:t>
            </a:r>
          </a:p>
        </p:txBody>
      </p:sp>
      <p:sp>
        <p:nvSpPr>
          <p:cNvPr id="6" name="Footer Placeholder 5">
            <a:extLst>
              <a:ext uri="{FF2B5EF4-FFF2-40B4-BE49-F238E27FC236}">
                <a16:creationId xmlns:a16="http://schemas.microsoft.com/office/drawing/2014/main" id="{F9026A0E-DA65-9157-AF6A-CAADF50B3E2C}"/>
              </a:ext>
            </a:extLst>
          </p:cNvPr>
          <p:cNvSpPr>
            <a:spLocks noGrp="1"/>
          </p:cNvSpPr>
          <p:nvPr>
            <p:ph type="ftr" sz="quarter" idx="11"/>
          </p:nvPr>
        </p:nvSpPr>
        <p:spPr/>
        <p:txBody>
          <a:bodyPr/>
          <a:lstStyle/>
          <a:p>
            <a:r>
              <a:rPr lang="en-US" dirty="0"/>
              <a:t>DEPARTMENT OF BUSINESS &amp; ECONOMICS</a:t>
            </a:r>
          </a:p>
        </p:txBody>
      </p:sp>
      <p:sp>
        <p:nvSpPr>
          <p:cNvPr id="7" name="Slide Number Placeholder 6">
            <a:extLst>
              <a:ext uri="{FF2B5EF4-FFF2-40B4-BE49-F238E27FC236}">
                <a16:creationId xmlns:a16="http://schemas.microsoft.com/office/drawing/2014/main" id="{C9E93CE9-23B7-1CB9-08E4-C0B100BBA063}"/>
              </a:ext>
            </a:extLst>
          </p:cNvPr>
          <p:cNvSpPr>
            <a:spLocks noGrp="1"/>
          </p:cNvSpPr>
          <p:nvPr>
            <p:ph type="sldNum" sz="quarter" idx="12"/>
          </p:nvPr>
        </p:nvSpPr>
        <p:spPr/>
        <p:txBody>
          <a:bodyPr/>
          <a:lstStyle/>
          <a:p>
            <a:fld id="{1A980C56-831A-4EAB-9EDE-57C090F4F877}" type="slidenum">
              <a:rPr lang="en-US" smtClean="0"/>
              <a:t>17</a:t>
            </a:fld>
            <a:endParaRPr lang="en-US" dirty="0"/>
          </a:p>
        </p:txBody>
      </p:sp>
      <p:cxnSp>
        <p:nvCxnSpPr>
          <p:cNvPr id="12" name="Straight Arrow Connector 11">
            <a:extLst>
              <a:ext uri="{FF2B5EF4-FFF2-40B4-BE49-F238E27FC236}">
                <a16:creationId xmlns:a16="http://schemas.microsoft.com/office/drawing/2014/main" id="{B66AC92C-8A88-3848-D654-D68051C6AB83}"/>
              </a:ext>
            </a:extLst>
          </p:cNvPr>
          <p:cNvCxnSpPr/>
          <p:nvPr/>
        </p:nvCxnSpPr>
        <p:spPr>
          <a:xfrm>
            <a:off x="628649" y="5731731"/>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F73FD52-F826-073C-65C5-83D44E1E7E16}"/>
              </a:ext>
            </a:extLst>
          </p:cNvPr>
          <p:cNvCxnSpPr>
            <a:cxnSpLocks/>
          </p:cNvCxnSpPr>
          <p:nvPr/>
        </p:nvCxnSpPr>
        <p:spPr>
          <a:xfrm rot="16200000">
            <a:off x="-1151141" y="3954581"/>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1453694-8A7C-AA2A-7882-E2C1F72B92A1}"/>
              </a:ext>
            </a:extLst>
          </p:cNvPr>
          <p:cNvSpPr txBox="1"/>
          <p:nvPr/>
        </p:nvSpPr>
        <p:spPr>
          <a:xfrm>
            <a:off x="3864546" y="5731731"/>
            <a:ext cx="708848" cy="307777"/>
          </a:xfrm>
          <a:prstGeom prst="rect">
            <a:avLst/>
          </a:prstGeom>
          <a:noFill/>
        </p:spPr>
        <p:txBody>
          <a:bodyPr wrap="none" rtlCol="0">
            <a:spAutoFit/>
          </a:bodyPr>
          <a:lstStyle/>
          <a:p>
            <a:r>
              <a:rPr lang="en-US" sz="1400" dirty="0"/>
              <a:t>Output</a:t>
            </a:r>
          </a:p>
        </p:txBody>
      </p:sp>
      <p:sp>
        <p:nvSpPr>
          <p:cNvPr id="18" name="TextBox 17">
            <a:extLst>
              <a:ext uri="{FF2B5EF4-FFF2-40B4-BE49-F238E27FC236}">
                <a16:creationId xmlns:a16="http://schemas.microsoft.com/office/drawing/2014/main" id="{A3834DB4-47CF-8CC2-D09C-5DBEBCB8EAE6}"/>
              </a:ext>
            </a:extLst>
          </p:cNvPr>
          <p:cNvSpPr txBox="1"/>
          <p:nvPr/>
        </p:nvSpPr>
        <p:spPr>
          <a:xfrm rot="16200000">
            <a:off x="226937" y="2259305"/>
            <a:ext cx="803425" cy="307777"/>
          </a:xfrm>
          <a:prstGeom prst="rect">
            <a:avLst/>
          </a:prstGeom>
          <a:noFill/>
        </p:spPr>
        <p:txBody>
          <a:bodyPr wrap="none" rtlCol="0">
            <a:spAutoFit/>
          </a:bodyPr>
          <a:lstStyle/>
          <a:p>
            <a:r>
              <a:rPr lang="en-US" sz="1400" dirty="0"/>
              <a:t>Demand</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0C07709-CE62-C46A-1CEC-E47D31CE1573}"/>
                  </a:ext>
                </a:extLst>
              </p:cNvPr>
              <p:cNvSpPr txBox="1"/>
              <p:nvPr/>
            </p:nvSpPr>
            <p:spPr>
              <a:xfrm>
                <a:off x="4326955" y="3944674"/>
                <a:ext cx="17331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rgbClr val="0070C0"/>
                          </a:solidFill>
                          <a:latin typeface="Cambria Math" panose="02040503050406030204" pitchFamily="18" charset="0"/>
                        </a:rPr>
                        <m:t>𝑍</m:t>
                      </m:r>
                    </m:oMath>
                  </m:oMathPara>
                </a14:m>
                <a:endParaRPr lang="en-US" sz="1600" dirty="0">
                  <a:solidFill>
                    <a:srgbClr val="0070C0"/>
                  </a:solidFill>
                </a:endParaRPr>
              </a:p>
            </p:txBody>
          </p:sp>
        </mc:Choice>
        <mc:Fallback xmlns="">
          <p:sp>
            <p:nvSpPr>
              <p:cNvPr id="10" name="TextBox 9">
                <a:extLst>
                  <a:ext uri="{FF2B5EF4-FFF2-40B4-BE49-F238E27FC236}">
                    <a16:creationId xmlns:a16="http://schemas.microsoft.com/office/drawing/2014/main" id="{C0C07709-CE62-C46A-1CEC-E47D31CE1573}"/>
                  </a:ext>
                </a:extLst>
              </p:cNvPr>
              <p:cNvSpPr txBox="1">
                <a:spLocks noRot="1" noChangeAspect="1" noMove="1" noResize="1" noEditPoints="1" noAdjustHandles="1" noChangeArrowheads="1" noChangeShapeType="1" noTextEdit="1"/>
              </p:cNvSpPr>
              <p:nvPr/>
            </p:nvSpPr>
            <p:spPr>
              <a:xfrm>
                <a:off x="4326955" y="3944674"/>
                <a:ext cx="173316" cy="246221"/>
              </a:xfrm>
              <a:prstGeom prst="rect">
                <a:avLst/>
              </a:prstGeom>
              <a:blipFill>
                <a:blip r:embed="rId3"/>
                <a:stretch>
                  <a:fillRect l="-28571" r="-25000" b="-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FC0662F-5865-6426-C30C-454507B563CF}"/>
                  </a:ext>
                </a:extLst>
              </p:cNvPr>
              <p:cNvSpPr txBox="1"/>
              <p:nvPr/>
            </p:nvSpPr>
            <p:spPr>
              <a:xfrm>
                <a:off x="4355274" y="2686055"/>
                <a:ext cx="19518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rgbClr val="FF0000"/>
                          </a:solidFill>
                          <a:latin typeface="Cambria Math" panose="02040503050406030204" pitchFamily="18" charset="0"/>
                        </a:rPr>
                        <m:t>𝐷</m:t>
                      </m:r>
                    </m:oMath>
                  </m:oMathPara>
                </a14:m>
                <a:endParaRPr lang="en-US" sz="1600" dirty="0">
                  <a:solidFill>
                    <a:srgbClr val="FF0000"/>
                  </a:solidFill>
                </a:endParaRPr>
              </a:p>
            </p:txBody>
          </p:sp>
        </mc:Choice>
        <mc:Fallback xmlns="">
          <p:sp>
            <p:nvSpPr>
              <p:cNvPr id="14" name="TextBox 13">
                <a:extLst>
                  <a:ext uri="{FF2B5EF4-FFF2-40B4-BE49-F238E27FC236}">
                    <a16:creationId xmlns:a16="http://schemas.microsoft.com/office/drawing/2014/main" id="{CFC0662F-5865-6426-C30C-454507B563CF}"/>
                  </a:ext>
                </a:extLst>
              </p:cNvPr>
              <p:cNvSpPr txBox="1">
                <a:spLocks noRot="1" noChangeAspect="1" noMove="1" noResize="1" noEditPoints="1" noAdjustHandles="1" noChangeArrowheads="1" noChangeShapeType="1" noTextEdit="1"/>
              </p:cNvSpPr>
              <p:nvPr/>
            </p:nvSpPr>
            <p:spPr>
              <a:xfrm>
                <a:off x="4355274" y="2686055"/>
                <a:ext cx="195182" cy="246221"/>
              </a:xfrm>
              <a:prstGeom prst="rect">
                <a:avLst/>
              </a:prstGeom>
              <a:blipFill>
                <a:blip r:embed="rId4"/>
                <a:stretch>
                  <a:fillRect l="-21875" r="-21875" b="-5000"/>
                </a:stretch>
              </a:blipFill>
            </p:spPr>
            <p:txBody>
              <a:bodyPr/>
              <a:lstStyle/>
              <a:p>
                <a:r>
                  <a:rPr lang="en-US">
                    <a:noFill/>
                  </a:rPr>
                  <a:t> </a:t>
                </a:r>
              </a:p>
            </p:txBody>
          </p:sp>
        </mc:Fallback>
      </mc:AlternateContent>
      <p:cxnSp>
        <p:nvCxnSpPr>
          <p:cNvPr id="19" name="Straight Connector 18">
            <a:extLst>
              <a:ext uri="{FF2B5EF4-FFF2-40B4-BE49-F238E27FC236}">
                <a16:creationId xmlns:a16="http://schemas.microsoft.com/office/drawing/2014/main" id="{8E25C865-46CD-0AB1-535A-7F66C4DB60FF}"/>
              </a:ext>
            </a:extLst>
          </p:cNvPr>
          <p:cNvCxnSpPr>
            <a:cxnSpLocks/>
            <a:stCxn id="15" idx="4"/>
          </p:cNvCxnSpPr>
          <p:nvPr/>
        </p:nvCxnSpPr>
        <p:spPr>
          <a:xfrm>
            <a:off x="2252912" y="4308657"/>
            <a:ext cx="0" cy="142307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3B6A19E-3403-9243-E55E-6073C905D7C6}"/>
                  </a:ext>
                </a:extLst>
              </p:cNvPr>
              <p:cNvSpPr txBox="1"/>
              <p:nvPr/>
            </p:nvSpPr>
            <p:spPr>
              <a:xfrm>
                <a:off x="2009072" y="5686951"/>
                <a:ext cx="487680"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i="1" dirty="0">
                              <a:latin typeface="Cambria Math" panose="02040503050406030204" pitchFamily="18" charset="0"/>
                            </a:rPr>
                            <m:t>𝑌</m:t>
                          </m:r>
                        </m:e>
                        <m:sub>
                          <m:r>
                            <a:rPr lang="en-US" sz="1400" i="1" dirty="0">
                              <a:latin typeface="Cambria Math" panose="02040503050406030204" pitchFamily="18" charset="0"/>
                            </a:rPr>
                            <m:t>𝑇𝐵</m:t>
                          </m:r>
                        </m:sub>
                      </m:sSub>
                    </m:oMath>
                  </m:oMathPara>
                </a14:m>
                <a:endParaRPr lang="en-US" sz="1400" dirty="0"/>
              </a:p>
            </p:txBody>
          </p:sp>
        </mc:Choice>
        <mc:Fallback xmlns="">
          <p:sp>
            <p:nvSpPr>
              <p:cNvPr id="21" name="TextBox 20">
                <a:extLst>
                  <a:ext uri="{FF2B5EF4-FFF2-40B4-BE49-F238E27FC236}">
                    <a16:creationId xmlns:a16="http://schemas.microsoft.com/office/drawing/2014/main" id="{63B6A19E-3403-9243-E55E-6073C905D7C6}"/>
                  </a:ext>
                </a:extLst>
              </p:cNvPr>
              <p:cNvSpPr txBox="1">
                <a:spLocks noRot="1" noChangeAspect="1" noMove="1" noResize="1" noEditPoints="1" noAdjustHandles="1" noChangeArrowheads="1" noChangeShapeType="1" noTextEdit="1"/>
              </p:cNvSpPr>
              <p:nvPr/>
            </p:nvSpPr>
            <p:spPr>
              <a:xfrm>
                <a:off x="2009072" y="5686951"/>
                <a:ext cx="487680" cy="307777"/>
              </a:xfrm>
              <a:prstGeom prst="rect">
                <a:avLst/>
              </a:prstGeom>
              <a:blipFill>
                <a:blip r:embed="rId5"/>
                <a:stretch>
                  <a:fillRect/>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540A3D2A-9E3C-88EB-CAF6-B4E8A51D2A6B}"/>
              </a:ext>
            </a:extLst>
          </p:cNvPr>
          <p:cNvCxnSpPr/>
          <p:nvPr/>
        </p:nvCxnSpPr>
        <p:spPr>
          <a:xfrm flipH="1">
            <a:off x="791958" y="2110740"/>
            <a:ext cx="3627640" cy="3620988"/>
          </a:xfrm>
          <a:prstGeom prst="line">
            <a:avLst/>
          </a:prstGeom>
          <a:ln>
            <a:solidFill>
              <a:srgbClr val="FFC000"/>
            </a:solidFill>
            <a:prstDash val="dash"/>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FB4A1110-C062-EF0B-1420-28A87C3F8E3D}"/>
              </a:ext>
            </a:extLst>
          </p:cNvPr>
          <p:cNvSpPr/>
          <p:nvPr/>
        </p:nvSpPr>
        <p:spPr>
          <a:xfrm>
            <a:off x="2220908" y="4244649"/>
            <a:ext cx="64008" cy="6400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E025334-27E0-A7F1-1759-0A668F3B3854}"/>
                  </a:ext>
                </a:extLst>
              </p:cNvPr>
              <p:cNvSpPr txBox="1"/>
              <p:nvPr/>
            </p:nvSpPr>
            <p:spPr>
              <a:xfrm>
                <a:off x="4333730" y="3258548"/>
                <a:ext cx="23827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600" b="0" i="1" smtClean="0">
                              <a:solidFill>
                                <a:srgbClr val="0070C0"/>
                              </a:solidFill>
                              <a:latin typeface="Cambria Math" panose="02040503050406030204" pitchFamily="18" charset="0"/>
                            </a:rPr>
                          </m:ctrlPr>
                        </m:sSupPr>
                        <m:e>
                          <m:r>
                            <a:rPr lang="en-US" sz="1600" b="0" i="1" smtClean="0">
                              <a:solidFill>
                                <a:srgbClr val="0070C0"/>
                              </a:solidFill>
                              <a:latin typeface="Cambria Math" panose="02040503050406030204" pitchFamily="18" charset="0"/>
                            </a:rPr>
                            <m:t>𝑍</m:t>
                          </m:r>
                        </m:e>
                        <m:sup>
                          <m:r>
                            <a:rPr lang="en-US" sz="1600" b="0" i="1" smtClean="0">
                              <a:solidFill>
                                <a:srgbClr val="0070C0"/>
                              </a:solidFill>
                              <a:latin typeface="Cambria Math" panose="02040503050406030204" pitchFamily="18" charset="0"/>
                            </a:rPr>
                            <m:t>′</m:t>
                          </m:r>
                        </m:sup>
                      </m:sSup>
                    </m:oMath>
                  </m:oMathPara>
                </a14:m>
                <a:endParaRPr lang="en-US" sz="1600" dirty="0">
                  <a:solidFill>
                    <a:srgbClr val="0070C0"/>
                  </a:solidFill>
                </a:endParaRPr>
              </a:p>
            </p:txBody>
          </p:sp>
        </mc:Choice>
        <mc:Fallback xmlns="">
          <p:sp>
            <p:nvSpPr>
              <p:cNvPr id="36" name="TextBox 35">
                <a:extLst>
                  <a:ext uri="{FF2B5EF4-FFF2-40B4-BE49-F238E27FC236}">
                    <a16:creationId xmlns:a16="http://schemas.microsoft.com/office/drawing/2014/main" id="{2E025334-27E0-A7F1-1759-0A668F3B3854}"/>
                  </a:ext>
                </a:extLst>
              </p:cNvPr>
              <p:cNvSpPr txBox="1">
                <a:spLocks noRot="1" noChangeAspect="1" noMove="1" noResize="1" noEditPoints="1" noAdjustHandles="1" noChangeArrowheads="1" noChangeShapeType="1" noTextEdit="1"/>
              </p:cNvSpPr>
              <p:nvPr/>
            </p:nvSpPr>
            <p:spPr>
              <a:xfrm>
                <a:off x="4333730" y="3258548"/>
                <a:ext cx="238270" cy="246221"/>
              </a:xfrm>
              <a:prstGeom prst="rect">
                <a:avLst/>
              </a:prstGeom>
              <a:blipFill>
                <a:blip r:embed="rId6"/>
                <a:stretch>
                  <a:fillRect l="-20513" r="-5128" b="-5000"/>
                </a:stretch>
              </a:blipFill>
            </p:spPr>
            <p:txBody>
              <a:bodyPr/>
              <a:lstStyle/>
              <a:p>
                <a:r>
                  <a:rPr lang="en-US">
                    <a:noFill/>
                  </a:rPr>
                  <a:t> </a:t>
                </a:r>
              </a:p>
            </p:txBody>
          </p:sp>
        </mc:Fallback>
      </mc:AlternateContent>
      <p:sp>
        <p:nvSpPr>
          <p:cNvPr id="37" name="Oval 36">
            <a:extLst>
              <a:ext uri="{FF2B5EF4-FFF2-40B4-BE49-F238E27FC236}">
                <a16:creationId xmlns:a16="http://schemas.microsoft.com/office/drawing/2014/main" id="{D563105F-4179-D9D3-0FA6-BED7F11B7595}"/>
              </a:ext>
            </a:extLst>
          </p:cNvPr>
          <p:cNvSpPr/>
          <p:nvPr/>
        </p:nvSpPr>
        <p:spPr>
          <a:xfrm>
            <a:off x="3059108" y="3409696"/>
            <a:ext cx="64008" cy="6400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5" name="Straight Connector 44">
            <a:extLst>
              <a:ext uri="{FF2B5EF4-FFF2-40B4-BE49-F238E27FC236}">
                <a16:creationId xmlns:a16="http://schemas.microsoft.com/office/drawing/2014/main" id="{43A92AE9-4562-0052-38B5-52419C650844}"/>
              </a:ext>
            </a:extLst>
          </p:cNvPr>
          <p:cNvCxnSpPr>
            <a:stCxn id="37" idx="4"/>
          </p:cNvCxnSpPr>
          <p:nvPr/>
        </p:nvCxnSpPr>
        <p:spPr>
          <a:xfrm flipH="1">
            <a:off x="3086100" y="3473704"/>
            <a:ext cx="5012" cy="225802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1F4D09B5-046F-3AB0-5085-913B01581677}"/>
              </a:ext>
            </a:extLst>
          </p:cNvPr>
          <p:cNvSpPr/>
          <p:nvPr/>
        </p:nvSpPr>
        <p:spPr>
          <a:xfrm>
            <a:off x="3059108" y="3761421"/>
            <a:ext cx="64008" cy="6400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F7099D95-B61E-14E1-A02D-FDDB70918011}"/>
                  </a:ext>
                </a:extLst>
              </p:cNvPr>
              <p:cNvSpPr txBox="1"/>
              <p:nvPr/>
            </p:nvSpPr>
            <p:spPr>
              <a:xfrm>
                <a:off x="2861330" y="3166331"/>
                <a:ext cx="329116"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200" b="0" i="1" dirty="0" smtClean="0">
                              <a:latin typeface="Cambria Math" panose="02040503050406030204" pitchFamily="18" charset="0"/>
                            </a:rPr>
                          </m:ctrlPr>
                        </m:sSupPr>
                        <m:e>
                          <m:r>
                            <a:rPr lang="en-US" sz="1200" i="1" dirty="0" smtClean="0">
                              <a:latin typeface="Cambria Math" panose="02040503050406030204" pitchFamily="18" charset="0"/>
                            </a:rPr>
                            <m:t>𝐴</m:t>
                          </m:r>
                        </m:e>
                        <m:sup>
                          <m:r>
                            <a:rPr lang="en-US" sz="1200" b="0" i="1" dirty="0" smtClean="0">
                              <a:latin typeface="Cambria Math" panose="02040503050406030204" pitchFamily="18" charset="0"/>
                            </a:rPr>
                            <m:t>′</m:t>
                          </m:r>
                        </m:sup>
                      </m:sSup>
                    </m:oMath>
                  </m:oMathPara>
                </a14:m>
                <a:endParaRPr lang="en-US" sz="1200" dirty="0"/>
              </a:p>
            </p:txBody>
          </p:sp>
        </mc:Choice>
        <mc:Fallback xmlns="">
          <p:sp>
            <p:nvSpPr>
              <p:cNvPr id="47" name="TextBox 46">
                <a:extLst>
                  <a:ext uri="{FF2B5EF4-FFF2-40B4-BE49-F238E27FC236}">
                    <a16:creationId xmlns:a16="http://schemas.microsoft.com/office/drawing/2014/main" id="{F7099D95-B61E-14E1-A02D-FDDB70918011}"/>
                  </a:ext>
                </a:extLst>
              </p:cNvPr>
              <p:cNvSpPr txBox="1">
                <a:spLocks noRot="1" noChangeAspect="1" noMove="1" noResize="1" noEditPoints="1" noAdjustHandles="1" noChangeArrowheads="1" noChangeShapeType="1" noTextEdit="1"/>
              </p:cNvSpPr>
              <p:nvPr/>
            </p:nvSpPr>
            <p:spPr>
              <a:xfrm>
                <a:off x="2861330" y="3166331"/>
                <a:ext cx="329116" cy="27699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9A6D174E-FD4D-2C9A-4E4B-0031D88B22AE}"/>
                  </a:ext>
                </a:extLst>
              </p:cNvPr>
              <p:cNvSpPr txBox="1"/>
              <p:nvPr/>
            </p:nvSpPr>
            <p:spPr>
              <a:xfrm>
                <a:off x="2000881" y="4005636"/>
                <a:ext cx="329116"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0" i="1" dirty="0" smtClean="0">
                          <a:latin typeface="Cambria Math" panose="02040503050406030204" pitchFamily="18" charset="0"/>
                        </a:rPr>
                        <m:t>𝐴</m:t>
                      </m:r>
                    </m:oMath>
                  </m:oMathPara>
                </a14:m>
                <a:endParaRPr lang="en-US" sz="1200" dirty="0"/>
              </a:p>
            </p:txBody>
          </p:sp>
        </mc:Choice>
        <mc:Fallback xmlns="">
          <p:sp>
            <p:nvSpPr>
              <p:cNvPr id="48" name="TextBox 47">
                <a:extLst>
                  <a:ext uri="{FF2B5EF4-FFF2-40B4-BE49-F238E27FC236}">
                    <a16:creationId xmlns:a16="http://schemas.microsoft.com/office/drawing/2014/main" id="{9A6D174E-FD4D-2C9A-4E4B-0031D88B22AE}"/>
                  </a:ext>
                </a:extLst>
              </p:cNvPr>
              <p:cNvSpPr txBox="1">
                <a:spLocks noRot="1" noChangeAspect="1" noMove="1" noResize="1" noEditPoints="1" noAdjustHandles="1" noChangeArrowheads="1" noChangeShapeType="1" noTextEdit="1"/>
              </p:cNvSpPr>
              <p:nvPr/>
            </p:nvSpPr>
            <p:spPr>
              <a:xfrm>
                <a:off x="2000881" y="4005636"/>
                <a:ext cx="329116" cy="276999"/>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B6E7A9B-1539-70D8-7378-5B5CB05E910B}"/>
                  </a:ext>
                </a:extLst>
              </p:cNvPr>
              <p:cNvSpPr txBox="1"/>
              <p:nvPr/>
            </p:nvSpPr>
            <p:spPr>
              <a:xfrm>
                <a:off x="3025888" y="3724320"/>
                <a:ext cx="329116"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0" i="1" dirty="0" smtClean="0">
                          <a:latin typeface="Cambria Math" panose="02040503050406030204" pitchFamily="18" charset="0"/>
                        </a:rPr>
                        <m:t>𝐶</m:t>
                      </m:r>
                    </m:oMath>
                  </m:oMathPara>
                </a14:m>
                <a:endParaRPr lang="en-US" sz="1200" dirty="0"/>
              </a:p>
            </p:txBody>
          </p:sp>
        </mc:Choice>
        <mc:Fallback xmlns="">
          <p:sp>
            <p:nvSpPr>
              <p:cNvPr id="49" name="TextBox 48">
                <a:extLst>
                  <a:ext uri="{FF2B5EF4-FFF2-40B4-BE49-F238E27FC236}">
                    <a16:creationId xmlns:a16="http://schemas.microsoft.com/office/drawing/2014/main" id="{9B6E7A9B-1539-70D8-7378-5B5CB05E910B}"/>
                  </a:ext>
                </a:extLst>
              </p:cNvPr>
              <p:cNvSpPr txBox="1">
                <a:spLocks noRot="1" noChangeAspect="1" noMove="1" noResize="1" noEditPoints="1" noAdjustHandles="1" noChangeArrowheads="1" noChangeShapeType="1" noTextEdit="1"/>
              </p:cNvSpPr>
              <p:nvPr/>
            </p:nvSpPr>
            <p:spPr>
              <a:xfrm>
                <a:off x="3025888" y="3724320"/>
                <a:ext cx="329116" cy="276999"/>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B5C95AB-7D0E-6B5C-9478-BFD11C8CD7A1}"/>
                  </a:ext>
                </a:extLst>
              </p:cNvPr>
              <p:cNvSpPr txBox="1"/>
              <p:nvPr/>
            </p:nvSpPr>
            <p:spPr>
              <a:xfrm>
                <a:off x="2842260" y="5703148"/>
                <a:ext cx="487680"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𝑌</m:t>
                          </m:r>
                        </m:e>
                        <m:sup>
                          <m:r>
                            <a:rPr lang="en-US" sz="1400" i="1">
                              <a:latin typeface="Cambria Math" panose="02040503050406030204" pitchFamily="18" charset="0"/>
                            </a:rPr>
                            <m:t>∗′</m:t>
                          </m:r>
                        </m:sup>
                      </m:sSup>
                    </m:oMath>
                  </m:oMathPara>
                </a14:m>
                <a:endParaRPr lang="en-US" sz="1400" dirty="0"/>
              </a:p>
            </p:txBody>
          </p:sp>
        </mc:Choice>
        <mc:Fallback xmlns="">
          <p:sp>
            <p:nvSpPr>
              <p:cNvPr id="50" name="TextBox 49">
                <a:extLst>
                  <a:ext uri="{FF2B5EF4-FFF2-40B4-BE49-F238E27FC236}">
                    <a16:creationId xmlns:a16="http://schemas.microsoft.com/office/drawing/2014/main" id="{CB5C95AB-7D0E-6B5C-9478-BFD11C8CD7A1}"/>
                  </a:ext>
                </a:extLst>
              </p:cNvPr>
              <p:cNvSpPr txBox="1">
                <a:spLocks noRot="1" noChangeAspect="1" noMove="1" noResize="1" noEditPoints="1" noAdjustHandles="1" noChangeArrowheads="1" noChangeShapeType="1" noTextEdit="1"/>
              </p:cNvSpPr>
              <p:nvPr/>
            </p:nvSpPr>
            <p:spPr>
              <a:xfrm>
                <a:off x="2842260" y="5703148"/>
                <a:ext cx="487680" cy="307777"/>
              </a:xfrm>
              <a:prstGeom prst="rect">
                <a:avLst/>
              </a:prstGeom>
              <a:blipFill>
                <a:blip r:embed="rId10"/>
                <a:stretch>
                  <a:fillRect/>
                </a:stretch>
              </a:blipFill>
            </p:spPr>
            <p:txBody>
              <a:bodyPr/>
              <a:lstStyle/>
              <a:p>
                <a:r>
                  <a:rPr lang="en-US">
                    <a:noFill/>
                  </a:rPr>
                  <a:t> </a:t>
                </a:r>
              </a:p>
            </p:txBody>
          </p:sp>
        </mc:Fallback>
      </mc:AlternateContent>
      <p:cxnSp>
        <p:nvCxnSpPr>
          <p:cNvPr id="52" name="Straight Arrow Connector 51">
            <a:extLst>
              <a:ext uri="{FF2B5EF4-FFF2-40B4-BE49-F238E27FC236}">
                <a16:creationId xmlns:a16="http://schemas.microsoft.com/office/drawing/2014/main" id="{E17D6D30-52CE-7B4A-80E6-168CE4868595}"/>
              </a:ext>
            </a:extLst>
          </p:cNvPr>
          <p:cNvCxnSpPr/>
          <p:nvPr/>
        </p:nvCxnSpPr>
        <p:spPr>
          <a:xfrm flipV="1">
            <a:off x="995363" y="3825429"/>
            <a:ext cx="0" cy="608459"/>
          </a:xfrm>
          <a:prstGeom prst="straightConnector1">
            <a:avLst/>
          </a:prstGeom>
          <a:ln>
            <a:solidFill>
              <a:schemeClr val="tx1"/>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90DAE35F-DDC4-D165-70CA-1C727649FC5D}"/>
                  </a:ext>
                </a:extLst>
              </p:cNvPr>
              <p:cNvSpPr txBox="1"/>
              <p:nvPr/>
            </p:nvSpPr>
            <p:spPr>
              <a:xfrm>
                <a:off x="948305" y="3942682"/>
                <a:ext cx="47506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𝛥</m:t>
                      </m:r>
                      <m:r>
                        <a:rPr lang="en-US" b="0" i="1" smtClean="0">
                          <a:latin typeface="Cambria Math" panose="02040503050406030204" pitchFamily="18" charset="0"/>
                        </a:rPr>
                        <m:t>𝑋</m:t>
                      </m:r>
                    </m:oMath>
                  </m:oMathPara>
                </a14:m>
                <a:endParaRPr lang="en-US" dirty="0"/>
              </a:p>
            </p:txBody>
          </p:sp>
        </mc:Choice>
        <mc:Fallback xmlns="">
          <p:sp>
            <p:nvSpPr>
              <p:cNvPr id="54" name="TextBox 53">
                <a:extLst>
                  <a:ext uri="{FF2B5EF4-FFF2-40B4-BE49-F238E27FC236}">
                    <a16:creationId xmlns:a16="http://schemas.microsoft.com/office/drawing/2014/main" id="{90DAE35F-DDC4-D165-70CA-1C727649FC5D}"/>
                  </a:ext>
                </a:extLst>
              </p:cNvPr>
              <p:cNvSpPr txBox="1">
                <a:spLocks noRot="1" noChangeAspect="1" noMove="1" noResize="1" noEditPoints="1" noAdjustHandles="1" noChangeArrowheads="1" noChangeShapeType="1" noTextEdit="1"/>
              </p:cNvSpPr>
              <p:nvPr/>
            </p:nvSpPr>
            <p:spPr>
              <a:xfrm>
                <a:off x="948305" y="3942682"/>
                <a:ext cx="475067" cy="369332"/>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88374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48564AE-FC02-9F90-3D02-8C9DEA4F4D3F}"/>
              </a:ext>
            </a:extLst>
          </p:cNvPr>
          <p:cNvCxnSpPr>
            <a:cxnSpLocks/>
          </p:cNvCxnSpPr>
          <p:nvPr/>
        </p:nvCxnSpPr>
        <p:spPr>
          <a:xfrm flipV="1">
            <a:off x="861600" y="2315965"/>
            <a:ext cx="2527042" cy="17214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Changes to Demand:</a:t>
            </a:r>
            <a:br>
              <a:rPr lang="en-US" dirty="0"/>
            </a:br>
            <a:r>
              <a:rPr lang="en-US" dirty="0"/>
              <a:t>Foreign Demand</a:t>
            </a:r>
          </a:p>
        </p:txBody>
      </p:sp>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dirty="0"/>
              <a:t>Spring 2024</a:t>
            </a:r>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18</a:t>
            </a:fld>
            <a:endParaRPr lang="en-US" dirty="0"/>
          </a:p>
        </p:txBody>
      </p:sp>
      <p:cxnSp>
        <p:nvCxnSpPr>
          <p:cNvPr id="9" name="Straight Arrow Connector 8">
            <a:extLst>
              <a:ext uri="{FF2B5EF4-FFF2-40B4-BE49-F238E27FC236}">
                <a16:creationId xmlns:a16="http://schemas.microsoft.com/office/drawing/2014/main" id="{C232E70B-65A1-AC86-BDD7-361A8BA55D3D}"/>
              </a:ext>
            </a:extLst>
          </p:cNvPr>
          <p:cNvCxnSpPr/>
          <p:nvPr/>
        </p:nvCxnSpPr>
        <p:spPr>
          <a:xfrm>
            <a:off x="703294" y="4402875"/>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EC32647-EF98-85BB-C53E-4696F416F6D4}"/>
              </a:ext>
            </a:extLst>
          </p:cNvPr>
          <p:cNvCxnSpPr>
            <a:cxnSpLocks/>
          </p:cNvCxnSpPr>
          <p:nvPr/>
        </p:nvCxnSpPr>
        <p:spPr>
          <a:xfrm rot="16200000">
            <a:off x="-504996" y="3197225"/>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445ECD4-AD2C-9586-7F60-FB0FD7C4FFE5}"/>
              </a:ext>
            </a:extLst>
          </p:cNvPr>
          <p:cNvCxnSpPr>
            <a:cxnSpLocks/>
          </p:cNvCxnSpPr>
          <p:nvPr/>
        </p:nvCxnSpPr>
        <p:spPr>
          <a:xfrm>
            <a:off x="880014" y="5180695"/>
            <a:ext cx="2574266" cy="857638"/>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06470AF-3359-F148-EB8F-60284AEBD8B7}"/>
              </a:ext>
            </a:extLst>
          </p:cNvPr>
          <p:cNvSpPr txBox="1"/>
          <p:nvPr/>
        </p:nvSpPr>
        <p:spPr>
          <a:xfrm>
            <a:off x="3085071" y="4108081"/>
            <a:ext cx="708848" cy="307777"/>
          </a:xfrm>
          <a:prstGeom prst="rect">
            <a:avLst/>
          </a:prstGeom>
          <a:noFill/>
        </p:spPr>
        <p:txBody>
          <a:bodyPr wrap="none" rtlCol="0">
            <a:spAutoFit/>
          </a:bodyPr>
          <a:lstStyle/>
          <a:p>
            <a:r>
              <a:rPr lang="en-US" sz="1400" dirty="0"/>
              <a:t>Output</a:t>
            </a:r>
          </a:p>
        </p:txBody>
      </p:sp>
      <p:sp>
        <p:nvSpPr>
          <p:cNvPr id="12" name="TextBox 11">
            <a:extLst>
              <a:ext uri="{FF2B5EF4-FFF2-40B4-BE49-F238E27FC236}">
                <a16:creationId xmlns:a16="http://schemas.microsoft.com/office/drawing/2014/main" id="{18B9E9F8-0EB6-C9F6-2E3C-47DB9E65CCF9}"/>
              </a:ext>
            </a:extLst>
          </p:cNvPr>
          <p:cNvSpPr txBox="1"/>
          <p:nvPr/>
        </p:nvSpPr>
        <p:spPr>
          <a:xfrm rot="16200000">
            <a:off x="301581" y="2046700"/>
            <a:ext cx="803425" cy="307777"/>
          </a:xfrm>
          <a:prstGeom prst="rect">
            <a:avLst/>
          </a:prstGeom>
          <a:noFill/>
        </p:spPr>
        <p:txBody>
          <a:bodyPr wrap="none" rtlCol="0">
            <a:spAutoFit/>
          </a:bodyPr>
          <a:lstStyle/>
          <a:p>
            <a:r>
              <a:rPr lang="en-US" sz="1400" dirty="0"/>
              <a:t>Demand</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5CB1933-3E55-A919-DEF0-A5F3ED487933}"/>
                  </a:ext>
                </a:extLst>
              </p:cNvPr>
              <p:cNvSpPr txBox="1"/>
              <p:nvPr/>
            </p:nvSpPr>
            <p:spPr>
              <a:xfrm>
                <a:off x="3413725" y="2732700"/>
                <a:ext cx="17331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rgbClr val="0070C0"/>
                          </a:solidFill>
                          <a:latin typeface="Cambria Math" panose="02040503050406030204" pitchFamily="18" charset="0"/>
                        </a:rPr>
                        <m:t>𝑍</m:t>
                      </m:r>
                    </m:oMath>
                  </m:oMathPara>
                </a14:m>
                <a:endParaRPr lang="en-US" sz="1600" dirty="0">
                  <a:solidFill>
                    <a:srgbClr val="0070C0"/>
                  </a:solidFill>
                </a:endParaRPr>
              </a:p>
            </p:txBody>
          </p:sp>
        </mc:Choice>
        <mc:Fallback xmlns="">
          <p:sp>
            <p:nvSpPr>
              <p:cNvPr id="14" name="TextBox 13">
                <a:extLst>
                  <a:ext uri="{FF2B5EF4-FFF2-40B4-BE49-F238E27FC236}">
                    <a16:creationId xmlns:a16="http://schemas.microsoft.com/office/drawing/2014/main" id="{B5CB1933-3E55-A919-DEF0-A5F3ED487933}"/>
                  </a:ext>
                </a:extLst>
              </p:cNvPr>
              <p:cNvSpPr txBox="1">
                <a:spLocks noRot="1" noChangeAspect="1" noMove="1" noResize="1" noEditPoints="1" noAdjustHandles="1" noChangeArrowheads="1" noChangeShapeType="1" noTextEdit="1"/>
              </p:cNvSpPr>
              <p:nvPr/>
            </p:nvSpPr>
            <p:spPr>
              <a:xfrm>
                <a:off x="3413725" y="2732700"/>
                <a:ext cx="173316" cy="246221"/>
              </a:xfrm>
              <a:prstGeom prst="rect">
                <a:avLst/>
              </a:prstGeom>
              <a:blipFill>
                <a:blip r:embed="rId2"/>
                <a:stretch>
                  <a:fillRect l="-28571" r="-25000" b="-4878"/>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728A673D-640F-B6BC-2B39-45BC47C16553}"/>
              </a:ext>
            </a:extLst>
          </p:cNvPr>
          <p:cNvCxnSpPr>
            <a:cxnSpLocks/>
          </p:cNvCxnSpPr>
          <p:nvPr/>
        </p:nvCxnSpPr>
        <p:spPr>
          <a:xfrm flipH="1">
            <a:off x="866603" y="1917585"/>
            <a:ext cx="2501019" cy="2483278"/>
          </a:xfrm>
          <a:prstGeom prst="straightConnector1">
            <a:avLst/>
          </a:prstGeom>
          <a:ln>
            <a:solidFill>
              <a:srgbClr val="FFC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3DDD585-B5AD-B2AB-5C5E-A4170E44B06F}"/>
              </a:ext>
            </a:extLst>
          </p:cNvPr>
          <p:cNvCxnSpPr/>
          <p:nvPr/>
        </p:nvCxnSpPr>
        <p:spPr>
          <a:xfrm>
            <a:off x="703294" y="5576518"/>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75CAD38-3672-D5A9-290C-57A40565E986}"/>
                  </a:ext>
                </a:extLst>
              </p:cNvPr>
              <p:cNvSpPr txBox="1"/>
              <p:nvPr/>
            </p:nvSpPr>
            <p:spPr>
              <a:xfrm rot="16200000">
                <a:off x="486914" y="4722833"/>
                <a:ext cx="47596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dirty="0" smtClean="0">
                          <a:latin typeface="Cambria Math" panose="02040503050406030204" pitchFamily="18" charset="0"/>
                        </a:rPr>
                        <m:t>𝑁𝑋</m:t>
                      </m:r>
                    </m:oMath>
                  </m:oMathPara>
                </a14:m>
                <a:endParaRPr lang="en-US" sz="1400" dirty="0"/>
              </a:p>
            </p:txBody>
          </p:sp>
        </mc:Choice>
        <mc:Fallback xmlns="">
          <p:sp>
            <p:nvSpPr>
              <p:cNvPr id="20" name="TextBox 19">
                <a:extLst>
                  <a:ext uri="{FF2B5EF4-FFF2-40B4-BE49-F238E27FC236}">
                    <a16:creationId xmlns:a16="http://schemas.microsoft.com/office/drawing/2014/main" id="{E75CAD38-3672-D5A9-290C-57A40565E986}"/>
                  </a:ext>
                </a:extLst>
              </p:cNvPr>
              <p:cNvSpPr txBox="1">
                <a:spLocks noRot="1" noChangeAspect="1" noMove="1" noResize="1" noEditPoints="1" noAdjustHandles="1" noChangeArrowheads="1" noChangeShapeType="1" noTextEdit="1"/>
              </p:cNvSpPr>
              <p:nvPr/>
            </p:nvSpPr>
            <p:spPr>
              <a:xfrm rot="16200000">
                <a:off x="486914" y="4722833"/>
                <a:ext cx="475964" cy="307777"/>
              </a:xfrm>
              <a:prstGeom prst="rect">
                <a:avLst/>
              </a:prstGeom>
              <a:blipFill>
                <a:blip r:embed="rId3"/>
                <a:stretch>
                  <a:fillRect/>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D9ED65C3-2371-057E-EAEC-293974ABA3D9}"/>
              </a:ext>
            </a:extLst>
          </p:cNvPr>
          <p:cNvSpPr txBox="1"/>
          <p:nvPr/>
        </p:nvSpPr>
        <p:spPr>
          <a:xfrm>
            <a:off x="3085071" y="5261780"/>
            <a:ext cx="708848" cy="307777"/>
          </a:xfrm>
          <a:prstGeom prst="rect">
            <a:avLst/>
          </a:prstGeom>
          <a:noFill/>
        </p:spPr>
        <p:txBody>
          <a:bodyPr wrap="none" rtlCol="0">
            <a:spAutoFit/>
          </a:bodyPr>
          <a:lstStyle/>
          <a:p>
            <a:r>
              <a:rPr lang="en-US" sz="1400" dirty="0"/>
              <a:t>Output</a:t>
            </a:r>
          </a:p>
        </p:txBody>
      </p:sp>
      <p:sp>
        <p:nvSpPr>
          <p:cNvPr id="22" name="Oval 21">
            <a:extLst>
              <a:ext uri="{FF2B5EF4-FFF2-40B4-BE49-F238E27FC236}">
                <a16:creationId xmlns:a16="http://schemas.microsoft.com/office/drawing/2014/main" id="{2D876AD9-58D5-E226-D8FD-94B6C46680CC}"/>
              </a:ext>
            </a:extLst>
          </p:cNvPr>
          <p:cNvSpPr/>
          <p:nvPr/>
        </p:nvSpPr>
        <p:spPr>
          <a:xfrm>
            <a:off x="2030666" y="5542501"/>
            <a:ext cx="64008" cy="6400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102F162-C7E9-386F-26A7-E544503BF731}"/>
                  </a:ext>
                </a:extLst>
              </p:cNvPr>
              <p:cNvSpPr txBox="1"/>
              <p:nvPr/>
            </p:nvSpPr>
            <p:spPr>
              <a:xfrm>
                <a:off x="2074894" y="4409839"/>
                <a:ext cx="30373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𝑌</m:t>
                          </m:r>
                        </m:e>
                        <m:sub>
                          <m:r>
                            <a:rPr lang="en-US" sz="1400" i="1">
                              <a:latin typeface="Cambria Math" panose="02040503050406030204" pitchFamily="18" charset="0"/>
                            </a:rPr>
                            <m:t>𝑇𝐵</m:t>
                          </m:r>
                        </m:sub>
                      </m:sSub>
                    </m:oMath>
                  </m:oMathPara>
                </a14:m>
                <a:endParaRPr lang="en-US" sz="1400" dirty="0"/>
              </a:p>
            </p:txBody>
          </p:sp>
        </mc:Choice>
        <mc:Fallback xmlns="">
          <p:sp>
            <p:nvSpPr>
              <p:cNvPr id="25" name="TextBox 24">
                <a:extLst>
                  <a:ext uri="{FF2B5EF4-FFF2-40B4-BE49-F238E27FC236}">
                    <a16:creationId xmlns:a16="http://schemas.microsoft.com/office/drawing/2014/main" id="{3102F162-C7E9-386F-26A7-E544503BF731}"/>
                  </a:ext>
                </a:extLst>
              </p:cNvPr>
              <p:cNvSpPr txBox="1">
                <a:spLocks noRot="1" noChangeAspect="1" noMove="1" noResize="1" noEditPoints="1" noAdjustHandles="1" noChangeArrowheads="1" noChangeShapeType="1" noTextEdit="1"/>
              </p:cNvSpPr>
              <p:nvPr/>
            </p:nvSpPr>
            <p:spPr>
              <a:xfrm>
                <a:off x="2074894" y="4409839"/>
                <a:ext cx="303736" cy="215444"/>
              </a:xfrm>
              <a:prstGeom prst="rect">
                <a:avLst/>
              </a:prstGeom>
              <a:blipFill>
                <a:blip r:embed="rId4"/>
                <a:stretch>
                  <a:fillRect l="-14000" r="-2000" b="-11111"/>
                </a:stretch>
              </a:blipFill>
            </p:spPr>
            <p:txBody>
              <a:bodyPr/>
              <a:lstStyle/>
              <a:p>
                <a:r>
                  <a:rPr lang="en-US">
                    <a:noFill/>
                  </a:rPr>
                  <a:t> </a:t>
                </a:r>
              </a:p>
            </p:txBody>
          </p:sp>
        </mc:Fallback>
      </mc:AlternateContent>
      <p:cxnSp>
        <p:nvCxnSpPr>
          <p:cNvPr id="30" name="Straight Connector 29">
            <a:extLst>
              <a:ext uri="{FF2B5EF4-FFF2-40B4-BE49-F238E27FC236}">
                <a16:creationId xmlns:a16="http://schemas.microsoft.com/office/drawing/2014/main" id="{E8D13CA6-E83E-7714-59B0-040E5D41EE5D}"/>
              </a:ext>
            </a:extLst>
          </p:cNvPr>
          <p:cNvCxnSpPr>
            <a:cxnSpLocks/>
          </p:cNvCxnSpPr>
          <p:nvPr/>
        </p:nvCxnSpPr>
        <p:spPr>
          <a:xfrm flipV="1">
            <a:off x="866603" y="2857615"/>
            <a:ext cx="2513560" cy="672366"/>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690E30B9-8017-D1D8-11F8-28A8D623A8D3}"/>
              </a:ext>
            </a:extLst>
          </p:cNvPr>
          <p:cNvSpPr/>
          <p:nvPr/>
        </p:nvSpPr>
        <p:spPr>
          <a:xfrm>
            <a:off x="2030666" y="3179204"/>
            <a:ext cx="64008" cy="6400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8" name="Content Placeholder 3">
                <a:extLst>
                  <a:ext uri="{FF2B5EF4-FFF2-40B4-BE49-F238E27FC236}">
                    <a16:creationId xmlns:a16="http://schemas.microsoft.com/office/drawing/2014/main" id="{2DC14353-35AC-A7AB-AFA7-F36D50081826}"/>
                  </a:ext>
                </a:extLst>
              </p:cNvPr>
              <p:cNvSpPr txBox="1">
                <a:spLocks/>
              </p:cNvSpPr>
              <p:nvPr/>
            </p:nvSpPr>
            <p:spPr>
              <a:xfrm>
                <a:off x="3793919" y="1825625"/>
                <a:ext cx="472142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shift from </a:t>
                </a:r>
                <a14:m>
                  <m:oMath xmlns:m="http://schemas.openxmlformats.org/officeDocument/2006/math">
                    <m:r>
                      <a:rPr lang="en-US" i="1">
                        <a:latin typeface="Cambria Math" panose="02040503050406030204" pitchFamily="18" charset="0"/>
                      </a:rPr>
                      <m:t>𝑍</m:t>
                    </m:r>
                  </m:oMath>
                </a14:m>
                <a:r>
                  <a:rPr lang="en-US" dirty="0"/>
                  <a:t> to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𝑍</m:t>
                        </m:r>
                      </m:e>
                      <m:sup>
                        <m:r>
                          <a:rPr lang="en-US" i="1">
                            <a:latin typeface="Cambria Math" panose="02040503050406030204" pitchFamily="18" charset="0"/>
                          </a:rPr>
                          <m:t>′</m:t>
                        </m:r>
                      </m:sup>
                    </m:sSup>
                  </m:oMath>
                </a14:m>
                <a:r>
                  <a:rPr lang="en-US" dirty="0"/>
                  <a:t> was due to an increase in exports by </a:t>
                </a:r>
                <a14:m>
                  <m:oMath xmlns:m="http://schemas.openxmlformats.org/officeDocument/2006/math">
                    <m:r>
                      <a:rPr lang="en-US" i="1">
                        <a:latin typeface="Cambria Math" panose="02040503050406030204" pitchFamily="18" charset="0"/>
                      </a:rPr>
                      <m:t>𝛥</m:t>
                    </m:r>
                    <m:r>
                      <a:rPr lang="en-US" i="1">
                        <a:latin typeface="Cambria Math" panose="02040503050406030204" pitchFamily="18" charset="0"/>
                      </a:rPr>
                      <m:t>𝑋</m:t>
                    </m:r>
                  </m:oMath>
                </a14:m>
                <a:r>
                  <a:rPr lang="en-US" dirty="0"/>
                  <a:t>.</a:t>
                </a:r>
              </a:p>
              <a:p>
                <a:pPr lvl="3"/>
                <a:endParaRPr lang="en-US" dirty="0"/>
              </a:p>
              <a:p>
                <a:r>
                  <a:rPr lang="en-US" dirty="0"/>
                  <a:t>Since exports increased by </a:t>
                </a:r>
                <a14:m>
                  <m:oMath xmlns:m="http://schemas.openxmlformats.org/officeDocument/2006/math">
                    <m:r>
                      <a:rPr lang="en-US" i="1">
                        <a:latin typeface="Cambria Math" panose="02040503050406030204" pitchFamily="18" charset="0"/>
                      </a:rPr>
                      <m:t>𝛥</m:t>
                    </m:r>
                    <m:r>
                      <a:rPr lang="en-US" i="1">
                        <a:latin typeface="Cambria Math" panose="02040503050406030204" pitchFamily="18" charset="0"/>
                      </a:rPr>
                      <m:t>𝑋</m:t>
                    </m:r>
                  </m:oMath>
                </a14:m>
                <a:r>
                  <a:rPr lang="en-US" dirty="0"/>
                  <a:t>, </a:t>
                </a:r>
                <a14:m>
                  <m:oMath xmlns:m="http://schemas.openxmlformats.org/officeDocument/2006/math">
                    <m:r>
                      <a:rPr lang="en-US" b="0" i="1" smtClean="0">
                        <a:latin typeface="Cambria Math" panose="02040503050406030204" pitchFamily="18" charset="0"/>
                      </a:rPr>
                      <m:t>𝑁𝑋</m:t>
                    </m:r>
                  </m:oMath>
                </a14:m>
                <a:r>
                  <a:rPr lang="en-US" dirty="0"/>
                  <a:t> must also shift up by </a:t>
                </a:r>
                <a14:m>
                  <m:oMath xmlns:m="http://schemas.openxmlformats.org/officeDocument/2006/math">
                    <m:r>
                      <a:rPr lang="en-US" i="1">
                        <a:latin typeface="Cambria Math" panose="02040503050406030204" pitchFamily="18" charset="0"/>
                      </a:rPr>
                      <m:t>𝛥</m:t>
                    </m:r>
                    <m:r>
                      <a:rPr lang="en-US" i="1">
                        <a:latin typeface="Cambria Math" panose="02040503050406030204" pitchFamily="18" charset="0"/>
                      </a:rPr>
                      <m:t>𝑋</m:t>
                    </m:r>
                  </m:oMath>
                </a14:m>
                <a:r>
                  <a:rPr lang="en-US" dirty="0"/>
                  <a:t>.</a:t>
                </a:r>
              </a:p>
              <a:p>
                <a:pPr lvl="3"/>
                <a:endParaRPr lang="en-US" dirty="0"/>
              </a:p>
              <a:p>
                <a:r>
                  <a:rPr lang="en-US" dirty="0"/>
                  <a:t>While increased domestic output will lead to an increase in the domestic demand for foreign goods, it will not overpower the increase in exports.</a:t>
                </a:r>
              </a:p>
            </p:txBody>
          </p:sp>
        </mc:Choice>
        <mc:Fallback xmlns="">
          <p:sp>
            <p:nvSpPr>
              <p:cNvPr id="38" name="Content Placeholder 3">
                <a:extLst>
                  <a:ext uri="{FF2B5EF4-FFF2-40B4-BE49-F238E27FC236}">
                    <a16:creationId xmlns:a16="http://schemas.microsoft.com/office/drawing/2014/main" id="{2DC14353-35AC-A7AB-AFA7-F36D50081826}"/>
                  </a:ext>
                </a:extLst>
              </p:cNvPr>
              <p:cNvSpPr txBox="1">
                <a:spLocks noRot="1" noChangeAspect="1" noMove="1" noResize="1" noEditPoints="1" noAdjustHandles="1" noChangeArrowheads="1" noChangeShapeType="1" noTextEdit="1"/>
              </p:cNvSpPr>
              <p:nvPr/>
            </p:nvSpPr>
            <p:spPr>
              <a:xfrm>
                <a:off x="3793919" y="1825625"/>
                <a:ext cx="4721429" cy="4351338"/>
              </a:xfrm>
              <a:prstGeom prst="rect">
                <a:avLst/>
              </a:prstGeom>
              <a:blipFill>
                <a:blip r:embed="rId5"/>
                <a:stretch>
                  <a:fillRect l="-1677" t="-1821" r="-1677"/>
                </a:stretch>
              </a:blipFill>
            </p:spPr>
            <p:txBody>
              <a:bodyPr/>
              <a:lstStyle/>
              <a:p>
                <a:r>
                  <a:rPr lang="en-US">
                    <a:noFill/>
                  </a:rPr>
                  <a:t> </a:t>
                </a:r>
              </a:p>
            </p:txBody>
          </p:sp>
        </mc:Fallback>
      </mc:AlternateContent>
      <p:cxnSp>
        <p:nvCxnSpPr>
          <p:cNvPr id="42" name="Straight Connector 41">
            <a:extLst>
              <a:ext uri="{FF2B5EF4-FFF2-40B4-BE49-F238E27FC236}">
                <a16:creationId xmlns:a16="http://schemas.microsoft.com/office/drawing/2014/main" id="{C3D20D49-C998-B04C-1274-BC8091C3F3F6}"/>
              </a:ext>
            </a:extLst>
          </p:cNvPr>
          <p:cNvCxnSpPr>
            <a:cxnSpLocks/>
            <a:stCxn id="22" idx="0"/>
          </p:cNvCxnSpPr>
          <p:nvPr/>
        </p:nvCxnSpPr>
        <p:spPr>
          <a:xfrm flipV="1">
            <a:off x="2062670" y="3214688"/>
            <a:ext cx="0" cy="232781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AAC311D2-5434-28DD-04CF-77C7C6CBEC4D}"/>
                  </a:ext>
                </a:extLst>
              </p:cNvPr>
              <p:cNvSpPr txBox="1"/>
              <p:nvPr/>
            </p:nvSpPr>
            <p:spPr>
              <a:xfrm>
                <a:off x="2580951" y="4417775"/>
                <a:ext cx="27135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smtClean="0">
                              <a:solidFill>
                                <a:schemeClr val="tx1"/>
                              </a:solidFill>
                              <a:latin typeface="Cambria Math" panose="02040503050406030204" pitchFamily="18" charset="0"/>
                            </a:rPr>
                          </m:ctrlPr>
                        </m:sSupPr>
                        <m:e>
                          <m:r>
                            <a:rPr lang="en-US" sz="1400" b="0" i="1" smtClean="0">
                              <a:solidFill>
                                <a:schemeClr val="tx1"/>
                              </a:solidFill>
                              <a:latin typeface="Cambria Math" panose="02040503050406030204" pitchFamily="18" charset="0"/>
                            </a:rPr>
                            <m:t>𝑌</m:t>
                          </m:r>
                        </m:e>
                        <m:sup>
                          <m:r>
                            <a:rPr lang="en-US" sz="1400" b="0" i="1" smtClean="0">
                              <a:solidFill>
                                <a:schemeClr val="tx1"/>
                              </a:solidFill>
                              <a:latin typeface="Cambria Math" panose="02040503050406030204" pitchFamily="18" charset="0"/>
                            </a:rPr>
                            <m:t>∗′</m:t>
                          </m:r>
                        </m:sup>
                      </m:sSup>
                    </m:oMath>
                  </m:oMathPara>
                </a14:m>
                <a:endParaRPr lang="en-US" sz="1400" dirty="0">
                  <a:solidFill>
                    <a:schemeClr val="tx1"/>
                  </a:solidFill>
                </a:endParaRPr>
              </a:p>
            </p:txBody>
          </p:sp>
        </mc:Choice>
        <mc:Fallback xmlns="">
          <p:sp>
            <p:nvSpPr>
              <p:cNvPr id="48" name="TextBox 47">
                <a:extLst>
                  <a:ext uri="{FF2B5EF4-FFF2-40B4-BE49-F238E27FC236}">
                    <a16:creationId xmlns:a16="http://schemas.microsoft.com/office/drawing/2014/main" id="{AAC311D2-5434-28DD-04CF-77C7C6CBEC4D}"/>
                  </a:ext>
                </a:extLst>
              </p:cNvPr>
              <p:cNvSpPr txBox="1">
                <a:spLocks noRot="1" noChangeAspect="1" noMove="1" noResize="1" noEditPoints="1" noAdjustHandles="1" noChangeArrowheads="1" noChangeShapeType="1" noTextEdit="1"/>
              </p:cNvSpPr>
              <p:nvPr/>
            </p:nvSpPr>
            <p:spPr>
              <a:xfrm>
                <a:off x="2580951" y="4417775"/>
                <a:ext cx="271356" cy="215444"/>
              </a:xfrm>
              <a:prstGeom prst="rect">
                <a:avLst/>
              </a:prstGeom>
              <a:blipFill>
                <a:blip r:embed="rId6"/>
                <a:stretch>
                  <a:fillRect l="-15556"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F90605C2-C451-825A-1A52-240FD735B3E9}"/>
                  </a:ext>
                </a:extLst>
              </p:cNvPr>
              <p:cNvSpPr txBox="1"/>
              <p:nvPr/>
            </p:nvSpPr>
            <p:spPr>
              <a:xfrm>
                <a:off x="1757366" y="5593788"/>
                <a:ext cx="30373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tx1"/>
                              </a:solidFill>
                              <a:latin typeface="Cambria Math" panose="02040503050406030204" pitchFamily="18" charset="0"/>
                            </a:rPr>
                          </m:ctrlPr>
                        </m:sSubPr>
                        <m:e>
                          <m:r>
                            <a:rPr lang="en-US" sz="1400" b="0" i="1" smtClean="0">
                              <a:solidFill>
                                <a:schemeClr val="tx1"/>
                              </a:solidFill>
                              <a:latin typeface="Cambria Math" panose="02040503050406030204" pitchFamily="18" charset="0"/>
                            </a:rPr>
                            <m:t>𝑌</m:t>
                          </m:r>
                        </m:e>
                        <m:sub>
                          <m:r>
                            <a:rPr lang="en-US" sz="1400" b="0" i="1" smtClean="0">
                              <a:solidFill>
                                <a:schemeClr val="tx1"/>
                              </a:solidFill>
                              <a:latin typeface="Cambria Math" panose="02040503050406030204" pitchFamily="18" charset="0"/>
                            </a:rPr>
                            <m:t>𝑇𝐵</m:t>
                          </m:r>
                        </m:sub>
                      </m:sSub>
                    </m:oMath>
                  </m:oMathPara>
                </a14:m>
                <a:endParaRPr lang="en-US" sz="1400" dirty="0">
                  <a:solidFill>
                    <a:schemeClr val="tx1"/>
                  </a:solidFill>
                </a:endParaRPr>
              </a:p>
            </p:txBody>
          </p:sp>
        </mc:Choice>
        <mc:Fallback xmlns="">
          <p:sp>
            <p:nvSpPr>
              <p:cNvPr id="49" name="TextBox 48">
                <a:extLst>
                  <a:ext uri="{FF2B5EF4-FFF2-40B4-BE49-F238E27FC236}">
                    <a16:creationId xmlns:a16="http://schemas.microsoft.com/office/drawing/2014/main" id="{F90605C2-C451-825A-1A52-240FD735B3E9}"/>
                  </a:ext>
                </a:extLst>
              </p:cNvPr>
              <p:cNvSpPr txBox="1">
                <a:spLocks noRot="1" noChangeAspect="1" noMove="1" noResize="1" noEditPoints="1" noAdjustHandles="1" noChangeArrowheads="1" noChangeShapeType="1" noTextEdit="1"/>
              </p:cNvSpPr>
              <p:nvPr/>
            </p:nvSpPr>
            <p:spPr>
              <a:xfrm>
                <a:off x="1757366" y="5593788"/>
                <a:ext cx="303738" cy="215444"/>
              </a:xfrm>
              <a:prstGeom prst="rect">
                <a:avLst/>
              </a:prstGeom>
              <a:blipFill>
                <a:blip r:embed="rId4"/>
                <a:stretch>
                  <a:fillRect l="-14000" r="-2000"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358A21F-87F2-1C9E-D9C7-BC05FDCC6D90}"/>
                  </a:ext>
                </a:extLst>
              </p:cNvPr>
              <p:cNvSpPr txBox="1"/>
              <p:nvPr/>
            </p:nvSpPr>
            <p:spPr>
              <a:xfrm>
                <a:off x="3407454" y="2128447"/>
                <a:ext cx="19518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rgbClr val="FF0000"/>
                          </a:solidFill>
                          <a:latin typeface="Cambria Math" panose="02040503050406030204" pitchFamily="18" charset="0"/>
                        </a:rPr>
                        <m:t>𝐷</m:t>
                      </m:r>
                    </m:oMath>
                  </m:oMathPara>
                </a14:m>
                <a:endParaRPr lang="en-US" sz="1600" dirty="0">
                  <a:solidFill>
                    <a:srgbClr val="FF0000"/>
                  </a:solidFill>
                </a:endParaRPr>
              </a:p>
            </p:txBody>
          </p:sp>
        </mc:Choice>
        <mc:Fallback xmlns="">
          <p:sp>
            <p:nvSpPr>
              <p:cNvPr id="8" name="TextBox 7">
                <a:extLst>
                  <a:ext uri="{FF2B5EF4-FFF2-40B4-BE49-F238E27FC236}">
                    <a16:creationId xmlns:a16="http://schemas.microsoft.com/office/drawing/2014/main" id="{9358A21F-87F2-1C9E-D9C7-BC05FDCC6D90}"/>
                  </a:ext>
                </a:extLst>
              </p:cNvPr>
              <p:cNvSpPr txBox="1">
                <a:spLocks noRot="1" noChangeAspect="1" noMove="1" noResize="1" noEditPoints="1" noAdjustHandles="1" noChangeArrowheads="1" noChangeShapeType="1" noTextEdit="1"/>
              </p:cNvSpPr>
              <p:nvPr/>
            </p:nvSpPr>
            <p:spPr>
              <a:xfrm>
                <a:off x="3407454" y="2128447"/>
                <a:ext cx="195182" cy="246221"/>
              </a:xfrm>
              <a:prstGeom prst="rect">
                <a:avLst/>
              </a:prstGeom>
              <a:blipFill>
                <a:blip r:embed="rId7"/>
                <a:stretch>
                  <a:fillRect l="-25000" r="-18750" b="-4878"/>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A0409A18-86FC-2537-835C-8E71A55C2D23}"/>
              </a:ext>
            </a:extLst>
          </p:cNvPr>
          <p:cNvCxnSpPr>
            <a:cxnSpLocks/>
          </p:cNvCxnSpPr>
          <p:nvPr/>
        </p:nvCxnSpPr>
        <p:spPr>
          <a:xfrm flipV="1">
            <a:off x="870843" y="2534268"/>
            <a:ext cx="2513560" cy="672366"/>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E0B70B3-5A26-0039-0391-F1A29F0E950F}"/>
                  </a:ext>
                </a:extLst>
              </p:cNvPr>
              <p:cNvSpPr txBox="1"/>
              <p:nvPr/>
            </p:nvSpPr>
            <p:spPr>
              <a:xfrm>
                <a:off x="3407454" y="2434862"/>
                <a:ext cx="23827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600" b="0" i="1" smtClean="0">
                              <a:solidFill>
                                <a:srgbClr val="0070C0"/>
                              </a:solidFill>
                              <a:latin typeface="Cambria Math" panose="02040503050406030204" pitchFamily="18" charset="0"/>
                            </a:rPr>
                          </m:ctrlPr>
                        </m:sSupPr>
                        <m:e>
                          <m:r>
                            <a:rPr lang="en-US" sz="1600" b="0" i="1" smtClean="0">
                              <a:solidFill>
                                <a:srgbClr val="0070C0"/>
                              </a:solidFill>
                              <a:latin typeface="Cambria Math" panose="02040503050406030204" pitchFamily="18" charset="0"/>
                            </a:rPr>
                            <m:t>𝑍</m:t>
                          </m:r>
                        </m:e>
                        <m:sup>
                          <m:r>
                            <a:rPr lang="en-US" sz="1600" b="0" i="1" smtClean="0">
                              <a:solidFill>
                                <a:srgbClr val="0070C0"/>
                              </a:solidFill>
                              <a:latin typeface="Cambria Math" panose="02040503050406030204" pitchFamily="18" charset="0"/>
                            </a:rPr>
                            <m:t>′</m:t>
                          </m:r>
                        </m:sup>
                      </m:sSup>
                    </m:oMath>
                  </m:oMathPara>
                </a14:m>
                <a:endParaRPr lang="en-US" sz="1600" dirty="0">
                  <a:solidFill>
                    <a:srgbClr val="0070C0"/>
                  </a:solidFill>
                </a:endParaRPr>
              </a:p>
            </p:txBody>
          </p:sp>
        </mc:Choice>
        <mc:Fallback xmlns="">
          <p:sp>
            <p:nvSpPr>
              <p:cNvPr id="23" name="TextBox 22">
                <a:extLst>
                  <a:ext uri="{FF2B5EF4-FFF2-40B4-BE49-F238E27FC236}">
                    <a16:creationId xmlns:a16="http://schemas.microsoft.com/office/drawing/2014/main" id="{4E0B70B3-5A26-0039-0391-F1A29F0E950F}"/>
                  </a:ext>
                </a:extLst>
              </p:cNvPr>
              <p:cNvSpPr txBox="1">
                <a:spLocks noRot="1" noChangeAspect="1" noMove="1" noResize="1" noEditPoints="1" noAdjustHandles="1" noChangeArrowheads="1" noChangeShapeType="1" noTextEdit="1"/>
              </p:cNvSpPr>
              <p:nvPr/>
            </p:nvSpPr>
            <p:spPr>
              <a:xfrm>
                <a:off x="3407454" y="2434862"/>
                <a:ext cx="238270" cy="246221"/>
              </a:xfrm>
              <a:prstGeom prst="rect">
                <a:avLst/>
              </a:prstGeom>
              <a:blipFill>
                <a:blip r:embed="rId8"/>
                <a:stretch>
                  <a:fillRect l="-20513" r="-5128" b="-4878"/>
                </a:stretch>
              </a:blipFill>
            </p:spPr>
            <p:txBody>
              <a:bodyPr/>
              <a:lstStyle/>
              <a:p>
                <a:r>
                  <a:rPr lang="en-US">
                    <a:noFill/>
                  </a:rPr>
                  <a:t> </a:t>
                </a:r>
              </a:p>
            </p:txBody>
          </p:sp>
        </mc:Fallback>
      </mc:AlternateContent>
      <p:sp>
        <p:nvSpPr>
          <p:cNvPr id="29" name="Oval 28">
            <a:extLst>
              <a:ext uri="{FF2B5EF4-FFF2-40B4-BE49-F238E27FC236}">
                <a16:creationId xmlns:a16="http://schemas.microsoft.com/office/drawing/2014/main" id="{07AB4BD9-90BD-D367-B234-2A350114C5B5}"/>
              </a:ext>
            </a:extLst>
          </p:cNvPr>
          <p:cNvSpPr/>
          <p:nvPr/>
        </p:nvSpPr>
        <p:spPr>
          <a:xfrm>
            <a:off x="2484093" y="2732700"/>
            <a:ext cx="64008" cy="6400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3" name="Straight Connector 32">
            <a:extLst>
              <a:ext uri="{FF2B5EF4-FFF2-40B4-BE49-F238E27FC236}">
                <a16:creationId xmlns:a16="http://schemas.microsoft.com/office/drawing/2014/main" id="{5B34EE41-9FD9-D786-B09E-67132029644B}"/>
              </a:ext>
            </a:extLst>
          </p:cNvPr>
          <p:cNvCxnSpPr>
            <a:cxnSpLocks/>
            <a:stCxn id="29" idx="4"/>
          </p:cNvCxnSpPr>
          <p:nvPr/>
        </p:nvCxnSpPr>
        <p:spPr>
          <a:xfrm>
            <a:off x="2516097" y="2796708"/>
            <a:ext cx="0" cy="277284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FEA7E3BF-15BE-2E0A-CC5A-92EF173A9689}"/>
              </a:ext>
            </a:extLst>
          </p:cNvPr>
          <p:cNvSpPr/>
          <p:nvPr/>
        </p:nvSpPr>
        <p:spPr>
          <a:xfrm>
            <a:off x="2486373" y="2877262"/>
            <a:ext cx="64008" cy="6400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AC9EA21-A09B-C65D-4146-E797E2A175CC}"/>
                  </a:ext>
                </a:extLst>
              </p:cNvPr>
              <p:cNvSpPr txBox="1"/>
              <p:nvPr/>
            </p:nvSpPr>
            <p:spPr>
              <a:xfrm>
                <a:off x="3293846" y="6070589"/>
                <a:ext cx="29129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accent4">
                              <a:lumMod val="75000"/>
                            </a:schemeClr>
                          </a:solidFill>
                          <a:latin typeface="Cambria Math" panose="02040503050406030204" pitchFamily="18" charset="0"/>
                        </a:rPr>
                        <m:t>𝑁𝑋</m:t>
                      </m:r>
                    </m:oMath>
                  </m:oMathPara>
                </a14:m>
                <a:endParaRPr lang="en-US" sz="1400" dirty="0">
                  <a:solidFill>
                    <a:schemeClr val="accent4">
                      <a:lumMod val="75000"/>
                    </a:schemeClr>
                  </a:solidFill>
                </a:endParaRPr>
              </a:p>
            </p:txBody>
          </p:sp>
        </mc:Choice>
        <mc:Fallback xmlns="">
          <p:sp>
            <p:nvSpPr>
              <p:cNvPr id="35" name="TextBox 34">
                <a:extLst>
                  <a:ext uri="{FF2B5EF4-FFF2-40B4-BE49-F238E27FC236}">
                    <a16:creationId xmlns:a16="http://schemas.microsoft.com/office/drawing/2014/main" id="{5AC9EA21-A09B-C65D-4146-E797E2A175CC}"/>
                  </a:ext>
                </a:extLst>
              </p:cNvPr>
              <p:cNvSpPr txBox="1">
                <a:spLocks noRot="1" noChangeAspect="1" noMove="1" noResize="1" noEditPoints="1" noAdjustHandles="1" noChangeArrowheads="1" noChangeShapeType="1" noTextEdit="1"/>
              </p:cNvSpPr>
              <p:nvPr/>
            </p:nvSpPr>
            <p:spPr>
              <a:xfrm>
                <a:off x="3293846" y="6070589"/>
                <a:ext cx="291298" cy="215444"/>
              </a:xfrm>
              <a:prstGeom prst="rect">
                <a:avLst/>
              </a:prstGeom>
              <a:blipFill>
                <a:blip r:embed="rId9"/>
                <a:stretch>
                  <a:fillRect l="-14583" r="-10417" b="-5714"/>
                </a:stretch>
              </a:blipFill>
            </p:spPr>
            <p:txBody>
              <a:bodyPr/>
              <a:lstStyle/>
              <a:p>
                <a:r>
                  <a:rPr lang="en-US">
                    <a:noFill/>
                  </a:rPr>
                  <a:t> </a:t>
                </a:r>
              </a:p>
            </p:txBody>
          </p:sp>
        </mc:Fallback>
      </mc:AlternateContent>
      <p:cxnSp>
        <p:nvCxnSpPr>
          <p:cNvPr id="36" name="Straight Connector 35">
            <a:extLst>
              <a:ext uri="{FF2B5EF4-FFF2-40B4-BE49-F238E27FC236}">
                <a16:creationId xmlns:a16="http://schemas.microsoft.com/office/drawing/2014/main" id="{9C541D2C-BC5F-E048-CB1B-A7D9060CA211}"/>
              </a:ext>
            </a:extLst>
          </p:cNvPr>
          <p:cNvCxnSpPr>
            <a:cxnSpLocks/>
          </p:cNvCxnSpPr>
          <p:nvPr/>
        </p:nvCxnSpPr>
        <p:spPr>
          <a:xfrm>
            <a:off x="874113" y="4887030"/>
            <a:ext cx="2574266" cy="857638"/>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91896AA-2FAB-EB68-EB30-5583E80538D5}"/>
              </a:ext>
            </a:extLst>
          </p:cNvPr>
          <p:cNvCxnSpPr>
            <a:cxnSpLocks/>
          </p:cNvCxnSpPr>
          <p:nvPr/>
        </p:nvCxnSpPr>
        <p:spPr>
          <a:xfrm flipV="1">
            <a:off x="880014" y="4692001"/>
            <a:ext cx="0" cy="1568840"/>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4A5E1D9-DDBC-1E3B-C03E-45A43AD428DA}"/>
                  </a:ext>
                </a:extLst>
              </p:cNvPr>
              <p:cNvSpPr txBox="1"/>
              <p:nvPr/>
            </p:nvSpPr>
            <p:spPr>
              <a:xfrm>
                <a:off x="2293900" y="2541793"/>
                <a:ext cx="329116"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050" b="0" i="1" dirty="0" smtClean="0">
                              <a:latin typeface="Cambria Math" panose="02040503050406030204" pitchFamily="18" charset="0"/>
                            </a:rPr>
                          </m:ctrlPr>
                        </m:sSupPr>
                        <m:e>
                          <m:r>
                            <a:rPr lang="en-US" sz="1050" i="1" dirty="0" smtClean="0">
                              <a:latin typeface="Cambria Math" panose="02040503050406030204" pitchFamily="18" charset="0"/>
                            </a:rPr>
                            <m:t>𝐴</m:t>
                          </m:r>
                        </m:e>
                        <m:sup>
                          <m:r>
                            <a:rPr lang="en-US" sz="1050" b="0" i="1" dirty="0" smtClean="0">
                              <a:latin typeface="Cambria Math" panose="02040503050406030204" pitchFamily="18" charset="0"/>
                            </a:rPr>
                            <m:t>′</m:t>
                          </m:r>
                        </m:sup>
                      </m:sSup>
                    </m:oMath>
                  </m:oMathPara>
                </a14:m>
                <a:endParaRPr lang="en-US" sz="1050" dirty="0"/>
              </a:p>
            </p:txBody>
          </p:sp>
        </mc:Choice>
        <mc:Fallback xmlns="">
          <p:sp>
            <p:nvSpPr>
              <p:cNvPr id="43" name="TextBox 42">
                <a:extLst>
                  <a:ext uri="{FF2B5EF4-FFF2-40B4-BE49-F238E27FC236}">
                    <a16:creationId xmlns:a16="http://schemas.microsoft.com/office/drawing/2014/main" id="{64A5E1D9-DDBC-1E3B-C03E-45A43AD428DA}"/>
                  </a:ext>
                </a:extLst>
              </p:cNvPr>
              <p:cNvSpPr txBox="1">
                <a:spLocks noRot="1" noChangeAspect="1" noMove="1" noResize="1" noEditPoints="1" noAdjustHandles="1" noChangeArrowheads="1" noChangeShapeType="1" noTextEdit="1"/>
              </p:cNvSpPr>
              <p:nvPr/>
            </p:nvSpPr>
            <p:spPr>
              <a:xfrm>
                <a:off x="2293900" y="2541793"/>
                <a:ext cx="329116" cy="26161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6EA73A5-DBF7-2DCE-163E-40F1FA05DF82}"/>
                  </a:ext>
                </a:extLst>
              </p:cNvPr>
              <p:cNvSpPr txBox="1"/>
              <p:nvPr/>
            </p:nvSpPr>
            <p:spPr>
              <a:xfrm>
                <a:off x="2445699" y="2840703"/>
                <a:ext cx="329116"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050" b="0" i="1" dirty="0" smtClean="0">
                          <a:latin typeface="Cambria Math" panose="02040503050406030204" pitchFamily="18" charset="0"/>
                        </a:rPr>
                        <m:t>𝐶</m:t>
                      </m:r>
                    </m:oMath>
                  </m:oMathPara>
                </a14:m>
                <a:endParaRPr lang="en-US" sz="1050" dirty="0"/>
              </a:p>
            </p:txBody>
          </p:sp>
        </mc:Choice>
        <mc:Fallback xmlns="">
          <p:sp>
            <p:nvSpPr>
              <p:cNvPr id="46" name="TextBox 45">
                <a:extLst>
                  <a:ext uri="{FF2B5EF4-FFF2-40B4-BE49-F238E27FC236}">
                    <a16:creationId xmlns:a16="http://schemas.microsoft.com/office/drawing/2014/main" id="{96EA73A5-DBF7-2DCE-163E-40F1FA05DF82}"/>
                  </a:ext>
                </a:extLst>
              </p:cNvPr>
              <p:cNvSpPr txBox="1">
                <a:spLocks noRot="1" noChangeAspect="1" noMove="1" noResize="1" noEditPoints="1" noAdjustHandles="1" noChangeArrowheads="1" noChangeShapeType="1" noTextEdit="1"/>
              </p:cNvSpPr>
              <p:nvPr/>
            </p:nvSpPr>
            <p:spPr>
              <a:xfrm>
                <a:off x="2445699" y="2840703"/>
                <a:ext cx="329116" cy="26161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90AA476-4183-CDD0-6929-6A98B116350D}"/>
                  </a:ext>
                </a:extLst>
              </p:cNvPr>
              <p:cNvSpPr txBox="1"/>
              <p:nvPr/>
            </p:nvSpPr>
            <p:spPr>
              <a:xfrm>
                <a:off x="1819785" y="2987962"/>
                <a:ext cx="329116"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050" b="0" i="1" dirty="0" smtClean="0">
                          <a:latin typeface="Cambria Math" panose="02040503050406030204" pitchFamily="18" charset="0"/>
                        </a:rPr>
                        <m:t>𝐴</m:t>
                      </m:r>
                    </m:oMath>
                  </m:oMathPara>
                </a14:m>
                <a:endParaRPr lang="en-US" sz="1050" dirty="0"/>
              </a:p>
            </p:txBody>
          </p:sp>
        </mc:Choice>
        <mc:Fallback xmlns="">
          <p:sp>
            <p:nvSpPr>
              <p:cNvPr id="50" name="TextBox 49">
                <a:extLst>
                  <a:ext uri="{FF2B5EF4-FFF2-40B4-BE49-F238E27FC236}">
                    <a16:creationId xmlns:a16="http://schemas.microsoft.com/office/drawing/2014/main" id="{390AA476-4183-CDD0-6929-6A98B116350D}"/>
                  </a:ext>
                </a:extLst>
              </p:cNvPr>
              <p:cNvSpPr txBox="1">
                <a:spLocks noRot="1" noChangeAspect="1" noMove="1" noResize="1" noEditPoints="1" noAdjustHandles="1" noChangeArrowheads="1" noChangeShapeType="1" noTextEdit="1"/>
              </p:cNvSpPr>
              <p:nvPr/>
            </p:nvSpPr>
            <p:spPr>
              <a:xfrm>
                <a:off x="1819785" y="2987962"/>
                <a:ext cx="329116" cy="26161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AA8A869-9A5B-374A-7CF5-5F88FF5B2856}"/>
                  </a:ext>
                </a:extLst>
              </p:cNvPr>
              <p:cNvSpPr txBox="1"/>
              <p:nvPr/>
            </p:nvSpPr>
            <p:spPr>
              <a:xfrm>
                <a:off x="3483519" y="5636946"/>
                <a:ext cx="35381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accent4">
                              <a:lumMod val="75000"/>
                            </a:schemeClr>
                          </a:solidFill>
                          <a:latin typeface="Cambria Math" panose="02040503050406030204" pitchFamily="18" charset="0"/>
                        </a:rPr>
                        <m:t>𝑁</m:t>
                      </m:r>
                      <m:sSup>
                        <m:sSupPr>
                          <m:ctrlPr>
                            <a:rPr lang="en-US" sz="1400" b="0" i="1" smtClean="0">
                              <a:solidFill>
                                <a:schemeClr val="accent4">
                                  <a:lumMod val="75000"/>
                                </a:schemeClr>
                              </a:solidFill>
                              <a:latin typeface="Cambria Math" panose="02040503050406030204" pitchFamily="18" charset="0"/>
                            </a:rPr>
                          </m:ctrlPr>
                        </m:sSupPr>
                        <m:e>
                          <m:r>
                            <a:rPr lang="en-US" sz="1400" b="0" i="1" smtClean="0">
                              <a:solidFill>
                                <a:schemeClr val="accent4">
                                  <a:lumMod val="75000"/>
                                </a:schemeClr>
                              </a:solidFill>
                              <a:latin typeface="Cambria Math" panose="02040503050406030204" pitchFamily="18" charset="0"/>
                            </a:rPr>
                            <m:t>𝑋</m:t>
                          </m:r>
                        </m:e>
                        <m:sup>
                          <m:r>
                            <a:rPr lang="en-US" sz="1400" b="0" i="1" smtClean="0">
                              <a:solidFill>
                                <a:schemeClr val="accent4">
                                  <a:lumMod val="75000"/>
                                </a:schemeClr>
                              </a:solidFill>
                              <a:latin typeface="Cambria Math" panose="02040503050406030204" pitchFamily="18" charset="0"/>
                            </a:rPr>
                            <m:t>′</m:t>
                          </m:r>
                        </m:sup>
                      </m:sSup>
                    </m:oMath>
                  </m:oMathPara>
                </a14:m>
                <a:endParaRPr lang="en-US" sz="1400" dirty="0">
                  <a:solidFill>
                    <a:schemeClr val="accent4">
                      <a:lumMod val="75000"/>
                    </a:schemeClr>
                  </a:solidFill>
                </a:endParaRPr>
              </a:p>
            </p:txBody>
          </p:sp>
        </mc:Choice>
        <mc:Fallback xmlns="">
          <p:sp>
            <p:nvSpPr>
              <p:cNvPr id="51" name="TextBox 50">
                <a:extLst>
                  <a:ext uri="{FF2B5EF4-FFF2-40B4-BE49-F238E27FC236}">
                    <a16:creationId xmlns:a16="http://schemas.microsoft.com/office/drawing/2014/main" id="{CAA8A869-9A5B-374A-7CF5-5F88FF5B2856}"/>
                  </a:ext>
                </a:extLst>
              </p:cNvPr>
              <p:cNvSpPr txBox="1">
                <a:spLocks noRot="1" noChangeAspect="1" noMove="1" noResize="1" noEditPoints="1" noAdjustHandles="1" noChangeArrowheads="1" noChangeShapeType="1" noTextEdit="1"/>
              </p:cNvSpPr>
              <p:nvPr/>
            </p:nvSpPr>
            <p:spPr>
              <a:xfrm>
                <a:off x="3483519" y="5636946"/>
                <a:ext cx="353815" cy="215444"/>
              </a:xfrm>
              <a:prstGeom prst="rect">
                <a:avLst/>
              </a:prstGeom>
              <a:blipFill>
                <a:blip r:embed="rId13"/>
                <a:stretch>
                  <a:fillRect l="-12069" r="-1724" b="-5714"/>
                </a:stretch>
              </a:blipFill>
            </p:spPr>
            <p:txBody>
              <a:bodyPr/>
              <a:lstStyle/>
              <a:p>
                <a:r>
                  <a:rPr lang="en-US">
                    <a:noFill/>
                  </a:rPr>
                  <a:t> </a:t>
                </a:r>
              </a:p>
            </p:txBody>
          </p:sp>
        </mc:Fallback>
      </mc:AlternateContent>
    </p:spTree>
    <p:extLst>
      <p:ext uri="{BB962C8B-B14F-4D97-AF65-F5344CB8AC3E}">
        <p14:creationId xmlns:p14="http://schemas.microsoft.com/office/powerpoint/2010/main" val="276723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10"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par>
                                <p:cTn id="29" presetID="10" presetClass="entr" presetSubtype="0" fill="hold"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50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fade">
                                      <p:cBhvr>
                                        <p:cTn id="37" dur="500"/>
                                        <p:tgtEl>
                                          <p:spTgt spid="4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500"/>
                                        <p:tgtEl>
                                          <p:spTgt spid="8"/>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5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5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500"/>
                                        <p:tgtEl>
                                          <p:spTgt spid="3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3"/>
                                        </p:tgtEl>
                                        <p:attrNameLst>
                                          <p:attrName>style.visibility</p:attrName>
                                        </p:attrNameLst>
                                      </p:cBhvr>
                                      <p:to>
                                        <p:strVal val="visible"/>
                                      </p:to>
                                    </p:set>
                                    <p:animEffect transition="in" filter="fade">
                                      <p:cBhvr>
                                        <p:cTn id="55" dur="500"/>
                                        <p:tgtEl>
                                          <p:spTgt spid="4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6"/>
                                        </p:tgtEl>
                                        <p:attrNameLst>
                                          <p:attrName>style.visibility</p:attrName>
                                        </p:attrNameLst>
                                      </p:cBhvr>
                                      <p:to>
                                        <p:strVal val="visible"/>
                                      </p:to>
                                    </p:set>
                                    <p:animEffect transition="in" filter="fade">
                                      <p:cBhvr>
                                        <p:cTn id="58" dur="500"/>
                                        <p:tgtEl>
                                          <p:spTgt spid="4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0"/>
                                        </p:tgtEl>
                                        <p:attrNameLst>
                                          <p:attrName>style.visibility</p:attrName>
                                        </p:attrNameLst>
                                      </p:cBhvr>
                                      <p:to>
                                        <p:strVal val="visible"/>
                                      </p:to>
                                    </p:set>
                                    <p:animEffect transition="in" filter="fade">
                                      <p:cBhvr>
                                        <p:cTn id="61" dur="500"/>
                                        <p:tgtEl>
                                          <p:spTgt spid="5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00"/>
                                        <p:tgtEl>
                                          <p:spTgt spid="20"/>
                                        </p:tgtEl>
                                      </p:cBhvr>
                                    </p:animEffect>
                                  </p:childTnLst>
                                </p:cTn>
                              </p:par>
                              <p:par>
                                <p:cTn id="71" presetID="10" presetClass="entr" presetSubtype="0" fill="hold" nodeType="withEffect">
                                  <p:stCondLst>
                                    <p:cond delay="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500"/>
                                        <p:tgtEl>
                                          <p:spTgt spid="17"/>
                                        </p:tgtEl>
                                      </p:cBhvr>
                                    </p:animEffect>
                                  </p:childTnLst>
                                </p:cTn>
                              </p:par>
                              <p:par>
                                <p:cTn id="74" presetID="10" presetClass="entr" presetSubtype="0" fill="hold" nodeType="with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00"/>
                                        <p:tgtEl>
                                          <p:spTgt spid="1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9"/>
                                        </p:tgtEl>
                                        <p:attrNameLst>
                                          <p:attrName>style.visibility</p:attrName>
                                        </p:attrNameLst>
                                      </p:cBhvr>
                                      <p:to>
                                        <p:strVal val="visible"/>
                                      </p:to>
                                    </p:set>
                                    <p:animEffect transition="in" filter="fade">
                                      <p:cBhvr>
                                        <p:cTn id="79" dur="500"/>
                                        <p:tgtEl>
                                          <p:spTgt spid="4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5"/>
                                        </p:tgtEl>
                                        <p:attrNameLst>
                                          <p:attrName>style.visibility</p:attrName>
                                        </p:attrNameLst>
                                      </p:cBhvr>
                                      <p:to>
                                        <p:strVal val="visible"/>
                                      </p:to>
                                    </p:set>
                                    <p:animEffect transition="in" filter="fade">
                                      <p:cBhvr>
                                        <p:cTn id="82" dur="500"/>
                                        <p:tgtEl>
                                          <p:spTgt spid="35"/>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500"/>
                                        <p:tgtEl>
                                          <p:spTgt spid="21"/>
                                        </p:tgtEl>
                                      </p:cBhvr>
                                    </p:animEffect>
                                  </p:childTnLst>
                                </p:cTn>
                              </p:par>
                              <p:par>
                                <p:cTn id="86" presetID="10" presetClass="entr" presetSubtype="0" fill="hold" nodeType="withEffect">
                                  <p:stCondLst>
                                    <p:cond delay="0"/>
                                  </p:stCondLst>
                                  <p:childTnLst>
                                    <p:set>
                                      <p:cBhvr>
                                        <p:cTn id="87" dur="1" fill="hold">
                                          <p:stCondLst>
                                            <p:cond delay="0"/>
                                          </p:stCondLst>
                                        </p:cTn>
                                        <p:tgtEl>
                                          <p:spTgt spid="42"/>
                                        </p:tgtEl>
                                        <p:attrNameLst>
                                          <p:attrName>style.visibility</p:attrName>
                                        </p:attrNameLst>
                                      </p:cBhvr>
                                      <p:to>
                                        <p:strVal val="visible"/>
                                      </p:to>
                                    </p:set>
                                    <p:animEffect transition="in" filter="fade">
                                      <p:cBhvr>
                                        <p:cTn id="88" dur="500"/>
                                        <p:tgtEl>
                                          <p:spTgt spid="42"/>
                                        </p:tgtEl>
                                      </p:cBhvr>
                                    </p:animEffect>
                                  </p:childTnLst>
                                </p:cTn>
                              </p:par>
                              <p:par>
                                <p:cTn id="89" presetID="10" presetClass="entr" presetSubtype="0" fill="hold" nodeType="with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nodeType="withEffect">
                                  <p:stCondLst>
                                    <p:cond delay="0"/>
                                  </p:stCondLst>
                                  <p:childTnLst>
                                    <p:set>
                                      <p:cBhvr>
                                        <p:cTn id="93" dur="1" fill="hold">
                                          <p:stCondLst>
                                            <p:cond delay="0"/>
                                          </p:stCondLst>
                                        </p:cTn>
                                        <p:tgtEl>
                                          <p:spTgt spid="38">
                                            <p:txEl>
                                              <p:pRg st="0" end="0"/>
                                            </p:txEl>
                                          </p:spTgt>
                                        </p:tgtEl>
                                        <p:attrNameLst>
                                          <p:attrName>style.visibility</p:attrName>
                                        </p:attrNameLst>
                                      </p:cBhvr>
                                      <p:to>
                                        <p:strVal val="visible"/>
                                      </p:to>
                                    </p:set>
                                    <p:animEffect transition="in" filter="fade">
                                      <p:cBhvr>
                                        <p:cTn id="94" dur="500"/>
                                        <p:tgtEl>
                                          <p:spTgt spid="38">
                                            <p:txEl>
                                              <p:pRg st="0" end="0"/>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38">
                                            <p:txEl>
                                              <p:pRg st="2" end="2"/>
                                            </p:txEl>
                                          </p:spTgt>
                                        </p:tgtEl>
                                        <p:attrNameLst>
                                          <p:attrName>style.visibility</p:attrName>
                                        </p:attrNameLst>
                                      </p:cBhvr>
                                      <p:to>
                                        <p:strVal val="visible"/>
                                      </p:to>
                                    </p:set>
                                    <p:animEffect transition="in" filter="fade">
                                      <p:cBhvr>
                                        <p:cTn id="99" dur="500"/>
                                        <p:tgtEl>
                                          <p:spTgt spid="38">
                                            <p:txEl>
                                              <p:pRg st="2" end="2"/>
                                            </p:txEl>
                                          </p:spTgt>
                                        </p:tgtEl>
                                      </p:cBhvr>
                                    </p:animEffect>
                                  </p:childTnLst>
                                </p:cTn>
                              </p:par>
                              <p:par>
                                <p:cTn id="100" presetID="10" presetClass="entr" presetSubtype="0" fill="hold" nodeType="withEffect">
                                  <p:stCondLst>
                                    <p:cond delay="0"/>
                                  </p:stCondLst>
                                  <p:childTnLst>
                                    <p:set>
                                      <p:cBhvr>
                                        <p:cTn id="101" dur="1" fill="hold">
                                          <p:stCondLst>
                                            <p:cond delay="0"/>
                                          </p:stCondLst>
                                        </p:cTn>
                                        <p:tgtEl>
                                          <p:spTgt spid="36"/>
                                        </p:tgtEl>
                                        <p:attrNameLst>
                                          <p:attrName>style.visibility</p:attrName>
                                        </p:attrNameLst>
                                      </p:cBhvr>
                                      <p:to>
                                        <p:strVal val="visible"/>
                                      </p:to>
                                    </p:set>
                                    <p:animEffect transition="in" filter="fade">
                                      <p:cBhvr>
                                        <p:cTn id="102" dur="500"/>
                                        <p:tgtEl>
                                          <p:spTgt spid="3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1"/>
                                        </p:tgtEl>
                                        <p:attrNameLst>
                                          <p:attrName>style.visibility</p:attrName>
                                        </p:attrNameLst>
                                      </p:cBhvr>
                                      <p:to>
                                        <p:strVal val="visible"/>
                                      </p:to>
                                    </p:set>
                                    <p:animEffect transition="in" filter="fade">
                                      <p:cBhvr>
                                        <p:cTn id="105" dur="500"/>
                                        <p:tgtEl>
                                          <p:spTgt spid="51"/>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nodeType="clickEffect">
                                  <p:stCondLst>
                                    <p:cond delay="0"/>
                                  </p:stCondLst>
                                  <p:childTnLst>
                                    <p:set>
                                      <p:cBhvr>
                                        <p:cTn id="109" dur="1" fill="hold">
                                          <p:stCondLst>
                                            <p:cond delay="0"/>
                                          </p:stCondLst>
                                        </p:cTn>
                                        <p:tgtEl>
                                          <p:spTgt spid="38">
                                            <p:txEl>
                                              <p:pRg st="4" end="4"/>
                                            </p:txEl>
                                          </p:spTgt>
                                        </p:tgtEl>
                                        <p:attrNameLst>
                                          <p:attrName>style.visibility</p:attrName>
                                        </p:attrNameLst>
                                      </p:cBhvr>
                                      <p:to>
                                        <p:strVal val="visible"/>
                                      </p:to>
                                    </p:set>
                                    <p:animEffect transition="in" filter="fade">
                                      <p:cBhvr>
                                        <p:cTn id="110" dur="500"/>
                                        <p:tgtEl>
                                          <p:spTgt spid="3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p:bldP spid="20" grpId="0"/>
      <p:bldP spid="21" grpId="0"/>
      <p:bldP spid="22" grpId="0" animBg="1"/>
      <p:bldP spid="25" grpId="0"/>
      <p:bldP spid="31" grpId="0" animBg="1"/>
      <p:bldP spid="48" grpId="0"/>
      <p:bldP spid="49" grpId="0"/>
      <p:bldP spid="8" grpId="0"/>
      <p:bldP spid="23" grpId="0"/>
      <p:bldP spid="29" grpId="0" animBg="1"/>
      <p:bldP spid="34" grpId="0" animBg="1"/>
      <p:bldP spid="35" grpId="0"/>
      <p:bldP spid="43" grpId="0"/>
      <p:bldP spid="46" grpId="0"/>
      <p:bldP spid="50" grpId="0"/>
      <p:bldP spid="5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Changes to Demand:</a:t>
            </a:r>
            <a:br>
              <a:rPr lang="en-US" dirty="0"/>
            </a:br>
            <a:r>
              <a:rPr lang="en-US" dirty="0"/>
              <a:t>Foreign Demand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6BE3FD-D149-E947-1228-E11B36CD05B2}"/>
                  </a:ext>
                </a:extLst>
              </p:cNvPr>
              <p:cNvSpPr>
                <a:spLocks noGrp="1"/>
              </p:cNvSpPr>
              <p:nvPr>
                <p:ph idx="1"/>
              </p:nvPr>
            </p:nvSpPr>
            <p:spPr>
              <a:xfrm>
                <a:off x="628649" y="1825625"/>
                <a:ext cx="8067482" cy="4351338"/>
              </a:xfrm>
            </p:spPr>
            <p:txBody>
              <a:bodyPr/>
              <a:lstStyle/>
              <a:p>
                <a:r>
                  <a:rPr lang="en-US" dirty="0"/>
                  <a:t>An increase in foreign demand leads to an increase in domestic output, and an improvement in the trade balance.</a:t>
                </a:r>
              </a:p>
              <a:p>
                <a:pPr lvl="3"/>
                <a:endParaRPr lang="en-US" dirty="0"/>
              </a:p>
              <a:p>
                <a:r>
                  <a:rPr lang="en-US" dirty="0"/>
                  <a:t>Since domestic output increases, domestic demand for goods will increase, and imports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𝐼𝑀</m:t>
                    </m:r>
                    <m:r>
                      <a:rPr lang="en-US" i="1" dirty="0" smtClean="0">
                        <a:latin typeface="Cambria Math" panose="02040503050406030204" pitchFamily="18" charset="0"/>
                      </a:rPr>
                      <m:t>)</m:t>
                    </m:r>
                  </m:oMath>
                </a14:m>
                <a:r>
                  <a:rPr lang="en-US" dirty="0"/>
                  <a:t> will also increase.</a:t>
                </a:r>
              </a:p>
              <a:p>
                <a:pPr lvl="3"/>
                <a:endParaRPr lang="en-US" dirty="0"/>
              </a:p>
              <a:p>
                <a:r>
                  <a:rPr lang="en-US" dirty="0"/>
                  <a:t>This is the main reason that the change in net exports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𝑁𝑋</m:t>
                    </m:r>
                    <m:r>
                      <a:rPr lang="en-US" i="1" dirty="0" smtClean="0">
                        <a:latin typeface="Cambria Math" panose="02040503050406030204" pitchFamily="18" charset="0"/>
                      </a:rPr>
                      <m:t>)</m:t>
                    </m:r>
                  </m:oMath>
                </a14:m>
                <a:r>
                  <a:rPr lang="en-US" dirty="0"/>
                  <a:t> is not equal to the raw increase in exports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𝑋</m:t>
                    </m:r>
                    <m:r>
                      <a:rPr lang="en-US" i="1" dirty="0" smtClean="0">
                        <a:latin typeface="Cambria Math" panose="02040503050406030204" pitchFamily="18" charset="0"/>
                      </a:rPr>
                      <m:t>)</m:t>
                    </m:r>
                  </m:oMath>
                </a14:m>
                <a:r>
                  <a:rPr lang="en-US" dirty="0"/>
                  <a:t>.</a:t>
                </a:r>
              </a:p>
              <a:p>
                <a:pPr lvl="3"/>
                <a:endParaRPr lang="en-US" dirty="0"/>
              </a:p>
              <a:p>
                <a:endParaRPr lang="en-US" dirty="0"/>
              </a:p>
            </p:txBody>
          </p:sp>
        </mc:Choice>
        <mc:Fallback xmlns="">
          <p:sp>
            <p:nvSpPr>
              <p:cNvPr id="3" name="Content Placeholder 2">
                <a:extLst>
                  <a:ext uri="{FF2B5EF4-FFF2-40B4-BE49-F238E27FC236}">
                    <a16:creationId xmlns:a16="http://schemas.microsoft.com/office/drawing/2014/main" id="{C46BE3FD-D149-E947-1228-E11B36CD05B2}"/>
                  </a:ext>
                </a:extLst>
              </p:cNvPr>
              <p:cNvSpPr>
                <a:spLocks noGrp="1" noRot="1" noChangeAspect="1" noMove="1" noResize="1" noEditPoints="1" noAdjustHandles="1" noChangeArrowheads="1" noChangeShapeType="1" noTextEdit="1"/>
              </p:cNvSpPr>
              <p:nvPr>
                <p:ph idx="1"/>
              </p:nvPr>
            </p:nvSpPr>
            <p:spPr>
              <a:xfrm>
                <a:off x="628649" y="1825625"/>
                <a:ext cx="8067482" cy="4351338"/>
              </a:xfrm>
              <a:blipFill>
                <a:blip r:embed="rId2"/>
                <a:stretch>
                  <a:fillRect l="-982" t="-1821" r="-83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dirty="0"/>
              <a:t>Spring 2024</a:t>
            </a:r>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19</a:t>
            </a:fld>
            <a:endParaRPr lang="en-US" dirty="0"/>
          </a:p>
        </p:txBody>
      </p:sp>
    </p:spTree>
    <p:extLst>
      <p:ext uri="{BB962C8B-B14F-4D97-AF65-F5344CB8AC3E}">
        <p14:creationId xmlns:p14="http://schemas.microsoft.com/office/powerpoint/2010/main" val="1257959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Consequences of Openness</a:t>
            </a:r>
          </a:p>
        </p:txBody>
      </p:sp>
      <p:sp>
        <p:nvSpPr>
          <p:cNvPr id="3" name="Content Placeholder 2">
            <a:extLst>
              <a:ext uri="{FF2B5EF4-FFF2-40B4-BE49-F238E27FC236}">
                <a16:creationId xmlns:a16="http://schemas.microsoft.com/office/drawing/2014/main" id="{C46BE3FD-D149-E947-1228-E11B36CD05B2}"/>
              </a:ext>
            </a:extLst>
          </p:cNvPr>
          <p:cNvSpPr>
            <a:spLocks noGrp="1"/>
          </p:cNvSpPr>
          <p:nvPr>
            <p:ph idx="1"/>
          </p:nvPr>
        </p:nvSpPr>
        <p:spPr>
          <a:xfrm>
            <a:off x="628649" y="1825625"/>
            <a:ext cx="8067482" cy="4351338"/>
          </a:xfrm>
        </p:spPr>
        <p:txBody>
          <a:bodyPr/>
          <a:lstStyle/>
          <a:p>
            <a:r>
              <a:rPr lang="en-US" dirty="0"/>
              <a:t>We just examined two scenarios where…</a:t>
            </a:r>
          </a:p>
          <a:p>
            <a:pPr lvl="1"/>
            <a:r>
              <a:rPr lang="en-US" dirty="0"/>
              <a:t>Increasing domestic demand leads to a worsening trade balance.</a:t>
            </a:r>
          </a:p>
          <a:p>
            <a:pPr lvl="1"/>
            <a:r>
              <a:rPr lang="en-US" dirty="0"/>
              <a:t>Increasing foreign demand leads to an increase in domestic output and an improvement in the trade balance.</a:t>
            </a:r>
          </a:p>
          <a:p>
            <a:pPr lvl="3"/>
            <a:endParaRPr lang="en-US" dirty="0"/>
          </a:p>
          <a:p>
            <a:r>
              <a:rPr lang="en-US" dirty="0"/>
              <a:t>This implies that shocks to the demand in other countries will affect the economy of other countries.</a:t>
            </a:r>
          </a:p>
          <a:p>
            <a:pPr lvl="3"/>
            <a:endParaRPr lang="en-US" dirty="0"/>
          </a:p>
          <a:p>
            <a:r>
              <a:rPr lang="en-US" dirty="0"/>
              <a:t>This complicates the tasks of policymakers, especially for those in charge of fiscal policy.</a:t>
            </a:r>
          </a:p>
          <a:p>
            <a:pPr lvl="3"/>
            <a:endParaRPr lang="en-US" dirty="0"/>
          </a:p>
          <a:p>
            <a:endParaRPr lang="en-US" dirty="0"/>
          </a:p>
        </p:txBody>
      </p:sp>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dirty="0"/>
              <a:t>Spring 2024</a:t>
            </a:r>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20</a:t>
            </a:fld>
            <a:endParaRPr lang="en-US" dirty="0"/>
          </a:p>
        </p:txBody>
      </p:sp>
    </p:spTree>
    <p:extLst>
      <p:ext uri="{BB962C8B-B14F-4D97-AF65-F5344CB8AC3E}">
        <p14:creationId xmlns:p14="http://schemas.microsoft.com/office/powerpoint/2010/main" val="2935828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Consequences of Openness</a:t>
            </a:r>
          </a:p>
        </p:txBody>
      </p:sp>
      <p:sp>
        <p:nvSpPr>
          <p:cNvPr id="3" name="Content Placeholder 2">
            <a:extLst>
              <a:ext uri="{FF2B5EF4-FFF2-40B4-BE49-F238E27FC236}">
                <a16:creationId xmlns:a16="http://schemas.microsoft.com/office/drawing/2014/main" id="{C46BE3FD-D149-E947-1228-E11B36CD05B2}"/>
              </a:ext>
            </a:extLst>
          </p:cNvPr>
          <p:cNvSpPr>
            <a:spLocks noGrp="1"/>
          </p:cNvSpPr>
          <p:nvPr>
            <p:ph idx="1"/>
          </p:nvPr>
        </p:nvSpPr>
        <p:spPr>
          <a:xfrm>
            <a:off x="628649" y="1825625"/>
            <a:ext cx="8067482" cy="4351338"/>
          </a:xfrm>
        </p:spPr>
        <p:txBody>
          <a:bodyPr/>
          <a:lstStyle/>
          <a:p>
            <a:r>
              <a:rPr lang="en-US" dirty="0"/>
              <a:t>Suppose that multiple countries are closely tied in trade relations managing balanced trade are simultaneously hit with recession, which calls for expansionary fiscal policy.</a:t>
            </a:r>
          </a:p>
          <a:p>
            <a:pPr lvl="3"/>
            <a:endParaRPr lang="en-US" dirty="0"/>
          </a:p>
          <a:p>
            <a:r>
              <a:rPr lang="en-US" dirty="0"/>
              <a:t>The problem arises due to the close trade relations; if one country increases domestic output through stimuli, they will inevitably run a trade deficit.</a:t>
            </a:r>
          </a:p>
          <a:p>
            <a:pPr lvl="3"/>
            <a:endParaRPr lang="en-US" dirty="0"/>
          </a:p>
          <a:p>
            <a:r>
              <a:rPr lang="en-US" dirty="0"/>
              <a:t>The governments of the other countries can simply wait out until the first mover increases their imports, which will boost domestic output without any effort on their end.</a:t>
            </a:r>
          </a:p>
        </p:txBody>
      </p:sp>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dirty="0"/>
              <a:t>Spring 2024</a:t>
            </a:r>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21</a:t>
            </a:fld>
            <a:endParaRPr lang="en-US" dirty="0"/>
          </a:p>
        </p:txBody>
      </p:sp>
    </p:spTree>
    <p:extLst>
      <p:ext uri="{BB962C8B-B14F-4D97-AF65-F5344CB8AC3E}">
        <p14:creationId xmlns:p14="http://schemas.microsoft.com/office/powerpoint/2010/main" val="3763938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Consequences of Openness</a:t>
            </a:r>
          </a:p>
        </p:txBody>
      </p:sp>
      <p:sp>
        <p:nvSpPr>
          <p:cNvPr id="3" name="Content Placeholder 2">
            <a:extLst>
              <a:ext uri="{FF2B5EF4-FFF2-40B4-BE49-F238E27FC236}">
                <a16:creationId xmlns:a16="http://schemas.microsoft.com/office/drawing/2014/main" id="{C46BE3FD-D149-E947-1228-E11B36CD05B2}"/>
              </a:ext>
            </a:extLst>
          </p:cNvPr>
          <p:cNvSpPr>
            <a:spLocks noGrp="1"/>
          </p:cNvSpPr>
          <p:nvPr>
            <p:ph idx="1"/>
          </p:nvPr>
        </p:nvSpPr>
        <p:spPr>
          <a:xfrm>
            <a:off x="628649" y="1825625"/>
            <a:ext cx="8067482" cy="4351338"/>
          </a:xfrm>
        </p:spPr>
        <p:txBody>
          <a:bodyPr/>
          <a:lstStyle/>
          <a:p>
            <a:r>
              <a:rPr lang="en-US" dirty="0"/>
              <a:t>There is a </a:t>
            </a:r>
            <a:r>
              <a:rPr lang="en-US" i="1" dirty="0"/>
              <a:t>simple</a:t>
            </a:r>
            <a:r>
              <a:rPr lang="en-US" dirty="0"/>
              <a:t> solution: “If every country can coordinate their increase in government expenditure…”</a:t>
            </a:r>
          </a:p>
          <a:p>
            <a:pPr lvl="3"/>
            <a:endParaRPr lang="en-US" dirty="0"/>
          </a:p>
          <a:p>
            <a:r>
              <a:rPr lang="en-US" dirty="0"/>
              <a:t>The issue is that the </a:t>
            </a:r>
            <a:r>
              <a:rPr lang="en-US" i="1" dirty="0"/>
              <a:t>implementation</a:t>
            </a:r>
            <a:r>
              <a:rPr lang="en-US" dirty="0"/>
              <a:t> of this solution isn’t as simple as it sounds.</a:t>
            </a:r>
          </a:p>
          <a:p>
            <a:pPr lvl="3"/>
            <a:endParaRPr lang="en-US" dirty="0"/>
          </a:p>
          <a:p>
            <a:r>
              <a:rPr lang="en-US" dirty="0"/>
              <a:t>Countries will have an incentive to “promise” to implement expansionary policies, just to not deliver.</a:t>
            </a:r>
          </a:p>
          <a:p>
            <a:pPr lvl="3"/>
            <a:endParaRPr lang="en-US" dirty="0"/>
          </a:p>
          <a:p>
            <a:r>
              <a:rPr lang="en-US" dirty="0"/>
              <a:t>In the real world, each countries will have different politics, varying levels of trade deficits, national debts, which will further complicate coordination.</a:t>
            </a:r>
          </a:p>
        </p:txBody>
      </p:sp>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dirty="0"/>
              <a:t>Spring 2024</a:t>
            </a:r>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22</a:t>
            </a:fld>
            <a:endParaRPr lang="en-US" dirty="0"/>
          </a:p>
        </p:txBody>
      </p:sp>
    </p:spTree>
    <p:extLst>
      <p:ext uri="{BB962C8B-B14F-4D97-AF65-F5344CB8AC3E}">
        <p14:creationId xmlns:p14="http://schemas.microsoft.com/office/powerpoint/2010/main" val="1030287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Real-World Attempts at Coordination</a:t>
            </a:r>
          </a:p>
        </p:txBody>
      </p:sp>
      <p:sp>
        <p:nvSpPr>
          <p:cNvPr id="3" name="Content Placeholder 2">
            <a:extLst>
              <a:ext uri="{FF2B5EF4-FFF2-40B4-BE49-F238E27FC236}">
                <a16:creationId xmlns:a16="http://schemas.microsoft.com/office/drawing/2014/main" id="{C46BE3FD-D149-E947-1228-E11B36CD05B2}"/>
              </a:ext>
            </a:extLst>
          </p:cNvPr>
          <p:cNvSpPr>
            <a:spLocks noGrp="1"/>
          </p:cNvSpPr>
          <p:nvPr>
            <p:ph idx="1"/>
          </p:nvPr>
        </p:nvSpPr>
        <p:spPr>
          <a:xfrm>
            <a:off x="628648" y="1825625"/>
            <a:ext cx="8095473" cy="4351338"/>
          </a:xfrm>
        </p:spPr>
        <p:txBody>
          <a:bodyPr/>
          <a:lstStyle/>
          <a:p>
            <a:r>
              <a:rPr lang="en-US" dirty="0"/>
              <a:t>Policy coordination was attempted as a response to the Great Recession of 2008, where G20 countries committed to a 2% (of GDP) benchmark of fiscal expansion.</a:t>
            </a:r>
          </a:p>
          <a:p>
            <a:pPr lvl="3"/>
            <a:endParaRPr lang="en-US" dirty="0"/>
          </a:p>
          <a:p>
            <a:r>
              <a:rPr lang="en-US" dirty="0"/>
              <a:t>The G20 countries roughly met this goal, where the average level of fiscal expansion reached 2.3% of combined GDP.</a:t>
            </a:r>
          </a:p>
          <a:p>
            <a:pPr lvl="3"/>
            <a:endParaRPr lang="en-US" dirty="0"/>
          </a:p>
          <a:p>
            <a:r>
              <a:rPr lang="en-US" dirty="0"/>
              <a:t>Some countries such as the US which had more fiscal room was able to commit more, while others with less fiscal room such as Italy were not able to meet the 2% benchmark.</a:t>
            </a:r>
          </a:p>
          <a:p>
            <a:pPr lvl="3"/>
            <a:endParaRPr lang="en-US" dirty="0"/>
          </a:p>
          <a:p>
            <a:r>
              <a:rPr lang="en-US" dirty="0"/>
              <a:t>Did they succeed? Difficult to tell…</a:t>
            </a:r>
          </a:p>
        </p:txBody>
      </p:sp>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dirty="0"/>
              <a:t>Spring 2024</a:t>
            </a:r>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23</a:t>
            </a:fld>
            <a:endParaRPr lang="en-US" dirty="0"/>
          </a:p>
        </p:txBody>
      </p:sp>
    </p:spTree>
    <p:extLst>
      <p:ext uri="{BB962C8B-B14F-4D97-AF65-F5344CB8AC3E}">
        <p14:creationId xmlns:p14="http://schemas.microsoft.com/office/powerpoint/2010/main" val="3036629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Changes to Exchange Rates:</a:t>
            </a:r>
            <a:br>
              <a:rPr lang="en-US" dirty="0"/>
            </a:br>
            <a:r>
              <a:rPr lang="en-US" dirty="0"/>
              <a:t>Nominal &amp; Real Depreciation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6BE3FD-D149-E947-1228-E11B36CD05B2}"/>
                  </a:ext>
                </a:extLst>
              </p:cNvPr>
              <p:cNvSpPr>
                <a:spLocks noGrp="1"/>
              </p:cNvSpPr>
              <p:nvPr>
                <p:ph idx="1"/>
              </p:nvPr>
            </p:nvSpPr>
            <p:spPr>
              <a:xfrm>
                <a:off x="628649" y="1825625"/>
                <a:ext cx="8067482" cy="4351338"/>
              </a:xfrm>
            </p:spPr>
            <p:txBody>
              <a:bodyPr/>
              <a:lstStyle/>
              <a:p>
                <a:r>
                  <a:rPr lang="en-US" dirty="0"/>
                  <a:t>Now let’s imagine a scenario where the nominal exchange rate of the economy has depreciated </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𝐸</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oMath>
                </a14:m>
                <a:r>
                  <a:rPr lang="en-US" dirty="0"/>
                  <a:t>.</a:t>
                </a:r>
              </a:p>
              <a:p>
                <a:pPr lvl="3"/>
                <a:endParaRPr lang="en-US" dirty="0"/>
              </a:p>
              <a:p>
                <a:r>
                  <a:rPr lang="en-US" dirty="0"/>
                  <a:t>Given that price levels are stable across borders, this will lead to a depreciation of the real exchange rate </a:t>
                </a:r>
                <a14:m>
                  <m:oMath xmlns:m="http://schemas.openxmlformats.org/officeDocument/2006/math">
                    <m:r>
                      <a:rPr lang="en-US">
                        <a:latin typeface="Cambria Math" panose="02040503050406030204" pitchFamily="18" charset="0"/>
                      </a:rPr>
                      <m:t>(</m:t>
                    </m:r>
                    <m:r>
                      <a:rPr lang="en-US" b="0" i="1" smtClean="0">
                        <a:latin typeface="Cambria Math" panose="02040503050406030204" pitchFamily="18" charset="0"/>
                      </a:rPr>
                      <m:t>𝜀</m:t>
                    </m:r>
                    <m:r>
                      <a:rPr lang="en-US" i="1">
                        <a:latin typeface="Cambria Math" panose="02040503050406030204" pitchFamily="18" charset="0"/>
                        <a:ea typeface="Cambria Math" panose="02040503050406030204" pitchFamily="18" charset="0"/>
                      </a:rPr>
                      <m:t>↓)</m:t>
                    </m:r>
                  </m:oMath>
                </a14:m>
                <a:r>
                  <a:rPr lang="en-US" dirty="0"/>
                  <a:t>.</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𝜀</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𝑃</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𝐹</m:t>
                              </m:r>
                            </m:sup>
                          </m:sSup>
                        </m:den>
                      </m:f>
                    </m:oMath>
                  </m:oMathPara>
                </a14:m>
                <a:endParaRPr lang="en-US" dirty="0"/>
              </a:p>
              <a:p>
                <a:pPr lvl="3"/>
                <a:endParaRPr lang="en-US" dirty="0"/>
              </a:p>
              <a:p>
                <a:r>
                  <a:rPr lang="en-US" dirty="0"/>
                  <a:t>Let’s examine how this depreciation of currencies may affect the balance of trade for the economy.</a:t>
                </a:r>
              </a:p>
            </p:txBody>
          </p:sp>
        </mc:Choice>
        <mc:Fallback xmlns="">
          <p:sp>
            <p:nvSpPr>
              <p:cNvPr id="3" name="Content Placeholder 2">
                <a:extLst>
                  <a:ext uri="{FF2B5EF4-FFF2-40B4-BE49-F238E27FC236}">
                    <a16:creationId xmlns:a16="http://schemas.microsoft.com/office/drawing/2014/main" id="{C46BE3FD-D149-E947-1228-E11B36CD05B2}"/>
                  </a:ext>
                </a:extLst>
              </p:cNvPr>
              <p:cNvSpPr>
                <a:spLocks noGrp="1" noRot="1" noChangeAspect="1" noMove="1" noResize="1" noEditPoints="1" noAdjustHandles="1" noChangeArrowheads="1" noChangeShapeType="1" noTextEdit="1"/>
              </p:cNvSpPr>
              <p:nvPr>
                <p:ph idx="1"/>
              </p:nvPr>
            </p:nvSpPr>
            <p:spPr>
              <a:xfrm>
                <a:off x="628649" y="1825625"/>
                <a:ext cx="8067482" cy="4351338"/>
              </a:xfrm>
              <a:blipFill>
                <a:blip r:embed="rId2"/>
                <a:stretch>
                  <a:fillRect l="-982"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dirty="0"/>
              <a:t>Spring 2024</a:t>
            </a:r>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24</a:t>
            </a:fld>
            <a:endParaRPr lang="en-US" dirty="0"/>
          </a:p>
        </p:txBody>
      </p:sp>
    </p:spTree>
    <p:extLst>
      <p:ext uri="{BB962C8B-B14F-4D97-AF65-F5344CB8AC3E}">
        <p14:creationId xmlns:p14="http://schemas.microsoft.com/office/powerpoint/2010/main" val="2312200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Changes to Exchange Rates:</a:t>
            </a:r>
            <a:br>
              <a:rPr lang="en-US" dirty="0"/>
            </a:br>
            <a:r>
              <a:rPr lang="en-US" dirty="0"/>
              <a:t>Real Depreciation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6BE3FD-D149-E947-1228-E11B36CD05B2}"/>
                  </a:ext>
                </a:extLst>
              </p:cNvPr>
              <p:cNvSpPr>
                <a:spLocks noGrp="1"/>
              </p:cNvSpPr>
              <p:nvPr>
                <p:ph idx="1"/>
              </p:nvPr>
            </p:nvSpPr>
            <p:spPr>
              <a:xfrm>
                <a:off x="628649" y="1825625"/>
                <a:ext cx="8067482" cy="4530726"/>
              </a:xfrm>
            </p:spPr>
            <p:txBody>
              <a:bodyPr>
                <a:normAutofit/>
              </a:bodyPr>
              <a:lstStyle/>
              <a:p>
                <a:r>
                  <a:rPr lang="en-US" dirty="0"/>
                  <a:t>Note that the balance of trade is expressed as:</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𝑁𝑋</m:t>
                      </m:r>
                      <m:r>
                        <a:rPr lang="en-US" sz="2000" i="1">
                          <a:latin typeface="Cambria Math" panose="02040503050406030204" pitchFamily="18" charset="0"/>
                        </a:rPr>
                        <m:t>=</m:t>
                      </m:r>
                      <m:r>
                        <a:rPr lang="en-US" sz="2000" i="1">
                          <a:latin typeface="Cambria Math" panose="02040503050406030204" pitchFamily="18" charset="0"/>
                        </a:rPr>
                        <m:t>𝑋</m:t>
                      </m:r>
                      <m:d>
                        <m:dPr>
                          <m:ctrlPr>
                            <a:rPr lang="en-US" sz="2000" i="1" smtClean="0">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𝑌</m:t>
                              </m:r>
                            </m:e>
                            <m:sup>
                              <m:r>
                                <a:rPr lang="en-US" sz="2000" i="1">
                                  <a:latin typeface="Cambria Math" panose="02040503050406030204" pitchFamily="18" charset="0"/>
                                </a:rPr>
                                <m:t>𝐹</m:t>
                              </m:r>
                            </m:sup>
                          </m:sSup>
                          <m:r>
                            <a:rPr lang="en-US" sz="2000" i="1">
                              <a:latin typeface="Cambria Math" panose="02040503050406030204" pitchFamily="18" charset="0"/>
                            </a:rPr>
                            <m:t>,</m:t>
                          </m:r>
                          <m:r>
                            <a:rPr lang="en-US" sz="2000" i="1">
                              <a:latin typeface="Cambria Math" panose="02040503050406030204" pitchFamily="18" charset="0"/>
                            </a:rPr>
                            <m:t>𝜀</m:t>
                          </m:r>
                        </m:e>
                      </m:d>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b="0" i="1" smtClean="0">
                              <a:latin typeface="Cambria Math" panose="02040503050406030204" pitchFamily="18" charset="0"/>
                            </a:rPr>
                            <m:t>1</m:t>
                          </m:r>
                        </m:num>
                        <m:den>
                          <m:r>
                            <a:rPr lang="en-US" sz="2000" i="1">
                              <a:latin typeface="Cambria Math" panose="02040503050406030204" pitchFamily="18" charset="0"/>
                            </a:rPr>
                            <m:t>𝜀</m:t>
                          </m:r>
                        </m:den>
                      </m:f>
                      <m:r>
                        <a:rPr lang="en-US" sz="2000" b="0" i="1" smtClean="0">
                          <a:latin typeface="Cambria Math" panose="02040503050406030204" pitchFamily="18" charset="0"/>
                        </a:rPr>
                        <m:t>×</m:t>
                      </m:r>
                      <m:r>
                        <a:rPr lang="en-US" sz="2000" i="1">
                          <a:latin typeface="Cambria Math" panose="02040503050406030204" pitchFamily="18" charset="0"/>
                        </a:rPr>
                        <m:t>𝐼𝑀</m:t>
                      </m:r>
                      <m:d>
                        <m:dPr>
                          <m:ctrlPr>
                            <a:rPr lang="en-US" sz="2000" i="1">
                              <a:latin typeface="Cambria Math" panose="02040503050406030204" pitchFamily="18" charset="0"/>
                            </a:rPr>
                          </m:ctrlPr>
                        </m:dPr>
                        <m:e>
                          <m:r>
                            <a:rPr lang="en-US" sz="2000" i="1">
                              <a:latin typeface="Cambria Math" panose="02040503050406030204" pitchFamily="18" charset="0"/>
                            </a:rPr>
                            <m:t>𝑌</m:t>
                          </m:r>
                          <m:r>
                            <a:rPr lang="en-US" sz="2000" i="1">
                              <a:latin typeface="Cambria Math" panose="02040503050406030204" pitchFamily="18" charset="0"/>
                            </a:rPr>
                            <m:t>,</m:t>
                          </m:r>
                          <m:r>
                            <a:rPr lang="en-US" sz="2000" i="1">
                              <a:latin typeface="Cambria Math" panose="02040503050406030204" pitchFamily="18" charset="0"/>
                            </a:rPr>
                            <m:t>𝜀</m:t>
                          </m:r>
                        </m:e>
                      </m:d>
                    </m:oMath>
                  </m:oMathPara>
                </a14:m>
                <a:endParaRPr lang="en-US" sz="2000" dirty="0"/>
              </a:p>
              <a:p>
                <a:pPr lvl="3"/>
                <a:endParaRPr lang="en-US" sz="1200" dirty="0"/>
              </a:p>
              <a:p>
                <a:r>
                  <a:rPr lang="en-US" dirty="0"/>
                  <a:t>The effect of </a:t>
                </a:r>
                <a14:m>
                  <m:oMath xmlns:m="http://schemas.openxmlformats.org/officeDocument/2006/math">
                    <m:r>
                      <a:rPr lang="en-US" i="1">
                        <a:latin typeface="Cambria Math" panose="02040503050406030204" pitchFamily="18" charset="0"/>
                      </a:rPr>
                      <m:t>𝜀</m:t>
                    </m:r>
                    <m:r>
                      <a:rPr lang="en-US" i="1" smtClean="0">
                        <a:latin typeface="Cambria Math" panose="02040503050406030204" pitchFamily="18" charset="0"/>
                        <a:ea typeface="Cambria Math" panose="02040503050406030204" pitchFamily="18" charset="0"/>
                      </a:rPr>
                      <m:t>↓</m:t>
                    </m:r>
                  </m:oMath>
                </a14:m>
                <a:r>
                  <a:rPr lang="en-US" dirty="0"/>
                  <a:t> on each element above is…</a:t>
                </a:r>
              </a:p>
              <a:p>
                <a:pPr lvl="1"/>
                <a:r>
                  <a:rPr lang="en-US" dirty="0"/>
                  <a:t>The price of imported products that domestic consumers face </a:t>
                </a:r>
                <a14:m>
                  <m:oMath xmlns:m="http://schemas.openxmlformats.org/officeDocument/2006/math">
                    <m:d>
                      <m:dPr>
                        <m:ctrlPr>
                          <a:rPr lang="en-US" i="1" smtClean="0">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𝜀</m:t>
                            </m:r>
                          </m:den>
                        </m:f>
                      </m:e>
                    </m:d>
                  </m:oMath>
                </a14:m>
                <a:r>
                  <a:rPr lang="en-US" dirty="0"/>
                  <a:t> will increase.</a:t>
                </a:r>
              </a:p>
              <a:p>
                <a:pPr lvl="1"/>
                <a:r>
                  <a:rPr lang="en-US" dirty="0"/>
                  <a:t>The price of domestic exports that foreign consumers face </a:t>
                </a:r>
                <a14:m>
                  <m:oMath xmlns:m="http://schemas.openxmlformats.org/officeDocument/2006/math">
                    <m:d>
                      <m:dPr>
                        <m:ctrlPr>
                          <a:rPr lang="en-US" b="0" i="1" smtClean="0">
                            <a:latin typeface="Cambria Math" panose="02040503050406030204" pitchFamily="18" charset="0"/>
                          </a:rPr>
                        </m:ctrlPr>
                      </m:dPr>
                      <m:e>
                        <m:r>
                          <a:rPr lang="en-US" i="1">
                            <a:latin typeface="Cambria Math" panose="02040503050406030204" pitchFamily="18" charset="0"/>
                          </a:rPr>
                          <m:t>𝜀</m:t>
                        </m:r>
                      </m:e>
                    </m:d>
                  </m:oMath>
                </a14:m>
                <a:r>
                  <a:rPr lang="en-US" dirty="0"/>
                  <a:t> will decrease.</a:t>
                </a:r>
              </a:p>
              <a:p>
                <a:pPr lvl="1"/>
                <a:r>
                  <a:rPr lang="en-US" dirty="0"/>
                  <a:t>Exports </a:t>
                </a:r>
                <a14:m>
                  <m:oMath xmlns:m="http://schemas.openxmlformats.org/officeDocument/2006/math">
                    <m:d>
                      <m:dPr>
                        <m:ctrlPr>
                          <a:rPr lang="en-US" b="0" i="1" smtClean="0">
                            <a:latin typeface="Cambria Math" panose="02040503050406030204" pitchFamily="18" charset="0"/>
                          </a:rPr>
                        </m:ctrlPr>
                      </m:dPr>
                      <m:e>
                        <m:r>
                          <a:rPr lang="en-US" i="1">
                            <a:latin typeface="Cambria Math" panose="02040503050406030204" pitchFamily="18" charset="0"/>
                          </a:rPr>
                          <m:t>𝑋</m:t>
                        </m:r>
                      </m:e>
                    </m:d>
                  </m:oMath>
                </a14:m>
                <a:r>
                  <a:rPr lang="en-US" dirty="0"/>
                  <a:t> will increase, since domestic goods are now relatively cheaper for foreign consumers.</a:t>
                </a:r>
              </a:p>
              <a:p>
                <a:pPr lvl="1"/>
                <a:r>
                  <a:rPr lang="en-US" dirty="0"/>
                  <a:t>Imports </a:t>
                </a:r>
                <a14:m>
                  <m:oMath xmlns:m="http://schemas.openxmlformats.org/officeDocument/2006/math">
                    <m:d>
                      <m:dPr>
                        <m:ctrlPr>
                          <a:rPr lang="en-US" b="0" i="1" smtClean="0">
                            <a:latin typeface="Cambria Math" panose="02040503050406030204" pitchFamily="18" charset="0"/>
                          </a:rPr>
                        </m:ctrlPr>
                      </m:dPr>
                      <m:e>
                        <m:r>
                          <a:rPr lang="en-US" i="1">
                            <a:latin typeface="Cambria Math" panose="02040503050406030204" pitchFamily="18" charset="0"/>
                          </a:rPr>
                          <m:t>𝐼𝑀</m:t>
                        </m:r>
                      </m:e>
                    </m:d>
                  </m:oMath>
                </a14:m>
                <a:r>
                  <a:rPr lang="en-US" dirty="0"/>
                  <a:t> will decrease, since foreign goods are now relatively more expensive for domestic consumers.</a:t>
                </a:r>
              </a:p>
              <a:p>
                <a:pPr lvl="3"/>
                <a:endParaRPr lang="en-US" dirty="0"/>
              </a:p>
              <a:p>
                <a:endParaRPr lang="en-US" dirty="0"/>
              </a:p>
            </p:txBody>
          </p:sp>
        </mc:Choice>
        <mc:Fallback xmlns="">
          <p:sp>
            <p:nvSpPr>
              <p:cNvPr id="3" name="Content Placeholder 2">
                <a:extLst>
                  <a:ext uri="{FF2B5EF4-FFF2-40B4-BE49-F238E27FC236}">
                    <a16:creationId xmlns:a16="http://schemas.microsoft.com/office/drawing/2014/main" id="{C46BE3FD-D149-E947-1228-E11B36CD05B2}"/>
                  </a:ext>
                </a:extLst>
              </p:cNvPr>
              <p:cNvSpPr>
                <a:spLocks noGrp="1" noRot="1" noChangeAspect="1" noMove="1" noResize="1" noEditPoints="1" noAdjustHandles="1" noChangeArrowheads="1" noChangeShapeType="1" noTextEdit="1"/>
              </p:cNvSpPr>
              <p:nvPr>
                <p:ph idx="1"/>
              </p:nvPr>
            </p:nvSpPr>
            <p:spPr>
              <a:xfrm>
                <a:off x="628649" y="1825625"/>
                <a:ext cx="8067482" cy="4530726"/>
              </a:xfrm>
              <a:blipFill>
                <a:blip r:embed="rId2"/>
                <a:stretch>
                  <a:fillRect l="-982" t="-1747"/>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dirty="0"/>
              <a:t>Spring 2024</a:t>
            </a:r>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25</a:t>
            </a:fld>
            <a:endParaRPr lang="en-US" dirty="0"/>
          </a:p>
        </p:txBody>
      </p:sp>
    </p:spTree>
    <p:extLst>
      <p:ext uri="{BB962C8B-B14F-4D97-AF65-F5344CB8AC3E}">
        <p14:creationId xmlns:p14="http://schemas.microsoft.com/office/powerpoint/2010/main" val="3021477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Changes to Exchange Rates:</a:t>
            </a:r>
            <a:br>
              <a:rPr lang="en-US" dirty="0"/>
            </a:br>
            <a:r>
              <a:rPr lang="en-US" dirty="0"/>
              <a:t>The Marshall-Lerner Condition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6BE3FD-D149-E947-1228-E11B36CD05B2}"/>
                  </a:ext>
                </a:extLst>
              </p:cNvPr>
              <p:cNvSpPr>
                <a:spLocks noGrp="1"/>
              </p:cNvSpPr>
              <p:nvPr>
                <p:ph idx="1"/>
              </p:nvPr>
            </p:nvSpPr>
            <p:spPr>
              <a:xfrm>
                <a:off x="628649" y="1825625"/>
                <a:ext cx="8067482" cy="4351338"/>
              </a:xfrm>
            </p:spPr>
            <p:txBody>
              <a:bodyPr>
                <a:normAutofit/>
              </a:bodyPr>
              <a:lstStyle/>
              <a:p>
                <a:r>
                  <a:rPr lang="en-US" dirty="0"/>
                  <a:t>For the trade balance to improve following a currency depreciation, certain conditions must be met.</a:t>
                </a:r>
              </a:p>
              <a:p>
                <a:pPr lvl="1"/>
                <a:r>
                  <a:rPr lang="en-US" dirty="0"/>
                  <a:t>Exports must increase enough, and…</a:t>
                </a:r>
              </a:p>
              <a:p>
                <a:pPr lvl="1"/>
                <a:r>
                  <a:rPr lang="en-US" dirty="0"/>
                  <a:t>Imports must decrease enough to balance out the increase in the price of imports.</a:t>
                </a:r>
              </a:p>
              <a:p>
                <a:pPr lvl="3"/>
                <a:endParaRPr lang="en-US" sz="1400" dirty="0"/>
              </a:p>
              <a:p>
                <a:r>
                  <a:rPr lang="en-US" dirty="0"/>
                  <a:t>The conditions above, which will guarantee that a real depreciation of currency leads to an improvement in the trade balance is called the “Marshall-Lerner condition.”</a:t>
                </a:r>
              </a:p>
              <a:p>
                <a:pPr lvl="3"/>
                <a:endParaRPr lang="en-US" sz="1400" dirty="0"/>
              </a:p>
              <a:p>
                <a:r>
                  <a:rPr lang="en-US" dirty="0"/>
                  <a:t>In the real-world, this condition is almost always met, so:</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𝜀</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𝑁𝑋</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C46BE3FD-D149-E947-1228-E11B36CD05B2}"/>
                  </a:ext>
                </a:extLst>
              </p:cNvPr>
              <p:cNvSpPr>
                <a:spLocks noGrp="1" noRot="1" noChangeAspect="1" noMove="1" noResize="1" noEditPoints="1" noAdjustHandles="1" noChangeArrowheads="1" noChangeShapeType="1" noTextEdit="1"/>
              </p:cNvSpPr>
              <p:nvPr>
                <p:ph idx="1"/>
              </p:nvPr>
            </p:nvSpPr>
            <p:spPr>
              <a:xfrm>
                <a:off x="628649" y="1825625"/>
                <a:ext cx="8067482" cy="4351338"/>
              </a:xfrm>
              <a:blipFill>
                <a:blip r:embed="rId2"/>
                <a:stretch>
                  <a:fillRect l="-982"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dirty="0"/>
              <a:t>Spring 2024</a:t>
            </a:r>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26</a:t>
            </a:fld>
            <a:endParaRPr lang="en-US" dirty="0"/>
          </a:p>
        </p:txBody>
      </p:sp>
    </p:spTree>
    <p:extLst>
      <p:ext uri="{BB962C8B-B14F-4D97-AF65-F5344CB8AC3E}">
        <p14:creationId xmlns:p14="http://schemas.microsoft.com/office/powerpoint/2010/main" val="966543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fade">
                                      <p:cBhvr>
                                        <p:cTn id="30"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Changes to Exchange Rates:</a:t>
            </a:r>
            <a:br>
              <a:rPr lang="en-US" dirty="0"/>
            </a:br>
            <a:r>
              <a:rPr lang="en-US" dirty="0"/>
              <a:t>Real Depreciation</a:t>
            </a:r>
          </a:p>
        </p:txBody>
      </p:sp>
      <p:sp>
        <p:nvSpPr>
          <p:cNvPr id="3" name="Content Placeholder 2">
            <a:extLst>
              <a:ext uri="{FF2B5EF4-FFF2-40B4-BE49-F238E27FC236}">
                <a16:creationId xmlns:a16="http://schemas.microsoft.com/office/drawing/2014/main" id="{C46BE3FD-D149-E947-1228-E11B36CD05B2}"/>
              </a:ext>
            </a:extLst>
          </p:cNvPr>
          <p:cNvSpPr>
            <a:spLocks noGrp="1"/>
          </p:cNvSpPr>
          <p:nvPr>
            <p:ph idx="1"/>
          </p:nvPr>
        </p:nvSpPr>
        <p:spPr>
          <a:xfrm>
            <a:off x="628649" y="1825625"/>
            <a:ext cx="8067482" cy="4351338"/>
          </a:xfrm>
        </p:spPr>
        <p:txBody>
          <a:bodyPr/>
          <a:lstStyle/>
          <a:p>
            <a:r>
              <a:rPr lang="en-US" dirty="0"/>
              <a:t>The depreciation of but it also affects domestic output.</a:t>
            </a:r>
          </a:p>
          <a:p>
            <a:pPr lvl="3"/>
            <a:endParaRPr lang="en-US" dirty="0"/>
          </a:p>
          <a:p>
            <a:r>
              <a:rPr lang="en-US" dirty="0"/>
              <a:t>Domestically produced goods are now relatively cheaper in the eyes of the foreign consumers.</a:t>
            </a:r>
          </a:p>
          <a:p>
            <a:pPr lvl="3"/>
            <a:endParaRPr lang="en-US" dirty="0"/>
          </a:p>
          <a:p>
            <a:r>
              <a:rPr lang="en-US" dirty="0"/>
              <a:t>Since domestic goods are more affordable in general, both domestic and foreign demand will shift in favor of domestic goods.</a:t>
            </a:r>
          </a:p>
          <a:p>
            <a:pPr lvl="3"/>
            <a:endParaRPr lang="en-US" dirty="0"/>
          </a:p>
          <a:p>
            <a:r>
              <a:rPr lang="en-US" dirty="0"/>
              <a:t>Illustrated on a graph, it will look identical to an increase in foreign demand.</a:t>
            </a:r>
          </a:p>
        </p:txBody>
      </p:sp>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27</a:t>
            </a:fld>
            <a:endParaRPr lang="en-US" dirty="0"/>
          </a:p>
        </p:txBody>
      </p:sp>
    </p:spTree>
    <p:extLst>
      <p:ext uri="{BB962C8B-B14F-4D97-AF65-F5344CB8AC3E}">
        <p14:creationId xmlns:p14="http://schemas.microsoft.com/office/powerpoint/2010/main" val="1018399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Fiscal Policy and Exchange Rates</a:t>
            </a:r>
          </a:p>
        </p:txBody>
      </p:sp>
      <p:sp>
        <p:nvSpPr>
          <p:cNvPr id="3" name="Content Placeholder 2">
            <a:extLst>
              <a:ext uri="{FF2B5EF4-FFF2-40B4-BE49-F238E27FC236}">
                <a16:creationId xmlns:a16="http://schemas.microsoft.com/office/drawing/2014/main" id="{C46BE3FD-D149-E947-1228-E11B36CD05B2}"/>
              </a:ext>
            </a:extLst>
          </p:cNvPr>
          <p:cNvSpPr>
            <a:spLocks noGrp="1"/>
          </p:cNvSpPr>
          <p:nvPr>
            <p:ph idx="1"/>
          </p:nvPr>
        </p:nvSpPr>
        <p:spPr>
          <a:xfrm>
            <a:off x="628649" y="1825625"/>
            <a:ext cx="8067482" cy="4351338"/>
          </a:xfrm>
        </p:spPr>
        <p:txBody>
          <a:bodyPr/>
          <a:lstStyle/>
          <a:p>
            <a:r>
              <a:rPr lang="en-US" dirty="0"/>
              <a:t>Introducing openness in the economy introduces a new array of tools for policymakers.</a:t>
            </a:r>
          </a:p>
          <a:p>
            <a:pPr lvl="3"/>
            <a:endParaRPr lang="en-US" dirty="0"/>
          </a:p>
          <a:p>
            <a:r>
              <a:rPr lang="en-US" dirty="0"/>
              <a:t>Suppose that an economy is in its medium-run equilibrium, but meanwhile is running a large trade deficit.</a:t>
            </a:r>
          </a:p>
          <a:p>
            <a:pPr lvl="3"/>
            <a:endParaRPr lang="en-US" dirty="0"/>
          </a:p>
          <a:p>
            <a:r>
              <a:rPr lang="en-US" dirty="0"/>
              <a:t>The government want to steer the economy so that total output remains at potential output, while decreasing the trade deficit.</a:t>
            </a:r>
          </a:p>
          <a:p>
            <a:pPr lvl="3"/>
            <a:endParaRPr lang="en-US" dirty="0"/>
          </a:p>
          <a:p>
            <a:r>
              <a:rPr lang="en-US" dirty="0"/>
              <a:t>Is this possible?</a:t>
            </a:r>
          </a:p>
        </p:txBody>
      </p:sp>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28</a:t>
            </a:fld>
            <a:endParaRPr lang="en-US" dirty="0"/>
          </a:p>
        </p:txBody>
      </p:sp>
    </p:spTree>
    <p:extLst>
      <p:ext uri="{BB962C8B-B14F-4D97-AF65-F5344CB8AC3E}">
        <p14:creationId xmlns:p14="http://schemas.microsoft.com/office/powerpoint/2010/main" val="4077314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23FADB-4CA5-C2AE-016A-32744897E4F2}"/>
              </a:ext>
            </a:extLst>
          </p:cNvPr>
          <p:cNvSpPr>
            <a:spLocks noGrp="1"/>
          </p:cNvSpPr>
          <p:nvPr>
            <p:ph type="dt" sz="half" idx="10"/>
          </p:nvPr>
        </p:nvSpPr>
        <p:spPr/>
        <p:txBody>
          <a:bodyPr/>
          <a:lstStyle/>
          <a:p>
            <a:r>
              <a:rPr lang="en-US"/>
              <a:t>Spring 2024</a:t>
            </a:r>
            <a:endParaRPr lang="en-US" dirty="0"/>
          </a:p>
        </p:txBody>
      </p:sp>
      <p:sp>
        <p:nvSpPr>
          <p:cNvPr id="3" name="Footer Placeholder 2">
            <a:extLst>
              <a:ext uri="{FF2B5EF4-FFF2-40B4-BE49-F238E27FC236}">
                <a16:creationId xmlns:a16="http://schemas.microsoft.com/office/drawing/2014/main" id="{28F107BA-F4D4-B888-DD2F-D7AC361AD8DD}"/>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511DFB02-1327-B8FA-4B11-9634954CFCE6}"/>
              </a:ext>
            </a:extLst>
          </p:cNvPr>
          <p:cNvSpPr>
            <a:spLocks noGrp="1"/>
          </p:cNvSpPr>
          <p:nvPr>
            <p:ph type="sldNum" sz="quarter" idx="12"/>
          </p:nvPr>
        </p:nvSpPr>
        <p:spPr/>
        <p:txBody>
          <a:bodyPr/>
          <a:lstStyle/>
          <a:p>
            <a:fld id="{1A980C56-831A-4EAB-9EDE-57C090F4F877}" type="slidenum">
              <a:rPr lang="en-US" smtClean="0"/>
              <a:t>29</a:t>
            </a:fld>
            <a:endParaRPr lang="en-US" dirty="0"/>
          </a:p>
        </p:txBody>
      </p:sp>
      <p:pic>
        <p:nvPicPr>
          <p:cNvPr id="6" name="Picture 5">
            <a:extLst>
              <a:ext uri="{FF2B5EF4-FFF2-40B4-BE49-F238E27FC236}">
                <a16:creationId xmlns:a16="http://schemas.microsoft.com/office/drawing/2014/main" id="{3A6BED64-3D49-68D4-1684-4885079F7F6B}"/>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55833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182CE3-ECFB-8880-3A4F-42D367EE0165}"/>
              </a:ext>
            </a:extLst>
          </p:cNvPr>
          <p:cNvSpPr>
            <a:spLocks noGrp="1"/>
          </p:cNvSpPr>
          <p:nvPr>
            <p:ph type="dt" sz="half" idx="10"/>
          </p:nvPr>
        </p:nvSpPr>
        <p:spPr/>
        <p:txBody>
          <a:bodyPr/>
          <a:lstStyle/>
          <a:p>
            <a:r>
              <a:rPr lang="en-US"/>
              <a:t>Spring 2024</a:t>
            </a:r>
            <a:endParaRPr lang="en-US" dirty="0"/>
          </a:p>
        </p:txBody>
      </p:sp>
      <p:sp>
        <p:nvSpPr>
          <p:cNvPr id="3" name="Footer Placeholder 2">
            <a:extLst>
              <a:ext uri="{FF2B5EF4-FFF2-40B4-BE49-F238E27FC236}">
                <a16:creationId xmlns:a16="http://schemas.microsoft.com/office/drawing/2014/main" id="{945A1B67-E9B0-9C7F-9555-B82717764EE0}"/>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A2ADE34E-41C8-229A-D4A5-349E8C7E64B4}"/>
              </a:ext>
            </a:extLst>
          </p:cNvPr>
          <p:cNvSpPr>
            <a:spLocks noGrp="1"/>
          </p:cNvSpPr>
          <p:nvPr>
            <p:ph type="sldNum" sz="quarter" idx="12"/>
          </p:nvPr>
        </p:nvSpPr>
        <p:spPr/>
        <p:txBody>
          <a:bodyPr/>
          <a:lstStyle/>
          <a:p>
            <a:fld id="{1A980C56-831A-4EAB-9EDE-57C090F4F877}" type="slidenum">
              <a:rPr lang="en-US" smtClean="0"/>
              <a:t>30</a:t>
            </a:fld>
            <a:endParaRPr lang="en-US" dirty="0"/>
          </a:p>
        </p:txBody>
      </p:sp>
      <p:pic>
        <p:nvPicPr>
          <p:cNvPr id="6" name="Picture 5">
            <a:extLst>
              <a:ext uri="{FF2B5EF4-FFF2-40B4-BE49-F238E27FC236}">
                <a16:creationId xmlns:a16="http://schemas.microsoft.com/office/drawing/2014/main" id="{B62B9C70-F75A-A48B-C38C-2F01FCAA18D6}"/>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0799923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Fiscal Policy and Exchange Rates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6BE3FD-D149-E947-1228-E11B36CD05B2}"/>
                  </a:ext>
                </a:extLst>
              </p:cNvPr>
              <p:cNvSpPr>
                <a:spLocks noGrp="1"/>
              </p:cNvSpPr>
              <p:nvPr>
                <p:ph idx="1"/>
              </p:nvPr>
            </p:nvSpPr>
            <p:spPr>
              <a:xfrm>
                <a:off x="628649" y="1825625"/>
                <a:ext cx="8067482" cy="4351338"/>
              </a:xfrm>
            </p:spPr>
            <p:txBody>
              <a:bodyPr/>
              <a:lstStyle/>
              <a:p>
                <a:r>
                  <a:rPr lang="en-US" dirty="0"/>
                  <a:t>We just discussed how a depreciation of its currency can improve the balance of trade.</a:t>
                </a:r>
              </a:p>
              <a:p>
                <a:pPr lvl="3"/>
                <a:endParaRPr lang="en-US" dirty="0"/>
              </a:p>
              <a:p>
                <a:r>
                  <a:rPr lang="en-US" dirty="0"/>
                  <a:t>However, this will also increase domestic output, which will exceed potential output, and lead to inflation.</a:t>
                </a:r>
              </a:p>
              <a:p>
                <a:pPr lvl="3"/>
                <a:endParaRPr lang="en-US" dirty="0"/>
              </a:p>
              <a:p>
                <a:r>
                  <a:rPr lang="en-US" dirty="0"/>
                  <a:t>Therefore, the government should simultaneously enact contractionary fiscal policy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𝐺</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𝑇</m:t>
                        </m:r>
                        <m:r>
                          <a:rPr lang="en-US" b="0" i="1" smtClean="0">
                            <a:latin typeface="Cambria Math" panose="02040503050406030204" pitchFamily="18" charset="0"/>
                            <a:ea typeface="Cambria Math" panose="02040503050406030204" pitchFamily="18" charset="0"/>
                          </a:rPr>
                          <m:t>↑</m:t>
                        </m:r>
                      </m:e>
                    </m:d>
                  </m:oMath>
                </a14:m>
                <a:r>
                  <a:rPr lang="en-US" dirty="0"/>
                  <a:t> to counteract the expected increase in output.</a:t>
                </a:r>
              </a:p>
              <a:p>
                <a:pPr lvl="3"/>
                <a:endParaRPr lang="en-US" dirty="0"/>
              </a:p>
              <a:p>
                <a:r>
                  <a:rPr lang="en-US" dirty="0"/>
                  <a:t>Illustrated in a graph, we have…</a:t>
                </a:r>
              </a:p>
              <a:p>
                <a:pPr lvl="3"/>
                <a:endParaRPr lang="en-US" dirty="0"/>
              </a:p>
              <a:p>
                <a:endParaRPr lang="en-US" dirty="0"/>
              </a:p>
            </p:txBody>
          </p:sp>
        </mc:Choice>
        <mc:Fallback xmlns="">
          <p:sp>
            <p:nvSpPr>
              <p:cNvPr id="3" name="Content Placeholder 2">
                <a:extLst>
                  <a:ext uri="{FF2B5EF4-FFF2-40B4-BE49-F238E27FC236}">
                    <a16:creationId xmlns:a16="http://schemas.microsoft.com/office/drawing/2014/main" id="{C46BE3FD-D149-E947-1228-E11B36CD05B2}"/>
                  </a:ext>
                </a:extLst>
              </p:cNvPr>
              <p:cNvSpPr>
                <a:spLocks noGrp="1" noRot="1" noChangeAspect="1" noMove="1" noResize="1" noEditPoints="1" noAdjustHandles="1" noChangeArrowheads="1" noChangeShapeType="1" noTextEdit="1"/>
              </p:cNvSpPr>
              <p:nvPr>
                <p:ph idx="1"/>
              </p:nvPr>
            </p:nvSpPr>
            <p:spPr>
              <a:xfrm>
                <a:off x="628649" y="1825625"/>
                <a:ext cx="8067482" cy="4351338"/>
              </a:xfrm>
              <a:blipFill>
                <a:blip r:embed="rId2"/>
                <a:stretch>
                  <a:fillRect l="-982" t="-1821" r="-453"/>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31</a:t>
            </a:fld>
            <a:endParaRPr lang="en-US" dirty="0"/>
          </a:p>
        </p:txBody>
      </p:sp>
    </p:spTree>
    <p:extLst>
      <p:ext uri="{BB962C8B-B14F-4D97-AF65-F5344CB8AC3E}">
        <p14:creationId xmlns:p14="http://schemas.microsoft.com/office/powerpoint/2010/main" val="42836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Fiscal Policy and Exchange Rates</a:t>
            </a:r>
          </a:p>
        </p:txBody>
      </p:sp>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dirty="0"/>
              <a:t>Spring 2024</a:t>
            </a:r>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32</a:t>
            </a:fld>
            <a:endParaRPr lang="en-US" dirty="0"/>
          </a:p>
        </p:txBody>
      </p:sp>
      <mc:AlternateContent xmlns:mc="http://schemas.openxmlformats.org/markup-compatibility/2006" xmlns:a14="http://schemas.microsoft.com/office/drawing/2010/main">
        <mc:Choice Requires="a14">
          <p:sp>
            <p:nvSpPr>
              <p:cNvPr id="38" name="Content Placeholder 3">
                <a:extLst>
                  <a:ext uri="{FF2B5EF4-FFF2-40B4-BE49-F238E27FC236}">
                    <a16:creationId xmlns:a16="http://schemas.microsoft.com/office/drawing/2014/main" id="{2DC14353-35AC-A7AB-AFA7-F36D50081826}"/>
                  </a:ext>
                </a:extLst>
              </p:cNvPr>
              <p:cNvSpPr txBox="1">
                <a:spLocks/>
              </p:cNvSpPr>
              <p:nvPr/>
            </p:nvSpPr>
            <p:spPr>
              <a:xfrm>
                <a:off x="3793919" y="1825625"/>
                <a:ext cx="472142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depreciation of the nominal exchange rate shifts demand for domestic goods upward to </a:t>
                </a:r>
                <a14:m>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𝑍</m:t>
                        </m:r>
                      </m:e>
                      <m:sup>
                        <m:r>
                          <a:rPr lang="en-US" b="0" i="1" dirty="0" smtClean="0">
                            <a:latin typeface="Cambria Math" panose="02040503050406030204" pitchFamily="18" charset="0"/>
                          </a:rPr>
                          <m:t>′</m:t>
                        </m:r>
                      </m:sup>
                    </m:sSup>
                  </m:oMath>
                </a14:m>
                <a:r>
                  <a:rPr lang="en-US" dirty="0"/>
                  <a:t>.</a:t>
                </a:r>
              </a:p>
              <a:p>
                <a:pPr lvl="3"/>
                <a:endParaRPr lang="en-US" dirty="0"/>
              </a:p>
              <a:p>
                <a:r>
                  <a:rPr lang="en-US" dirty="0"/>
                  <a:t>Note that the output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𝑌</m:t>
                        </m:r>
                      </m:e>
                      <m:sup>
                        <m:r>
                          <a:rPr lang="en-US" i="1">
                            <a:latin typeface="Cambria Math" panose="02040503050406030204" pitchFamily="18" charset="0"/>
                          </a:rPr>
                          <m:t>∗′</m:t>
                        </m:r>
                      </m:sup>
                    </m:sSup>
                  </m:oMath>
                </a14:m>
                <a:r>
                  <a:rPr lang="en-US" dirty="0"/>
                  <a:t> now exceeds potential output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𝑛</m:t>
                        </m:r>
                      </m:sub>
                    </m:sSub>
                  </m:oMath>
                </a14:m>
                <a:r>
                  <a:rPr lang="en-US" dirty="0"/>
                  <a:t>.</a:t>
                </a:r>
              </a:p>
              <a:p>
                <a:pPr lvl="3"/>
                <a:endParaRPr lang="en-US" dirty="0"/>
              </a:p>
              <a:p>
                <a:r>
                  <a:rPr lang="en-US" dirty="0"/>
                  <a:t>Appropriate contractionary fiscal policy will pull the demand for domestic goods back to </a:t>
                </a:r>
                <a14:m>
                  <m:oMath xmlns:m="http://schemas.openxmlformats.org/officeDocument/2006/math">
                    <m:r>
                      <a:rPr lang="en-US" i="1" dirty="0" smtClean="0">
                        <a:latin typeface="Cambria Math" panose="02040503050406030204" pitchFamily="18" charset="0"/>
                      </a:rPr>
                      <m:t>𝑍</m:t>
                    </m:r>
                  </m:oMath>
                </a14:m>
                <a:r>
                  <a:rPr lang="en-US" dirty="0"/>
                  <a:t>.</a:t>
                </a:r>
              </a:p>
              <a:p>
                <a:pPr lvl="3"/>
                <a:endParaRPr lang="en-US" dirty="0"/>
              </a:p>
              <a:p>
                <a:endParaRPr lang="en-US" dirty="0"/>
              </a:p>
            </p:txBody>
          </p:sp>
        </mc:Choice>
        <mc:Fallback xmlns="">
          <p:sp>
            <p:nvSpPr>
              <p:cNvPr id="38" name="Content Placeholder 3">
                <a:extLst>
                  <a:ext uri="{FF2B5EF4-FFF2-40B4-BE49-F238E27FC236}">
                    <a16:creationId xmlns:a16="http://schemas.microsoft.com/office/drawing/2014/main" id="{2DC14353-35AC-A7AB-AFA7-F36D50081826}"/>
                  </a:ext>
                </a:extLst>
              </p:cNvPr>
              <p:cNvSpPr txBox="1">
                <a:spLocks noRot="1" noChangeAspect="1" noMove="1" noResize="1" noEditPoints="1" noAdjustHandles="1" noChangeArrowheads="1" noChangeShapeType="1" noTextEdit="1"/>
              </p:cNvSpPr>
              <p:nvPr/>
            </p:nvSpPr>
            <p:spPr>
              <a:xfrm>
                <a:off x="3793919" y="1825625"/>
                <a:ext cx="4721429" cy="4351338"/>
              </a:xfrm>
              <a:prstGeom prst="rect">
                <a:avLst/>
              </a:prstGeom>
              <a:blipFill>
                <a:blip r:embed="rId2"/>
                <a:stretch>
                  <a:fillRect l="-1677" t="-1821" r="-6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E0B70B3-5A26-0039-0391-F1A29F0E950F}"/>
                  </a:ext>
                </a:extLst>
              </p:cNvPr>
              <p:cNvSpPr txBox="1"/>
              <p:nvPr/>
            </p:nvSpPr>
            <p:spPr>
              <a:xfrm>
                <a:off x="3407454" y="2434862"/>
                <a:ext cx="23827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600" b="0" i="1" smtClean="0">
                              <a:solidFill>
                                <a:srgbClr val="0070C0"/>
                              </a:solidFill>
                              <a:latin typeface="Cambria Math" panose="02040503050406030204" pitchFamily="18" charset="0"/>
                            </a:rPr>
                          </m:ctrlPr>
                        </m:sSupPr>
                        <m:e>
                          <m:r>
                            <a:rPr lang="en-US" sz="1600" b="0" i="1" smtClean="0">
                              <a:solidFill>
                                <a:srgbClr val="0070C0"/>
                              </a:solidFill>
                              <a:latin typeface="Cambria Math" panose="02040503050406030204" pitchFamily="18" charset="0"/>
                            </a:rPr>
                            <m:t>𝑍</m:t>
                          </m:r>
                        </m:e>
                        <m:sup>
                          <m:r>
                            <a:rPr lang="en-US" sz="1600" b="0" i="1" smtClean="0">
                              <a:solidFill>
                                <a:srgbClr val="0070C0"/>
                              </a:solidFill>
                              <a:latin typeface="Cambria Math" panose="02040503050406030204" pitchFamily="18" charset="0"/>
                            </a:rPr>
                            <m:t>′</m:t>
                          </m:r>
                        </m:sup>
                      </m:sSup>
                    </m:oMath>
                  </m:oMathPara>
                </a14:m>
                <a:endParaRPr lang="en-US" sz="1600" dirty="0">
                  <a:solidFill>
                    <a:srgbClr val="0070C0"/>
                  </a:solidFill>
                </a:endParaRPr>
              </a:p>
            </p:txBody>
          </p:sp>
        </mc:Choice>
        <mc:Fallback xmlns="">
          <p:sp>
            <p:nvSpPr>
              <p:cNvPr id="23" name="TextBox 22">
                <a:extLst>
                  <a:ext uri="{FF2B5EF4-FFF2-40B4-BE49-F238E27FC236}">
                    <a16:creationId xmlns:a16="http://schemas.microsoft.com/office/drawing/2014/main" id="{4E0B70B3-5A26-0039-0391-F1A29F0E950F}"/>
                  </a:ext>
                </a:extLst>
              </p:cNvPr>
              <p:cNvSpPr txBox="1">
                <a:spLocks noRot="1" noChangeAspect="1" noMove="1" noResize="1" noEditPoints="1" noAdjustHandles="1" noChangeArrowheads="1" noChangeShapeType="1" noTextEdit="1"/>
              </p:cNvSpPr>
              <p:nvPr/>
            </p:nvSpPr>
            <p:spPr>
              <a:xfrm>
                <a:off x="3407454" y="2434862"/>
                <a:ext cx="238270" cy="246221"/>
              </a:xfrm>
              <a:prstGeom prst="rect">
                <a:avLst/>
              </a:prstGeom>
              <a:blipFill>
                <a:blip r:embed="rId3"/>
                <a:stretch>
                  <a:fillRect l="-20513" r="-5128" b="-4878"/>
                </a:stretch>
              </a:blipFill>
            </p:spPr>
            <p:txBody>
              <a:bodyPr/>
              <a:lstStyle/>
              <a:p>
                <a:r>
                  <a:rPr lang="en-US">
                    <a:noFill/>
                  </a:rPr>
                  <a:t> </a:t>
                </a:r>
              </a:p>
            </p:txBody>
          </p:sp>
        </mc:Fallback>
      </mc:AlternateContent>
      <p:grpSp>
        <p:nvGrpSpPr>
          <p:cNvPr id="64" name="Group 63">
            <a:extLst>
              <a:ext uri="{FF2B5EF4-FFF2-40B4-BE49-F238E27FC236}">
                <a16:creationId xmlns:a16="http://schemas.microsoft.com/office/drawing/2014/main" id="{543C7C0D-F2D6-6810-04CF-3A4CAF1CFE57}"/>
              </a:ext>
            </a:extLst>
          </p:cNvPr>
          <p:cNvGrpSpPr/>
          <p:nvPr/>
        </p:nvGrpSpPr>
        <p:grpSpPr>
          <a:xfrm>
            <a:off x="870843" y="2534268"/>
            <a:ext cx="2920451" cy="3508984"/>
            <a:chOff x="870843" y="2534268"/>
            <a:chExt cx="2920451" cy="3508984"/>
          </a:xfrm>
        </p:grpSpPr>
        <p:cxnSp>
          <p:nvCxnSpPr>
            <p:cNvPr id="16" name="Straight Connector 15">
              <a:extLst>
                <a:ext uri="{FF2B5EF4-FFF2-40B4-BE49-F238E27FC236}">
                  <a16:creationId xmlns:a16="http://schemas.microsoft.com/office/drawing/2014/main" id="{A0409A18-86FC-2537-835C-8E71A55C2D23}"/>
                </a:ext>
              </a:extLst>
            </p:cNvPr>
            <p:cNvCxnSpPr>
              <a:cxnSpLocks/>
            </p:cNvCxnSpPr>
            <p:nvPr/>
          </p:nvCxnSpPr>
          <p:spPr>
            <a:xfrm flipV="1">
              <a:off x="870843" y="2534268"/>
              <a:ext cx="2513560" cy="672366"/>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5F1909D-3CC8-A49C-707E-C26B848C3A8E}"/>
                </a:ext>
              </a:extLst>
            </p:cNvPr>
            <p:cNvCxnSpPr>
              <a:cxnSpLocks/>
            </p:cNvCxnSpPr>
            <p:nvPr/>
          </p:nvCxnSpPr>
          <p:spPr>
            <a:xfrm flipV="1">
              <a:off x="1028001" y="3200633"/>
              <a:ext cx="0" cy="246888"/>
            </a:xfrm>
            <a:prstGeom prst="straightConnector1">
              <a:avLst/>
            </a:prstGeom>
            <a:ln>
              <a:solidFill>
                <a:srgbClr val="FF0000"/>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8887812-8662-5EA9-C714-06563E0B2AC8}"/>
                    </a:ext>
                  </a:extLst>
                </p:cNvPr>
                <p:cNvSpPr txBox="1"/>
                <p:nvPr/>
              </p:nvSpPr>
              <p:spPr>
                <a:xfrm>
                  <a:off x="1047656" y="3211262"/>
                  <a:ext cx="342017"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1200" b="0" i="0" smtClean="0">
                            <a:solidFill>
                              <a:srgbClr val="FF0000"/>
                            </a:solidFill>
                            <a:latin typeface="Cambria Math" panose="02040503050406030204" pitchFamily="18" charset="0"/>
                          </a:rPr>
                          <m:t>Δ</m:t>
                        </m:r>
                        <m:r>
                          <a:rPr lang="en-US" sz="1200" b="0" i="1" smtClean="0">
                            <a:solidFill>
                              <a:srgbClr val="FF0000"/>
                            </a:solidFill>
                            <a:latin typeface="Cambria Math" panose="02040503050406030204" pitchFamily="18" charset="0"/>
                          </a:rPr>
                          <m:t>𝑁𝑋</m:t>
                        </m:r>
                      </m:oMath>
                    </m:oMathPara>
                  </a14:m>
                  <a:endParaRPr lang="en-US" sz="1200" dirty="0">
                    <a:solidFill>
                      <a:srgbClr val="FF0000"/>
                    </a:solidFill>
                  </a:endParaRPr>
                </a:p>
              </p:txBody>
            </p:sp>
          </mc:Choice>
          <mc:Fallback xmlns="">
            <p:sp>
              <p:nvSpPr>
                <p:cNvPr id="32" name="TextBox 31">
                  <a:extLst>
                    <a:ext uri="{FF2B5EF4-FFF2-40B4-BE49-F238E27FC236}">
                      <a16:creationId xmlns:a16="http://schemas.microsoft.com/office/drawing/2014/main" id="{68887812-8662-5EA9-C714-06563E0B2AC8}"/>
                    </a:ext>
                  </a:extLst>
                </p:cNvPr>
                <p:cNvSpPr txBox="1">
                  <a:spLocks noRot="1" noChangeAspect="1" noMove="1" noResize="1" noEditPoints="1" noAdjustHandles="1" noChangeArrowheads="1" noChangeShapeType="1" noTextEdit="1"/>
                </p:cNvSpPr>
                <p:nvPr/>
              </p:nvSpPr>
              <p:spPr>
                <a:xfrm>
                  <a:off x="1047656" y="3211262"/>
                  <a:ext cx="342017" cy="184666"/>
                </a:xfrm>
                <a:prstGeom prst="rect">
                  <a:avLst/>
                </a:prstGeom>
                <a:blipFill>
                  <a:blip r:embed="rId4"/>
                  <a:stretch>
                    <a:fillRect l="-10714" r="-8929"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9648714-5D60-642F-423D-FBCAECC1B44F}"/>
                    </a:ext>
                  </a:extLst>
                </p:cNvPr>
                <p:cNvSpPr txBox="1"/>
                <p:nvPr/>
              </p:nvSpPr>
              <p:spPr>
                <a:xfrm>
                  <a:off x="2491541" y="4422055"/>
                  <a:ext cx="27135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smtClean="0">
                                <a:solidFill>
                                  <a:schemeClr val="tx1"/>
                                </a:solidFill>
                                <a:latin typeface="Cambria Math" panose="02040503050406030204" pitchFamily="18" charset="0"/>
                              </a:rPr>
                            </m:ctrlPr>
                          </m:sSupPr>
                          <m:e>
                            <m:r>
                              <a:rPr lang="en-US" sz="1400" b="0" i="1" smtClean="0">
                                <a:solidFill>
                                  <a:schemeClr val="tx1"/>
                                </a:solidFill>
                                <a:latin typeface="Cambria Math" panose="02040503050406030204" pitchFamily="18" charset="0"/>
                              </a:rPr>
                              <m:t>𝑌</m:t>
                            </m:r>
                          </m:e>
                          <m:sup>
                            <m:r>
                              <a:rPr lang="en-US" sz="1400" b="0" i="1" smtClean="0">
                                <a:solidFill>
                                  <a:schemeClr val="tx1"/>
                                </a:solidFill>
                                <a:latin typeface="Cambria Math" panose="02040503050406030204" pitchFamily="18" charset="0"/>
                              </a:rPr>
                              <m:t>∗′</m:t>
                            </m:r>
                          </m:sup>
                        </m:sSup>
                      </m:oMath>
                    </m:oMathPara>
                  </a14:m>
                  <a:endParaRPr lang="en-US" sz="1400" dirty="0">
                    <a:solidFill>
                      <a:schemeClr val="tx1"/>
                    </a:solidFill>
                  </a:endParaRPr>
                </a:p>
              </p:txBody>
            </p:sp>
          </mc:Choice>
          <mc:Fallback xmlns="">
            <p:sp>
              <p:nvSpPr>
                <p:cNvPr id="37" name="TextBox 36">
                  <a:extLst>
                    <a:ext uri="{FF2B5EF4-FFF2-40B4-BE49-F238E27FC236}">
                      <a16:creationId xmlns:a16="http://schemas.microsoft.com/office/drawing/2014/main" id="{89648714-5D60-642F-423D-FBCAECC1B44F}"/>
                    </a:ext>
                  </a:extLst>
                </p:cNvPr>
                <p:cNvSpPr txBox="1">
                  <a:spLocks noRot="1" noChangeAspect="1" noMove="1" noResize="1" noEditPoints="1" noAdjustHandles="1" noChangeArrowheads="1" noChangeShapeType="1" noTextEdit="1"/>
                </p:cNvSpPr>
                <p:nvPr/>
              </p:nvSpPr>
              <p:spPr>
                <a:xfrm>
                  <a:off x="2491541" y="4422055"/>
                  <a:ext cx="271356" cy="215444"/>
                </a:xfrm>
                <a:prstGeom prst="rect">
                  <a:avLst/>
                </a:prstGeom>
                <a:blipFill>
                  <a:blip r:embed="rId5"/>
                  <a:stretch>
                    <a:fillRect l="-15909" r="-2273" b="-2778"/>
                  </a:stretch>
                </a:blipFill>
              </p:spPr>
              <p:txBody>
                <a:bodyPr/>
                <a:lstStyle/>
                <a:p>
                  <a:r>
                    <a:rPr lang="en-US">
                      <a:noFill/>
                    </a:rPr>
                    <a:t> </a:t>
                  </a:r>
                </a:p>
              </p:txBody>
            </p:sp>
          </mc:Fallback>
        </mc:AlternateContent>
        <p:sp>
          <p:nvSpPr>
            <p:cNvPr id="39" name="Oval 38">
              <a:extLst>
                <a:ext uri="{FF2B5EF4-FFF2-40B4-BE49-F238E27FC236}">
                  <a16:creationId xmlns:a16="http://schemas.microsoft.com/office/drawing/2014/main" id="{65230121-6645-D713-6A24-1DD0C55F586E}"/>
                </a:ext>
              </a:extLst>
            </p:cNvPr>
            <p:cNvSpPr/>
            <p:nvPr/>
          </p:nvSpPr>
          <p:spPr>
            <a:xfrm>
              <a:off x="2484093" y="2732700"/>
              <a:ext cx="64008" cy="6400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3FFF544C-3FCF-B144-EA87-EB82270A05D6}"/>
                    </a:ext>
                  </a:extLst>
                </p:cNvPr>
                <p:cNvSpPr txBox="1"/>
                <p:nvPr/>
              </p:nvSpPr>
              <p:spPr>
                <a:xfrm>
                  <a:off x="2293900" y="2541793"/>
                  <a:ext cx="329116"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050" b="0" i="1" dirty="0" smtClean="0">
                                <a:latin typeface="Cambria Math" panose="02040503050406030204" pitchFamily="18" charset="0"/>
                              </a:rPr>
                            </m:ctrlPr>
                          </m:sSupPr>
                          <m:e>
                            <m:r>
                              <a:rPr lang="en-US" sz="1050" i="1" dirty="0" smtClean="0">
                                <a:latin typeface="Cambria Math" panose="02040503050406030204" pitchFamily="18" charset="0"/>
                              </a:rPr>
                              <m:t>𝐴</m:t>
                            </m:r>
                          </m:e>
                          <m:sup>
                            <m:r>
                              <a:rPr lang="en-US" sz="1050" b="0" i="1" dirty="0" smtClean="0">
                                <a:latin typeface="Cambria Math" panose="02040503050406030204" pitchFamily="18" charset="0"/>
                              </a:rPr>
                              <m:t>′</m:t>
                            </m:r>
                          </m:sup>
                        </m:sSup>
                      </m:oMath>
                    </m:oMathPara>
                  </a14:m>
                  <a:endParaRPr lang="en-US" sz="1050" dirty="0"/>
                </a:p>
              </p:txBody>
            </p:sp>
          </mc:Choice>
          <mc:Fallback xmlns="">
            <p:sp>
              <p:nvSpPr>
                <p:cNvPr id="44" name="TextBox 43">
                  <a:extLst>
                    <a:ext uri="{FF2B5EF4-FFF2-40B4-BE49-F238E27FC236}">
                      <a16:creationId xmlns:a16="http://schemas.microsoft.com/office/drawing/2014/main" id="{3FFF544C-3FCF-B144-EA87-EB82270A05D6}"/>
                    </a:ext>
                  </a:extLst>
                </p:cNvPr>
                <p:cNvSpPr txBox="1">
                  <a:spLocks noRot="1" noChangeAspect="1" noMove="1" noResize="1" noEditPoints="1" noAdjustHandles="1" noChangeArrowheads="1" noChangeShapeType="1" noTextEdit="1"/>
                </p:cNvSpPr>
                <p:nvPr/>
              </p:nvSpPr>
              <p:spPr>
                <a:xfrm>
                  <a:off x="2293900" y="2541793"/>
                  <a:ext cx="329116" cy="261610"/>
                </a:xfrm>
                <a:prstGeom prst="rect">
                  <a:avLst/>
                </a:prstGeom>
                <a:blipFill>
                  <a:blip r:embed="rId6"/>
                  <a:stretch>
                    <a:fillRect/>
                  </a:stretch>
                </a:blipFill>
              </p:spPr>
              <p:txBody>
                <a:bodyPr/>
                <a:lstStyle/>
                <a:p>
                  <a:r>
                    <a:rPr lang="en-US">
                      <a:noFill/>
                    </a:rPr>
                    <a:t> </a:t>
                  </a:r>
                </a:p>
              </p:txBody>
            </p:sp>
          </mc:Fallback>
        </mc:AlternateContent>
        <p:cxnSp>
          <p:nvCxnSpPr>
            <p:cNvPr id="36" name="Straight Connector 35">
              <a:extLst>
                <a:ext uri="{FF2B5EF4-FFF2-40B4-BE49-F238E27FC236}">
                  <a16:creationId xmlns:a16="http://schemas.microsoft.com/office/drawing/2014/main" id="{9C541D2C-BC5F-E048-CB1B-A7D9060CA211}"/>
                </a:ext>
              </a:extLst>
            </p:cNvPr>
            <p:cNvCxnSpPr>
              <a:cxnSpLocks/>
            </p:cNvCxnSpPr>
            <p:nvPr/>
          </p:nvCxnSpPr>
          <p:spPr>
            <a:xfrm>
              <a:off x="874113" y="5185614"/>
              <a:ext cx="2574266" cy="857638"/>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AA8A869-9A5B-374A-7CF5-5F88FF5B2856}"/>
                    </a:ext>
                  </a:extLst>
                </p:cNvPr>
                <p:cNvSpPr txBox="1"/>
                <p:nvPr/>
              </p:nvSpPr>
              <p:spPr>
                <a:xfrm>
                  <a:off x="3437479" y="5800422"/>
                  <a:ext cx="35381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accent4">
                                <a:lumMod val="75000"/>
                              </a:schemeClr>
                            </a:solidFill>
                            <a:latin typeface="Cambria Math" panose="02040503050406030204" pitchFamily="18" charset="0"/>
                          </a:rPr>
                          <m:t>𝑁</m:t>
                        </m:r>
                        <m:sSup>
                          <m:sSupPr>
                            <m:ctrlPr>
                              <a:rPr lang="en-US" sz="1400" b="0" i="1" smtClean="0">
                                <a:solidFill>
                                  <a:schemeClr val="accent4">
                                    <a:lumMod val="75000"/>
                                  </a:schemeClr>
                                </a:solidFill>
                                <a:latin typeface="Cambria Math" panose="02040503050406030204" pitchFamily="18" charset="0"/>
                              </a:rPr>
                            </m:ctrlPr>
                          </m:sSupPr>
                          <m:e>
                            <m:r>
                              <a:rPr lang="en-US" sz="1400" b="0" i="1" smtClean="0">
                                <a:solidFill>
                                  <a:schemeClr val="accent4">
                                    <a:lumMod val="75000"/>
                                  </a:schemeClr>
                                </a:solidFill>
                                <a:latin typeface="Cambria Math" panose="02040503050406030204" pitchFamily="18" charset="0"/>
                              </a:rPr>
                              <m:t>𝑋</m:t>
                            </m:r>
                          </m:e>
                          <m:sup>
                            <m:r>
                              <a:rPr lang="en-US" sz="1400" b="0" i="1" smtClean="0">
                                <a:solidFill>
                                  <a:schemeClr val="accent4">
                                    <a:lumMod val="75000"/>
                                  </a:schemeClr>
                                </a:solidFill>
                                <a:latin typeface="Cambria Math" panose="02040503050406030204" pitchFamily="18" charset="0"/>
                              </a:rPr>
                              <m:t>′</m:t>
                            </m:r>
                          </m:sup>
                        </m:sSup>
                      </m:oMath>
                    </m:oMathPara>
                  </a14:m>
                  <a:endParaRPr lang="en-US" sz="1400" dirty="0">
                    <a:solidFill>
                      <a:schemeClr val="accent4">
                        <a:lumMod val="75000"/>
                      </a:schemeClr>
                    </a:solidFill>
                  </a:endParaRPr>
                </a:p>
              </p:txBody>
            </p:sp>
          </mc:Choice>
          <mc:Fallback xmlns="">
            <p:sp>
              <p:nvSpPr>
                <p:cNvPr id="51" name="TextBox 50">
                  <a:extLst>
                    <a:ext uri="{FF2B5EF4-FFF2-40B4-BE49-F238E27FC236}">
                      <a16:creationId xmlns:a16="http://schemas.microsoft.com/office/drawing/2014/main" id="{CAA8A869-9A5B-374A-7CF5-5F88FF5B2856}"/>
                    </a:ext>
                  </a:extLst>
                </p:cNvPr>
                <p:cNvSpPr txBox="1">
                  <a:spLocks noRot="1" noChangeAspect="1" noMove="1" noResize="1" noEditPoints="1" noAdjustHandles="1" noChangeArrowheads="1" noChangeShapeType="1" noTextEdit="1"/>
                </p:cNvSpPr>
                <p:nvPr/>
              </p:nvSpPr>
              <p:spPr>
                <a:xfrm>
                  <a:off x="3437479" y="5800422"/>
                  <a:ext cx="353815" cy="215444"/>
                </a:xfrm>
                <a:prstGeom prst="rect">
                  <a:avLst/>
                </a:prstGeom>
                <a:blipFill>
                  <a:blip r:embed="rId7"/>
                  <a:stretch>
                    <a:fillRect l="-12069" r="-1724" b="-5714"/>
                  </a:stretch>
                </a:blipFill>
              </p:spPr>
              <p:txBody>
                <a:bodyPr/>
                <a:lstStyle/>
                <a:p>
                  <a:r>
                    <a:rPr lang="en-US">
                      <a:noFill/>
                    </a:rPr>
                    <a:t> </a:t>
                  </a:r>
                </a:p>
              </p:txBody>
            </p:sp>
          </mc:Fallback>
        </mc:AlternateContent>
        <p:cxnSp>
          <p:nvCxnSpPr>
            <p:cNvPr id="40" name="Straight Connector 39">
              <a:extLst>
                <a:ext uri="{FF2B5EF4-FFF2-40B4-BE49-F238E27FC236}">
                  <a16:creationId xmlns:a16="http://schemas.microsoft.com/office/drawing/2014/main" id="{B28A10E8-14B6-AFA4-D816-B9EEA8417CA9}"/>
                </a:ext>
              </a:extLst>
            </p:cNvPr>
            <p:cNvCxnSpPr>
              <a:cxnSpLocks/>
              <a:stCxn id="39" idx="4"/>
            </p:cNvCxnSpPr>
            <p:nvPr/>
          </p:nvCxnSpPr>
          <p:spPr>
            <a:xfrm>
              <a:off x="2516097" y="2796708"/>
              <a:ext cx="0" cy="160415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63" name="Group 62">
            <a:extLst>
              <a:ext uri="{FF2B5EF4-FFF2-40B4-BE49-F238E27FC236}">
                <a16:creationId xmlns:a16="http://schemas.microsoft.com/office/drawing/2014/main" id="{BA72128E-8DE2-4068-C6AA-208E0D853921}"/>
              </a:ext>
            </a:extLst>
          </p:cNvPr>
          <p:cNvGrpSpPr/>
          <p:nvPr/>
        </p:nvGrpSpPr>
        <p:grpSpPr>
          <a:xfrm>
            <a:off x="549405" y="1798876"/>
            <a:ext cx="3244514" cy="4556701"/>
            <a:chOff x="549405" y="1798876"/>
            <a:chExt cx="3244514" cy="4556701"/>
          </a:xfrm>
        </p:grpSpPr>
        <p:cxnSp>
          <p:nvCxnSpPr>
            <p:cNvPr id="9" name="Straight Arrow Connector 8">
              <a:extLst>
                <a:ext uri="{FF2B5EF4-FFF2-40B4-BE49-F238E27FC236}">
                  <a16:creationId xmlns:a16="http://schemas.microsoft.com/office/drawing/2014/main" id="{C232E70B-65A1-AC86-BDD7-361A8BA55D3D}"/>
                </a:ext>
              </a:extLst>
            </p:cNvPr>
            <p:cNvCxnSpPr/>
            <p:nvPr/>
          </p:nvCxnSpPr>
          <p:spPr>
            <a:xfrm>
              <a:off x="703294" y="4402875"/>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EC32647-EF98-85BB-C53E-4696F416F6D4}"/>
                </a:ext>
              </a:extLst>
            </p:cNvPr>
            <p:cNvCxnSpPr>
              <a:cxnSpLocks/>
            </p:cNvCxnSpPr>
            <p:nvPr/>
          </p:nvCxnSpPr>
          <p:spPr>
            <a:xfrm rot="16200000">
              <a:off x="-504996" y="3197225"/>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445ECD4-AD2C-9586-7F60-FB0FD7C4FFE5}"/>
                </a:ext>
              </a:extLst>
            </p:cNvPr>
            <p:cNvCxnSpPr>
              <a:cxnSpLocks/>
            </p:cNvCxnSpPr>
            <p:nvPr/>
          </p:nvCxnSpPr>
          <p:spPr>
            <a:xfrm>
              <a:off x="880014" y="5497939"/>
              <a:ext cx="2574266" cy="857638"/>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06470AF-3359-F148-EB8F-60284AEBD8B7}"/>
                </a:ext>
              </a:extLst>
            </p:cNvPr>
            <p:cNvSpPr txBox="1"/>
            <p:nvPr/>
          </p:nvSpPr>
          <p:spPr>
            <a:xfrm>
              <a:off x="3085071" y="4108081"/>
              <a:ext cx="708848" cy="307777"/>
            </a:xfrm>
            <a:prstGeom prst="rect">
              <a:avLst/>
            </a:prstGeom>
            <a:noFill/>
          </p:spPr>
          <p:txBody>
            <a:bodyPr wrap="none" rtlCol="0">
              <a:spAutoFit/>
            </a:bodyPr>
            <a:lstStyle/>
            <a:p>
              <a:r>
                <a:rPr lang="en-US" sz="1400" dirty="0"/>
                <a:t>Output</a:t>
              </a:r>
            </a:p>
          </p:txBody>
        </p:sp>
        <p:sp>
          <p:nvSpPr>
            <p:cNvPr id="12" name="TextBox 11">
              <a:extLst>
                <a:ext uri="{FF2B5EF4-FFF2-40B4-BE49-F238E27FC236}">
                  <a16:creationId xmlns:a16="http://schemas.microsoft.com/office/drawing/2014/main" id="{18B9E9F8-0EB6-C9F6-2E3C-47DB9E65CCF9}"/>
                </a:ext>
              </a:extLst>
            </p:cNvPr>
            <p:cNvSpPr txBox="1"/>
            <p:nvPr/>
          </p:nvSpPr>
          <p:spPr>
            <a:xfrm rot="16200000">
              <a:off x="301581" y="2046700"/>
              <a:ext cx="803425" cy="307777"/>
            </a:xfrm>
            <a:prstGeom prst="rect">
              <a:avLst/>
            </a:prstGeom>
            <a:noFill/>
          </p:spPr>
          <p:txBody>
            <a:bodyPr wrap="none" rtlCol="0">
              <a:spAutoFit/>
            </a:bodyPr>
            <a:lstStyle/>
            <a:p>
              <a:r>
                <a:rPr lang="en-US" sz="1400" dirty="0"/>
                <a:t>Demand</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5CB1933-3E55-A919-DEF0-A5F3ED487933}"/>
                    </a:ext>
                  </a:extLst>
                </p:cNvPr>
                <p:cNvSpPr txBox="1"/>
                <p:nvPr/>
              </p:nvSpPr>
              <p:spPr>
                <a:xfrm>
                  <a:off x="3413725" y="2732700"/>
                  <a:ext cx="17331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rgbClr val="0070C0"/>
                            </a:solidFill>
                            <a:latin typeface="Cambria Math" panose="02040503050406030204" pitchFamily="18" charset="0"/>
                          </a:rPr>
                          <m:t>𝑍</m:t>
                        </m:r>
                      </m:oMath>
                    </m:oMathPara>
                  </a14:m>
                  <a:endParaRPr lang="en-US" sz="1600" dirty="0">
                    <a:solidFill>
                      <a:srgbClr val="0070C0"/>
                    </a:solidFill>
                  </a:endParaRPr>
                </a:p>
              </p:txBody>
            </p:sp>
          </mc:Choice>
          <mc:Fallback xmlns="">
            <p:sp>
              <p:nvSpPr>
                <p:cNvPr id="14" name="TextBox 13">
                  <a:extLst>
                    <a:ext uri="{FF2B5EF4-FFF2-40B4-BE49-F238E27FC236}">
                      <a16:creationId xmlns:a16="http://schemas.microsoft.com/office/drawing/2014/main" id="{B5CB1933-3E55-A919-DEF0-A5F3ED487933}"/>
                    </a:ext>
                  </a:extLst>
                </p:cNvPr>
                <p:cNvSpPr txBox="1">
                  <a:spLocks noRot="1" noChangeAspect="1" noMove="1" noResize="1" noEditPoints="1" noAdjustHandles="1" noChangeArrowheads="1" noChangeShapeType="1" noTextEdit="1"/>
                </p:cNvSpPr>
                <p:nvPr/>
              </p:nvSpPr>
              <p:spPr>
                <a:xfrm>
                  <a:off x="3413725" y="2732700"/>
                  <a:ext cx="173316" cy="246221"/>
                </a:xfrm>
                <a:prstGeom prst="rect">
                  <a:avLst/>
                </a:prstGeom>
                <a:blipFill>
                  <a:blip r:embed="rId8"/>
                  <a:stretch>
                    <a:fillRect l="-28571" r="-25000" b="-4878"/>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728A673D-640F-B6BC-2B39-45BC47C16553}"/>
                </a:ext>
              </a:extLst>
            </p:cNvPr>
            <p:cNvCxnSpPr>
              <a:cxnSpLocks/>
            </p:cNvCxnSpPr>
            <p:nvPr/>
          </p:nvCxnSpPr>
          <p:spPr>
            <a:xfrm flipH="1">
              <a:off x="866603" y="1917585"/>
              <a:ext cx="2501019" cy="2483278"/>
            </a:xfrm>
            <a:prstGeom prst="straightConnector1">
              <a:avLst/>
            </a:prstGeom>
            <a:ln>
              <a:solidFill>
                <a:srgbClr val="FFC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3DDD585-B5AD-B2AB-5C5E-A4170E44B06F}"/>
                </a:ext>
              </a:extLst>
            </p:cNvPr>
            <p:cNvCxnSpPr/>
            <p:nvPr/>
          </p:nvCxnSpPr>
          <p:spPr>
            <a:xfrm>
              <a:off x="703294" y="5576518"/>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75CAD38-3672-D5A9-290C-57A40565E986}"/>
                    </a:ext>
                  </a:extLst>
                </p:cNvPr>
                <p:cNvSpPr txBox="1"/>
                <p:nvPr/>
              </p:nvSpPr>
              <p:spPr>
                <a:xfrm rot="16200000">
                  <a:off x="486914" y="4722833"/>
                  <a:ext cx="47596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dirty="0" smtClean="0">
                            <a:latin typeface="Cambria Math" panose="02040503050406030204" pitchFamily="18" charset="0"/>
                          </a:rPr>
                          <m:t>𝑁𝑋</m:t>
                        </m:r>
                      </m:oMath>
                    </m:oMathPara>
                  </a14:m>
                  <a:endParaRPr lang="en-US" sz="1400" dirty="0"/>
                </a:p>
              </p:txBody>
            </p:sp>
          </mc:Choice>
          <mc:Fallback xmlns="">
            <p:sp>
              <p:nvSpPr>
                <p:cNvPr id="20" name="TextBox 19">
                  <a:extLst>
                    <a:ext uri="{FF2B5EF4-FFF2-40B4-BE49-F238E27FC236}">
                      <a16:creationId xmlns:a16="http://schemas.microsoft.com/office/drawing/2014/main" id="{E75CAD38-3672-D5A9-290C-57A40565E986}"/>
                    </a:ext>
                  </a:extLst>
                </p:cNvPr>
                <p:cNvSpPr txBox="1">
                  <a:spLocks noRot="1" noChangeAspect="1" noMove="1" noResize="1" noEditPoints="1" noAdjustHandles="1" noChangeArrowheads="1" noChangeShapeType="1" noTextEdit="1"/>
                </p:cNvSpPr>
                <p:nvPr/>
              </p:nvSpPr>
              <p:spPr>
                <a:xfrm rot="16200000">
                  <a:off x="486914" y="4722833"/>
                  <a:ext cx="475964" cy="307777"/>
                </a:xfrm>
                <a:prstGeom prst="rect">
                  <a:avLst/>
                </a:prstGeom>
                <a:blipFill>
                  <a:blip r:embed="rId9"/>
                  <a:stretch>
                    <a:fillRect/>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D9ED65C3-2371-057E-EAEC-293974ABA3D9}"/>
                </a:ext>
              </a:extLst>
            </p:cNvPr>
            <p:cNvSpPr txBox="1"/>
            <p:nvPr/>
          </p:nvSpPr>
          <p:spPr>
            <a:xfrm>
              <a:off x="3085071" y="5261780"/>
              <a:ext cx="708848" cy="307777"/>
            </a:xfrm>
            <a:prstGeom prst="rect">
              <a:avLst/>
            </a:prstGeom>
            <a:noFill/>
          </p:spPr>
          <p:txBody>
            <a:bodyPr wrap="none" rtlCol="0">
              <a:spAutoFit/>
            </a:bodyPr>
            <a:lstStyle/>
            <a:p>
              <a:r>
                <a:rPr lang="en-US" sz="1400" dirty="0"/>
                <a:t>Output</a:t>
              </a:r>
            </a:p>
          </p:txBody>
        </p:sp>
        <p:sp>
          <p:nvSpPr>
            <p:cNvPr id="22" name="Oval 21">
              <a:extLst>
                <a:ext uri="{FF2B5EF4-FFF2-40B4-BE49-F238E27FC236}">
                  <a16:creationId xmlns:a16="http://schemas.microsoft.com/office/drawing/2014/main" id="{2D876AD9-58D5-E226-D8FD-94B6C46680CC}"/>
                </a:ext>
              </a:extLst>
            </p:cNvPr>
            <p:cNvSpPr/>
            <p:nvPr/>
          </p:nvSpPr>
          <p:spPr>
            <a:xfrm>
              <a:off x="2030666" y="5856829"/>
              <a:ext cx="64008" cy="6400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102F162-C7E9-386F-26A7-E544503BF731}"/>
                    </a:ext>
                  </a:extLst>
                </p:cNvPr>
                <p:cNvSpPr txBox="1"/>
                <p:nvPr/>
              </p:nvSpPr>
              <p:spPr>
                <a:xfrm>
                  <a:off x="2074894" y="4409839"/>
                  <a:ext cx="21268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i="1">
                                <a:latin typeface="Cambria Math" panose="02040503050406030204" pitchFamily="18" charset="0"/>
                              </a:rPr>
                              <m:t>𝑌</m:t>
                            </m:r>
                          </m:e>
                          <m:sub>
                            <m:r>
                              <a:rPr lang="en-US" sz="1400" b="0" i="1" smtClean="0">
                                <a:latin typeface="Cambria Math" panose="02040503050406030204" pitchFamily="18" charset="0"/>
                              </a:rPr>
                              <m:t>𝑛</m:t>
                            </m:r>
                          </m:sub>
                        </m:sSub>
                      </m:oMath>
                    </m:oMathPara>
                  </a14:m>
                  <a:endParaRPr lang="en-US" sz="1400" dirty="0"/>
                </a:p>
              </p:txBody>
            </p:sp>
          </mc:Choice>
          <mc:Fallback xmlns="">
            <p:sp>
              <p:nvSpPr>
                <p:cNvPr id="25" name="TextBox 24">
                  <a:extLst>
                    <a:ext uri="{FF2B5EF4-FFF2-40B4-BE49-F238E27FC236}">
                      <a16:creationId xmlns:a16="http://schemas.microsoft.com/office/drawing/2014/main" id="{3102F162-C7E9-386F-26A7-E544503BF731}"/>
                    </a:ext>
                  </a:extLst>
                </p:cNvPr>
                <p:cNvSpPr txBox="1">
                  <a:spLocks noRot="1" noChangeAspect="1" noMove="1" noResize="1" noEditPoints="1" noAdjustHandles="1" noChangeArrowheads="1" noChangeShapeType="1" noTextEdit="1"/>
                </p:cNvSpPr>
                <p:nvPr/>
              </p:nvSpPr>
              <p:spPr>
                <a:xfrm>
                  <a:off x="2074894" y="4409839"/>
                  <a:ext cx="212686" cy="215444"/>
                </a:xfrm>
                <a:prstGeom prst="rect">
                  <a:avLst/>
                </a:prstGeom>
                <a:blipFill>
                  <a:blip r:embed="rId10"/>
                  <a:stretch>
                    <a:fillRect l="-20000" b="-8333"/>
                  </a:stretch>
                </a:blipFill>
              </p:spPr>
              <p:txBody>
                <a:bodyPr/>
                <a:lstStyle/>
                <a:p>
                  <a:r>
                    <a:rPr lang="en-US">
                      <a:noFill/>
                    </a:rPr>
                    <a:t> </a:t>
                  </a:r>
                </a:p>
              </p:txBody>
            </p:sp>
          </mc:Fallback>
        </mc:AlternateContent>
        <p:cxnSp>
          <p:nvCxnSpPr>
            <p:cNvPr id="30" name="Straight Connector 29">
              <a:extLst>
                <a:ext uri="{FF2B5EF4-FFF2-40B4-BE49-F238E27FC236}">
                  <a16:creationId xmlns:a16="http://schemas.microsoft.com/office/drawing/2014/main" id="{E8D13CA6-E83E-7714-59B0-040E5D41EE5D}"/>
                </a:ext>
              </a:extLst>
            </p:cNvPr>
            <p:cNvCxnSpPr>
              <a:cxnSpLocks/>
            </p:cNvCxnSpPr>
            <p:nvPr/>
          </p:nvCxnSpPr>
          <p:spPr>
            <a:xfrm flipV="1">
              <a:off x="866603" y="2857615"/>
              <a:ext cx="2513560" cy="672366"/>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690E30B9-8017-D1D8-11F8-28A8D623A8D3}"/>
                </a:ext>
              </a:extLst>
            </p:cNvPr>
            <p:cNvSpPr/>
            <p:nvPr/>
          </p:nvSpPr>
          <p:spPr>
            <a:xfrm>
              <a:off x="2030666" y="3179204"/>
              <a:ext cx="64008" cy="6400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2" name="Straight Connector 41">
              <a:extLst>
                <a:ext uri="{FF2B5EF4-FFF2-40B4-BE49-F238E27FC236}">
                  <a16:creationId xmlns:a16="http://schemas.microsoft.com/office/drawing/2014/main" id="{C3D20D49-C998-B04C-1274-BC8091C3F3F6}"/>
                </a:ext>
              </a:extLst>
            </p:cNvPr>
            <p:cNvCxnSpPr>
              <a:cxnSpLocks/>
            </p:cNvCxnSpPr>
            <p:nvPr/>
          </p:nvCxnSpPr>
          <p:spPr>
            <a:xfrm flipV="1">
              <a:off x="2062670" y="3214688"/>
              <a:ext cx="0" cy="265747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AC9EA21-A09B-C65D-4146-E797E2A175CC}"/>
                    </a:ext>
                  </a:extLst>
                </p:cNvPr>
                <p:cNvSpPr txBox="1"/>
                <p:nvPr/>
              </p:nvSpPr>
              <p:spPr>
                <a:xfrm>
                  <a:off x="3436135" y="6133945"/>
                  <a:ext cx="29129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accent4">
                                <a:lumMod val="75000"/>
                              </a:schemeClr>
                            </a:solidFill>
                            <a:latin typeface="Cambria Math" panose="02040503050406030204" pitchFamily="18" charset="0"/>
                          </a:rPr>
                          <m:t>𝑁𝑋</m:t>
                        </m:r>
                      </m:oMath>
                    </m:oMathPara>
                  </a14:m>
                  <a:endParaRPr lang="en-US" sz="1400" dirty="0">
                    <a:solidFill>
                      <a:schemeClr val="accent4">
                        <a:lumMod val="75000"/>
                      </a:schemeClr>
                    </a:solidFill>
                  </a:endParaRPr>
                </a:p>
              </p:txBody>
            </p:sp>
          </mc:Choice>
          <mc:Fallback xmlns="">
            <p:sp>
              <p:nvSpPr>
                <p:cNvPr id="35" name="TextBox 34">
                  <a:extLst>
                    <a:ext uri="{FF2B5EF4-FFF2-40B4-BE49-F238E27FC236}">
                      <a16:creationId xmlns:a16="http://schemas.microsoft.com/office/drawing/2014/main" id="{5AC9EA21-A09B-C65D-4146-E797E2A175CC}"/>
                    </a:ext>
                  </a:extLst>
                </p:cNvPr>
                <p:cNvSpPr txBox="1">
                  <a:spLocks noRot="1" noChangeAspect="1" noMove="1" noResize="1" noEditPoints="1" noAdjustHandles="1" noChangeArrowheads="1" noChangeShapeType="1" noTextEdit="1"/>
                </p:cNvSpPr>
                <p:nvPr/>
              </p:nvSpPr>
              <p:spPr>
                <a:xfrm>
                  <a:off x="3436135" y="6133945"/>
                  <a:ext cx="291298" cy="215444"/>
                </a:xfrm>
                <a:prstGeom prst="rect">
                  <a:avLst/>
                </a:prstGeom>
                <a:blipFill>
                  <a:blip r:embed="rId11"/>
                  <a:stretch>
                    <a:fillRect l="-14894" r="-12766" b="-2778"/>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091896AA-2FAB-EB68-EB30-5583E80538D5}"/>
                </a:ext>
              </a:extLst>
            </p:cNvPr>
            <p:cNvCxnSpPr>
              <a:cxnSpLocks/>
            </p:cNvCxnSpPr>
            <p:nvPr/>
          </p:nvCxnSpPr>
          <p:spPr>
            <a:xfrm flipV="1">
              <a:off x="880014" y="4692001"/>
              <a:ext cx="0" cy="1568840"/>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210D42D9-3FFA-B554-700F-3D310C9BFD36}"/>
                    </a:ext>
                  </a:extLst>
                </p:cNvPr>
                <p:cNvSpPr txBox="1"/>
                <p:nvPr/>
              </p:nvSpPr>
              <p:spPr>
                <a:xfrm>
                  <a:off x="1819785" y="2987962"/>
                  <a:ext cx="329116"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050" b="0" i="1" dirty="0" smtClean="0">
                            <a:latin typeface="Cambria Math" panose="02040503050406030204" pitchFamily="18" charset="0"/>
                          </a:rPr>
                          <m:t>𝐴</m:t>
                        </m:r>
                      </m:oMath>
                    </m:oMathPara>
                  </a14:m>
                  <a:endParaRPr lang="en-US" sz="1050" dirty="0"/>
                </a:p>
              </p:txBody>
            </p:sp>
          </mc:Choice>
          <mc:Fallback xmlns="">
            <p:sp>
              <p:nvSpPr>
                <p:cNvPr id="47" name="TextBox 46">
                  <a:extLst>
                    <a:ext uri="{FF2B5EF4-FFF2-40B4-BE49-F238E27FC236}">
                      <a16:creationId xmlns:a16="http://schemas.microsoft.com/office/drawing/2014/main" id="{210D42D9-3FFA-B554-700F-3D310C9BFD36}"/>
                    </a:ext>
                  </a:extLst>
                </p:cNvPr>
                <p:cNvSpPr txBox="1">
                  <a:spLocks noRot="1" noChangeAspect="1" noMove="1" noResize="1" noEditPoints="1" noAdjustHandles="1" noChangeArrowheads="1" noChangeShapeType="1" noTextEdit="1"/>
                </p:cNvSpPr>
                <p:nvPr/>
              </p:nvSpPr>
              <p:spPr>
                <a:xfrm>
                  <a:off x="1819785" y="2987962"/>
                  <a:ext cx="329116" cy="261610"/>
                </a:xfrm>
                <a:prstGeom prst="rect">
                  <a:avLst/>
                </a:prstGeom>
                <a:blipFill>
                  <a:blip r:embed="rId12"/>
                  <a:stretch>
                    <a:fillRect/>
                  </a:stretch>
                </a:blipFill>
              </p:spPr>
              <p:txBody>
                <a:bodyPr/>
                <a:lstStyle/>
                <a:p>
                  <a:r>
                    <a:rPr lang="en-US">
                      <a:noFill/>
                    </a:rPr>
                    <a:t> </a:t>
                  </a:r>
                </a:p>
              </p:txBody>
            </p:sp>
          </mc:Fallback>
        </mc:AlternateContent>
      </p:grpSp>
      <p:grpSp>
        <p:nvGrpSpPr>
          <p:cNvPr id="62" name="Group 61">
            <a:extLst>
              <a:ext uri="{FF2B5EF4-FFF2-40B4-BE49-F238E27FC236}">
                <a16:creationId xmlns:a16="http://schemas.microsoft.com/office/drawing/2014/main" id="{922979F8-4ACC-1C1C-22C7-100E895D348B}"/>
              </a:ext>
            </a:extLst>
          </p:cNvPr>
          <p:cNvGrpSpPr/>
          <p:nvPr/>
        </p:nvGrpSpPr>
        <p:grpSpPr>
          <a:xfrm>
            <a:off x="2030666" y="2659922"/>
            <a:ext cx="1054405" cy="2950631"/>
            <a:chOff x="2030666" y="2659922"/>
            <a:chExt cx="1054405" cy="2950631"/>
          </a:xfrm>
        </p:grpSpPr>
        <p:cxnSp>
          <p:nvCxnSpPr>
            <p:cNvPr id="57" name="Straight Arrow Connector 56">
              <a:extLst>
                <a:ext uri="{FF2B5EF4-FFF2-40B4-BE49-F238E27FC236}">
                  <a16:creationId xmlns:a16="http://schemas.microsoft.com/office/drawing/2014/main" id="{B7A991D6-C721-B911-5706-EFD599B2D0A3}"/>
                </a:ext>
              </a:extLst>
            </p:cNvPr>
            <p:cNvCxnSpPr>
              <a:cxnSpLocks/>
            </p:cNvCxnSpPr>
            <p:nvPr/>
          </p:nvCxnSpPr>
          <p:spPr>
            <a:xfrm flipV="1">
              <a:off x="3085071" y="2659922"/>
              <a:ext cx="0" cy="246888"/>
            </a:xfrm>
            <a:prstGeom prst="straightConnector1">
              <a:avLst/>
            </a:prstGeom>
            <a:ln>
              <a:solidFill>
                <a:srgbClr val="FF0000"/>
              </a:solidFill>
              <a:headEnd type="stealth"/>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E1746667-6C8C-E3CF-E2B7-E3E2E50FC262}"/>
                    </a:ext>
                  </a:extLst>
                </p:cNvPr>
                <p:cNvSpPr txBox="1"/>
                <p:nvPr/>
              </p:nvSpPr>
              <p:spPr>
                <a:xfrm>
                  <a:off x="2813209" y="2702264"/>
                  <a:ext cx="229550"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1200" b="0" i="0" smtClean="0">
                            <a:solidFill>
                              <a:srgbClr val="FF0000"/>
                            </a:solidFill>
                            <a:latin typeface="Cambria Math" panose="02040503050406030204" pitchFamily="18" charset="0"/>
                          </a:rPr>
                          <m:t>Δ</m:t>
                        </m:r>
                        <m:r>
                          <a:rPr lang="en-US" sz="1200" b="0" i="1" smtClean="0">
                            <a:solidFill>
                              <a:srgbClr val="FF0000"/>
                            </a:solidFill>
                            <a:latin typeface="Cambria Math" panose="02040503050406030204" pitchFamily="18" charset="0"/>
                          </a:rPr>
                          <m:t>𝐺</m:t>
                        </m:r>
                      </m:oMath>
                    </m:oMathPara>
                  </a14:m>
                  <a:endParaRPr lang="en-US" sz="1200" dirty="0">
                    <a:solidFill>
                      <a:srgbClr val="FF0000"/>
                    </a:solidFill>
                  </a:endParaRPr>
                </a:p>
              </p:txBody>
            </p:sp>
          </mc:Choice>
          <mc:Fallback xmlns="">
            <p:sp>
              <p:nvSpPr>
                <p:cNvPr id="58" name="TextBox 57">
                  <a:extLst>
                    <a:ext uri="{FF2B5EF4-FFF2-40B4-BE49-F238E27FC236}">
                      <a16:creationId xmlns:a16="http://schemas.microsoft.com/office/drawing/2014/main" id="{E1746667-6C8C-E3CF-E2B7-E3E2E50FC262}"/>
                    </a:ext>
                  </a:extLst>
                </p:cNvPr>
                <p:cNvSpPr txBox="1">
                  <a:spLocks noRot="1" noChangeAspect="1" noMove="1" noResize="1" noEditPoints="1" noAdjustHandles="1" noChangeArrowheads="1" noChangeShapeType="1" noTextEdit="1"/>
                </p:cNvSpPr>
                <p:nvPr/>
              </p:nvSpPr>
              <p:spPr>
                <a:xfrm>
                  <a:off x="2813209" y="2702264"/>
                  <a:ext cx="229550" cy="184666"/>
                </a:xfrm>
                <a:prstGeom prst="rect">
                  <a:avLst/>
                </a:prstGeom>
                <a:blipFill>
                  <a:blip r:embed="rId13"/>
                  <a:stretch>
                    <a:fillRect l="-15789" r="-13158" b="-3226"/>
                  </a:stretch>
                </a:blipFill>
              </p:spPr>
              <p:txBody>
                <a:bodyPr/>
                <a:lstStyle/>
                <a:p>
                  <a:r>
                    <a:rPr lang="en-US">
                      <a:noFill/>
                    </a:rPr>
                    <a:t> </a:t>
                  </a:r>
                </a:p>
              </p:txBody>
            </p:sp>
          </mc:Fallback>
        </mc:AlternateContent>
        <p:sp>
          <p:nvSpPr>
            <p:cNvPr id="61" name="Oval 60">
              <a:extLst>
                <a:ext uri="{FF2B5EF4-FFF2-40B4-BE49-F238E27FC236}">
                  <a16:creationId xmlns:a16="http://schemas.microsoft.com/office/drawing/2014/main" id="{046B74C2-795F-E1A2-5B0A-341022E2CF12}"/>
                </a:ext>
              </a:extLst>
            </p:cNvPr>
            <p:cNvSpPr/>
            <p:nvPr/>
          </p:nvSpPr>
          <p:spPr>
            <a:xfrm>
              <a:off x="2030666" y="5546545"/>
              <a:ext cx="64008" cy="6400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182127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500"/>
                                        <p:tgtEl>
                                          <p:spTgt spid="63"/>
                                        </p:tgtEl>
                                      </p:cBhvr>
                                    </p:animEffect>
                                  </p:childTnLst>
                                </p:cTn>
                              </p:par>
                              <p:par>
                                <p:cTn id="8" presetID="10" presetClass="entr" presetSubtype="0" fill="hold" nodeType="withEffect">
                                  <p:stCondLst>
                                    <p:cond delay="0"/>
                                  </p:stCondLst>
                                  <p:childTnLst>
                                    <p:set>
                                      <p:cBhvr>
                                        <p:cTn id="9" dur="1" fill="hold">
                                          <p:stCondLst>
                                            <p:cond delay="0"/>
                                          </p:stCondLst>
                                        </p:cTn>
                                        <p:tgtEl>
                                          <p:spTgt spid="38">
                                            <p:txEl>
                                              <p:pRg st="0" end="0"/>
                                            </p:txEl>
                                          </p:spTgt>
                                        </p:tgtEl>
                                        <p:attrNameLst>
                                          <p:attrName>style.visibility</p:attrName>
                                        </p:attrNameLst>
                                      </p:cBhvr>
                                      <p:to>
                                        <p:strVal val="visible"/>
                                      </p:to>
                                    </p:set>
                                    <p:animEffect transition="in" filter="fade">
                                      <p:cBhvr>
                                        <p:cTn id="10" dur="500"/>
                                        <p:tgtEl>
                                          <p:spTgt spid="38">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8">
                                            <p:txEl>
                                              <p:pRg st="2" end="2"/>
                                            </p:txEl>
                                          </p:spTgt>
                                        </p:tgtEl>
                                        <p:attrNameLst>
                                          <p:attrName>style.visibility</p:attrName>
                                        </p:attrNameLst>
                                      </p:cBhvr>
                                      <p:to>
                                        <p:strVal val="visible"/>
                                      </p:to>
                                    </p:set>
                                    <p:animEffect transition="in" filter="fade">
                                      <p:cBhvr>
                                        <p:cTn id="15" dur="500"/>
                                        <p:tgtEl>
                                          <p:spTgt spid="38">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4"/>
                                        </p:tgtEl>
                                        <p:attrNameLst>
                                          <p:attrName>style.visibility</p:attrName>
                                        </p:attrNameLst>
                                      </p:cBhvr>
                                      <p:to>
                                        <p:strVal val="visible"/>
                                      </p:to>
                                    </p:set>
                                    <p:animEffect transition="in" filter="fade">
                                      <p:cBhvr>
                                        <p:cTn id="18" dur="500"/>
                                        <p:tgtEl>
                                          <p:spTgt spid="6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8">
                                            <p:txEl>
                                              <p:pRg st="4" end="4"/>
                                            </p:txEl>
                                          </p:spTgt>
                                        </p:tgtEl>
                                        <p:attrNameLst>
                                          <p:attrName>style.visibility</p:attrName>
                                        </p:attrNameLst>
                                      </p:cBhvr>
                                      <p:to>
                                        <p:strVal val="visible"/>
                                      </p:to>
                                    </p:set>
                                    <p:animEffect transition="in" filter="fade">
                                      <p:cBhvr>
                                        <p:cTn id="26" dur="500"/>
                                        <p:tgtEl>
                                          <p:spTgt spid="38">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62"/>
                                        </p:tgtEl>
                                        <p:attrNameLst>
                                          <p:attrName>style.visibility</p:attrName>
                                        </p:attrNameLst>
                                      </p:cBhvr>
                                      <p:to>
                                        <p:strVal val="visible"/>
                                      </p:to>
                                    </p:set>
                                    <p:animEffect transition="in" filter="fade">
                                      <p:cBhvr>
                                        <p:cTn id="29"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Fiscal Policy and Exchange Rates</a:t>
            </a:r>
          </a:p>
        </p:txBody>
      </p:sp>
      <p:sp>
        <p:nvSpPr>
          <p:cNvPr id="3" name="Content Placeholder 2">
            <a:extLst>
              <a:ext uri="{FF2B5EF4-FFF2-40B4-BE49-F238E27FC236}">
                <a16:creationId xmlns:a16="http://schemas.microsoft.com/office/drawing/2014/main" id="{C46BE3FD-D149-E947-1228-E11B36CD05B2}"/>
              </a:ext>
            </a:extLst>
          </p:cNvPr>
          <p:cNvSpPr>
            <a:spLocks noGrp="1"/>
          </p:cNvSpPr>
          <p:nvPr>
            <p:ph idx="1"/>
          </p:nvPr>
        </p:nvSpPr>
        <p:spPr>
          <a:xfrm>
            <a:off x="628649" y="1825625"/>
            <a:ext cx="7886700" cy="4351338"/>
          </a:xfrm>
        </p:spPr>
        <p:txBody>
          <a:bodyPr>
            <a:normAutofit/>
          </a:bodyPr>
          <a:lstStyle/>
          <a:p>
            <a:r>
              <a:rPr lang="en-US" dirty="0"/>
              <a:t>To target two goals – balance of trade, and output – we must rely on a combination of at lest least two policies.</a:t>
            </a:r>
          </a:p>
          <a:p>
            <a:pPr lvl="3"/>
            <a:endParaRPr lang="en-US" sz="1400" dirty="0"/>
          </a:p>
          <a:p>
            <a:r>
              <a:rPr lang="en-US" dirty="0"/>
              <a:t>Suppose now we had low output alongside a trade deficit.</a:t>
            </a:r>
          </a:p>
          <a:p>
            <a:pPr lvl="1"/>
            <a:r>
              <a:rPr lang="en-US" dirty="0"/>
              <a:t>The depreciation of real exchange rates will lead to an increase in output and an improvement of the trade balance.</a:t>
            </a:r>
          </a:p>
          <a:p>
            <a:pPr lvl="1"/>
            <a:r>
              <a:rPr lang="en-US" dirty="0"/>
              <a:t>However, there is no guarantee that both goals will be met exactly based on a single policy change, so we may have to fine-tune our approach with fiscal policy.</a:t>
            </a:r>
          </a:p>
          <a:p>
            <a:pPr lvl="3"/>
            <a:endParaRPr lang="en-US" sz="1400" dirty="0"/>
          </a:p>
          <a:p>
            <a:r>
              <a:rPr lang="en-US" dirty="0"/>
              <a:t>Suppose now we had high output and a trade surplus…</a:t>
            </a:r>
          </a:p>
        </p:txBody>
      </p:sp>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33</a:t>
            </a:fld>
            <a:endParaRPr lang="en-US" dirty="0"/>
          </a:p>
        </p:txBody>
      </p:sp>
    </p:spTree>
    <p:extLst>
      <p:ext uri="{BB962C8B-B14F-4D97-AF65-F5344CB8AC3E}">
        <p14:creationId xmlns:p14="http://schemas.microsoft.com/office/powerpoint/2010/main" val="2115923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247FCD-3ACE-2A96-083B-78F08A1BF596}"/>
              </a:ext>
            </a:extLst>
          </p:cNvPr>
          <p:cNvSpPr>
            <a:spLocks noGrp="1"/>
          </p:cNvSpPr>
          <p:nvPr>
            <p:ph type="dt" sz="half" idx="10"/>
          </p:nvPr>
        </p:nvSpPr>
        <p:spPr/>
        <p:txBody>
          <a:bodyPr/>
          <a:lstStyle/>
          <a:p>
            <a:r>
              <a:rPr lang="en-US"/>
              <a:t>Spring 2024</a:t>
            </a:r>
            <a:endParaRPr lang="en-US" dirty="0"/>
          </a:p>
        </p:txBody>
      </p:sp>
      <p:sp>
        <p:nvSpPr>
          <p:cNvPr id="3" name="Footer Placeholder 2">
            <a:extLst>
              <a:ext uri="{FF2B5EF4-FFF2-40B4-BE49-F238E27FC236}">
                <a16:creationId xmlns:a16="http://schemas.microsoft.com/office/drawing/2014/main" id="{CA823C11-327A-D12D-EED2-E6AF349FF43A}"/>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FCBE5948-E4F8-E88C-17D0-0A29B7816BBC}"/>
              </a:ext>
            </a:extLst>
          </p:cNvPr>
          <p:cNvSpPr>
            <a:spLocks noGrp="1"/>
          </p:cNvSpPr>
          <p:nvPr>
            <p:ph type="sldNum" sz="quarter" idx="12"/>
          </p:nvPr>
        </p:nvSpPr>
        <p:spPr/>
        <p:txBody>
          <a:bodyPr/>
          <a:lstStyle/>
          <a:p>
            <a:fld id="{1A980C56-831A-4EAB-9EDE-57C090F4F877}" type="slidenum">
              <a:rPr lang="en-US" smtClean="0"/>
              <a:t>34</a:t>
            </a:fld>
            <a:endParaRPr lang="en-US" dirty="0"/>
          </a:p>
        </p:txBody>
      </p:sp>
      <p:pic>
        <p:nvPicPr>
          <p:cNvPr id="6" name="Picture 5">
            <a:extLst>
              <a:ext uri="{FF2B5EF4-FFF2-40B4-BE49-F238E27FC236}">
                <a16:creationId xmlns:a16="http://schemas.microsoft.com/office/drawing/2014/main" id="{68F5903D-4024-F715-2CCD-A986318D2A2A}"/>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5093459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5171D5-8644-B578-F1AA-3B45C3EF360B}"/>
              </a:ext>
            </a:extLst>
          </p:cNvPr>
          <p:cNvSpPr>
            <a:spLocks noGrp="1"/>
          </p:cNvSpPr>
          <p:nvPr>
            <p:ph type="dt" sz="half" idx="10"/>
          </p:nvPr>
        </p:nvSpPr>
        <p:spPr/>
        <p:txBody>
          <a:bodyPr/>
          <a:lstStyle/>
          <a:p>
            <a:r>
              <a:rPr lang="en-US"/>
              <a:t>Spring 2024</a:t>
            </a:r>
            <a:endParaRPr lang="en-US" dirty="0"/>
          </a:p>
        </p:txBody>
      </p:sp>
      <p:sp>
        <p:nvSpPr>
          <p:cNvPr id="3" name="Footer Placeholder 2">
            <a:extLst>
              <a:ext uri="{FF2B5EF4-FFF2-40B4-BE49-F238E27FC236}">
                <a16:creationId xmlns:a16="http://schemas.microsoft.com/office/drawing/2014/main" id="{672555B5-5DF4-505A-CF34-CCF462649C03}"/>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01489652-E739-BCF6-3E72-5AB30402B8AA}"/>
              </a:ext>
            </a:extLst>
          </p:cNvPr>
          <p:cNvSpPr>
            <a:spLocks noGrp="1"/>
          </p:cNvSpPr>
          <p:nvPr>
            <p:ph type="sldNum" sz="quarter" idx="12"/>
          </p:nvPr>
        </p:nvSpPr>
        <p:spPr/>
        <p:txBody>
          <a:bodyPr/>
          <a:lstStyle/>
          <a:p>
            <a:fld id="{1A980C56-831A-4EAB-9EDE-57C090F4F877}" type="slidenum">
              <a:rPr lang="en-US" smtClean="0"/>
              <a:t>35</a:t>
            </a:fld>
            <a:endParaRPr lang="en-US" dirty="0"/>
          </a:p>
        </p:txBody>
      </p:sp>
      <p:pic>
        <p:nvPicPr>
          <p:cNvPr id="6" name="Picture 5">
            <a:extLst>
              <a:ext uri="{FF2B5EF4-FFF2-40B4-BE49-F238E27FC236}">
                <a16:creationId xmlns:a16="http://schemas.microsoft.com/office/drawing/2014/main" id="{D23055E2-11B6-C287-6358-05D0E9EC2836}"/>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0747619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Solution to In-Class Poll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6BE3FD-D149-E947-1228-E11B36CD05B2}"/>
                  </a:ext>
                </a:extLst>
              </p:cNvPr>
              <p:cNvSpPr>
                <a:spLocks noGrp="1"/>
              </p:cNvSpPr>
              <p:nvPr>
                <p:ph idx="1"/>
              </p:nvPr>
            </p:nvSpPr>
            <p:spPr>
              <a:xfrm>
                <a:off x="628649" y="1825625"/>
                <a:ext cx="7886700" cy="4351338"/>
              </a:xfrm>
            </p:spPr>
            <p:txBody>
              <a:bodyPr>
                <a:normAutofit/>
              </a:bodyPr>
              <a:lstStyle/>
              <a:p>
                <a:r>
                  <a:rPr lang="en-US" dirty="0"/>
                  <a:t>The economy is over-producing output and is recording a trade surplus.</a:t>
                </a:r>
              </a:p>
              <a:p>
                <a:pPr lvl="3"/>
                <a:endParaRPr lang="en-US" dirty="0"/>
              </a:p>
              <a:p>
                <a:r>
                  <a:rPr lang="en-US" dirty="0"/>
                  <a:t>If we implement policies that leads to the real exchange rate appreciating, we can decrease the size of the trade surplus while lowering domestic output.</a:t>
                </a:r>
              </a:p>
              <a:p>
                <a:pPr lvl="1"/>
                <a:r>
                  <a:rPr lang="en-US" dirty="0"/>
                  <a:t>Recall that a real exchange rate appreciation would be analogous to a decrease in foreign demand.</a:t>
                </a:r>
              </a:p>
              <a:p>
                <a:pPr lvl="3"/>
                <a:endParaRPr lang="en-US" dirty="0"/>
              </a:p>
              <a:p>
                <a:r>
                  <a:rPr lang="en-US" dirty="0"/>
                  <a:t>We should primarily target the balance of trade with </a:t>
                </a:r>
                <a14:m>
                  <m:oMath xmlns:m="http://schemas.openxmlformats.org/officeDocument/2006/math">
                    <m:r>
                      <a:rPr lang="en-US" b="0" i="1" smtClean="0">
                        <a:latin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oMath>
                </a14:m>
                <a:r>
                  <a:rPr lang="en-US" dirty="0"/>
                  <a:t>, and fine-tune domestic output with fiscal policy.</a:t>
                </a:r>
              </a:p>
            </p:txBody>
          </p:sp>
        </mc:Choice>
        <mc:Fallback xmlns="">
          <p:sp>
            <p:nvSpPr>
              <p:cNvPr id="3" name="Content Placeholder 2">
                <a:extLst>
                  <a:ext uri="{FF2B5EF4-FFF2-40B4-BE49-F238E27FC236}">
                    <a16:creationId xmlns:a16="http://schemas.microsoft.com/office/drawing/2014/main" id="{C46BE3FD-D149-E947-1228-E11B36CD05B2}"/>
                  </a:ext>
                </a:extLst>
              </p:cNvPr>
              <p:cNvSpPr>
                <a:spLocks noGrp="1" noRot="1" noChangeAspect="1" noMove="1" noResize="1" noEditPoints="1" noAdjustHandles="1" noChangeArrowheads="1" noChangeShapeType="1" noTextEdit="1"/>
              </p:cNvSpPr>
              <p:nvPr>
                <p:ph idx="1"/>
              </p:nvPr>
            </p:nvSpPr>
            <p:spPr>
              <a:xfrm>
                <a:off x="628649" y="1825625"/>
                <a:ext cx="7886700" cy="4351338"/>
              </a:xfrm>
              <a:blipFill>
                <a:blip r:embed="rId2"/>
                <a:stretch>
                  <a:fillRect l="-1005" t="-1821" r="-1314"/>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36</a:t>
            </a:fld>
            <a:endParaRPr lang="en-US" dirty="0"/>
          </a:p>
        </p:txBody>
      </p:sp>
    </p:spTree>
    <p:extLst>
      <p:ext uri="{BB962C8B-B14F-4D97-AF65-F5344CB8AC3E}">
        <p14:creationId xmlns:p14="http://schemas.microsoft.com/office/powerpoint/2010/main" val="2861536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A241-B45C-04F0-CF28-7DFD3D56346B}"/>
              </a:ext>
            </a:extLst>
          </p:cNvPr>
          <p:cNvSpPr>
            <a:spLocks noGrp="1"/>
          </p:cNvSpPr>
          <p:nvPr>
            <p:ph type="title"/>
          </p:nvPr>
        </p:nvSpPr>
        <p:spPr/>
        <p:txBody>
          <a:bodyPr/>
          <a:lstStyle/>
          <a:p>
            <a:r>
              <a:rPr lang="en-US" dirty="0"/>
              <a:t>When the Economy is Open…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46BE3FD-D149-E947-1228-E11B36CD05B2}"/>
                  </a:ext>
                </a:extLst>
              </p:cNvPr>
              <p:cNvSpPr>
                <a:spLocks noGrp="1"/>
              </p:cNvSpPr>
              <p:nvPr>
                <p:ph idx="1"/>
              </p:nvPr>
            </p:nvSpPr>
            <p:spPr>
              <a:xfrm>
                <a:off x="628649" y="1825625"/>
                <a:ext cx="7886700" cy="4351338"/>
              </a:xfrm>
            </p:spPr>
            <p:txBody>
              <a:bodyPr>
                <a:normAutofit/>
              </a:bodyPr>
              <a:lstStyle/>
              <a:p>
                <a:r>
                  <a:rPr lang="en-US" dirty="0"/>
                  <a:t>An increase in domestic demand will lead to an increase in domestic output (smaller than the closed economy).</a:t>
                </a:r>
              </a:p>
              <a:p>
                <a:pPr lvl="3"/>
                <a:endParaRPr lang="en-US" dirty="0"/>
              </a:p>
              <a:p>
                <a:r>
                  <a:rPr lang="en-US" dirty="0"/>
                  <a:t>An increase in foreign demand leads to an increase in domestic output and improvement of the trade balance.</a:t>
                </a:r>
              </a:p>
              <a:p>
                <a:pPr lvl="3"/>
                <a:endParaRPr lang="en-US" dirty="0"/>
              </a:p>
              <a:p>
                <a:r>
                  <a:rPr lang="en-US" dirty="0"/>
                  <a:t>Assuming that the Marshall-Lerner conditions hold…</a:t>
                </a:r>
                <a:endParaRPr lang="en-US" dirty="0">
                  <a:latin typeface="Cambria Math" panose="02040503050406030204" pitchFamily="18" charset="0"/>
                </a:endParaRPr>
              </a:p>
              <a:p>
                <a:pPr lvl="1"/>
                <a14:m>
                  <m:oMath xmlns:m="http://schemas.openxmlformats.org/officeDocument/2006/math">
                    <m:r>
                      <a:rPr lang="en-US" i="1">
                        <a:latin typeface="Cambria Math" panose="02040503050406030204" pitchFamily="18" charset="0"/>
                      </a:rPr>
                      <m:t>𝜀</m:t>
                    </m:r>
                    <m:r>
                      <a:rPr lang="en-US" i="1">
                        <a:latin typeface="Cambria Math" panose="02040503050406030204" pitchFamily="18" charset="0"/>
                        <a:ea typeface="Cambria Math" panose="02040503050406030204" pitchFamily="18" charset="0"/>
                      </a:rPr>
                      <m:t>↓   ⟹   </m:t>
                    </m:r>
                    <m:r>
                      <a:rPr lang="en-US" i="1">
                        <a:latin typeface="Cambria Math" panose="02040503050406030204" pitchFamily="18" charset="0"/>
                        <a:ea typeface="Cambria Math" panose="02040503050406030204" pitchFamily="18" charset="0"/>
                      </a:rPr>
                      <m:t>𝑌</m:t>
                    </m:r>
                    <m:r>
                      <a:rPr lang="en-US" i="1">
                        <a:latin typeface="Cambria Math" panose="02040503050406030204" pitchFamily="18" charset="0"/>
                        <a:ea typeface="Cambria Math" panose="02040503050406030204" pitchFamily="18" charset="0"/>
                      </a:rPr>
                      <m:t>↑  &amp;  </m:t>
                    </m:r>
                    <m:r>
                      <a:rPr lang="en-US" i="1">
                        <a:latin typeface="Cambria Math" panose="02040503050406030204" pitchFamily="18" charset="0"/>
                        <a:ea typeface="Cambria Math" panose="02040503050406030204" pitchFamily="18" charset="0"/>
                      </a:rPr>
                      <m:t>𝑁𝑋</m:t>
                    </m:r>
                    <m:r>
                      <a:rPr lang="en-US" i="1">
                        <a:latin typeface="Cambria Math" panose="02040503050406030204" pitchFamily="18" charset="0"/>
                        <a:ea typeface="Cambria Math" panose="02040503050406030204" pitchFamily="18" charset="0"/>
                      </a:rPr>
                      <m:t>↑</m:t>
                    </m:r>
                  </m:oMath>
                </a14:m>
                <a:endParaRPr lang="en-US" dirty="0"/>
              </a:p>
              <a:p>
                <a:pPr lvl="1"/>
                <a14:m>
                  <m:oMath xmlns:m="http://schemas.openxmlformats.org/officeDocument/2006/math">
                    <m:r>
                      <a:rPr lang="en-US" i="1">
                        <a:latin typeface="Cambria Math" panose="02040503050406030204" pitchFamily="18" charset="0"/>
                      </a:rPr>
                      <m:t>𝜀</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   </m:t>
                    </m:r>
                    <m:r>
                      <a:rPr lang="en-US" i="1">
                        <a:latin typeface="Cambria Math" panose="02040503050406030204" pitchFamily="18" charset="0"/>
                        <a:ea typeface="Cambria Math" panose="02040503050406030204" pitchFamily="18" charset="0"/>
                      </a:rPr>
                      <m:t>𝑌</m:t>
                    </m:r>
                    <m:r>
                      <a:rPr lang="en-US" i="1">
                        <a:latin typeface="Cambria Math" panose="02040503050406030204" pitchFamily="18" charset="0"/>
                        <a:ea typeface="Cambria Math" panose="02040503050406030204" pitchFamily="18" charset="0"/>
                      </a:rPr>
                      <m:t>↓  &amp;  </m:t>
                    </m:r>
                    <m:r>
                      <a:rPr lang="en-US" i="1">
                        <a:latin typeface="Cambria Math" panose="02040503050406030204" pitchFamily="18" charset="0"/>
                        <a:ea typeface="Cambria Math" panose="02040503050406030204" pitchFamily="18" charset="0"/>
                      </a:rPr>
                      <m:t>𝑁𝑋</m:t>
                    </m:r>
                    <m:r>
                      <a:rPr lang="en-US" i="1">
                        <a:latin typeface="Cambria Math" panose="02040503050406030204" pitchFamily="18" charset="0"/>
                        <a:ea typeface="Cambria Math" panose="02040503050406030204" pitchFamily="18" charset="0"/>
                      </a:rPr>
                      <m:t>↓</m:t>
                    </m:r>
                  </m:oMath>
                </a14:m>
                <a:endParaRPr lang="en-US" dirty="0"/>
              </a:p>
              <a:p>
                <a:endParaRPr lang="en-US" dirty="0"/>
              </a:p>
            </p:txBody>
          </p:sp>
        </mc:Choice>
        <mc:Fallback>
          <p:sp>
            <p:nvSpPr>
              <p:cNvPr id="3" name="Content Placeholder 2">
                <a:extLst>
                  <a:ext uri="{FF2B5EF4-FFF2-40B4-BE49-F238E27FC236}">
                    <a16:creationId xmlns:a16="http://schemas.microsoft.com/office/drawing/2014/main" id="{C46BE3FD-D149-E947-1228-E11B36CD05B2}"/>
                  </a:ext>
                </a:extLst>
              </p:cNvPr>
              <p:cNvSpPr>
                <a:spLocks noGrp="1" noRot="1" noChangeAspect="1" noMove="1" noResize="1" noEditPoints="1" noAdjustHandles="1" noChangeArrowheads="1" noChangeShapeType="1" noTextEdit="1"/>
              </p:cNvSpPr>
              <p:nvPr>
                <p:ph idx="1"/>
              </p:nvPr>
            </p:nvSpPr>
            <p:spPr>
              <a:xfrm>
                <a:off x="628649" y="1825625"/>
                <a:ext cx="7886700" cy="4351338"/>
              </a:xfrm>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7998971-1198-10FD-0DF0-CE9D44EF6F25}"/>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8E1C4062-D890-8877-7ECA-F22061C26F3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26B54946-5D08-91BA-3B84-85E2A38A1F88}"/>
              </a:ext>
            </a:extLst>
          </p:cNvPr>
          <p:cNvSpPr>
            <a:spLocks noGrp="1"/>
          </p:cNvSpPr>
          <p:nvPr>
            <p:ph type="sldNum" sz="quarter" idx="12"/>
          </p:nvPr>
        </p:nvSpPr>
        <p:spPr/>
        <p:txBody>
          <a:bodyPr/>
          <a:lstStyle/>
          <a:p>
            <a:fld id="{1A980C56-831A-4EAB-9EDE-57C090F4F877}" type="slidenum">
              <a:rPr lang="en-US" smtClean="0"/>
              <a:t>37</a:t>
            </a:fld>
            <a:endParaRPr lang="en-US" dirty="0"/>
          </a:p>
        </p:txBody>
      </p:sp>
    </p:spTree>
    <p:extLst>
      <p:ext uri="{BB962C8B-B14F-4D97-AF65-F5344CB8AC3E}">
        <p14:creationId xmlns:p14="http://schemas.microsoft.com/office/powerpoint/2010/main" val="99115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__PE_POLL_EMBED_ID" val="f89b076e-0476-4b3c-b244-78fedf9719c5"/>
</p:tagLst>
</file>

<file path=ppt/tags/tag2.xml><?xml version="1.0" encoding="utf-8"?>
<p:tagLst xmlns:a="http://schemas.openxmlformats.org/drawingml/2006/main" xmlns:r="http://schemas.openxmlformats.org/officeDocument/2006/relationships" xmlns:p="http://schemas.openxmlformats.org/presentationml/2006/main">
  <p:tag name="__PE_POLL_EMBED_ID" val="07a75063-48dd-4212-a993-c0bd5dfd0fd0"/>
</p:tagLst>
</file>

<file path=ppt/tags/tag3.xml><?xml version="1.0" encoding="utf-8"?>
<p:tagLst xmlns:a="http://schemas.openxmlformats.org/drawingml/2006/main" xmlns:r="http://schemas.openxmlformats.org/officeDocument/2006/relationships" xmlns:p="http://schemas.openxmlformats.org/presentationml/2006/main">
  <p:tag name="__PE_POLL_EMBED_ID" val="f446ac35-e56f-4240-a217-46efc2926128"/>
</p:tagLst>
</file>

<file path=ppt/tags/tag4.xml><?xml version="1.0" encoding="utf-8"?>
<p:tagLst xmlns:a="http://schemas.openxmlformats.org/drawingml/2006/main" xmlns:r="http://schemas.openxmlformats.org/officeDocument/2006/relationships" xmlns:p="http://schemas.openxmlformats.org/presentationml/2006/main">
  <p:tag name="__PE_POLL_EMBED_ID" val="5c911205-968b-4ee3-b868-a9fd5f751cb1"/>
</p:tagLst>
</file>

<file path=ppt/tags/tag5.xml><?xml version="1.0" encoding="utf-8"?>
<p:tagLst xmlns:a="http://schemas.openxmlformats.org/drawingml/2006/main" xmlns:r="http://schemas.openxmlformats.org/officeDocument/2006/relationships" xmlns:p="http://schemas.openxmlformats.org/presentationml/2006/main">
  <p:tag name="__PE_POLL_EMBED_ID" val="06cbffb4-03b8-47df-9350-29b26b59ed6d"/>
</p:tagLst>
</file>

<file path=ppt/tags/tag6.xml><?xml version="1.0" encoding="utf-8"?>
<p:tagLst xmlns:a="http://schemas.openxmlformats.org/drawingml/2006/main" xmlns:r="http://schemas.openxmlformats.org/officeDocument/2006/relationships" xmlns:p="http://schemas.openxmlformats.org/presentationml/2006/main">
  <p:tag name="__PE_POLL_EMBED_ID" val="9692006d-48cc-4574-8e4f-0f47d30f16ef"/>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CF630E01-D107-42E5-8DFC-48302BB3DFE2}" vid="{4BEE81CA-F64C-419F-A97B-23D16F4EA3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mc-presentation-template</Template>
  <TotalTime>19297</TotalTime>
  <Words>3057</Words>
  <Application>Microsoft Office PowerPoint</Application>
  <PresentationFormat>On-screen Show (4:3)</PresentationFormat>
  <Paragraphs>448</Paragraphs>
  <Slides>37</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Cambria Math</vt:lpstr>
      <vt:lpstr>Franklin Gothic Book</vt:lpstr>
      <vt:lpstr>Office Theme</vt:lpstr>
      <vt:lpstr>The Open Economy: The Goods Market</vt:lpstr>
      <vt:lpstr>https://pollev.com/brianpark046</vt:lpstr>
      <vt:lpstr>The Goods Market &amp; IS Relation in an Open Economy</vt:lpstr>
      <vt:lpstr>Accounting for Imports</vt:lpstr>
      <vt:lpstr>Accounting for Imports</vt:lpstr>
      <vt:lpstr>Accounting for Exports</vt:lpstr>
      <vt:lpstr>PowerPoint Presentation</vt:lpstr>
      <vt:lpstr>PowerPoint Presentation</vt:lpstr>
      <vt:lpstr>Visualizing the Open Goods Market</vt:lpstr>
      <vt:lpstr>Observations</vt:lpstr>
      <vt:lpstr>Visualizing the Open Goods Market</vt:lpstr>
      <vt:lpstr>Visualizing the Open Goods Market</vt:lpstr>
      <vt:lpstr>Visualizing the Open Goods Market</vt:lpstr>
      <vt:lpstr>Changes to Demand: Government Expenditure</vt:lpstr>
      <vt:lpstr>Changes to Demand: Government Expenditure</vt:lpstr>
      <vt:lpstr>Changes to Demand: Foreign Demand</vt:lpstr>
      <vt:lpstr>Changes to Demand: Foreign Demand</vt:lpstr>
      <vt:lpstr>Changes to Demand: Foreign Demand</vt:lpstr>
      <vt:lpstr>Changes to Demand: Foreign Demand</vt:lpstr>
      <vt:lpstr>Consequences of Openness</vt:lpstr>
      <vt:lpstr>Consequences of Openness</vt:lpstr>
      <vt:lpstr>Consequences of Openness</vt:lpstr>
      <vt:lpstr>Real-World Attempts at Coordination</vt:lpstr>
      <vt:lpstr>Changes to Exchange Rates: Nominal &amp; Real Depreciation</vt:lpstr>
      <vt:lpstr>Changes to Exchange Rates: Real Depreciation</vt:lpstr>
      <vt:lpstr>Changes to Exchange Rates: The Marshall-Lerner Condition</vt:lpstr>
      <vt:lpstr>Changes to Exchange Rates: Real Depreciation</vt:lpstr>
      <vt:lpstr>Fiscal Policy and Exchange Rates</vt:lpstr>
      <vt:lpstr>PowerPoint Presentation</vt:lpstr>
      <vt:lpstr>PowerPoint Presentation</vt:lpstr>
      <vt:lpstr>Fiscal Policy and Exchange Rates</vt:lpstr>
      <vt:lpstr>Fiscal Policy and Exchange Rates</vt:lpstr>
      <vt:lpstr>Fiscal Policy and Exchange Rates</vt:lpstr>
      <vt:lpstr>PowerPoint Presentation</vt:lpstr>
      <vt:lpstr>PowerPoint Presentation</vt:lpstr>
      <vt:lpstr>Solution to In-Class Poll</vt:lpstr>
      <vt:lpstr>When the Economy is Open…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Intermediate Price Theory</dc:title>
  <dc:creator>Brian Park</dc:creator>
  <cp:lastModifiedBy>Brian Park</cp:lastModifiedBy>
  <cp:revision>276</cp:revision>
  <dcterms:created xsi:type="dcterms:W3CDTF">2023-08-17T23:00:51Z</dcterms:created>
  <dcterms:modified xsi:type="dcterms:W3CDTF">2024-04-16T20:05:55Z</dcterms:modified>
</cp:coreProperties>
</file>