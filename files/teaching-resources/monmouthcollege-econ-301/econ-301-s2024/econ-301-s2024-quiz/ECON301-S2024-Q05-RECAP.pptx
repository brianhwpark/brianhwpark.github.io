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9"/>
  </p:notesMasterIdLst>
  <p:sldIdLst>
    <p:sldId id="256" r:id="rId2"/>
    <p:sldId id="273" r:id="rId3"/>
    <p:sldId id="275" r:id="rId4"/>
    <p:sldId id="276" r:id="rId5"/>
    <p:sldId id="277" r:id="rId6"/>
    <p:sldId id="278" r:id="rId7"/>
    <p:sldId id="279" r:id="rId8"/>
    <p:sldId id="280" r:id="rId9"/>
    <p:sldId id="296" r:id="rId10"/>
    <p:sldId id="281" r:id="rId11"/>
    <p:sldId id="299" r:id="rId12"/>
    <p:sldId id="302" r:id="rId13"/>
    <p:sldId id="303" r:id="rId14"/>
    <p:sldId id="283" r:id="rId15"/>
    <p:sldId id="304" r:id="rId16"/>
    <p:sldId id="300" r:id="rId17"/>
    <p:sldId id="30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4/28/2024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9.png"/><Relationship Id="rId2" Type="http://schemas.openxmlformats.org/officeDocument/2006/relationships/image" Target="../media/image28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2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Relationship Id="rId1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Quiz #5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</a:t>
            </a:r>
            <a:r>
              <a:rPr lang="en-US" dirty="0"/>
              <a:t>301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#5 “Recovery” 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Venue: Rm. 248 Center for Science and Business</a:t>
            </a:r>
          </a:p>
          <a:p>
            <a:pPr lvl="3"/>
            <a:endParaRPr lang="en-US" dirty="0"/>
          </a:p>
          <a:p>
            <a:r>
              <a:rPr lang="en-US" dirty="0"/>
              <a:t>Dates: May. 1</a:t>
            </a:r>
            <a:r>
              <a:rPr lang="en-US" baseline="30000" dirty="0"/>
              <a:t>st</a:t>
            </a:r>
            <a:r>
              <a:rPr lang="en-US" dirty="0"/>
              <a:t>  ~ May. 10</a:t>
            </a:r>
            <a:r>
              <a:rPr lang="en-US" baseline="30000" dirty="0"/>
              <a:t>th</a:t>
            </a:r>
            <a:r>
              <a:rPr lang="en-US" dirty="0"/>
              <a:t>, 2024</a:t>
            </a:r>
          </a:p>
          <a:p>
            <a:pPr lvl="3"/>
            <a:endParaRPr lang="en-US" dirty="0"/>
          </a:p>
          <a:p>
            <a:r>
              <a:rPr lang="en-US" dirty="0"/>
              <a:t>Length: 30 Minutes per Session</a:t>
            </a:r>
          </a:p>
          <a:p>
            <a:pPr lvl="3"/>
            <a:endParaRPr lang="en-US" dirty="0"/>
          </a:p>
          <a:p>
            <a:r>
              <a:rPr lang="en-US" dirty="0"/>
              <a:t>Use the Whiteboard / Paper to correct your answers.</a:t>
            </a:r>
          </a:p>
          <a:p>
            <a:pPr lvl="3"/>
            <a:endParaRPr lang="en-US" dirty="0"/>
          </a:p>
          <a:p>
            <a:r>
              <a:rPr lang="en-US" dirty="0"/>
              <a:t>Recovery Rate: 50%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1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Net Exports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balance of trade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𝑁𝑋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𝐼𝑀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Real Exchange Rate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price of domestic goods in terms of foreign goods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Nominal Exchange Rate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How much in a foreign currency is required to purchase 1 unit of domestic currency.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For instance, if $1 costs ₤1.2, the nominal exchange rate between the US and UK will be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0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3FC7-4AD0-08D4-F495-8C48D7A7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F255-924E-DF71-4DE0-CCBC4BA81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C186F9-9849-DF19-443F-D3838ED7AC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Interest Rate Parity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Explains the relationship between domestic interest rates, foreign interest rates, and the exchange rate between the two countries.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Based on the premise that the returns from investing in different countries’ assets should be the same.</a:t>
                </a:r>
              </a:p>
              <a:p>
                <a:pPr lvl="3"/>
                <a:endParaRPr lang="en-US" sz="1200" dirty="0"/>
              </a:p>
              <a:p>
                <a:r>
                  <a:rPr lang="en-US" dirty="0"/>
                  <a:t>Demand for Domestic Goods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total demand (regardless of nationality) for all goods produced domestically,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𝐼𝑀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3"/>
                <a:endParaRPr lang="en-US" sz="120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Domestic Demand for Goods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total demand of goods (regardless of where it was produced) originating from domestic agents,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C186F9-9849-DF19-443F-D3838ED7A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747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C3E74-D185-2DA7-E2A1-7B1F64F7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5D783-8034-CDD4-508A-FBF57871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EB1C6-1A4D-BC16-DF69-2221DCA5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79A0-4685-8077-8C9B-ADF0F2F4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12F4-E5A5-3F6D-B60E-66339E63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75BD20-8327-7672-72B9-B6F667A1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7954633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effect of a tax cut on domestic output will be greater when the economy is open, compared to when the economy is closed..</a:t>
                </a:r>
              </a:p>
              <a:p>
                <a:pPr lvl="3"/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FALSE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When the government issues a tax cut, it leads to an increase in consumption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In a closed economy…</a:t>
                </a: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100% of the increased consumption will be directed to domestic firms’ goods, and the extra money domestic firms make will be distributed to domestic workers.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In an open economy…</a:t>
                </a: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Some portion of increased consumption will be directed to foreign firms’ goods, and the money foreign firms make will be distributed to foreign workers, exiting the domestic economy.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75BD20-8327-7672-72B9-B6F667A1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7954633" cy="4667250"/>
              </a:xfrm>
              <a:blipFill>
                <a:blip r:embed="rId2"/>
                <a:stretch>
                  <a:fillRect l="-996" t="-1697" r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218D-11BE-B824-A207-9873D442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F7BD3-55B9-757A-5E09-2498491A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7253-D52C-5E3C-A1F3-5BA6F7BF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3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BA4F-5B2D-1194-396B-C9C43FC0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60D7-31B4-F88F-423B-E2D4F442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39FEB-4C89-951D-F700-AC992B66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58150" cy="4351338"/>
          </a:xfrm>
        </p:spPr>
        <p:txBody>
          <a:bodyPr/>
          <a:lstStyle/>
          <a:p>
            <a:r>
              <a:rPr lang="en-US" dirty="0"/>
              <a:t>Even when an economy's production matches its potential output, its net exports may not necessarily be zero.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TRUE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 our model, potential output is derived completely independent of foreign factors.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Recall the Phillips curve, the Wage Setting, and Price Setting relations in the medium-run.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D3F9A-C8A0-FC60-D863-7E7BF488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7D32-E881-33B1-77EA-3FDB0B55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1FAE-91F2-6BD6-E415-0107D969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5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691E-09CC-29BA-538C-B42AC42B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23C3-A3C3-9482-A3CC-2A16FF7F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227A-A034-476E-BB68-2C53F800B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amount of Euros required to purchase 1 US dollar changes from 1 to 1.2, we say that the US dollar has appreciated against the Euro.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TRUE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change tells us that “more Euros are required to purchase one US dollar.”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This means that the value of the US dollar increased.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We call this an “appreciation.”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97B1-FE3A-0EFB-83E9-E896AE2A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11AF-7C57-5D2D-52FD-8AA253FE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8B4C7-2271-A7E1-03A4-BC0CBE60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7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50E9B-6597-B043-FE63-EABA1D1B7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the real exchange rate of an economy depreciates, both its exports and imports tend to increase.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FALSE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surely increase, as domestic goods are now comparatively cheaper than foreign products.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𝐼𝑀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decrease, as foreign products are now cheaper than domestic products.</a:t>
                </a:r>
              </a:p>
              <a:p>
                <a:pPr lvl="1"/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50E9B-6597-B043-FE63-EABA1D1B7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6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0E9B-6597-B043-FE63-EABA1D1B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investor invests their entire budget on US bonds that guarantee a 5% annual return, how much in US dollar ($) terms would the investor have at the end of the year?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The US investor purchases $100 in US bonds.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At the maturity, the investor collects $105.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18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3.B.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investor invests their entire budget on UK bonds that guarantee a 10% annual return, how much in Pound sterling (₤) terms would the investor have at the end of the year?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US investor exchanges their $100 to ₤100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US investor purchases ₤100 in UK bonds.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At the maturity, the investor collects ₤110.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6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by the end of the year, the exchange rate has appreciated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1.05</m:t>
                    </m:r>
                  </m:oMath>
                </a14:m>
                <a:r>
                  <a:rPr lang="en-US" dirty="0"/>
                  <a:t>. How much in US dollar ($) terms would the investor who invested in UK bonds have at the end of the year?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From 3.B, we know that the investor holds ₤110.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Since each US dollar is worth ₤1.05, we can find the US dollar amount that the investor makes by…</a:t>
                </a:r>
              </a:p>
              <a:p>
                <a:pPr lvl="1"/>
                <a:endParaRPr lang="en-US" sz="50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₤110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1.05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≈$104.76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88C1-140E-F0D5-8D3C-41656D4E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your answers from 3.A. to 3.C., should the investor invest in the US bonds with a 5% annual return, or the UK bonds with a 10% annual return?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From 3.A, we find that investing in US bonds will grow the initial budget of $100 to $105.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From 3.B and 3.C, we find that investing in UK bonds will grow the initial budget of $100 to $104.76.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Therefore, the US investor should invest in US bonds.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31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4.A.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an open economy that is operating beyond its potential output (that is,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). 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Fed is concerned that the output gap will lead to higher inflation, which could result in the de-anchoring of expectations in the economy. 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Illustrate in the following graph the changes in the economy that will occur if the Fed conducts contractionary monetary policy.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4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5A57-F187-F9DB-FFC0-465735B2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9AAA-8E11-3928-66C3-61E27809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4.A.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271F1-3F84-2904-0243-B76E7196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0AAF7-371A-E7C1-CD8A-74EBB4E1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68013-016F-8FB7-3274-80E49D33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A989AC9-DC8A-F72D-B6BC-62BC59E7F242}"/>
              </a:ext>
            </a:extLst>
          </p:cNvPr>
          <p:cNvGrpSpPr/>
          <p:nvPr/>
        </p:nvGrpSpPr>
        <p:grpSpPr>
          <a:xfrm>
            <a:off x="433304" y="1908049"/>
            <a:ext cx="8279397" cy="4128131"/>
            <a:chOff x="433304" y="1908049"/>
            <a:chExt cx="8279397" cy="412813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50D20ED-AB31-992E-85D8-B90B6D3751BA}"/>
                </a:ext>
              </a:extLst>
            </p:cNvPr>
            <p:cNvGrpSpPr/>
            <p:nvPr/>
          </p:nvGrpSpPr>
          <p:grpSpPr>
            <a:xfrm>
              <a:off x="433304" y="1908049"/>
              <a:ext cx="8279397" cy="4128131"/>
              <a:chOff x="433304" y="1908049"/>
              <a:chExt cx="8279397" cy="4128131"/>
            </a:xfrm>
          </p:grpSpPr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91CCDF97-4E80-1030-B19C-C5CDB864C223}"/>
                  </a:ext>
                </a:extLst>
              </p:cNvPr>
              <p:cNvCxnSpPr/>
              <p:nvPr/>
            </p:nvCxnSpPr>
            <p:spPr>
              <a:xfrm>
                <a:off x="628649" y="573173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591D2A8-306A-3155-6ADA-F2D95E8920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51141" y="395458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27B5738F-450D-09F0-74C5-B982E51902D3}"/>
                      </a:ext>
                    </a:extLst>
                  </p:cNvPr>
                  <p:cNvSpPr txBox="1"/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Output, </a:t>
                    </a:r>
                    <a14:m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8B0AB339-164C-6366-291D-CB08582C396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5217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C985F49D-73FE-6863-EEA7-845A1000D4A1}"/>
                  </a:ext>
                </a:extLst>
              </p:cNvPr>
              <p:cNvCxnSpPr/>
              <p:nvPr/>
            </p:nvCxnSpPr>
            <p:spPr>
              <a:xfrm>
                <a:off x="4712200" y="571854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D338890-C570-5CDF-C385-18F1949A10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2410" y="394139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D877EFAC-5AEC-F992-4A65-70EF8C9DE67B}"/>
                      </a:ext>
                    </a:extLst>
                  </p:cNvPr>
                  <p:cNvSpPr txBox="1"/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Exchange Rate,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83"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F875CDDA-6144-F62E-F235-BD283A9701B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22" r="-17778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827FA7D-C546-0804-8ED1-6C2181423FC6}"/>
                </a:ext>
              </a:extLst>
            </p:cNvPr>
            <p:cNvGrpSpPr/>
            <p:nvPr/>
          </p:nvGrpSpPr>
          <p:grpSpPr>
            <a:xfrm>
              <a:off x="941267" y="2593820"/>
              <a:ext cx="2895987" cy="2924841"/>
              <a:chOff x="941267" y="2593820"/>
              <a:chExt cx="2895987" cy="2924841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EEA6F51-0203-AEE7-1058-8A227BAAAB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267" y="2593820"/>
                <a:ext cx="2590754" cy="281711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08D63FB6-337B-3E7F-F0FE-3DE86C3FFC74}"/>
                      </a:ext>
                    </a:extLst>
                  </p:cNvPr>
                  <p:cNvSpPr txBox="1"/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𝐼𝑆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212" r="-18182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0076687-0222-3AAE-E03F-617522470AE7}"/>
                </a:ext>
              </a:extLst>
            </p:cNvPr>
            <p:cNvGrpSpPr/>
            <p:nvPr/>
          </p:nvGrpSpPr>
          <p:grpSpPr>
            <a:xfrm>
              <a:off x="598563" y="4411584"/>
              <a:ext cx="3836827" cy="220513"/>
              <a:chOff x="598563" y="3973434"/>
              <a:chExt cx="3836827" cy="220513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B55D8DD-1E44-A028-2E3C-8C5C5A9C76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34275426-0C89-B661-5932-7356970EFCFD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9A050D2-428F-AD63-A7E0-015C4A38EA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583" r="-10417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9115C2F5-D272-A134-1371-CF0CBBEAB652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BE546D91-861E-32B7-36DB-0B9C32BF88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9C32D8A-6097-510F-42E3-8EF02DC72EF8}"/>
                </a:ext>
              </a:extLst>
            </p:cNvPr>
            <p:cNvGrpSpPr/>
            <p:nvPr/>
          </p:nvGrpSpPr>
          <p:grpSpPr>
            <a:xfrm>
              <a:off x="2597963" y="4475752"/>
              <a:ext cx="247424" cy="1518861"/>
              <a:chOff x="2198555" y="4037602"/>
              <a:chExt cx="247424" cy="1518861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F622C77-0E2D-6A82-24C5-42A8943C7FD8}"/>
                  </a:ext>
                </a:extLst>
              </p:cNvPr>
              <p:cNvSpPr/>
              <p:nvPr/>
            </p:nvSpPr>
            <p:spPr>
              <a:xfrm>
                <a:off x="2280985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97845B85-3228-79C6-85FB-C90348580022}"/>
                  </a:ext>
                </a:extLst>
              </p:cNvPr>
              <p:cNvCxnSpPr>
                <a:cxnSpLocks/>
                <a:stCxn id="87" idx="4"/>
              </p:cNvCxnSpPr>
              <p:nvPr/>
            </p:nvCxnSpPr>
            <p:spPr>
              <a:xfrm>
                <a:off x="2322268" y="4121097"/>
                <a:ext cx="0" cy="118505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7B0FEFD4-ED4B-C68F-A31D-761D088E50D4}"/>
                      </a:ext>
                    </a:extLst>
                  </p:cNvPr>
                  <p:cNvSpPr txBox="1"/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37498E7-89E5-8A6E-D27C-B6C8288DD4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4E98BEE-9316-5629-59D1-84B3765B3028}"/>
                </a:ext>
              </a:extLst>
            </p:cNvPr>
            <p:cNvGrpSpPr/>
            <p:nvPr/>
          </p:nvGrpSpPr>
          <p:grpSpPr>
            <a:xfrm>
              <a:off x="5140240" y="2076847"/>
              <a:ext cx="3277671" cy="3356837"/>
              <a:chOff x="5140240" y="2076847"/>
              <a:chExt cx="3277671" cy="3356837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86C2A25-D2AE-93CF-3EE6-AC97F9520E9D}"/>
                  </a:ext>
                </a:extLst>
              </p:cNvPr>
              <p:cNvCxnSpPr/>
              <p:nvPr/>
            </p:nvCxnSpPr>
            <p:spPr>
              <a:xfrm flipV="1">
                <a:off x="5140240" y="2447888"/>
                <a:ext cx="2985796" cy="2985796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D67DB412-A741-CC3D-CA9E-8C56C9095FFB}"/>
                      </a:ext>
                    </a:extLst>
                  </p:cNvPr>
                  <p:cNvSpPr txBox="1"/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𝐼𝑛𝑡𝑒𝑟𝑒𝑠𝑡</m:t>
                          </m:r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rgbClr val="00B05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𝑃𝑎𝑟𝑖𝑡𝑦</m:t>
                          </m:r>
                        </m:oMath>
                      </m:oMathPara>
                    </a14:m>
                    <a:endParaRPr lang="en-US" sz="11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08" b="-1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6B1E1A3-249B-67D5-02B9-C3904667AF97}"/>
                </a:ext>
              </a:extLst>
            </p:cNvPr>
            <p:cNvGrpSpPr/>
            <p:nvPr/>
          </p:nvGrpSpPr>
          <p:grpSpPr>
            <a:xfrm>
              <a:off x="5940712" y="4559247"/>
              <a:ext cx="247424" cy="1432746"/>
              <a:chOff x="6405532" y="4559247"/>
              <a:chExt cx="247424" cy="1432746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99E59D1-E784-2BA3-A654-4B0CBEBD41B6}"/>
                  </a:ext>
                </a:extLst>
              </p:cNvPr>
              <p:cNvCxnSpPr>
                <a:cxnSpLocks/>
                <a:stCxn id="82" idx="4"/>
              </p:cNvCxnSpPr>
              <p:nvPr/>
            </p:nvCxnSpPr>
            <p:spPr>
              <a:xfrm>
                <a:off x="6522045" y="4559247"/>
                <a:ext cx="7199" cy="1159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2A6F4FA3-97F0-D8B6-665B-EEDAB9F742E3}"/>
                      </a:ext>
                    </a:extLst>
                  </p:cNvPr>
                  <p:cNvSpPr txBox="1"/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157E5C5-73A8-58BC-032F-F3506F020B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9DA1FA94-A432-3B8D-5553-2AEEC947776B}"/>
                </a:ext>
              </a:extLst>
            </p:cNvPr>
            <p:cNvGrpSpPr/>
            <p:nvPr/>
          </p:nvGrpSpPr>
          <p:grpSpPr>
            <a:xfrm>
              <a:off x="4086225" y="4406249"/>
              <a:ext cx="2012282" cy="215444"/>
              <a:chOff x="4086225" y="3968099"/>
              <a:chExt cx="2012282" cy="215444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DE795B6-AD10-3AB7-8D0D-6BD8B2009F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44576657-1CCD-3151-18E4-50EFC217DAEC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93DF68C1-0256-F827-0D5A-F03AB88823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60B51C7-7598-791A-E9E0-1352AFC1182A}"/>
                  </a:ext>
                </a:extLst>
              </p:cNvPr>
              <p:cNvCxnSpPr>
                <a:cxnSpLocks/>
                <a:endCxn id="82" idx="2"/>
              </p:cNvCxnSpPr>
              <p:nvPr/>
            </p:nvCxnSpPr>
            <p:spPr>
              <a:xfrm flipV="1">
                <a:off x="4875510" y="4079350"/>
                <a:ext cx="1140432" cy="687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1797BD13-BF1C-DE49-E6A1-6D3953998032}"/>
                  </a:ext>
                </a:extLst>
              </p:cNvPr>
              <p:cNvSpPr/>
              <p:nvPr/>
            </p:nvSpPr>
            <p:spPr>
              <a:xfrm>
                <a:off x="6015942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13285C5-A7F1-4430-9769-0667BC42BFDF}"/>
              </a:ext>
            </a:extLst>
          </p:cNvPr>
          <p:cNvGrpSpPr/>
          <p:nvPr/>
        </p:nvGrpSpPr>
        <p:grpSpPr>
          <a:xfrm>
            <a:off x="606450" y="3841850"/>
            <a:ext cx="6172562" cy="2149881"/>
            <a:chOff x="606450" y="3841850"/>
            <a:chExt cx="6172562" cy="2149881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800B14-519A-6D47-0C49-DD5380EFDDAA}"/>
                </a:ext>
              </a:extLst>
            </p:cNvPr>
            <p:cNvGrpSpPr/>
            <p:nvPr/>
          </p:nvGrpSpPr>
          <p:grpSpPr>
            <a:xfrm>
              <a:off x="606450" y="3843439"/>
              <a:ext cx="3894407" cy="220513"/>
              <a:chOff x="598563" y="3973434"/>
              <a:chExt cx="3894407" cy="220513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8B6FC80-345F-9CAA-FC93-3DFFBBB293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ECFDCE9F-1518-8EEF-5E7C-93248F3FC018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35048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D4282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6CA604C-B620-0254-4052-16C645E4F9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350481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2281" r="-3509" b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D08B126-EE0E-AA5F-0E8E-604869963101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15100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30E2615-2ED5-B1C6-C291-86CF8F9255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151002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6000" r="-6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7B2A901-BF3A-2ED2-27D5-CE41E99E5AEE}"/>
                </a:ext>
              </a:extLst>
            </p:cNvPr>
            <p:cNvSpPr/>
            <p:nvPr/>
          </p:nvSpPr>
          <p:spPr>
            <a:xfrm>
              <a:off x="2151094" y="3918884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DBD0B9D-1203-3E9E-5F1D-761EB04744C3}"/>
                </a:ext>
              </a:extLst>
            </p:cNvPr>
            <p:cNvCxnSpPr>
              <a:stCxn id="105" idx="4"/>
            </p:cNvCxnSpPr>
            <p:nvPr/>
          </p:nvCxnSpPr>
          <p:spPr>
            <a:xfrm flipH="1">
              <a:off x="2192376" y="4002379"/>
              <a:ext cx="1" cy="17293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C3B86D49-2A85-39A9-E99C-CBD62513C496}"/>
                    </a:ext>
                  </a:extLst>
                </p:cNvPr>
                <p:cNvSpPr txBox="1"/>
                <p:nvPr/>
              </p:nvSpPr>
              <p:spPr>
                <a:xfrm>
                  <a:off x="2094110" y="5773900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0B1BB49-A72D-EE75-7D15-FF32A4AF8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110" y="5773900"/>
                  <a:ext cx="247424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10000"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977E534-11B0-E527-4EC6-73DF85997FA5}"/>
                </a:ext>
              </a:extLst>
            </p:cNvPr>
            <p:cNvGrpSpPr/>
            <p:nvPr/>
          </p:nvGrpSpPr>
          <p:grpSpPr>
            <a:xfrm>
              <a:off x="4094112" y="3841850"/>
              <a:ext cx="2565810" cy="215444"/>
              <a:chOff x="4086225" y="3968099"/>
              <a:chExt cx="2565810" cy="215444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A1753232-B931-9B08-DEEE-9086E05225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F58FD929-63F4-FBC5-0C53-7E0B4BE26254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15100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316C9AAD-2DCC-A514-274D-783DF972FC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151002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6000" r="-6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0A955F23-03E8-244B-5AF2-2D4E08481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5510" y="4084860"/>
                <a:ext cx="169396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CB3CEA95-CFC1-2452-69DB-96B483BCB28C}"/>
                  </a:ext>
                </a:extLst>
              </p:cNvPr>
              <p:cNvSpPr/>
              <p:nvPr/>
            </p:nvSpPr>
            <p:spPr>
              <a:xfrm>
                <a:off x="6569470" y="4040731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D43C6E2-7F53-59C6-6F24-A3E57E451D60}"/>
                </a:ext>
              </a:extLst>
            </p:cNvPr>
            <p:cNvCxnSpPr>
              <a:cxnSpLocks/>
              <a:stCxn id="114" idx="4"/>
            </p:cNvCxnSpPr>
            <p:nvPr/>
          </p:nvCxnSpPr>
          <p:spPr>
            <a:xfrm>
              <a:off x="6618640" y="3997977"/>
              <a:ext cx="0" cy="172056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0787516-9E13-78C4-C883-4DD7F9C08227}"/>
                    </a:ext>
                  </a:extLst>
                </p:cNvPr>
                <p:cNvSpPr txBox="1"/>
                <p:nvPr/>
              </p:nvSpPr>
              <p:spPr>
                <a:xfrm>
                  <a:off x="6531588" y="5776287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B4028A-CD29-7568-4E0D-50591FED3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588" y="5776287"/>
                  <a:ext cx="247424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9756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CD75AD3-68BD-40EB-A750-9517FBE7DC8D}"/>
              </a:ext>
            </a:extLst>
          </p:cNvPr>
          <p:cNvCxnSpPr>
            <a:cxnSpLocks/>
          </p:cNvCxnSpPr>
          <p:nvPr/>
        </p:nvCxnSpPr>
        <p:spPr>
          <a:xfrm flipV="1">
            <a:off x="4749977" y="4100509"/>
            <a:ext cx="0" cy="27804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68196E1-A07F-C393-2967-AFBABAAEC9DD}"/>
              </a:ext>
            </a:extLst>
          </p:cNvPr>
          <p:cNvGrpSpPr/>
          <p:nvPr/>
        </p:nvGrpSpPr>
        <p:grpSpPr>
          <a:xfrm>
            <a:off x="662617" y="4100509"/>
            <a:ext cx="5833433" cy="1783984"/>
            <a:chOff x="662617" y="4100509"/>
            <a:chExt cx="5833433" cy="1783984"/>
          </a:xfrm>
        </p:grpSpPr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08D74437-69DC-7584-1EE9-80701CFF7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5492" y="5884493"/>
              <a:ext cx="22770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B40CDF09-2C92-8C31-7B1F-3AF57FFE53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617" y="4100509"/>
              <a:ext cx="0" cy="2780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2B42BE7D-C691-3858-A1A7-69E025D0E732}"/>
                </a:ext>
              </a:extLst>
            </p:cNvPr>
            <p:cNvCxnSpPr>
              <a:cxnSpLocks/>
            </p:cNvCxnSpPr>
            <p:nvPr/>
          </p:nvCxnSpPr>
          <p:spPr>
            <a:xfrm>
              <a:off x="6226236" y="5884493"/>
              <a:ext cx="26981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662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88C1-140E-F0D5-8D3C-41656D4E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your answer from 4.A., what happens to the domestic interest rate?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It will increase.</a:t>
            </a:r>
          </a:p>
          <a:p>
            <a:pPr lvl="3"/>
            <a:endParaRPr lang="en-US" dirty="0"/>
          </a:p>
          <a:p>
            <a:r>
              <a:rPr lang="en-US" dirty="0"/>
              <a:t>Based on your answer from 4.A., what happens to the nominal exchange rate?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It will appreciate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Based on your answer from 4.A., what happens to the balance of trade?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It will probably worsen (if the Marshall-Lerner conditions hold)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5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88C1-140E-F0D5-8D3C-41656D4E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the economy is operating at the medium-run equilibrium, which happens to coincide with the balanced trade level of output.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Complete the following graph by illustrating the effect of a tax cut and explain its effect on the country's balance of trade.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10311"/>
            <a:ext cx="2057400" cy="365125"/>
          </a:xfr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73E972-478C-9B64-36DF-DF8E5FA05F1B}"/>
              </a:ext>
            </a:extLst>
          </p:cNvPr>
          <p:cNvCxnSpPr/>
          <p:nvPr/>
        </p:nvCxnSpPr>
        <p:spPr>
          <a:xfrm>
            <a:off x="703294" y="4402875"/>
            <a:ext cx="2743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7CA1AB-E4B6-D2E7-A1C5-D808B49A6829}"/>
              </a:ext>
            </a:extLst>
          </p:cNvPr>
          <p:cNvCxnSpPr>
            <a:cxnSpLocks/>
          </p:cNvCxnSpPr>
          <p:nvPr/>
        </p:nvCxnSpPr>
        <p:spPr>
          <a:xfrm rot="16200000">
            <a:off x="-504996" y="3197225"/>
            <a:ext cx="2743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4C61C98-05FB-AA2F-925F-C4C701CB0E95}"/>
              </a:ext>
            </a:extLst>
          </p:cNvPr>
          <p:cNvCxnSpPr>
            <a:cxnSpLocks/>
          </p:cNvCxnSpPr>
          <p:nvPr/>
        </p:nvCxnSpPr>
        <p:spPr>
          <a:xfrm>
            <a:off x="880014" y="5180695"/>
            <a:ext cx="2574266" cy="857638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BA9C637-B5C1-9B9C-2818-E3CC6237104C}"/>
              </a:ext>
            </a:extLst>
          </p:cNvPr>
          <p:cNvSpPr txBox="1"/>
          <p:nvPr/>
        </p:nvSpPr>
        <p:spPr>
          <a:xfrm>
            <a:off x="3085071" y="4108081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3A5C3D-B153-8783-4630-DBA547B555F9}"/>
              </a:ext>
            </a:extLst>
          </p:cNvPr>
          <p:cNvSpPr txBox="1"/>
          <p:nvPr/>
        </p:nvSpPr>
        <p:spPr>
          <a:xfrm rot="16200000">
            <a:off x="301581" y="2046700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7588A8-5F46-03CC-6494-D1D0E500975A}"/>
                  </a:ext>
                </a:extLst>
              </p:cNvPr>
              <p:cNvSpPr txBox="1"/>
              <p:nvPr/>
            </p:nvSpPr>
            <p:spPr>
              <a:xfrm>
                <a:off x="3413725" y="2732700"/>
                <a:ext cx="17331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7588A8-5F46-03CC-6494-D1D0E5009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725" y="2732700"/>
                <a:ext cx="173316" cy="246221"/>
              </a:xfrm>
              <a:prstGeom prst="rect">
                <a:avLst/>
              </a:prstGeom>
              <a:blipFill>
                <a:blip r:embed="rId2"/>
                <a:stretch>
                  <a:fillRect l="-28571" r="-25000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5A14EE-5C4E-E09D-95F3-340B70107C9C}"/>
              </a:ext>
            </a:extLst>
          </p:cNvPr>
          <p:cNvCxnSpPr>
            <a:cxnSpLocks/>
          </p:cNvCxnSpPr>
          <p:nvPr/>
        </p:nvCxnSpPr>
        <p:spPr>
          <a:xfrm flipH="1">
            <a:off x="866603" y="1917585"/>
            <a:ext cx="2501019" cy="2483278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2E5E92-675C-A905-828E-E925CF3F0B58}"/>
              </a:ext>
            </a:extLst>
          </p:cNvPr>
          <p:cNvCxnSpPr/>
          <p:nvPr/>
        </p:nvCxnSpPr>
        <p:spPr>
          <a:xfrm>
            <a:off x="703294" y="5576518"/>
            <a:ext cx="2743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31CFE6-904F-4A0D-D1D9-F82C88392C1E}"/>
              </a:ext>
            </a:extLst>
          </p:cNvPr>
          <p:cNvCxnSpPr>
            <a:cxnSpLocks/>
          </p:cNvCxnSpPr>
          <p:nvPr/>
        </p:nvCxnSpPr>
        <p:spPr>
          <a:xfrm flipV="1">
            <a:off x="880014" y="4692001"/>
            <a:ext cx="0" cy="156884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784629-68C2-15A7-49D0-437C72D3FE6D}"/>
                  </a:ext>
                </a:extLst>
              </p:cNvPr>
              <p:cNvSpPr txBox="1"/>
              <p:nvPr/>
            </p:nvSpPr>
            <p:spPr>
              <a:xfrm rot="16200000">
                <a:off x="486914" y="4722833"/>
                <a:ext cx="4759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𝑁𝑋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784629-68C2-15A7-49D0-437C72D3F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6914" y="4722833"/>
                <a:ext cx="47596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FD4DC82E-CA4E-13C4-3C4E-8E17B5DC1B9F}"/>
              </a:ext>
            </a:extLst>
          </p:cNvPr>
          <p:cNvSpPr txBox="1"/>
          <p:nvPr/>
        </p:nvSpPr>
        <p:spPr>
          <a:xfrm>
            <a:off x="3085071" y="5261780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AA2F86D-03E1-5116-5DFF-76DEE7C8F638}"/>
              </a:ext>
            </a:extLst>
          </p:cNvPr>
          <p:cNvSpPr/>
          <p:nvPr/>
        </p:nvSpPr>
        <p:spPr>
          <a:xfrm>
            <a:off x="2030666" y="5542501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E48B230-338E-F85E-8F3D-801A0D9242EE}"/>
                  </a:ext>
                </a:extLst>
              </p:cNvPr>
              <p:cNvSpPr txBox="1"/>
              <p:nvPr/>
            </p:nvSpPr>
            <p:spPr>
              <a:xfrm>
                <a:off x="2074894" y="4409839"/>
                <a:ext cx="22487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E48B230-338E-F85E-8F3D-801A0D924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94" y="4409839"/>
                <a:ext cx="224870" cy="215444"/>
              </a:xfrm>
              <a:prstGeom prst="rect">
                <a:avLst/>
              </a:prstGeom>
              <a:blipFill>
                <a:blip r:embed="rId4"/>
                <a:stretch>
                  <a:fillRect l="-18919" r="-2703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2606C8-85A1-5104-E8B4-8888D4865616}"/>
              </a:ext>
            </a:extLst>
          </p:cNvPr>
          <p:cNvCxnSpPr>
            <a:cxnSpLocks/>
          </p:cNvCxnSpPr>
          <p:nvPr/>
        </p:nvCxnSpPr>
        <p:spPr>
          <a:xfrm flipV="1">
            <a:off x="866603" y="2857615"/>
            <a:ext cx="2513560" cy="67236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4F7C732C-C0E2-66E0-90C9-BF554ED00FD1}"/>
              </a:ext>
            </a:extLst>
          </p:cNvPr>
          <p:cNvSpPr/>
          <p:nvPr/>
        </p:nvSpPr>
        <p:spPr>
          <a:xfrm>
            <a:off x="2030666" y="3179204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AA0A5F-E327-C399-8D12-3DE2FC587A85}"/>
                  </a:ext>
                </a:extLst>
              </p:cNvPr>
              <p:cNvSpPr txBox="1"/>
              <p:nvPr/>
            </p:nvSpPr>
            <p:spPr>
              <a:xfrm>
                <a:off x="3413725" y="2139948"/>
                <a:ext cx="23827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AA0A5F-E327-C399-8D12-3DE2FC587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725" y="2139948"/>
                <a:ext cx="238270" cy="246221"/>
              </a:xfrm>
              <a:prstGeom prst="rect">
                <a:avLst/>
              </a:prstGeom>
              <a:blipFill>
                <a:blip r:embed="rId5"/>
                <a:stretch>
                  <a:fillRect l="-20513" r="-5128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5208AE-333E-E1ED-BDDB-6FDD82D3EB5A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062670" y="3214688"/>
            <a:ext cx="0" cy="23278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0D4443B-C99A-00E1-37F0-4ED056772153}"/>
              </a:ext>
            </a:extLst>
          </p:cNvPr>
          <p:cNvCxnSpPr>
            <a:cxnSpLocks/>
          </p:cNvCxnSpPr>
          <p:nvPr/>
        </p:nvCxnSpPr>
        <p:spPr>
          <a:xfrm flipV="1">
            <a:off x="870764" y="2282418"/>
            <a:ext cx="2513560" cy="67236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1D0960A-41C8-3417-9102-EF100CE4D01C}"/>
              </a:ext>
            </a:extLst>
          </p:cNvPr>
          <p:cNvSpPr/>
          <p:nvPr/>
        </p:nvSpPr>
        <p:spPr>
          <a:xfrm>
            <a:off x="2833850" y="2383353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346915-CCDD-8598-4F76-88A19148F321}"/>
              </a:ext>
            </a:extLst>
          </p:cNvPr>
          <p:cNvCxnSpPr>
            <a:stCxn id="41" idx="4"/>
          </p:cNvCxnSpPr>
          <p:nvPr/>
        </p:nvCxnSpPr>
        <p:spPr>
          <a:xfrm>
            <a:off x="2865854" y="2447361"/>
            <a:ext cx="0" cy="33959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D69009-DBFA-1438-FE77-77398DCE3544}"/>
                  </a:ext>
                </a:extLst>
              </p:cNvPr>
              <p:cNvSpPr txBox="1"/>
              <p:nvPr/>
            </p:nvSpPr>
            <p:spPr>
              <a:xfrm>
                <a:off x="2869197" y="4409839"/>
                <a:ext cx="27135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D69009-DBFA-1438-FE77-77398DCE3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197" y="4409839"/>
                <a:ext cx="271356" cy="215444"/>
              </a:xfrm>
              <a:prstGeom prst="rect">
                <a:avLst/>
              </a:prstGeom>
              <a:blipFill>
                <a:blip r:embed="rId6"/>
                <a:stretch>
                  <a:fillRect l="-15909" r="-2273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16A285-FA32-EA90-9F1E-58682CC9E600}"/>
                  </a:ext>
                </a:extLst>
              </p:cNvPr>
              <p:cNvSpPr txBox="1"/>
              <p:nvPr/>
            </p:nvSpPr>
            <p:spPr>
              <a:xfrm>
                <a:off x="2074894" y="5335993"/>
                <a:ext cx="30373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𝑇𝐵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16A285-FA32-EA90-9F1E-58682CC9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94" y="5335993"/>
                <a:ext cx="303738" cy="215444"/>
              </a:xfrm>
              <a:prstGeom prst="rect">
                <a:avLst/>
              </a:prstGeom>
              <a:blipFill>
                <a:blip r:embed="rId7"/>
                <a:stretch>
                  <a:fillRect l="-14000" r="-200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B721E0-DB39-AF21-6537-CF096CEE6368}"/>
                  </a:ext>
                </a:extLst>
              </p:cNvPr>
              <p:cNvSpPr txBox="1"/>
              <p:nvPr/>
            </p:nvSpPr>
            <p:spPr>
              <a:xfrm>
                <a:off x="3293846" y="6070589"/>
                <a:ext cx="2912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𝑁𝑋</m:t>
                      </m:r>
                    </m:oMath>
                  </m:oMathPara>
                </a14:m>
                <a:endParaRPr lang="en-US" sz="1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B721E0-DB39-AF21-6537-CF096CEE6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846" y="6070589"/>
                <a:ext cx="291298" cy="215444"/>
              </a:xfrm>
              <a:prstGeom prst="rect">
                <a:avLst/>
              </a:prstGeom>
              <a:blipFill>
                <a:blip r:embed="rId8"/>
                <a:stretch>
                  <a:fillRect l="-14583" r="-10417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3">
                <a:extLst>
                  <a:ext uri="{FF2B5EF4-FFF2-40B4-BE49-F238E27FC236}">
                    <a16:creationId xmlns:a16="http://schemas.microsoft.com/office/drawing/2014/main" id="{6CAFF0D3-8316-884A-A51E-F2AA2D6B2D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3919" y="1825625"/>
                <a:ext cx="472142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FF0000"/>
                    </a:solidFill>
                  </a:rPr>
                  <a:t>Suppose that we are initially at demand for domestic goods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If the government cuts taxes, the demand for domestic goods will increase.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Domestic demand will rise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Output will increase, but we will now run a trade deficit.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6" name="Content Placeholder 3">
                <a:extLst>
                  <a:ext uri="{FF2B5EF4-FFF2-40B4-BE49-F238E27FC236}">
                    <a16:creationId xmlns:a16="http://schemas.microsoft.com/office/drawing/2014/main" id="{6CAFF0D3-8316-884A-A51E-F2AA2D6B2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919" y="1825625"/>
                <a:ext cx="4721429" cy="4351338"/>
              </a:xfrm>
              <a:prstGeom prst="rect">
                <a:avLst/>
              </a:prstGeom>
              <a:blipFill>
                <a:blip r:embed="rId9"/>
                <a:stretch>
                  <a:fillRect l="-1677" t="-1821" r="-1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08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 animBg="1"/>
      <p:bldP spid="43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3990</TotalTime>
  <Words>1308</Words>
  <Application>Microsoft Office PowerPoint</Application>
  <PresentationFormat>On-screen Show (4:3)</PresentationFormat>
  <Paragraphs>193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Franklin Gothic Book</vt:lpstr>
      <vt:lpstr>Office Theme</vt:lpstr>
      <vt:lpstr>Quiz #5 Review</vt:lpstr>
      <vt:lpstr>Quiz #5 “Recovery” Office Hours</vt:lpstr>
      <vt:lpstr>Problem 1. Definitions</vt:lpstr>
      <vt:lpstr>Problem 1. Definitions</vt:lpstr>
      <vt:lpstr>Problem 2.A.</vt:lpstr>
      <vt:lpstr>Problem 2.B.</vt:lpstr>
      <vt:lpstr>Problem 2.C.</vt:lpstr>
      <vt:lpstr>Problem 2.D.</vt:lpstr>
      <vt:lpstr>Problem 3.A.</vt:lpstr>
      <vt:lpstr>Problem 3.B.</vt:lpstr>
      <vt:lpstr>Problem 3.C.</vt:lpstr>
      <vt:lpstr>Problem 3.D.</vt:lpstr>
      <vt:lpstr>Problem 4.A.</vt:lpstr>
      <vt:lpstr>Problem 4.A.</vt:lpstr>
      <vt:lpstr>Problem 4.B.</vt:lpstr>
      <vt:lpstr>Problem 5.</vt:lpstr>
      <vt:lpstr>Problem 5.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93</cp:revision>
  <dcterms:created xsi:type="dcterms:W3CDTF">2023-08-17T23:00:51Z</dcterms:created>
  <dcterms:modified xsi:type="dcterms:W3CDTF">2024-04-28T20:55:31Z</dcterms:modified>
</cp:coreProperties>
</file>