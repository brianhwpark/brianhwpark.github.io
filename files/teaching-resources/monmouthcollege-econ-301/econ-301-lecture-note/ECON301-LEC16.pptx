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6"/>
  </p:notesMasterIdLst>
  <p:sldIdLst>
    <p:sldId id="256" r:id="rId2"/>
    <p:sldId id="257" r:id="rId3"/>
    <p:sldId id="274" r:id="rId4"/>
    <p:sldId id="258" r:id="rId5"/>
    <p:sldId id="259" r:id="rId6"/>
    <p:sldId id="260" r:id="rId7"/>
    <p:sldId id="261" r:id="rId8"/>
    <p:sldId id="266" r:id="rId9"/>
    <p:sldId id="262" r:id="rId10"/>
    <p:sldId id="264" r:id="rId11"/>
    <p:sldId id="265" r:id="rId12"/>
    <p:sldId id="267" r:id="rId13"/>
    <p:sldId id="268" r:id="rId14"/>
    <p:sldId id="269" r:id="rId15"/>
    <p:sldId id="270" r:id="rId16"/>
    <p:sldId id="275" r:id="rId17"/>
    <p:sldId id="271" r:id="rId18"/>
    <p:sldId id="272" r:id="rId19"/>
    <p:sldId id="273" r:id="rId20"/>
    <p:sldId id="276" r:id="rId21"/>
    <p:sldId id="277" r:id="rId22"/>
    <p:sldId id="279" r:id="rId23"/>
    <p:sldId id="278" r:id="rId24"/>
    <p:sldId id="280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5F65"/>
    <a:srgbClr val="FF7C80"/>
    <a:srgbClr val="CC0000"/>
    <a:srgbClr val="D4282F"/>
    <a:srgbClr val="F5CFD0"/>
    <a:srgbClr val="9C5BCD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2978" autoAdjust="0"/>
  </p:normalViewPr>
  <p:slideViewPr>
    <p:cSldViewPr snapToGrid="0">
      <p:cViewPr varScale="1">
        <p:scale>
          <a:sx n="103" d="100"/>
          <a:sy n="103" d="100"/>
        </p:scale>
        <p:origin x="12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4/9/2024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85" y="1122363"/>
            <a:ext cx="8108830" cy="2387600"/>
          </a:xfrm>
        </p:spPr>
        <p:txBody>
          <a:bodyPr>
            <a:normAutofit/>
          </a:bodyPr>
          <a:lstStyle/>
          <a:p>
            <a:r>
              <a:rPr lang="en-US" sz="4200" dirty="0"/>
              <a:t>Expectations:</a:t>
            </a:r>
            <a:br>
              <a:rPr lang="en-US" sz="4200" dirty="0"/>
            </a:br>
            <a:r>
              <a:rPr lang="en-US" sz="4200" dirty="0"/>
              <a:t>Financial Markets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253C1-74E2-9029-B30E-0A860BF66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Expectations in the Economy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14A4C-E557-EF08-076D-239AAEA70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already analyzed the role of expected inflation on the medium run and observed the consequences of the mis-management of expectations.</a:t>
            </a:r>
          </a:p>
          <a:p>
            <a:pPr lvl="3"/>
            <a:endParaRPr lang="en-US" dirty="0"/>
          </a:p>
          <a:p>
            <a:r>
              <a:rPr lang="en-US" dirty="0"/>
              <a:t>Expectations play a key role in the economy through other various channels as well.</a:t>
            </a:r>
          </a:p>
          <a:p>
            <a:pPr lvl="3"/>
            <a:endParaRPr lang="en-US" dirty="0"/>
          </a:p>
          <a:p>
            <a:r>
              <a:rPr lang="en-US" dirty="0"/>
              <a:t>We will start off by examining the role of expectations on the determination of asset prices, and its impact on the financial market.</a:t>
            </a:r>
          </a:p>
          <a:p>
            <a:pPr lvl="3"/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530BB-082B-3A49-BFDA-5A7FC6E6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2483E-E094-976C-9ACB-0F2EA1B6B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7854A-BF5B-7177-BD21-896B1B3E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160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9D1A1-11C5-B988-EAFB-8EDF579E3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POLLEVERYWHERE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2D49D-C038-9CC7-4DD7-7F1EF9A57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A4AB3-5D62-5504-22BD-B8F2F4316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7E4E2-C4E9-B94A-F9C4-07FCE4003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292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253C1-74E2-9029-B30E-0A860BF66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14A4C-E557-EF08-076D-239AAEA70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much should you pay to add a new machine in your production line?</a:t>
            </a:r>
          </a:p>
          <a:p>
            <a:pPr lvl="3"/>
            <a:endParaRPr lang="en-US" dirty="0"/>
          </a:p>
          <a:p>
            <a:r>
              <a:rPr lang="en-US" dirty="0"/>
              <a:t>This new machine will lead to higher productivity, which leads to an increase in output, generating more profit in the future.</a:t>
            </a:r>
          </a:p>
          <a:p>
            <a:pPr lvl="3"/>
            <a:endParaRPr lang="en-US" dirty="0"/>
          </a:p>
          <a:p>
            <a:r>
              <a:rPr lang="en-US" dirty="0"/>
              <a:t>While the benefits are reaped in the future, the cost must be incurred in the present.</a:t>
            </a:r>
          </a:p>
          <a:p>
            <a:pPr lvl="3"/>
            <a:endParaRPr lang="en-US" dirty="0"/>
          </a:p>
          <a:p>
            <a:r>
              <a:rPr lang="en-US" dirty="0"/>
              <a:t>How are we going to compare the value of the cost today, and the present value of expected profit in the future?</a:t>
            </a:r>
          </a:p>
          <a:p>
            <a:pPr lvl="3"/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530BB-082B-3A49-BFDA-5A7FC6E6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2483E-E094-976C-9ACB-0F2EA1B6B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7854A-BF5B-7177-BD21-896B1B3E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898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253C1-74E2-9029-B30E-0A860BF66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Present Discounted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14A4C-E557-EF08-076D-239AAEA70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concept of “expected present discounted value” will be useful in this type of situation.</a:t>
            </a:r>
          </a:p>
          <a:p>
            <a:pPr lvl="3"/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Calculate the expected present discounted value of the stream of future profit.</a:t>
            </a:r>
          </a:p>
          <a:p>
            <a:pPr marL="1828800" lvl="3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Compare the value with the cost of purchasing the new machine.</a:t>
            </a:r>
          </a:p>
          <a:p>
            <a:pPr marL="1828800" lvl="3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If the cost is less than the expected present discounted value of increased profit, purchase the machine.</a:t>
            </a:r>
          </a:p>
          <a:p>
            <a:pPr lvl="3"/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530BB-082B-3A49-BFDA-5A7FC6E6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2483E-E094-976C-9ACB-0F2EA1B6B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7854A-BF5B-7177-BD21-896B1B3E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808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253C1-74E2-9029-B30E-0A860BF66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Present Discounted Value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214A4C-E557-EF08-076D-239AAEA709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the risk-free nominal interest rate.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10%</m:t>
                    </m:r>
                  </m:oMath>
                </a14:m>
                <a:r>
                  <a:rPr lang="en-US" dirty="0"/>
                  <a:t>, and you deposit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$1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00</m:t>
                    </m:r>
                  </m:oMath>
                </a14:m>
                <a:r>
                  <a:rPr lang="en-US" dirty="0"/>
                  <a:t> in the bank for a year, you will have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$1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 next year, free of risk.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So,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$1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 next year is worth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$1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00</m:t>
                    </m:r>
                  </m:oMath>
                </a14:m>
                <a:r>
                  <a:rPr lang="en-US" dirty="0"/>
                  <a:t> today.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“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$1</m:t>
                    </m:r>
                  </m:oMath>
                </a14:m>
                <a:r>
                  <a:rPr lang="en-US" dirty="0"/>
                  <a:t> this period is worth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$(1+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next period.”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“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$1</m:t>
                    </m:r>
                  </m:oMath>
                </a14:m>
                <a:r>
                  <a:rPr lang="en-US" dirty="0"/>
                  <a:t> next period is worth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$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(1+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this period.”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214A4C-E557-EF08-076D-239AAEA709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530BB-082B-3A49-BFDA-5A7FC6E6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2483E-E094-976C-9ACB-0F2EA1B6B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7854A-BF5B-7177-BD21-896B1B3E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79F681-1EB2-876B-148F-F5006722D655}"/>
              </a:ext>
            </a:extLst>
          </p:cNvPr>
          <p:cNvSpPr/>
          <p:nvPr/>
        </p:nvSpPr>
        <p:spPr>
          <a:xfrm>
            <a:off x="628650" y="4320073"/>
            <a:ext cx="6303995" cy="51318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D39780-7F34-5DDC-F3FE-90D8647D6C62}"/>
              </a:ext>
            </a:extLst>
          </p:cNvPr>
          <p:cNvSpPr/>
          <p:nvPr/>
        </p:nvSpPr>
        <p:spPr>
          <a:xfrm>
            <a:off x="628649" y="5069631"/>
            <a:ext cx="6303995" cy="6873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798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253C1-74E2-9029-B30E-0A860BF66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Discount Rate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214A4C-E557-EF08-076D-239AAEA709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Therefore, we reach an alternate interpretation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1371600" lvl="3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is also called the “discount rate,” the rate at which one discounts future earnings.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How much would you be willing to pay right now for the right to claim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$1,000</m:t>
                    </m:r>
                  </m:oMath>
                </a14:m>
                <a:r>
                  <a:rPr lang="en-US" dirty="0"/>
                  <a:t> next year when…</a:t>
                </a:r>
              </a:p>
              <a:p>
                <a:pPr lvl="1"/>
                <a:r>
                  <a:rPr lang="en-US" dirty="0"/>
                  <a:t>Today’s interest rate is 50%, versus when…</a:t>
                </a:r>
              </a:p>
              <a:p>
                <a:pPr lvl="1"/>
                <a:r>
                  <a:rPr lang="en-US" dirty="0"/>
                  <a:t>Today’s interest rate is 10%?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higher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, the greater the value of today’s dollars.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214A4C-E557-EF08-076D-239AAEA709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 r="-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530BB-082B-3A49-BFDA-5A7FC6E6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2483E-E094-976C-9ACB-0F2EA1B6B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7854A-BF5B-7177-BD21-896B1B3E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071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253C1-74E2-9029-B30E-0A860BF66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Discount Factor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214A4C-E557-EF08-076D-239AAEA709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964844" cy="43885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Similarly,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(1+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is called the “discount factor.”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Simply multiplying the discount factor to next period’s expected earnings will tell you how much it is worth this year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$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=50%</m:t>
                    </m:r>
                  </m:oMath>
                </a14:m>
                <a:r>
                  <a:rPr lang="en-US" dirty="0"/>
                  <a:t>, today’s valuation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$1,000</m:t>
                    </m:r>
                  </m:oMath>
                </a14:m>
                <a:r>
                  <a:rPr lang="en-US" dirty="0"/>
                  <a:t> that you would get next year is: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$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$1,000×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(1+0.5)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$1,000×0. 66667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$666.67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5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214A4C-E557-EF08-076D-239AAEA709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964844" cy="4388563"/>
              </a:xfrm>
              <a:blipFill>
                <a:blip r:embed="rId2"/>
                <a:stretch>
                  <a:fillRect l="-995" t="-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530BB-082B-3A49-BFDA-5A7FC6E6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2483E-E094-976C-9ACB-0F2EA1B6B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7854A-BF5B-7177-BD21-896B1B3E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241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253C1-74E2-9029-B30E-0A860BF66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Discount Factor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214A4C-E557-EF08-076D-239AAEA709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964844" cy="43885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Meanwhile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0%</m:t>
                    </m:r>
                  </m:oMath>
                </a14:m>
                <a:r>
                  <a:rPr lang="en-US" dirty="0"/>
                  <a:t>, today’s valuation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$1,000</m:t>
                    </m:r>
                  </m:oMath>
                </a14:m>
                <a:r>
                  <a:rPr lang="en-US" dirty="0"/>
                  <a:t> that you would get next year is 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$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$1,000×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(1+0.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$1,000×0.90909=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$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909.09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1600" dirty="0"/>
              </a:p>
              <a:p>
                <a:r>
                  <a:rPr lang="en-US" dirty="0"/>
                  <a:t>Mathematically speaking, the greater the discount rate, the smaller the discount factor.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What about longer periods of time? How can we calculate today’s valuation of earnings two years into the future?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214A4C-E557-EF08-076D-239AAEA709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964844" cy="4388563"/>
              </a:xfrm>
              <a:blipFill>
                <a:blip r:embed="rId2"/>
                <a:stretch>
                  <a:fillRect l="-995" t="-1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530BB-082B-3A49-BFDA-5A7FC6E6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2483E-E094-976C-9ACB-0F2EA1B6B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7854A-BF5B-7177-BD21-896B1B3E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599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253C1-74E2-9029-B30E-0A860BF66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Periods of Time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214A4C-E557-EF08-076D-239AAEA709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41655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Assuming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=10%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=5%</m:t>
                    </m:r>
                  </m:oMath>
                </a14:m>
                <a:r>
                  <a:rPr lang="en-US" dirty="0"/>
                  <a:t>. How much should we pay now for the right to claim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$1,000</m:t>
                    </m:r>
                  </m:oMath>
                </a14:m>
                <a:r>
                  <a:rPr lang="en-US" dirty="0"/>
                  <a:t> two years from now?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Next year’s valuation of the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$1,000</m:t>
                    </m:r>
                  </m:oMath>
                </a14:m>
                <a:r>
                  <a:rPr lang="en-US" dirty="0"/>
                  <a:t> two years from now will be worth…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$</m:t>
                      </m:r>
                      <m:sSub>
                        <m:sSub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 dirty="0">
                          <a:latin typeface="Cambria Math" panose="02040503050406030204" pitchFamily="18" charset="0"/>
                        </a:rPr>
                        <m:t>$1,000</m:t>
                      </m:r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1+0.05</m:t>
                          </m:r>
                        </m:den>
                      </m:f>
                      <m:r>
                        <a:rPr lang="en-US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≈$952.38</m:t>
                      </m:r>
                    </m:oMath>
                  </m:oMathPara>
                </a14:m>
                <a:endParaRPr lang="en-US" sz="1800" dirty="0"/>
              </a:p>
              <a:p>
                <a:pPr lvl="3"/>
                <a:endParaRPr lang="en-US" dirty="0"/>
              </a:p>
              <a:p>
                <a:r>
                  <a:rPr lang="en-US" dirty="0"/>
                  <a:t>So, this year’s valuation of the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$1,000</m:t>
                    </m:r>
                  </m:oMath>
                </a14:m>
                <a:r>
                  <a:rPr lang="en-US" dirty="0"/>
                  <a:t> two years from now will be worth…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$</m:t>
                      </m:r>
                      <m:sSub>
                        <m:sSub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ctrlPr>
                                    <a:rPr lang="en-US" sz="1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 dirty="0">
                                      <a:latin typeface="Cambria Math" panose="02040503050406030204" pitchFamily="18" charset="0"/>
                                    </a:rPr>
                                    <m:t>$1,000×</m:t>
                                  </m:r>
                                  <m:f>
                                    <m:fPr>
                                      <m:ctrlPr>
                                        <a:rPr lang="en-US" sz="1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8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1800" i="1" dirty="0">
                                          <a:latin typeface="Cambria Math" panose="02040503050406030204" pitchFamily="18" charset="0"/>
                                        </a:rPr>
                                        <m:t>1+0.05</m:t>
                                      </m:r>
                                    </m:den>
                                  </m:f>
                                </m:e>
                              </m:d>
                            </m:e>
                          </m:groupChr>
                        </m:e>
                        <m:lim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$</m:t>
                          </m:r>
                          <m:sSub>
                            <m:sSubPr>
                              <m:ctrlP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lim>
                      </m:limLow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1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1+0.</m:t>
                          </m:r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sz="1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$865.8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214A4C-E557-EF08-076D-239AAEA709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416556"/>
              </a:xfrm>
              <a:blipFill>
                <a:blip r:embed="rId2"/>
                <a:stretch>
                  <a:fillRect l="-1005" t="-1793" r="-21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530BB-082B-3A49-BFDA-5A7FC6E6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2483E-E094-976C-9ACB-0F2EA1B6B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7854A-BF5B-7177-BD21-896B1B3E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697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253C1-74E2-9029-B30E-0A860BF66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Periods of Time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214A4C-E557-EF08-076D-239AAEA709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If the risk-free rates in the future are given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, then today’s valuation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$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$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available 2 years from now should be:</a:t>
                </a:r>
              </a:p>
              <a:p>
                <a:pPr lvl="3"/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$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=$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214A4C-E557-EF08-076D-239AAEA709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 r="-1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530BB-082B-3A49-BFDA-5A7FC6E6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2483E-E094-976C-9ACB-0F2EA1B6B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7854A-BF5B-7177-BD21-896B1B3E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19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253C1-74E2-9029-B30E-0A860BF66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Longer Periods of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14A4C-E557-EF08-076D-239AAEA70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For longer periods of time, finding the current valuation of future earnings follows a similar logic.</a:t>
            </a:r>
          </a:p>
          <a:p>
            <a:pPr lvl="3"/>
            <a:endParaRPr lang="en-US" dirty="0"/>
          </a:p>
          <a:p>
            <a:r>
              <a:rPr lang="en-US" dirty="0"/>
              <a:t>For simplicity’s sake, we will be considering the following scenarios.</a:t>
            </a:r>
          </a:p>
          <a:p>
            <a:pPr lvl="3"/>
            <a:endParaRPr lang="en-US" dirty="0"/>
          </a:p>
          <a:p>
            <a:r>
              <a:rPr lang="en-US" dirty="0"/>
              <a:t>Constant Interest Rates &amp; Constant and Finite Payments</a:t>
            </a:r>
          </a:p>
          <a:p>
            <a:pPr lvl="1"/>
            <a:r>
              <a:rPr lang="en-US" dirty="0"/>
              <a:t>“Interest is 5% every year, get paid $100 per year for 10 years.”</a:t>
            </a:r>
          </a:p>
          <a:p>
            <a:pPr lvl="3"/>
            <a:endParaRPr lang="en-US" dirty="0"/>
          </a:p>
          <a:p>
            <a:r>
              <a:rPr lang="en-US" dirty="0"/>
              <a:t>Constant Interest Rates &amp; Constant and Infinite Payments</a:t>
            </a:r>
          </a:p>
          <a:p>
            <a:pPr lvl="1"/>
            <a:r>
              <a:rPr lang="en-US" dirty="0"/>
              <a:t>“Interest is 5% every year, get paid $100 per year forever.”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530BB-082B-3A49-BFDA-5A7FC6E6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2483E-E094-976C-9ACB-0F2EA1B6B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7854A-BF5B-7177-BD21-896B1B3E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301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253C1-74E2-9029-B30E-0A860BF66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 Interest Rates &amp;</a:t>
            </a:r>
            <a:br>
              <a:rPr lang="en-US" dirty="0"/>
            </a:br>
            <a:r>
              <a:rPr lang="en-US" dirty="0"/>
              <a:t>Constant and Finite Payments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14A4C-E557-EF08-076D-239AAEA70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Suppose that you are on the verge of purchasing a new machine that lasts 5 years, which would guarantee $100,000 extra profit at the end of each year.</a:t>
            </a:r>
          </a:p>
          <a:p>
            <a:pPr lvl="3"/>
            <a:endParaRPr lang="en-US" dirty="0"/>
          </a:p>
          <a:p>
            <a:r>
              <a:rPr lang="en-US" dirty="0"/>
              <a:t>Adding up the total additional profit we can get from the new machine would yield $500,000.</a:t>
            </a:r>
          </a:p>
          <a:p>
            <a:pPr lvl="3"/>
            <a:endParaRPr lang="en-US" dirty="0"/>
          </a:p>
          <a:p>
            <a:r>
              <a:rPr lang="en-US" dirty="0"/>
              <a:t>Assuming that the risk-free interest rate is 5%, how much should you be willing to pay for this new machine?</a:t>
            </a:r>
          </a:p>
          <a:p>
            <a:pPr lvl="3"/>
            <a:endParaRPr lang="en-US" dirty="0"/>
          </a:p>
          <a:p>
            <a:r>
              <a:rPr lang="en-US" dirty="0"/>
              <a:t>We will look at today’s valuation of each year’s extra profits one by one and add them up.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530BB-082B-3A49-BFDA-5A7FC6E6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2483E-E094-976C-9ACB-0F2EA1B6B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7854A-BF5B-7177-BD21-896B1B3E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188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253C1-74E2-9029-B30E-0A860BF66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 Interest Rates &amp;</a:t>
            </a:r>
            <a:br>
              <a:rPr lang="en-US" dirty="0"/>
            </a:br>
            <a:r>
              <a:rPr lang="en-US" dirty="0"/>
              <a:t>Constant and Finite Payments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214A4C-E557-EF08-076D-239AAEA709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Counting only the first-year benefits of this machine, you have this new machine, you will enjoy $100,000 increase in profits: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$100,000×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(1+0.05)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≈$95,238.10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Counting only the second-year benefits of this machine, you have this new machine, you will enjoy $100,000 increase in profits: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$100,000×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1+0.05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≈$90,702.95</m:t>
                      </m:r>
                    </m:oMath>
                  </m:oMathPara>
                </a14:m>
                <a:endParaRPr lang="en-US" sz="2000" dirty="0"/>
              </a:p>
              <a:p>
                <a:pPr lvl="1"/>
                <a:endParaRPr lang="en-US" sz="16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214A4C-E557-EF08-076D-239AAEA709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 r="-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530BB-082B-3A49-BFDA-5A7FC6E6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2483E-E094-976C-9ACB-0F2EA1B6B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7854A-BF5B-7177-BD21-896B1B3E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476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253C1-74E2-9029-B30E-0A860BF66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 Interest Rates &amp;</a:t>
            </a:r>
            <a:br>
              <a:rPr lang="en-US" dirty="0"/>
            </a:br>
            <a:r>
              <a:rPr lang="en-US" dirty="0"/>
              <a:t>Constant and Finite Payments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214A4C-E557-EF08-076D-239AAEA709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Repeating this process for each 5 years you have the machine, the total amount you should pay is: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$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$100,000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(1+0.05)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$100,000</m:t>
                          </m:r>
                        </m:num>
                        <m:den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1+0.05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+⋯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$100,000</m:t>
                          </m:r>
                        </m:num>
                        <m:den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1+0.05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den>
                      </m:f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$432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947.67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500" dirty="0"/>
              </a:p>
              <a:p>
                <a:pPr lvl="1"/>
                <a:r>
                  <a:rPr lang="en-US" dirty="0"/>
                  <a:t>If we assume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=10%</m:t>
                    </m:r>
                  </m:oMath>
                </a14:m>
                <a:r>
                  <a:rPr lang="en-US" dirty="0"/>
                  <a:t>, the value would be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$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379,078.68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we assume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=2%</m:t>
                    </m:r>
                  </m:oMath>
                </a14:m>
                <a:r>
                  <a:rPr lang="en-US" dirty="0"/>
                  <a:t>, the value would be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$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471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345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95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Again, we observe that when the risk-free rate (discount rate) is higher, the expected present discounted value is lower.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214A4C-E557-EF08-076D-239AAEA709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530BB-082B-3A49-BFDA-5A7FC6E6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2483E-E094-976C-9ACB-0F2EA1B6B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7854A-BF5B-7177-BD21-896B1B3E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520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35BF9-14DD-24AD-E661-F2AFC162F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POLLEVERYWHERE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B13956-D755-6AF7-E9E3-0EF0D6A91B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51262-2EF9-4698-B7E4-5464F8559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4CFF9-53CC-21FD-FE95-B67F5666A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7D460-AFCE-D635-C2C5-EB568B076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8898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253C1-74E2-9029-B30E-0A860BF66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 Interest Rates &amp;</a:t>
            </a:r>
            <a:br>
              <a:rPr lang="en-US" dirty="0"/>
            </a:br>
            <a:r>
              <a:rPr lang="en-US" dirty="0"/>
              <a:t>Constant and Finite Payments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214A4C-E557-EF08-076D-239AAEA709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Generalized, if the risk-free rate is constant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payments 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for each period, and the duration of payments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, the present value is: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$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=$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(1+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+⋯+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lvl="1"/>
                <a:endParaRPr lang="en-US" sz="1600" dirty="0"/>
              </a:p>
              <a:p>
                <a:r>
                  <a:rPr lang="en-US" dirty="0"/>
                  <a:t>Applying the formula for a geometric series…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$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=$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1+</m:t>
                                              </m:r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1+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en-US" sz="200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214A4C-E557-EF08-076D-239AAEA709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 r="-18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530BB-082B-3A49-BFDA-5A7FC6E6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2483E-E094-976C-9ACB-0F2EA1B6B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7854A-BF5B-7177-BD21-896B1B3E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19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253C1-74E2-9029-B30E-0A860BF66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 Interest Rates &amp;</a:t>
            </a:r>
            <a:br>
              <a:rPr lang="en-US" dirty="0"/>
            </a:br>
            <a:r>
              <a:rPr lang="en-US" dirty="0"/>
              <a:t>Constant and Infinite Payments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14A4C-E557-EF08-076D-239AAEA70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Suppose that you are on the verge of purchasing a new machine that lasts </a:t>
            </a:r>
            <a:r>
              <a:rPr lang="en-US" i="1" dirty="0"/>
              <a:t>forever</a:t>
            </a:r>
            <a:r>
              <a:rPr lang="en-US" dirty="0"/>
              <a:t>, which would guarantee $100,000 extra profit at the end of each year.</a:t>
            </a:r>
          </a:p>
          <a:p>
            <a:pPr lvl="3"/>
            <a:endParaRPr lang="en-US" dirty="0"/>
          </a:p>
          <a:p>
            <a:r>
              <a:rPr lang="en-US" dirty="0"/>
              <a:t>Adding up the total additional profit we can get from the new machine would yield infinite profit?</a:t>
            </a:r>
          </a:p>
          <a:p>
            <a:pPr lvl="3"/>
            <a:endParaRPr lang="en-US" dirty="0"/>
          </a:p>
          <a:p>
            <a:r>
              <a:rPr lang="en-US" dirty="0"/>
              <a:t>Assuming that the risk-free interest rate is 5%, how much should you be willing to pay for this new machine?</a:t>
            </a:r>
          </a:p>
          <a:p>
            <a:pPr lvl="3"/>
            <a:endParaRPr lang="en-US" dirty="0"/>
          </a:p>
          <a:p>
            <a:r>
              <a:rPr lang="en-US" dirty="0"/>
              <a:t>The answer is $2,100,000… Let’s see how we got this…</a:t>
            </a:r>
          </a:p>
          <a:p>
            <a:pPr marL="1371600" lvl="3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530BB-082B-3A49-BFDA-5A7FC6E6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2483E-E094-976C-9ACB-0F2EA1B6B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7854A-BF5B-7177-BD21-896B1B3E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110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253C1-74E2-9029-B30E-0A860BF66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 Interest Rates &amp;</a:t>
            </a:r>
            <a:br>
              <a:rPr lang="en-US" dirty="0"/>
            </a:br>
            <a:r>
              <a:rPr lang="en-US" dirty="0"/>
              <a:t>Constant and Infinite Payments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214A4C-E557-EF08-076D-239AAEA709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If the risk-free rate is constant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payments 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for each period, the present value is: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$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=$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(1+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+⋯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lvl="1"/>
                <a:endParaRPr lang="en-US" sz="1200" dirty="0"/>
              </a:p>
              <a:p>
                <a:r>
                  <a:rPr lang="en-US" dirty="0"/>
                  <a:t>Applying the formula for an infinite geometric series…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$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=$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1200" dirty="0"/>
              </a:p>
              <a:p>
                <a:r>
                  <a:rPr lang="en-US" dirty="0"/>
                  <a:t>Using the parameters of the problem in the previous slide: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$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=$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100,000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0.05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0.05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=$2,100,000</m:t>
                      </m:r>
                    </m:oMath>
                  </m:oMathPara>
                </a14:m>
                <a:endParaRPr lang="en-US" sz="200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214A4C-E557-EF08-076D-239AAEA709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2661" r="-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530BB-082B-3A49-BFDA-5A7FC6E6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2483E-E094-976C-9ACB-0F2EA1B6B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7854A-BF5B-7177-BD21-896B1B3E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302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253C1-74E2-9029-B30E-0A860BF66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Nominal and Real Terms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214A4C-E557-EF08-076D-239AAEA709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Up to this point, all terms were “nominal,” or in terms of $.</a:t>
                </a:r>
              </a:p>
              <a:p>
                <a:pPr lvl="3"/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$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=$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+$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(1+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+$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en-US" sz="2000" dirty="0"/>
              </a:p>
              <a:p>
                <a:pPr marL="1371600" lvl="3" indent="0">
                  <a:buNone/>
                </a:pPr>
                <a:endParaRPr lang="en-US" dirty="0"/>
              </a:p>
              <a:p>
                <a:r>
                  <a:rPr lang="en-US" dirty="0"/>
                  <a:t>Under certain conditions, it will be more natural to think about these issues in the “real” terms.</a:t>
                </a:r>
              </a:p>
              <a:p>
                <a:pPr lvl="3"/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(1+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en-US" sz="2000" dirty="0"/>
              </a:p>
              <a:p>
                <a:pPr lvl="3"/>
                <a:endParaRPr lang="en-US" dirty="0"/>
              </a:p>
              <a:p>
                <a:pPr lvl="1"/>
                <a:r>
                  <a:rPr lang="en-US" dirty="0"/>
                  <a:t>When there is a reason to consider the impact of inflation on long-run returns of assets, we may gain more insight by talking in terms of goods (the “real” terms).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214A4C-E557-EF08-076D-239AAEA709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 r="-1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530BB-082B-3A49-BFDA-5A7FC6E6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2483E-E094-976C-9ACB-0F2EA1B6B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7854A-BF5B-7177-BD21-896B1B3E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260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253C1-74E2-9029-B30E-0A860BF66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Bond Prices and Bond Yields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14A4C-E557-EF08-076D-239AAEA70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Bonds are financial assets that allow people to purchase government or corporate debt.</a:t>
            </a:r>
          </a:p>
          <a:p>
            <a:pPr lvl="3"/>
            <a:endParaRPr lang="en-US" dirty="0"/>
          </a:p>
          <a:p>
            <a:r>
              <a:rPr lang="en-US" dirty="0"/>
              <a:t>The two critical dimensions that define bonds are its </a:t>
            </a:r>
            <a:r>
              <a:rPr lang="en-US" b="1" dirty="0"/>
              <a:t>maturity</a:t>
            </a:r>
            <a:r>
              <a:rPr lang="en-US" dirty="0"/>
              <a:t>, and its </a:t>
            </a:r>
            <a:r>
              <a:rPr lang="en-US" b="1" dirty="0"/>
              <a:t>risk</a:t>
            </a:r>
            <a:r>
              <a:rPr lang="en-US" dirty="0"/>
              <a:t>.</a:t>
            </a:r>
          </a:p>
          <a:p>
            <a:pPr lvl="3"/>
            <a:endParaRPr lang="en-US" dirty="0"/>
          </a:p>
          <a:p>
            <a:r>
              <a:rPr lang="en-US" dirty="0"/>
              <a:t>Maturity is simply “the length of time over which the bond promises to make payments to the holder of the bond.”</a:t>
            </a:r>
          </a:p>
          <a:p>
            <a:pPr lvl="3"/>
            <a:endParaRPr lang="en-US" dirty="0"/>
          </a:p>
          <a:p>
            <a:r>
              <a:rPr lang="en-US" dirty="0"/>
              <a:t>The primary risk associated with a bond will be its default risk, which is the risk that the issuer of the bond will not be able to pay back the full amount of the issued bond.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530BB-082B-3A49-BFDA-5A7FC6E6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2483E-E094-976C-9ACB-0F2EA1B6B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7854A-BF5B-7177-BD21-896B1B3E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76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253C1-74E2-9029-B30E-0A860BF66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Bond Prices and Bond Yields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214A4C-E557-EF08-076D-239AAEA709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 bond that is priced at $1,200 which pays the holder $100 in coupon payments every year for the next 5 years, with a final payment of $1,000.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This bond has a 3-year maturity, and…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…an 8.33% yield.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𝑌𝑖𝑒𝑙𝑑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𝐴𝑛𝑛𝑢𝑎𝑙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𝐶𝑜𝑢𝑝𝑜𝑛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𝑃𝑎𝑦𝑚𝑒𝑛𝑡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𝐶𝑢𝑟𝑟𝑒𝑛𝑡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𝐵𝑜𝑛𝑑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𝑃𝑟𝑖𝑐𝑒</m:t>
                            </m:r>
                          </m:den>
                        </m:f>
                      </m:e>
                    </m:d>
                  </m:oMath>
                </a14:m>
                <a:endParaRPr lang="en-US" sz="2000" dirty="0"/>
              </a:p>
              <a:p>
                <a:pPr lvl="1"/>
                <a:endParaRPr lang="en-US" sz="1600" dirty="0"/>
              </a:p>
              <a:p>
                <a:r>
                  <a:rPr lang="en-US" dirty="0"/>
                  <a:t>The price of bonds and its yield will be negatively correlated; if the price of bonds increase, the yield will fall.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lvl="2"/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214A4C-E557-EF08-076D-239AAEA709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 r="-1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530BB-082B-3A49-BFDA-5A7FC6E6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2483E-E094-976C-9ACB-0F2EA1B6B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7854A-BF5B-7177-BD21-896B1B3E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392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253C1-74E2-9029-B30E-0A860BF66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Yield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14A4C-E557-EF08-076D-239AAEA70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The yield of treasury bonds with a short maturity (less than 1 year) is called “short-term interest rates.”</a:t>
            </a:r>
          </a:p>
          <a:p>
            <a:pPr lvl="3"/>
            <a:endParaRPr lang="en-US" dirty="0"/>
          </a:p>
          <a:p>
            <a:r>
              <a:rPr lang="en-US" dirty="0"/>
              <a:t>The yield of treasury bonds with longer maturities are called “long-term interest rates.”</a:t>
            </a:r>
          </a:p>
          <a:p>
            <a:pPr lvl="3"/>
            <a:endParaRPr lang="en-US" dirty="0"/>
          </a:p>
          <a:p>
            <a:r>
              <a:rPr lang="en-US" dirty="0"/>
              <a:t>At any given time, we can plot the relationship between the maturity of each bond, and its yield.</a:t>
            </a:r>
          </a:p>
          <a:p>
            <a:pPr lvl="3"/>
            <a:endParaRPr lang="en-US" dirty="0"/>
          </a:p>
          <a:p>
            <a:r>
              <a:rPr lang="en-US" dirty="0"/>
              <a:t>The current values for the Yield Curve is:</a:t>
            </a:r>
          </a:p>
          <a:p>
            <a:pPr lvl="3"/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530BB-082B-3A49-BFDA-5A7FC6E6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2483E-E094-976C-9ACB-0F2EA1B6B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7854A-BF5B-7177-BD21-896B1B3E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5C41A0C-204A-576B-DA26-1696F0F3A5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846020"/>
              </p:ext>
            </p:extLst>
          </p:nvPr>
        </p:nvGraphicFramePr>
        <p:xfrm>
          <a:off x="628654" y="5524977"/>
          <a:ext cx="788669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5837">
                  <a:extLst>
                    <a:ext uri="{9D8B030D-6E8A-4147-A177-3AD203B41FA5}">
                      <a16:colId xmlns:a16="http://schemas.microsoft.com/office/drawing/2014/main" val="4029118134"/>
                    </a:ext>
                  </a:extLst>
                </a:gridCol>
                <a:gridCol w="985837">
                  <a:extLst>
                    <a:ext uri="{9D8B030D-6E8A-4147-A177-3AD203B41FA5}">
                      <a16:colId xmlns:a16="http://schemas.microsoft.com/office/drawing/2014/main" val="2317665059"/>
                    </a:ext>
                  </a:extLst>
                </a:gridCol>
                <a:gridCol w="985837">
                  <a:extLst>
                    <a:ext uri="{9D8B030D-6E8A-4147-A177-3AD203B41FA5}">
                      <a16:colId xmlns:a16="http://schemas.microsoft.com/office/drawing/2014/main" val="1047733309"/>
                    </a:ext>
                  </a:extLst>
                </a:gridCol>
                <a:gridCol w="985837">
                  <a:extLst>
                    <a:ext uri="{9D8B030D-6E8A-4147-A177-3AD203B41FA5}">
                      <a16:colId xmlns:a16="http://schemas.microsoft.com/office/drawing/2014/main" val="2930105900"/>
                    </a:ext>
                  </a:extLst>
                </a:gridCol>
                <a:gridCol w="985837">
                  <a:extLst>
                    <a:ext uri="{9D8B030D-6E8A-4147-A177-3AD203B41FA5}">
                      <a16:colId xmlns:a16="http://schemas.microsoft.com/office/drawing/2014/main" val="536082419"/>
                    </a:ext>
                  </a:extLst>
                </a:gridCol>
                <a:gridCol w="985837">
                  <a:extLst>
                    <a:ext uri="{9D8B030D-6E8A-4147-A177-3AD203B41FA5}">
                      <a16:colId xmlns:a16="http://schemas.microsoft.com/office/drawing/2014/main" val="3500358756"/>
                    </a:ext>
                  </a:extLst>
                </a:gridCol>
                <a:gridCol w="985837">
                  <a:extLst>
                    <a:ext uri="{9D8B030D-6E8A-4147-A177-3AD203B41FA5}">
                      <a16:colId xmlns:a16="http://schemas.microsoft.com/office/drawing/2014/main" val="4059526999"/>
                    </a:ext>
                  </a:extLst>
                </a:gridCol>
                <a:gridCol w="985837">
                  <a:extLst>
                    <a:ext uri="{9D8B030D-6E8A-4147-A177-3AD203B41FA5}">
                      <a16:colId xmlns:a16="http://schemas.microsoft.com/office/drawing/2014/main" val="19956880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Maturity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10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30 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65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Yield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5.33%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5.28%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4.74%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4.37%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4.49%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0905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8959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253C1-74E2-9029-B30E-0A860BF66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Yield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14A4C-E557-EF08-076D-239AAEA70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/>
              <a:t>A</a:t>
            </a:r>
            <a:endParaRPr lang="en-US" dirty="0"/>
          </a:p>
          <a:p>
            <a:pPr marL="0" indent="0">
              <a:buNone/>
            </a:pPr>
            <a:endParaRPr lang="en-US" sz="2000" dirty="0"/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530BB-082B-3A49-BFDA-5A7FC6E6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2483E-E094-976C-9ACB-0F2EA1B6B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7854A-BF5B-7177-BD21-896B1B3E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798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16373</TotalTime>
  <Words>1785</Words>
  <Application>Microsoft Office PowerPoint</Application>
  <PresentationFormat>On-screen Show (4:3)</PresentationFormat>
  <Paragraphs>265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 Math</vt:lpstr>
      <vt:lpstr>Franklin Gothic Book</vt:lpstr>
      <vt:lpstr>Office Theme</vt:lpstr>
      <vt:lpstr>Expectations: Financial Markets</vt:lpstr>
      <vt:lpstr>Expectations in the Economy</vt:lpstr>
      <vt:lpstr>POLLEVERYWHERE</vt:lpstr>
      <vt:lpstr>Question!</vt:lpstr>
      <vt:lpstr>Expected Present Discounted Value</vt:lpstr>
      <vt:lpstr>Expected Present Discounted Value</vt:lpstr>
      <vt:lpstr>The Discount Rate</vt:lpstr>
      <vt:lpstr>The Discount Factor</vt:lpstr>
      <vt:lpstr>The Discount Factor</vt:lpstr>
      <vt:lpstr>Two Periods of Time</vt:lpstr>
      <vt:lpstr>Two Periods of Time</vt:lpstr>
      <vt:lpstr>Longer Periods of Time</vt:lpstr>
      <vt:lpstr>Constant Interest Rates &amp; Constant and Finite Payments</vt:lpstr>
      <vt:lpstr>Constant Interest Rates &amp; Constant and Finite Payments</vt:lpstr>
      <vt:lpstr>Constant Interest Rates &amp; Constant and Finite Payments</vt:lpstr>
      <vt:lpstr>POLLEVERYWHERE</vt:lpstr>
      <vt:lpstr>Constant Interest Rates &amp; Constant and Finite Payments</vt:lpstr>
      <vt:lpstr>Constant Interest Rates &amp; Constant and Infinite Payments</vt:lpstr>
      <vt:lpstr>Constant Interest Rates &amp; Constant and Infinite Payments</vt:lpstr>
      <vt:lpstr>Nominal and Real Terms</vt:lpstr>
      <vt:lpstr>Bond Prices and Bond Yields</vt:lpstr>
      <vt:lpstr>Bond Prices and Bond Yields</vt:lpstr>
      <vt:lpstr>The Yield Curve</vt:lpstr>
      <vt:lpstr>The Yield Curve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Brian Park</cp:lastModifiedBy>
  <cp:revision>255</cp:revision>
  <dcterms:created xsi:type="dcterms:W3CDTF">2023-08-17T23:00:51Z</dcterms:created>
  <dcterms:modified xsi:type="dcterms:W3CDTF">2024-04-10T02:55:57Z</dcterms:modified>
</cp:coreProperties>
</file>