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0"/>
  </p:notesMasterIdLst>
  <p:sldIdLst>
    <p:sldId id="283" r:id="rId2"/>
    <p:sldId id="284" r:id="rId3"/>
    <p:sldId id="282" r:id="rId4"/>
    <p:sldId id="300" r:id="rId5"/>
    <p:sldId id="299" r:id="rId6"/>
    <p:sldId id="298" r:id="rId7"/>
    <p:sldId id="259" r:id="rId8"/>
    <p:sldId id="262" r:id="rId9"/>
    <p:sldId id="296" r:id="rId10"/>
    <p:sldId id="303" r:id="rId11"/>
    <p:sldId id="263" r:id="rId12"/>
    <p:sldId id="264" r:id="rId13"/>
    <p:sldId id="302" r:id="rId14"/>
    <p:sldId id="265" r:id="rId15"/>
    <p:sldId id="266" r:id="rId16"/>
    <p:sldId id="297" r:id="rId17"/>
    <p:sldId id="304" r:id="rId18"/>
    <p:sldId id="306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1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7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your expected letter grade from this class?
https://www.polleverywhere.com/multiple_choice_polls/CbK3EUF22j8SSEKUVH8Xx?display_state=instructions&amp;activity_state=opened&amp;state=opened&amp;flow=Engagement&amp;onscreen=persist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9AC740-6154-6652-A2ED-B5E50F1A8F8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98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your expected letter grade from this class?
https://www.polleverywhere.com/multiple_choice_polls/CbK3EUF22j8SSEKUVH8Xx?display_state=chart&amp;activity_state=closed&amp;state=closed&amp;flow=Engagement&amp;onscreen=persist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8FE628-AF53-07A4-5647-6733157EADC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301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Spring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lm.pearson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alendly.com/brianhwpark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Introduction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301</a:t>
            </a:r>
          </a:p>
          <a:p>
            <a:r>
              <a:rPr lang="en-US" dirty="0"/>
              <a:t>Intermediate Macroeconomics</a:t>
            </a: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00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Intermediate Macroeconomics?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Directly from the Monmouth College course catalog...</a:t>
            </a:r>
            <a:endParaRPr lang="en-US" sz="1200" dirty="0"/>
          </a:p>
          <a:p>
            <a:pPr lvl="3"/>
            <a:endParaRPr lang="en-US" dirty="0"/>
          </a:p>
          <a:p>
            <a:r>
              <a:rPr lang="en-US" dirty="0"/>
              <a:t>“A detailed examination of the elements that determine the level of national income. Includes analysis of government fiscal and monetary policies.”</a:t>
            </a:r>
          </a:p>
          <a:p>
            <a:pPr lvl="3"/>
            <a:endParaRPr lang="en-US" dirty="0"/>
          </a:p>
          <a:p>
            <a:r>
              <a:rPr lang="en-US" dirty="0"/>
              <a:t>Prerequisites:</a:t>
            </a:r>
          </a:p>
          <a:p>
            <a:pPr lvl="1"/>
            <a:r>
              <a:rPr lang="en-US" dirty="0"/>
              <a:t>ECON 200 Principles of Economics</a:t>
            </a:r>
          </a:p>
          <a:p>
            <a:pPr lvl="1"/>
            <a:r>
              <a:rPr lang="en-US" dirty="0"/>
              <a:t>BUSI 201 Business Data Analysis</a:t>
            </a:r>
          </a:p>
          <a:p>
            <a:pPr lvl="1"/>
            <a:r>
              <a:rPr lang="en-US" dirty="0"/>
              <a:t>BUSI 205 Business Math and Statistics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48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Intermediate Macroeconomics?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JEL Classification under “Macroeconomics”</a:t>
            </a:r>
          </a:p>
          <a:p>
            <a:pPr lvl="1"/>
            <a:r>
              <a:rPr lang="en-US" dirty="0"/>
              <a:t>Consumption, Saving, Production, Investment, Labor Markets, and Informal Economy</a:t>
            </a:r>
          </a:p>
          <a:p>
            <a:pPr lvl="1"/>
            <a:r>
              <a:rPr lang="en-US" dirty="0"/>
              <a:t>Prices, Business Fluctuations, and Cycles</a:t>
            </a:r>
          </a:p>
          <a:p>
            <a:pPr lvl="1"/>
            <a:r>
              <a:rPr lang="en-US" dirty="0"/>
              <a:t>Money and Interest Rates</a:t>
            </a:r>
          </a:p>
          <a:p>
            <a:pPr lvl="1"/>
            <a:r>
              <a:rPr lang="en-US" dirty="0"/>
              <a:t>Monetary Policy, Central Banking, and the Supply of Money and Credit</a:t>
            </a:r>
          </a:p>
          <a:p>
            <a:pPr lvl="1"/>
            <a:r>
              <a:rPr lang="en-US" dirty="0"/>
              <a:t>Macroeconomic Policy, Macroeconomic Aspects of Public Finance, and General Outlook</a:t>
            </a:r>
          </a:p>
          <a:p>
            <a:pPr lvl="1"/>
            <a:r>
              <a:rPr lang="en-US" dirty="0"/>
              <a:t>Macro-Based Behavioral Economics</a:t>
            </a:r>
          </a:p>
          <a:p>
            <a:pPr lvl="4"/>
            <a:endParaRPr lang="en-US" dirty="0"/>
          </a:p>
          <a:p>
            <a:r>
              <a:rPr lang="en-US" dirty="0"/>
              <a:t>Study of the Economy as a whole.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87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Intermediate Macroeconomics?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National level of output (income).</a:t>
            </a:r>
          </a:p>
          <a:p>
            <a:pPr lvl="3"/>
            <a:endParaRPr lang="en-US" dirty="0"/>
          </a:p>
          <a:p>
            <a:r>
              <a:rPr lang="en-US" dirty="0"/>
              <a:t>National level of unemployment.</a:t>
            </a:r>
          </a:p>
          <a:p>
            <a:pPr lvl="3"/>
            <a:endParaRPr lang="en-US" dirty="0"/>
          </a:p>
          <a:p>
            <a:r>
              <a:rPr lang="en-US" dirty="0"/>
              <a:t>National level of prices.</a:t>
            </a:r>
          </a:p>
          <a:p>
            <a:pPr lvl="3"/>
            <a:endParaRPr lang="en-US" dirty="0"/>
          </a:p>
          <a:p>
            <a:r>
              <a:rPr lang="en-US" dirty="0"/>
              <a:t>Role of Fiscal / Monetary Policy.</a:t>
            </a:r>
          </a:p>
          <a:p>
            <a:pPr lvl="3"/>
            <a:endParaRPr lang="en-US" dirty="0"/>
          </a:p>
          <a:p>
            <a:r>
              <a:rPr lang="en-US" dirty="0"/>
              <a:t>How economies grow.</a:t>
            </a:r>
          </a:p>
          <a:p>
            <a:pPr lvl="3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68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F6D85-62DC-01FA-C489-E2E727C6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 / Reading Material</a:t>
            </a:r>
          </a:p>
        </p:txBody>
      </p:sp>
      <p:pic>
        <p:nvPicPr>
          <p:cNvPr id="9" name="Content Placeholder 8" descr="A book cover of a globe&#10;&#10;Description automatically generated">
            <a:extLst>
              <a:ext uri="{FF2B5EF4-FFF2-40B4-BE49-F238E27FC236}">
                <a16:creationId xmlns:a16="http://schemas.microsoft.com/office/drawing/2014/main" id="{6EA9E66A-6AD4-2B94-23E5-0F51D33728A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37" y="1825625"/>
            <a:ext cx="3432825" cy="435133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45BA2-1542-7CBF-7A21-F2931DA1BA5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Macroeconomics, 8</a:t>
            </a:r>
            <a:r>
              <a:rPr lang="en-US" baseline="30000" dirty="0"/>
              <a:t>th</a:t>
            </a:r>
            <a:r>
              <a:rPr lang="en-US" dirty="0"/>
              <a:t> ed.</a:t>
            </a:r>
          </a:p>
          <a:p>
            <a:pPr lvl="3"/>
            <a:endParaRPr lang="en-US" dirty="0"/>
          </a:p>
          <a:p>
            <a:r>
              <a:rPr lang="en-US" dirty="0"/>
              <a:t>Olivier Blanchard</a:t>
            </a:r>
          </a:p>
          <a:p>
            <a:pPr lvl="3"/>
            <a:endParaRPr lang="en-US" dirty="0"/>
          </a:p>
          <a:p>
            <a:r>
              <a:rPr lang="en-US" dirty="0"/>
              <a:t>Pearson</a:t>
            </a:r>
          </a:p>
          <a:p>
            <a:pPr lvl="3"/>
            <a:endParaRPr lang="en-US" dirty="0"/>
          </a:p>
          <a:p>
            <a:r>
              <a:rPr lang="en-US" b="1" u="sng" dirty="0"/>
              <a:t>MUST</a:t>
            </a:r>
            <a:r>
              <a:rPr lang="en-US" dirty="0"/>
              <a:t> purchase with </a:t>
            </a:r>
            <a:r>
              <a:rPr lang="en-US" dirty="0" err="1"/>
              <a:t>MyLab</a:t>
            </a:r>
            <a:r>
              <a:rPr lang="en-US" dirty="0"/>
              <a:t> Access.</a:t>
            </a:r>
          </a:p>
          <a:p>
            <a:pPr lvl="3"/>
            <a:endParaRPr lang="en-US" dirty="0"/>
          </a:p>
          <a:p>
            <a:r>
              <a:rPr lang="en-US" dirty="0"/>
              <a:t>Slides will be distributed via LMS.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70992-6EC3-DB79-5DD9-5C98D2A96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92192-B919-FEC8-BE27-0A8B2D607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F596D-2861-5351-7E72-575BFC4F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0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Pearson </a:t>
            </a:r>
            <a:r>
              <a:rPr lang="en-US" dirty="0" err="1"/>
              <a:t>MyLab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https://mlm.pearson.com/</a:t>
            </a:r>
            <a:endParaRPr lang="en-US" dirty="0"/>
          </a:p>
          <a:p>
            <a:pPr lvl="3"/>
            <a:endParaRPr lang="en-US" dirty="0"/>
          </a:p>
          <a:p>
            <a:r>
              <a:rPr lang="en-US" dirty="0"/>
              <a:t>Course ID: park04791</a:t>
            </a:r>
          </a:p>
          <a:p>
            <a:pPr lvl="3"/>
            <a:endParaRPr lang="en-US" dirty="0"/>
          </a:p>
          <a:p>
            <a:r>
              <a:rPr lang="en-US" dirty="0"/>
              <a:t>Homework and online quizzes will be administered on this platform.</a:t>
            </a:r>
          </a:p>
          <a:p>
            <a:pPr lvl="3"/>
            <a:endParaRPr lang="en-US" dirty="0"/>
          </a:p>
          <a:p>
            <a:r>
              <a:rPr lang="en-US" dirty="0"/>
              <a:t>When purchasing the textbook, make sure you purchase access to Pearson </a:t>
            </a:r>
            <a:r>
              <a:rPr lang="en-US" dirty="0" err="1"/>
              <a:t>MyLab</a:t>
            </a:r>
            <a:r>
              <a:rPr lang="en-US" dirty="0"/>
              <a:t> as well!</a:t>
            </a:r>
          </a:p>
          <a:p>
            <a:pPr lvl="3"/>
            <a:endParaRPr lang="en-US" dirty="0"/>
          </a:p>
          <a:p>
            <a:r>
              <a:rPr lang="en-US" dirty="0"/>
              <a:t>A trial of 14 days is allowed until you acquire a textbook.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04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Ph.D. Cornell University</a:t>
            </a:r>
          </a:p>
          <a:p>
            <a:pPr lvl="1"/>
            <a:endParaRPr lang="en-US" sz="800" dirty="0"/>
          </a:p>
          <a:p>
            <a:r>
              <a:rPr lang="en-US" dirty="0"/>
              <a:t>B.A. Korea University</a:t>
            </a:r>
          </a:p>
          <a:p>
            <a:pPr lvl="1"/>
            <a:endParaRPr lang="en-US" sz="800" dirty="0"/>
          </a:p>
          <a:p>
            <a:r>
              <a:rPr lang="en-US" dirty="0"/>
              <a:t>Research Interests</a:t>
            </a:r>
          </a:p>
          <a:p>
            <a:pPr lvl="1"/>
            <a:r>
              <a:rPr lang="en-US" dirty="0"/>
              <a:t>Environmental: Climate Change, Air Pollution</a:t>
            </a:r>
          </a:p>
          <a:p>
            <a:pPr lvl="1"/>
            <a:r>
              <a:rPr lang="en-US" dirty="0"/>
              <a:t>Demographic: Migration, Fertility</a:t>
            </a:r>
          </a:p>
          <a:p>
            <a:pPr lvl="1"/>
            <a:r>
              <a:rPr lang="en-US" dirty="0"/>
              <a:t>Labor: Employment Stability</a:t>
            </a:r>
            <a:endParaRPr lang="en-US" sz="800" dirty="0"/>
          </a:p>
          <a:p>
            <a:pPr lvl="1"/>
            <a:endParaRPr lang="en-US" sz="800" dirty="0"/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Year at Monmouth College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35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Email: BPARK@monmouthcollege.edu</a:t>
            </a:r>
          </a:p>
          <a:p>
            <a:pPr lvl="1"/>
            <a:r>
              <a:rPr lang="en-US" dirty="0"/>
              <a:t>Please include “ECON301” in the subject line.</a:t>
            </a:r>
          </a:p>
          <a:p>
            <a:pPr lvl="1"/>
            <a:r>
              <a:rPr lang="en-US" dirty="0"/>
              <a:t>Target response within 1 business day.</a:t>
            </a:r>
          </a:p>
          <a:p>
            <a:pPr lvl="1"/>
            <a:endParaRPr lang="en-US" sz="1300" dirty="0"/>
          </a:p>
          <a:p>
            <a:r>
              <a:rPr lang="en-US" dirty="0"/>
              <a:t>Office: CSB 248</a:t>
            </a:r>
          </a:p>
          <a:p>
            <a:pPr lvl="1"/>
            <a:endParaRPr lang="en-US" sz="1300" dirty="0"/>
          </a:p>
          <a:p>
            <a:r>
              <a:rPr lang="en-US" dirty="0"/>
              <a:t>Regular Office Hours: Tue/Thu 11:00 AM ~ 2:00 PM</a:t>
            </a:r>
          </a:p>
          <a:p>
            <a:pPr lvl="1"/>
            <a:endParaRPr lang="en-US" sz="1300" dirty="0"/>
          </a:p>
          <a:p>
            <a:r>
              <a:rPr lang="en-US" dirty="0"/>
              <a:t>Individual (or Group) Appointments via Calendly.</a:t>
            </a:r>
          </a:p>
          <a:p>
            <a:pPr lvl="1"/>
            <a:r>
              <a:rPr lang="en-US" dirty="0">
                <a:hlinkClick r:id="rId2"/>
              </a:rPr>
              <a:t>https://calendly.com/brianhwpark</a:t>
            </a:r>
            <a:endParaRPr lang="en-US" dirty="0"/>
          </a:p>
          <a:p>
            <a:pPr lvl="1"/>
            <a:r>
              <a:rPr lang="en-US" dirty="0"/>
              <a:t>Book on-demand office hours in 30-minute increments</a:t>
            </a:r>
          </a:p>
          <a:p>
            <a:pPr lvl="1"/>
            <a:r>
              <a:rPr lang="en-US" dirty="0"/>
              <a:t>Calendar opens 15 days in advance</a:t>
            </a:r>
          </a:p>
          <a:p>
            <a:pPr lvl="1"/>
            <a:endParaRPr lang="en-US" sz="1300" dirty="0"/>
          </a:p>
          <a:p>
            <a:r>
              <a:rPr lang="en-US" dirty="0"/>
              <a:t>Send me an email if you need </a:t>
            </a:r>
            <a:r>
              <a:rPr lang="en-US" b="1" dirty="0"/>
              <a:t>anything</a:t>
            </a:r>
            <a:r>
              <a:rPr lang="en-US" dirty="0"/>
              <a:t> else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50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Hours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4AE541C1-789A-90EB-EF38-D8110642DD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 t="9981" r="10078" b="9981"/>
          <a:stretch/>
        </p:blipFill>
        <p:spPr>
          <a:xfrm>
            <a:off x="2313107" y="1569919"/>
            <a:ext cx="4517786" cy="451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09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1977-D1AE-C6FF-496A-0F9C5BC85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Hours</a:t>
            </a:r>
          </a:p>
        </p:txBody>
      </p:sp>
      <p:pic>
        <p:nvPicPr>
          <p:cNvPr id="9" name="Content Placeholder 8" descr="A sign on a cork board&#10;&#10;Description automatically generated">
            <a:extLst>
              <a:ext uri="{FF2B5EF4-FFF2-40B4-BE49-F238E27FC236}">
                <a16:creationId xmlns:a16="http://schemas.microsoft.com/office/drawing/2014/main" id="{DF2870C0-00B6-AA49-73EB-DC1B2E3673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76" y="1825625"/>
            <a:ext cx="3825148" cy="435133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163221-A098-789A-656A-A76998CDEE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wheel is set at </a:t>
            </a:r>
            <a:r>
              <a:rPr lang="en-US" dirty="0">
                <a:solidFill>
                  <a:srgbClr val="00B050"/>
                </a:solidFill>
              </a:rPr>
              <a:t>Please Knock</a:t>
            </a:r>
            <a:r>
              <a:rPr lang="en-US" dirty="0"/>
              <a:t>, then feel free to knock and enter.</a:t>
            </a:r>
          </a:p>
          <a:p>
            <a:pPr lvl="3"/>
            <a:endParaRPr lang="en-US" dirty="0"/>
          </a:p>
          <a:p>
            <a:r>
              <a:rPr lang="en-US" dirty="0"/>
              <a:t>The wheel is set at </a:t>
            </a:r>
            <a:r>
              <a:rPr lang="en-US" dirty="0">
                <a:solidFill>
                  <a:srgbClr val="0070C0"/>
                </a:solidFill>
              </a:rPr>
              <a:t>Back Soon</a:t>
            </a:r>
            <a:r>
              <a:rPr lang="en-US" dirty="0"/>
              <a:t>, then the instructor will be back in 30 minutes.</a:t>
            </a:r>
          </a:p>
          <a:p>
            <a:pPr lvl="3"/>
            <a:endParaRPr lang="en-US" dirty="0"/>
          </a:p>
          <a:p>
            <a:r>
              <a:rPr lang="en-US" dirty="0"/>
              <a:t>When the wheel is set to any other status, the instructor will not be available.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7022E-4B5C-0199-1816-A6461C266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D6DFC-5606-5685-BFC4-18FCAAB20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5B405-64F1-7F22-4173-21C77B482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69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semester “Grand Total” will be based on </a:t>
            </a:r>
            <a:r>
              <a:rPr lang="en-US" b="1" dirty="0"/>
              <a:t>four factors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Attendance: 10%</a:t>
            </a:r>
          </a:p>
          <a:p>
            <a:pPr lvl="1"/>
            <a:r>
              <a:rPr lang="en-US" dirty="0"/>
              <a:t>Homework: 15%</a:t>
            </a:r>
          </a:p>
          <a:p>
            <a:pPr lvl="1"/>
            <a:r>
              <a:rPr lang="en-US" dirty="0"/>
              <a:t>Quizzes: 45%</a:t>
            </a:r>
          </a:p>
          <a:p>
            <a:pPr lvl="1"/>
            <a:r>
              <a:rPr lang="en-US" dirty="0"/>
              <a:t>Final Exam: 30%</a:t>
            </a:r>
          </a:p>
          <a:p>
            <a:pPr lvl="1"/>
            <a:endParaRPr lang="en-US" sz="1200" dirty="0"/>
          </a:p>
          <a:p>
            <a:r>
              <a:rPr lang="en-US" dirty="0"/>
              <a:t>No predetermined “cutoff” points for letter grades.</a:t>
            </a:r>
          </a:p>
          <a:p>
            <a:pPr lvl="1"/>
            <a:r>
              <a:rPr lang="en-US" dirty="0"/>
              <a:t>Last semester for ECON 300 “A” was “Above 90,” and “A-” was “Between 87 and 90.”</a:t>
            </a:r>
          </a:p>
          <a:p>
            <a:pPr lvl="3"/>
            <a:endParaRPr lang="en-US" sz="800" dirty="0"/>
          </a:p>
          <a:p>
            <a:r>
              <a:rPr lang="en-US" dirty="0"/>
              <a:t>The cutoffs will be determined later in the semester.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55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Attendance may be called every time we meet.</a:t>
            </a:r>
          </a:p>
          <a:p>
            <a:pPr lvl="1"/>
            <a:endParaRPr lang="en-US" sz="1200" dirty="0"/>
          </a:p>
          <a:p>
            <a:r>
              <a:rPr lang="en-US" dirty="0"/>
              <a:t>One “no-points-deducted” absence for each month.</a:t>
            </a:r>
          </a:p>
          <a:p>
            <a:pPr lvl="1"/>
            <a:endParaRPr lang="en-US" sz="1200" dirty="0"/>
          </a:p>
          <a:p>
            <a:r>
              <a:rPr lang="en-US" dirty="0"/>
              <a:t>Extra “no-points-deducted” absences may be granted on a case-by-case basis.</a:t>
            </a:r>
          </a:p>
          <a:p>
            <a:pPr lvl="1"/>
            <a:endParaRPr lang="en-US" sz="1200" dirty="0"/>
          </a:p>
          <a:p>
            <a:r>
              <a:rPr lang="en-US" dirty="0"/>
              <a:t>Attendance scores will be calculated as: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93313B-57FB-DA5A-DBEE-E5FA57EECDFF}"/>
                  </a:ext>
                </a:extLst>
              </p:cNvPr>
              <p:cNvSpPr txBox="1"/>
              <p:nvPr/>
            </p:nvSpPr>
            <p:spPr>
              <a:xfrm>
                <a:off x="967359" y="4800601"/>
                <a:ext cx="7209281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𝐴𝑡𝑡𝑒𝑛𝑑𝑎𝑛𝑐𝑒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𝐴𝑡𝑡𝑒𝑛𝑑𝑎𝑛𝑐𝑒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𝐶h𝑒𝑐𝑘𝑠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−#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𝐴𝑏𝑠𝑒𝑛𝑐𝑒𝑠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+#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𝐸𝑥𝑐𝑢𝑠𝑒𝑑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𝐴𝑏𝑠𝑒𝑛𝑐𝑒𝑠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𝐴𝑡𝑡𝑒𝑛𝑑𝑎𝑛𝑐𝑒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𝐶h𝑒𝑐𝑘𝑠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93313B-57FB-DA5A-DBEE-E5FA57EEC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359" y="4800601"/>
                <a:ext cx="7209281" cy="4675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1033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 will be assigned through the Pearson </a:t>
            </a:r>
            <a:r>
              <a:rPr lang="en-US" dirty="0" err="1"/>
              <a:t>MyLab</a:t>
            </a:r>
            <a:r>
              <a:rPr lang="en-US" dirty="0"/>
              <a:t> platform.</a:t>
            </a:r>
          </a:p>
          <a:p>
            <a:pPr lvl="3"/>
            <a:endParaRPr lang="en-US" dirty="0"/>
          </a:p>
          <a:p>
            <a:r>
              <a:rPr lang="en-US" dirty="0"/>
              <a:t>Homework will be announced in class when assigned, and students will have one week to finish each homework assignment.</a:t>
            </a:r>
          </a:p>
          <a:p>
            <a:pPr lvl="3"/>
            <a:endParaRPr lang="en-US" dirty="0"/>
          </a:p>
          <a:p>
            <a:r>
              <a:rPr lang="en-US" dirty="0"/>
              <a:t>Students get a total of 5 attempts, and the max score out of all five attempts will be used when determining the grand total score.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627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Quizzes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6 in-person quizzes are planned throughout the semester and will act as a low-stakes status check.</a:t>
            </a:r>
          </a:p>
          <a:p>
            <a:pPr lvl="1"/>
            <a:endParaRPr lang="en-US" sz="1200" dirty="0"/>
          </a:p>
          <a:p>
            <a:r>
              <a:rPr lang="en-US" dirty="0"/>
              <a:t>Students may recover extra credit by attending recovery office hours and “correcting” any mistakes made.</a:t>
            </a:r>
          </a:p>
          <a:p>
            <a:pPr lvl="1"/>
            <a:endParaRPr lang="en-US" sz="1200" dirty="0"/>
          </a:p>
          <a:p>
            <a:r>
              <a:rPr lang="en-US" dirty="0"/>
              <a:t>The lowest quiz will be dropped at the end of the semester when calculating the grand total score.</a:t>
            </a:r>
          </a:p>
          <a:p>
            <a:pPr lvl="1"/>
            <a:endParaRPr lang="en-US" sz="1200" dirty="0"/>
          </a:p>
          <a:p>
            <a:r>
              <a:rPr lang="en-US" dirty="0"/>
              <a:t>Quizzes may be substituted to homework assignments at the instructor’s discretion.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2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final exam will be a comprehensive exam on all materials covered over the semester.</a:t>
            </a:r>
          </a:p>
          <a:p>
            <a:pPr lvl="3"/>
            <a:endParaRPr lang="en-US" dirty="0"/>
          </a:p>
          <a:p>
            <a:r>
              <a:rPr lang="en-US" dirty="0"/>
              <a:t>No “recovery sessions” for partial credit for exams.</a:t>
            </a:r>
          </a:p>
          <a:p>
            <a:pPr lvl="1"/>
            <a:endParaRPr lang="en-US" sz="1200" dirty="0"/>
          </a:p>
          <a:p>
            <a:r>
              <a:rPr lang="en-US" dirty="0"/>
              <a:t>Students may submit a request for regrading within the first 3 days the scores are made available.</a:t>
            </a:r>
          </a:p>
          <a:p>
            <a:pPr lvl="1"/>
            <a:endParaRPr lang="en-US" sz="1200" dirty="0"/>
          </a:p>
          <a:p>
            <a:r>
              <a:rPr lang="en-US" dirty="0"/>
              <a:t>If you miss the final exam due to valid cause, the option would be either a written make-up exam, or an oral exam.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76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PollEverywhere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https://pollev.com/brianpark046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623E16C-1165-FEA6-D775-025B907A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079" y="2198373"/>
            <a:ext cx="3605842" cy="36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33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A3DA8-23C8-C6ED-3106-81D1D2125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3523CB-8488-728F-B092-297647393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CF161-AE58-DDA4-D204-8B1504C8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A51DEA-914F-7C5F-6389-4836301265F8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823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E97A2-41EA-DF06-08F9-91E1BC418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3D829D-F0A3-FB2E-82F1-EB082A745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58A9B-4FA0-1798-B5B7-35DABFCB7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1AE898-A27E-92A3-D1DA-5A3BF6091AAD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634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6016986-0a39-4f37-b3ad-620b69d5919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7c50037-8627-4a67-8e93-1b8237643d23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715</TotalTime>
  <Words>1052</Words>
  <Application>Microsoft Office PowerPoint</Application>
  <PresentationFormat>On-screen Show (4:3)</PresentationFormat>
  <Paragraphs>187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Franklin Gothic Book</vt:lpstr>
      <vt:lpstr>Office Theme</vt:lpstr>
      <vt:lpstr>Introduction</vt:lpstr>
      <vt:lpstr>What is Intermediate Macroeconomics?</vt:lpstr>
      <vt:lpstr>What is Intermediate Macroeconomics?</vt:lpstr>
      <vt:lpstr>What is Intermediate Macroeconomics?</vt:lpstr>
      <vt:lpstr>Textbook / Reading Material</vt:lpstr>
      <vt:lpstr>Pearson MyLab</vt:lpstr>
      <vt:lpstr>About Me</vt:lpstr>
      <vt:lpstr>Contact Information</vt:lpstr>
      <vt:lpstr>Office Hours</vt:lpstr>
      <vt:lpstr>Office Hours</vt:lpstr>
      <vt:lpstr>Grades</vt:lpstr>
      <vt:lpstr>Attendance</vt:lpstr>
      <vt:lpstr>Homework</vt:lpstr>
      <vt:lpstr>Quizzes</vt:lpstr>
      <vt:lpstr>Final Exam</vt:lpstr>
      <vt:lpstr>PollEverywhere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27</cp:revision>
  <dcterms:created xsi:type="dcterms:W3CDTF">2023-08-17T23:00:51Z</dcterms:created>
  <dcterms:modified xsi:type="dcterms:W3CDTF">2024-01-19T17:02:57Z</dcterms:modified>
</cp:coreProperties>
</file>