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56"/>
  </p:notesMasterIdLst>
  <p:sldIdLst>
    <p:sldId id="256" r:id="rId2"/>
    <p:sldId id="325" r:id="rId3"/>
    <p:sldId id="330" r:id="rId4"/>
    <p:sldId id="331" r:id="rId5"/>
    <p:sldId id="332" r:id="rId6"/>
    <p:sldId id="333" r:id="rId7"/>
    <p:sldId id="334" r:id="rId8"/>
    <p:sldId id="336" r:id="rId9"/>
    <p:sldId id="367" r:id="rId10"/>
    <p:sldId id="335" r:id="rId11"/>
    <p:sldId id="337" r:id="rId12"/>
    <p:sldId id="338" r:id="rId13"/>
    <p:sldId id="368" r:id="rId14"/>
    <p:sldId id="341" r:id="rId15"/>
    <p:sldId id="383" r:id="rId16"/>
    <p:sldId id="339" r:id="rId17"/>
    <p:sldId id="384" r:id="rId18"/>
    <p:sldId id="386" r:id="rId19"/>
    <p:sldId id="381" r:id="rId20"/>
    <p:sldId id="342" r:id="rId21"/>
    <p:sldId id="340" r:id="rId22"/>
    <p:sldId id="370" r:id="rId23"/>
    <p:sldId id="343" r:id="rId24"/>
    <p:sldId id="344" r:id="rId25"/>
    <p:sldId id="366" r:id="rId26"/>
    <p:sldId id="345" r:id="rId27"/>
    <p:sldId id="373" r:id="rId28"/>
    <p:sldId id="347" r:id="rId29"/>
    <p:sldId id="387" r:id="rId30"/>
    <p:sldId id="389" r:id="rId31"/>
    <p:sldId id="349" r:id="rId32"/>
    <p:sldId id="348" r:id="rId33"/>
    <p:sldId id="365" r:id="rId34"/>
    <p:sldId id="378" r:id="rId35"/>
    <p:sldId id="377" r:id="rId36"/>
    <p:sldId id="390" r:id="rId37"/>
    <p:sldId id="392" r:id="rId38"/>
    <p:sldId id="380" r:id="rId39"/>
    <p:sldId id="375" r:id="rId40"/>
    <p:sldId id="351" r:id="rId41"/>
    <p:sldId id="350" r:id="rId42"/>
    <p:sldId id="352" r:id="rId43"/>
    <p:sldId id="354" r:id="rId44"/>
    <p:sldId id="355" r:id="rId45"/>
    <p:sldId id="356" r:id="rId46"/>
    <p:sldId id="357" r:id="rId47"/>
    <p:sldId id="358" r:id="rId48"/>
    <p:sldId id="359" r:id="rId49"/>
    <p:sldId id="360" r:id="rId50"/>
    <p:sldId id="361" r:id="rId51"/>
    <p:sldId id="362" r:id="rId52"/>
    <p:sldId id="363" r:id="rId53"/>
    <p:sldId id="364" r:id="rId54"/>
    <p:sldId id="382" r:id="rId5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C5BCD"/>
    <a:srgbClr val="4472C4"/>
    <a:srgbClr val="00FFFF"/>
    <a:srgbClr val="E05F65"/>
    <a:srgbClr val="F5CFD0"/>
    <a:srgbClr val="D428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084" autoAdjust="0"/>
    <p:restoredTop sz="83656" autoAdjust="0"/>
  </p:normalViewPr>
  <p:slideViewPr>
    <p:cSldViewPr snapToGrid="0">
      <p:cViewPr varScale="1">
        <p:scale>
          <a:sx n="92" d="100"/>
          <a:sy n="92" d="100"/>
        </p:scale>
        <p:origin x="158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0A6441-4E79-42FF-805B-86C90BDFD38D}" type="datetimeFigureOut">
              <a:rPr lang="en-US" smtClean="0"/>
              <a:t>1/31/2024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A29054-221E-4755-818D-C35A08AFDB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785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A household with with $$Y_D=0$$ was observed to have $$C=200$$. The same household reported $$C=700$$ when $$Y_D=1000$$. What is this household's $$MPC$$?
https://www.polleverywhere.com/multiple_choice_polls/c5Fns1XNWyLgcQz5VxEeh?display_state=instructions&amp;activity_state=opened&amp;state=opened&amp;flow=Engagement&amp;onscreen=persist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17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043ACD-DE64-0A27-06A4-611C8779ED20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9366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A household with with $$Y_D=0$$ was observed to have $$C=200$$. The same household reported $$C=700$$ when $$Y_D=1000$$. What is this household's $$MPC$$?
https://www.polleverywhere.com/multiple_choice_polls/c5Fns1XNWyLgcQz5VxEeh?display_state=chart&amp;activity_state=closed&amp;state=closed&amp;flow=Engagement&amp;onscreen=persist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18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48A0A1-2526-E806-85BA-1241AA55622A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4227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Assume that $$c_1=0.5$$ for the economy. If consumers start consuming more regardless of income by increasing $$c_0$$ by $5 Million, by how much does equilibrium output increase?
https://www.polleverywhere.com/multiple_choice_polls/6MtWEfD7cnXf6Jmnjicuo?display_state=instructions&amp;activity_state=opened&amp;state=opened&amp;flow=Engagement&amp;onscreen=persist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29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CC6A7F-BE18-5D8D-C665-F736B8DDFB29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1181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Assume that $$c_1=0.5$$ for the economy. If consumers start consuming more regardless of income by increasing $$c_0$$ by $5 Million, by how much does equilibrium output increase?
https://www.polleverywhere.com/multiple_choice_polls/6MtWEfD7cnXf6Jmnjicuo?display_state=chart&amp;activity_state=closed&amp;state=closed&amp;flow=Engagement&amp;onscreen=persist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30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BB7DFC-3FED-DCF9-C560-9E1ADBC70934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1078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Suppose that the marginal propensity to consume is $$c_1$$. What is the balanced budget multiplier?
https://www.polleverywhere.com/multiple_choice_polls/e0khh5eevHj88XtMsFn2K?display_state=instructions&amp;activity_state=opened&amp;state=opened&amp;flow=Engagement&amp;onscreen=persist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36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A5F3C2-0E7A-FA43-F716-5CB9D3014ABA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3253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Suppose that the marginal propensity to consume is $$c_1$$. What is the balanced budget multiplier?
https://www.polleverywhere.com/multiple_choice_polls/e0khh5eevHj88XtMsFn2K?display_state=chart&amp;activity_state=closed&amp;state=closed&amp;flow=Engagement&amp;onscreen=persist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37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D7E92F-9494-5D6F-3D79-273945FFBAC6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9991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92;p13">
            <a:extLst>
              <a:ext uri="{FF2B5EF4-FFF2-40B4-BE49-F238E27FC236}">
                <a16:creationId xmlns:a16="http://schemas.microsoft.com/office/drawing/2014/main" id="{BF16982E-3E38-0665-4F07-437DD3F0D5A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13549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859BA894-242B-5A6C-EFD3-428444AAFEC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97355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>
            <a:normAutofit/>
          </a:bodyPr>
          <a:lstStyle>
            <a:lvl1pPr marL="0" indent="0" algn="ctr">
              <a:buNone/>
              <a:defRPr sz="32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92;p13">
            <a:extLst>
              <a:ext uri="{FF2B5EF4-FFF2-40B4-BE49-F238E27FC236}">
                <a16:creationId xmlns:a16="http://schemas.microsoft.com/office/drawing/2014/main" id="{A5DC9873-6BF3-A825-551C-17B7FBCA97F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50585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F820AB4E-4F46-3C81-9BD0-65A4D2A2DBE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4596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Google Shape;101;p14">
            <a:extLst>
              <a:ext uri="{FF2B5EF4-FFF2-40B4-BE49-F238E27FC236}">
                <a16:creationId xmlns:a16="http://schemas.microsoft.com/office/drawing/2014/main" id="{C854E680-04A2-EA76-C6A6-8EF6A2AD0BB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14257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6" name="Google Shape;101;p14">
            <a:extLst>
              <a:ext uri="{FF2B5EF4-FFF2-40B4-BE49-F238E27FC236}">
                <a16:creationId xmlns:a16="http://schemas.microsoft.com/office/drawing/2014/main" id="{0E4BED26-AE3D-9FD7-372D-89389F76110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51955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5" name="Google Shape;101;p14">
            <a:extLst>
              <a:ext uri="{FF2B5EF4-FFF2-40B4-BE49-F238E27FC236}">
                <a16:creationId xmlns:a16="http://schemas.microsoft.com/office/drawing/2014/main" id="{63FB725D-7839-2629-E2FD-4289B983E67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4983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ADE22408-2DD9-F1EF-2438-A0546996FB2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33184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19CEB84E-A1D1-9AFA-DEC7-31056DF6BFA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51165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1F852EF2-DB2E-EDA3-947F-AD7E6C19EBD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38102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297A800C-E47B-35AC-0EA8-24F3738049A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02633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  <a:cs typeface="Forte Forward" panose="020F0502020204030204" pitchFamily="2" charset="0"/>
              </a:defRPr>
            </a:lvl1pPr>
          </a:lstStyle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0777" y="6356351"/>
            <a:ext cx="57624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91;p13">
            <a:extLst>
              <a:ext uri="{FF2B5EF4-FFF2-40B4-BE49-F238E27FC236}">
                <a16:creationId xmlns:a16="http://schemas.microsoft.com/office/drawing/2014/main" id="{9C136CE5-665B-2FA1-3A31-86C4E8EC1DBB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9144000" cy="423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25955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Franklin Gothic Book" panose="020B0503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Relationship Id="rId4" Type="http://schemas.openxmlformats.org/officeDocument/2006/relationships/image" Target="../media/image2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Relationship Id="rId4" Type="http://schemas.openxmlformats.org/officeDocument/2006/relationships/image" Target="../media/image22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Relationship Id="rId4" Type="http://schemas.openxmlformats.org/officeDocument/2006/relationships/image" Target="../media/image2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Relationship Id="rId4" Type="http://schemas.openxmlformats.org/officeDocument/2006/relationships/image" Target="../media/image27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0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0.png"/><Relationship Id="rId5" Type="http://schemas.openxmlformats.org/officeDocument/2006/relationships/image" Target="../media/image240.png"/><Relationship Id="rId4" Type="http://schemas.openxmlformats.org/officeDocument/2006/relationships/image" Target="../media/image30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981AA-C880-955A-8ACC-D4284C4A79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585" y="1122363"/>
            <a:ext cx="8108830" cy="2387600"/>
          </a:xfrm>
        </p:spPr>
        <p:txBody>
          <a:bodyPr>
            <a:normAutofit/>
          </a:bodyPr>
          <a:lstStyle/>
          <a:p>
            <a:r>
              <a:rPr lang="en-US" sz="4200" dirty="0"/>
              <a:t>The Short Run:</a:t>
            </a:r>
            <a:br>
              <a:rPr lang="en-US" sz="4200" dirty="0"/>
            </a:br>
            <a:r>
              <a:rPr lang="en-US" sz="4200" dirty="0"/>
              <a:t>The Goods Market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868834-9371-0482-209B-C2EBDB2D93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ECON 301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3A60A-CBE6-B5CE-B9CE-C7DC93869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F44A7-8470-0B18-F1D2-F47845ECB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6BCC6C-06D2-CC1B-BC1A-B87124A36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806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AA981-4813-80DE-CAF0-EFAF9F5C5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Short Run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DD2227-C47A-41BD-13E0-BF7152AFC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3AE91-0272-E2D2-F1E9-8B6F57FA0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E9D82-AA6F-8057-ACC1-9DB8F3786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</a:t>
            </a:fld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0D56D00-5BF9-C053-76A5-EF0D41BB3A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build towards a model that explains the equilibrium in the goods and financial markets.</a:t>
            </a:r>
          </a:p>
          <a:p>
            <a:pPr lvl="3"/>
            <a:endParaRPr lang="en-US" dirty="0"/>
          </a:p>
          <a:p>
            <a:r>
              <a:rPr lang="en-US" dirty="0"/>
              <a:t>First, we examine the goods market to determine the level of output for the economy.</a:t>
            </a:r>
          </a:p>
          <a:p>
            <a:pPr lvl="3"/>
            <a:endParaRPr lang="en-US" dirty="0"/>
          </a:p>
          <a:p>
            <a:r>
              <a:rPr lang="en-US" dirty="0"/>
              <a:t>Then, we analyze the financial market to determine the optimal interest rates.</a:t>
            </a:r>
          </a:p>
          <a:p>
            <a:pPr lvl="3"/>
            <a:endParaRPr lang="en-US" dirty="0"/>
          </a:p>
          <a:p>
            <a:r>
              <a:rPr lang="en-US" dirty="0"/>
              <a:t>Once we have the two, we will build toward a model that combines them to reveal the short run equilibrium in the economy.</a:t>
            </a:r>
          </a:p>
        </p:txBody>
      </p:sp>
    </p:spTree>
    <p:extLst>
      <p:ext uri="{BB962C8B-B14F-4D97-AF65-F5344CB8AC3E}">
        <p14:creationId xmlns:p14="http://schemas.microsoft.com/office/powerpoint/2010/main" val="1682478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AA981-4813-80DE-CAF0-EFAF9F5C5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Aggregate Output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DD2227-C47A-41BD-13E0-BF7152AFC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3AE91-0272-E2D2-F1E9-8B6F57FA0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E9D82-AA6F-8057-ACC1-9DB8F3786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70D56D00-5BF9-C053-76A5-EF0D41BB3A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aggregate output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of the economy is typically measured in terms of production, but it can also be measured from the expenditure point of view.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Breaking down aggregate output in terms of sources of expenditure, we can assign 5 (or 6) categories:</a:t>
                </a:r>
              </a:p>
              <a:p>
                <a:pPr lvl="1"/>
                <a:r>
                  <a:rPr lang="en-US" dirty="0"/>
                  <a:t>Consumption</a:t>
                </a:r>
              </a:p>
              <a:p>
                <a:pPr lvl="1"/>
                <a:r>
                  <a:rPr lang="en-US" dirty="0"/>
                  <a:t>Investment</a:t>
                </a:r>
              </a:p>
              <a:p>
                <a:pPr lvl="1"/>
                <a:r>
                  <a:rPr lang="en-US" dirty="0"/>
                  <a:t>Government Expenditure</a:t>
                </a:r>
              </a:p>
              <a:p>
                <a:pPr lvl="1"/>
                <a:r>
                  <a:rPr lang="en-US" dirty="0"/>
                  <a:t>Exports</a:t>
                </a:r>
              </a:p>
              <a:p>
                <a:pPr lvl="1"/>
                <a:r>
                  <a:rPr lang="en-US" dirty="0"/>
                  <a:t>Imports</a:t>
                </a:r>
              </a:p>
              <a:p>
                <a:pPr lvl="1"/>
                <a:r>
                  <a:rPr lang="en-US" dirty="0"/>
                  <a:t>(Inventory Investment)</a:t>
                </a:r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70D56D00-5BF9-C053-76A5-EF0D41BB3A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234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AA981-4813-80DE-CAF0-EFAF9F5C5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Consumption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DD2227-C47A-41BD-13E0-BF7152AFC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3AE91-0272-E2D2-F1E9-8B6F57FA0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E9D82-AA6F-8057-ACC1-9DB8F3786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70D56D00-5BF9-C053-76A5-EF0D41BB3A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market value of consumption goods and consumption services purchased by domestic households.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Excludes residential construction or existing assets being transferred between individuals.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Typically accounts for 65% ~ 70% of US GDP.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Will use the notation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 to represent consumption.</a:t>
                </a:r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70D56D00-5BF9-C053-76A5-EF0D41BB3A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 r="-18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0556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AA981-4813-80DE-CAF0-EFAF9F5C5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Investment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DD2227-C47A-41BD-13E0-BF7152AFC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3AE91-0272-E2D2-F1E9-8B6F57FA0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E9D82-AA6F-8057-ACC1-9DB8F3786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5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70D56D00-5BF9-C053-76A5-EF0D41BB3A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market value of new physical capital purchased by domestic households and domestic firms.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Residential construction is counted as investment.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Financial investments do not count towards investment.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Typically accounts for 15% ~ 20% of US GDP.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Will use the notation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dirty="0"/>
                  <a:t> to represent investment.</a:t>
                </a:r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70D56D00-5BF9-C053-76A5-EF0D41BB3A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90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AA981-4813-80DE-CAF0-EFAF9F5C5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Government Expenditure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DD2227-C47A-41BD-13E0-BF7152AFC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3AE91-0272-E2D2-F1E9-8B6F57FA0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E9D82-AA6F-8057-ACC1-9DB8F3786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6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70D56D00-5BF9-C053-76A5-EF0D41BB3A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The market value of government purchases of goods and services.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Government transfers are not included in government expenditure, since it does not involve the purchase of goods or services.</a:t>
                </a:r>
              </a:p>
              <a:p>
                <a:pPr marL="1371600" lvl="3" indent="0">
                  <a:buNone/>
                </a:pPr>
                <a:endParaRPr lang="en-US" dirty="0"/>
              </a:p>
              <a:p>
                <a:r>
                  <a:rPr lang="en-US" dirty="0"/>
                  <a:t>Typically accounts for 15% ~ 20% of US GDP.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Will use the notation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to represent government expenditure.</a:t>
                </a:r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70D56D00-5BF9-C053-76A5-EF0D41BB3A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8606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AA981-4813-80DE-CAF0-EFAF9F5C5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Exports and Imports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DD2227-C47A-41BD-13E0-BF7152AFC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3AE91-0272-E2D2-F1E9-8B6F57FA0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E9D82-AA6F-8057-ACC1-9DB8F3786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7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70D56D00-5BF9-C053-76A5-EF0D41BB3A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Exports is the market value of all domestically produced goods and services purchased by any foreign entity.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Imports is the market value of all foreign-produced goods that are purchased by any domestic entity.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Will use the notation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to represent exports,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𝐼𝑀</m:t>
                    </m:r>
                  </m:oMath>
                </a14:m>
                <a:r>
                  <a:rPr lang="en-US" dirty="0"/>
                  <a:t> to represent imports.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When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𝐼𝑀</m:t>
                    </m:r>
                  </m:oMath>
                </a14:m>
                <a:r>
                  <a:rPr lang="en-US" dirty="0"/>
                  <a:t> we say that we have a trade surplus, and when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𝐼𝑀</m:t>
                    </m:r>
                  </m:oMath>
                </a14:m>
                <a:r>
                  <a:rPr lang="en-US" dirty="0"/>
                  <a:t> we say that we have a trade deficit.</a:t>
                </a:r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70D56D00-5BF9-C053-76A5-EF0D41BB3A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 r="-2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705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AA981-4813-80DE-CAF0-EFAF9F5C5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Inventory Investment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DD2227-C47A-41BD-13E0-BF7152AFC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3AE91-0272-E2D2-F1E9-8B6F57FA0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E9D82-AA6F-8057-ACC1-9DB8F3786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8</a:t>
            </a:fld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0D56D00-5BF9-C053-76A5-EF0D41BB3A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Inventory investment refers to the market value of goods produced domestically which have not been purchased in a given year.</a:t>
            </a:r>
          </a:p>
          <a:p>
            <a:pPr lvl="3"/>
            <a:endParaRPr lang="en-US" dirty="0"/>
          </a:p>
          <a:p>
            <a:r>
              <a:rPr lang="en-US" dirty="0"/>
              <a:t>If more goods are produced than are consumed, inventory investment is positive.</a:t>
            </a:r>
          </a:p>
          <a:p>
            <a:pPr lvl="3"/>
            <a:endParaRPr lang="en-US" dirty="0"/>
          </a:p>
          <a:p>
            <a:r>
              <a:rPr lang="en-US" dirty="0"/>
              <a:t>If more goods are consumed than produced, inventory investment is negative.</a:t>
            </a:r>
          </a:p>
        </p:txBody>
      </p:sp>
    </p:spTree>
    <p:extLst>
      <p:ext uri="{BB962C8B-B14F-4D97-AF65-F5344CB8AC3E}">
        <p14:creationId xmlns:p14="http://schemas.microsoft.com/office/powerpoint/2010/main" val="1688781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AA981-4813-80DE-CAF0-EFAF9F5C5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Aggregate Output and Income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DD2227-C47A-41BD-13E0-BF7152AFC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3AE91-0272-E2D2-F1E9-8B6F57FA0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E9D82-AA6F-8057-ACC1-9DB8F3786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9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70D56D00-5BF9-C053-76A5-EF0D41BB3A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Aggregate output of the economy is the market value of all goods and services produced in an economy.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Aggregate income is the total income received by all factors of production in an economy.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In our model, aggregate output is equal to aggregate income.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Aggregate output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70D56D00-5BF9-C053-76A5-EF0D41BB3A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0632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AA981-4813-80DE-CAF0-EFAF9F5C5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Demand for Goods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DD2227-C47A-41BD-13E0-BF7152AFC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3AE91-0272-E2D2-F1E9-8B6F57FA0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E9D82-AA6F-8057-ACC1-9DB8F3786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10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70D56D00-5BF9-C053-76A5-EF0D41BB3A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Based on the notations that we introduced so far, we can construct a simple equation for the demand for goods in an economy.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 demand for goods will be represented by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Using the notations that we introduced to this point: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𝒁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𝑰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𝑮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𝑰𝑴</m:t>
                      </m:r>
                    </m:oMath>
                  </m:oMathPara>
                </a14:m>
                <a:endParaRPr lang="en-US" b="1" dirty="0"/>
              </a:p>
              <a:p>
                <a:pPr lvl="3"/>
                <a:endParaRPr lang="en-US" dirty="0"/>
              </a:p>
              <a:p>
                <a:r>
                  <a:rPr lang="en-US" dirty="0"/>
                  <a:t>Inventory investment does not belong here, since it is the excess of production that is not consumed.</a:t>
                </a:r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70D56D00-5BF9-C053-76A5-EF0D41BB3A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 r="-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8770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AA981-4813-80DE-CAF0-EFAF9F5C5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Demand for Goods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DD2227-C47A-41BD-13E0-BF7152AFC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3AE91-0272-E2D2-F1E9-8B6F57FA0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E9D82-AA6F-8057-ACC1-9DB8F3786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11</a:t>
            </a:fld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0D56D00-5BF9-C053-76A5-EF0D41BB3A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will make some simplifying assumptions…</a:t>
            </a:r>
          </a:p>
          <a:p>
            <a:pPr lvl="3"/>
            <a:endParaRPr lang="en-US" dirty="0"/>
          </a:p>
          <a:p>
            <a:r>
              <a:rPr lang="en-US" dirty="0"/>
              <a:t>Assume that there is only one good in the economy that is produced and purchased.</a:t>
            </a:r>
          </a:p>
          <a:p>
            <a:pPr lvl="3"/>
            <a:endParaRPr lang="en-US" dirty="0"/>
          </a:p>
          <a:p>
            <a:r>
              <a:rPr lang="en-US" dirty="0"/>
              <a:t>Assume that firms are willing and able to produce any amount of this good that is demanded in the economy.</a:t>
            </a:r>
          </a:p>
          <a:p>
            <a:pPr lvl="1"/>
            <a:r>
              <a:rPr lang="en-US" dirty="0"/>
              <a:t>In the medium-run, we will abandon this assumption.</a:t>
            </a:r>
          </a:p>
          <a:p>
            <a:pPr lvl="3"/>
            <a:endParaRPr lang="en-US" dirty="0"/>
          </a:p>
          <a:p>
            <a:r>
              <a:rPr lang="en-US" dirty="0"/>
              <a:t>Assume a closed economy with no exports nor imports.</a:t>
            </a:r>
          </a:p>
          <a:p>
            <a:pPr lvl="1"/>
            <a:r>
              <a:rPr lang="en-US" dirty="0"/>
              <a:t>We will expand our model for the open economy in the future.</a:t>
            </a:r>
          </a:p>
        </p:txBody>
      </p:sp>
    </p:spTree>
    <p:extLst>
      <p:ext uri="{BB962C8B-B14F-4D97-AF65-F5344CB8AC3E}">
        <p14:creationId xmlns:p14="http://schemas.microsoft.com/office/powerpoint/2010/main" val="3955913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AA981-4813-80DE-CAF0-EFAF9F5C5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Demand for Goods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DD2227-C47A-41BD-13E0-BF7152AFC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3AE91-0272-E2D2-F1E9-8B6F57FA0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E9D82-AA6F-8057-ACC1-9DB8F3786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12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70D56D00-5BF9-C053-76A5-EF0D41BB3A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Under the simplifying assumptions, we have the demand for goods as follows: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𝒁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𝑪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𝑰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𝑮</m:t>
                      </m:r>
                    </m:oMath>
                  </m:oMathPara>
                </a14:m>
                <a:endParaRPr lang="en-US" b="1" dirty="0"/>
              </a:p>
              <a:p>
                <a:endParaRPr lang="en-US" dirty="0"/>
              </a:p>
              <a:p>
                <a:r>
                  <a:rPr lang="en-US" dirty="0"/>
                  <a:t>We will now dig a bit deeper into each three component of demand and establish a relationship between the demand for goods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aggregate output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70D56D00-5BF9-C053-76A5-EF0D41BB3A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 r="-17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0512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AA981-4813-80DE-CAF0-EFAF9F5C5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Modelling Consumption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DD2227-C47A-41BD-13E0-BF7152AFC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3AE91-0272-E2D2-F1E9-8B6F57FA0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E9D82-AA6F-8057-ACC1-9DB8F3786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13</a:t>
            </a:fld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0D56D00-5BF9-C053-76A5-EF0D41BB3A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real world, households’ consumption will depend on countless variables.</a:t>
            </a:r>
          </a:p>
          <a:p>
            <a:pPr lvl="3"/>
            <a:endParaRPr lang="en-US" dirty="0"/>
          </a:p>
          <a:p>
            <a:r>
              <a:rPr lang="en-US" dirty="0"/>
              <a:t>For the sake of simplicity, we will assume that it can be broken down into two distinct parts.</a:t>
            </a:r>
          </a:p>
          <a:p>
            <a:pPr lvl="1"/>
            <a:r>
              <a:rPr lang="en-US" dirty="0"/>
              <a:t>Households will increase their consumption as their income increases, and</a:t>
            </a:r>
          </a:p>
          <a:p>
            <a:pPr lvl="1"/>
            <a:r>
              <a:rPr lang="en-US" dirty="0"/>
              <a:t>Even when income is zero, households will still consume some amount of goods and services.</a:t>
            </a:r>
          </a:p>
          <a:p>
            <a:pPr lvl="4"/>
            <a:endParaRPr lang="en-US" dirty="0"/>
          </a:p>
          <a:p>
            <a:r>
              <a:rPr lang="en-US" dirty="0"/>
              <a:t>Based on this criteria, we will construct a simple equation describing households’ consumption.</a:t>
            </a:r>
          </a:p>
        </p:txBody>
      </p:sp>
    </p:spTree>
    <p:extLst>
      <p:ext uri="{BB962C8B-B14F-4D97-AF65-F5344CB8AC3E}">
        <p14:creationId xmlns:p14="http://schemas.microsoft.com/office/powerpoint/2010/main" val="2700165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AA981-4813-80DE-CAF0-EFAF9F5C5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Modelling Consumption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DD2227-C47A-41BD-13E0-BF7152AFC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3AE91-0272-E2D2-F1E9-8B6F57FA0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E9D82-AA6F-8057-ACC1-9DB8F3786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70D56D00-5BF9-C053-76A5-EF0D41BB3A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We further assume that the consumption function is: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lvl="3"/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is “subsistence level of consumption” of a household.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, households will spend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in consumption.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Any change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reflect changes in consumption for any level of (disposable) income.</a:t>
                </a:r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70D56D00-5BF9-C053-76A5-EF0D41BB3A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0146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AA981-4813-80DE-CAF0-EFAF9F5C5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Modelling Consumption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DD2227-C47A-41BD-13E0-BF7152AFC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3AE91-0272-E2D2-F1E9-8B6F57FA0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E9D82-AA6F-8057-ACC1-9DB8F3786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15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70D56D00-5BF9-C053-76A5-EF0D41BB3A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We further assume that the consumption function is: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1371600" lvl="3" indent="0">
                  <a:buNone/>
                </a:pPr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is called the </a:t>
                </a:r>
                <a:r>
                  <a:rPr lang="en-US" b="1" dirty="0"/>
                  <a:t>Marginal Propensity to Consume</a:t>
                </a:r>
                <a:r>
                  <a:rPr lang="en-US" dirty="0"/>
                  <a:t>, and it tells us the effect of an additional dollar of disposable income on household consumption.</a:t>
                </a:r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lang="en-US" dirty="0"/>
                  <a:t>, it means that for an extra dollar earned as disposable income, households will spend 50 cents as consumption.</a:t>
                </a:r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70D56D00-5BF9-C053-76A5-EF0D41BB3A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 r="-7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0873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AA981-4813-80DE-CAF0-EFAF9F5C5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Modelling Consumption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DD2227-C47A-41BD-13E0-BF7152AFC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3AE91-0272-E2D2-F1E9-8B6F57FA0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E9D82-AA6F-8057-ACC1-9DB8F3786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16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70D56D00-5BF9-C053-76A5-EF0D41BB3A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 dirty="0"/>
                  <a:t> represents the households’ disposable income, the income that households are left with after tax payments.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In our simple model, we define: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We assume that disposable income and consumption are positively correlated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0&lt;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&lt;1)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 dirty="0"/>
                  <a:t> increases,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 will also increase.</a:t>
                </a:r>
              </a:p>
              <a:p>
                <a:pPr lvl="1"/>
                <a:r>
                  <a:rPr lang="en-US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 dirty="0"/>
                  <a:t> decreases,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 will also decrease.</a:t>
                </a:r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70D56D00-5BF9-C053-76A5-EF0D41BB3A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 r="-10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1937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649209-55BD-118B-D394-98F2A5A08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B69097-14E1-6FA6-CC47-0932146E3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A1A349-4373-7BF3-BA6E-02AB163CA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1F5AD4-BD60-9E68-5825-4D37EBAD7F77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5742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3CC2BA-B77F-94B0-FB0C-E0659FD8B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2B49B-98B1-947A-FE20-F0F28888D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8D7332-5BC5-B3BD-5618-B98A28FD9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69C693-4C9F-4785-E9B0-7963B484B26A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0393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AA981-4813-80DE-CAF0-EFAF9F5C5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to In-Class Poll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DD2227-C47A-41BD-13E0-BF7152AFC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3AE91-0272-E2D2-F1E9-8B6F57FA0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E9D82-AA6F-8057-ACC1-9DB8F3786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19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70D56D00-5BF9-C053-76A5-EF0D41BB3A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 dirty="0"/>
                  <a:t> was 0,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 was 200.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:r>
                  <a:rPr lang="en-US" b="0" dirty="0"/>
                  <a:t>		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b="0" dirty="0">
                    <a:ea typeface="Cambria Math" panose="02040503050406030204" pitchFamily="18" charset="0"/>
                  </a:rPr>
                  <a:t>			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⟹200=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⋅0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>
                    <a:ea typeface="Cambria Math" panose="02040503050406030204" pitchFamily="18" charset="0"/>
                  </a:rPr>
                  <a:t>			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=200</m:t>
                    </m:r>
                  </m:oMath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was 1000,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 was 700.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ea typeface="Cambria Math" panose="02040503050406030204" pitchFamily="18" charset="0"/>
                  </a:rPr>
                  <a:t>			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700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200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1000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>
                    <a:ea typeface="Cambria Math" panose="02040503050406030204" pitchFamily="18" charset="0"/>
                  </a:rPr>
                  <a:t>			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0.5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70D56D00-5BF9-C053-76A5-EF0D41BB3A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3586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AA981-4813-80DE-CAF0-EFAF9F5C5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Modelling Consumption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DD2227-C47A-41BD-13E0-BF7152AFC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3AE91-0272-E2D2-F1E9-8B6F57FA0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E9D82-AA6F-8057-ACC1-9DB8F3786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20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8B5DF8-16AF-D0F3-6F2D-AE76C88AD143}"/>
              </a:ext>
            </a:extLst>
          </p:cNvPr>
          <p:cNvSpPr txBox="1"/>
          <p:nvPr/>
        </p:nvSpPr>
        <p:spPr>
          <a:xfrm rot="10800000">
            <a:off x="608599" y="1828800"/>
            <a:ext cx="461665" cy="138646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dirty="0"/>
              <a:t>Consumption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9FB283-BCB0-2510-AE5A-3684C8448D1E}"/>
              </a:ext>
            </a:extLst>
          </p:cNvPr>
          <p:cNvSpPr txBox="1"/>
          <p:nvPr/>
        </p:nvSpPr>
        <p:spPr>
          <a:xfrm>
            <a:off x="6561861" y="5704608"/>
            <a:ext cx="1953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Disposable Income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7B24294-D215-560B-736C-CE87DD6277AA}"/>
              </a:ext>
            </a:extLst>
          </p:cNvPr>
          <p:cNvCxnSpPr/>
          <p:nvPr/>
        </p:nvCxnSpPr>
        <p:spPr>
          <a:xfrm flipV="1">
            <a:off x="1070264" y="2171700"/>
            <a:ext cx="6961909" cy="275359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BBE6CB6-D7E9-ABD4-A933-E51E1D816E83}"/>
              </a:ext>
            </a:extLst>
          </p:cNvPr>
          <p:cNvCxnSpPr/>
          <p:nvPr/>
        </p:nvCxnSpPr>
        <p:spPr>
          <a:xfrm flipV="1">
            <a:off x="1070264" y="1828800"/>
            <a:ext cx="0" cy="433300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A2520B6-1040-D62C-A559-A4B20A0DB8CC}"/>
              </a:ext>
            </a:extLst>
          </p:cNvPr>
          <p:cNvCxnSpPr/>
          <p:nvPr/>
        </p:nvCxnSpPr>
        <p:spPr>
          <a:xfrm>
            <a:off x="628650" y="5704608"/>
            <a:ext cx="78867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C3EEB8BB-BF3E-C943-D033-CDEA34111ABE}"/>
              </a:ext>
            </a:extLst>
          </p:cNvPr>
          <p:cNvSpPr/>
          <p:nvPr/>
        </p:nvSpPr>
        <p:spPr>
          <a:xfrm flipV="1">
            <a:off x="1001683" y="4856711"/>
            <a:ext cx="137160" cy="13716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FEDBBC8-A60A-A2CF-1116-1C17DEB2090C}"/>
                  </a:ext>
                </a:extLst>
              </p:cNvPr>
              <p:cNvSpPr txBox="1"/>
              <p:nvPr/>
            </p:nvSpPr>
            <p:spPr>
              <a:xfrm>
                <a:off x="480358" y="4663681"/>
                <a:ext cx="58990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FEDBBC8-A60A-A2CF-1116-1C17DEB209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358" y="4663681"/>
                <a:ext cx="589905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78DB6EE-84F1-D660-DDA6-DFB07DCE53DD}"/>
                  </a:ext>
                </a:extLst>
              </p:cNvPr>
              <p:cNvSpPr txBox="1"/>
              <p:nvPr/>
            </p:nvSpPr>
            <p:spPr>
              <a:xfrm>
                <a:off x="3809957" y="2692047"/>
                <a:ext cx="148252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rgbClr val="FF0000"/>
                    </a:solidFill>
                  </a:rPr>
                  <a:t>Slope=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78DB6EE-84F1-D660-DDA6-DFB07DCE53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9957" y="2692047"/>
                <a:ext cx="1482522" cy="523220"/>
              </a:xfrm>
              <a:prstGeom prst="rect">
                <a:avLst/>
              </a:prstGeom>
              <a:blipFill>
                <a:blip r:embed="rId3"/>
                <a:stretch>
                  <a:fillRect l="-8642" t="-11765" b="-341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7342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7" grpId="0" animBg="1"/>
      <p:bldP spid="18" grpId="0"/>
      <p:bldP spid="1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AA981-4813-80DE-CAF0-EFAF9F5C5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Modelling Consumption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DD2227-C47A-41BD-13E0-BF7152AFC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3AE91-0272-E2D2-F1E9-8B6F57FA0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E9D82-AA6F-8057-ACC1-9DB8F3786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21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70D56D00-5BF9-C053-76A5-EF0D41BB3A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Combining all the results we have: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/>
              </a:p>
              <a:p>
                <a:pPr lvl="3"/>
                <a:endParaRPr lang="en-US" dirty="0"/>
              </a:p>
              <a:p>
                <a:r>
                  <a:rPr lang="en-US" dirty="0"/>
                  <a:t>Higher income leads to higher levels of consumption, but less than 1:1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0&lt;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&lt;1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Increased taxation leads to lower levels of consumption, but less than 1:1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(0&lt;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Consumption is not zero even when households do not have any disposable income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70D56D00-5BF9-C053-76A5-EF0D41BB3A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1827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AA981-4813-80DE-CAF0-EFAF9F5C5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Modelling Consumption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DD2227-C47A-41BD-13E0-BF7152AFC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3AE91-0272-E2D2-F1E9-8B6F57FA0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E9D82-AA6F-8057-ACC1-9DB8F3786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22</a:t>
            </a:fld>
            <a:endParaRPr lang="en-US" dirty="0"/>
          </a:p>
        </p:txBody>
      </p:sp>
      <p:pic>
        <p:nvPicPr>
          <p:cNvPr id="9" name="Content Placeholder 8" descr="A graph on a white background&#10;&#10;Description automatically generated">
            <a:extLst>
              <a:ext uri="{FF2B5EF4-FFF2-40B4-BE49-F238E27FC236}">
                <a16:creationId xmlns:a16="http://schemas.microsoft.com/office/drawing/2014/main" id="{A730A94C-7B9B-842C-D559-BE1E0B0439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1740" y="1505167"/>
            <a:ext cx="6700520" cy="2286000"/>
          </a:xfrm>
        </p:spPr>
      </p:pic>
      <p:pic>
        <p:nvPicPr>
          <p:cNvPr id="11" name="Content Placeholder 9" descr="A graph on a screen&#10;&#10;Description automatically generated">
            <a:extLst>
              <a:ext uri="{FF2B5EF4-FFF2-40B4-BE49-F238E27FC236}">
                <a16:creationId xmlns:a16="http://schemas.microsoft.com/office/drawing/2014/main" id="{6559066D-29A6-478B-66B0-1F1B2252C4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1740" y="3884228"/>
            <a:ext cx="670052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369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AA981-4813-80DE-CAF0-EFAF9F5C5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Modelling Investment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DD2227-C47A-41BD-13E0-BF7152AFC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3AE91-0272-E2D2-F1E9-8B6F57FA0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E9D82-AA6F-8057-ACC1-9DB8F3786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23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70D56D00-5BF9-C053-76A5-EF0D41BB3A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964632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We treat investment in the short run as exogenous, which means that the value of investment is not derived from the model, but given externally: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acc>
                    </m:oMath>
                  </m:oMathPara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This is a very strong (and unrealistic) assumption.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For now, we will assume that investment is fixed and given.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We will be relaxing this assumption in the future.</a:t>
                </a:r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70D56D00-5BF9-C053-76A5-EF0D41BB3A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964632" cy="4351338"/>
              </a:xfrm>
              <a:blipFill>
                <a:blip r:embed="rId2"/>
                <a:stretch>
                  <a:fillRect l="-995" t="-1821" r="-16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9375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AA981-4813-80DE-CAF0-EFAF9F5C5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Modelling Government Expenditure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DD2227-C47A-41BD-13E0-BF7152AFC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3AE91-0272-E2D2-F1E9-8B6F57FA0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E9D82-AA6F-8057-ACC1-9DB8F3786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70D56D00-5BF9-C053-76A5-EF0D41BB3A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Government expenditure and taxation is both assumed to be exogenous in our model.</a:t>
                </a:r>
                <a:endParaRPr lang="en-US" sz="500" dirty="0"/>
              </a:p>
              <a:p>
                <a:pPr lvl="3"/>
                <a:endParaRPr lang="en-US" dirty="0"/>
              </a:p>
              <a:p>
                <a:r>
                  <a:rPr lang="en-US" dirty="0"/>
                  <a:t>By allowing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 to be exogenous, we can derive policy implications from the model.</a:t>
                </a:r>
              </a:p>
              <a:p>
                <a:pPr lvl="1"/>
                <a:r>
                  <a:rPr lang="en-US" dirty="0"/>
                  <a:t>“When we increase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, the model predicts that…”, or</a:t>
                </a:r>
              </a:p>
              <a:p>
                <a:pPr lvl="1"/>
                <a:r>
                  <a:rPr lang="en-US" dirty="0"/>
                  <a:t>“If we decrease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, our model predicts that…”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Also, the government’s behavior is not as “regular” as consumers or firms.</a:t>
                </a:r>
              </a:p>
              <a:p>
                <a:pPr lvl="1"/>
                <a:r>
                  <a:rPr lang="en-US" dirty="0"/>
                  <a:t>The influence of politics and international relations make modelling the government’s actions rather complicated.</a:t>
                </a:r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70D56D00-5BF9-C053-76A5-EF0D41BB3A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 r="-17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9638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AA981-4813-80DE-CAF0-EFAF9F5C5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Modelling Government Expenditure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DD2227-C47A-41BD-13E0-BF7152AFC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3AE91-0272-E2D2-F1E9-8B6F57FA0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E9D82-AA6F-8057-ACC1-9DB8F3786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25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70D56D00-5BF9-C053-76A5-EF0D41BB3A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990564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Changes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…</a:t>
                </a:r>
              </a:p>
              <a:p>
                <a:endParaRPr lang="en-US" sz="500" dirty="0"/>
              </a:p>
              <a:p>
                <a:pPr lvl="1"/>
                <a:r>
                  <a:rPr lang="en-US" dirty="0"/>
                  <a:t>May be conditional on congressional approval, which is neither guaranteed nor timely.</a:t>
                </a:r>
              </a:p>
              <a:p>
                <a:pPr lvl="1"/>
                <a:endParaRPr lang="en-US" sz="500" dirty="0"/>
              </a:p>
              <a:p>
                <a:pPr lvl="1"/>
                <a:r>
                  <a:rPr lang="en-US" dirty="0"/>
                  <a:t>May affect other sectors to react, such as changes to investment, which can have unpredictable effects.</a:t>
                </a:r>
              </a:p>
              <a:p>
                <a:pPr lvl="1"/>
                <a:endParaRPr lang="en-US" sz="500" dirty="0"/>
              </a:p>
              <a:p>
                <a:pPr lvl="1"/>
                <a:r>
                  <a:rPr lang="en-US" dirty="0"/>
                  <a:t>May have implications on international trade, affecting both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𝐼𝑀</m:t>
                    </m:r>
                  </m:oMath>
                </a14:m>
                <a:r>
                  <a:rPr lang="en-US" dirty="0"/>
                  <a:t> in unpredictable ways.</a:t>
                </a:r>
              </a:p>
              <a:p>
                <a:pPr lvl="1"/>
                <a:endParaRPr lang="en-US" sz="500" dirty="0"/>
              </a:p>
              <a:p>
                <a:pPr lvl="1"/>
                <a:r>
                  <a:rPr lang="en-US" dirty="0"/>
                  <a:t>Will have vastly different effects depending on the public’s perception of how long-term those changes would last.</a:t>
                </a:r>
              </a:p>
              <a:p>
                <a:pPr lvl="1"/>
                <a:endParaRPr lang="en-US" sz="500" dirty="0"/>
              </a:p>
              <a:p>
                <a:pPr lvl="1"/>
                <a:r>
                  <a:rPr lang="en-US" dirty="0"/>
                  <a:t>Will have long lasting ramifications such as increasing national debt, higher-than-optimal inflation, etc.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70D56D00-5BF9-C053-76A5-EF0D41BB3A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990564" cy="4351338"/>
              </a:xfrm>
              <a:blipFill>
                <a:blip r:embed="rId2"/>
                <a:stretch>
                  <a:fillRect l="-992" t="-1821" r="-9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4830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AA981-4813-80DE-CAF0-EFAF9F5C5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Determining Equilibrium Output: Math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DD2227-C47A-41BD-13E0-BF7152AFC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3AE91-0272-E2D2-F1E9-8B6F57FA0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E9D82-AA6F-8057-ACC1-9DB8F3786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26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70D56D00-5BF9-C053-76A5-EF0D41BB3A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b="0" dirty="0"/>
                  <a:t>The equilibrium condition is “output equals demand”:</a:t>
                </a:r>
              </a:p>
              <a:p>
                <a:pPr marL="0" indent="0">
                  <a:buNone/>
                </a:pPr>
                <a:r>
                  <a:rPr lang="en-US" b="0" dirty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⟹ 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US" dirty="0"/>
                  <a:t>		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)+</m:t>
                    </m:r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 	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sz="500" b="0" dirty="0"/>
              </a:p>
              <a:p>
                <a:r>
                  <a:rPr lang="en-US" dirty="0"/>
                  <a:t>Move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to the left-hand side: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(1−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500" i="1" dirty="0">
                  <a:latin typeface="Cambria Math" panose="02040503050406030204" pitchFamily="18" charset="0"/>
                </a:endParaRPr>
              </a:p>
              <a:p>
                <a:r>
                  <a:rPr lang="en-US" dirty="0"/>
                  <a:t>Dividing both sided by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(1−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acc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	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70D56D00-5BF9-C053-76A5-EF0D41BB3A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3104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AA981-4813-80DE-CAF0-EFAF9F5C5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Determining Equilibrium Output: Math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DD2227-C47A-41BD-13E0-BF7152AFC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3AE91-0272-E2D2-F1E9-8B6F57FA0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E9D82-AA6F-8057-ACC1-9DB8F3786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27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70D56D00-5BF9-C053-76A5-EF0D41BB3A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The equation that characterizes equilibrium output: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acc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	</a:t>
                </a:r>
              </a:p>
              <a:p>
                <a:pPr lvl="3"/>
                <a:endParaRPr lang="en-US" dirty="0"/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acc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r>
                  <a:rPr lang="en-US" dirty="0"/>
                  <a:t> is called “Autonomous Spending.”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 demand that does not depend on the level of output.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Can we guarantee that this autonomous spending is positive?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Not always, but we may assume a “balanced budget.”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70D56D00-5BF9-C053-76A5-EF0D41BB3A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3067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AA981-4813-80DE-CAF0-EFAF9F5C5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Determining Equilibrium Output: Math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DD2227-C47A-41BD-13E0-BF7152AFC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3AE91-0272-E2D2-F1E9-8B6F57FA0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E9D82-AA6F-8057-ACC1-9DB8F3786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28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70D56D00-5BF9-C053-76A5-EF0D41BB3A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The equation that characterizes equilibrium output: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acc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	</a:t>
                </a:r>
              </a:p>
              <a:p>
                <a:pPr lvl="3"/>
                <a:endParaRPr lang="en-US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is called the “Multiplier.”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This is called the multiplier, since it “multiplies” the impact of an increase in autonomous spending.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When autonomous spending increases by $1, the equilibrium output increases by $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70D56D00-5BF9-C053-76A5-EF0D41BB3A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0124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30562C-9576-DCC2-CD5C-FDBF790FB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76F28E-59B9-215D-1A4E-652759B21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534638-DD45-2045-C1AF-F16D1DAD3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29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B5E9F6-424F-B5FC-47B2-3A68BC303C4A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0556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B5B172-4B52-EFD2-6949-A52801119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FFFAE0-7600-E573-C6F7-6DAFCCA74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4EDDAF-07B2-A8EE-DB49-C199BD728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30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C92AB5-2675-CE1A-4186-03F3C0550DF0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7255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AA981-4813-80DE-CAF0-EFAF9F5C5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to In-Class Poll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DD2227-C47A-41BD-13E0-BF7152AFC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3AE91-0272-E2D2-F1E9-8B6F57FA0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E9D82-AA6F-8057-ACC1-9DB8F3786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31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70D56D00-5BF9-C053-76A5-EF0D41BB3A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lang="en-US" b="0" dirty="0"/>
                  <a:t>. So, </a:t>
                </a:r>
                <a:r>
                  <a:rPr lang="en-US" dirty="0"/>
                  <a:t>the multiplier is calculated as: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1−0.5</m:t>
                          </m:r>
                        </m:den>
                      </m:f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0.5</m:t>
                          </m:r>
                        </m:den>
                      </m:f>
                      <m:r>
                        <a:rPr lang="en-US" sz="2000" i="1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sz="2000" dirty="0"/>
              </a:p>
              <a:p>
                <a:pPr lvl="3"/>
                <a:endParaRPr lang="en-US" dirty="0"/>
              </a:p>
              <a:p>
                <a:r>
                  <a:rPr lang="en-US" dirty="0"/>
                  <a:t>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increased by $5M, output will increase by: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×(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0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Autonomous</m:t>
                      </m:r>
                      <m:r>
                        <a:rPr lang="en-US" sz="20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0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Spend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2×5 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Million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=10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Million</m:t>
                      </m:r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:endParaRPr lang="en-US" sz="1600" dirty="0"/>
              </a:p>
              <a:p>
                <a:r>
                  <a:rPr lang="en-US" dirty="0"/>
                  <a:t>But why will output increase by any more than the initial increase in autonomous spending?</a:t>
                </a:r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70D56D00-5BF9-C053-76A5-EF0D41BB3A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6434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AA981-4813-80DE-CAF0-EFAF9F5C5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Multiplier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DD2227-C47A-41BD-13E0-BF7152AFC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3AE91-0272-E2D2-F1E9-8B6F57FA0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E9D82-AA6F-8057-ACC1-9DB8F3786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32</a:t>
            </a:fld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0D56D00-5BF9-C053-76A5-EF0D41BB3A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If any portion of autonomous spending increases, this is equivalent to an increase in the overall demand.</a:t>
            </a:r>
          </a:p>
          <a:p>
            <a:pPr lvl="3"/>
            <a:endParaRPr lang="en-US" dirty="0"/>
          </a:p>
          <a:p>
            <a:r>
              <a:rPr lang="en-US" dirty="0"/>
              <a:t>This increased demand will be met with an increase in overall output.</a:t>
            </a:r>
          </a:p>
          <a:p>
            <a:pPr lvl="3"/>
            <a:endParaRPr lang="en-US" dirty="0"/>
          </a:p>
          <a:p>
            <a:r>
              <a:rPr lang="en-US" dirty="0"/>
              <a:t>Since output increased, the households’ disposable income increases.</a:t>
            </a:r>
          </a:p>
          <a:p>
            <a:pPr lvl="3"/>
            <a:endParaRPr lang="en-US" dirty="0"/>
          </a:p>
          <a:p>
            <a:r>
              <a:rPr lang="en-US" dirty="0"/>
              <a:t>This leads to an increase in household consumption, which is an increase in demand.</a:t>
            </a:r>
          </a:p>
        </p:txBody>
      </p:sp>
    </p:spTree>
    <p:extLst>
      <p:ext uri="{BB962C8B-B14F-4D97-AF65-F5344CB8AC3E}">
        <p14:creationId xmlns:p14="http://schemas.microsoft.com/office/powerpoint/2010/main" val="1732157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AA981-4813-80DE-CAF0-EFAF9F5C5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Government Intervention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DD2227-C47A-41BD-13E0-BF7152AFC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3AE91-0272-E2D2-F1E9-8B6F57FA0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E9D82-AA6F-8057-ACC1-9DB8F3786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33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70D56D00-5BF9-C053-76A5-EF0D41BB3A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964632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Note that the equilibrium output is determined by the following formula: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𝑌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</m:acc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sz="1600" dirty="0"/>
              </a:p>
              <a:p>
                <a:r>
                  <a:rPr lang="en-US" dirty="0"/>
                  <a:t>This means that if the government can control the output of the economy by choosing certain values 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When the government expands public spending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↑</m:t>
                        </m:r>
                      </m:e>
                    </m:d>
                  </m:oMath>
                </a14:m>
                <a:r>
                  <a:rPr lang="en-US" dirty="0"/>
                  <a:t>, or if it issues a tax cut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↓</m:t>
                        </m:r>
                      </m:e>
                    </m:d>
                  </m:oMath>
                </a14:m>
                <a:r>
                  <a:rPr lang="en-US" dirty="0"/>
                  <a:t>, overall output will increase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↑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70D56D00-5BF9-C053-76A5-EF0D41BB3A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964632" cy="4351338"/>
              </a:xfrm>
              <a:blipFill>
                <a:blip r:embed="rId2"/>
                <a:stretch>
                  <a:fillRect l="-995" t="-1821" r="-15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6539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AA981-4813-80DE-CAF0-EFAF9F5C5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Government Intervention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DD2227-C47A-41BD-13E0-BF7152AFC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3AE91-0272-E2D2-F1E9-8B6F57FA0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E9D82-AA6F-8057-ACC1-9DB8F3786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70D56D00-5BF9-C053-76A5-EF0D41BB3A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990564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Expanding the equilibrium output equation: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:r>
                  <a:rPr lang="en-US" dirty="0">
                    <a:ea typeface="Cambria Math" panose="02040503050406030204" pitchFamily="18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acc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b="0" dirty="0">
                    <a:ea typeface="Cambria Math" panose="02040503050406030204" pitchFamily="18" charset="0"/>
                  </a:rPr>
                  <a:t>		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</m:acc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solidFill>
                          <a:srgbClr val="9C5BC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i="1" smtClean="0">
                            <a:solidFill>
                              <a:srgbClr val="9C5BC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9C5BCD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9C5BCD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9C5BCD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solidFill>
                              <a:srgbClr val="9C5BC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9C5BCD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9C5BCD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9C5BCD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i="1">
                        <a:solidFill>
                          <a:srgbClr val="9C5BC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solidFill>
                          <a:srgbClr val="9C5BC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</m:oMath>
                </a14:m>
                <a:endParaRPr lang="en-US" dirty="0">
                  <a:solidFill>
                    <a:srgbClr val="9C5BCD"/>
                  </a:solidFill>
                </a:endParaRPr>
              </a:p>
              <a:p>
                <a:pPr lvl="3"/>
                <a:endParaRPr lang="en-US" dirty="0"/>
              </a:p>
              <a:p>
                <a:r>
                  <a:rPr lang="en-US" dirty="0">
                    <a:solidFill>
                      <a:srgbClr val="FF0000"/>
                    </a:solidFill>
                  </a:rPr>
                  <a:t>When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is increased by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$1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, output increases by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.</a:t>
                </a:r>
              </a:p>
              <a:p>
                <a:pPr lvl="3"/>
                <a:endParaRPr lang="en-US" dirty="0">
                  <a:solidFill>
                    <a:srgbClr val="FF0000"/>
                  </a:solidFill>
                </a:endParaRPr>
              </a:p>
              <a:p>
                <a:r>
                  <a:rPr lang="en-US" dirty="0">
                    <a:solidFill>
                      <a:srgbClr val="9C5BCD"/>
                    </a:solidFill>
                  </a:rPr>
                  <a:t>When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9C5BCD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>
                    <a:solidFill>
                      <a:srgbClr val="9C5BCD"/>
                    </a:solidFill>
                  </a:rPr>
                  <a:t> is increased by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9C5BCD"/>
                        </a:solidFill>
                        <a:latin typeface="Cambria Math" panose="02040503050406030204" pitchFamily="18" charset="0"/>
                      </a:rPr>
                      <m:t>$1</m:t>
                    </m:r>
                  </m:oMath>
                </a14:m>
                <a:r>
                  <a:rPr lang="en-US" dirty="0">
                    <a:solidFill>
                      <a:srgbClr val="9C5BCD"/>
                    </a:solidFill>
                  </a:rPr>
                  <a:t>, output decreases by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9C5BC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solidFill>
                                  <a:srgbClr val="9C5BCD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9C5BCD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9C5BCD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solidFill>
                              <a:srgbClr val="9C5BC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9C5BCD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9C5BCD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9C5BCD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>
                    <a:solidFill>
                      <a:srgbClr val="9C5BCD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70D56D00-5BF9-C053-76A5-EF0D41BB3A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990564" cy="4351338"/>
              </a:xfrm>
              <a:blipFill>
                <a:blip r:embed="rId2"/>
                <a:stretch>
                  <a:fillRect l="-992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6131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AA981-4813-80DE-CAF0-EFAF9F5C5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Government Intervention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DD2227-C47A-41BD-13E0-BF7152AFC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3AE91-0272-E2D2-F1E9-8B6F57FA0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E9D82-AA6F-8057-ACC1-9DB8F3786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35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70D56D00-5BF9-C053-76A5-EF0D41BB3A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990564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Suppose that for every extra dollar that the government spends, it is required to increase taxation by a dollar to cover the expenditure (“Balanced Budget”).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Recall that when the government spends an extra dollar, the equilibrium output increases by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Also recall that when taxation is increased by  an extra dollar, the equilibrium output decreases by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What is the “Balanced Budget Multiplier?”</a:t>
                </a:r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70D56D00-5BF9-C053-76A5-EF0D41BB3A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990564" cy="4351338"/>
              </a:xfrm>
              <a:blipFill>
                <a:blip r:embed="rId2"/>
                <a:stretch>
                  <a:fillRect l="-992" t="-1821" b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2361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F26F5A-DFB5-4619-48EB-92C65AD98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C1D199-F0B9-6CC3-898C-7911F5A09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0790F1-E764-884E-30C0-76FF667A1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A20A5D5-6C66-3BCA-4B8F-38A0196D9C64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89020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4F66DB-AE16-530D-570D-DE8CADF65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F3A3FA-B9F3-E21E-A11C-A1EE1DA6F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B8019B-25D6-87D9-AEF5-094202212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9F0FCC-2F08-D50A-B46F-A5E9337BE33C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62147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AA981-4813-80DE-CAF0-EFAF9F5C5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to In-Class Poll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DD2227-C47A-41BD-13E0-BF7152AFC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3AE91-0272-E2D2-F1E9-8B6F57FA0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E9D82-AA6F-8057-ACC1-9DB8F3786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38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70D56D00-5BF9-C053-76A5-EF0D41BB3A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6"/>
                <a:ext cx="7886700" cy="428423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The balanced budget multiplier is the sum of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 multipliers: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1800" dirty="0"/>
              </a:p>
              <a:p>
                <a:pPr marL="1371600" lvl="3" indent="0">
                  <a:buNone/>
                </a:pPr>
                <a:endParaRPr lang="en-US" dirty="0"/>
              </a:p>
              <a:p>
                <a:r>
                  <a:rPr lang="en-US" dirty="0"/>
                  <a:t>For each extra dollar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, output increases by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sz="1200" dirty="0"/>
              </a:p>
              <a:p>
                <a:r>
                  <a:rPr lang="en-US" dirty="0"/>
                  <a:t>For each extra dollar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, output decreases by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sz="1200" dirty="0"/>
              </a:p>
              <a:p>
                <a:r>
                  <a:rPr lang="en-US" dirty="0"/>
                  <a:t>Therefore, under a balanced budget, output increases by the amount the government spends.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70D56D00-5BF9-C053-76A5-EF0D41BB3A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6"/>
                <a:ext cx="7886700" cy="4284230"/>
              </a:xfrm>
              <a:blipFill>
                <a:blip r:embed="rId2"/>
                <a:stretch>
                  <a:fillRect l="-1005" t="-1849" b="-28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2607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705D6-AB80-7825-2927-CD2C4B4D7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Balanced Budget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44A5EA-25A5-4B59-10FB-61C2B1AC42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Under a balanced budget, the government spends as much as it gathers in taxation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Not necessarily in real life, but it seems that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44A5EA-25A5-4B59-10FB-61C2B1AC42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b="-4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17E0C3-F479-9101-8EE3-6888704B6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BF47FC-E5B9-E62B-1F9E-5DDB2DB03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C52C2B-7B7B-844D-ABC9-AA6DE1C11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39</a:t>
            </a:fld>
            <a:endParaRPr lang="en-US" dirty="0"/>
          </a:p>
        </p:txBody>
      </p:sp>
      <p:pic>
        <p:nvPicPr>
          <p:cNvPr id="8" name="Content Placeholder 8" descr="A graph showing a line&#10;&#10;Description automatically generated">
            <a:extLst>
              <a:ext uri="{FF2B5EF4-FFF2-40B4-BE49-F238E27FC236}">
                <a16:creationId xmlns:a16="http://schemas.microsoft.com/office/drawing/2014/main" id="{20A8DCDB-6B8E-51F0-DA20-9E89489FAF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690689"/>
            <a:ext cx="7886700" cy="269068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81843B5-5D77-DD29-C75F-747660BF6AB3}"/>
              </a:ext>
            </a:extLst>
          </p:cNvPr>
          <p:cNvSpPr/>
          <p:nvPr/>
        </p:nvSpPr>
        <p:spPr>
          <a:xfrm>
            <a:off x="1123950" y="1990725"/>
            <a:ext cx="1928813" cy="1943099"/>
          </a:xfrm>
          <a:prstGeom prst="rect">
            <a:avLst/>
          </a:prstGeom>
          <a:solidFill>
            <a:srgbClr val="4472C4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CLINTON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7CE6EEB-10AD-9F91-69F3-2B32FFB72358}"/>
              </a:ext>
            </a:extLst>
          </p:cNvPr>
          <p:cNvSpPr/>
          <p:nvPr/>
        </p:nvSpPr>
        <p:spPr>
          <a:xfrm>
            <a:off x="3052763" y="1990725"/>
            <a:ext cx="1924050" cy="1943100"/>
          </a:xfrm>
          <a:prstGeom prst="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BUSH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B8B185-B27C-BE69-B2CB-762F313E7A8F}"/>
              </a:ext>
            </a:extLst>
          </p:cNvPr>
          <p:cNvSpPr/>
          <p:nvPr/>
        </p:nvSpPr>
        <p:spPr>
          <a:xfrm>
            <a:off x="4976813" y="1990725"/>
            <a:ext cx="1924050" cy="1943100"/>
          </a:xfrm>
          <a:prstGeom prst="rect">
            <a:avLst/>
          </a:prstGeom>
          <a:solidFill>
            <a:srgbClr val="4472C4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OBAMA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DDFB5DC-3E46-0B3E-A8E3-6CBB74D75648}"/>
              </a:ext>
            </a:extLst>
          </p:cNvPr>
          <p:cNvSpPr/>
          <p:nvPr/>
        </p:nvSpPr>
        <p:spPr>
          <a:xfrm>
            <a:off x="6900863" y="1990724"/>
            <a:ext cx="960120" cy="1943101"/>
          </a:xfrm>
          <a:prstGeom prst="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TRUMP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2D1A05F-FE87-F591-CBD0-4C5A8A1974B0}"/>
              </a:ext>
            </a:extLst>
          </p:cNvPr>
          <p:cNvSpPr/>
          <p:nvPr/>
        </p:nvSpPr>
        <p:spPr>
          <a:xfrm>
            <a:off x="7860984" y="1990723"/>
            <a:ext cx="535304" cy="1943102"/>
          </a:xfrm>
          <a:prstGeom prst="rect">
            <a:avLst/>
          </a:prstGeom>
          <a:solidFill>
            <a:srgbClr val="4472C4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6104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BA926A0-0634-7035-F0E0-5564DF6D9DC1}"/>
              </a:ext>
            </a:extLst>
          </p:cNvPr>
          <p:cNvCxnSpPr/>
          <p:nvPr/>
        </p:nvCxnSpPr>
        <p:spPr>
          <a:xfrm flipV="1">
            <a:off x="810491" y="1825625"/>
            <a:ext cx="4169490" cy="4146477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4DAA981-4813-80DE-CAF0-EFAF9F5C5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Determining Equilibrium Output: Graph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DD2227-C47A-41BD-13E0-BF7152AFC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3AE91-0272-E2D2-F1E9-8B6F57FA0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E9D82-AA6F-8057-ACC1-9DB8F3786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40</a:t>
            </a:fld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0D56D00-5BF9-C053-76A5-EF0D41BB3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1828" y="1825625"/>
            <a:ext cx="3353521" cy="4351338"/>
          </a:xfrm>
        </p:spPr>
        <p:txBody>
          <a:bodyPr>
            <a:normAutofit/>
          </a:bodyPr>
          <a:lstStyle/>
          <a:p>
            <a:r>
              <a:rPr lang="en-US" dirty="0"/>
              <a:t>We visualize the equilibrium by plotting income in the x-axis and demand/output on the y-axis.</a:t>
            </a:r>
          </a:p>
          <a:p>
            <a:pPr lvl="3"/>
            <a:endParaRPr lang="en-US" dirty="0"/>
          </a:p>
          <a:p>
            <a:r>
              <a:rPr lang="en-US" dirty="0"/>
              <a:t>In an equilibrium, the economy’s production is equal to its income.</a:t>
            </a:r>
          </a:p>
          <a:p>
            <a:pPr lvl="3"/>
            <a:endParaRPr lang="en-US" dirty="0"/>
          </a:p>
          <a:p>
            <a:r>
              <a:rPr lang="en-US" dirty="0"/>
              <a:t>Production is plotted as a 45-degree line.</a:t>
            </a:r>
          </a:p>
          <a:p>
            <a:endParaRPr lang="en-US" dirty="0"/>
          </a:p>
          <a:p>
            <a:endParaRPr 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1C12CF0-7F80-37D1-E493-99E3CF05C502}"/>
              </a:ext>
            </a:extLst>
          </p:cNvPr>
          <p:cNvCxnSpPr/>
          <p:nvPr/>
        </p:nvCxnSpPr>
        <p:spPr>
          <a:xfrm flipV="1">
            <a:off x="810491" y="1825625"/>
            <a:ext cx="0" cy="435133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87E6603-017A-731C-1841-60587C172AE2}"/>
              </a:ext>
            </a:extLst>
          </p:cNvPr>
          <p:cNvCxnSpPr>
            <a:cxnSpLocks/>
          </p:cNvCxnSpPr>
          <p:nvPr/>
        </p:nvCxnSpPr>
        <p:spPr>
          <a:xfrm rot="5400000" flipV="1">
            <a:off x="2804319" y="3796434"/>
            <a:ext cx="0" cy="435133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5E880F2-2763-40BD-D9B4-C1E44C80B5F4}"/>
              </a:ext>
            </a:extLst>
          </p:cNvPr>
          <p:cNvSpPr txBox="1"/>
          <p:nvPr/>
        </p:nvSpPr>
        <p:spPr>
          <a:xfrm rot="10800000">
            <a:off x="119042" y="1790132"/>
            <a:ext cx="738664" cy="96682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dirty="0"/>
              <a:t>Demand,</a:t>
            </a:r>
          </a:p>
          <a:p>
            <a:r>
              <a:rPr lang="en-US" dirty="0"/>
              <a:t> Output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CCEFCC-DDE5-FFB2-9D9A-CEC3B16D9B1C}"/>
              </a:ext>
            </a:extLst>
          </p:cNvPr>
          <p:cNvSpPr txBox="1"/>
          <p:nvPr/>
        </p:nvSpPr>
        <p:spPr>
          <a:xfrm>
            <a:off x="4138470" y="5928498"/>
            <a:ext cx="945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Income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F94FCE-ECF1-C727-7215-E4C889366F6D}"/>
              </a:ext>
            </a:extLst>
          </p:cNvPr>
          <p:cNvSpPr txBox="1"/>
          <p:nvPr/>
        </p:nvSpPr>
        <p:spPr>
          <a:xfrm rot="18903942">
            <a:off x="3735678" y="1993534"/>
            <a:ext cx="1246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Production</a:t>
            </a:r>
          </a:p>
        </p:txBody>
      </p:sp>
    </p:spTree>
    <p:extLst>
      <p:ext uri="{BB962C8B-B14F-4D97-AF65-F5344CB8AC3E}">
        <p14:creationId xmlns:p14="http://schemas.microsoft.com/office/powerpoint/2010/main" val="4179983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97672E3-0664-DA6C-995E-E43DC3D4F8C4}"/>
              </a:ext>
            </a:extLst>
          </p:cNvPr>
          <p:cNvCxnSpPr/>
          <p:nvPr/>
        </p:nvCxnSpPr>
        <p:spPr>
          <a:xfrm flipV="1">
            <a:off x="810484" y="3233800"/>
            <a:ext cx="4083627" cy="1402773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BA926A0-0634-7035-F0E0-5564DF6D9DC1}"/>
              </a:ext>
            </a:extLst>
          </p:cNvPr>
          <p:cNvCxnSpPr/>
          <p:nvPr/>
        </p:nvCxnSpPr>
        <p:spPr>
          <a:xfrm flipV="1">
            <a:off x="810491" y="1825625"/>
            <a:ext cx="4169490" cy="4146477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4DAA981-4813-80DE-CAF0-EFAF9F5C5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Determining Equilibrium Output: Graph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DD2227-C47A-41BD-13E0-BF7152AFC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3AE91-0272-E2D2-F1E9-8B6F57FA0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E9D82-AA6F-8057-ACC1-9DB8F3786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41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70D56D00-5BF9-C053-76A5-EF0D41BB3A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161828" y="1825625"/>
                <a:ext cx="3353521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Demand and income:</a:t>
                </a:r>
              </a:p>
              <a:p>
                <a:endParaRPr lang="en-US" sz="5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d>
                                <m:d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e>
                                  </m:acc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</m:d>
                            </m:e>
                          </m:groupChr>
                        </m:e>
                        <m:lim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𝐴𝑢𝑡𝑜𝑛𝑜𝑚𝑜𝑢𝑠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𝑆𝑝𝑒𝑛𝑑</m:t>
                          </m:r>
                        </m:lim>
                      </m:limLow>
                      <m:r>
                        <a:rPr lang="en-US" sz="18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Demand depends on autonomous spend and spending based on income.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A line with x-intercept at the autonomous spending and slope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70D56D00-5BF9-C053-76A5-EF0D41BB3A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61828" y="1825625"/>
                <a:ext cx="3353521" cy="4351338"/>
              </a:xfrm>
              <a:blipFill>
                <a:blip r:embed="rId2"/>
                <a:stretch>
                  <a:fillRect l="-2545" t="-1821" r="-2545" b="-1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1C12CF0-7F80-37D1-E493-99E3CF05C502}"/>
              </a:ext>
            </a:extLst>
          </p:cNvPr>
          <p:cNvCxnSpPr/>
          <p:nvPr/>
        </p:nvCxnSpPr>
        <p:spPr>
          <a:xfrm flipV="1">
            <a:off x="810491" y="1825625"/>
            <a:ext cx="0" cy="435133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87E6603-017A-731C-1841-60587C172AE2}"/>
              </a:ext>
            </a:extLst>
          </p:cNvPr>
          <p:cNvCxnSpPr>
            <a:cxnSpLocks/>
          </p:cNvCxnSpPr>
          <p:nvPr/>
        </p:nvCxnSpPr>
        <p:spPr>
          <a:xfrm rot="5400000" flipV="1">
            <a:off x="2804319" y="3796434"/>
            <a:ext cx="0" cy="435133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5E880F2-2763-40BD-D9B4-C1E44C80B5F4}"/>
              </a:ext>
            </a:extLst>
          </p:cNvPr>
          <p:cNvSpPr txBox="1"/>
          <p:nvPr/>
        </p:nvSpPr>
        <p:spPr>
          <a:xfrm rot="10800000">
            <a:off x="119042" y="1790132"/>
            <a:ext cx="738664" cy="96682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dirty="0"/>
              <a:t>Demand,</a:t>
            </a:r>
          </a:p>
          <a:p>
            <a:r>
              <a:rPr lang="en-US" dirty="0"/>
              <a:t> Output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CCEFCC-DDE5-FFB2-9D9A-CEC3B16D9B1C}"/>
              </a:ext>
            </a:extLst>
          </p:cNvPr>
          <p:cNvSpPr txBox="1"/>
          <p:nvPr/>
        </p:nvSpPr>
        <p:spPr>
          <a:xfrm>
            <a:off x="4138470" y="5928498"/>
            <a:ext cx="945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Income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F94FCE-ECF1-C727-7215-E4C889366F6D}"/>
              </a:ext>
            </a:extLst>
          </p:cNvPr>
          <p:cNvSpPr txBox="1"/>
          <p:nvPr/>
        </p:nvSpPr>
        <p:spPr>
          <a:xfrm rot="18903942">
            <a:off x="3735678" y="1993534"/>
            <a:ext cx="1246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Production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7CF0A9-7DD6-24B8-F664-DA6E5280FD03}"/>
              </a:ext>
            </a:extLst>
          </p:cNvPr>
          <p:cNvSpPr txBox="1"/>
          <p:nvPr/>
        </p:nvSpPr>
        <p:spPr>
          <a:xfrm rot="20487560">
            <a:off x="3955242" y="3383544"/>
            <a:ext cx="978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Demand</a:t>
            </a:r>
          </a:p>
        </p:txBody>
      </p:sp>
      <p:sp>
        <p:nvSpPr>
          <p:cNvPr id="26" name="Left Brace 25">
            <a:extLst>
              <a:ext uri="{FF2B5EF4-FFF2-40B4-BE49-F238E27FC236}">
                <a16:creationId xmlns:a16="http://schemas.microsoft.com/office/drawing/2014/main" id="{DEE8486D-8A14-526C-AF38-95A5D8283872}"/>
              </a:ext>
            </a:extLst>
          </p:cNvPr>
          <p:cNvSpPr/>
          <p:nvPr/>
        </p:nvSpPr>
        <p:spPr>
          <a:xfrm>
            <a:off x="628636" y="4636574"/>
            <a:ext cx="130035" cy="1291924"/>
          </a:xfrm>
          <a:prstGeom prst="leftBrac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5E4622B-AF73-88AD-2661-957EA6D37196}"/>
              </a:ext>
            </a:extLst>
          </p:cNvPr>
          <p:cNvSpPr txBox="1"/>
          <p:nvPr/>
        </p:nvSpPr>
        <p:spPr>
          <a:xfrm rot="16200000">
            <a:off x="-91331" y="5067093"/>
            <a:ext cx="97850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rgbClr val="C00000"/>
                </a:solidFill>
              </a:rPr>
              <a:t>Autonomous Spending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58EFC2C-41F1-821D-B0A4-283FBC0DCC2E}"/>
                  </a:ext>
                </a:extLst>
              </p:cNvPr>
              <p:cNvSpPr txBox="1"/>
              <p:nvPr/>
            </p:nvSpPr>
            <p:spPr>
              <a:xfrm rot="20454494">
                <a:off x="898151" y="4456723"/>
                <a:ext cx="978506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solidFill>
                      <a:srgbClr val="C00000"/>
                    </a:solidFill>
                  </a:rPr>
                  <a:t>Slope=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1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11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58EFC2C-41F1-821D-B0A4-283FBC0DCC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454494">
                <a:off x="898151" y="4456723"/>
                <a:ext cx="978506" cy="2616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4782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6" grpId="0" animBg="1"/>
      <p:bldP spid="27" grpId="0"/>
      <p:bldP spid="28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97672E3-0664-DA6C-995E-E43DC3D4F8C4}"/>
              </a:ext>
            </a:extLst>
          </p:cNvPr>
          <p:cNvCxnSpPr/>
          <p:nvPr/>
        </p:nvCxnSpPr>
        <p:spPr>
          <a:xfrm flipV="1">
            <a:off x="810484" y="3233800"/>
            <a:ext cx="4083627" cy="1402773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BA926A0-0634-7035-F0E0-5564DF6D9DC1}"/>
              </a:ext>
            </a:extLst>
          </p:cNvPr>
          <p:cNvCxnSpPr/>
          <p:nvPr/>
        </p:nvCxnSpPr>
        <p:spPr>
          <a:xfrm flipV="1">
            <a:off x="810491" y="1825625"/>
            <a:ext cx="4169490" cy="4146477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4DAA981-4813-80DE-CAF0-EFAF9F5C5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Determining Equilibrium Output: Graph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DD2227-C47A-41BD-13E0-BF7152AFC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3AE91-0272-E2D2-F1E9-8B6F57FA0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E9D82-AA6F-8057-ACC1-9DB8F3786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42</a:t>
            </a:fld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0D56D00-5BF9-C053-76A5-EF0D41BB3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1828" y="1825625"/>
            <a:ext cx="3353521" cy="4351338"/>
          </a:xfrm>
        </p:spPr>
        <p:txBody>
          <a:bodyPr>
            <a:normAutofit/>
          </a:bodyPr>
          <a:lstStyle/>
          <a:p>
            <a:r>
              <a:rPr lang="en-US" dirty="0"/>
              <a:t>To the left of 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, there is excess demand.</a:t>
            </a:r>
          </a:p>
          <a:p>
            <a:pPr lvl="3"/>
            <a:endParaRPr lang="en-US" dirty="0"/>
          </a:p>
          <a:p>
            <a:r>
              <a:rPr lang="en-US" dirty="0"/>
              <a:t>To the right of 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, there is excess supply.</a:t>
            </a:r>
          </a:p>
          <a:p>
            <a:pPr lvl="3"/>
            <a:endParaRPr lang="en-US" dirty="0"/>
          </a:p>
          <a:p>
            <a:r>
              <a:rPr lang="en-US" dirty="0"/>
              <a:t>Equilibrium is reached at the intersection of production and demand (Point 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).</a:t>
            </a:r>
          </a:p>
          <a:p>
            <a:endParaRPr 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1C12CF0-7F80-37D1-E493-99E3CF05C502}"/>
              </a:ext>
            </a:extLst>
          </p:cNvPr>
          <p:cNvCxnSpPr/>
          <p:nvPr/>
        </p:nvCxnSpPr>
        <p:spPr>
          <a:xfrm flipV="1">
            <a:off x="810491" y="1825625"/>
            <a:ext cx="0" cy="435133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87E6603-017A-731C-1841-60587C172AE2}"/>
              </a:ext>
            </a:extLst>
          </p:cNvPr>
          <p:cNvCxnSpPr>
            <a:cxnSpLocks/>
          </p:cNvCxnSpPr>
          <p:nvPr/>
        </p:nvCxnSpPr>
        <p:spPr>
          <a:xfrm rot="5400000" flipV="1">
            <a:off x="2804319" y="3796434"/>
            <a:ext cx="0" cy="435133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5E880F2-2763-40BD-D9B4-C1E44C80B5F4}"/>
              </a:ext>
            </a:extLst>
          </p:cNvPr>
          <p:cNvSpPr txBox="1"/>
          <p:nvPr/>
        </p:nvSpPr>
        <p:spPr>
          <a:xfrm rot="10800000">
            <a:off x="119042" y="1790132"/>
            <a:ext cx="738664" cy="96682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dirty="0"/>
              <a:t>Demand,</a:t>
            </a:r>
          </a:p>
          <a:p>
            <a:r>
              <a:rPr lang="en-US" dirty="0"/>
              <a:t> Output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CCEFCC-DDE5-FFB2-9D9A-CEC3B16D9B1C}"/>
              </a:ext>
            </a:extLst>
          </p:cNvPr>
          <p:cNvSpPr txBox="1"/>
          <p:nvPr/>
        </p:nvSpPr>
        <p:spPr>
          <a:xfrm>
            <a:off x="4138470" y="5928498"/>
            <a:ext cx="945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Income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F94FCE-ECF1-C727-7215-E4C889366F6D}"/>
              </a:ext>
            </a:extLst>
          </p:cNvPr>
          <p:cNvSpPr txBox="1"/>
          <p:nvPr/>
        </p:nvSpPr>
        <p:spPr>
          <a:xfrm rot="18903942">
            <a:off x="3735678" y="1993534"/>
            <a:ext cx="1246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Production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0620C1F-92E7-5202-AF8B-E2CBF4BA2226}"/>
              </a:ext>
            </a:extLst>
          </p:cNvPr>
          <p:cNvCxnSpPr>
            <a:stCxn id="19" idx="4"/>
          </p:cNvCxnSpPr>
          <p:nvPr/>
        </p:nvCxnSpPr>
        <p:spPr>
          <a:xfrm>
            <a:off x="2870626" y="3965365"/>
            <a:ext cx="0" cy="200673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CA383E3-01AC-0F98-C1FB-70FCC7EF2F4C}"/>
              </a:ext>
            </a:extLst>
          </p:cNvPr>
          <p:cNvCxnSpPr>
            <a:stCxn id="19" idx="2"/>
          </p:cNvCxnSpPr>
          <p:nvPr/>
        </p:nvCxnSpPr>
        <p:spPr>
          <a:xfrm flipH="1">
            <a:off x="810484" y="3919645"/>
            <a:ext cx="2014422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F753638-F15F-394F-D9D8-97F6E0BF1F87}"/>
                  </a:ext>
                </a:extLst>
              </p:cNvPr>
              <p:cNvSpPr txBox="1"/>
              <p:nvPr/>
            </p:nvSpPr>
            <p:spPr>
              <a:xfrm>
                <a:off x="457347" y="3689259"/>
                <a:ext cx="3013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F753638-F15F-394F-D9D8-97F6E0BF1F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347" y="3689259"/>
                <a:ext cx="301324" cy="369332"/>
              </a:xfrm>
              <a:prstGeom prst="rect">
                <a:avLst/>
              </a:prstGeom>
              <a:blipFill>
                <a:blip r:embed="rId2"/>
                <a:stretch>
                  <a:fillRect r="-61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686268B-1DC9-8980-DA36-641DE2507A89}"/>
                  </a:ext>
                </a:extLst>
              </p:cNvPr>
              <p:cNvSpPr txBox="1"/>
              <p:nvPr/>
            </p:nvSpPr>
            <p:spPr>
              <a:xfrm>
                <a:off x="2731433" y="5957759"/>
                <a:ext cx="3013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686268B-1DC9-8980-DA36-641DE2507A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1433" y="5957759"/>
                <a:ext cx="301324" cy="369332"/>
              </a:xfrm>
              <a:prstGeom prst="rect">
                <a:avLst/>
              </a:prstGeom>
              <a:blipFill>
                <a:blip r:embed="rId3"/>
                <a:stretch>
                  <a:fillRect r="-61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Left Brace 25">
            <a:extLst>
              <a:ext uri="{FF2B5EF4-FFF2-40B4-BE49-F238E27FC236}">
                <a16:creationId xmlns:a16="http://schemas.microsoft.com/office/drawing/2014/main" id="{DEE8486D-8A14-526C-AF38-95A5D8283872}"/>
              </a:ext>
            </a:extLst>
          </p:cNvPr>
          <p:cNvSpPr/>
          <p:nvPr/>
        </p:nvSpPr>
        <p:spPr>
          <a:xfrm>
            <a:off x="628636" y="4636574"/>
            <a:ext cx="130035" cy="1291924"/>
          </a:xfrm>
          <a:prstGeom prst="leftBrac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5E4622B-AF73-88AD-2661-957EA6D37196}"/>
              </a:ext>
            </a:extLst>
          </p:cNvPr>
          <p:cNvSpPr txBox="1"/>
          <p:nvPr/>
        </p:nvSpPr>
        <p:spPr>
          <a:xfrm rot="16200000">
            <a:off x="-91331" y="5067093"/>
            <a:ext cx="97850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rgbClr val="C00000"/>
                </a:solidFill>
              </a:rPr>
              <a:t>Autonomous Spending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58EFC2C-41F1-821D-B0A4-283FBC0DCC2E}"/>
                  </a:ext>
                </a:extLst>
              </p:cNvPr>
              <p:cNvSpPr txBox="1"/>
              <p:nvPr/>
            </p:nvSpPr>
            <p:spPr>
              <a:xfrm rot="20454494">
                <a:off x="898151" y="4456723"/>
                <a:ext cx="978506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solidFill>
                      <a:srgbClr val="C00000"/>
                    </a:solidFill>
                  </a:rPr>
                  <a:t>Slope=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1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11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58EFC2C-41F1-821D-B0A4-283FBC0DCC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454494">
                <a:off x="898151" y="4456723"/>
                <a:ext cx="978506" cy="2616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25413644-DFFE-5AA1-48CD-16EAF2479593}"/>
              </a:ext>
            </a:extLst>
          </p:cNvPr>
          <p:cNvSpPr txBox="1"/>
          <p:nvPr/>
        </p:nvSpPr>
        <p:spPr>
          <a:xfrm>
            <a:off x="2852297" y="3873925"/>
            <a:ext cx="379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554842-C75D-133F-9942-1935DCD354A9}"/>
              </a:ext>
            </a:extLst>
          </p:cNvPr>
          <p:cNvSpPr txBox="1"/>
          <p:nvPr/>
        </p:nvSpPr>
        <p:spPr>
          <a:xfrm rot="20487560">
            <a:off x="3955242" y="3383544"/>
            <a:ext cx="978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Demand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EF23FBA-177C-93D4-D202-693D167222ED}"/>
              </a:ext>
            </a:extLst>
          </p:cNvPr>
          <p:cNvSpPr/>
          <p:nvPr/>
        </p:nvSpPr>
        <p:spPr>
          <a:xfrm>
            <a:off x="2824906" y="3873925"/>
            <a:ext cx="91440" cy="9144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436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3" grpId="0"/>
      <p:bldP spid="12" grpId="0"/>
      <p:bldP spid="19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97672E3-0664-DA6C-995E-E43DC3D4F8C4}"/>
              </a:ext>
            </a:extLst>
          </p:cNvPr>
          <p:cNvCxnSpPr/>
          <p:nvPr/>
        </p:nvCxnSpPr>
        <p:spPr>
          <a:xfrm flipV="1">
            <a:off x="810484" y="3233800"/>
            <a:ext cx="4083627" cy="1402773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BA926A0-0634-7035-F0E0-5564DF6D9DC1}"/>
              </a:ext>
            </a:extLst>
          </p:cNvPr>
          <p:cNvCxnSpPr/>
          <p:nvPr/>
        </p:nvCxnSpPr>
        <p:spPr>
          <a:xfrm flipV="1">
            <a:off x="810491" y="1825625"/>
            <a:ext cx="4169490" cy="4146477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4DAA981-4813-80DE-CAF0-EFAF9F5C5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Determining Equilibrium Output: Graph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DD2227-C47A-41BD-13E0-BF7152AFC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3AE91-0272-E2D2-F1E9-8B6F57FA0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E9D82-AA6F-8057-ACC1-9DB8F3786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43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70D56D00-5BF9-C053-76A5-EF0D41BB3A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161828" y="1825624"/>
                <a:ext cx="3353521" cy="4472206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Imagine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rises. Autonomous spending increases, so demand shifts to </a:t>
                </a:r>
                <a:r>
                  <a:rPr lang="en-US" b="1" dirty="0">
                    <a:solidFill>
                      <a:srgbClr val="C00000"/>
                    </a:solidFill>
                  </a:rPr>
                  <a:t>Demand’</a:t>
                </a:r>
                <a:r>
                  <a:rPr lang="en-US" dirty="0"/>
                  <a:t>.</a:t>
                </a:r>
              </a:p>
              <a:p>
                <a:pPr lvl="3"/>
                <a:endParaRPr lang="en-US" sz="1000" dirty="0"/>
              </a:p>
              <a:p>
                <a:r>
                  <a:rPr lang="en-US" dirty="0"/>
                  <a:t>Due to an increase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, the equilibrium output of the economy increases from </a:t>
                </a:r>
                <a:r>
                  <a:rPr lang="en-US" b="1" dirty="0">
                    <a:solidFill>
                      <a:srgbClr val="FF0000"/>
                    </a:solidFill>
                  </a:rPr>
                  <a:t>A</a:t>
                </a:r>
                <a:r>
                  <a:rPr lang="en-US" dirty="0"/>
                  <a:t> to </a:t>
                </a:r>
                <a:r>
                  <a:rPr lang="en-US" b="1" dirty="0">
                    <a:solidFill>
                      <a:srgbClr val="FF0000"/>
                    </a:solidFill>
                  </a:rPr>
                  <a:t>A’</a:t>
                </a:r>
                <a:r>
                  <a:rPr lang="en-US" dirty="0"/>
                  <a:t>.</a:t>
                </a:r>
              </a:p>
              <a:p>
                <a:pPr lvl="3"/>
                <a:endParaRPr lang="en-US" sz="1000" dirty="0"/>
              </a:p>
              <a:p>
                <a:r>
                  <a:rPr lang="en-US" dirty="0"/>
                  <a:t>The increase in output is greater than the change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70D56D00-5BF9-C053-76A5-EF0D41BB3A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61828" y="1825624"/>
                <a:ext cx="3353521" cy="4472206"/>
              </a:xfrm>
              <a:blipFill>
                <a:blip r:embed="rId2"/>
                <a:stretch>
                  <a:fillRect l="-2545" t="-1771" r="-3455" b="-8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1C12CF0-7F80-37D1-E493-99E3CF05C502}"/>
              </a:ext>
            </a:extLst>
          </p:cNvPr>
          <p:cNvCxnSpPr/>
          <p:nvPr/>
        </p:nvCxnSpPr>
        <p:spPr>
          <a:xfrm flipV="1">
            <a:off x="810491" y="1825625"/>
            <a:ext cx="0" cy="435133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87E6603-017A-731C-1841-60587C172AE2}"/>
              </a:ext>
            </a:extLst>
          </p:cNvPr>
          <p:cNvCxnSpPr>
            <a:cxnSpLocks/>
          </p:cNvCxnSpPr>
          <p:nvPr/>
        </p:nvCxnSpPr>
        <p:spPr>
          <a:xfrm rot="5400000" flipV="1">
            <a:off x="2804319" y="3796434"/>
            <a:ext cx="0" cy="435133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5E880F2-2763-40BD-D9B4-C1E44C80B5F4}"/>
              </a:ext>
            </a:extLst>
          </p:cNvPr>
          <p:cNvSpPr txBox="1"/>
          <p:nvPr/>
        </p:nvSpPr>
        <p:spPr>
          <a:xfrm rot="10800000">
            <a:off x="119042" y="1790132"/>
            <a:ext cx="738664" cy="96682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dirty="0"/>
              <a:t>Demand,</a:t>
            </a:r>
          </a:p>
          <a:p>
            <a:r>
              <a:rPr lang="en-US" dirty="0"/>
              <a:t> Output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CCEFCC-DDE5-FFB2-9D9A-CEC3B16D9B1C}"/>
              </a:ext>
            </a:extLst>
          </p:cNvPr>
          <p:cNvSpPr txBox="1"/>
          <p:nvPr/>
        </p:nvSpPr>
        <p:spPr>
          <a:xfrm>
            <a:off x="4138470" y="5928498"/>
            <a:ext cx="945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Income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F94FCE-ECF1-C727-7215-E4C889366F6D}"/>
              </a:ext>
            </a:extLst>
          </p:cNvPr>
          <p:cNvSpPr txBox="1"/>
          <p:nvPr/>
        </p:nvSpPr>
        <p:spPr>
          <a:xfrm rot="18903942">
            <a:off x="3735678" y="1993534"/>
            <a:ext cx="1246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Production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EF23FBA-177C-93D4-D202-693D167222ED}"/>
              </a:ext>
            </a:extLst>
          </p:cNvPr>
          <p:cNvSpPr/>
          <p:nvPr/>
        </p:nvSpPr>
        <p:spPr>
          <a:xfrm>
            <a:off x="2824906" y="3873925"/>
            <a:ext cx="91440" cy="9144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413644-DFFE-5AA1-48CD-16EAF2479593}"/>
              </a:ext>
            </a:extLst>
          </p:cNvPr>
          <p:cNvSpPr txBox="1"/>
          <p:nvPr/>
        </p:nvSpPr>
        <p:spPr>
          <a:xfrm>
            <a:off x="2852297" y="3873925"/>
            <a:ext cx="379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554842-C75D-133F-9942-1935DCD354A9}"/>
              </a:ext>
            </a:extLst>
          </p:cNvPr>
          <p:cNvSpPr txBox="1"/>
          <p:nvPr/>
        </p:nvSpPr>
        <p:spPr>
          <a:xfrm rot="20487560">
            <a:off x="3955242" y="3383544"/>
            <a:ext cx="978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Demand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8FA09BA-A4D5-EB90-95E0-0C1A60411414}"/>
              </a:ext>
            </a:extLst>
          </p:cNvPr>
          <p:cNvCxnSpPr/>
          <p:nvPr/>
        </p:nvCxnSpPr>
        <p:spPr>
          <a:xfrm flipV="1">
            <a:off x="797578" y="2710668"/>
            <a:ext cx="4083627" cy="1402773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B668BC6-D8BB-4534-F0C8-486C790ACDF7}"/>
              </a:ext>
            </a:extLst>
          </p:cNvPr>
          <p:cNvSpPr txBox="1"/>
          <p:nvPr/>
        </p:nvSpPr>
        <p:spPr>
          <a:xfrm rot="20487560">
            <a:off x="3969140" y="2838311"/>
            <a:ext cx="1076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Demand’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DE83110-73D8-9BD0-1F86-D0FAED1620F3}"/>
              </a:ext>
            </a:extLst>
          </p:cNvPr>
          <p:cNvSpPr/>
          <p:nvPr/>
        </p:nvSpPr>
        <p:spPr>
          <a:xfrm>
            <a:off x="3619015" y="3087738"/>
            <a:ext cx="91440" cy="9144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58F4CD5-312B-B271-6B26-AD55C88A0CD4}"/>
              </a:ext>
            </a:extLst>
          </p:cNvPr>
          <p:cNvSpPr txBox="1"/>
          <p:nvPr/>
        </p:nvSpPr>
        <p:spPr>
          <a:xfrm>
            <a:off x="3381596" y="2809846"/>
            <a:ext cx="379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A’</a:t>
            </a:r>
          </a:p>
        </p:txBody>
      </p:sp>
    </p:spTree>
    <p:extLst>
      <p:ext uri="{BB962C8B-B14F-4D97-AF65-F5344CB8AC3E}">
        <p14:creationId xmlns:p14="http://schemas.microsoft.com/office/powerpoint/2010/main" val="521299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2" grpId="0" animBg="1"/>
      <p:bldP spid="29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7864C80-FBAA-2DB1-85C9-F228A6B48801}"/>
              </a:ext>
            </a:extLst>
          </p:cNvPr>
          <p:cNvCxnSpPr>
            <a:cxnSpLocks/>
          </p:cNvCxnSpPr>
          <p:nvPr/>
        </p:nvCxnSpPr>
        <p:spPr>
          <a:xfrm flipH="1">
            <a:off x="836077" y="3133458"/>
            <a:ext cx="2844129" cy="2324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EC9AB1E-3A2B-368F-6008-A69F6E4A06AD}"/>
              </a:ext>
            </a:extLst>
          </p:cNvPr>
          <p:cNvCxnSpPr>
            <a:cxnSpLocks/>
          </p:cNvCxnSpPr>
          <p:nvPr/>
        </p:nvCxnSpPr>
        <p:spPr>
          <a:xfrm flipH="1">
            <a:off x="3647137" y="3179178"/>
            <a:ext cx="17598" cy="278547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ACD96A4-F0C7-698A-2EE1-59136D3FBB29}"/>
                  </a:ext>
                </a:extLst>
              </p:cNvPr>
              <p:cNvSpPr txBox="1"/>
              <p:nvPr/>
            </p:nvSpPr>
            <p:spPr>
              <a:xfrm>
                <a:off x="3486025" y="5972102"/>
                <a:ext cx="3013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ACD96A4-F0C7-698A-2EE1-59136D3FBB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6025" y="5972102"/>
                <a:ext cx="301324" cy="369332"/>
              </a:xfrm>
              <a:prstGeom prst="rect">
                <a:avLst/>
              </a:prstGeom>
              <a:blipFill>
                <a:blip r:embed="rId2"/>
                <a:stretch>
                  <a:fillRect r="-163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0F5D9B2-67EE-D8A1-D013-0501D84E39B9}"/>
                  </a:ext>
                </a:extLst>
              </p:cNvPr>
              <p:cNvSpPr txBox="1"/>
              <p:nvPr/>
            </p:nvSpPr>
            <p:spPr>
              <a:xfrm>
                <a:off x="501382" y="2948792"/>
                <a:ext cx="3013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0F5D9B2-67EE-D8A1-D013-0501D84E39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382" y="2948792"/>
                <a:ext cx="301324" cy="369332"/>
              </a:xfrm>
              <a:prstGeom prst="rect">
                <a:avLst/>
              </a:prstGeom>
              <a:blipFill>
                <a:blip r:embed="rId3"/>
                <a:stretch>
                  <a:fillRect r="-1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97672E3-0664-DA6C-995E-E43DC3D4F8C4}"/>
              </a:ext>
            </a:extLst>
          </p:cNvPr>
          <p:cNvCxnSpPr/>
          <p:nvPr/>
        </p:nvCxnSpPr>
        <p:spPr>
          <a:xfrm flipV="1">
            <a:off x="810484" y="3233800"/>
            <a:ext cx="4083627" cy="1402773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BA926A0-0634-7035-F0E0-5564DF6D9DC1}"/>
              </a:ext>
            </a:extLst>
          </p:cNvPr>
          <p:cNvCxnSpPr/>
          <p:nvPr/>
        </p:nvCxnSpPr>
        <p:spPr>
          <a:xfrm flipV="1">
            <a:off x="810491" y="1825625"/>
            <a:ext cx="4169490" cy="4146477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4DAA981-4813-80DE-CAF0-EFAF9F5C5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Determining Equilibrium Output: Graph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DD2227-C47A-41BD-13E0-BF7152AFC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3AE91-0272-E2D2-F1E9-8B6F57FA0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E9D82-AA6F-8057-ACC1-9DB8F3786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70D56D00-5BF9-C053-76A5-EF0D41BB3A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161828" y="1825624"/>
                <a:ext cx="3467822" cy="4472206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Demand is greater than production at </a:t>
                </a:r>
                <a:r>
                  <a:rPr lang="en-US" b="1" dirty="0">
                    <a:solidFill>
                      <a:srgbClr val="FF0000"/>
                    </a:solidFill>
                  </a:rPr>
                  <a:t>A</a:t>
                </a:r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Output increases to meet excess demand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 increase in output leads to increased income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At </a:t>
                </a:r>
                <a:r>
                  <a:rPr lang="en-US" b="1" dirty="0">
                    <a:solidFill>
                      <a:srgbClr val="FF0000"/>
                    </a:solidFill>
                  </a:rPr>
                  <a:t>C</a:t>
                </a:r>
                <a:r>
                  <a:rPr lang="en-US" dirty="0"/>
                  <a:t>, Demand &gt; Output.</a:t>
                </a:r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70D56D00-5BF9-C053-76A5-EF0D41BB3A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61828" y="1825624"/>
                <a:ext cx="3467822" cy="4472206"/>
              </a:xfrm>
              <a:blipFill>
                <a:blip r:embed="rId4"/>
                <a:stretch>
                  <a:fillRect l="-2460" t="-1771" r="-43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1C12CF0-7F80-37D1-E493-99E3CF05C502}"/>
              </a:ext>
            </a:extLst>
          </p:cNvPr>
          <p:cNvCxnSpPr/>
          <p:nvPr/>
        </p:nvCxnSpPr>
        <p:spPr>
          <a:xfrm flipV="1">
            <a:off x="810491" y="1825625"/>
            <a:ext cx="0" cy="435133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87E6603-017A-731C-1841-60587C172AE2}"/>
              </a:ext>
            </a:extLst>
          </p:cNvPr>
          <p:cNvCxnSpPr>
            <a:cxnSpLocks/>
          </p:cNvCxnSpPr>
          <p:nvPr/>
        </p:nvCxnSpPr>
        <p:spPr>
          <a:xfrm rot="5400000" flipV="1">
            <a:off x="2804319" y="3796434"/>
            <a:ext cx="0" cy="435133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5E880F2-2763-40BD-D9B4-C1E44C80B5F4}"/>
              </a:ext>
            </a:extLst>
          </p:cNvPr>
          <p:cNvSpPr txBox="1"/>
          <p:nvPr/>
        </p:nvSpPr>
        <p:spPr>
          <a:xfrm rot="10800000">
            <a:off x="119042" y="1790132"/>
            <a:ext cx="738664" cy="96682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dirty="0"/>
              <a:t>Demand,</a:t>
            </a:r>
          </a:p>
          <a:p>
            <a:r>
              <a:rPr lang="en-US" dirty="0"/>
              <a:t> Output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CCEFCC-DDE5-FFB2-9D9A-CEC3B16D9B1C}"/>
              </a:ext>
            </a:extLst>
          </p:cNvPr>
          <p:cNvSpPr txBox="1"/>
          <p:nvPr/>
        </p:nvSpPr>
        <p:spPr>
          <a:xfrm>
            <a:off x="4138470" y="5928498"/>
            <a:ext cx="945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Income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F94FCE-ECF1-C727-7215-E4C889366F6D}"/>
              </a:ext>
            </a:extLst>
          </p:cNvPr>
          <p:cNvSpPr txBox="1"/>
          <p:nvPr/>
        </p:nvSpPr>
        <p:spPr>
          <a:xfrm rot="18903942">
            <a:off x="3735678" y="1993534"/>
            <a:ext cx="1246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Production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EF23FBA-177C-93D4-D202-693D167222ED}"/>
              </a:ext>
            </a:extLst>
          </p:cNvPr>
          <p:cNvSpPr/>
          <p:nvPr/>
        </p:nvSpPr>
        <p:spPr>
          <a:xfrm>
            <a:off x="2824906" y="3873925"/>
            <a:ext cx="91440" cy="9144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413644-DFFE-5AA1-48CD-16EAF2479593}"/>
              </a:ext>
            </a:extLst>
          </p:cNvPr>
          <p:cNvSpPr txBox="1"/>
          <p:nvPr/>
        </p:nvSpPr>
        <p:spPr>
          <a:xfrm>
            <a:off x="2852297" y="3873925"/>
            <a:ext cx="379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554842-C75D-133F-9942-1935DCD354A9}"/>
              </a:ext>
            </a:extLst>
          </p:cNvPr>
          <p:cNvSpPr txBox="1"/>
          <p:nvPr/>
        </p:nvSpPr>
        <p:spPr>
          <a:xfrm rot="20487560">
            <a:off x="3955242" y="3383544"/>
            <a:ext cx="978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Demand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8FA09BA-A4D5-EB90-95E0-0C1A60411414}"/>
              </a:ext>
            </a:extLst>
          </p:cNvPr>
          <p:cNvCxnSpPr/>
          <p:nvPr/>
        </p:nvCxnSpPr>
        <p:spPr>
          <a:xfrm flipV="1">
            <a:off x="797578" y="2710668"/>
            <a:ext cx="4083627" cy="1402773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B668BC6-D8BB-4534-F0C8-486C790ACDF7}"/>
              </a:ext>
            </a:extLst>
          </p:cNvPr>
          <p:cNvSpPr txBox="1"/>
          <p:nvPr/>
        </p:nvSpPr>
        <p:spPr>
          <a:xfrm rot="20487560">
            <a:off x="3969140" y="2838311"/>
            <a:ext cx="1076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Demand’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DE83110-73D8-9BD0-1F86-D0FAED1620F3}"/>
              </a:ext>
            </a:extLst>
          </p:cNvPr>
          <p:cNvSpPr/>
          <p:nvPr/>
        </p:nvSpPr>
        <p:spPr>
          <a:xfrm>
            <a:off x="3619015" y="3087738"/>
            <a:ext cx="91440" cy="9144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58F4CD5-312B-B271-6B26-AD55C88A0CD4}"/>
              </a:ext>
            </a:extLst>
          </p:cNvPr>
          <p:cNvSpPr txBox="1"/>
          <p:nvPr/>
        </p:nvSpPr>
        <p:spPr>
          <a:xfrm>
            <a:off x="3381596" y="2809846"/>
            <a:ext cx="379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A’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377CBE4-E3AE-ADFA-9639-112BDF5D4A4E}"/>
              </a:ext>
            </a:extLst>
          </p:cNvPr>
          <p:cNvCxnSpPr>
            <a:cxnSpLocks/>
            <a:stCxn id="19" idx="0"/>
            <a:endCxn id="23" idx="4"/>
          </p:cNvCxnSpPr>
          <p:nvPr/>
        </p:nvCxnSpPr>
        <p:spPr>
          <a:xfrm flipV="1">
            <a:off x="2870626" y="3452918"/>
            <a:ext cx="4813" cy="4210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A217B4C-D83F-0B11-B459-EAC35D3C9705}"/>
              </a:ext>
            </a:extLst>
          </p:cNvPr>
          <p:cNvCxnSpPr>
            <a:stCxn id="23" idx="6"/>
            <a:endCxn id="27" idx="2"/>
          </p:cNvCxnSpPr>
          <p:nvPr/>
        </p:nvCxnSpPr>
        <p:spPr>
          <a:xfrm flipV="1">
            <a:off x="2921159" y="3401275"/>
            <a:ext cx="434852" cy="59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C96183B9-B6FA-BA6E-45C9-8ED3E9C3CD13}"/>
              </a:ext>
            </a:extLst>
          </p:cNvPr>
          <p:cNvSpPr txBox="1"/>
          <p:nvPr/>
        </p:nvSpPr>
        <p:spPr>
          <a:xfrm>
            <a:off x="3378634" y="3294089"/>
            <a:ext cx="301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B738752-6B5D-948C-AC84-999A8A6E72CC}"/>
              </a:ext>
            </a:extLst>
          </p:cNvPr>
          <p:cNvCxnSpPr>
            <a:cxnSpLocks/>
          </p:cNvCxnSpPr>
          <p:nvPr/>
        </p:nvCxnSpPr>
        <p:spPr>
          <a:xfrm flipV="1">
            <a:off x="3403893" y="3222783"/>
            <a:ext cx="0" cy="1579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3B90A95F-24E9-36E8-AAA1-3CCF85288025}"/>
              </a:ext>
            </a:extLst>
          </p:cNvPr>
          <p:cNvSpPr/>
          <p:nvPr/>
        </p:nvSpPr>
        <p:spPr>
          <a:xfrm>
            <a:off x="2829719" y="3361478"/>
            <a:ext cx="91440" cy="9144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06E0DFD-883C-2FD1-6199-BD724B6BCB63}"/>
              </a:ext>
            </a:extLst>
          </p:cNvPr>
          <p:cNvSpPr txBox="1"/>
          <p:nvPr/>
        </p:nvSpPr>
        <p:spPr>
          <a:xfrm>
            <a:off x="2566892" y="3077663"/>
            <a:ext cx="301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B49B041C-7731-5148-E09F-9B704E87D5A5}"/>
              </a:ext>
            </a:extLst>
          </p:cNvPr>
          <p:cNvSpPr/>
          <p:nvPr/>
        </p:nvSpPr>
        <p:spPr>
          <a:xfrm>
            <a:off x="3356011" y="3355555"/>
            <a:ext cx="91440" cy="9144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AE26A4C-E40F-9180-5926-380C8F449376}"/>
              </a:ext>
            </a:extLst>
          </p:cNvPr>
          <p:cNvCxnSpPr/>
          <p:nvPr/>
        </p:nvCxnSpPr>
        <p:spPr>
          <a:xfrm>
            <a:off x="2870626" y="3965365"/>
            <a:ext cx="0" cy="200673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BA7B95C-4B3C-A3DE-BE5A-FE0AC963CABA}"/>
              </a:ext>
            </a:extLst>
          </p:cNvPr>
          <p:cNvCxnSpPr/>
          <p:nvPr/>
        </p:nvCxnSpPr>
        <p:spPr>
          <a:xfrm flipH="1">
            <a:off x="810484" y="3919645"/>
            <a:ext cx="2014422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CC27206-B98A-7FA0-41CD-3BEA73297A30}"/>
                  </a:ext>
                </a:extLst>
              </p:cNvPr>
              <p:cNvSpPr txBox="1"/>
              <p:nvPr/>
            </p:nvSpPr>
            <p:spPr>
              <a:xfrm>
                <a:off x="457347" y="3689259"/>
                <a:ext cx="3013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CC27206-B98A-7FA0-41CD-3BEA73297A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347" y="3689259"/>
                <a:ext cx="301324" cy="369332"/>
              </a:xfrm>
              <a:prstGeom prst="rect">
                <a:avLst/>
              </a:prstGeom>
              <a:blipFill>
                <a:blip r:embed="rId5"/>
                <a:stretch>
                  <a:fillRect r="-61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06BC39A-9313-8387-76A5-42C7A023B6DE}"/>
                  </a:ext>
                </a:extLst>
              </p:cNvPr>
              <p:cNvSpPr txBox="1"/>
              <p:nvPr/>
            </p:nvSpPr>
            <p:spPr>
              <a:xfrm>
                <a:off x="2731433" y="5957759"/>
                <a:ext cx="3013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06BC39A-9313-8387-76A5-42C7A023B6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1433" y="5957759"/>
                <a:ext cx="301324" cy="369332"/>
              </a:xfrm>
              <a:prstGeom prst="rect">
                <a:avLst/>
              </a:prstGeom>
              <a:blipFill>
                <a:blip r:embed="rId6"/>
                <a:stretch>
                  <a:fillRect r="-61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6094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8" grpId="0"/>
      <p:bldP spid="31" grpId="0"/>
      <p:bldP spid="23" grpId="0" animBg="1"/>
      <p:bldP spid="26" grpId="0"/>
      <p:bldP spid="27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97672E3-0664-DA6C-995E-E43DC3D4F8C4}"/>
              </a:ext>
            </a:extLst>
          </p:cNvPr>
          <p:cNvCxnSpPr/>
          <p:nvPr/>
        </p:nvCxnSpPr>
        <p:spPr>
          <a:xfrm flipV="1">
            <a:off x="810484" y="3233800"/>
            <a:ext cx="4083627" cy="1402773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BA926A0-0634-7035-F0E0-5564DF6D9DC1}"/>
              </a:ext>
            </a:extLst>
          </p:cNvPr>
          <p:cNvCxnSpPr/>
          <p:nvPr/>
        </p:nvCxnSpPr>
        <p:spPr>
          <a:xfrm flipV="1">
            <a:off x="810491" y="1825625"/>
            <a:ext cx="4169490" cy="4146477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4DAA981-4813-80DE-CAF0-EFAF9F5C5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Determining Equilibrium Output: Graph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DD2227-C47A-41BD-13E0-BF7152AFC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3AE91-0272-E2D2-F1E9-8B6F57FA0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E9D82-AA6F-8057-ACC1-9DB8F3786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45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70D56D00-5BF9-C053-76A5-EF0D41BB3A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161828" y="1825624"/>
                <a:ext cx="3467822" cy="4472206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So, a one-time increase of consumption leads to a chain reaction that is “multiplied” to have a greater effect.</a:t>
                </a:r>
              </a:p>
              <a:p>
                <a:endParaRPr lang="en-US" dirty="0"/>
              </a:p>
              <a:p>
                <a:r>
                  <a:rPr lang="en-US" dirty="0"/>
                  <a:t>But why is the value of the multiplier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?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Let us examine an example.</a:t>
                </a:r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70D56D00-5BF9-C053-76A5-EF0D41BB3A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61828" y="1825624"/>
                <a:ext cx="3467822" cy="4472206"/>
              </a:xfrm>
              <a:blipFill>
                <a:blip r:embed="rId2"/>
                <a:stretch>
                  <a:fillRect l="-2460" t="-1771" r="-47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1C12CF0-7F80-37D1-E493-99E3CF05C502}"/>
              </a:ext>
            </a:extLst>
          </p:cNvPr>
          <p:cNvCxnSpPr/>
          <p:nvPr/>
        </p:nvCxnSpPr>
        <p:spPr>
          <a:xfrm flipV="1">
            <a:off x="810491" y="1825625"/>
            <a:ext cx="0" cy="435133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87E6603-017A-731C-1841-60587C172AE2}"/>
              </a:ext>
            </a:extLst>
          </p:cNvPr>
          <p:cNvCxnSpPr>
            <a:cxnSpLocks/>
          </p:cNvCxnSpPr>
          <p:nvPr/>
        </p:nvCxnSpPr>
        <p:spPr>
          <a:xfrm rot="5400000" flipV="1">
            <a:off x="2804319" y="3796434"/>
            <a:ext cx="0" cy="435133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5E880F2-2763-40BD-D9B4-C1E44C80B5F4}"/>
              </a:ext>
            </a:extLst>
          </p:cNvPr>
          <p:cNvSpPr txBox="1"/>
          <p:nvPr/>
        </p:nvSpPr>
        <p:spPr>
          <a:xfrm rot="10800000">
            <a:off x="119042" y="1790132"/>
            <a:ext cx="738664" cy="96682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dirty="0"/>
              <a:t>Demand,</a:t>
            </a:r>
          </a:p>
          <a:p>
            <a:r>
              <a:rPr lang="en-US" dirty="0"/>
              <a:t> Output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CCEFCC-DDE5-FFB2-9D9A-CEC3B16D9B1C}"/>
              </a:ext>
            </a:extLst>
          </p:cNvPr>
          <p:cNvSpPr txBox="1"/>
          <p:nvPr/>
        </p:nvSpPr>
        <p:spPr>
          <a:xfrm>
            <a:off x="4138470" y="5928498"/>
            <a:ext cx="945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Income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F94FCE-ECF1-C727-7215-E4C889366F6D}"/>
              </a:ext>
            </a:extLst>
          </p:cNvPr>
          <p:cNvSpPr txBox="1"/>
          <p:nvPr/>
        </p:nvSpPr>
        <p:spPr>
          <a:xfrm rot="18903942">
            <a:off x="3735678" y="1993534"/>
            <a:ext cx="1246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Production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EF23FBA-177C-93D4-D202-693D167222ED}"/>
              </a:ext>
            </a:extLst>
          </p:cNvPr>
          <p:cNvSpPr/>
          <p:nvPr/>
        </p:nvSpPr>
        <p:spPr>
          <a:xfrm>
            <a:off x="2824906" y="3873925"/>
            <a:ext cx="91440" cy="9144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413644-DFFE-5AA1-48CD-16EAF2479593}"/>
              </a:ext>
            </a:extLst>
          </p:cNvPr>
          <p:cNvSpPr txBox="1"/>
          <p:nvPr/>
        </p:nvSpPr>
        <p:spPr>
          <a:xfrm>
            <a:off x="2852297" y="3873925"/>
            <a:ext cx="379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554842-C75D-133F-9942-1935DCD354A9}"/>
              </a:ext>
            </a:extLst>
          </p:cNvPr>
          <p:cNvSpPr txBox="1"/>
          <p:nvPr/>
        </p:nvSpPr>
        <p:spPr>
          <a:xfrm rot="20487560">
            <a:off x="3955242" y="3383544"/>
            <a:ext cx="978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Demand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8FA09BA-A4D5-EB90-95E0-0C1A60411414}"/>
              </a:ext>
            </a:extLst>
          </p:cNvPr>
          <p:cNvCxnSpPr/>
          <p:nvPr/>
        </p:nvCxnSpPr>
        <p:spPr>
          <a:xfrm flipV="1">
            <a:off x="797578" y="2710668"/>
            <a:ext cx="4083627" cy="1402773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B668BC6-D8BB-4534-F0C8-486C790ACDF7}"/>
              </a:ext>
            </a:extLst>
          </p:cNvPr>
          <p:cNvSpPr txBox="1"/>
          <p:nvPr/>
        </p:nvSpPr>
        <p:spPr>
          <a:xfrm rot="20487560">
            <a:off x="3969140" y="2838311"/>
            <a:ext cx="1076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Demand’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DE83110-73D8-9BD0-1F86-D0FAED1620F3}"/>
              </a:ext>
            </a:extLst>
          </p:cNvPr>
          <p:cNvSpPr/>
          <p:nvPr/>
        </p:nvSpPr>
        <p:spPr>
          <a:xfrm>
            <a:off x="3619015" y="3087738"/>
            <a:ext cx="91440" cy="9144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58F4CD5-312B-B271-6B26-AD55C88A0CD4}"/>
              </a:ext>
            </a:extLst>
          </p:cNvPr>
          <p:cNvSpPr txBox="1"/>
          <p:nvPr/>
        </p:nvSpPr>
        <p:spPr>
          <a:xfrm>
            <a:off x="3381596" y="2809846"/>
            <a:ext cx="379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A’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377CBE4-E3AE-ADFA-9639-112BDF5D4A4E}"/>
              </a:ext>
            </a:extLst>
          </p:cNvPr>
          <p:cNvCxnSpPr>
            <a:cxnSpLocks/>
            <a:stCxn id="19" idx="0"/>
            <a:endCxn id="23" idx="4"/>
          </p:cNvCxnSpPr>
          <p:nvPr/>
        </p:nvCxnSpPr>
        <p:spPr>
          <a:xfrm flipV="1">
            <a:off x="2870626" y="3452918"/>
            <a:ext cx="4813" cy="4210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A217B4C-D83F-0B11-B459-EAC35D3C9705}"/>
              </a:ext>
            </a:extLst>
          </p:cNvPr>
          <p:cNvCxnSpPr>
            <a:stCxn id="23" idx="6"/>
            <a:endCxn id="27" idx="2"/>
          </p:cNvCxnSpPr>
          <p:nvPr/>
        </p:nvCxnSpPr>
        <p:spPr>
          <a:xfrm flipV="1">
            <a:off x="2921159" y="3401275"/>
            <a:ext cx="434852" cy="59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C96183B9-B6FA-BA6E-45C9-8ED3E9C3CD13}"/>
              </a:ext>
            </a:extLst>
          </p:cNvPr>
          <p:cNvSpPr txBox="1"/>
          <p:nvPr/>
        </p:nvSpPr>
        <p:spPr>
          <a:xfrm>
            <a:off x="3378634" y="3294089"/>
            <a:ext cx="301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B738752-6B5D-948C-AC84-999A8A6E72CC}"/>
              </a:ext>
            </a:extLst>
          </p:cNvPr>
          <p:cNvCxnSpPr>
            <a:cxnSpLocks/>
            <a:endCxn id="18" idx="4"/>
          </p:cNvCxnSpPr>
          <p:nvPr/>
        </p:nvCxnSpPr>
        <p:spPr>
          <a:xfrm flipH="1" flipV="1">
            <a:off x="3401731" y="3266778"/>
            <a:ext cx="2162" cy="1139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3B90A95F-24E9-36E8-AAA1-3CCF85288025}"/>
              </a:ext>
            </a:extLst>
          </p:cNvPr>
          <p:cNvSpPr/>
          <p:nvPr/>
        </p:nvSpPr>
        <p:spPr>
          <a:xfrm>
            <a:off x="2829719" y="3361478"/>
            <a:ext cx="91440" cy="9144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06E0DFD-883C-2FD1-6199-BD724B6BCB63}"/>
              </a:ext>
            </a:extLst>
          </p:cNvPr>
          <p:cNvSpPr txBox="1"/>
          <p:nvPr/>
        </p:nvSpPr>
        <p:spPr>
          <a:xfrm>
            <a:off x="2566892" y="3077663"/>
            <a:ext cx="301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B49B041C-7731-5148-E09F-9B704E87D5A5}"/>
              </a:ext>
            </a:extLst>
          </p:cNvPr>
          <p:cNvSpPr/>
          <p:nvPr/>
        </p:nvSpPr>
        <p:spPr>
          <a:xfrm>
            <a:off x="3356011" y="3355555"/>
            <a:ext cx="91440" cy="9144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4F43321-C4F7-4402-408B-A1DB22691DD0}"/>
              </a:ext>
            </a:extLst>
          </p:cNvPr>
          <p:cNvSpPr/>
          <p:nvPr/>
        </p:nvSpPr>
        <p:spPr>
          <a:xfrm>
            <a:off x="3356011" y="3175338"/>
            <a:ext cx="91440" cy="9144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DD76FAC-F812-81CF-E6F2-27B540C6A1A9}"/>
              </a:ext>
            </a:extLst>
          </p:cNvPr>
          <p:cNvSpPr txBox="1"/>
          <p:nvPr/>
        </p:nvSpPr>
        <p:spPr>
          <a:xfrm>
            <a:off x="3097105" y="2924756"/>
            <a:ext cx="301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1539194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AA981-4813-80DE-CAF0-EFAF9F5C5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Determining Equilibrium Output: Words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DD2227-C47A-41BD-13E0-BF7152AFC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3AE91-0272-E2D2-F1E9-8B6F57FA0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E9D82-AA6F-8057-ACC1-9DB8F3786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46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70D56D00-5BF9-C053-76A5-EF0D41BB3A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Suppose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increased by $1, which translates to an increased in demand by $1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Output increases by $1 to meet the excess demand, which leads to an equal increase in income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When income is increased by $1, consumption increases by the marginal propensity to consume, $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Since demand is increased by $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output is increased by $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income is increased by $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and consumption increases by $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/>
                  <a:t>… and this process continues indefinitely.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70D56D00-5BF9-C053-76A5-EF0D41BB3A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 r="-773" b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4523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AA981-4813-80DE-CAF0-EFAF9F5C5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Determining Equilibrium Output: Words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DD2227-C47A-41BD-13E0-BF7152AFC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3AE91-0272-E2D2-F1E9-8B6F57FA0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E9D82-AA6F-8057-ACC1-9DB8F3786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47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70D56D00-5BF9-C053-76A5-EF0D41BB3A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A one-time increase of consumption by $1 leads to a new equilibrium forming with the output level increased by…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+⋯</m:t>
                      </m:r>
                    </m:oMath>
                  </m:oMathPara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Using the formula for the infinite geometric series:</a:t>
                </a:r>
              </a:p>
              <a:p>
                <a:pPr lvl="3"/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+⋯=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The initial change in consumption will lead to a cascading effect of output ↑, leading to income ↑, leading to consumption ↑, leading to output ↑, …</a:t>
                </a:r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70D56D00-5BF9-C053-76A5-EF0D41BB3A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 r="-927" b="-2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2754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AA981-4813-80DE-CAF0-EFAF9F5C5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Speed of Adjustments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DD2227-C47A-41BD-13E0-BF7152AFC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3AE91-0272-E2D2-F1E9-8B6F57FA0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E9D82-AA6F-8057-ACC1-9DB8F3786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48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70D56D00-5BF9-C053-76A5-EF0D41BB3A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Note that this adjustment only occurs following infinite steps of adjustments in consumption, output and income.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 model suggests that all adjustments occur instantly.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In the real world, making changes to output takes time.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Also, consumers don’t instantly increase consumption the moment they achieve a higher level of income.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Therefore, we will never see instantaneous adjustments from output level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70D56D00-5BF9-C053-76A5-EF0D41BB3A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2661" r="-14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1919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AA981-4813-80DE-CAF0-EFAF9F5C5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Keynes’ Method: Investment - Savings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DD2227-C47A-41BD-13E0-BF7152AFC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3AE91-0272-E2D2-F1E9-8B6F57FA0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E9D82-AA6F-8057-ACC1-9DB8F3786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49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70D56D00-5BF9-C053-76A5-EF0D41BB3A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Up to this point, we examined the equilibrium in the goods market by equating output to demand.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Production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Demand</m:t>
                      </m:r>
                    </m:oMath>
                  </m:oMathPara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We can reach the same result by looking into the relation between the economy’s investment and savings.</a:t>
                </a:r>
              </a:p>
              <a:p>
                <a:pPr lvl="3"/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Investment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Saving</m:t>
                      </m:r>
                    </m:oMath>
                  </m:oMathPara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This is the original method that Keynes introduced in “The General Theory of Employment, Interest and Money.”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70D56D00-5BF9-C053-76A5-EF0D41BB3A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 r="-17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5557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AA981-4813-80DE-CAF0-EFAF9F5C5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Keynes’ Method: Investment - Savings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DD2227-C47A-41BD-13E0-BF7152AFC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3AE91-0272-E2D2-F1E9-8B6F57FA0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E9D82-AA6F-8057-ACC1-9DB8F3786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50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70D56D00-5BF9-C053-76A5-EF0D41BB3A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964632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Private saving (consumers’ savings) is the difference between consumers’ disposable income and consumption.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:r>
                  <a:rPr lang="en-US" dirty="0"/>
                  <a:t>		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endParaRPr lang="en-US" sz="500" dirty="0"/>
              </a:p>
              <a:p>
                <a:pPr marL="0" indent="0">
                  <a:buNone/>
                </a:pPr>
                <a:r>
                  <a:rPr lang="en-US" dirty="0">
                    <a:ea typeface="Cambria Math" panose="02040503050406030204" pitchFamily="18" charset="0"/>
                  </a:rPr>
                  <a:t>			 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≡(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Public saving will be equal to the government surplus, which can be stated as: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𝐺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70D56D00-5BF9-C053-76A5-EF0D41BB3A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964632" cy="4351338"/>
              </a:xfrm>
              <a:blipFill>
                <a:blip r:embed="rId2"/>
                <a:stretch>
                  <a:fillRect l="-995" t="-1821" r="-10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3580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AA981-4813-80DE-CAF0-EFAF9F5C5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Keynes’ Method: Investment - Savings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DD2227-C47A-41BD-13E0-BF7152AFC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3AE91-0272-E2D2-F1E9-8B6F57FA0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E9D82-AA6F-8057-ACC1-9DB8F3786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51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70D56D00-5BF9-C053-76A5-EF0D41BB3A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964632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Returning to the equilibrium in the goods market:</a:t>
                </a:r>
              </a:p>
              <a:p>
                <a:pPr lvl="3"/>
                <a:endParaRPr lang="en-US" sz="500" dirty="0"/>
              </a:p>
              <a:p>
                <a:pPr marL="0" indent="0">
                  <a:buNone/>
                </a:pPr>
                <a:r>
                  <a:rPr lang="en-US" b="0" dirty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b="0" dirty="0">
                    <a:ea typeface="Cambria Math" panose="02040503050406030204" pitchFamily="18" charset="0"/>
                  </a:rPr>
                  <a:t>			 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b="0" dirty="0">
                    <a:ea typeface="Cambria Math" panose="02040503050406030204" pitchFamily="18" charset="0"/>
                  </a:rPr>
                  <a:t>			 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b="0" dirty="0">
                    <a:ea typeface="Cambria Math" panose="02040503050406030204" pitchFamily="18" charset="0"/>
                  </a:rPr>
                  <a:t>			 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>
                    <a:ea typeface="Cambria Math" panose="02040503050406030204" pitchFamily="18" charset="0"/>
                  </a:rPr>
                  <a:t>			 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 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sz="1600" dirty="0"/>
              </a:p>
              <a:p>
                <a:r>
                  <a:rPr lang="en-US" dirty="0"/>
                  <a:t>When the goods market is in equilibrium, the sum of private and public saving must equal the economy’s investment.</a:t>
                </a:r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70D56D00-5BF9-C053-76A5-EF0D41BB3A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964632" cy="4351338"/>
              </a:xfrm>
              <a:blipFill>
                <a:blip r:embed="rId2"/>
                <a:stretch>
                  <a:fillRect l="-995" t="-1821" b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5014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AA981-4813-80DE-CAF0-EFAF9F5C5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Keynes’ Method: Investment - Savings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DD2227-C47A-41BD-13E0-BF7152AFC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3AE91-0272-E2D2-F1E9-8B6F57FA0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E9D82-AA6F-8057-ACC1-9DB8F3786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52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70D56D00-5BF9-C053-76A5-EF0D41BB3A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964632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Let’s take a slightly deeper look into how consumers make decisions on private savings.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⟹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b="0" dirty="0">
                    <a:ea typeface="Cambria Math" panose="02040503050406030204" pitchFamily="18" charset="0"/>
                  </a:rPr>
                  <a:t>			 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 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b="0" dirty="0">
                    <a:ea typeface="Cambria Math" panose="02040503050406030204" pitchFamily="18" charset="0"/>
                  </a:rPr>
                  <a:t>			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This mirrors the consumption decision, where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is called the marginal propensity to save.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70D56D00-5BF9-C053-76A5-EF0D41BB3A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964632" cy="4351338"/>
              </a:xfrm>
              <a:blipFill>
                <a:blip r:embed="rId2"/>
                <a:stretch>
                  <a:fillRect l="-995" t="-1821" r="-14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8650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AA981-4813-80DE-CAF0-EFAF9F5C5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Keynes’ Method: Investment - Savings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DD2227-C47A-41BD-13E0-BF7152AFC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3AE91-0272-E2D2-F1E9-8B6F57FA0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E9D82-AA6F-8057-ACC1-9DB8F3786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53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70D56D00-5BF9-C053-76A5-EF0D41BB3A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964632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Verify that the IS method reaches the same conclusion.</a:t>
                </a:r>
              </a:p>
              <a:p>
                <a:pPr marL="0" indent="0">
                  <a:buNone/>
                </a:pPr>
                <a:endParaRPr lang="en-US" sz="500" dirty="0"/>
              </a:p>
              <a:p>
                <a:pPr marL="0" indent="0">
                  <a:buNone/>
                </a:pPr>
                <a:r>
                  <a:rPr lang="en-US" dirty="0"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3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  <m:r>
                      <a:rPr lang="en-US" sz="23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3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300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23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300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3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3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d>
                  </m:oMath>
                </a14:m>
                <a:endParaRPr lang="en-US" sz="23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300" b="0" dirty="0"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US" sz="23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3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3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300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23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300" i="1"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sz="23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3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3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d>
                      <m:dPr>
                        <m:ctrlPr>
                          <a:rPr lang="en-US" sz="23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300" i="1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sz="23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3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US" sz="2300" b="0" i="1" smtClean="0">
                        <a:latin typeface="Cambria Math" panose="02040503050406030204" pitchFamily="18" charset="0"/>
                      </a:rPr>
                      <m:t>+(</m:t>
                    </m:r>
                    <m:r>
                      <a:rPr lang="en-US" sz="23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3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3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3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300" dirty="0"/>
              </a:p>
              <a:p>
                <a:pPr marL="0" indent="0">
                  <a:buNone/>
                </a:pPr>
                <a:r>
                  <a:rPr lang="en-US" sz="2300" b="0" dirty="0"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</m:oMath>
                </a14:m>
                <a:endParaRPr lang="en-US" sz="2300" dirty="0"/>
              </a:p>
              <a:p>
                <a:pPr marL="0" indent="0">
                  <a:buNone/>
                </a:pPr>
                <a:r>
                  <a:rPr lang="en-US" sz="2300" dirty="0"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3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  <m:r>
                      <a:rPr lang="en-US" sz="23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3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3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en-US" sz="23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3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</m:oMath>
                </a14:m>
                <a:endParaRPr lang="en-US" sz="2300" dirty="0"/>
              </a:p>
              <a:p>
                <a:pPr marL="0" indent="0">
                  <a:buNone/>
                </a:pPr>
                <a:r>
                  <a:rPr lang="en-US" sz="2300" dirty="0"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3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⟹−</m:t>
                    </m:r>
                    <m:r>
                      <a:rPr lang="en-US" sz="23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  <m:r>
                      <a:rPr lang="en-US" sz="23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3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3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en-US" sz="23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3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</m:oMath>
                </a14:m>
                <a:endParaRPr lang="en-US" sz="2300" dirty="0"/>
              </a:p>
              <a:p>
                <a:pPr marL="0" indent="0">
                  <a:buNone/>
                </a:pPr>
                <a:r>
                  <a:rPr lang="en-US" sz="2300" dirty="0"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3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sz="23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3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3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3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  <m:r>
                      <a:rPr lang="en-US" sz="23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3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3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  <m:r>
                      <a:rPr lang="en-US" sz="23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3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3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</m:oMath>
                </a14:m>
                <a:endParaRPr lang="en-US" sz="2300" dirty="0"/>
              </a:p>
              <a:p>
                <a:pPr marL="0" indent="0">
                  <a:buNone/>
                </a:pPr>
                <a:r>
                  <a:rPr lang="en-US" sz="2300" dirty="0"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3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d>
                      <m:dPr>
                        <m:ctrlP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sz="23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3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3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3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  <m:r>
                      <a:rPr lang="en-US" sz="23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3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3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3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</m:oMath>
                </a14:m>
                <a:endParaRPr lang="en-US" sz="2300" dirty="0"/>
              </a:p>
              <a:p>
                <a:pPr marL="0" indent="0">
                  <a:buNone/>
                </a:pPr>
                <a:r>
                  <a:rPr lang="en-US" sz="2300" dirty="0"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3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US" sz="23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  <m:r>
                      <a:rPr lang="en-US" sz="23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3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sz="23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3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3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d>
                      <m:dPr>
                        <m:ctrlPr>
                          <a:rPr lang="en-US" sz="23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3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3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3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  <m: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  <m: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3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3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3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endParaRPr lang="en-US" sz="2300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70D56D00-5BF9-C053-76A5-EF0D41BB3A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964632" cy="4351338"/>
              </a:xfrm>
              <a:blipFill>
                <a:blip r:embed="rId2"/>
                <a:stretch>
                  <a:fillRect l="-99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3819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AA981-4813-80DE-CAF0-EFAF9F5C5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Paradox of Thrift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DD2227-C47A-41BD-13E0-BF7152AFC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3AE91-0272-E2D2-F1E9-8B6F57FA0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E9D82-AA6F-8057-ACC1-9DB8F3786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54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70D56D00-5BF9-C053-76A5-EF0D41BB3A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Is more savings good for the economy overall?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Suppose that households’ optimism dwindles so that they decide to increase savings.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In order to increase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, households must decrease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Lower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 leads to a decrease in the economy’s output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With a lower income, households’ consumption drops, but savings cannot increase.</a:t>
                </a:r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70D56D00-5BF9-C053-76A5-EF0D41BB3A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 r="-15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6286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6f11bd42-9a29-44e8-8e36-ace3ca3e888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04c582cb-7099-4740-be6c-85e2115f585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ac85b70e-bdc1-4700-8058-5bbe73f44f9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01e4bc84-bd02-46e1-9826-15d5f02a5de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4d711d43-abe6-4452-8ee7-3c82b72feef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e64401c3-c635-411e-a3fd-c63eb7742b95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CF630E01-D107-42E5-8DFC-48302BB3DFE2}" vid="{4BEE81CA-F64C-419F-A97B-23D16F4EA3D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mc-presentation-template</Template>
  <TotalTime>9596</TotalTime>
  <Words>4220</Words>
  <Application>Microsoft Office PowerPoint</Application>
  <PresentationFormat>On-screen Show (4:3)</PresentationFormat>
  <Paragraphs>665</Paragraphs>
  <Slides>54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9" baseType="lpstr">
      <vt:lpstr>Arial</vt:lpstr>
      <vt:lpstr>Calibri</vt:lpstr>
      <vt:lpstr>Cambria Math</vt:lpstr>
      <vt:lpstr>Franklin Gothic Book</vt:lpstr>
      <vt:lpstr>Office Theme</vt:lpstr>
      <vt:lpstr>The Short Run: The Goods Market</vt:lpstr>
      <vt:lpstr>The Short Run</vt:lpstr>
      <vt:lpstr>Aggregate Output</vt:lpstr>
      <vt:lpstr>Consumption</vt:lpstr>
      <vt:lpstr>Investment</vt:lpstr>
      <vt:lpstr>Government Expenditure</vt:lpstr>
      <vt:lpstr>Exports and Imports</vt:lpstr>
      <vt:lpstr>Inventory Investment</vt:lpstr>
      <vt:lpstr>Aggregate Output and Income</vt:lpstr>
      <vt:lpstr>The Demand for Goods</vt:lpstr>
      <vt:lpstr>The Demand for Goods</vt:lpstr>
      <vt:lpstr>The Demand for Goods</vt:lpstr>
      <vt:lpstr>Modelling Consumption</vt:lpstr>
      <vt:lpstr>Modelling Consumption</vt:lpstr>
      <vt:lpstr>Modelling Consumption</vt:lpstr>
      <vt:lpstr>Modelling Consumption</vt:lpstr>
      <vt:lpstr>PowerPoint Presentation</vt:lpstr>
      <vt:lpstr>PowerPoint Presentation</vt:lpstr>
      <vt:lpstr>Solution to In-Class Poll</vt:lpstr>
      <vt:lpstr>Modelling Consumption</vt:lpstr>
      <vt:lpstr>Modelling Consumption</vt:lpstr>
      <vt:lpstr>Modelling Consumption</vt:lpstr>
      <vt:lpstr>Modelling Investment</vt:lpstr>
      <vt:lpstr>Modelling Government Expenditure</vt:lpstr>
      <vt:lpstr>Modelling Government Expenditure</vt:lpstr>
      <vt:lpstr>Determining Equilibrium Output: Math</vt:lpstr>
      <vt:lpstr>Determining Equilibrium Output: Math</vt:lpstr>
      <vt:lpstr>Determining Equilibrium Output: Math</vt:lpstr>
      <vt:lpstr>PowerPoint Presentation</vt:lpstr>
      <vt:lpstr>PowerPoint Presentation</vt:lpstr>
      <vt:lpstr>Solution to In-Class Poll</vt:lpstr>
      <vt:lpstr>The Multiplier</vt:lpstr>
      <vt:lpstr>Government Intervention</vt:lpstr>
      <vt:lpstr>Government Intervention</vt:lpstr>
      <vt:lpstr>Government Intervention</vt:lpstr>
      <vt:lpstr>PowerPoint Presentation</vt:lpstr>
      <vt:lpstr>PowerPoint Presentation</vt:lpstr>
      <vt:lpstr>Solution to In-Class Poll</vt:lpstr>
      <vt:lpstr>Balanced Budget</vt:lpstr>
      <vt:lpstr>Determining Equilibrium Output: Graph</vt:lpstr>
      <vt:lpstr>Determining Equilibrium Output: Graph</vt:lpstr>
      <vt:lpstr>Determining Equilibrium Output: Graph</vt:lpstr>
      <vt:lpstr>Determining Equilibrium Output: Graph</vt:lpstr>
      <vt:lpstr>Determining Equilibrium Output: Graph</vt:lpstr>
      <vt:lpstr>Determining Equilibrium Output: Graph</vt:lpstr>
      <vt:lpstr>Determining Equilibrium Output: Words</vt:lpstr>
      <vt:lpstr>Determining Equilibrium Output: Words</vt:lpstr>
      <vt:lpstr>Speed of Adjustments</vt:lpstr>
      <vt:lpstr>Keynes’ Method: Investment - Savings</vt:lpstr>
      <vt:lpstr>Keynes’ Method: Investment - Savings</vt:lpstr>
      <vt:lpstr>Keynes’ Method: Investment - Savings</vt:lpstr>
      <vt:lpstr>Keynes’ Method: Investment - Savings</vt:lpstr>
      <vt:lpstr>Keynes’ Method: Investment - Savings</vt:lpstr>
      <vt:lpstr>The Paradox of Thrift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Intermediate Price Theory</dc:title>
  <dc:creator>Brian Park</dc:creator>
  <cp:lastModifiedBy>Brian Park</cp:lastModifiedBy>
  <cp:revision>144</cp:revision>
  <dcterms:created xsi:type="dcterms:W3CDTF">2023-08-17T23:00:51Z</dcterms:created>
  <dcterms:modified xsi:type="dcterms:W3CDTF">2024-01-31T18:47:52Z</dcterms:modified>
</cp:coreProperties>
</file>