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4"/>
  </p:notesMasterIdLst>
  <p:sldIdLst>
    <p:sldId id="283" r:id="rId2"/>
    <p:sldId id="284" r:id="rId3"/>
    <p:sldId id="274" r:id="rId4"/>
    <p:sldId id="289" r:id="rId5"/>
    <p:sldId id="290" r:id="rId6"/>
    <p:sldId id="259" r:id="rId7"/>
    <p:sldId id="262" r:id="rId8"/>
    <p:sldId id="296" r:id="rId9"/>
    <p:sldId id="273" r:id="rId10"/>
    <p:sldId id="288" r:id="rId11"/>
    <p:sldId id="263" r:id="rId12"/>
    <p:sldId id="264" r:id="rId13"/>
    <p:sldId id="265" r:id="rId14"/>
    <p:sldId id="266" r:id="rId15"/>
    <p:sldId id="281" r:id="rId16"/>
    <p:sldId id="291" r:id="rId17"/>
    <p:sldId id="292" r:id="rId18"/>
    <p:sldId id="294" r:id="rId19"/>
    <p:sldId id="293" r:id="rId20"/>
    <p:sldId id="297" r:id="rId21"/>
    <p:sldId id="295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would you classify your knowledge in Excel?
https://www.polleverywhere.com/multiple_choice_polls/qHzWieX9Cu9FkrMVbgiCa?state=opened&amp;flow=Default&amp;onscreen=persist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513B9-C224-569C-500C-107AC9AE115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7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do you see yourself doing after graduating?
https://www.polleverywhere.com/free_text_polls/Ay6cnsPmCa3xTogYAi5RT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DCB20-D66C-5D59-8BE5-5611639EB18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Do you have any suggestions on what should be covered in the "Beyond Spreadsheets" portion?
https://www.polleverywhere.com/free_text_polls/aeo903UZ2Nx5h8yktxOne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6FA8A-D3B8-036F-019C-CBD0E69BF0B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5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BUSI 201</a:t>
            </a:r>
          </a:p>
          <a:p>
            <a:r>
              <a:rPr lang="en-US" sz="3200" dirty="0"/>
              <a:t>Business Data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Business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from the Monmouth College course catalog...</a:t>
            </a:r>
            <a:endParaRPr lang="en-US" sz="1200" dirty="0"/>
          </a:p>
          <a:p>
            <a:endParaRPr lang="en-US" sz="1200" dirty="0"/>
          </a:p>
          <a:p>
            <a:r>
              <a:rPr lang="en-US" dirty="0"/>
              <a:t>“An introduction to business problem solving using critical thinking skills to analyze data and solve real-life business problems. Problems will come from accounting, finance, marketing, management, and statistics. Students will use a variety of solving problems tools including intuition, pencil and paper, spreadsheets, etc..”</a:t>
            </a:r>
          </a:p>
          <a:p>
            <a:endParaRPr lang="en-US" sz="1200" dirty="0"/>
          </a:p>
          <a:p>
            <a:r>
              <a:rPr lang="en-US" dirty="0"/>
              <a:t>Primarily Spreadsheets, with a dash of Data Visualization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26006-DD48-5B80-F947-AD5DBEC5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66CD5-3830-FDF3-719C-CB6FAFFE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BA2A-C245-A3E7-2773-E71FA969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5E5C5-EFB4-17C8-7ACD-98F44347DCC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4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954E3-8076-A772-F00D-C9F5E845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AA81C-2444-38F9-A3F4-1159AE64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1137-2698-A9CF-63BE-EB1DBE25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7CD4E9-5117-EC9C-D60D-142E9730FF3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“BUSI 201”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12:30 PM ~ 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AE541C1-789A-90EB-EF38-D8110642D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85" y="1582947"/>
            <a:ext cx="4451230" cy="445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0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E5FC0-DE08-E9E6-B4BF-E9ACC696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6629"/>
            <a:ext cx="7886700" cy="4604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A483-206B-8314-FE82-825A73EB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46629"/>
            <a:ext cx="7886700" cy="4578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1B10-4363-7B01-92D5-A97CFD193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8841"/>
            <a:ext cx="7886700" cy="45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615C-3DF4-634F-DEB2-48BD773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Availability</a:t>
            </a:r>
            <a:br>
              <a:rPr lang="en-US" dirty="0"/>
            </a:br>
            <a:r>
              <a:rPr lang="en-US" dirty="0"/>
              <a:t>Indicator</a:t>
            </a:r>
          </a:p>
        </p:txBody>
      </p:sp>
      <p:pic>
        <p:nvPicPr>
          <p:cNvPr id="9" name="Picture Placeholder 8" descr="A sign on a wall&#10;&#10;Description automatically generated">
            <a:extLst>
              <a:ext uri="{FF2B5EF4-FFF2-40B4-BE49-F238E27FC236}">
                <a16:creationId xmlns:a16="http://schemas.microsoft.com/office/drawing/2014/main" id="{622B65F6-6D39-179A-48C4-9BF2D84A54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r="9575"/>
          <a:stretch>
            <a:fillRect/>
          </a:stretch>
        </p:blipFill>
        <p:spPr>
          <a:xfrm>
            <a:off x="4131200" y="1244112"/>
            <a:ext cx="4141532" cy="436025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38A4-B358-C6CE-BB88-88FE4E80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it displays </a:t>
            </a:r>
            <a:r>
              <a:rPr lang="en-US" dirty="0">
                <a:solidFill>
                  <a:srgbClr val="00B050"/>
                </a:solidFill>
              </a:rPr>
              <a:t>“Please Knock”</a:t>
            </a:r>
            <a:r>
              <a:rPr lang="en-US" dirty="0"/>
              <a:t>, that means that I am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at </a:t>
            </a:r>
            <a:r>
              <a:rPr lang="en-US" dirty="0">
                <a:solidFill>
                  <a:srgbClr val="0070C0"/>
                </a:solidFill>
              </a:rPr>
              <a:t>“Back Soon”</a:t>
            </a:r>
            <a:r>
              <a:rPr lang="en-US" dirty="0"/>
              <a:t>, it means that I have briefly left the office, but will be back soon.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see anything else, and need to talk, send me an email!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A1B7-AA3F-885D-08EA-BF51CBA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0EE8-CA12-C686-E701-5AB230AD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FC76-F6A8-D9DA-9949-AED9F5E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letter grades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Quizzes / Assignments: 40%</a:t>
            </a:r>
          </a:p>
          <a:p>
            <a:pPr lvl="1"/>
            <a:r>
              <a:rPr lang="en-US" dirty="0"/>
              <a:t>Midterm Exam: 20%</a:t>
            </a:r>
          </a:p>
          <a:p>
            <a:pPr lvl="1"/>
            <a:r>
              <a:rPr lang="en-US" dirty="0"/>
              <a:t>Final Exam: 30%</a:t>
            </a:r>
          </a:p>
          <a:p>
            <a:pPr lvl="1"/>
            <a:endParaRPr lang="en-US" sz="1200" dirty="0"/>
          </a:p>
          <a:p>
            <a:r>
              <a:rPr lang="en-US" dirty="0"/>
              <a:t>There are no predetermined “cutoff” points for letter grades.</a:t>
            </a:r>
          </a:p>
          <a:p>
            <a:pPr lvl="1"/>
            <a:endParaRPr lang="en-US" sz="1200" dirty="0"/>
          </a:p>
          <a:p>
            <a:r>
              <a:rPr lang="en-US" dirty="0"/>
              <a:t>The cutoffs will be updated as the semester progresses.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 /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exams; one midterm and a comprehensive final.</a:t>
            </a:r>
          </a:p>
          <a:p>
            <a:pPr lvl="1"/>
            <a:endParaRPr lang="en-US" sz="1200" dirty="0"/>
          </a:p>
          <a:p>
            <a:r>
              <a:rPr lang="en-US" dirty="0"/>
              <a:t>No “review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5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an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 textbook required for this course.</a:t>
            </a:r>
          </a:p>
          <a:p>
            <a:endParaRPr lang="en-US" sz="1200" dirty="0"/>
          </a:p>
          <a:p>
            <a:r>
              <a:rPr lang="en-US" dirty="0"/>
              <a:t>Will be handing out material and worksheets throughout the semester.</a:t>
            </a:r>
          </a:p>
          <a:p>
            <a:endParaRPr lang="en-US" sz="1200" dirty="0"/>
          </a:p>
          <a:p>
            <a:r>
              <a:rPr lang="en-US" dirty="0"/>
              <a:t>Most of this will be hands-on!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D81AA184-A5F2-4004-8F17-0F8EF3CAC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1" y="1825625"/>
            <a:ext cx="6930637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0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83D00A5C-317D-68B3-6FCC-C8F6E05C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78" y="1825625"/>
            <a:ext cx="683504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27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04AD65EC-F4A5-847F-44D7-B2A291B6C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48" y="1825625"/>
            <a:ext cx="691990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10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B44A2919-84E7-A05B-056F-E9A0AC04C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59" y="1825625"/>
            <a:ext cx="6940482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0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92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8E21D-1D5C-6A1F-50A6-9474C819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3CB42-A781-92D0-3907-4C2533B0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18626-C9F2-911E-21EB-22D5558F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807BEC-079D-1CBF-89E0-ABB228FAD7C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89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next few classes will be devoted to the basic functions of Excel.</a:t>
            </a:r>
          </a:p>
          <a:p>
            <a:endParaRPr lang="en-US" sz="1200" dirty="0"/>
          </a:p>
          <a:p>
            <a:r>
              <a:rPr lang="en-US" dirty="0"/>
              <a:t>Topics to be covered include…</a:t>
            </a:r>
          </a:p>
          <a:p>
            <a:pPr lvl="1"/>
            <a:r>
              <a:rPr lang="en-US" dirty="0"/>
              <a:t>The concept of Columns, Rows, and Cells</a:t>
            </a:r>
          </a:p>
          <a:p>
            <a:pPr lvl="1"/>
            <a:r>
              <a:rPr lang="en-US" dirty="0"/>
              <a:t>Inserting Data in Cells</a:t>
            </a:r>
          </a:p>
          <a:p>
            <a:pPr lvl="1"/>
            <a:r>
              <a:rPr lang="en-US" dirty="0"/>
              <a:t>Selecting Multiple Cells at once</a:t>
            </a:r>
          </a:p>
          <a:p>
            <a:pPr lvl="1"/>
            <a:r>
              <a:rPr lang="en-US" dirty="0"/>
              <a:t>Adding New Sheets in a Workbook</a:t>
            </a:r>
          </a:p>
          <a:p>
            <a:pPr lvl="1"/>
            <a:r>
              <a:rPr lang="en-US" dirty="0"/>
              <a:t>Fonts and Sizes</a:t>
            </a:r>
          </a:p>
          <a:p>
            <a:pPr lvl="1"/>
            <a:r>
              <a:rPr lang="en-US" dirty="0"/>
              <a:t>Formats</a:t>
            </a:r>
          </a:p>
          <a:p>
            <a:pPr lvl="1"/>
            <a:endParaRPr lang="en-US" dirty="0"/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7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ca75307-7f01-4e99-9149-62a352a80ab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0327afe-fbb5-438a-b780-c071a06edb5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1d25c79-2786-4e60-9746-897a97d5825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334</TotalTime>
  <Words>968</Words>
  <Application>Microsoft Office PowerPoint</Application>
  <PresentationFormat>On-screen Show (4:3)</PresentationFormat>
  <Paragraphs>174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Franklin Gothic Book</vt:lpstr>
      <vt:lpstr>Office Theme</vt:lpstr>
      <vt:lpstr>Introduction</vt:lpstr>
      <vt:lpstr>What is Business Data Analysis</vt:lpstr>
      <vt:lpstr>PollEverywhere</vt:lpstr>
      <vt:lpstr>PowerPoint Presentation</vt:lpstr>
      <vt:lpstr>PowerPoint Presentation</vt:lpstr>
      <vt:lpstr>About Me</vt:lpstr>
      <vt:lpstr>Contact Information</vt:lpstr>
      <vt:lpstr>Office Hours</vt:lpstr>
      <vt:lpstr>Office Hours</vt:lpstr>
      <vt:lpstr>Availability Indicator</vt:lpstr>
      <vt:lpstr>Grades</vt:lpstr>
      <vt:lpstr>Attendance</vt:lpstr>
      <vt:lpstr>Quizzes / Homework</vt:lpstr>
      <vt:lpstr>Exams</vt:lpstr>
      <vt:lpstr>Textbook</vt:lpstr>
      <vt:lpstr>The “Beyond Spreadsheets” Portion</vt:lpstr>
      <vt:lpstr>The “Beyond Spreadsheets” Portion</vt:lpstr>
      <vt:lpstr>The “Beyond Spreadsheets” Portion</vt:lpstr>
      <vt:lpstr>The “Beyond Spreadsheets” Portion</vt:lpstr>
      <vt:lpstr>PollEverywhere</vt:lpstr>
      <vt:lpstr>PowerPoint Presentation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18</cp:revision>
  <dcterms:created xsi:type="dcterms:W3CDTF">2023-08-17T23:00:51Z</dcterms:created>
  <dcterms:modified xsi:type="dcterms:W3CDTF">2023-08-23T16:52:30Z</dcterms:modified>
</cp:coreProperties>
</file>