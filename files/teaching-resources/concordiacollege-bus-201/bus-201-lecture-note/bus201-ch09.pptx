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35"/>
  </p:notesMasterIdLst>
  <p:sldIdLst>
    <p:sldId id="256" r:id="rId2"/>
    <p:sldId id="692" r:id="rId3"/>
    <p:sldId id="523" r:id="rId4"/>
    <p:sldId id="605" r:id="rId5"/>
    <p:sldId id="610" r:id="rId6"/>
    <p:sldId id="670" r:id="rId7"/>
    <p:sldId id="671" r:id="rId8"/>
    <p:sldId id="672" r:id="rId9"/>
    <p:sldId id="673" r:id="rId10"/>
    <p:sldId id="650" r:id="rId11"/>
    <p:sldId id="674" r:id="rId12"/>
    <p:sldId id="675" r:id="rId13"/>
    <p:sldId id="676" r:id="rId14"/>
    <p:sldId id="685" r:id="rId15"/>
    <p:sldId id="677" r:id="rId16"/>
    <p:sldId id="606" r:id="rId17"/>
    <p:sldId id="678" r:id="rId18"/>
    <p:sldId id="679" r:id="rId19"/>
    <p:sldId id="680" r:id="rId20"/>
    <p:sldId id="681" r:id="rId21"/>
    <p:sldId id="682" r:id="rId22"/>
    <p:sldId id="683" r:id="rId23"/>
    <p:sldId id="684" r:id="rId24"/>
    <p:sldId id="588" r:id="rId25"/>
    <p:sldId id="669" r:id="rId26"/>
    <p:sldId id="686" r:id="rId27"/>
    <p:sldId id="688" r:id="rId28"/>
    <p:sldId id="687" r:id="rId29"/>
    <p:sldId id="689" r:id="rId30"/>
    <p:sldId id="690" r:id="rId31"/>
    <p:sldId id="691" r:id="rId32"/>
    <p:sldId id="659" r:id="rId33"/>
    <p:sldId id="604" r:id="rId34"/>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7122C"/>
    <a:srgbClr val="FDB913"/>
    <a:srgbClr val="B8964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604" autoAdjust="0"/>
    <p:restoredTop sz="94660"/>
  </p:normalViewPr>
  <p:slideViewPr>
    <p:cSldViewPr snapToGrid="0" snapToObjects="1">
      <p:cViewPr varScale="1">
        <p:scale>
          <a:sx n="91" d="100"/>
          <a:sy n="91" d="100"/>
        </p:scale>
        <p:origin x="168"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359EC7-19C7-4638-A61A-0E2B59861576}" type="datetimeFigureOut">
              <a:rPr lang="en-US" smtClean="0"/>
              <a:t>10/10/2025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87AAC7-CF25-414B-93E7-2A61E431E831}" type="slidenum">
              <a:rPr lang="en-US" smtClean="0"/>
              <a:t>‹#›</a:t>
            </a:fld>
            <a:endParaRPr lang="en-US"/>
          </a:p>
        </p:txBody>
      </p:sp>
    </p:spTree>
    <p:extLst>
      <p:ext uri="{BB962C8B-B14F-4D97-AF65-F5344CB8AC3E}">
        <p14:creationId xmlns:p14="http://schemas.microsoft.com/office/powerpoint/2010/main" val="4102823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19.png"/><Relationship Id="rId7" Type="http://schemas.openxmlformats.org/officeDocument/2006/relationships/image" Target="../media/image24.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9"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image" Target="../media/image280.png"/><Relationship Id="rId1" Type="http://schemas.openxmlformats.org/officeDocument/2006/relationships/slideLayout" Target="../slideLayouts/slideLayout2.xml"/><Relationship Id="rId4" Type="http://schemas.openxmlformats.org/officeDocument/2006/relationships/image" Target="../media/image300.png"/></Relationships>
</file>

<file path=ppt/slides/_rels/slide1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30.png"/><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1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9.png"/></Relationships>
</file>

<file path=ppt/slides/_rels/slide2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37.png"/><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42.png"/></Relationships>
</file>

<file path=ppt/slides/_rels/slide2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2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77122C"/>
        </a:solidFill>
        <a:effectLst/>
      </p:bgPr>
    </p:bg>
    <p:spTree>
      <p:nvGrpSpPr>
        <p:cNvPr id="1" name=""/>
        <p:cNvGrpSpPr/>
        <p:nvPr/>
      </p:nvGrpSpPr>
      <p:grpSpPr>
        <a:xfrm>
          <a:off x="0" y="0"/>
          <a:ext cx="0" cy="0"/>
          <a:chOff x="0" y="0"/>
          <a:chExt cx="0" cy="0"/>
        </a:xfrm>
      </p:grpSpPr>
      <p:sp>
        <p:nvSpPr>
          <p:cNvPr id="2" name="TextBox 1"/>
          <p:cNvSpPr txBox="1"/>
          <p:nvPr/>
        </p:nvSpPr>
        <p:spPr>
          <a:xfrm>
            <a:off x="0" y="2650659"/>
            <a:ext cx="12188824" cy="830997"/>
          </a:xfrm>
          <a:prstGeom prst="rect">
            <a:avLst/>
          </a:prstGeom>
          <a:noFill/>
        </p:spPr>
        <p:txBody>
          <a:bodyPr wrap="square">
            <a:spAutoFit/>
          </a:bodyPr>
          <a:lstStyle/>
          <a:p>
            <a:pPr algn="ctr">
              <a:defRPr sz="4400" b="1">
                <a:solidFill>
                  <a:srgbClr val="FDB913"/>
                </a:solidFill>
                <a:latin typeface="Garamond"/>
              </a:defRPr>
            </a:pPr>
            <a:r>
              <a:rPr lang="en-US" sz="4800" dirty="0"/>
              <a:t>P</a:t>
            </a:r>
            <a:r>
              <a:rPr lang="en-US" sz="4000" dirty="0"/>
              <a:t>RINCIPLES OF </a:t>
            </a:r>
            <a:r>
              <a:rPr lang="en-US" sz="4800" dirty="0"/>
              <a:t>G</a:t>
            </a:r>
            <a:r>
              <a:rPr lang="en-US" sz="4000" dirty="0"/>
              <a:t>LOBAL </a:t>
            </a:r>
            <a:r>
              <a:rPr lang="en-US" sz="4800" dirty="0"/>
              <a:t>E</a:t>
            </a:r>
            <a:r>
              <a:rPr lang="en-US" sz="4000" dirty="0"/>
              <a:t>CONOMICS</a:t>
            </a:r>
            <a:endParaRPr sz="4000" dirty="0"/>
          </a:p>
        </p:txBody>
      </p:sp>
      <p:sp>
        <p:nvSpPr>
          <p:cNvPr id="3" name="TextBox 2"/>
          <p:cNvSpPr txBox="1"/>
          <p:nvPr/>
        </p:nvSpPr>
        <p:spPr>
          <a:xfrm>
            <a:off x="-1" y="3657600"/>
            <a:ext cx="12188825" cy="461665"/>
          </a:xfrm>
          <a:prstGeom prst="rect">
            <a:avLst/>
          </a:prstGeom>
          <a:noFill/>
        </p:spPr>
        <p:txBody>
          <a:bodyPr wrap="square">
            <a:spAutoFit/>
          </a:bodyPr>
          <a:lstStyle/>
          <a:p>
            <a:pPr algn="ctr">
              <a:defRPr sz="2400">
                <a:solidFill>
                  <a:srgbClr val="FFFFFF"/>
                </a:solidFill>
                <a:latin typeface="Garamond"/>
              </a:defRPr>
            </a:pPr>
            <a:r>
              <a:rPr lang="en-US" dirty="0"/>
              <a:t>Chapter 9: International Trade</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3258F8-4A9B-407E-711A-29C22284995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4A31620-AFF8-6589-490A-F9FEE605458A}"/>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A90F4E9-6499-BD9E-258E-8F1B7400CA0F}"/>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Global Trade</a:t>
            </a:r>
          </a:p>
        </p:txBody>
      </p:sp>
      <p:sp>
        <p:nvSpPr>
          <p:cNvPr id="5" name="Rectangle 4">
            <a:extLst>
              <a:ext uri="{FF2B5EF4-FFF2-40B4-BE49-F238E27FC236}">
                <a16:creationId xmlns:a16="http://schemas.microsoft.com/office/drawing/2014/main" id="{E8CE63C6-0B60-7662-A94C-C7E95FFD6543}"/>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2843CA9C-C808-89AA-7464-9C08DC3ED8F9}"/>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CED17DCE-114B-A3CA-9B5C-FB535D681849}"/>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2</a:t>
            </a:fld>
            <a:r>
              <a:rPr lang="en-US" b="1" dirty="0">
                <a:solidFill>
                  <a:schemeClr val="bg1"/>
                </a:solidFill>
                <a:latin typeface="Garamond" panose="02020404030301010803" pitchFamily="18" charset="0"/>
              </a:rPr>
              <a:t> </a:t>
            </a:r>
          </a:p>
        </p:txBody>
      </p:sp>
      <p:sp>
        <p:nvSpPr>
          <p:cNvPr id="3" name="Content Placeholder 2">
            <a:extLst>
              <a:ext uri="{FF2B5EF4-FFF2-40B4-BE49-F238E27FC236}">
                <a16:creationId xmlns:a16="http://schemas.microsoft.com/office/drawing/2014/main" id="{16FB5C9C-BE5F-04BE-B14C-D0C1D556D717}"/>
              </a:ext>
            </a:extLst>
          </p:cNvPr>
          <p:cNvSpPr>
            <a:spLocks noGrp="1"/>
          </p:cNvSpPr>
          <p:nvPr>
            <p:ph idx="1"/>
          </p:nvPr>
        </p:nvSpPr>
        <p:spPr>
          <a:xfrm>
            <a:off x="4271853" y="1300900"/>
            <a:ext cx="7375201" cy="5081046"/>
          </a:xfrm>
        </p:spPr>
        <p:txBody>
          <a:bodyPr>
            <a:normAutofit/>
          </a:bodyPr>
          <a:lstStyle/>
          <a:p>
            <a:pPr>
              <a:spcBef>
                <a:spcPts val="576"/>
              </a:spcBef>
              <a:defRPr sz="2000">
                <a:solidFill>
                  <a:srgbClr val="000000"/>
                </a:solidFill>
                <a:latin typeface="Garamond"/>
              </a:defRPr>
            </a:pPr>
            <a:r>
              <a:rPr lang="en-US" altLang="zh-TW" sz="2400" dirty="0"/>
              <a:t>Global trade reached $33 trillion in 2024, according to the World Trade Organization.</a:t>
            </a:r>
          </a:p>
          <a:p>
            <a:pPr lvl="3">
              <a:spcBef>
                <a:spcPts val="576"/>
              </a:spcBef>
              <a:defRPr sz="2000">
                <a:solidFill>
                  <a:srgbClr val="000000"/>
                </a:solidFill>
                <a:latin typeface="Garamond"/>
              </a:defRPr>
            </a:pPr>
            <a:endParaRPr lang="en-US" altLang="zh-TW" sz="800" dirty="0"/>
          </a:p>
          <a:p>
            <a:pPr>
              <a:spcBef>
                <a:spcPts val="576"/>
              </a:spcBef>
              <a:defRPr sz="2000">
                <a:solidFill>
                  <a:srgbClr val="000000"/>
                </a:solidFill>
                <a:latin typeface="Garamond"/>
              </a:defRPr>
            </a:pPr>
            <a:r>
              <a:rPr lang="en-US" altLang="zh-TW" sz="2400" dirty="0"/>
              <a:t>This figure is roughly 43 times the level recorded in 1950.</a:t>
            </a:r>
          </a:p>
          <a:p>
            <a:pPr marL="1371600" lvl="3" indent="0">
              <a:spcBef>
                <a:spcPts val="576"/>
              </a:spcBef>
              <a:buNone/>
              <a:defRPr sz="2000">
                <a:solidFill>
                  <a:srgbClr val="000000"/>
                </a:solidFill>
                <a:latin typeface="Garamond"/>
              </a:defRPr>
            </a:pPr>
            <a:endParaRPr lang="en-US" altLang="zh-TW" sz="1200" dirty="0"/>
          </a:p>
          <a:p>
            <a:pPr>
              <a:spcBef>
                <a:spcPts val="576"/>
              </a:spcBef>
              <a:defRPr sz="2000">
                <a:solidFill>
                  <a:srgbClr val="000000"/>
                </a:solidFill>
                <a:latin typeface="Garamond"/>
              </a:defRPr>
            </a:pPr>
            <a:r>
              <a:rPr lang="en-US" altLang="zh-TW" sz="2400" dirty="0"/>
              <a:t>The average value of exports as a share of a country’s GDP is now about 25 percent.</a:t>
            </a:r>
          </a:p>
          <a:p>
            <a:pPr lvl="1">
              <a:spcBef>
                <a:spcPts val="576"/>
              </a:spcBef>
              <a:defRPr sz="2000">
                <a:solidFill>
                  <a:srgbClr val="000000"/>
                </a:solidFill>
                <a:latin typeface="Garamond"/>
              </a:defRPr>
            </a:pPr>
            <a:r>
              <a:rPr lang="en-US" altLang="zh-TW" sz="2000" dirty="0"/>
              <a:t>For the U.S, exports account for roughly 12 percent of GDP.</a:t>
            </a:r>
          </a:p>
          <a:p>
            <a:pPr lvl="1">
              <a:spcBef>
                <a:spcPts val="576"/>
              </a:spcBef>
              <a:defRPr sz="2000">
                <a:solidFill>
                  <a:srgbClr val="000000"/>
                </a:solidFill>
                <a:latin typeface="Garamond"/>
              </a:defRPr>
            </a:pPr>
            <a:r>
              <a:rPr lang="en-US" altLang="zh-TW" sz="2000" dirty="0"/>
              <a:t>For more export-oriented economies such as Vietnam, that figure is closer to 40 percent.</a:t>
            </a:r>
          </a:p>
          <a:p>
            <a:pPr lvl="3">
              <a:spcBef>
                <a:spcPts val="576"/>
              </a:spcBef>
              <a:defRPr sz="2000">
                <a:solidFill>
                  <a:srgbClr val="000000"/>
                </a:solidFill>
                <a:latin typeface="Garamond"/>
              </a:defRPr>
            </a:pPr>
            <a:endParaRPr lang="en-US" altLang="zh-TW" sz="1200" dirty="0"/>
          </a:p>
          <a:p>
            <a:pPr>
              <a:spcBef>
                <a:spcPts val="576"/>
              </a:spcBef>
              <a:defRPr sz="2000">
                <a:solidFill>
                  <a:srgbClr val="000000"/>
                </a:solidFill>
                <a:latin typeface="Garamond"/>
              </a:defRPr>
            </a:pPr>
            <a:r>
              <a:rPr lang="en-US" altLang="zh-TW" sz="2400" dirty="0"/>
              <a:t>Trade has become central to global prosperity, amplifying both its gains and vulnerabilities.</a:t>
            </a:r>
          </a:p>
        </p:txBody>
      </p:sp>
      <p:pic>
        <p:nvPicPr>
          <p:cNvPr id="10" name="Picture 2" descr="No photo description available.">
            <a:extLst>
              <a:ext uri="{FF2B5EF4-FFF2-40B4-BE49-F238E27FC236}">
                <a16:creationId xmlns:a16="http://schemas.microsoft.com/office/drawing/2014/main" id="{CF1A364C-9E97-4FC6-8C96-DE8A00C9AB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199" y="1427532"/>
            <a:ext cx="3656541" cy="457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8790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fade">
                                      <p:cBhvr>
                                        <p:cTn id="25" dur="500"/>
                                        <p:tgtEl>
                                          <p:spTgt spid="3">
                                            <p:txEl>
                                              <p:pRg st="5" end="5"/>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6" end="6"/>
                                            </p:txEl>
                                          </p:spTgt>
                                        </p:tgtEl>
                                        <p:attrNameLst>
                                          <p:attrName>style.visibility</p:attrName>
                                        </p:attrNameLst>
                                      </p:cBhvr>
                                      <p:to>
                                        <p:strVal val="visible"/>
                                      </p:to>
                                    </p:set>
                                    <p:animEffect transition="in" filter="fade">
                                      <p:cBhvr>
                                        <p:cTn id="30" dur="500"/>
                                        <p:tgtEl>
                                          <p:spTgt spid="3">
                                            <p:txEl>
                                              <p:pRg st="6" end="6"/>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9B9BE-AF65-5659-9D4E-E04A18872DC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208B13E-511B-7802-FB00-A17B1BEB3217}"/>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B6BD40-85BE-D3EA-637B-C1238F13E7B8}"/>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The iPhone Supply Chain: Trade in One Product</a:t>
            </a:r>
          </a:p>
        </p:txBody>
      </p:sp>
      <p:sp>
        <p:nvSpPr>
          <p:cNvPr id="5" name="Rectangle 4">
            <a:extLst>
              <a:ext uri="{FF2B5EF4-FFF2-40B4-BE49-F238E27FC236}">
                <a16:creationId xmlns:a16="http://schemas.microsoft.com/office/drawing/2014/main" id="{3A452344-DCCD-395D-9C3D-5C5B98D50F91}"/>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03ADBDB3-971B-DFC3-D0AC-9C30D74233C3}"/>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D58A03A3-84F3-99D2-969F-D527BD3A8D13}"/>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3</a:t>
            </a:fld>
            <a:r>
              <a:rPr lang="en-US" b="1" dirty="0">
                <a:solidFill>
                  <a:schemeClr val="bg1"/>
                </a:solidFill>
                <a:latin typeface="Garamond" panose="02020404030301010803" pitchFamily="18" charset="0"/>
              </a:rPr>
              <a:t> </a:t>
            </a:r>
          </a:p>
        </p:txBody>
      </p:sp>
      <p:pic>
        <p:nvPicPr>
          <p:cNvPr id="8" name="Picture 2" descr="map">
            <a:extLst>
              <a:ext uri="{FF2B5EF4-FFF2-40B4-BE49-F238E27FC236}">
                <a16:creationId xmlns:a16="http://schemas.microsoft.com/office/drawing/2014/main" id="{5E76CF04-BF89-D9EF-AF79-AC36CB1BA6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771" y="1427532"/>
            <a:ext cx="6784975" cy="4572000"/>
          </a:xfrm>
          <a:prstGeom prst="rect">
            <a:avLst/>
          </a:prstGeom>
          <a:noFill/>
          <a:extLst>
            <a:ext uri="{909E8E84-426E-40DD-AFC4-6F175D3DCCD1}">
              <a14:hiddenFill xmlns:a14="http://schemas.microsoft.com/office/drawing/2010/main">
                <a:solidFill>
                  <a:srgbClr val="FFFFFF"/>
                </a:solidFill>
              </a14:hiddenFill>
            </a:ext>
          </a:extLst>
        </p:spPr>
      </p:pic>
      <p:sp>
        <p:nvSpPr>
          <p:cNvPr id="11" name="Content Placeholder 2">
            <a:extLst>
              <a:ext uri="{FF2B5EF4-FFF2-40B4-BE49-F238E27FC236}">
                <a16:creationId xmlns:a16="http://schemas.microsoft.com/office/drawing/2014/main" id="{7BA97508-41F4-7776-29CC-925A837E3786}"/>
              </a:ext>
            </a:extLst>
          </p:cNvPr>
          <p:cNvSpPr>
            <a:spLocks noGrp="1"/>
          </p:cNvSpPr>
          <p:nvPr>
            <p:ph idx="1"/>
          </p:nvPr>
        </p:nvSpPr>
        <p:spPr>
          <a:xfrm>
            <a:off x="7447823" y="1300900"/>
            <a:ext cx="4199231" cy="5081046"/>
          </a:xfrm>
        </p:spPr>
        <p:txBody>
          <a:bodyPr>
            <a:normAutofit/>
          </a:bodyPr>
          <a:lstStyle/>
          <a:p>
            <a:pPr>
              <a:spcBef>
                <a:spcPts val="576"/>
              </a:spcBef>
              <a:defRPr sz="2000">
                <a:solidFill>
                  <a:srgbClr val="000000"/>
                </a:solidFill>
                <a:latin typeface="Garamond"/>
              </a:defRPr>
            </a:pPr>
            <a:r>
              <a:rPr lang="en-US" altLang="zh-TW" sz="2400" dirty="0"/>
              <a:t>Modern trade is no longer just about goods crossing borders.</a:t>
            </a:r>
          </a:p>
          <a:p>
            <a:pPr lvl="3">
              <a:spcBef>
                <a:spcPts val="576"/>
              </a:spcBef>
              <a:defRPr sz="2000">
                <a:solidFill>
                  <a:srgbClr val="000000"/>
                </a:solidFill>
                <a:latin typeface="Garamond"/>
              </a:defRPr>
            </a:pPr>
            <a:endParaRPr lang="en-US" altLang="zh-TW" sz="800" dirty="0"/>
          </a:p>
          <a:p>
            <a:pPr>
              <a:spcBef>
                <a:spcPts val="576"/>
              </a:spcBef>
              <a:defRPr sz="2000">
                <a:solidFill>
                  <a:srgbClr val="000000"/>
                </a:solidFill>
                <a:latin typeface="Garamond"/>
              </a:defRPr>
            </a:pPr>
            <a:r>
              <a:rPr lang="en-US" altLang="zh-TW" sz="2400" dirty="0"/>
              <a:t>Entire value chains now cross borders multiple times in the production of a single product.</a:t>
            </a:r>
          </a:p>
          <a:p>
            <a:pPr lvl="3">
              <a:spcBef>
                <a:spcPts val="576"/>
              </a:spcBef>
              <a:defRPr sz="2000">
                <a:solidFill>
                  <a:srgbClr val="000000"/>
                </a:solidFill>
                <a:latin typeface="Garamond"/>
              </a:defRPr>
            </a:pPr>
            <a:endParaRPr lang="en-US" altLang="zh-TW" sz="800" dirty="0"/>
          </a:p>
          <a:p>
            <a:pPr>
              <a:spcBef>
                <a:spcPts val="576"/>
              </a:spcBef>
              <a:defRPr sz="2000">
                <a:solidFill>
                  <a:srgbClr val="000000"/>
                </a:solidFill>
                <a:latin typeface="Garamond"/>
              </a:defRPr>
            </a:pPr>
            <a:r>
              <a:rPr lang="en-US" altLang="zh-TW" sz="2400" dirty="0"/>
              <a:t>The iPhone alone depends on 30 or more countries, each contributing parts, materials, or assembly.</a:t>
            </a:r>
          </a:p>
          <a:p>
            <a:pPr lvl="3">
              <a:spcBef>
                <a:spcPts val="576"/>
              </a:spcBef>
              <a:defRPr sz="2000">
                <a:solidFill>
                  <a:srgbClr val="000000"/>
                </a:solidFill>
                <a:latin typeface="Garamond"/>
              </a:defRPr>
            </a:pPr>
            <a:endParaRPr lang="en-US" altLang="zh-TW" sz="800" dirty="0"/>
          </a:p>
          <a:p>
            <a:pPr>
              <a:spcBef>
                <a:spcPts val="576"/>
              </a:spcBef>
              <a:defRPr sz="2000">
                <a:solidFill>
                  <a:srgbClr val="000000"/>
                </a:solidFill>
                <a:latin typeface="Garamond"/>
              </a:defRPr>
            </a:pPr>
            <a:r>
              <a:rPr lang="en-US" altLang="zh-TW" sz="2400" dirty="0"/>
              <a:t>Every product we use reflects international interdependence.</a:t>
            </a:r>
          </a:p>
        </p:txBody>
      </p:sp>
    </p:spTree>
    <p:extLst>
      <p:ext uri="{BB962C8B-B14F-4D97-AF65-F5344CB8AC3E}">
        <p14:creationId xmlns:p14="http://schemas.microsoft.com/office/powerpoint/2010/main" val="4031991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500"/>
                                        <p:tgtEl>
                                          <p:spTgt spid="11">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1">
                                            <p:txEl>
                                              <p:pRg st="2" end="2"/>
                                            </p:txEl>
                                          </p:spTgt>
                                        </p:tgtEl>
                                        <p:attrNameLst>
                                          <p:attrName>style.visibility</p:attrName>
                                        </p:attrNameLst>
                                      </p:cBhvr>
                                      <p:to>
                                        <p:strVal val="visible"/>
                                      </p:to>
                                    </p:set>
                                    <p:animEffect transition="in" filter="fade">
                                      <p:cBhvr>
                                        <p:cTn id="15" dur="500"/>
                                        <p:tgtEl>
                                          <p:spTgt spid="11">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1">
                                            <p:txEl>
                                              <p:pRg st="4" end="4"/>
                                            </p:txEl>
                                          </p:spTgt>
                                        </p:tgtEl>
                                        <p:attrNameLst>
                                          <p:attrName>style.visibility</p:attrName>
                                        </p:attrNameLst>
                                      </p:cBhvr>
                                      <p:to>
                                        <p:strVal val="visible"/>
                                      </p:to>
                                    </p:set>
                                    <p:animEffect transition="in" filter="fade">
                                      <p:cBhvr>
                                        <p:cTn id="20" dur="500"/>
                                        <p:tgtEl>
                                          <p:spTgt spid="11">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1">
                                            <p:txEl>
                                              <p:pRg st="6" end="6"/>
                                            </p:txEl>
                                          </p:spTgt>
                                        </p:tgtEl>
                                        <p:attrNameLst>
                                          <p:attrName>style.visibility</p:attrName>
                                        </p:attrNameLst>
                                      </p:cBhvr>
                                      <p:to>
                                        <p:strVal val="visible"/>
                                      </p:to>
                                    </p:set>
                                    <p:animEffect transition="in" filter="fade">
                                      <p:cBhvr>
                                        <p:cTn id="25" dur="500"/>
                                        <p:tgtEl>
                                          <p:spTgt spid="1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77122C"/>
        </a:solidFill>
        <a:effectLst/>
      </p:bgPr>
    </p:bg>
    <p:spTree>
      <p:nvGrpSpPr>
        <p:cNvPr id="1" name="">
          <a:extLst>
            <a:ext uri="{FF2B5EF4-FFF2-40B4-BE49-F238E27FC236}">
              <a16:creationId xmlns:a16="http://schemas.microsoft.com/office/drawing/2014/main" id="{45C2379D-B54E-B460-E551-DDE0543DCF4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D85D3AC-BBCE-7F35-C811-1E1A3670D9D9}"/>
              </a:ext>
            </a:extLst>
          </p:cNvPr>
          <p:cNvSpPr txBox="1"/>
          <p:nvPr/>
        </p:nvSpPr>
        <p:spPr>
          <a:xfrm>
            <a:off x="1" y="3013501"/>
            <a:ext cx="12188824" cy="830997"/>
          </a:xfrm>
          <a:prstGeom prst="rect">
            <a:avLst/>
          </a:prstGeom>
          <a:noFill/>
        </p:spPr>
        <p:txBody>
          <a:bodyPr wrap="square">
            <a:spAutoFit/>
          </a:bodyPr>
          <a:lstStyle/>
          <a:p>
            <a:pPr algn="ctr">
              <a:defRPr sz="4400" b="1">
                <a:solidFill>
                  <a:srgbClr val="FDB913"/>
                </a:solidFill>
                <a:latin typeface="Garamond"/>
              </a:defRPr>
            </a:pPr>
            <a:r>
              <a:rPr lang="en-US" sz="4800" dirty="0">
                <a:solidFill>
                  <a:schemeClr val="bg1"/>
                </a:solidFill>
              </a:rPr>
              <a:t>The Determinants of Trade</a:t>
            </a:r>
            <a:endParaRPr sz="4000" dirty="0">
              <a:solidFill>
                <a:schemeClr val="bg1"/>
              </a:solidFill>
            </a:endParaRPr>
          </a:p>
        </p:txBody>
      </p:sp>
    </p:spTree>
    <p:extLst>
      <p:ext uri="{BB962C8B-B14F-4D97-AF65-F5344CB8AC3E}">
        <p14:creationId xmlns:p14="http://schemas.microsoft.com/office/powerpoint/2010/main" val="4277117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3552E-60A9-4CB4-11AD-2EE9B43D02F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DEBB2E8-11E4-A468-C2D0-0C629AD26605}"/>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04A75D-7758-41BB-C0C1-B7F9A3A9A359}"/>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The Closed Market: Autarky</a:t>
            </a:r>
          </a:p>
        </p:txBody>
      </p:sp>
      <p:sp>
        <p:nvSpPr>
          <p:cNvPr id="5" name="Rectangle 4">
            <a:extLst>
              <a:ext uri="{FF2B5EF4-FFF2-40B4-BE49-F238E27FC236}">
                <a16:creationId xmlns:a16="http://schemas.microsoft.com/office/drawing/2014/main" id="{C58C9AC8-4834-C5B2-51AE-D98A6E22239A}"/>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B968B526-8F45-FD60-E34A-6C5464C38F2E}"/>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44FA72DA-5ED9-820A-CB24-9BF94527BC71}"/>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5</a:t>
            </a:fld>
            <a:r>
              <a:rPr lang="en-US" b="1" dirty="0">
                <a:solidFill>
                  <a:schemeClr val="bg1"/>
                </a:solidFill>
                <a:latin typeface="Garamond" panose="02020404030301010803" pitchFamily="18" charset="0"/>
              </a:rPr>
              <a:t> </a:t>
            </a:r>
          </a:p>
        </p:txBody>
      </p:sp>
      <p:sp>
        <p:nvSpPr>
          <p:cNvPr id="3" name="Content Placeholder 2">
            <a:extLst>
              <a:ext uri="{FF2B5EF4-FFF2-40B4-BE49-F238E27FC236}">
                <a16:creationId xmlns:a16="http://schemas.microsoft.com/office/drawing/2014/main" id="{6F1D2B37-43C3-C832-24C2-80102EF27CAF}"/>
              </a:ext>
            </a:extLst>
          </p:cNvPr>
          <p:cNvSpPr>
            <a:spLocks noGrp="1"/>
          </p:cNvSpPr>
          <p:nvPr>
            <p:ph idx="1"/>
          </p:nvPr>
        </p:nvSpPr>
        <p:spPr>
          <a:xfrm>
            <a:off x="5029199" y="1300900"/>
            <a:ext cx="6702428" cy="4937975"/>
          </a:xfrm>
        </p:spPr>
        <p:txBody>
          <a:bodyPr>
            <a:normAutofit/>
          </a:bodyPr>
          <a:lstStyle/>
          <a:p>
            <a:pPr>
              <a:spcBef>
                <a:spcPts val="576"/>
              </a:spcBef>
              <a:defRPr sz="2000">
                <a:solidFill>
                  <a:srgbClr val="000000"/>
                </a:solidFill>
                <a:latin typeface="Garamond"/>
              </a:defRPr>
            </a:pPr>
            <a:r>
              <a:rPr lang="en-US" altLang="zh-TW" sz="2400" dirty="0"/>
              <a:t>Consider a closed market with no trade where only domestic buyers and sellers participate in the market.</a:t>
            </a:r>
          </a:p>
          <a:p>
            <a:pPr lvl="3">
              <a:spcBef>
                <a:spcPts val="576"/>
              </a:spcBef>
              <a:defRPr sz="2000">
                <a:solidFill>
                  <a:srgbClr val="000000"/>
                </a:solidFill>
                <a:latin typeface="Garamond"/>
              </a:defRPr>
            </a:pPr>
            <a:endParaRPr lang="en-US" altLang="zh-TW" sz="1200" dirty="0"/>
          </a:p>
          <a:p>
            <a:pPr>
              <a:spcBef>
                <a:spcPts val="576"/>
              </a:spcBef>
              <a:defRPr sz="2000">
                <a:solidFill>
                  <a:srgbClr val="000000"/>
                </a:solidFill>
                <a:latin typeface="Garamond"/>
              </a:defRPr>
            </a:pPr>
            <a:r>
              <a:rPr lang="en-US" altLang="zh-TW" sz="2400" dirty="0"/>
              <a:t>The equilibrium price and quantity is determined solely on the domestic market.</a:t>
            </a:r>
          </a:p>
          <a:p>
            <a:pPr lvl="1">
              <a:spcBef>
                <a:spcPts val="576"/>
              </a:spcBef>
              <a:defRPr sz="2000">
                <a:solidFill>
                  <a:srgbClr val="000000"/>
                </a:solidFill>
                <a:latin typeface="Garamond"/>
              </a:defRPr>
            </a:pPr>
            <a:r>
              <a:rPr lang="en-US" altLang="zh-TW" sz="2000" dirty="0"/>
              <a:t>Equilibrium P = 5 </a:t>
            </a:r>
          </a:p>
          <a:p>
            <a:pPr lvl="1">
              <a:spcBef>
                <a:spcPts val="576"/>
              </a:spcBef>
              <a:defRPr sz="2000">
                <a:solidFill>
                  <a:srgbClr val="000000"/>
                </a:solidFill>
                <a:latin typeface="Garamond"/>
              </a:defRPr>
            </a:pPr>
            <a:r>
              <a:rPr lang="en-US" altLang="zh-TW" sz="2000" dirty="0"/>
              <a:t>Equilibrium Q = 50.</a:t>
            </a:r>
          </a:p>
          <a:p>
            <a:pPr lvl="3">
              <a:spcBef>
                <a:spcPts val="576"/>
              </a:spcBef>
              <a:defRPr sz="2000">
                <a:solidFill>
                  <a:srgbClr val="000000"/>
                </a:solidFill>
                <a:latin typeface="Garamond"/>
              </a:defRPr>
            </a:pPr>
            <a:endParaRPr lang="en-US" altLang="zh-TW" sz="1200" dirty="0"/>
          </a:p>
          <a:p>
            <a:pPr>
              <a:spcBef>
                <a:spcPts val="576"/>
              </a:spcBef>
              <a:defRPr sz="2000">
                <a:solidFill>
                  <a:srgbClr val="000000"/>
                </a:solidFill>
                <a:latin typeface="Garamond"/>
              </a:defRPr>
            </a:pPr>
            <a:r>
              <a:rPr lang="en-US" altLang="zh-TW" sz="2400" dirty="0"/>
              <a:t>The total benefits from trade is equal to total surplus.</a:t>
            </a:r>
          </a:p>
          <a:p>
            <a:pPr lvl="1">
              <a:spcBef>
                <a:spcPts val="576"/>
              </a:spcBef>
              <a:defRPr sz="2000">
                <a:solidFill>
                  <a:srgbClr val="000000"/>
                </a:solidFill>
                <a:latin typeface="Garamond"/>
              </a:defRPr>
            </a:pPr>
            <a:r>
              <a:rPr lang="en-US" altLang="zh-TW" sz="2000" dirty="0"/>
              <a:t>CS = $125</a:t>
            </a:r>
          </a:p>
          <a:p>
            <a:pPr lvl="1">
              <a:spcBef>
                <a:spcPts val="576"/>
              </a:spcBef>
              <a:defRPr sz="2000">
                <a:solidFill>
                  <a:srgbClr val="000000"/>
                </a:solidFill>
                <a:latin typeface="Garamond"/>
              </a:defRPr>
            </a:pPr>
            <a:r>
              <a:rPr lang="en-US" altLang="zh-TW" sz="2000" dirty="0"/>
              <a:t>PS = $125</a:t>
            </a:r>
          </a:p>
          <a:p>
            <a:pPr lvl="1">
              <a:spcBef>
                <a:spcPts val="576"/>
              </a:spcBef>
              <a:defRPr sz="2000">
                <a:solidFill>
                  <a:srgbClr val="000000"/>
                </a:solidFill>
                <a:latin typeface="Garamond"/>
              </a:defRPr>
            </a:pPr>
            <a:r>
              <a:rPr lang="en-US" altLang="zh-TW" sz="2000" dirty="0"/>
              <a:t>Total Surplus = $250.</a:t>
            </a:r>
          </a:p>
        </p:txBody>
      </p:sp>
      <p:pic>
        <p:nvPicPr>
          <p:cNvPr id="10" name="Picture 9">
            <a:extLst>
              <a:ext uri="{FF2B5EF4-FFF2-40B4-BE49-F238E27FC236}">
                <a16:creationId xmlns:a16="http://schemas.microsoft.com/office/drawing/2014/main" id="{BF5C3E6D-0DDB-0508-0A0F-B0948783CF91}"/>
              </a:ext>
            </a:extLst>
          </p:cNvPr>
          <p:cNvPicPr>
            <a:picLocks noChangeAspect="1"/>
          </p:cNvPicPr>
          <p:nvPr/>
        </p:nvPicPr>
        <p:blipFill>
          <a:blip r:embed="rId2"/>
          <a:srcRect/>
          <a:stretch/>
        </p:blipFill>
        <p:spPr>
          <a:xfrm>
            <a:off x="457198" y="1300900"/>
            <a:ext cx="4572000" cy="4572000"/>
          </a:xfrm>
          <a:prstGeom prst="rect">
            <a:avLst/>
          </a:prstGeom>
        </p:spPr>
      </p:pic>
      <p:pic>
        <p:nvPicPr>
          <p:cNvPr id="9" name="Picture 8" descr="A graph of a line&#10;&#10;AI-generated content may be incorrect.">
            <a:extLst>
              <a:ext uri="{FF2B5EF4-FFF2-40B4-BE49-F238E27FC236}">
                <a16:creationId xmlns:a16="http://schemas.microsoft.com/office/drawing/2014/main" id="{54DE9869-EA97-888C-FA36-B61411CBC999}"/>
              </a:ext>
            </a:extLst>
          </p:cNvPr>
          <p:cNvPicPr>
            <a:picLocks noChangeAspect="1"/>
          </p:cNvPicPr>
          <p:nvPr/>
        </p:nvPicPr>
        <p:blipFill>
          <a:blip r:embed="rId3"/>
          <a:stretch>
            <a:fillRect/>
          </a:stretch>
        </p:blipFill>
        <p:spPr>
          <a:xfrm>
            <a:off x="457197" y="1300900"/>
            <a:ext cx="4572000" cy="4572000"/>
          </a:xfrm>
          <a:prstGeom prst="rect">
            <a:avLst/>
          </a:prstGeom>
        </p:spPr>
      </p:pic>
    </p:spTree>
    <p:extLst>
      <p:ext uri="{BB962C8B-B14F-4D97-AF65-F5344CB8AC3E}">
        <p14:creationId xmlns:p14="http://schemas.microsoft.com/office/powerpoint/2010/main" val="1322563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6" end="6"/>
                                            </p:txEl>
                                          </p:spTgt>
                                        </p:tgtEl>
                                        <p:attrNameLst>
                                          <p:attrName>style.visibility</p:attrName>
                                        </p:attrNameLst>
                                      </p:cBhvr>
                                      <p:to>
                                        <p:strVal val="visible"/>
                                      </p:to>
                                    </p:set>
                                    <p:animEffect transition="in" filter="fade">
                                      <p:cBhvr>
                                        <p:cTn id="30" dur="500"/>
                                        <p:tgtEl>
                                          <p:spTgt spid="3">
                                            <p:txEl>
                                              <p:pRg st="6" end="6"/>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500"/>
                                        <p:tgtEl>
                                          <p:spTgt spid="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fade">
                                      <p:cBhvr>
                                        <p:cTn id="38" dur="500"/>
                                        <p:tgtEl>
                                          <p:spTgt spid="3">
                                            <p:txEl>
                                              <p:pRg st="7" end="7"/>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Effect transition="in" filter="fade">
                                      <p:cBhvr>
                                        <p:cTn id="43" dur="500"/>
                                        <p:tgtEl>
                                          <p:spTgt spid="3">
                                            <p:txEl>
                                              <p:pRg st="8" end="8"/>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3">
                                            <p:txEl>
                                              <p:pRg st="9" end="9"/>
                                            </p:txEl>
                                          </p:spTgt>
                                        </p:tgtEl>
                                        <p:attrNameLst>
                                          <p:attrName>style.visibility</p:attrName>
                                        </p:attrNameLst>
                                      </p:cBhvr>
                                      <p:to>
                                        <p:strVal val="visible"/>
                                      </p:to>
                                    </p:set>
                                    <p:animEffect transition="in" filter="fade">
                                      <p:cBhvr>
                                        <p:cTn id="48"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65B17A-1799-ABB4-8159-AE6002884FA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06A63BA-9E88-252C-B22E-609315C35C21}"/>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0A7E3B7-7FF9-C71E-E13F-DD8632E8A919}"/>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World Prices and Comparative Advantage</a:t>
            </a:r>
          </a:p>
        </p:txBody>
      </p:sp>
      <p:sp>
        <p:nvSpPr>
          <p:cNvPr id="5" name="Rectangle 4">
            <a:extLst>
              <a:ext uri="{FF2B5EF4-FFF2-40B4-BE49-F238E27FC236}">
                <a16:creationId xmlns:a16="http://schemas.microsoft.com/office/drawing/2014/main" id="{06D74F4B-9D7D-2503-CEC1-39263D560648}"/>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470D03C8-371C-655D-4A49-30460F1E66C2}"/>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136488C8-1DF3-DB49-224D-AB98F51757EC}"/>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6</a:t>
            </a:fld>
            <a:r>
              <a:rPr lang="en-US" b="1" dirty="0">
                <a:solidFill>
                  <a:schemeClr val="bg1"/>
                </a:solidFill>
                <a:latin typeface="Garamond" panose="02020404030301010803" pitchFamily="18" charset="0"/>
              </a:rPr>
              <a:t> </a:t>
            </a:r>
          </a:p>
        </p:txBody>
      </p:sp>
      <mc:AlternateContent xmlns:mc="http://schemas.openxmlformats.org/markup-compatibility/2006" xmlns:a14="http://schemas.microsoft.com/office/drawing/2010/main">
        <mc:Choice Requires="a14">
          <p:sp>
            <p:nvSpPr>
              <p:cNvPr id="11" name="Content Placeholder 2">
                <a:extLst>
                  <a:ext uri="{FF2B5EF4-FFF2-40B4-BE49-F238E27FC236}">
                    <a16:creationId xmlns:a16="http://schemas.microsoft.com/office/drawing/2014/main" id="{A045D933-04C6-15A1-704F-E1F46214CD08}"/>
                  </a:ext>
                </a:extLst>
              </p:cNvPr>
              <p:cNvSpPr>
                <a:spLocks noGrp="1"/>
              </p:cNvSpPr>
              <p:nvPr>
                <p:ph idx="1"/>
              </p:nvPr>
            </p:nvSpPr>
            <p:spPr>
              <a:xfrm>
                <a:off x="457199" y="1300900"/>
                <a:ext cx="11189855" cy="5081046"/>
              </a:xfrm>
            </p:spPr>
            <p:txBody>
              <a:bodyPr>
                <a:normAutofit/>
              </a:bodyPr>
              <a:lstStyle/>
              <a:p>
                <a:pPr>
                  <a:spcBef>
                    <a:spcPts val="576"/>
                  </a:spcBef>
                  <a:defRPr sz="2000">
                    <a:solidFill>
                      <a:srgbClr val="000000"/>
                    </a:solidFill>
                    <a:latin typeface="Garamond"/>
                  </a:defRPr>
                </a:pPr>
                <a:r>
                  <a:rPr lang="en-US" altLang="zh-TW" sz="2400" dirty="0"/>
                  <a:t>We introduce two notations, distinguishing world and domestic prices of the good.</a:t>
                </a:r>
                <a:endParaRPr lang="en-US" altLang="zh-TW" sz="2000" i="1" dirty="0">
                  <a:latin typeface="Cambria Math" panose="02040503050406030204" pitchFamily="18" charset="0"/>
                </a:endParaRPr>
              </a:p>
              <a:p>
                <a:pPr lvl="1">
                  <a:spcBef>
                    <a:spcPts val="576"/>
                  </a:spcBef>
                  <a:defRPr sz="2000">
                    <a:solidFill>
                      <a:srgbClr val="000000"/>
                    </a:solidFill>
                    <a:latin typeface="Garamond"/>
                  </a:defRPr>
                </a:pPr>
                <a14:m>
                  <m:oMath xmlns:m="http://schemas.openxmlformats.org/officeDocument/2006/math">
                    <m:sSub>
                      <m:sSubPr>
                        <m:ctrlPr>
                          <a:rPr lang="en-US" altLang="zh-TW" sz="2000" i="1" smtClean="0">
                            <a:latin typeface="Cambria Math" panose="02040503050406030204" pitchFamily="18" charset="0"/>
                          </a:rPr>
                        </m:ctrlPr>
                      </m:sSubPr>
                      <m:e>
                        <m:r>
                          <m:rPr>
                            <m:nor/>
                          </m:rPr>
                          <a:rPr lang="en-US" altLang="zh-TW" sz="2000" dirty="0"/>
                          <m:t>P</m:t>
                        </m:r>
                      </m:e>
                      <m:sub>
                        <m:r>
                          <m:rPr>
                            <m:nor/>
                          </m:rPr>
                          <a:rPr lang="en-US" altLang="zh-TW" sz="2000" b="0" i="0" dirty="0" smtClean="0"/>
                          <m:t>W</m:t>
                        </m:r>
                      </m:sub>
                    </m:sSub>
                  </m:oMath>
                </a14:m>
                <a:r>
                  <a:rPr lang="en-US" altLang="zh-TW" sz="2000" dirty="0"/>
                  <a:t>: The world price of a good.</a:t>
                </a:r>
              </a:p>
              <a:p>
                <a:pPr lvl="1">
                  <a:spcBef>
                    <a:spcPts val="576"/>
                  </a:spcBef>
                  <a:defRPr sz="2000">
                    <a:solidFill>
                      <a:srgbClr val="000000"/>
                    </a:solidFill>
                    <a:latin typeface="Garamond"/>
                  </a:defRPr>
                </a:pPr>
                <a14:m>
                  <m:oMath xmlns:m="http://schemas.openxmlformats.org/officeDocument/2006/math">
                    <m:sSub>
                      <m:sSubPr>
                        <m:ctrlPr>
                          <a:rPr lang="en-US" altLang="zh-TW" sz="2000" i="1">
                            <a:latin typeface="Cambria Math" panose="02040503050406030204" pitchFamily="18" charset="0"/>
                          </a:rPr>
                        </m:ctrlPr>
                      </m:sSubPr>
                      <m:e>
                        <m:r>
                          <m:rPr>
                            <m:nor/>
                          </m:rPr>
                          <a:rPr lang="en-US" altLang="zh-TW" sz="2000" dirty="0"/>
                          <m:t>P</m:t>
                        </m:r>
                      </m:e>
                      <m:sub>
                        <m:r>
                          <m:rPr>
                            <m:nor/>
                          </m:rPr>
                          <a:rPr lang="en-US" altLang="zh-TW" sz="2000" b="0" i="0" dirty="0" smtClean="0"/>
                          <m:t>D</m:t>
                        </m:r>
                      </m:sub>
                    </m:sSub>
                  </m:oMath>
                </a14:m>
                <a:r>
                  <a:rPr lang="en-US" altLang="zh-TW" sz="2000" dirty="0"/>
                  <a:t>: The domestic price of a good.</a:t>
                </a:r>
              </a:p>
              <a:p>
                <a:pPr lvl="4">
                  <a:spcBef>
                    <a:spcPts val="576"/>
                  </a:spcBef>
                  <a:defRPr sz="2000">
                    <a:solidFill>
                      <a:srgbClr val="000000"/>
                    </a:solidFill>
                    <a:latin typeface="Garamond"/>
                  </a:defRPr>
                </a:pPr>
                <a:endParaRPr lang="en-US" altLang="zh-TW" sz="1200" dirty="0"/>
              </a:p>
              <a:p>
                <a:pPr>
                  <a:spcBef>
                    <a:spcPts val="576"/>
                  </a:spcBef>
                  <a:defRPr sz="2000">
                    <a:solidFill>
                      <a:srgbClr val="000000"/>
                    </a:solidFill>
                    <a:latin typeface="Garamond"/>
                  </a:defRPr>
                </a:pPr>
                <a:r>
                  <a:rPr lang="en-US" altLang="zh-TW" sz="2400" dirty="0"/>
                  <a:t>Determinants of Importer/Exporter Status:</a:t>
                </a:r>
              </a:p>
              <a:p>
                <a:pPr lvl="1">
                  <a:spcBef>
                    <a:spcPts val="576"/>
                  </a:spcBef>
                  <a:defRPr sz="2000">
                    <a:solidFill>
                      <a:srgbClr val="000000"/>
                    </a:solidFill>
                    <a:latin typeface="Garamond"/>
                  </a:defRPr>
                </a:pPr>
                <a:r>
                  <a:rPr lang="en-US" altLang="zh-TW" sz="2000" dirty="0"/>
                  <a:t>If </a:t>
                </a:r>
                <a14:m>
                  <m:oMath xmlns:m="http://schemas.openxmlformats.org/officeDocument/2006/math">
                    <m:sSub>
                      <m:sSubPr>
                        <m:ctrlPr>
                          <a:rPr lang="en-US" altLang="zh-TW" sz="2000" i="1">
                            <a:latin typeface="Cambria Math" panose="02040503050406030204" pitchFamily="18" charset="0"/>
                          </a:rPr>
                        </m:ctrlPr>
                      </m:sSubPr>
                      <m:e>
                        <m:r>
                          <m:rPr>
                            <m:nor/>
                          </m:rPr>
                          <a:rPr lang="en-US" altLang="zh-TW" sz="2000" dirty="0"/>
                          <m:t>P</m:t>
                        </m:r>
                      </m:e>
                      <m:sub>
                        <m:r>
                          <m:rPr>
                            <m:nor/>
                          </m:rPr>
                          <a:rPr lang="en-US" altLang="zh-TW" sz="2000" dirty="0"/>
                          <m:t>W</m:t>
                        </m:r>
                      </m:sub>
                    </m:sSub>
                    <m:r>
                      <m:rPr>
                        <m:nor/>
                      </m:rPr>
                      <a:rPr lang="en-US" altLang="zh-TW" sz="2000" dirty="0"/>
                      <m:t>&gt;</m:t>
                    </m:r>
                    <m:sSub>
                      <m:sSubPr>
                        <m:ctrlPr>
                          <a:rPr lang="en-US" altLang="zh-TW" sz="2000" i="1">
                            <a:latin typeface="Cambria Math" panose="02040503050406030204" pitchFamily="18" charset="0"/>
                          </a:rPr>
                        </m:ctrlPr>
                      </m:sSubPr>
                      <m:e>
                        <m:r>
                          <m:rPr>
                            <m:nor/>
                          </m:rPr>
                          <a:rPr lang="en-US" altLang="zh-TW" sz="2000" dirty="0"/>
                          <m:t>P</m:t>
                        </m:r>
                      </m:e>
                      <m:sub>
                        <m:r>
                          <m:rPr>
                            <m:nor/>
                          </m:rPr>
                          <a:rPr lang="en-US" altLang="zh-TW" sz="2000" dirty="0"/>
                          <m:t>D</m:t>
                        </m:r>
                      </m:sub>
                    </m:sSub>
                  </m:oMath>
                </a14:m>
                <a:r>
                  <a:rPr lang="en-US" altLang="zh-TW" sz="2000" dirty="0"/>
                  <a:t>, the country has comparative advantage, and the country is an exporter.</a:t>
                </a:r>
              </a:p>
              <a:p>
                <a:pPr lvl="1">
                  <a:spcBef>
                    <a:spcPts val="576"/>
                  </a:spcBef>
                  <a:defRPr sz="2000">
                    <a:solidFill>
                      <a:srgbClr val="000000"/>
                    </a:solidFill>
                    <a:latin typeface="Garamond"/>
                  </a:defRPr>
                </a:pPr>
                <a:r>
                  <a:rPr lang="en-US" altLang="zh-TW" sz="2000" dirty="0"/>
                  <a:t>If </a:t>
                </a:r>
                <a14:m>
                  <m:oMath xmlns:m="http://schemas.openxmlformats.org/officeDocument/2006/math">
                    <m:sSub>
                      <m:sSubPr>
                        <m:ctrlPr>
                          <a:rPr lang="en-US" altLang="zh-TW" sz="2000" i="1">
                            <a:latin typeface="Cambria Math" panose="02040503050406030204" pitchFamily="18" charset="0"/>
                          </a:rPr>
                        </m:ctrlPr>
                      </m:sSubPr>
                      <m:e>
                        <m:r>
                          <m:rPr>
                            <m:nor/>
                          </m:rPr>
                          <a:rPr lang="en-US" altLang="zh-TW" sz="2000" dirty="0"/>
                          <m:t>P</m:t>
                        </m:r>
                      </m:e>
                      <m:sub>
                        <m:r>
                          <m:rPr>
                            <m:nor/>
                          </m:rPr>
                          <a:rPr lang="en-US" altLang="zh-TW" sz="2000" dirty="0"/>
                          <m:t>W</m:t>
                        </m:r>
                      </m:sub>
                    </m:sSub>
                    <m:r>
                      <m:rPr>
                        <m:nor/>
                      </m:rPr>
                      <a:rPr lang="en-US" altLang="zh-TW" sz="2000" b="0" i="0" dirty="0" smtClean="0"/>
                      <m:t>&lt;</m:t>
                    </m:r>
                    <m:sSub>
                      <m:sSubPr>
                        <m:ctrlPr>
                          <a:rPr lang="en-US" altLang="zh-TW" sz="2000" i="1">
                            <a:latin typeface="Cambria Math" panose="02040503050406030204" pitchFamily="18" charset="0"/>
                          </a:rPr>
                        </m:ctrlPr>
                      </m:sSubPr>
                      <m:e>
                        <m:r>
                          <m:rPr>
                            <m:nor/>
                          </m:rPr>
                          <a:rPr lang="en-US" altLang="zh-TW" sz="2000" dirty="0"/>
                          <m:t>P</m:t>
                        </m:r>
                      </m:e>
                      <m:sub>
                        <m:r>
                          <m:rPr>
                            <m:nor/>
                          </m:rPr>
                          <a:rPr lang="en-US" altLang="zh-TW" sz="2000" dirty="0"/>
                          <m:t>D</m:t>
                        </m:r>
                      </m:sub>
                    </m:sSub>
                  </m:oMath>
                </a14:m>
                <a:r>
                  <a:rPr lang="en-US" altLang="zh-TW" sz="2000" dirty="0"/>
                  <a:t>, the country does not have a comparative advantage, and the country is an importer.</a:t>
                </a:r>
              </a:p>
              <a:p>
                <a:pPr lvl="3">
                  <a:spcBef>
                    <a:spcPts val="576"/>
                  </a:spcBef>
                  <a:defRPr sz="2000">
                    <a:solidFill>
                      <a:srgbClr val="000000"/>
                    </a:solidFill>
                    <a:latin typeface="Garamond"/>
                  </a:defRPr>
                </a:pPr>
                <a:endParaRPr lang="en-US" altLang="zh-TW" sz="1200" dirty="0"/>
              </a:p>
              <a:p>
                <a:pPr>
                  <a:spcBef>
                    <a:spcPts val="576"/>
                  </a:spcBef>
                  <a:defRPr sz="2000">
                    <a:solidFill>
                      <a:srgbClr val="000000"/>
                    </a:solidFill>
                    <a:latin typeface="Garamond"/>
                  </a:defRPr>
                </a:pPr>
                <a:r>
                  <a:rPr lang="en-US" altLang="zh-TW" sz="2400" dirty="0"/>
                  <a:t>We assume a </a:t>
                </a:r>
                <a:r>
                  <a:rPr lang="en-US" altLang="zh-TW" sz="2400" i="1" dirty="0"/>
                  <a:t>Small Economy</a:t>
                </a:r>
                <a:r>
                  <a:rPr lang="en-US" altLang="zh-TW" sz="2400" dirty="0"/>
                  <a:t>, where all countries are price takers in world markets.</a:t>
                </a:r>
              </a:p>
              <a:p>
                <a:pPr lvl="1">
                  <a:spcBef>
                    <a:spcPts val="576"/>
                  </a:spcBef>
                  <a:defRPr sz="2000">
                    <a:solidFill>
                      <a:srgbClr val="000000"/>
                    </a:solidFill>
                    <a:latin typeface="Garamond"/>
                  </a:defRPr>
                </a:pPr>
                <a:r>
                  <a:rPr lang="en-US" altLang="zh-TW" sz="2000" dirty="0"/>
                  <a:t>No single country can influence the world price </a:t>
                </a:r>
                <a14:m>
                  <m:oMath xmlns:m="http://schemas.openxmlformats.org/officeDocument/2006/math">
                    <m:sSub>
                      <m:sSubPr>
                        <m:ctrlPr>
                          <a:rPr lang="en-US" altLang="zh-TW" sz="2000" i="1">
                            <a:latin typeface="Cambria Math" panose="02040503050406030204" pitchFamily="18" charset="0"/>
                          </a:rPr>
                        </m:ctrlPr>
                      </m:sSubPr>
                      <m:e>
                        <m:r>
                          <m:rPr>
                            <m:nor/>
                          </m:rPr>
                          <a:rPr lang="en-US" altLang="zh-TW" sz="2000" dirty="0"/>
                          <m:t>P</m:t>
                        </m:r>
                      </m:e>
                      <m:sub>
                        <m:r>
                          <m:rPr>
                            <m:nor/>
                          </m:rPr>
                          <a:rPr lang="en-US" altLang="zh-TW" sz="2000" dirty="0"/>
                          <m:t>W</m:t>
                        </m:r>
                      </m:sub>
                    </m:sSub>
                  </m:oMath>
                </a14:m>
                <a:r>
                  <a:rPr lang="en-US" altLang="zh-TW" sz="2000" dirty="0"/>
                  <a:t>.</a:t>
                </a:r>
              </a:p>
              <a:p>
                <a:pPr lvl="1">
                  <a:spcBef>
                    <a:spcPts val="576"/>
                  </a:spcBef>
                  <a:defRPr sz="2000">
                    <a:solidFill>
                      <a:srgbClr val="000000"/>
                    </a:solidFill>
                    <a:latin typeface="Garamond"/>
                  </a:defRPr>
                </a:pPr>
                <a:r>
                  <a:rPr lang="en-US" altLang="zh-TW" sz="2000" dirty="0"/>
                  <a:t>No sellers would accept a price lower than </a:t>
                </a:r>
                <a14:m>
                  <m:oMath xmlns:m="http://schemas.openxmlformats.org/officeDocument/2006/math">
                    <m:sSub>
                      <m:sSubPr>
                        <m:ctrlPr>
                          <a:rPr lang="en-US" altLang="zh-TW" sz="2000" i="1">
                            <a:latin typeface="Cambria Math" panose="02040503050406030204" pitchFamily="18" charset="0"/>
                          </a:rPr>
                        </m:ctrlPr>
                      </m:sSubPr>
                      <m:e>
                        <m:r>
                          <m:rPr>
                            <m:nor/>
                          </m:rPr>
                          <a:rPr lang="en-US" altLang="zh-TW" sz="2000" dirty="0"/>
                          <m:t>P</m:t>
                        </m:r>
                      </m:e>
                      <m:sub>
                        <m:r>
                          <m:rPr>
                            <m:nor/>
                          </m:rPr>
                          <a:rPr lang="en-US" altLang="zh-TW" sz="2000" dirty="0"/>
                          <m:t>W</m:t>
                        </m:r>
                      </m:sub>
                    </m:sSub>
                  </m:oMath>
                </a14:m>
                <a:r>
                  <a:rPr lang="en-US" altLang="zh-TW" sz="2000" dirty="0"/>
                  <a:t>.</a:t>
                </a:r>
              </a:p>
              <a:p>
                <a:pPr lvl="1">
                  <a:spcBef>
                    <a:spcPts val="576"/>
                  </a:spcBef>
                  <a:defRPr sz="2000">
                    <a:solidFill>
                      <a:srgbClr val="000000"/>
                    </a:solidFill>
                    <a:latin typeface="Garamond"/>
                  </a:defRPr>
                </a:pPr>
                <a:r>
                  <a:rPr lang="en-US" altLang="zh-TW" sz="2000" dirty="0"/>
                  <a:t>No buyer would pay more than </a:t>
                </a:r>
                <a14:m>
                  <m:oMath xmlns:m="http://schemas.openxmlformats.org/officeDocument/2006/math">
                    <m:sSub>
                      <m:sSubPr>
                        <m:ctrlPr>
                          <a:rPr lang="en-US" altLang="zh-TW" sz="2000" i="1">
                            <a:latin typeface="Cambria Math" panose="02040503050406030204" pitchFamily="18" charset="0"/>
                          </a:rPr>
                        </m:ctrlPr>
                      </m:sSubPr>
                      <m:e>
                        <m:r>
                          <m:rPr>
                            <m:nor/>
                          </m:rPr>
                          <a:rPr lang="en-US" altLang="zh-TW" sz="2000" dirty="0"/>
                          <m:t>P</m:t>
                        </m:r>
                      </m:e>
                      <m:sub>
                        <m:r>
                          <m:rPr>
                            <m:nor/>
                          </m:rPr>
                          <a:rPr lang="en-US" altLang="zh-TW" sz="2000" dirty="0"/>
                          <m:t>W</m:t>
                        </m:r>
                      </m:sub>
                    </m:sSub>
                  </m:oMath>
                </a14:m>
                <a:r>
                  <a:rPr lang="en-US" altLang="zh-TW" sz="2000" dirty="0"/>
                  <a:t>.</a:t>
                </a:r>
              </a:p>
              <a:p>
                <a:pPr>
                  <a:spcBef>
                    <a:spcPts val="576"/>
                  </a:spcBef>
                  <a:defRPr sz="2000">
                    <a:solidFill>
                      <a:srgbClr val="000000"/>
                    </a:solidFill>
                    <a:latin typeface="Garamond"/>
                  </a:defRPr>
                </a:pPr>
                <a:endParaRPr lang="en-US" altLang="zh-TW" sz="2400" dirty="0"/>
              </a:p>
              <a:p>
                <a:pPr>
                  <a:spcBef>
                    <a:spcPts val="576"/>
                  </a:spcBef>
                  <a:defRPr sz="2000">
                    <a:solidFill>
                      <a:srgbClr val="000000"/>
                    </a:solidFill>
                    <a:latin typeface="Garamond"/>
                  </a:defRPr>
                </a:pPr>
                <a:endParaRPr lang="en-US" altLang="zh-TW" sz="2400" dirty="0"/>
              </a:p>
            </p:txBody>
          </p:sp>
        </mc:Choice>
        <mc:Fallback xmlns="">
          <p:sp>
            <p:nvSpPr>
              <p:cNvPr id="11" name="Content Placeholder 2">
                <a:extLst>
                  <a:ext uri="{FF2B5EF4-FFF2-40B4-BE49-F238E27FC236}">
                    <a16:creationId xmlns:a16="http://schemas.microsoft.com/office/drawing/2014/main" id="{A045D933-04C6-15A1-704F-E1F46214CD08}"/>
                  </a:ext>
                </a:extLst>
              </p:cNvPr>
              <p:cNvSpPr>
                <a:spLocks noGrp="1" noRot="1" noChangeAspect="1" noMove="1" noResize="1" noEditPoints="1" noAdjustHandles="1" noChangeArrowheads="1" noChangeShapeType="1" noTextEdit="1"/>
              </p:cNvSpPr>
              <p:nvPr>
                <p:ph idx="1"/>
              </p:nvPr>
            </p:nvSpPr>
            <p:spPr>
              <a:xfrm>
                <a:off x="457199" y="1300900"/>
                <a:ext cx="11189855" cy="5081046"/>
              </a:xfrm>
              <a:blipFill>
                <a:blip r:embed="rId2"/>
                <a:stretch>
                  <a:fillRect l="-708" t="-839"/>
                </a:stretch>
              </a:blipFill>
            </p:spPr>
            <p:txBody>
              <a:bodyPr/>
              <a:lstStyle/>
              <a:p>
                <a:r>
                  <a:rPr lang="en-US">
                    <a:noFill/>
                  </a:rPr>
                  <a:t> </a:t>
                </a:r>
              </a:p>
            </p:txBody>
          </p:sp>
        </mc:Fallback>
      </mc:AlternateContent>
    </p:spTree>
    <p:extLst>
      <p:ext uri="{BB962C8B-B14F-4D97-AF65-F5344CB8AC3E}">
        <p14:creationId xmlns:p14="http://schemas.microsoft.com/office/powerpoint/2010/main" val="3238223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fade">
                                      <p:cBhvr>
                                        <p:cTn id="12" dur="500"/>
                                        <p:tgtEl>
                                          <p:spTgt spid="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xEl>
                                              <p:pRg st="2" end="2"/>
                                            </p:txEl>
                                          </p:spTgt>
                                        </p:tgtEl>
                                        <p:attrNameLst>
                                          <p:attrName>style.visibility</p:attrName>
                                        </p:attrNameLst>
                                      </p:cBhvr>
                                      <p:to>
                                        <p:strVal val="visible"/>
                                      </p:to>
                                    </p:set>
                                    <p:animEffect transition="in" filter="fade">
                                      <p:cBhvr>
                                        <p:cTn id="17" dur="500"/>
                                        <p:tgtEl>
                                          <p:spTgt spid="1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xEl>
                                              <p:pRg st="4" end="4"/>
                                            </p:txEl>
                                          </p:spTgt>
                                        </p:tgtEl>
                                        <p:attrNameLst>
                                          <p:attrName>style.visibility</p:attrName>
                                        </p:attrNameLst>
                                      </p:cBhvr>
                                      <p:to>
                                        <p:strVal val="visible"/>
                                      </p:to>
                                    </p:set>
                                    <p:animEffect transition="in" filter="fade">
                                      <p:cBhvr>
                                        <p:cTn id="22" dur="500"/>
                                        <p:tgtEl>
                                          <p:spTgt spid="11">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1">
                                            <p:txEl>
                                              <p:pRg st="5" end="5"/>
                                            </p:txEl>
                                          </p:spTgt>
                                        </p:tgtEl>
                                        <p:attrNameLst>
                                          <p:attrName>style.visibility</p:attrName>
                                        </p:attrNameLst>
                                      </p:cBhvr>
                                      <p:to>
                                        <p:strVal val="visible"/>
                                      </p:to>
                                    </p:set>
                                    <p:animEffect transition="in" filter="fade">
                                      <p:cBhvr>
                                        <p:cTn id="27" dur="500"/>
                                        <p:tgtEl>
                                          <p:spTgt spid="11">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1">
                                            <p:txEl>
                                              <p:pRg st="6" end="6"/>
                                            </p:txEl>
                                          </p:spTgt>
                                        </p:tgtEl>
                                        <p:attrNameLst>
                                          <p:attrName>style.visibility</p:attrName>
                                        </p:attrNameLst>
                                      </p:cBhvr>
                                      <p:to>
                                        <p:strVal val="visible"/>
                                      </p:to>
                                    </p:set>
                                    <p:animEffect transition="in" filter="fade">
                                      <p:cBhvr>
                                        <p:cTn id="32" dur="500"/>
                                        <p:tgtEl>
                                          <p:spTgt spid="11">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1">
                                            <p:txEl>
                                              <p:pRg st="8" end="8"/>
                                            </p:txEl>
                                          </p:spTgt>
                                        </p:tgtEl>
                                        <p:attrNameLst>
                                          <p:attrName>style.visibility</p:attrName>
                                        </p:attrNameLst>
                                      </p:cBhvr>
                                      <p:to>
                                        <p:strVal val="visible"/>
                                      </p:to>
                                    </p:set>
                                    <p:animEffect transition="in" filter="fade">
                                      <p:cBhvr>
                                        <p:cTn id="37" dur="500"/>
                                        <p:tgtEl>
                                          <p:spTgt spid="11">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1">
                                            <p:txEl>
                                              <p:pRg st="9" end="9"/>
                                            </p:txEl>
                                          </p:spTgt>
                                        </p:tgtEl>
                                        <p:attrNameLst>
                                          <p:attrName>style.visibility</p:attrName>
                                        </p:attrNameLst>
                                      </p:cBhvr>
                                      <p:to>
                                        <p:strVal val="visible"/>
                                      </p:to>
                                    </p:set>
                                    <p:animEffect transition="in" filter="fade">
                                      <p:cBhvr>
                                        <p:cTn id="42" dur="500"/>
                                        <p:tgtEl>
                                          <p:spTgt spid="11">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1">
                                            <p:txEl>
                                              <p:pRg st="10" end="10"/>
                                            </p:txEl>
                                          </p:spTgt>
                                        </p:tgtEl>
                                        <p:attrNameLst>
                                          <p:attrName>style.visibility</p:attrName>
                                        </p:attrNameLst>
                                      </p:cBhvr>
                                      <p:to>
                                        <p:strVal val="visible"/>
                                      </p:to>
                                    </p:set>
                                    <p:animEffect transition="in" filter="fade">
                                      <p:cBhvr>
                                        <p:cTn id="47" dur="500"/>
                                        <p:tgtEl>
                                          <p:spTgt spid="11">
                                            <p:txEl>
                                              <p:pRg st="10" end="1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1">
                                            <p:txEl>
                                              <p:pRg st="11" end="11"/>
                                            </p:txEl>
                                          </p:spTgt>
                                        </p:tgtEl>
                                        <p:attrNameLst>
                                          <p:attrName>style.visibility</p:attrName>
                                        </p:attrNameLst>
                                      </p:cBhvr>
                                      <p:to>
                                        <p:strVal val="visible"/>
                                      </p:to>
                                    </p:set>
                                    <p:animEffect transition="in" filter="fade">
                                      <p:cBhvr>
                                        <p:cTn id="52" dur="500"/>
                                        <p:tgtEl>
                                          <p:spTgt spid="11">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FBE17-E692-E7F9-BE5C-1C2CB7281BC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E916A40-DA92-5B2F-B37C-BC5EBF6A36E1}"/>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A55F94F3-2309-0F4D-1A81-021B21042ECA}"/>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The Open Market: </a:t>
                </a:r>
                <a14:m>
                  <m:oMath xmlns:m="http://schemas.openxmlformats.org/officeDocument/2006/math">
                    <m:sSub>
                      <m:sSubPr>
                        <m:ctrlPr>
                          <a:rPr lang="en-US" altLang="zh-TW" sz="4000" i="1" smtClean="0">
                            <a:solidFill>
                              <a:schemeClr val="bg1"/>
                            </a:solidFill>
                            <a:latin typeface="Cambria Math" panose="02040503050406030204" pitchFamily="18" charset="0"/>
                          </a:rPr>
                        </m:ctrlPr>
                      </m:sSubPr>
                      <m:e>
                        <m:r>
                          <m:rPr>
                            <m:nor/>
                          </m:rPr>
                          <a:rPr lang="en-US" altLang="zh-TW" sz="4000" dirty="0">
                            <a:solidFill>
                              <a:schemeClr val="bg1"/>
                            </a:solidFill>
                          </a:rPr>
                          <m:t>P</m:t>
                        </m:r>
                      </m:e>
                      <m:sub>
                        <m:r>
                          <m:rPr>
                            <m:nor/>
                          </m:rPr>
                          <a:rPr lang="en-US" altLang="zh-TW" sz="4000" dirty="0">
                            <a:solidFill>
                              <a:schemeClr val="bg1"/>
                            </a:solidFill>
                          </a:rPr>
                          <m:t>W</m:t>
                        </m:r>
                      </m:sub>
                    </m:sSub>
                    <m:r>
                      <m:rPr>
                        <m:nor/>
                      </m:rPr>
                      <a:rPr lang="en-US" altLang="zh-TW" sz="4000" dirty="0" smtClean="0">
                        <a:solidFill>
                          <a:schemeClr val="bg1"/>
                        </a:solidFill>
                      </a:rPr>
                      <m:t>&gt;</m:t>
                    </m:r>
                    <m:sSub>
                      <m:sSubPr>
                        <m:ctrlPr>
                          <a:rPr lang="en-US" altLang="zh-TW" sz="4000" i="1">
                            <a:solidFill>
                              <a:schemeClr val="bg1"/>
                            </a:solidFill>
                            <a:latin typeface="Cambria Math" panose="02040503050406030204" pitchFamily="18" charset="0"/>
                          </a:rPr>
                        </m:ctrlPr>
                      </m:sSubPr>
                      <m:e>
                        <m:r>
                          <m:rPr>
                            <m:nor/>
                          </m:rPr>
                          <a:rPr lang="en-US" altLang="zh-TW" sz="4000" dirty="0">
                            <a:solidFill>
                              <a:schemeClr val="bg1"/>
                            </a:solidFill>
                          </a:rPr>
                          <m:t>P</m:t>
                        </m:r>
                      </m:e>
                      <m:sub>
                        <m:r>
                          <m:rPr>
                            <m:nor/>
                          </m:rPr>
                          <a:rPr lang="en-US" altLang="zh-TW" sz="4000" dirty="0">
                            <a:solidFill>
                              <a:schemeClr val="bg1"/>
                            </a:solidFill>
                          </a:rPr>
                          <m:t>D</m:t>
                        </m:r>
                      </m:sub>
                    </m:sSub>
                  </m:oMath>
                </a14:m>
                <a:endParaRPr lang="en-US" sz="4000" dirty="0">
                  <a:solidFill>
                    <a:schemeClr val="bg1"/>
                  </a:solidFill>
                </a:endParaRPr>
              </a:p>
            </p:txBody>
          </p:sp>
        </mc:Choice>
        <mc:Fallback xmlns="">
          <p:sp>
            <p:nvSpPr>
              <p:cNvPr id="2" name="Title 1">
                <a:extLst>
                  <a:ext uri="{FF2B5EF4-FFF2-40B4-BE49-F238E27FC236}">
                    <a16:creationId xmlns:a16="http://schemas.microsoft.com/office/drawing/2014/main" id="{A55F94F3-2309-0F4D-1A81-021B21042ECA}"/>
                  </a:ext>
                </a:extLst>
              </p:cNvPr>
              <p:cNvSpPr>
                <a:spLocks noGrp="1" noRot="1" noChangeAspect="1" noMove="1" noResize="1" noEditPoints="1" noAdjustHandles="1" noChangeArrowheads="1" noChangeShapeType="1" noTextEdit="1"/>
              </p:cNvSpPr>
              <p:nvPr>
                <p:ph type="title"/>
              </p:nvPr>
            </p:nvSpPr>
            <p:spPr>
              <a:xfrm>
                <a:off x="0" y="0"/>
                <a:ext cx="12188825" cy="923636"/>
              </a:xfrm>
              <a:blipFill>
                <a:blip r:embed="rId2"/>
                <a:stretch>
                  <a:fillRect b="-16447"/>
                </a:stretch>
              </a:blipFill>
            </p:spPr>
            <p:txBody>
              <a:bodyPr/>
              <a:lstStyle/>
              <a:p>
                <a:r>
                  <a:rPr lang="en-US">
                    <a:noFill/>
                  </a:rPr>
                  <a:t> </a:t>
                </a:r>
              </a:p>
            </p:txBody>
          </p:sp>
        </mc:Fallback>
      </mc:AlternateContent>
      <p:sp>
        <p:nvSpPr>
          <p:cNvPr id="5" name="Rectangle 4">
            <a:extLst>
              <a:ext uri="{FF2B5EF4-FFF2-40B4-BE49-F238E27FC236}">
                <a16:creationId xmlns:a16="http://schemas.microsoft.com/office/drawing/2014/main" id="{989BE22D-BFC4-773D-40E0-687730088CDD}"/>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DAE99ED3-96C6-FD23-FCAE-85B5020A228E}"/>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A2A263EF-EE7C-45D3-BF7B-22D3883BE57F}"/>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7</a:t>
            </a:fld>
            <a:r>
              <a:rPr lang="en-US" b="1" dirty="0">
                <a:solidFill>
                  <a:schemeClr val="bg1"/>
                </a:solidFill>
                <a:latin typeface="Garamond" panose="02020404030301010803" pitchFamily="18" charset="0"/>
              </a:rPr>
              <a:t>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433EDD7-FF52-6768-6941-ABA02F95F1ED}"/>
                  </a:ext>
                </a:extLst>
              </p:cNvPr>
              <p:cNvSpPr>
                <a:spLocks noGrp="1"/>
              </p:cNvSpPr>
              <p:nvPr>
                <p:ph idx="1"/>
              </p:nvPr>
            </p:nvSpPr>
            <p:spPr>
              <a:xfrm>
                <a:off x="5029199" y="1300900"/>
                <a:ext cx="6702428" cy="4937975"/>
              </a:xfrm>
            </p:spPr>
            <p:txBody>
              <a:bodyPr>
                <a:normAutofit/>
              </a:bodyPr>
              <a:lstStyle/>
              <a:p>
                <a:pPr>
                  <a:spcBef>
                    <a:spcPts val="576"/>
                  </a:spcBef>
                  <a:defRPr sz="2000">
                    <a:solidFill>
                      <a:srgbClr val="000000"/>
                    </a:solidFill>
                    <a:latin typeface="Garamond"/>
                  </a:defRPr>
                </a:pPr>
                <a:r>
                  <a:rPr lang="en-US" altLang="zh-TW" sz="2400" dirty="0"/>
                  <a:t>Consider the same domestic market, with </a:t>
                </a:r>
                <a14:m>
                  <m:oMath xmlns:m="http://schemas.openxmlformats.org/officeDocument/2006/math">
                    <m:sSub>
                      <m:sSubPr>
                        <m:ctrlPr>
                          <a:rPr lang="en-US" altLang="zh-TW" sz="2400" i="1">
                            <a:latin typeface="Cambria Math" panose="02040503050406030204" pitchFamily="18" charset="0"/>
                          </a:rPr>
                        </m:ctrlPr>
                      </m:sSubPr>
                      <m:e>
                        <m:r>
                          <m:rPr>
                            <m:nor/>
                          </m:rPr>
                          <a:rPr lang="en-US" altLang="zh-TW" sz="2400" dirty="0"/>
                          <m:t>P</m:t>
                        </m:r>
                      </m:e>
                      <m:sub>
                        <m:r>
                          <m:rPr>
                            <m:nor/>
                          </m:rPr>
                          <a:rPr lang="en-US" altLang="zh-TW" sz="2400" dirty="0"/>
                          <m:t>W</m:t>
                        </m:r>
                      </m:sub>
                    </m:sSub>
                    <m:r>
                      <m:rPr>
                        <m:nor/>
                      </m:rPr>
                      <a:rPr lang="en-US" altLang="zh-TW" sz="2400" b="0" i="0" dirty="0" smtClean="0"/>
                      <m:t>&gt;</m:t>
                    </m:r>
                    <m:sSub>
                      <m:sSubPr>
                        <m:ctrlPr>
                          <a:rPr lang="en-US" altLang="zh-TW" sz="2400" i="1">
                            <a:latin typeface="Cambria Math" panose="02040503050406030204" pitchFamily="18" charset="0"/>
                          </a:rPr>
                        </m:ctrlPr>
                      </m:sSubPr>
                      <m:e>
                        <m:r>
                          <m:rPr>
                            <m:nor/>
                          </m:rPr>
                          <a:rPr lang="en-US" altLang="zh-TW" sz="2400" dirty="0"/>
                          <m:t>P</m:t>
                        </m:r>
                      </m:e>
                      <m:sub>
                        <m:r>
                          <m:rPr>
                            <m:nor/>
                          </m:rPr>
                          <a:rPr lang="en-US" altLang="zh-TW" sz="2400" dirty="0"/>
                          <m:t>D</m:t>
                        </m:r>
                      </m:sub>
                    </m:sSub>
                  </m:oMath>
                </a14:m>
                <a:r>
                  <a:rPr lang="en-US" altLang="zh-TW" sz="2400" dirty="0"/>
                  <a:t>.</a:t>
                </a:r>
              </a:p>
              <a:p>
                <a:pPr lvl="3">
                  <a:spcBef>
                    <a:spcPts val="576"/>
                  </a:spcBef>
                  <a:defRPr sz="2000">
                    <a:solidFill>
                      <a:srgbClr val="000000"/>
                    </a:solidFill>
                    <a:latin typeface="Garamond"/>
                  </a:defRPr>
                </a:pPr>
                <a:endParaRPr lang="en-US" altLang="zh-TW" sz="1200" dirty="0"/>
              </a:p>
              <a:p>
                <a:pPr>
                  <a:spcBef>
                    <a:spcPts val="576"/>
                  </a:spcBef>
                  <a:defRPr sz="2000">
                    <a:solidFill>
                      <a:srgbClr val="000000"/>
                    </a:solidFill>
                    <a:latin typeface="Garamond"/>
                  </a:defRPr>
                </a:pPr>
                <a:r>
                  <a:rPr lang="en-US" altLang="zh-TW" sz="2400" dirty="0"/>
                  <a:t>Once trade is allowed, </a:t>
                </a:r>
                <a14:m>
                  <m:oMath xmlns:m="http://schemas.openxmlformats.org/officeDocument/2006/math">
                    <m:sSub>
                      <m:sSubPr>
                        <m:ctrlPr>
                          <a:rPr lang="en-US" altLang="zh-TW" sz="2400" i="1">
                            <a:latin typeface="Cambria Math" panose="02040503050406030204" pitchFamily="18" charset="0"/>
                          </a:rPr>
                        </m:ctrlPr>
                      </m:sSubPr>
                      <m:e>
                        <m:r>
                          <m:rPr>
                            <m:nor/>
                          </m:rPr>
                          <a:rPr lang="en-US" altLang="zh-TW" sz="2400" dirty="0"/>
                          <m:t>P</m:t>
                        </m:r>
                      </m:e>
                      <m:sub>
                        <m:r>
                          <m:rPr>
                            <m:nor/>
                          </m:rPr>
                          <a:rPr lang="en-US" altLang="zh-TW" sz="2400" dirty="0"/>
                          <m:t>D</m:t>
                        </m:r>
                      </m:sub>
                    </m:sSub>
                  </m:oMath>
                </a14:m>
                <a:r>
                  <a:rPr lang="en-US" altLang="zh-TW" sz="2400" dirty="0"/>
                  <a:t> rises to </a:t>
                </a:r>
                <a14:m>
                  <m:oMath xmlns:m="http://schemas.openxmlformats.org/officeDocument/2006/math">
                    <m:sSub>
                      <m:sSubPr>
                        <m:ctrlPr>
                          <a:rPr lang="en-US" altLang="zh-TW" sz="2400" i="1">
                            <a:latin typeface="Cambria Math" panose="02040503050406030204" pitchFamily="18" charset="0"/>
                          </a:rPr>
                        </m:ctrlPr>
                      </m:sSubPr>
                      <m:e>
                        <m:r>
                          <m:rPr>
                            <m:nor/>
                          </m:rPr>
                          <a:rPr lang="en-US" altLang="zh-TW" sz="2400" dirty="0"/>
                          <m:t>P</m:t>
                        </m:r>
                      </m:e>
                      <m:sub>
                        <m:r>
                          <m:rPr>
                            <m:nor/>
                          </m:rPr>
                          <a:rPr lang="en-US" altLang="zh-TW" sz="2400" b="0" i="0" dirty="0" smtClean="0">
                            <a:latin typeface="Cambria Math" panose="02040503050406030204" pitchFamily="18" charset="0"/>
                          </a:rPr>
                          <m:t>W</m:t>
                        </m:r>
                      </m:sub>
                    </m:sSub>
                  </m:oMath>
                </a14:m>
                <a:r>
                  <a:rPr lang="en-US" altLang="zh-TW" sz="2400" dirty="0"/>
                  <a:t>, as domestic producers would not accept a price lower than </a:t>
                </a:r>
                <a14:m>
                  <m:oMath xmlns:m="http://schemas.openxmlformats.org/officeDocument/2006/math">
                    <m:sSub>
                      <m:sSubPr>
                        <m:ctrlPr>
                          <a:rPr lang="en-US" altLang="zh-TW" sz="2400" i="1">
                            <a:latin typeface="Cambria Math" panose="02040503050406030204" pitchFamily="18" charset="0"/>
                          </a:rPr>
                        </m:ctrlPr>
                      </m:sSubPr>
                      <m:e>
                        <m:r>
                          <m:rPr>
                            <m:nor/>
                          </m:rPr>
                          <a:rPr lang="en-US" altLang="zh-TW" sz="2400" dirty="0"/>
                          <m:t>P</m:t>
                        </m:r>
                      </m:e>
                      <m:sub>
                        <m:r>
                          <m:rPr>
                            <m:nor/>
                          </m:rPr>
                          <a:rPr lang="en-US" altLang="zh-TW" sz="2400" dirty="0">
                            <a:latin typeface="Cambria Math" panose="02040503050406030204" pitchFamily="18" charset="0"/>
                          </a:rPr>
                          <m:t>W</m:t>
                        </m:r>
                      </m:sub>
                    </m:sSub>
                  </m:oMath>
                </a14:m>
                <a:r>
                  <a:rPr lang="en-US" altLang="zh-TW" sz="2400" dirty="0"/>
                  <a:t>.</a:t>
                </a:r>
              </a:p>
              <a:p>
                <a:pPr lvl="3">
                  <a:spcBef>
                    <a:spcPts val="576"/>
                  </a:spcBef>
                  <a:defRPr sz="2000">
                    <a:solidFill>
                      <a:srgbClr val="000000"/>
                    </a:solidFill>
                    <a:latin typeface="Garamond"/>
                  </a:defRPr>
                </a:pPr>
                <a:endParaRPr lang="en-US" altLang="zh-TW" sz="1200" dirty="0"/>
              </a:p>
              <a:p>
                <a:pPr>
                  <a:spcBef>
                    <a:spcPts val="576"/>
                  </a:spcBef>
                  <a:defRPr sz="2000">
                    <a:solidFill>
                      <a:srgbClr val="000000"/>
                    </a:solidFill>
                    <a:latin typeface="Garamond"/>
                  </a:defRPr>
                </a:pPr>
                <a:r>
                  <a:rPr lang="en-US" altLang="zh-TW" sz="2400" dirty="0"/>
                  <a:t>At the new price…</a:t>
                </a:r>
              </a:p>
              <a:p>
                <a:pPr lvl="1">
                  <a:spcBef>
                    <a:spcPts val="576"/>
                  </a:spcBef>
                  <a:defRPr sz="2000">
                    <a:solidFill>
                      <a:srgbClr val="000000"/>
                    </a:solidFill>
                    <a:latin typeface="Garamond"/>
                  </a:defRPr>
                </a:pPr>
                <a14:m>
                  <m:oMath xmlns:m="http://schemas.openxmlformats.org/officeDocument/2006/math">
                    <m:sSub>
                      <m:sSubPr>
                        <m:ctrlPr>
                          <a:rPr lang="en-US" altLang="zh-TW" sz="2000" i="1">
                            <a:latin typeface="Cambria Math" panose="02040503050406030204" pitchFamily="18" charset="0"/>
                          </a:rPr>
                        </m:ctrlPr>
                      </m:sSubPr>
                      <m:e>
                        <m:r>
                          <m:rPr>
                            <m:nor/>
                          </m:rPr>
                          <a:rPr lang="en-US" altLang="zh-TW" sz="2000" b="0" i="0" dirty="0" smtClean="0"/>
                          <m:t>Q</m:t>
                        </m:r>
                      </m:e>
                      <m:sub>
                        <m:r>
                          <m:rPr>
                            <m:nor/>
                          </m:rPr>
                          <a:rPr lang="en-US" altLang="zh-TW" sz="2000" b="0" i="0" dirty="0" smtClean="0"/>
                          <m:t>D</m:t>
                        </m:r>
                      </m:sub>
                    </m:sSub>
                    <m:r>
                      <m:rPr>
                        <m:nor/>
                      </m:rPr>
                      <a:rPr lang="en-US" altLang="zh-TW" sz="2000" b="0" i="0" dirty="0" smtClean="0">
                        <a:latin typeface="Cambria Math" panose="02040503050406030204" pitchFamily="18" charset="0"/>
                      </a:rPr>
                      <m:t> </m:t>
                    </m:r>
                    <m:r>
                      <m:rPr>
                        <m:nor/>
                      </m:rPr>
                      <a:rPr lang="en-US" altLang="zh-TW" sz="2000" b="0" i="0" dirty="0" smtClean="0"/>
                      <m:t>= 30</m:t>
                    </m:r>
                  </m:oMath>
                </a14:m>
                <a:r>
                  <a:rPr lang="en-US" altLang="zh-TW" sz="2000" dirty="0"/>
                  <a:t>: Domestic consumers demand 30 units.</a:t>
                </a:r>
              </a:p>
              <a:p>
                <a:pPr lvl="1">
                  <a:spcBef>
                    <a:spcPts val="576"/>
                  </a:spcBef>
                  <a:defRPr sz="2000">
                    <a:solidFill>
                      <a:srgbClr val="000000"/>
                    </a:solidFill>
                    <a:latin typeface="Garamond"/>
                  </a:defRPr>
                </a:pPr>
                <a14:m>
                  <m:oMath xmlns:m="http://schemas.openxmlformats.org/officeDocument/2006/math">
                    <m:sSub>
                      <m:sSubPr>
                        <m:ctrlPr>
                          <a:rPr lang="en-US" altLang="zh-TW" sz="2000" i="1">
                            <a:latin typeface="Cambria Math" panose="02040503050406030204" pitchFamily="18" charset="0"/>
                          </a:rPr>
                        </m:ctrlPr>
                      </m:sSubPr>
                      <m:e>
                        <m:r>
                          <m:rPr>
                            <m:nor/>
                          </m:rPr>
                          <a:rPr lang="en-US" altLang="zh-TW" sz="2000" dirty="0"/>
                          <m:t>Q</m:t>
                        </m:r>
                      </m:e>
                      <m:sub>
                        <m:r>
                          <m:rPr>
                            <m:nor/>
                          </m:rPr>
                          <a:rPr lang="en-US" altLang="zh-TW" sz="2000" b="0" i="0" dirty="0" smtClean="0"/>
                          <m:t>S</m:t>
                        </m:r>
                      </m:sub>
                    </m:sSub>
                    <m:r>
                      <m:rPr>
                        <m:nor/>
                      </m:rPr>
                      <a:rPr lang="en-US" altLang="zh-TW" sz="2000" b="0" i="0" dirty="0" smtClean="0">
                        <a:latin typeface="Cambria Math" panose="02040503050406030204" pitchFamily="18" charset="0"/>
                      </a:rPr>
                      <m:t> </m:t>
                    </m:r>
                    <m:r>
                      <m:rPr>
                        <m:nor/>
                      </m:rPr>
                      <a:rPr lang="en-US" altLang="zh-TW" sz="2000" dirty="0"/>
                      <m:t>=</m:t>
                    </m:r>
                    <m:r>
                      <m:rPr>
                        <m:nor/>
                      </m:rPr>
                      <a:rPr lang="en-US" altLang="zh-TW" sz="2000" b="0" i="0" dirty="0" smtClean="0"/>
                      <m:t> 70</m:t>
                    </m:r>
                  </m:oMath>
                </a14:m>
                <a:r>
                  <a:rPr lang="en-US" altLang="zh-TW" sz="2000" dirty="0"/>
                  <a:t>: Domestic producers supply 70 units.</a:t>
                </a:r>
              </a:p>
              <a:p>
                <a:pPr lvl="1">
                  <a:spcBef>
                    <a:spcPts val="576"/>
                  </a:spcBef>
                  <a:defRPr sz="2000">
                    <a:solidFill>
                      <a:srgbClr val="000000"/>
                    </a:solidFill>
                    <a:latin typeface="Garamond"/>
                  </a:defRPr>
                </a:pPr>
                <a:r>
                  <a:rPr lang="en-US" altLang="zh-TW" sz="2000" dirty="0"/>
                  <a:t>Export = 40: The remaining 40 units are exported.</a:t>
                </a:r>
              </a:p>
              <a:p>
                <a:pPr lvl="4">
                  <a:spcBef>
                    <a:spcPts val="576"/>
                  </a:spcBef>
                  <a:defRPr sz="2000">
                    <a:solidFill>
                      <a:srgbClr val="000000"/>
                    </a:solidFill>
                    <a:latin typeface="Garamond"/>
                  </a:defRPr>
                </a:pPr>
                <a:endParaRPr lang="en-US" altLang="zh-TW" sz="1200" dirty="0"/>
              </a:p>
              <a:p>
                <a:pPr>
                  <a:spcBef>
                    <a:spcPts val="576"/>
                  </a:spcBef>
                  <a:defRPr sz="2000">
                    <a:solidFill>
                      <a:srgbClr val="000000"/>
                    </a:solidFill>
                    <a:latin typeface="Garamond"/>
                  </a:defRPr>
                </a:pPr>
                <a:r>
                  <a:rPr lang="en-US" altLang="zh-TW" sz="2400" dirty="0"/>
                  <a:t>The horizontal line represents the world’s perfectly inelastic demand.</a:t>
                </a:r>
              </a:p>
            </p:txBody>
          </p:sp>
        </mc:Choice>
        <mc:Fallback xmlns="">
          <p:sp>
            <p:nvSpPr>
              <p:cNvPr id="3" name="Content Placeholder 2">
                <a:extLst>
                  <a:ext uri="{FF2B5EF4-FFF2-40B4-BE49-F238E27FC236}">
                    <a16:creationId xmlns:a16="http://schemas.microsoft.com/office/drawing/2014/main" id="{8433EDD7-FF52-6768-6941-ABA02F95F1ED}"/>
                  </a:ext>
                </a:extLst>
              </p:cNvPr>
              <p:cNvSpPr>
                <a:spLocks noGrp="1" noRot="1" noChangeAspect="1" noMove="1" noResize="1" noEditPoints="1" noAdjustHandles="1" noChangeArrowheads="1" noChangeShapeType="1" noTextEdit="1"/>
              </p:cNvSpPr>
              <p:nvPr>
                <p:ph idx="1"/>
              </p:nvPr>
            </p:nvSpPr>
            <p:spPr>
              <a:xfrm>
                <a:off x="5029199" y="1300900"/>
                <a:ext cx="6702428" cy="4937975"/>
              </a:xfrm>
              <a:blipFill>
                <a:blip r:embed="rId3"/>
                <a:stretch>
                  <a:fillRect l="-1183" t="-741" r="-1183"/>
                </a:stretch>
              </a:blipFill>
            </p:spPr>
            <p:txBody>
              <a:bodyPr/>
              <a:lstStyle/>
              <a:p>
                <a:r>
                  <a:rPr lang="en-US">
                    <a:noFill/>
                  </a:rPr>
                  <a:t> </a:t>
                </a:r>
              </a:p>
            </p:txBody>
          </p:sp>
        </mc:Fallback>
      </mc:AlternateContent>
      <p:pic>
        <p:nvPicPr>
          <p:cNvPr id="10" name="Picture 9">
            <a:extLst>
              <a:ext uri="{FF2B5EF4-FFF2-40B4-BE49-F238E27FC236}">
                <a16:creationId xmlns:a16="http://schemas.microsoft.com/office/drawing/2014/main" id="{18558629-3105-0457-E44B-8069F5F66DEB}"/>
              </a:ext>
            </a:extLst>
          </p:cNvPr>
          <p:cNvPicPr>
            <a:picLocks noChangeAspect="1"/>
          </p:cNvPicPr>
          <p:nvPr/>
        </p:nvPicPr>
        <p:blipFill>
          <a:blip r:embed="rId4"/>
          <a:srcRect/>
          <a:stretch/>
        </p:blipFill>
        <p:spPr>
          <a:xfrm>
            <a:off x="457198" y="1300900"/>
            <a:ext cx="4572000" cy="4572000"/>
          </a:xfrm>
          <a:prstGeom prst="rect">
            <a:avLst/>
          </a:prstGeom>
        </p:spPr>
      </p:pic>
      <p:pic>
        <p:nvPicPr>
          <p:cNvPr id="11" name="Picture 10" descr="A graph of the x and y&#10;&#10;AI-generated content may be incorrect.">
            <a:extLst>
              <a:ext uri="{FF2B5EF4-FFF2-40B4-BE49-F238E27FC236}">
                <a16:creationId xmlns:a16="http://schemas.microsoft.com/office/drawing/2014/main" id="{D386747A-3D44-7FC0-03C8-75601E3BE933}"/>
              </a:ext>
            </a:extLst>
          </p:cNvPr>
          <p:cNvPicPr>
            <a:picLocks noChangeAspect="1"/>
          </p:cNvPicPr>
          <p:nvPr/>
        </p:nvPicPr>
        <p:blipFill>
          <a:blip r:embed="rId5"/>
          <a:stretch>
            <a:fillRect/>
          </a:stretch>
        </p:blipFill>
        <p:spPr>
          <a:xfrm>
            <a:off x="457197" y="1300900"/>
            <a:ext cx="4572000" cy="4572000"/>
          </a:xfrm>
          <a:prstGeom prst="rect">
            <a:avLst/>
          </a:prstGeom>
        </p:spPr>
      </p:pic>
    </p:spTree>
    <p:extLst>
      <p:ext uri="{BB962C8B-B14F-4D97-AF65-F5344CB8AC3E}">
        <p14:creationId xmlns:p14="http://schemas.microsoft.com/office/powerpoint/2010/main" val="2226630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fade">
                                      <p:cBhvr>
                                        <p:cTn id="25" dur="500"/>
                                        <p:tgtEl>
                                          <p:spTgt spid="3">
                                            <p:txEl>
                                              <p:pRg st="5" end="5"/>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6" end="6"/>
                                            </p:txEl>
                                          </p:spTgt>
                                        </p:tgtEl>
                                        <p:attrNameLst>
                                          <p:attrName>style.visibility</p:attrName>
                                        </p:attrNameLst>
                                      </p:cBhvr>
                                      <p:to>
                                        <p:strVal val="visible"/>
                                      </p:to>
                                    </p:set>
                                    <p:animEffect transition="in" filter="fade">
                                      <p:cBhvr>
                                        <p:cTn id="30" dur="500"/>
                                        <p:tgtEl>
                                          <p:spTgt spid="3">
                                            <p:txEl>
                                              <p:pRg st="6" end="6"/>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fade">
                                      <p:cBhvr>
                                        <p:cTn id="40" dur="500"/>
                                        <p:tgtEl>
                                          <p:spTgt spid="3">
                                            <p:txEl>
                                              <p:pRg st="7" end="7"/>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3">
                                            <p:txEl>
                                              <p:pRg st="9" end="9"/>
                                            </p:txEl>
                                          </p:spTgt>
                                        </p:tgtEl>
                                        <p:attrNameLst>
                                          <p:attrName>style.visibility</p:attrName>
                                        </p:attrNameLst>
                                      </p:cBhvr>
                                      <p:to>
                                        <p:strVal val="visible"/>
                                      </p:to>
                                    </p:set>
                                    <p:animEffect transition="in" filter="fade">
                                      <p:cBhvr>
                                        <p:cTn id="45"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4DC269-B476-DD98-4F89-A4B54C49441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F18C84E-1B58-89B3-F37B-12C8EC806D1E}"/>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2109D2F-C184-6DCB-55B0-CCCE39608255}"/>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The Open Market: </a:t>
                </a:r>
                <a14:m>
                  <m:oMath xmlns:m="http://schemas.openxmlformats.org/officeDocument/2006/math">
                    <m:sSub>
                      <m:sSubPr>
                        <m:ctrlPr>
                          <a:rPr lang="en-US" altLang="zh-TW" sz="4000" i="1" smtClean="0">
                            <a:solidFill>
                              <a:schemeClr val="bg1"/>
                            </a:solidFill>
                            <a:latin typeface="Cambria Math" panose="02040503050406030204" pitchFamily="18" charset="0"/>
                          </a:rPr>
                        </m:ctrlPr>
                      </m:sSubPr>
                      <m:e>
                        <m:r>
                          <m:rPr>
                            <m:nor/>
                          </m:rPr>
                          <a:rPr lang="en-US" altLang="zh-TW" sz="4000" dirty="0">
                            <a:solidFill>
                              <a:schemeClr val="bg1"/>
                            </a:solidFill>
                          </a:rPr>
                          <m:t>P</m:t>
                        </m:r>
                      </m:e>
                      <m:sub>
                        <m:r>
                          <m:rPr>
                            <m:nor/>
                          </m:rPr>
                          <a:rPr lang="en-US" altLang="zh-TW" sz="4000" dirty="0">
                            <a:solidFill>
                              <a:schemeClr val="bg1"/>
                            </a:solidFill>
                          </a:rPr>
                          <m:t>W</m:t>
                        </m:r>
                      </m:sub>
                    </m:sSub>
                    <m:r>
                      <m:rPr>
                        <m:nor/>
                      </m:rPr>
                      <a:rPr lang="en-US" altLang="zh-TW" sz="4000" dirty="0" smtClean="0">
                        <a:solidFill>
                          <a:schemeClr val="bg1"/>
                        </a:solidFill>
                      </a:rPr>
                      <m:t>&gt;</m:t>
                    </m:r>
                    <m:sSub>
                      <m:sSubPr>
                        <m:ctrlPr>
                          <a:rPr lang="en-US" altLang="zh-TW" sz="4000" i="1">
                            <a:solidFill>
                              <a:schemeClr val="bg1"/>
                            </a:solidFill>
                            <a:latin typeface="Cambria Math" panose="02040503050406030204" pitchFamily="18" charset="0"/>
                          </a:rPr>
                        </m:ctrlPr>
                      </m:sSubPr>
                      <m:e>
                        <m:r>
                          <m:rPr>
                            <m:nor/>
                          </m:rPr>
                          <a:rPr lang="en-US" altLang="zh-TW" sz="4000" dirty="0">
                            <a:solidFill>
                              <a:schemeClr val="bg1"/>
                            </a:solidFill>
                          </a:rPr>
                          <m:t>P</m:t>
                        </m:r>
                      </m:e>
                      <m:sub>
                        <m:r>
                          <m:rPr>
                            <m:nor/>
                          </m:rPr>
                          <a:rPr lang="en-US" altLang="zh-TW" sz="4000" dirty="0">
                            <a:solidFill>
                              <a:schemeClr val="bg1"/>
                            </a:solidFill>
                          </a:rPr>
                          <m:t>D</m:t>
                        </m:r>
                      </m:sub>
                    </m:sSub>
                  </m:oMath>
                </a14:m>
                <a:endParaRPr lang="en-US" sz="4000" dirty="0">
                  <a:solidFill>
                    <a:schemeClr val="bg1"/>
                  </a:solidFill>
                </a:endParaRPr>
              </a:p>
            </p:txBody>
          </p:sp>
        </mc:Choice>
        <mc:Fallback xmlns="">
          <p:sp>
            <p:nvSpPr>
              <p:cNvPr id="2" name="Title 1">
                <a:extLst>
                  <a:ext uri="{FF2B5EF4-FFF2-40B4-BE49-F238E27FC236}">
                    <a16:creationId xmlns:a16="http://schemas.microsoft.com/office/drawing/2014/main" id="{42109D2F-C184-6DCB-55B0-CCCE39608255}"/>
                  </a:ext>
                </a:extLst>
              </p:cNvPr>
              <p:cNvSpPr>
                <a:spLocks noGrp="1" noRot="1" noChangeAspect="1" noMove="1" noResize="1" noEditPoints="1" noAdjustHandles="1" noChangeArrowheads="1" noChangeShapeType="1" noTextEdit="1"/>
              </p:cNvSpPr>
              <p:nvPr>
                <p:ph type="title"/>
              </p:nvPr>
            </p:nvSpPr>
            <p:spPr>
              <a:xfrm>
                <a:off x="0" y="0"/>
                <a:ext cx="12188825" cy="923636"/>
              </a:xfrm>
              <a:blipFill>
                <a:blip r:embed="rId2"/>
                <a:stretch>
                  <a:fillRect b="-16447"/>
                </a:stretch>
              </a:blipFill>
            </p:spPr>
            <p:txBody>
              <a:bodyPr/>
              <a:lstStyle/>
              <a:p>
                <a:r>
                  <a:rPr lang="en-US">
                    <a:noFill/>
                  </a:rPr>
                  <a:t> </a:t>
                </a:r>
              </a:p>
            </p:txBody>
          </p:sp>
        </mc:Fallback>
      </mc:AlternateContent>
      <p:sp>
        <p:nvSpPr>
          <p:cNvPr id="5" name="Rectangle 4">
            <a:extLst>
              <a:ext uri="{FF2B5EF4-FFF2-40B4-BE49-F238E27FC236}">
                <a16:creationId xmlns:a16="http://schemas.microsoft.com/office/drawing/2014/main" id="{F840BDAB-0DBE-366F-A390-F1FCD31AD163}"/>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B78CF099-0A60-03F6-4347-44EB768A8726}"/>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1F6F8F09-2593-234B-28B8-50E52A97EDA8}"/>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8</a:t>
            </a:fld>
            <a:r>
              <a:rPr lang="en-US" b="1" dirty="0">
                <a:solidFill>
                  <a:schemeClr val="bg1"/>
                </a:solidFill>
                <a:latin typeface="Garamond" panose="02020404030301010803" pitchFamily="18" charset="0"/>
              </a:rPr>
              <a:t> </a:t>
            </a:r>
          </a:p>
        </p:txBody>
      </p:sp>
      <p:sp>
        <p:nvSpPr>
          <p:cNvPr id="3" name="Content Placeholder 2">
            <a:extLst>
              <a:ext uri="{FF2B5EF4-FFF2-40B4-BE49-F238E27FC236}">
                <a16:creationId xmlns:a16="http://schemas.microsoft.com/office/drawing/2014/main" id="{3EFB6DF5-955F-A388-310F-BB766D98630E}"/>
              </a:ext>
            </a:extLst>
          </p:cNvPr>
          <p:cNvSpPr>
            <a:spLocks noGrp="1"/>
          </p:cNvSpPr>
          <p:nvPr>
            <p:ph idx="1"/>
          </p:nvPr>
        </p:nvSpPr>
        <p:spPr>
          <a:xfrm>
            <a:off x="5029199" y="1300900"/>
            <a:ext cx="6702428" cy="4937975"/>
          </a:xfrm>
        </p:spPr>
        <p:txBody>
          <a:bodyPr>
            <a:normAutofit/>
          </a:bodyPr>
          <a:lstStyle/>
          <a:p>
            <a:pPr>
              <a:spcBef>
                <a:spcPts val="576"/>
              </a:spcBef>
              <a:defRPr sz="2000">
                <a:solidFill>
                  <a:srgbClr val="000000"/>
                </a:solidFill>
                <a:latin typeface="Garamond"/>
              </a:defRPr>
            </a:pPr>
            <a:r>
              <a:rPr lang="en-US" altLang="zh-TW" sz="2400" dirty="0"/>
              <a:t>Let us compare the welfare implications.</a:t>
            </a:r>
          </a:p>
          <a:p>
            <a:pPr lvl="3">
              <a:spcBef>
                <a:spcPts val="576"/>
              </a:spcBef>
              <a:defRPr sz="2000">
                <a:solidFill>
                  <a:srgbClr val="000000"/>
                </a:solidFill>
                <a:latin typeface="Garamond"/>
              </a:defRPr>
            </a:pPr>
            <a:endParaRPr lang="en-US" altLang="zh-TW" sz="1200" dirty="0"/>
          </a:p>
          <a:p>
            <a:pPr>
              <a:spcBef>
                <a:spcPts val="576"/>
              </a:spcBef>
              <a:defRPr sz="2000">
                <a:solidFill>
                  <a:srgbClr val="000000"/>
                </a:solidFill>
                <a:latin typeface="Garamond"/>
              </a:defRPr>
            </a:pPr>
            <a:r>
              <a:rPr lang="en-US" altLang="zh-TW" sz="2400" dirty="0"/>
              <a:t>In a closed economy without trade:</a:t>
            </a:r>
          </a:p>
          <a:p>
            <a:pPr lvl="1">
              <a:spcBef>
                <a:spcPts val="576"/>
              </a:spcBef>
              <a:defRPr sz="2000">
                <a:solidFill>
                  <a:srgbClr val="000000"/>
                </a:solidFill>
                <a:latin typeface="Garamond"/>
              </a:defRPr>
            </a:pPr>
            <a:r>
              <a:rPr lang="en-US" altLang="zh-TW" sz="2000" dirty="0"/>
              <a:t>Producer Surplus: C ($125)</a:t>
            </a:r>
          </a:p>
          <a:p>
            <a:pPr lvl="1">
              <a:spcBef>
                <a:spcPts val="576"/>
              </a:spcBef>
              <a:defRPr sz="2000">
                <a:solidFill>
                  <a:srgbClr val="000000"/>
                </a:solidFill>
                <a:latin typeface="Garamond"/>
              </a:defRPr>
            </a:pPr>
            <a:r>
              <a:rPr lang="en-US" altLang="zh-TW" sz="2000" dirty="0"/>
              <a:t>Consumer Surplus: A+B ($125)</a:t>
            </a:r>
          </a:p>
          <a:p>
            <a:pPr lvl="1">
              <a:spcBef>
                <a:spcPts val="576"/>
              </a:spcBef>
              <a:defRPr sz="2000">
                <a:solidFill>
                  <a:srgbClr val="000000"/>
                </a:solidFill>
                <a:latin typeface="Garamond"/>
              </a:defRPr>
            </a:pPr>
            <a:r>
              <a:rPr lang="en-US" altLang="zh-TW" sz="2000" dirty="0"/>
              <a:t>Total Surplus: A+B+C ($250)</a:t>
            </a:r>
          </a:p>
          <a:p>
            <a:pPr lvl="4">
              <a:spcBef>
                <a:spcPts val="576"/>
              </a:spcBef>
              <a:defRPr sz="2000">
                <a:solidFill>
                  <a:srgbClr val="000000"/>
                </a:solidFill>
                <a:latin typeface="Garamond"/>
              </a:defRPr>
            </a:pPr>
            <a:endParaRPr lang="en-US" altLang="zh-TW" sz="1200" dirty="0"/>
          </a:p>
          <a:p>
            <a:pPr>
              <a:spcBef>
                <a:spcPts val="576"/>
              </a:spcBef>
              <a:defRPr sz="2000">
                <a:solidFill>
                  <a:srgbClr val="000000"/>
                </a:solidFill>
                <a:latin typeface="Garamond"/>
              </a:defRPr>
            </a:pPr>
            <a:r>
              <a:rPr lang="en-US" altLang="zh-TW" sz="2400" dirty="0"/>
              <a:t>In the open economy with trade:</a:t>
            </a:r>
          </a:p>
          <a:p>
            <a:pPr lvl="1">
              <a:spcBef>
                <a:spcPts val="576"/>
              </a:spcBef>
              <a:defRPr sz="2000">
                <a:solidFill>
                  <a:srgbClr val="000000"/>
                </a:solidFill>
                <a:latin typeface="Garamond"/>
              </a:defRPr>
            </a:pPr>
            <a:r>
              <a:rPr lang="en-US" altLang="zh-TW" sz="2000" dirty="0"/>
              <a:t>Producer Surplus: B+C+D ($245)</a:t>
            </a:r>
          </a:p>
          <a:p>
            <a:pPr lvl="1">
              <a:spcBef>
                <a:spcPts val="576"/>
              </a:spcBef>
              <a:defRPr sz="2000">
                <a:solidFill>
                  <a:srgbClr val="000000"/>
                </a:solidFill>
                <a:latin typeface="Garamond"/>
              </a:defRPr>
            </a:pPr>
            <a:r>
              <a:rPr lang="en-US" altLang="zh-TW" sz="2000" dirty="0"/>
              <a:t>Consumer Surplus: A ($45)</a:t>
            </a:r>
          </a:p>
          <a:p>
            <a:pPr lvl="1">
              <a:spcBef>
                <a:spcPts val="576"/>
              </a:spcBef>
              <a:defRPr sz="2000">
                <a:solidFill>
                  <a:srgbClr val="000000"/>
                </a:solidFill>
                <a:latin typeface="Garamond"/>
              </a:defRPr>
            </a:pPr>
            <a:r>
              <a:rPr lang="en-US" altLang="zh-TW" sz="2000" dirty="0"/>
              <a:t>Total Surplus: A+B+C+D ($290)</a:t>
            </a:r>
          </a:p>
          <a:p>
            <a:pPr lvl="1">
              <a:spcBef>
                <a:spcPts val="576"/>
              </a:spcBef>
              <a:defRPr sz="2000">
                <a:solidFill>
                  <a:srgbClr val="000000"/>
                </a:solidFill>
                <a:latin typeface="Garamond"/>
              </a:defRPr>
            </a:pPr>
            <a:r>
              <a:rPr lang="en-US" altLang="zh-TW" sz="2000" dirty="0"/>
              <a:t>Gains from Trade: D ($40)</a:t>
            </a:r>
          </a:p>
        </p:txBody>
      </p:sp>
      <p:pic>
        <p:nvPicPr>
          <p:cNvPr id="10" name="Picture 9">
            <a:extLst>
              <a:ext uri="{FF2B5EF4-FFF2-40B4-BE49-F238E27FC236}">
                <a16:creationId xmlns:a16="http://schemas.microsoft.com/office/drawing/2014/main" id="{C1AFBA39-CE5C-643C-3F69-3F2C743B2062}"/>
              </a:ext>
            </a:extLst>
          </p:cNvPr>
          <p:cNvPicPr>
            <a:picLocks noChangeAspect="1"/>
          </p:cNvPicPr>
          <p:nvPr/>
        </p:nvPicPr>
        <p:blipFill>
          <a:blip r:embed="rId3"/>
          <a:srcRect/>
          <a:stretch/>
        </p:blipFill>
        <p:spPr>
          <a:xfrm>
            <a:off x="457198" y="1300900"/>
            <a:ext cx="4572000" cy="4572000"/>
          </a:xfrm>
          <a:prstGeom prst="rect">
            <a:avLst/>
          </a:prstGeom>
        </p:spPr>
      </p:pic>
      <p:pic>
        <p:nvPicPr>
          <p:cNvPr id="9" name="Picture 8" descr="A graph of the price of goods&#10;&#10;AI-generated content may be incorrect.">
            <a:extLst>
              <a:ext uri="{FF2B5EF4-FFF2-40B4-BE49-F238E27FC236}">
                <a16:creationId xmlns:a16="http://schemas.microsoft.com/office/drawing/2014/main" id="{B6D02D5D-6A59-0591-A443-A4D36090332E}"/>
              </a:ext>
            </a:extLst>
          </p:cNvPr>
          <p:cNvPicPr>
            <a:picLocks noChangeAspect="1"/>
          </p:cNvPicPr>
          <p:nvPr/>
        </p:nvPicPr>
        <p:blipFill>
          <a:blip r:embed="rId4"/>
          <a:stretch>
            <a:fillRect/>
          </a:stretch>
        </p:blipFill>
        <p:spPr>
          <a:xfrm>
            <a:off x="457197" y="1300900"/>
            <a:ext cx="4572000" cy="4572000"/>
          </a:xfrm>
          <a:prstGeom prst="rect">
            <a:avLst/>
          </a:prstGeom>
        </p:spPr>
      </p:pic>
      <p:pic>
        <p:nvPicPr>
          <p:cNvPr id="13" name="Picture 12" descr="A graph of a trade&#10;&#10;AI-generated content may be incorrect.">
            <a:extLst>
              <a:ext uri="{FF2B5EF4-FFF2-40B4-BE49-F238E27FC236}">
                <a16:creationId xmlns:a16="http://schemas.microsoft.com/office/drawing/2014/main" id="{DB3DE1B3-D393-1062-18B7-68332D9A1630}"/>
              </a:ext>
            </a:extLst>
          </p:cNvPr>
          <p:cNvPicPr>
            <a:picLocks noChangeAspect="1"/>
          </p:cNvPicPr>
          <p:nvPr/>
        </p:nvPicPr>
        <p:blipFill>
          <a:blip r:embed="rId5"/>
          <a:stretch>
            <a:fillRect/>
          </a:stretch>
        </p:blipFill>
        <p:spPr>
          <a:xfrm>
            <a:off x="457196" y="1300900"/>
            <a:ext cx="4572000" cy="4572000"/>
          </a:xfrm>
          <a:prstGeom prst="rect">
            <a:avLst/>
          </a:prstGeom>
        </p:spPr>
      </p:pic>
      <p:pic>
        <p:nvPicPr>
          <p:cNvPr id="15" name="Picture 14" descr="A graph of a trade&#10;&#10;AI-generated content may be incorrect.">
            <a:extLst>
              <a:ext uri="{FF2B5EF4-FFF2-40B4-BE49-F238E27FC236}">
                <a16:creationId xmlns:a16="http://schemas.microsoft.com/office/drawing/2014/main" id="{0B42649C-2995-0661-B9A1-1CF0CC067545}"/>
              </a:ext>
            </a:extLst>
          </p:cNvPr>
          <p:cNvPicPr>
            <a:picLocks noChangeAspect="1"/>
          </p:cNvPicPr>
          <p:nvPr/>
        </p:nvPicPr>
        <p:blipFill>
          <a:blip r:embed="rId6"/>
          <a:stretch>
            <a:fillRect/>
          </a:stretch>
        </p:blipFill>
        <p:spPr>
          <a:xfrm>
            <a:off x="457195" y="1300900"/>
            <a:ext cx="4572000" cy="4572000"/>
          </a:xfrm>
          <a:prstGeom prst="rect">
            <a:avLst/>
          </a:prstGeom>
        </p:spPr>
      </p:pic>
      <p:pic>
        <p:nvPicPr>
          <p:cNvPr id="17" name="Picture 16" descr="A graph of a trade&#10;&#10;AI-generated content may be incorrect.">
            <a:extLst>
              <a:ext uri="{FF2B5EF4-FFF2-40B4-BE49-F238E27FC236}">
                <a16:creationId xmlns:a16="http://schemas.microsoft.com/office/drawing/2014/main" id="{3C84F3D2-2163-FD49-9637-E99F3742B677}"/>
              </a:ext>
            </a:extLst>
          </p:cNvPr>
          <p:cNvPicPr>
            <a:picLocks noChangeAspect="1"/>
          </p:cNvPicPr>
          <p:nvPr/>
        </p:nvPicPr>
        <p:blipFill>
          <a:blip r:embed="rId7"/>
          <a:stretch>
            <a:fillRect/>
          </a:stretch>
        </p:blipFill>
        <p:spPr>
          <a:xfrm>
            <a:off x="457194" y="1300900"/>
            <a:ext cx="4572000" cy="4572000"/>
          </a:xfrm>
          <a:prstGeom prst="rect">
            <a:avLst/>
          </a:prstGeom>
        </p:spPr>
      </p:pic>
      <p:pic>
        <p:nvPicPr>
          <p:cNvPr id="19" name="Picture 18" descr="A graph of a trade&#10;&#10;AI-generated content may be incorrect.">
            <a:extLst>
              <a:ext uri="{FF2B5EF4-FFF2-40B4-BE49-F238E27FC236}">
                <a16:creationId xmlns:a16="http://schemas.microsoft.com/office/drawing/2014/main" id="{8A8A98CD-A3F1-EB40-E6FA-7717AA14BA6F}"/>
              </a:ext>
            </a:extLst>
          </p:cNvPr>
          <p:cNvPicPr>
            <a:picLocks noChangeAspect="1"/>
          </p:cNvPicPr>
          <p:nvPr/>
        </p:nvPicPr>
        <p:blipFill>
          <a:blip r:embed="rId8"/>
          <a:stretch>
            <a:fillRect/>
          </a:stretch>
        </p:blipFill>
        <p:spPr>
          <a:xfrm>
            <a:off x="457193" y="1300900"/>
            <a:ext cx="4572000" cy="4572000"/>
          </a:xfrm>
          <a:prstGeom prst="rect">
            <a:avLst/>
          </a:prstGeom>
        </p:spPr>
      </p:pic>
      <p:pic>
        <p:nvPicPr>
          <p:cNvPr id="21" name="Picture 20" descr="A diagram of a graph&#10;&#10;AI-generated content may be incorrect.">
            <a:extLst>
              <a:ext uri="{FF2B5EF4-FFF2-40B4-BE49-F238E27FC236}">
                <a16:creationId xmlns:a16="http://schemas.microsoft.com/office/drawing/2014/main" id="{4B03E4D5-89FE-EAA3-8881-943DA8D09045}"/>
              </a:ext>
            </a:extLst>
          </p:cNvPr>
          <p:cNvPicPr>
            <a:picLocks noChangeAspect="1"/>
          </p:cNvPicPr>
          <p:nvPr/>
        </p:nvPicPr>
        <p:blipFill>
          <a:blip r:embed="rId9"/>
          <a:stretch>
            <a:fillRect/>
          </a:stretch>
        </p:blipFill>
        <p:spPr>
          <a:xfrm>
            <a:off x="457192" y="1300900"/>
            <a:ext cx="4572000" cy="4572000"/>
          </a:xfrm>
          <a:prstGeom prst="rect">
            <a:avLst/>
          </a:prstGeom>
        </p:spPr>
      </p:pic>
    </p:spTree>
    <p:extLst>
      <p:ext uri="{BB962C8B-B14F-4D97-AF65-F5344CB8AC3E}">
        <p14:creationId xmlns:p14="http://schemas.microsoft.com/office/powerpoint/2010/main" val="3452354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00"/>
                                        <p:tgtEl>
                                          <p:spTgt spid="13"/>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Effect transition="in" filter="fade">
                                      <p:cBhvr>
                                        <p:cTn id="33" dur="500"/>
                                        <p:tgtEl>
                                          <p:spTgt spid="3">
                                            <p:txEl>
                                              <p:pRg st="5" end="5"/>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5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animEffect transition="in" filter="fade">
                                      <p:cBhvr>
                                        <p:cTn id="41" dur="500"/>
                                        <p:tgtEl>
                                          <p:spTgt spid="3">
                                            <p:txEl>
                                              <p:pRg st="7" end="7"/>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3">
                                            <p:txEl>
                                              <p:pRg st="8" end="8"/>
                                            </p:txEl>
                                          </p:spTgt>
                                        </p:tgtEl>
                                        <p:attrNameLst>
                                          <p:attrName>style.visibility</p:attrName>
                                        </p:attrNameLst>
                                      </p:cBhvr>
                                      <p:to>
                                        <p:strVal val="visible"/>
                                      </p:to>
                                    </p:set>
                                    <p:animEffect transition="in" filter="fade">
                                      <p:cBhvr>
                                        <p:cTn id="46" dur="500"/>
                                        <p:tgtEl>
                                          <p:spTgt spid="3">
                                            <p:txEl>
                                              <p:pRg st="8" end="8"/>
                                            </p:txEl>
                                          </p:spTgt>
                                        </p:tgtEl>
                                      </p:cBhvr>
                                    </p:animEffect>
                                  </p:childTnLst>
                                </p:cTn>
                              </p:par>
                              <p:par>
                                <p:cTn id="47" presetID="10" presetClass="entr" presetSubtype="0" fill="hold"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3">
                                            <p:txEl>
                                              <p:pRg st="9" end="9"/>
                                            </p:txEl>
                                          </p:spTgt>
                                        </p:tgtEl>
                                        <p:attrNameLst>
                                          <p:attrName>style.visibility</p:attrName>
                                        </p:attrNameLst>
                                      </p:cBhvr>
                                      <p:to>
                                        <p:strVal val="visible"/>
                                      </p:to>
                                    </p:set>
                                    <p:animEffect transition="in" filter="fade">
                                      <p:cBhvr>
                                        <p:cTn id="54" dur="500"/>
                                        <p:tgtEl>
                                          <p:spTgt spid="3">
                                            <p:txEl>
                                              <p:pRg st="9" end="9"/>
                                            </p:txEl>
                                          </p:spTgt>
                                        </p:tgtEl>
                                      </p:cBhvr>
                                    </p:animEffect>
                                  </p:childTnLst>
                                </p:cTn>
                              </p:par>
                              <p:par>
                                <p:cTn id="55" presetID="10" presetClass="entr" presetSubtype="0" fill="hold" nodeType="with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500"/>
                                        <p:tgtEl>
                                          <p:spTgt spid="19"/>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3">
                                            <p:txEl>
                                              <p:pRg st="10" end="10"/>
                                            </p:txEl>
                                          </p:spTgt>
                                        </p:tgtEl>
                                        <p:attrNameLst>
                                          <p:attrName>style.visibility</p:attrName>
                                        </p:attrNameLst>
                                      </p:cBhvr>
                                      <p:to>
                                        <p:strVal val="visible"/>
                                      </p:to>
                                    </p:set>
                                    <p:animEffect transition="in" filter="fade">
                                      <p:cBhvr>
                                        <p:cTn id="62" dur="500"/>
                                        <p:tgtEl>
                                          <p:spTgt spid="3">
                                            <p:txEl>
                                              <p:pRg st="10" end="10"/>
                                            </p:txEl>
                                          </p:spTgt>
                                        </p:tgtEl>
                                      </p:cBhvr>
                                    </p:animEffect>
                                  </p:childTnLst>
                                </p:cTn>
                              </p:par>
                              <p:par>
                                <p:cTn id="63" presetID="10" presetClass="entr" presetSubtype="0" fill="hold" nodeType="withEffect">
                                  <p:stCondLst>
                                    <p:cond delay="0"/>
                                  </p:stCondLst>
                                  <p:childTnLst>
                                    <p:set>
                                      <p:cBhvr>
                                        <p:cTn id="64" dur="1" fill="hold">
                                          <p:stCondLst>
                                            <p:cond delay="0"/>
                                          </p:stCondLst>
                                        </p:cTn>
                                        <p:tgtEl>
                                          <p:spTgt spid="21"/>
                                        </p:tgtEl>
                                        <p:attrNameLst>
                                          <p:attrName>style.visibility</p:attrName>
                                        </p:attrNameLst>
                                      </p:cBhvr>
                                      <p:to>
                                        <p:strVal val="visible"/>
                                      </p:to>
                                    </p:set>
                                    <p:animEffect transition="in" filter="fade">
                                      <p:cBhvr>
                                        <p:cTn id="65" dur="500"/>
                                        <p:tgtEl>
                                          <p:spTgt spid="21"/>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3">
                                            <p:txEl>
                                              <p:pRg st="11" end="11"/>
                                            </p:txEl>
                                          </p:spTgt>
                                        </p:tgtEl>
                                        <p:attrNameLst>
                                          <p:attrName>style.visibility</p:attrName>
                                        </p:attrNameLst>
                                      </p:cBhvr>
                                      <p:to>
                                        <p:strVal val="visible"/>
                                      </p:to>
                                    </p:set>
                                    <p:animEffect transition="in" filter="fade">
                                      <p:cBhvr>
                                        <p:cTn id="70"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7A6D59-D8BC-9266-FD3E-9800B49DBD2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0C84E0F-3E4E-36B8-7E71-46C5768A3D2F}"/>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9134A73F-D54E-E81B-9931-651BF73F4961}"/>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The Open Market: </a:t>
                </a:r>
                <a14:m>
                  <m:oMath xmlns:m="http://schemas.openxmlformats.org/officeDocument/2006/math">
                    <m:sSub>
                      <m:sSubPr>
                        <m:ctrlPr>
                          <a:rPr lang="en-US" altLang="zh-TW" sz="4000" i="1" smtClean="0">
                            <a:solidFill>
                              <a:schemeClr val="bg1"/>
                            </a:solidFill>
                            <a:latin typeface="Cambria Math" panose="02040503050406030204" pitchFamily="18" charset="0"/>
                          </a:rPr>
                        </m:ctrlPr>
                      </m:sSubPr>
                      <m:e>
                        <m:r>
                          <m:rPr>
                            <m:nor/>
                          </m:rPr>
                          <a:rPr lang="en-US" altLang="zh-TW" sz="4000" dirty="0">
                            <a:solidFill>
                              <a:schemeClr val="bg1"/>
                            </a:solidFill>
                          </a:rPr>
                          <m:t>P</m:t>
                        </m:r>
                      </m:e>
                      <m:sub>
                        <m:r>
                          <m:rPr>
                            <m:nor/>
                          </m:rPr>
                          <a:rPr lang="en-US" altLang="zh-TW" sz="4000" dirty="0">
                            <a:solidFill>
                              <a:schemeClr val="bg1"/>
                            </a:solidFill>
                          </a:rPr>
                          <m:t>W</m:t>
                        </m:r>
                      </m:sub>
                    </m:sSub>
                    <m:r>
                      <m:rPr>
                        <m:nor/>
                      </m:rPr>
                      <a:rPr lang="en-US" altLang="zh-TW" sz="4000" dirty="0" smtClean="0">
                        <a:solidFill>
                          <a:schemeClr val="bg1"/>
                        </a:solidFill>
                      </a:rPr>
                      <m:t>&gt;</m:t>
                    </m:r>
                    <m:sSub>
                      <m:sSubPr>
                        <m:ctrlPr>
                          <a:rPr lang="en-US" altLang="zh-TW" sz="4000" i="1">
                            <a:solidFill>
                              <a:schemeClr val="bg1"/>
                            </a:solidFill>
                            <a:latin typeface="Cambria Math" panose="02040503050406030204" pitchFamily="18" charset="0"/>
                          </a:rPr>
                        </m:ctrlPr>
                      </m:sSubPr>
                      <m:e>
                        <m:r>
                          <m:rPr>
                            <m:nor/>
                          </m:rPr>
                          <a:rPr lang="en-US" altLang="zh-TW" sz="4000" dirty="0">
                            <a:solidFill>
                              <a:schemeClr val="bg1"/>
                            </a:solidFill>
                          </a:rPr>
                          <m:t>P</m:t>
                        </m:r>
                      </m:e>
                      <m:sub>
                        <m:r>
                          <m:rPr>
                            <m:nor/>
                          </m:rPr>
                          <a:rPr lang="en-US" altLang="zh-TW" sz="4000" dirty="0">
                            <a:solidFill>
                              <a:schemeClr val="bg1"/>
                            </a:solidFill>
                          </a:rPr>
                          <m:t>D</m:t>
                        </m:r>
                      </m:sub>
                    </m:sSub>
                  </m:oMath>
                </a14:m>
                <a:endParaRPr lang="en-US" sz="4000" dirty="0">
                  <a:solidFill>
                    <a:schemeClr val="bg1"/>
                  </a:solidFill>
                </a:endParaRPr>
              </a:p>
            </p:txBody>
          </p:sp>
        </mc:Choice>
        <mc:Fallback xmlns="">
          <p:sp>
            <p:nvSpPr>
              <p:cNvPr id="2" name="Title 1">
                <a:extLst>
                  <a:ext uri="{FF2B5EF4-FFF2-40B4-BE49-F238E27FC236}">
                    <a16:creationId xmlns:a16="http://schemas.microsoft.com/office/drawing/2014/main" id="{9134A73F-D54E-E81B-9931-651BF73F4961}"/>
                  </a:ext>
                </a:extLst>
              </p:cNvPr>
              <p:cNvSpPr>
                <a:spLocks noGrp="1" noRot="1" noChangeAspect="1" noMove="1" noResize="1" noEditPoints="1" noAdjustHandles="1" noChangeArrowheads="1" noChangeShapeType="1" noTextEdit="1"/>
              </p:cNvSpPr>
              <p:nvPr>
                <p:ph type="title"/>
              </p:nvPr>
            </p:nvSpPr>
            <p:spPr>
              <a:xfrm>
                <a:off x="0" y="0"/>
                <a:ext cx="12188825" cy="923636"/>
              </a:xfrm>
              <a:blipFill>
                <a:blip r:embed="rId2"/>
                <a:stretch>
                  <a:fillRect b="-16447"/>
                </a:stretch>
              </a:blipFill>
            </p:spPr>
            <p:txBody>
              <a:bodyPr/>
              <a:lstStyle/>
              <a:p>
                <a:r>
                  <a:rPr lang="en-US">
                    <a:noFill/>
                  </a:rPr>
                  <a:t> </a:t>
                </a:r>
              </a:p>
            </p:txBody>
          </p:sp>
        </mc:Fallback>
      </mc:AlternateContent>
      <p:sp>
        <p:nvSpPr>
          <p:cNvPr id="5" name="Rectangle 4">
            <a:extLst>
              <a:ext uri="{FF2B5EF4-FFF2-40B4-BE49-F238E27FC236}">
                <a16:creationId xmlns:a16="http://schemas.microsoft.com/office/drawing/2014/main" id="{AF2DEEA2-B3D3-6376-4FE3-42A912E418C4}"/>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B4972252-2251-2380-7B43-420F720BFAEE}"/>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89649821-D4F9-7B28-FF18-7B773456DB80}"/>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9</a:t>
            </a:fld>
            <a:r>
              <a:rPr lang="en-US" b="1" dirty="0">
                <a:solidFill>
                  <a:schemeClr val="bg1"/>
                </a:solidFill>
                <a:latin typeface="Garamond" panose="02020404030301010803" pitchFamily="18" charset="0"/>
              </a:rPr>
              <a:t>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CF01E4D-5FD3-0CEE-B1C3-1154EF9DCFFE}"/>
                  </a:ext>
                </a:extLst>
              </p:cNvPr>
              <p:cNvSpPr>
                <a:spLocks noGrp="1"/>
              </p:cNvSpPr>
              <p:nvPr>
                <p:ph idx="1"/>
              </p:nvPr>
            </p:nvSpPr>
            <p:spPr>
              <a:xfrm>
                <a:off x="5029198" y="1300900"/>
                <a:ext cx="6702429" cy="4937975"/>
              </a:xfrm>
            </p:spPr>
            <p:txBody>
              <a:bodyPr>
                <a:normAutofit/>
              </a:bodyPr>
              <a:lstStyle/>
              <a:p>
                <a:pPr>
                  <a:spcBef>
                    <a:spcPts val="576"/>
                  </a:spcBef>
                  <a:defRPr sz="2000">
                    <a:solidFill>
                      <a:srgbClr val="000000"/>
                    </a:solidFill>
                    <a:latin typeface="Garamond"/>
                  </a:defRPr>
                </a:pPr>
                <a:r>
                  <a:rPr lang="en-US" altLang="zh-TW" sz="2400" dirty="0"/>
                  <a:t>The domestic consumers are made worse off, as domestic prices increase to </a:t>
                </a:r>
                <a14:m>
                  <m:oMath xmlns:m="http://schemas.openxmlformats.org/officeDocument/2006/math">
                    <m:sSub>
                      <m:sSubPr>
                        <m:ctrlPr>
                          <a:rPr lang="en-US" altLang="zh-TW" sz="2400" i="1">
                            <a:latin typeface="Cambria Math" panose="02040503050406030204" pitchFamily="18" charset="0"/>
                          </a:rPr>
                        </m:ctrlPr>
                      </m:sSubPr>
                      <m:e>
                        <m:r>
                          <m:rPr>
                            <m:nor/>
                          </m:rPr>
                          <a:rPr lang="en-US" altLang="zh-TW" sz="2400" dirty="0"/>
                          <m:t>P</m:t>
                        </m:r>
                      </m:e>
                      <m:sub>
                        <m:r>
                          <m:rPr>
                            <m:nor/>
                          </m:rPr>
                          <a:rPr lang="en-US" altLang="zh-TW" sz="2400" dirty="0"/>
                          <m:t>W</m:t>
                        </m:r>
                      </m:sub>
                    </m:sSub>
                  </m:oMath>
                </a14:m>
                <a:r>
                  <a:rPr lang="en-US" altLang="zh-TW" sz="2400" dirty="0"/>
                  <a:t>, and they buy less units.</a:t>
                </a:r>
              </a:p>
              <a:p>
                <a:pPr lvl="3">
                  <a:spcBef>
                    <a:spcPts val="576"/>
                  </a:spcBef>
                  <a:defRPr sz="2000">
                    <a:solidFill>
                      <a:srgbClr val="000000"/>
                    </a:solidFill>
                    <a:latin typeface="Garamond"/>
                  </a:defRPr>
                </a:pPr>
                <a:endParaRPr lang="en-US" altLang="zh-TW" sz="1200" dirty="0"/>
              </a:p>
              <a:p>
                <a:pPr>
                  <a:spcBef>
                    <a:spcPts val="576"/>
                  </a:spcBef>
                  <a:defRPr sz="2000">
                    <a:solidFill>
                      <a:srgbClr val="000000"/>
                    </a:solidFill>
                    <a:latin typeface="Garamond"/>
                  </a:defRPr>
                </a:pPr>
                <a:r>
                  <a:rPr lang="en-US" altLang="zh-TW" sz="2400" dirty="0"/>
                  <a:t>However, the gains to the producers are greater than the losses to the consumers.</a:t>
                </a:r>
              </a:p>
              <a:p>
                <a:pPr lvl="3">
                  <a:spcBef>
                    <a:spcPts val="576"/>
                  </a:spcBef>
                  <a:defRPr sz="2000">
                    <a:solidFill>
                      <a:srgbClr val="000000"/>
                    </a:solidFill>
                    <a:latin typeface="Garamond"/>
                  </a:defRPr>
                </a:pPr>
                <a:endParaRPr lang="en-US" altLang="zh-TW" sz="1200" dirty="0"/>
              </a:p>
              <a:p>
                <a:pPr>
                  <a:spcBef>
                    <a:spcPts val="576"/>
                  </a:spcBef>
                  <a:defRPr sz="2000">
                    <a:solidFill>
                      <a:srgbClr val="000000"/>
                    </a:solidFill>
                    <a:latin typeface="Garamond"/>
                  </a:defRPr>
                </a:pPr>
                <a:r>
                  <a:rPr lang="en-US" altLang="zh-TW" sz="2400" dirty="0"/>
                  <a:t>Therefore, total welfare increases by the area D.</a:t>
                </a:r>
              </a:p>
              <a:p>
                <a:pPr lvl="3">
                  <a:spcBef>
                    <a:spcPts val="576"/>
                  </a:spcBef>
                  <a:defRPr sz="2000">
                    <a:solidFill>
                      <a:srgbClr val="000000"/>
                    </a:solidFill>
                    <a:latin typeface="Garamond"/>
                  </a:defRPr>
                </a:pPr>
                <a:endParaRPr lang="en-US" altLang="zh-TW" sz="1200" dirty="0"/>
              </a:p>
              <a:p>
                <a:pPr>
                  <a:spcBef>
                    <a:spcPts val="576"/>
                  </a:spcBef>
                  <a:defRPr sz="2000">
                    <a:solidFill>
                      <a:srgbClr val="000000"/>
                    </a:solidFill>
                    <a:latin typeface="Garamond"/>
                  </a:defRPr>
                </a:pPr>
                <a:endParaRPr lang="en-US" altLang="zh-TW" sz="2400" dirty="0"/>
              </a:p>
            </p:txBody>
          </p:sp>
        </mc:Choice>
        <mc:Fallback xmlns="">
          <p:sp>
            <p:nvSpPr>
              <p:cNvPr id="3" name="Content Placeholder 2">
                <a:extLst>
                  <a:ext uri="{FF2B5EF4-FFF2-40B4-BE49-F238E27FC236}">
                    <a16:creationId xmlns:a16="http://schemas.microsoft.com/office/drawing/2014/main" id="{ACF01E4D-5FD3-0CEE-B1C3-1154EF9DCFFE}"/>
                  </a:ext>
                </a:extLst>
              </p:cNvPr>
              <p:cNvSpPr>
                <a:spLocks noGrp="1" noRot="1" noChangeAspect="1" noMove="1" noResize="1" noEditPoints="1" noAdjustHandles="1" noChangeArrowheads="1" noChangeShapeType="1" noTextEdit="1"/>
              </p:cNvSpPr>
              <p:nvPr>
                <p:ph idx="1"/>
              </p:nvPr>
            </p:nvSpPr>
            <p:spPr>
              <a:xfrm>
                <a:off x="5029198" y="1300900"/>
                <a:ext cx="6702429" cy="4937975"/>
              </a:xfrm>
              <a:blipFill>
                <a:blip r:embed="rId3"/>
                <a:stretch>
                  <a:fillRect l="-1183" t="-988"/>
                </a:stretch>
              </a:blipFill>
            </p:spPr>
            <p:txBody>
              <a:bodyPr/>
              <a:lstStyle/>
              <a:p>
                <a:r>
                  <a:rPr lang="en-US">
                    <a:noFill/>
                  </a:rPr>
                  <a:t> </a:t>
                </a:r>
              </a:p>
            </p:txBody>
          </p:sp>
        </mc:Fallback>
      </mc:AlternateContent>
      <p:pic>
        <p:nvPicPr>
          <p:cNvPr id="10" name="Picture 9">
            <a:extLst>
              <a:ext uri="{FF2B5EF4-FFF2-40B4-BE49-F238E27FC236}">
                <a16:creationId xmlns:a16="http://schemas.microsoft.com/office/drawing/2014/main" id="{47A6E705-8C2C-CC3E-143A-837938AECBA6}"/>
              </a:ext>
            </a:extLst>
          </p:cNvPr>
          <p:cNvPicPr>
            <a:picLocks noChangeAspect="1"/>
          </p:cNvPicPr>
          <p:nvPr/>
        </p:nvPicPr>
        <p:blipFill>
          <a:blip r:embed="rId4"/>
          <a:srcRect/>
          <a:stretch/>
        </p:blipFill>
        <p:spPr>
          <a:xfrm>
            <a:off x="457198" y="1300900"/>
            <a:ext cx="4572000" cy="4572000"/>
          </a:xfrm>
          <a:prstGeom prst="rect">
            <a:avLst/>
          </a:prstGeom>
        </p:spPr>
      </p:pic>
    </p:spTree>
    <p:extLst>
      <p:ext uri="{BB962C8B-B14F-4D97-AF65-F5344CB8AC3E}">
        <p14:creationId xmlns:p14="http://schemas.microsoft.com/office/powerpoint/2010/main" val="1733521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372C0-1FA4-F2D3-BFC1-B97FACD0006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9A708FD-9244-17AC-1D19-1D4F53928B57}"/>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8C6CC0D-B632-8BF5-ED1D-F60169485DCB}"/>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Exercise: International Trade and Welfare</a:t>
            </a:r>
          </a:p>
        </p:txBody>
      </p:sp>
      <p:sp>
        <p:nvSpPr>
          <p:cNvPr id="5" name="Rectangle 4">
            <a:extLst>
              <a:ext uri="{FF2B5EF4-FFF2-40B4-BE49-F238E27FC236}">
                <a16:creationId xmlns:a16="http://schemas.microsoft.com/office/drawing/2014/main" id="{96CFCD63-6EE1-9B5B-F700-7B67BDF2F6DE}"/>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BEA7EAE8-02C0-306D-08D2-B6C41F8FF08D}"/>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F5B45758-FA0D-8FBC-E391-C3BE123BCD00}"/>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10</a:t>
            </a:fld>
            <a:r>
              <a:rPr lang="en-US" b="1" dirty="0">
                <a:solidFill>
                  <a:schemeClr val="bg1"/>
                </a:solidFill>
                <a:latin typeface="Garamond" panose="02020404030301010803" pitchFamily="18" charset="0"/>
              </a:rPr>
              <a:t> </a:t>
            </a:r>
          </a:p>
        </p:txBody>
      </p:sp>
      <p:sp>
        <p:nvSpPr>
          <p:cNvPr id="11" name="Content Placeholder 2">
            <a:extLst>
              <a:ext uri="{FF2B5EF4-FFF2-40B4-BE49-F238E27FC236}">
                <a16:creationId xmlns:a16="http://schemas.microsoft.com/office/drawing/2014/main" id="{67AA7448-5EDF-580C-278B-97B8D56019DD}"/>
              </a:ext>
            </a:extLst>
          </p:cNvPr>
          <p:cNvSpPr>
            <a:spLocks noGrp="1"/>
          </p:cNvSpPr>
          <p:nvPr>
            <p:ph idx="1"/>
          </p:nvPr>
        </p:nvSpPr>
        <p:spPr>
          <a:xfrm>
            <a:off x="457199" y="1300900"/>
            <a:ext cx="11189855" cy="5081046"/>
          </a:xfrm>
        </p:spPr>
        <p:txBody>
          <a:bodyPr>
            <a:normAutofit/>
          </a:bodyPr>
          <a:lstStyle/>
          <a:p>
            <a:pPr>
              <a:spcBef>
                <a:spcPts val="576"/>
              </a:spcBef>
              <a:defRPr sz="2000">
                <a:solidFill>
                  <a:srgbClr val="000000"/>
                </a:solidFill>
                <a:latin typeface="Garamond"/>
              </a:defRPr>
            </a:pPr>
            <a:r>
              <a:rPr lang="en-US" altLang="zh-TW" sz="2400" b="1" dirty="0"/>
              <a:t>Scenario:</a:t>
            </a:r>
          </a:p>
          <a:p>
            <a:pPr marL="400050" lvl="1" indent="0">
              <a:spcBef>
                <a:spcPts val="576"/>
              </a:spcBef>
              <a:buNone/>
              <a:defRPr sz="2000">
                <a:solidFill>
                  <a:srgbClr val="000000"/>
                </a:solidFill>
                <a:latin typeface="Garamond"/>
              </a:defRPr>
            </a:pPr>
            <a:r>
              <a:rPr lang="en-US" altLang="zh-TW" sz="2400" dirty="0"/>
              <a:t>Suppose a country that has closed off its agricultural sector to international trade opened its agricultural market. Following this change, the price of oranges nearly doubled.</a:t>
            </a:r>
          </a:p>
          <a:p>
            <a:pPr lvl="3">
              <a:spcBef>
                <a:spcPts val="576"/>
              </a:spcBef>
              <a:defRPr sz="2000">
                <a:solidFill>
                  <a:srgbClr val="000000"/>
                </a:solidFill>
                <a:latin typeface="Garamond"/>
              </a:defRPr>
            </a:pPr>
            <a:endParaRPr lang="en-US" altLang="zh-TW" sz="1200" dirty="0"/>
          </a:p>
          <a:p>
            <a:pPr>
              <a:spcBef>
                <a:spcPts val="576"/>
              </a:spcBef>
              <a:defRPr sz="2000">
                <a:solidFill>
                  <a:srgbClr val="000000"/>
                </a:solidFill>
                <a:latin typeface="Garamond"/>
              </a:defRPr>
            </a:pPr>
            <a:r>
              <a:rPr lang="en-US" altLang="zh-TW" sz="2400" dirty="0"/>
              <a:t>Questions:</a:t>
            </a:r>
          </a:p>
          <a:p>
            <a:pPr lvl="1">
              <a:spcBef>
                <a:spcPts val="576"/>
              </a:spcBef>
              <a:defRPr sz="2000">
                <a:solidFill>
                  <a:srgbClr val="000000"/>
                </a:solidFill>
                <a:latin typeface="Garamond"/>
              </a:defRPr>
            </a:pPr>
            <a:r>
              <a:rPr lang="en-US" altLang="zh-TW" sz="2000" dirty="0"/>
              <a:t>Does this country have a comparative advantage in the production of oranges?</a:t>
            </a:r>
          </a:p>
          <a:p>
            <a:pPr lvl="1">
              <a:spcBef>
                <a:spcPts val="576"/>
              </a:spcBef>
              <a:defRPr sz="2000">
                <a:solidFill>
                  <a:srgbClr val="000000"/>
                </a:solidFill>
                <a:latin typeface="Garamond"/>
              </a:defRPr>
            </a:pPr>
            <a:endParaRPr lang="en-US" altLang="zh-TW" sz="2000" dirty="0"/>
          </a:p>
          <a:p>
            <a:pPr lvl="1">
              <a:spcBef>
                <a:spcPts val="576"/>
              </a:spcBef>
              <a:defRPr sz="2000">
                <a:solidFill>
                  <a:srgbClr val="000000"/>
                </a:solidFill>
                <a:latin typeface="Garamond"/>
              </a:defRPr>
            </a:pPr>
            <a:endParaRPr lang="en-US" altLang="zh-TW" sz="2000" dirty="0"/>
          </a:p>
          <a:p>
            <a:pPr lvl="1">
              <a:spcBef>
                <a:spcPts val="576"/>
              </a:spcBef>
              <a:defRPr sz="2000">
                <a:solidFill>
                  <a:srgbClr val="000000"/>
                </a:solidFill>
                <a:latin typeface="Garamond"/>
              </a:defRPr>
            </a:pPr>
            <a:r>
              <a:rPr lang="en-US" altLang="zh-TW" sz="2000" dirty="0"/>
              <a:t>Are the domestic consumers of oranges better off or worse off following this change?</a:t>
            </a:r>
          </a:p>
          <a:p>
            <a:pPr lvl="1">
              <a:spcBef>
                <a:spcPts val="576"/>
              </a:spcBef>
              <a:defRPr sz="2000">
                <a:solidFill>
                  <a:srgbClr val="000000"/>
                </a:solidFill>
                <a:latin typeface="Garamond"/>
              </a:defRPr>
            </a:pPr>
            <a:endParaRPr lang="en-US" altLang="zh-TW" sz="2000" dirty="0"/>
          </a:p>
          <a:p>
            <a:pPr lvl="1">
              <a:spcBef>
                <a:spcPts val="576"/>
              </a:spcBef>
              <a:defRPr sz="2000">
                <a:solidFill>
                  <a:srgbClr val="000000"/>
                </a:solidFill>
                <a:latin typeface="Garamond"/>
              </a:defRPr>
            </a:pPr>
            <a:r>
              <a:rPr lang="en-US" altLang="zh-TW" sz="2000" dirty="0"/>
              <a:t>Are there any gains from international trade?</a:t>
            </a:r>
          </a:p>
        </p:txBody>
      </p:sp>
      <p:sp>
        <p:nvSpPr>
          <p:cNvPr id="12" name="Rectangle 11">
            <a:extLst>
              <a:ext uri="{FF2B5EF4-FFF2-40B4-BE49-F238E27FC236}">
                <a16:creationId xmlns:a16="http://schemas.microsoft.com/office/drawing/2014/main" id="{C90628A9-F0CB-B617-EBA9-9CA2D1C9E978}"/>
              </a:ext>
            </a:extLst>
          </p:cNvPr>
          <p:cNvSpPr/>
          <p:nvPr/>
        </p:nvSpPr>
        <p:spPr>
          <a:xfrm>
            <a:off x="1260560" y="3627246"/>
            <a:ext cx="10142008" cy="696526"/>
          </a:xfrm>
          <a:prstGeom prst="rect">
            <a:avLst/>
          </a:prstGeom>
          <a:solidFill>
            <a:schemeClr val="bg1"/>
          </a:solidFill>
          <a:ln>
            <a:solidFill>
              <a:srgbClr val="77122C"/>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altLang="zh-TW" sz="2000" dirty="0">
                <a:solidFill>
                  <a:srgbClr val="000000"/>
                </a:solidFill>
                <a:latin typeface="Garamond"/>
              </a:rPr>
              <a:t>The domestic price increased, which means that the world price is higher than the domestic price. So, this country has comparative advantage in the production of oranges and would export them.</a:t>
            </a:r>
            <a:endParaRPr lang="en-US" sz="2000" dirty="0">
              <a:solidFill>
                <a:srgbClr val="000000"/>
              </a:solidFill>
              <a:latin typeface="Garamond"/>
            </a:endParaRPr>
          </a:p>
        </p:txBody>
      </p:sp>
      <p:sp>
        <p:nvSpPr>
          <p:cNvPr id="15" name="Rectangle 14">
            <a:extLst>
              <a:ext uri="{FF2B5EF4-FFF2-40B4-BE49-F238E27FC236}">
                <a16:creationId xmlns:a16="http://schemas.microsoft.com/office/drawing/2014/main" id="{CD21F046-15C0-85A0-EAB7-6E758F861EE6}"/>
              </a:ext>
            </a:extLst>
          </p:cNvPr>
          <p:cNvSpPr/>
          <p:nvPr/>
        </p:nvSpPr>
        <p:spPr>
          <a:xfrm>
            <a:off x="1260560" y="4759722"/>
            <a:ext cx="10142008" cy="379205"/>
          </a:xfrm>
          <a:prstGeom prst="rect">
            <a:avLst/>
          </a:prstGeom>
          <a:solidFill>
            <a:schemeClr val="bg1"/>
          </a:solidFill>
          <a:ln>
            <a:solidFill>
              <a:srgbClr val="77122C"/>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altLang="zh-TW" sz="2000" dirty="0">
                <a:solidFill>
                  <a:srgbClr val="000000"/>
                </a:solidFill>
                <a:latin typeface="Garamond"/>
              </a:rPr>
              <a:t>Domestic consumers now pay a higher price (world price), and consume less, so are worse off.</a:t>
            </a:r>
            <a:endParaRPr lang="en-US" sz="2000" dirty="0">
              <a:solidFill>
                <a:srgbClr val="000000"/>
              </a:solidFill>
              <a:latin typeface="Garamond"/>
            </a:endParaRPr>
          </a:p>
        </p:txBody>
      </p:sp>
      <p:sp>
        <p:nvSpPr>
          <p:cNvPr id="16" name="Rectangle 15">
            <a:extLst>
              <a:ext uri="{FF2B5EF4-FFF2-40B4-BE49-F238E27FC236}">
                <a16:creationId xmlns:a16="http://schemas.microsoft.com/office/drawing/2014/main" id="{BAD9F048-0E6A-CB3F-4655-EAE9D8B3E8CA}"/>
              </a:ext>
            </a:extLst>
          </p:cNvPr>
          <p:cNvSpPr/>
          <p:nvPr/>
        </p:nvSpPr>
        <p:spPr>
          <a:xfrm>
            <a:off x="1260560" y="5520054"/>
            <a:ext cx="10142008" cy="696526"/>
          </a:xfrm>
          <a:prstGeom prst="rect">
            <a:avLst/>
          </a:prstGeom>
          <a:solidFill>
            <a:schemeClr val="bg1"/>
          </a:solidFill>
          <a:ln>
            <a:solidFill>
              <a:srgbClr val="77122C"/>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altLang="zh-TW" sz="2000" dirty="0">
                <a:solidFill>
                  <a:srgbClr val="000000"/>
                </a:solidFill>
                <a:latin typeface="Garamond"/>
              </a:rPr>
              <a:t>The gains to the domestic producers of oranges outweigh the loss of the consumers, so overall the economy is better off. </a:t>
            </a:r>
            <a:endParaRPr lang="en-US" sz="2000" dirty="0">
              <a:solidFill>
                <a:srgbClr val="000000"/>
              </a:solidFill>
              <a:latin typeface="Garamond"/>
            </a:endParaRPr>
          </a:p>
        </p:txBody>
      </p:sp>
    </p:spTree>
    <p:extLst>
      <p:ext uri="{BB962C8B-B14F-4D97-AF65-F5344CB8AC3E}">
        <p14:creationId xmlns:p14="http://schemas.microsoft.com/office/powerpoint/2010/main" val="3214726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animEffect transition="in" filter="fade">
                                      <p:cBhvr>
                                        <p:cTn id="7" dur="500"/>
                                        <p:tgtEl>
                                          <p:spTgt spid="11">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1">
                                            <p:txEl>
                                              <p:pRg st="3" end="3"/>
                                            </p:txEl>
                                          </p:spTgt>
                                        </p:tgtEl>
                                        <p:attrNameLst>
                                          <p:attrName>style.visibility</p:attrName>
                                        </p:attrNameLst>
                                      </p:cBhvr>
                                      <p:to>
                                        <p:strVal val="visible"/>
                                      </p:to>
                                    </p:set>
                                    <p:animEffect transition="in" filter="fade">
                                      <p:cBhvr>
                                        <p:cTn id="10" dur="500"/>
                                        <p:tgtEl>
                                          <p:spTgt spid="11">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xEl>
                                              <p:pRg st="4" end="4"/>
                                            </p:txEl>
                                          </p:spTgt>
                                        </p:tgtEl>
                                        <p:attrNameLst>
                                          <p:attrName>style.visibility</p:attrName>
                                        </p:attrNameLst>
                                      </p:cBhvr>
                                      <p:to>
                                        <p:strVal val="visible"/>
                                      </p:to>
                                    </p:set>
                                    <p:animEffect transition="in" filter="fade">
                                      <p:cBhvr>
                                        <p:cTn id="13" dur="500"/>
                                        <p:tgtEl>
                                          <p:spTgt spid="11">
                                            <p:txEl>
                                              <p:pRg st="4" end="4"/>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xEl>
                                              <p:pRg st="7" end="7"/>
                                            </p:txEl>
                                          </p:spTgt>
                                        </p:tgtEl>
                                        <p:attrNameLst>
                                          <p:attrName>style.visibility</p:attrName>
                                        </p:attrNameLst>
                                      </p:cBhvr>
                                      <p:to>
                                        <p:strVal val="visible"/>
                                      </p:to>
                                    </p:set>
                                    <p:animEffect transition="in" filter="fade">
                                      <p:cBhvr>
                                        <p:cTn id="16" dur="500"/>
                                        <p:tgtEl>
                                          <p:spTgt spid="11">
                                            <p:txEl>
                                              <p:pRg st="7" end="7"/>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11">
                                            <p:txEl>
                                              <p:pRg st="9" end="9"/>
                                            </p:txEl>
                                          </p:spTgt>
                                        </p:tgtEl>
                                        <p:attrNameLst>
                                          <p:attrName>style.visibility</p:attrName>
                                        </p:attrNameLst>
                                      </p:cBhvr>
                                      <p:to>
                                        <p:strVal val="visible"/>
                                      </p:to>
                                    </p:set>
                                    <p:animEffect transition="in" filter="fade">
                                      <p:cBhvr>
                                        <p:cTn id="19" dur="500"/>
                                        <p:tgtEl>
                                          <p:spTgt spid="11">
                                            <p:txEl>
                                              <p:pRg st="9" end="9"/>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11">
                                            <p:txEl>
                                              <p:pRg st="0" end="0"/>
                                            </p:txEl>
                                          </p:spTgt>
                                        </p:tgtEl>
                                        <p:attrNameLst>
                                          <p:attrName>style.visibility</p:attrName>
                                        </p:attrNameLst>
                                      </p:cBhvr>
                                      <p:to>
                                        <p:strVal val="visible"/>
                                      </p:to>
                                    </p:set>
                                    <p:animEffect transition="in" filter="fade">
                                      <p:cBhvr>
                                        <p:cTn id="22" dur="500"/>
                                        <p:tgtEl>
                                          <p:spTgt spid="11">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500"/>
                                        <p:tgtEl>
                                          <p:spTgt spid="1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5" grpId="0" animBg="1"/>
      <p:bldP spid="1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A557AD-DFEB-3DFF-674B-7010FD080A1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6708DAA-E12A-0BD8-946A-7FBF15DBB535}"/>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CC9C9796-91CE-A1DB-F434-669BDFC78991}"/>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The Open Market: </a:t>
                </a:r>
                <a14:m>
                  <m:oMath xmlns:m="http://schemas.openxmlformats.org/officeDocument/2006/math">
                    <m:sSub>
                      <m:sSubPr>
                        <m:ctrlPr>
                          <a:rPr lang="en-US" altLang="zh-TW" sz="4000" i="1" smtClean="0">
                            <a:solidFill>
                              <a:schemeClr val="bg1"/>
                            </a:solidFill>
                            <a:latin typeface="Cambria Math" panose="02040503050406030204" pitchFamily="18" charset="0"/>
                          </a:rPr>
                        </m:ctrlPr>
                      </m:sSubPr>
                      <m:e>
                        <m:r>
                          <m:rPr>
                            <m:nor/>
                          </m:rPr>
                          <a:rPr lang="en-US" altLang="zh-TW" sz="4000" dirty="0">
                            <a:solidFill>
                              <a:schemeClr val="bg1"/>
                            </a:solidFill>
                          </a:rPr>
                          <m:t>P</m:t>
                        </m:r>
                      </m:e>
                      <m:sub>
                        <m:r>
                          <m:rPr>
                            <m:nor/>
                          </m:rPr>
                          <a:rPr lang="en-US" altLang="zh-TW" sz="4000" dirty="0">
                            <a:solidFill>
                              <a:schemeClr val="bg1"/>
                            </a:solidFill>
                          </a:rPr>
                          <m:t>W</m:t>
                        </m:r>
                      </m:sub>
                    </m:sSub>
                    <m:r>
                      <m:rPr>
                        <m:nor/>
                      </m:rPr>
                      <a:rPr lang="en-US" altLang="zh-TW" sz="4000" b="1" i="0" dirty="0" smtClean="0">
                        <a:solidFill>
                          <a:schemeClr val="bg1"/>
                        </a:solidFill>
                      </a:rPr>
                      <m:t>&lt;</m:t>
                    </m:r>
                    <m:sSub>
                      <m:sSubPr>
                        <m:ctrlPr>
                          <a:rPr lang="en-US" altLang="zh-TW" sz="4000" i="1">
                            <a:solidFill>
                              <a:schemeClr val="bg1"/>
                            </a:solidFill>
                            <a:latin typeface="Cambria Math" panose="02040503050406030204" pitchFamily="18" charset="0"/>
                          </a:rPr>
                        </m:ctrlPr>
                      </m:sSubPr>
                      <m:e>
                        <m:r>
                          <m:rPr>
                            <m:nor/>
                          </m:rPr>
                          <a:rPr lang="en-US" altLang="zh-TW" sz="4000" dirty="0">
                            <a:solidFill>
                              <a:schemeClr val="bg1"/>
                            </a:solidFill>
                          </a:rPr>
                          <m:t>P</m:t>
                        </m:r>
                      </m:e>
                      <m:sub>
                        <m:r>
                          <m:rPr>
                            <m:nor/>
                          </m:rPr>
                          <a:rPr lang="en-US" altLang="zh-TW" sz="4000" dirty="0">
                            <a:solidFill>
                              <a:schemeClr val="bg1"/>
                            </a:solidFill>
                          </a:rPr>
                          <m:t>D</m:t>
                        </m:r>
                      </m:sub>
                    </m:sSub>
                  </m:oMath>
                </a14:m>
                <a:endParaRPr lang="en-US" sz="4000" dirty="0">
                  <a:solidFill>
                    <a:schemeClr val="bg1"/>
                  </a:solidFill>
                </a:endParaRPr>
              </a:p>
            </p:txBody>
          </p:sp>
        </mc:Choice>
        <mc:Fallback xmlns="">
          <p:sp>
            <p:nvSpPr>
              <p:cNvPr id="2" name="Title 1">
                <a:extLst>
                  <a:ext uri="{FF2B5EF4-FFF2-40B4-BE49-F238E27FC236}">
                    <a16:creationId xmlns:a16="http://schemas.microsoft.com/office/drawing/2014/main" id="{CC9C9796-91CE-A1DB-F434-669BDFC78991}"/>
                  </a:ext>
                </a:extLst>
              </p:cNvPr>
              <p:cNvSpPr>
                <a:spLocks noGrp="1" noRot="1" noChangeAspect="1" noMove="1" noResize="1" noEditPoints="1" noAdjustHandles="1" noChangeArrowheads="1" noChangeShapeType="1" noTextEdit="1"/>
              </p:cNvSpPr>
              <p:nvPr>
                <p:ph type="title"/>
              </p:nvPr>
            </p:nvSpPr>
            <p:spPr>
              <a:xfrm>
                <a:off x="0" y="0"/>
                <a:ext cx="12188825" cy="923636"/>
              </a:xfrm>
              <a:blipFill>
                <a:blip r:embed="rId2"/>
                <a:stretch>
                  <a:fillRect b="-16447"/>
                </a:stretch>
              </a:blipFill>
            </p:spPr>
            <p:txBody>
              <a:bodyPr/>
              <a:lstStyle/>
              <a:p>
                <a:r>
                  <a:rPr lang="en-US">
                    <a:noFill/>
                  </a:rPr>
                  <a:t> </a:t>
                </a:r>
              </a:p>
            </p:txBody>
          </p:sp>
        </mc:Fallback>
      </mc:AlternateContent>
      <p:sp>
        <p:nvSpPr>
          <p:cNvPr id="5" name="Rectangle 4">
            <a:extLst>
              <a:ext uri="{FF2B5EF4-FFF2-40B4-BE49-F238E27FC236}">
                <a16:creationId xmlns:a16="http://schemas.microsoft.com/office/drawing/2014/main" id="{02A5EBA1-F587-AB56-3174-1BB94A951E2C}"/>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9E0A7812-BBCB-4C5B-5784-9F552D203BD5}"/>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D158FBCD-8613-7947-CBFA-59079D12BC5E}"/>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11</a:t>
            </a:fld>
            <a:r>
              <a:rPr lang="en-US" b="1" dirty="0">
                <a:solidFill>
                  <a:schemeClr val="bg1"/>
                </a:solidFill>
                <a:latin typeface="Garamond" panose="02020404030301010803" pitchFamily="18" charset="0"/>
              </a:rPr>
              <a:t>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9013966-3C32-8051-0BE8-D935EEFC5EEC}"/>
                  </a:ext>
                </a:extLst>
              </p:cNvPr>
              <p:cNvSpPr>
                <a:spLocks noGrp="1"/>
              </p:cNvSpPr>
              <p:nvPr>
                <p:ph idx="1"/>
              </p:nvPr>
            </p:nvSpPr>
            <p:spPr>
              <a:xfrm>
                <a:off x="5029199" y="1300900"/>
                <a:ext cx="6702428" cy="4937975"/>
              </a:xfrm>
            </p:spPr>
            <p:txBody>
              <a:bodyPr>
                <a:normAutofit/>
              </a:bodyPr>
              <a:lstStyle/>
              <a:p>
                <a:pPr>
                  <a:spcBef>
                    <a:spcPts val="576"/>
                  </a:spcBef>
                  <a:defRPr sz="2000">
                    <a:solidFill>
                      <a:srgbClr val="000000"/>
                    </a:solidFill>
                    <a:latin typeface="Garamond"/>
                  </a:defRPr>
                </a:pPr>
                <a:r>
                  <a:rPr lang="en-US" altLang="zh-TW" sz="2400" dirty="0"/>
                  <a:t>Consider the same domestic market, with </a:t>
                </a:r>
                <a14:m>
                  <m:oMath xmlns:m="http://schemas.openxmlformats.org/officeDocument/2006/math">
                    <m:sSub>
                      <m:sSubPr>
                        <m:ctrlPr>
                          <a:rPr lang="en-US" altLang="zh-TW" sz="2400" i="1">
                            <a:latin typeface="Cambria Math" panose="02040503050406030204" pitchFamily="18" charset="0"/>
                          </a:rPr>
                        </m:ctrlPr>
                      </m:sSubPr>
                      <m:e>
                        <m:r>
                          <m:rPr>
                            <m:nor/>
                          </m:rPr>
                          <a:rPr lang="en-US" altLang="zh-TW" sz="2400" dirty="0"/>
                          <m:t>P</m:t>
                        </m:r>
                      </m:e>
                      <m:sub>
                        <m:r>
                          <m:rPr>
                            <m:nor/>
                          </m:rPr>
                          <a:rPr lang="en-US" altLang="zh-TW" sz="2400" dirty="0"/>
                          <m:t>W</m:t>
                        </m:r>
                      </m:sub>
                    </m:sSub>
                    <m:r>
                      <m:rPr>
                        <m:nor/>
                      </m:rPr>
                      <a:rPr lang="en-US" altLang="zh-TW" sz="2400" b="0" i="0" dirty="0" smtClean="0"/>
                      <m:t>&lt;</m:t>
                    </m:r>
                    <m:sSub>
                      <m:sSubPr>
                        <m:ctrlPr>
                          <a:rPr lang="en-US" altLang="zh-TW" sz="2400" i="1">
                            <a:latin typeface="Cambria Math" panose="02040503050406030204" pitchFamily="18" charset="0"/>
                          </a:rPr>
                        </m:ctrlPr>
                      </m:sSubPr>
                      <m:e>
                        <m:r>
                          <m:rPr>
                            <m:nor/>
                          </m:rPr>
                          <a:rPr lang="en-US" altLang="zh-TW" sz="2400" dirty="0"/>
                          <m:t>P</m:t>
                        </m:r>
                      </m:e>
                      <m:sub>
                        <m:r>
                          <m:rPr>
                            <m:nor/>
                          </m:rPr>
                          <a:rPr lang="en-US" altLang="zh-TW" sz="2400" dirty="0"/>
                          <m:t>D</m:t>
                        </m:r>
                      </m:sub>
                    </m:sSub>
                  </m:oMath>
                </a14:m>
                <a:r>
                  <a:rPr lang="en-US" altLang="zh-TW" sz="2400" dirty="0"/>
                  <a:t>.</a:t>
                </a:r>
              </a:p>
              <a:p>
                <a:pPr lvl="3">
                  <a:spcBef>
                    <a:spcPts val="576"/>
                  </a:spcBef>
                  <a:defRPr sz="2000">
                    <a:solidFill>
                      <a:srgbClr val="000000"/>
                    </a:solidFill>
                    <a:latin typeface="Garamond"/>
                  </a:defRPr>
                </a:pPr>
                <a:endParaRPr lang="en-US" altLang="zh-TW" sz="1200" dirty="0"/>
              </a:p>
              <a:p>
                <a:pPr>
                  <a:spcBef>
                    <a:spcPts val="576"/>
                  </a:spcBef>
                  <a:defRPr sz="2000">
                    <a:solidFill>
                      <a:srgbClr val="000000"/>
                    </a:solidFill>
                    <a:latin typeface="Garamond"/>
                  </a:defRPr>
                </a:pPr>
                <a:r>
                  <a:rPr lang="en-US" altLang="zh-TW" sz="2400" dirty="0"/>
                  <a:t>Once trade is allowed, </a:t>
                </a:r>
                <a14:m>
                  <m:oMath xmlns:m="http://schemas.openxmlformats.org/officeDocument/2006/math">
                    <m:sSub>
                      <m:sSubPr>
                        <m:ctrlPr>
                          <a:rPr lang="en-US" altLang="zh-TW" sz="2400" i="1" smtClean="0">
                            <a:latin typeface="Cambria Math" panose="02040503050406030204" pitchFamily="18" charset="0"/>
                          </a:rPr>
                        </m:ctrlPr>
                      </m:sSubPr>
                      <m:e>
                        <m:r>
                          <m:rPr>
                            <m:nor/>
                          </m:rPr>
                          <a:rPr lang="en-US" altLang="zh-TW" sz="2400" dirty="0"/>
                          <m:t>P</m:t>
                        </m:r>
                      </m:e>
                      <m:sub>
                        <m:r>
                          <m:rPr>
                            <m:nor/>
                          </m:rPr>
                          <a:rPr lang="en-US" altLang="zh-TW" sz="2400" dirty="0"/>
                          <m:t>D</m:t>
                        </m:r>
                      </m:sub>
                    </m:sSub>
                  </m:oMath>
                </a14:m>
                <a:r>
                  <a:rPr lang="en-US" altLang="zh-TW" sz="2400" dirty="0"/>
                  <a:t> falls to </a:t>
                </a:r>
                <a14:m>
                  <m:oMath xmlns:m="http://schemas.openxmlformats.org/officeDocument/2006/math">
                    <m:sSub>
                      <m:sSubPr>
                        <m:ctrlPr>
                          <a:rPr lang="en-US" altLang="zh-TW" sz="2400" i="1">
                            <a:latin typeface="Cambria Math" panose="02040503050406030204" pitchFamily="18" charset="0"/>
                          </a:rPr>
                        </m:ctrlPr>
                      </m:sSubPr>
                      <m:e>
                        <m:r>
                          <m:rPr>
                            <m:nor/>
                          </m:rPr>
                          <a:rPr lang="en-US" altLang="zh-TW" sz="2400" dirty="0"/>
                          <m:t>P</m:t>
                        </m:r>
                      </m:e>
                      <m:sub>
                        <m:r>
                          <m:rPr>
                            <m:nor/>
                          </m:rPr>
                          <a:rPr lang="en-US" altLang="zh-TW" sz="2400" b="0" i="0" dirty="0" smtClean="0">
                            <a:latin typeface="Cambria Math" panose="02040503050406030204" pitchFamily="18" charset="0"/>
                          </a:rPr>
                          <m:t>W</m:t>
                        </m:r>
                      </m:sub>
                    </m:sSub>
                  </m:oMath>
                </a14:m>
                <a:r>
                  <a:rPr lang="en-US" altLang="zh-TW" sz="2400" dirty="0"/>
                  <a:t>, as domestic consumers would not buy at a price higher than </a:t>
                </a:r>
                <a14:m>
                  <m:oMath xmlns:m="http://schemas.openxmlformats.org/officeDocument/2006/math">
                    <m:sSub>
                      <m:sSubPr>
                        <m:ctrlPr>
                          <a:rPr lang="en-US" altLang="zh-TW" sz="2400" i="1">
                            <a:latin typeface="Cambria Math" panose="02040503050406030204" pitchFamily="18" charset="0"/>
                          </a:rPr>
                        </m:ctrlPr>
                      </m:sSubPr>
                      <m:e>
                        <m:r>
                          <m:rPr>
                            <m:nor/>
                          </m:rPr>
                          <a:rPr lang="en-US" altLang="zh-TW" sz="2400" dirty="0"/>
                          <m:t>P</m:t>
                        </m:r>
                      </m:e>
                      <m:sub>
                        <m:r>
                          <m:rPr>
                            <m:nor/>
                          </m:rPr>
                          <a:rPr lang="en-US" altLang="zh-TW" sz="2400" dirty="0">
                            <a:latin typeface="Cambria Math" panose="02040503050406030204" pitchFamily="18" charset="0"/>
                          </a:rPr>
                          <m:t>W</m:t>
                        </m:r>
                      </m:sub>
                    </m:sSub>
                  </m:oMath>
                </a14:m>
                <a:r>
                  <a:rPr lang="en-US" altLang="zh-TW" sz="2400" dirty="0"/>
                  <a:t>.</a:t>
                </a:r>
              </a:p>
              <a:p>
                <a:pPr lvl="3">
                  <a:spcBef>
                    <a:spcPts val="576"/>
                  </a:spcBef>
                  <a:defRPr sz="2000">
                    <a:solidFill>
                      <a:srgbClr val="000000"/>
                    </a:solidFill>
                    <a:latin typeface="Garamond"/>
                  </a:defRPr>
                </a:pPr>
                <a:endParaRPr lang="en-US" altLang="zh-TW" sz="1200" dirty="0"/>
              </a:p>
              <a:p>
                <a:pPr>
                  <a:spcBef>
                    <a:spcPts val="576"/>
                  </a:spcBef>
                  <a:defRPr sz="2000">
                    <a:solidFill>
                      <a:srgbClr val="000000"/>
                    </a:solidFill>
                    <a:latin typeface="Garamond"/>
                  </a:defRPr>
                </a:pPr>
                <a:r>
                  <a:rPr lang="en-US" altLang="zh-TW" sz="2400" dirty="0"/>
                  <a:t>At the new price…</a:t>
                </a:r>
              </a:p>
              <a:p>
                <a:pPr lvl="1">
                  <a:spcBef>
                    <a:spcPts val="576"/>
                  </a:spcBef>
                  <a:defRPr sz="2000">
                    <a:solidFill>
                      <a:srgbClr val="000000"/>
                    </a:solidFill>
                    <a:latin typeface="Garamond"/>
                  </a:defRPr>
                </a:pPr>
                <a14:m>
                  <m:oMath xmlns:m="http://schemas.openxmlformats.org/officeDocument/2006/math">
                    <m:sSub>
                      <m:sSubPr>
                        <m:ctrlPr>
                          <a:rPr lang="en-US" altLang="zh-TW" sz="2000" i="1">
                            <a:latin typeface="Cambria Math" panose="02040503050406030204" pitchFamily="18" charset="0"/>
                          </a:rPr>
                        </m:ctrlPr>
                      </m:sSubPr>
                      <m:e>
                        <m:r>
                          <m:rPr>
                            <m:nor/>
                          </m:rPr>
                          <a:rPr lang="en-US" altLang="zh-TW" sz="2000" b="0" i="0" dirty="0" smtClean="0"/>
                          <m:t>Q</m:t>
                        </m:r>
                      </m:e>
                      <m:sub>
                        <m:r>
                          <m:rPr>
                            <m:nor/>
                          </m:rPr>
                          <a:rPr lang="en-US" altLang="zh-TW" sz="2000" b="0" i="0" dirty="0" smtClean="0"/>
                          <m:t>D</m:t>
                        </m:r>
                      </m:sub>
                    </m:sSub>
                    <m:r>
                      <m:rPr>
                        <m:nor/>
                      </m:rPr>
                      <a:rPr lang="en-US" altLang="zh-TW" sz="2000" b="0" i="0" dirty="0" smtClean="0">
                        <a:latin typeface="Cambria Math" panose="02040503050406030204" pitchFamily="18" charset="0"/>
                      </a:rPr>
                      <m:t> </m:t>
                    </m:r>
                    <m:r>
                      <m:rPr>
                        <m:nor/>
                      </m:rPr>
                      <a:rPr lang="en-US" altLang="zh-TW" sz="2000" b="0" i="0" dirty="0" smtClean="0"/>
                      <m:t>= 80</m:t>
                    </m:r>
                  </m:oMath>
                </a14:m>
                <a:r>
                  <a:rPr lang="en-US" altLang="zh-TW" sz="2000" dirty="0"/>
                  <a:t>: Domestic consumers demand 80 units.</a:t>
                </a:r>
              </a:p>
              <a:p>
                <a:pPr lvl="1">
                  <a:spcBef>
                    <a:spcPts val="576"/>
                  </a:spcBef>
                  <a:defRPr sz="2000">
                    <a:solidFill>
                      <a:srgbClr val="000000"/>
                    </a:solidFill>
                    <a:latin typeface="Garamond"/>
                  </a:defRPr>
                </a:pPr>
                <a14:m>
                  <m:oMath xmlns:m="http://schemas.openxmlformats.org/officeDocument/2006/math">
                    <m:sSub>
                      <m:sSubPr>
                        <m:ctrlPr>
                          <a:rPr lang="en-US" altLang="zh-TW" sz="2000" i="1">
                            <a:latin typeface="Cambria Math" panose="02040503050406030204" pitchFamily="18" charset="0"/>
                          </a:rPr>
                        </m:ctrlPr>
                      </m:sSubPr>
                      <m:e>
                        <m:r>
                          <m:rPr>
                            <m:nor/>
                          </m:rPr>
                          <a:rPr lang="en-US" altLang="zh-TW" sz="2000" dirty="0"/>
                          <m:t>Q</m:t>
                        </m:r>
                      </m:e>
                      <m:sub>
                        <m:r>
                          <m:rPr>
                            <m:nor/>
                          </m:rPr>
                          <a:rPr lang="en-US" altLang="zh-TW" sz="2000" b="0" i="0" dirty="0" smtClean="0"/>
                          <m:t>S</m:t>
                        </m:r>
                      </m:sub>
                    </m:sSub>
                    <m:r>
                      <m:rPr>
                        <m:nor/>
                      </m:rPr>
                      <a:rPr lang="en-US" altLang="zh-TW" sz="2000" b="0" i="0" dirty="0" smtClean="0">
                        <a:latin typeface="Cambria Math" panose="02040503050406030204" pitchFamily="18" charset="0"/>
                      </a:rPr>
                      <m:t> </m:t>
                    </m:r>
                    <m:r>
                      <m:rPr>
                        <m:nor/>
                      </m:rPr>
                      <a:rPr lang="en-US" altLang="zh-TW" sz="2000" dirty="0"/>
                      <m:t>=</m:t>
                    </m:r>
                    <m:r>
                      <m:rPr>
                        <m:nor/>
                      </m:rPr>
                      <a:rPr lang="en-US" altLang="zh-TW" sz="2000" b="0" i="0" dirty="0" smtClean="0"/>
                      <m:t> 20</m:t>
                    </m:r>
                  </m:oMath>
                </a14:m>
                <a:r>
                  <a:rPr lang="en-US" altLang="zh-TW" sz="2000" dirty="0"/>
                  <a:t>: Domestic producers supply 20 units.</a:t>
                </a:r>
              </a:p>
              <a:p>
                <a:pPr lvl="1">
                  <a:spcBef>
                    <a:spcPts val="576"/>
                  </a:spcBef>
                  <a:defRPr sz="2000">
                    <a:solidFill>
                      <a:srgbClr val="000000"/>
                    </a:solidFill>
                    <a:latin typeface="Garamond"/>
                  </a:defRPr>
                </a:pPr>
                <a:r>
                  <a:rPr lang="en-US" altLang="zh-TW" sz="2000" dirty="0"/>
                  <a:t>Import = 80: The remaining 80 units are imported.</a:t>
                </a:r>
              </a:p>
              <a:p>
                <a:pPr lvl="4">
                  <a:spcBef>
                    <a:spcPts val="576"/>
                  </a:spcBef>
                  <a:defRPr sz="2000">
                    <a:solidFill>
                      <a:srgbClr val="000000"/>
                    </a:solidFill>
                    <a:latin typeface="Garamond"/>
                  </a:defRPr>
                </a:pPr>
                <a:endParaRPr lang="en-US" altLang="zh-TW" sz="1200" dirty="0"/>
              </a:p>
              <a:p>
                <a:pPr>
                  <a:spcBef>
                    <a:spcPts val="576"/>
                  </a:spcBef>
                  <a:defRPr sz="2000">
                    <a:solidFill>
                      <a:srgbClr val="000000"/>
                    </a:solidFill>
                    <a:latin typeface="Garamond"/>
                  </a:defRPr>
                </a:pPr>
                <a:r>
                  <a:rPr lang="en-US" altLang="zh-TW" sz="2400" dirty="0"/>
                  <a:t>The horizontal line represents the world’s perfectly inelastic supply.</a:t>
                </a:r>
              </a:p>
            </p:txBody>
          </p:sp>
        </mc:Choice>
        <mc:Fallback xmlns="">
          <p:sp>
            <p:nvSpPr>
              <p:cNvPr id="3" name="Content Placeholder 2">
                <a:extLst>
                  <a:ext uri="{FF2B5EF4-FFF2-40B4-BE49-F238E27FC236}">
                    <a16:creationId xmlns:a16="http://schemas.microsoft.com/office/drawing/2014/main" id="{B9013966-3C32-8051-0BE8-D935EEFC5EEC}"/>
                  </a:ext>
                </a:extLst>
              </p:cNvPr>
              <p:cNvSpPr>
                <a:spLocks noGrp="1" noRot="1" noChangeAspect="1" noMove="1" noResize="1" noEditPoints="1" noAdjustHandles="1" noChangeArrowheads="1" noChangeShapeType="1" noTextEdit="1"/>
              </p:cNvSpPr>
              <p:nvPr>
                <p:ph idx="1"/>
              </p:nvPr>
            </p:nvSpPr>
            <p:spPr>
              <a:xfrm>
                <a:off x="5029199" y="1300900"/>
                <a:ext cx="6702428" cy="4937975"/>
              </a:xfrm>
              <a:blipFill>
                <a:blip r:embed="rId3"/>
                <a:stretch>
                  <a:fillRect l="-1183" t="-741" r="-2366"/>
                </a:stretch>
              </a:blipFill>
            </p:spPr>
            <p:txBody>
              <a:bodyPr/>
              <a:lstStyle/>
              <a:p>
                <a:r>
                  <a:rPr lang="en-US">
                    <a:noFill/>
                  </a:rPr>
                  <a:t> </a:t>
                </a:r>
              </a:p>
            </p:txBody>
          </p:sp>
        </mc:Fallback>
      </mc:AlternateContent>
      <p:pic>
        <p:nvPicPr>
          <p:cNvPr id="10" name="Picture 9">
            <a:extLst>
              <a:ext uri="{FF2B5EF4-FFF2-40B4-BE49-F238E27FC236}">
                <a16:creationId xmlns:a16="http://schemas.microsoft.com/office/drawing/2014/main" id="{C400319D-8A0A-7335-E733-012CEB3B6236}"/>
              </a:ext>
            </a:extLst>
          </p:cNvPr>
          <p:cNvPicPr>
            <a:picLocks noChangeAspect="1"/>
          </p:cNvPicPr>
          <p:nvPr/>
        </p:nvPicPr>
        <p:blipFill>
          <a:blip r:embed="rId4"/>
          <a:srcRect/>
          <a:stretch/>
        </p:blipFill>
        <p:spPr>
          <a:xfrm>
            <a:off x="457198" y="1300900"/>
            <a:ext cx="4572000" cy="4572000"/>
          </a:xfrm>
          <a:prstGeom prst="rect">
            <a:avLst/>
          </a:prstGeom>
        </p:spPr>
      </p:pic>
      <p:pic>
        <p:nvPicPr>
          <p:cNvPr id="9" name="Picture 8" descr="A graph of a line&#10;&#10;AI-generated content may be incorrect.">
            <a:extLst>
              <a:ext uri="{FF2B5EF4-FFF2-40B4-BE49-F238E27FC236}">
                <a16:creationId xmlns:a16="http://schemas.microsoft.com/office/drawing/2014/main" id="{339D8A3E-1403-CEFE-CF93-71D5FADD9B67}"/>
              </a:ext>
            </a:extLst>
          </p:cNvPr>
          <p:cNvPicPr>
            <a:picLocks noChangeAspect="1"/>
          </p:cNvPicPr>
          <p:nvPr/>
        </p:nvPicPr>
        <p:blipFill>
          <a:blip r:embed="rId5"/>
          <a:stretch>
            <a:fillRect/>
          </a:stretch>
        </p:blipFill>
        <p:spPr>
          <a:xfrm>
            <a:off x="457199" y="1300900"/>
            <a:ext cx="4572000" cy="4572000"/>
          </a:xfrm>
          <a:prstGeom prst="rect">
            <a:avLst/>
          </a:prstGeom>
        </p:spPr>
      </p:pic>
    </p:spTree>
    <p:extLst>
      <p:ext uri="{BB962C8B-B14F-4D97-AF65-F5344CB8AC3E}">
        <p14:creationId xmlns:p14="http://schemas.microsoft.com/office/powerpoint/2010/main" val="3322087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500"/>
                                        <p:tgtEl>
                                          <p:spTgt spid="3">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fade">
                                      <p:cBhvr>
                                        <p:cTn id="33" dur="500"/>
                                        <p:tgtEl>
                                          <p:spTgt spid="3">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fade">
                                      <p:cBhvr>
                                        <p:cTn id="38" dur="500"/>
                                        <p:tgtEl>
                                          <p:spTgt spid="3">
                                            <p:txEl>
                                              <p:pRg st="7" end="7"/>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animEffect transition="in" filter="fade">
                                      <p:cBhvr>
                                        <p:cTn id="43"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CAAB4-9F62-D105-6057-4A23EBB5C42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0D4E516-DC61-58C7-842D-3D42E1B59F9E}"/>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5D6DAD8F-608A-C6C8-2DCE-EDA29128973F}"/>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The Open Market: </a:t>
                </a:r>
                <a14:m>
                  <m:oMath xmlns:m="http://schemas.openxmlformats.org/officeDocument/2006/math">
                    <m:sSub>
                      <m:sSubPr>
                        <m:ctrlPr>
                          <a:rPr lang="en-US" altLang="zh-TW" sz="4000" i="1" smtClean="0">
                            <a:solidFill>
                              <a:schemeClr val="bg1"/>
                            </a:solidFill>
                            <a:latin typeface="Cambria Math" panose="02040503050406030204" pitchFamily="18" charset="0"/>
                          </a:rPr>
                        </m:ctrlPr>
                      </m:sSubPr>
                      <m:e>
                        <m:r>
                          <m:rPr>
                            <m:nor/>
                          </m:rPr>
                          <a:rPr lang="en-US" altLang="zh-TW" sz="4000" dirty="0">
                            <a:solidFill>
                              <a:schemeClr val="bg1"/>
                            </a:solidFill>
                          </a:rPr>
                          <m:t>P</m:t>
                        </m:r>
                      </m:e>
                      <m:sub>
                        <m:r>
                          <m:rPr>
                            <m:nor/>
                          </m:rPr>
                          <a:rPr lang="en-US" altLang="zh-TW" sz="4000" dirty="0">
                            <a:solidFill>
                              <a:schemeClr val="bg1"/>
                            </a:solidFill>
                          </a:rPr>
                          <m:t>W</m:t>
                        </m:r>
                      </m:sub>
                    </m:sSub>
                    <m:r>
                      <m:rPr>
                        <m:nor/>
                      </m:rPr>
                      <a:rPr lang="en-US" altLang="zh-TW" sz="4000" b="1" i="0" dirty="0" smtClean="0">
                        <a:solidFill>
                          <a:schemeClr val="bg1"/>
                        </a:solidFill>
                      </a:rPr>
                      <m:t>&lt;</m:t>
                    </m:r>
                    <m:sSub>
                      <m:sSubPr>
                        <m:ctrlPr>
                          <a:rPr lang="en-US" altLang="zh-TW" sz="4000" i="1">
                            <a:solidFill>
                              <a:schemeClr val="bg1"/>
                            </a:solidFill>
                            <a:latin typeface="Cambria Math" panose="02040503050406030204" pitchFamily="18" charset="0"/>
                          </a:rPr>
                        </m:ctrlPr>
                      </m:sSubPr>
                      <m:e>
                        <m:r>
                          <m:rPr>
                            <m:nor/>
                          </m:rPr>
                          <a:rPr lang="en-US" altLang="zh-TW" sz="4000" dirty="0">
                            <a:solidFill>
                              <a:schemeClr val="bg1"/>
                            </a:solidFill>
                          </a:rPr>
                          <m:t>P</m:t>
                        </m:r>
                      </m:e>
                      <m:sub>
                        <m:r>
                          <m:rPr>
                            <m:nor/>
                          </m:rPr>
                          <a:rPr lang="en-US" altLang="zh-TW" sz="4000" dirty="0">
                            <a:solidFill>
                              <a:schemeClr val="bg1"/>
                            </a:solidFill>
                          </a:rPr>
                          <m:t>D</m:t>
                        </m:r>
                      </m:sub>
                    </m:sSub>
                  </m:oMath>
                </a14:m>
                <a:endParaRPr lang="en-US" sz="4000" dirty="0">
                  <a:solidFill>
                    <a:schemeClr val="bg1"/>
                  </a:solidFill>
                </a:endParaRPr>
              </a:p>
            </p:txBody>
          </p:sp>
        </mc:Choice>
        <mc:Fallback xmlns="">
          <p:sp>
            <p:nvSpPr>
              <p:cNvPr id="2" name="Title 1">
                <a:extLst>
                  <a:ext uri="{FF2B5EF4-FFF2-40B4-BE49-F238E27FC236}">
                    <a16:creationId xmlns:a16="http://schemas.microsoft.com/office/drawing/2014/main" id="{5D6DAD8F-608A-C6C8-2DCE-EDA29128973F}"/>
                  </a:ext>
                </a:extLst>
              </p:cNvPr>
              <p:cNvSpPr>
                <a:spLocks noGrp="1" noRot="1" noChangeAspect="1" noMove="1" noResize="1" noEditPoints="1" noAdjustHandles="1" noChangeArrowheads="1" noChangeShapeType="1" noTextEdit="1"/>
              </p:cNvSpPr>
              <p:nvPr>
                <p:ph type="title"/>
              </p:nvPr>
            </p:nvSpPr>
            <p:spPr>
              <a:xfrm>
                <a:off x="0" y="0"/>
                <a:ext cx="12188825" cy="923636"/>
              </a:xfrm>
              <a:blipFill>
                <a:blip r:embed="rId2"/>
                <a:stretch>
                  <a:fillRect b="-16447"/>
                </a:stretch>
              </a:blipFill>
            </p:spPr>
            <p:txBody>
              <a:bodyPr/>
              <a:lstStyle/>
              <a:p>
                <a:r>
                  <a:rPr lang="en-US">
                    <a:noFill/>
                  </a:rPr>
                  <a:t> </a:t>
                </a:r>
              </a:p>
            </p:txBody>
          </p:sp>
        </mc:Fallback>
      </mc:AlternateContent>
      <p:sp>
        <p:nvSpPr>
          <p:cNvPr id="5" name="Rectangle 4">
            <a:extLst>
              <a:ext uri="{FF2B5EF4-FFF2-40B4-BE49-F238E27FC236}">
                <a16:creationId xmlns:a16="http://schemas.microsoft.com/office/drawing/2014/main" id="{C4F1F60B-FFAB-E0DF-74F8-D515D971587A}"/>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C42EB2F0-7C55-B201-331E-724FDC81012E}"/>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09194FF7-00DE-D9AF-0B99-7CFC57CC0934}"/>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12</a:t>
            </a:fld>
            <a:r>
              <a:rPr lang="en-US" b="1" dirty="0">
                <a:solidFill>
                  <a:schemeClr val="bg1"/>
                </a:solidFill>
                <a:latin typeface="Garamond" panose="02020404030301010803" pitchFamily="18" charset="0"/>
              </a:rPr>
              <a:t> </a:t>
            </a:r>
          </a:p>
        </p:txBody>
      </p:sp>
      <p:sp>
        <p:nvSpPr>
          <p:cNvPr id="3" name="Content Placeholder 2">
            <a:extLst>
              <a:ext uri="{FF2B5EF4-FFF2-40B4-BE49-F238E27FC236}">
                <a16:creationId xmlns:a16="http://schemas.microsoft.com/office/drawing/2014/main" id="{5995952A-19EA-EE93-7086-970B39017838}"/>
              </a:ext>
            </a:extLst>
          </p:cNvPr>
          <p:cNvSpPr>
            <a:spLocks noGrp="1"/>
          </p:cNvSpPr>
          <p:nvPr>
            <p:ph idx="1"/>
          </p:nvPr>
        </p:nvSpPr>
        <p:spPr>
          <a:xfrm>
            <a:off x="5029199" y="1300900"/>
            <a:ext cx="6702428" cy="4937975"/>
          </a:xfrm>
        </p:spPr>
        <p:txBody>
          <a:bodyPr>
            <a:normAutofit/>
          </a:bodyPr>
          <a:lstStyle/>
          <a:p>
            <a:pPr>
              <a:spcBef>
                <a:spcPts val="576"/>
              </a:spcBef>
              <a:defRPr sz="2000">
                <a:solidFill>
                  <a:srgbClr val="000000"/>
                </a:solidFill>
                <a:latin typeface="Garamond"/>
              </a:defRPr>
            </a:pPr>
            <a:r>
              <a:rPr lang="en-US" altLang="zh-TW" sz="2400" dirty="0"/>
              <a:t>Let us compare the welfare implications.</a:t>
            </a:r>
          </a:p>
          <a:p>
            <a:pPr lvl="3">
              <a:spcBef>
                <a:spcPts val="576"/>
              </a:spcBef>
              <a:defRPr sz="2000">
                <a:solidFill>
                  <a:srgbClr val="000000"/>
                </a:solidFill>
                <a:latin typeface="Garamond"/>
              </a:defRPr>
            </a:pPr>
            <a:endParaRPr lang="en-US" altLang="zh-TW" sz="1200" dirty="0"/>
          </a:p>
          <a:p>
            <a:pPr>
              <a:spcBef>
                <a:spcPts val="576"/>
              </a:spcBef>
              <a:defRPr sz="2000">
                <a:solidFill>
                  <a:srgbClr val="000000"/>
                </a:solidFill>
                <a:latin typeface="Garamond"/>
              </a:defRPr>
            </a:pPr>
            <a:r>
              <a:rPr lang="en-US" altLang="zh-TW" sz="2400" dirty="0"/>
              <a:t>In a closed economy without trade:</a:t>
            </a:r>
          </a:p>
          <a:p>
            <a:pPr lvl="1">
              <a:spcBef>
                <a:spcPts val="576"/>
              </a:spcBef>
              <a:defRPr sz="2000">
                <a:solidFill>
                  <a:srgbClr val="000000"/>
                </a:solidFill>
                <a:latin typeface="Garamond"/>
              </a:defRPr>
            </a:pPr>
            <a:r>
              <a:rPr lang="en-US" altLang="zh-TW" sz="2000" dirty="0"/>
              <a:t>Producer Surplus: B+C ($125)</a:t>
            </a:r>
          </a:p>
          <a:p>
            <a:pPr lvl="1">
              <a:spcBef>
                <a:spcPts val="576"/>
              </a:spcBef>
              <a:defRPr sz="2000">
                <a:solidFill>
                  <a:srgbClr val="000000"/>
                </a:solidFill>
                <a:latin typeface="Garamond"/>
              </a:defRPr>
            </a:pPr>
            <a:r>
              <a:rPr lang="en-US" altLang="zh-TW" sz="2000" dirty="0"/>
              <a:t>Consumer Surplus: A ($125)</a:t>
            </a:r>
          </a:p>
          <a:p>
            <a:pPr lvl="1">
              <a:spcBef>
                <a:spcPts val="576"/>
              </a:spcBef>
              <a:defRPr sz="2000">
                <a:solidFill>
                  <a:srgbClr val="000000"/>
                </a:solidFill>
                <a:latin typeface="Garamond"/>
              </a:defRPr>
            </a:pPr>
            <a:r>
              <a:rPr lang="en-US" altLang="zh-TW" sz="2000" dirty="0"/>
              <a:t>Total Surplus: A+B+C ($250)</a:t>
            </a:r>
          </a:p>
          <a:p>
            <a:pPr lvl="4">
              <a:spcBef>
                <a:spcPts val="576"/>
              </a:spcBef>
              <a:defRPr sz="2000">
                <a:solidFill>
                  <a:srgbClr val="000000"/>
                </a:solidFill>
                <a:latin typeface="Garamond"/>
              </a:defRPr>
            </a:pPr>
            <a:endParaRPr lang="en-US" altLang="zh-TW" sz="1200" dirty="0"/>
          </a:p>
          <a:p>
            <a:pPr>
              <a:spcBef>
                <a:spcPts val="576"/>
              </a:spcBef>
              <a:defRPr sz="2000">
                <a:solidFill>
                  <a:srgbClr val="000000"/>
                </a:solidFill>
                <a:latin typeface="Garamond"/>
              </a:defRPr>
            </a:pPr>
            <a:r>
              <a:rPr lang="en-US" altLang="zh-TW" sz="2400" dirty="0"/>
              <a:t>In the open economy with trade:</a:t>
            </a:r>
          </a:p>
          <a:p>
            <a:pPr lvl="1">
              <a:spcBef>
                <a:spcPts val="576"/>
              </a:spcBef>
              <a:defRPr sz="2000">
                <a:solidFill>
                  <a:srgbClr val="000000"/>
                </a:solidFill>
                <a:latin typeface="Garamond"/>
              </a:defRPr>
            </a:pPr>
            <a:r>
              <a:rPr lang="en-US" altLang="zh-TW" sz="2000" dirty="0"/>
              <a:t>Producer Surplus: C ($20)</a:t>
            </a:r>
          </a:p>
          <a:p>
            <a:pPr lvl="1">
              <a:spcBef>
                <a:spcPts val="576"/>
              </a:spcBef>
              <a:defRPr sz="2000">
                <a:solidFill>
                  <a:srgbClr val="000000"/>
                </a:solidFill>
                <a:latin typeface="Garamond"/>
              </a:defRPr>
            </a:pPr>
            <a:r>
              <a:rPr lang="en-US" altLang="zh-TW" sz="2000" dirty="0"/>
              <a:t>Consumer Surplus: A ($320)</a:t>
            </a:r>
          </a:p>
          <a:p>
            <a:pPr lvl="1">
              <a:spcBef>
                <a:spcPts val="576"/>
              </a:spcBef>
              <a:defRPr sz="2000">
                <a:solidFill>
                  <a:srgbClr val="000000"/>
                </a:solidFill>
                <a:latin typeface="Garamond"/>
              </a:defRPr>
            </a:pPr>
            <a:r>
              <a:rPr lang="en-US" altLang="zh-TW" sz="2000" dirty="0"/>
              <a:t>Total Surplus: A+B+C+D ($340)</a:t>
            </a:r>
          </a:p>
          <a:p>
            <a:pPr lvl="1">
              <a:spcBef>
                <a:spcPts val="576"/>
              </a:spcBef>
              <a:defRPr sz="2000">
                <a:solidFill>
                  <a:srgbClr val="000000"/>
                </a:solidFill>
                <a:latin typeface="Garamond"/>
              </a:defRPr>
            </a:pPr>
            <a:r>
              <a:rPr lang="en-US" altLang="zh-TW" sz="2000" dirty="0"/>
              <a:t>Gains from Trade: D ($90)</a:t>
            </a:r>
          </a:p>
        </p:txBody>
      </p:sp>
      <p:pic>
        <p:nvPicPr>
          <p:cNvPr id="10" name="Picture 9">
            <a:extLst>
              <a:ext uri="{FF2B5EF4-FFF2-40B4-BE49-F238E27FC236}">
                <a16:creationId xmlns:a16="http://schemas.microsoft.com/office/drawing/2014/main" id="{53C9DBFD-5185-9187-EFF1-9A2EA520CD00}"/>
              </a:ext>
            </a:extLst>
          </p:cNvPr>
          <p:cNvPicPr>
            <a:picLocks noChangeAspect="1"/>
          </p:cNvPicPr>
          <p:nvPr/>
        </p:nvPicPr>
        <p:blipFill>
          <a:blip r:embed="rId3"/>
          <a:srcRect/>
          <a:stretch/>
        </p:blipFill>
        <p:spPr>
          <a:xfrm>
            <a:off x="457198" y="1300900"/>
            <a:ext cx="4572000" cy="4572000"/>
          </a:xfrm>
          <a:prstGeom prst="rect">
            <a:avLst/>
          </a:prstGeom>
        </p:spPr>
      </p:pic>
      <p:pic>
        <p:nvPicPr>
          <p:cNvPr id="11" name="Picture 10" descr="A graph of a line with a red x and blue line&#10;&#10;AI-generated content may be incorrect.">
            <a:extLst>
              <a:ext uri="{FF2B5EF4-FFF2-40B4-BE49-F238E27FC236}">
                <a16:creationId xmlns:a16="http://schemas.microsoft.com/office/drawing/2014/main" id="{BFBCA0CB-E3B3-7843-CF7C-D844A2B62937}"/>
              </a:ext>
            </a:extLst>
          </p:cNvPr>
          <p:cNvPicPr>
            <a:picLocks noChangeAspect="1"/>
          </p:cNvPicPr>
          <p:nvPr/>
        </p:nvPicPr>
        <p:blipFill>
          <a:blip r:embed="rId4"/>
          <a:stretch>
            <a:fillRect/>
          </a:stretch>
        </p:blipFill>
        <p:spPr>
          <a:xfrm>
            <a:off x="457197" y="1300900"/>
            <a:ext cx="4572000" cy="4572000"/>
          </a:xfrm>
          <a:prstGeom prst="rect">
            <a:avLst/>
          </a:prstGeom>
        </p:spPr>
      </p:pic>
      <p:pic>
        <p:nvPicPr>
          <p:cNvPr id="14" name="Picture 13" descr="A graph of a red and blue line&#10;&#10;AI-generated content may be incorrect.">
            <a:extLst>
              <a:ext uri="{FF2B5EF4-FFF2-40B4-BE49-F238E27FC236}">
                <a16:creationId xmlns:a16="http://schemas.microsoft.com/office/drawing/2014/main" id="{2DE2867A-7E9E-104F-6831-BAB4A772E8FC}"/>
              </a:ext>
            </a:extLst>
          </p:cNvPr>
          <p:cNvPicPr>
            <a:picLocks noChangeAspect="1"/>
          </p:cNvPicPr>
          <p:nvPr/>
        </p:nvPicPr>
        <p:blipFill>
          <a:blip r:embed="rId5"/>
          <a:stretch>
            <a:fillRect/>
          </a:stretch>
        </p:blipFill>
        <p:spPr>
          <a:xfrm>
            <a:off x="457199" y="1300900"/>
            <a:ext cx="4572000" cy="4572000"/>
          </a:xfrm>
          <a:prstGeom prst="rect">
            <a:avLst/>
          </a:prstGeom>
        </p:spPr>
      </p:pic>
      <p:pic>
        <p:nvPicPr>
          <p:cNvPr id="18" name="Picture 17" descr="A graph of a line&#10;&#10;AI-generated content may be incorrect.">
            <a:extLst>
              <a:ext uri="{FF2B5EF4-FFF2-40B4-BE49-F238E27FC236}">
                <a16:creationId xmlns:a16="http://schemas.microsoft.com/office/drawing/2014/main" id="{D7682347-E855-A158-128B-996B89981191}"/>
              </a:ext>
            </a:extLst>
          </p:cNvPr>
          <p:cNvPicPr>
            <a:picLocks noChangeAspect="1"/>
          </p:cNvPicPr>
          <p:nvPr/>
        </p:nvPicPr>
        <p:blipFill>
          <a:blip r:embed="rId6"/>
          <a:stretch>
            <a:fillRect/>
          </a:stretch>
        </p:blipFill>
        <p:spPr>
          <a:xfrm>
            <a:off x="457196" y="1300900"/>
            <a:ext cx="4572000" cy="4572000"/>
          </a:xfrm>
          <a:prstGeom prst="rect">
            <a:avLst/>
          </a:prstGeom>
        </p:spPr>
      </p:pic>
      <p:pic>
        <p:nvPicPr>
          <p:cNvPr id="24" name="Picture 23" descr="A graph of a line with red and blue lines&#10;&#10;AI-generated content may be incorrect.">
            <a:extLst>
              <a:ext uri="{FF2B5EF4-FFF2-40B4-BE49-F238E27FC236}">
                <a16:creationId xmlns:a16="http://schemas.microsoft.com/office/drawing/2014/main" id="{11082B46-4140-8CBD-5399-0DCED6B17943}"/>
              </a:ext>
            </a:extLst>
          </p:cNvPr>
          <p:cNvPicPr>
            <a:picLocks noChangeAspect="1"/>
          </p:cNvPicPr>
          <p:nvPr/>
        </p:nvPicPr>
        <p:blipFill>
          <a:blip r:embed="rId7"/>
          <a:stretch>
            <a:fillRect/>
          </a:stretch>
        </p:blipFill>
        <p:spPr>
          <a:xfrm>
            <a:off x="457195" y="1300900"/>
            <a:ext cx="4572000" cy="4572000"/>
          </a:xfrm>
          <a:prstGeom prst="rect">
            <a:avLst/>
          </a:prstGeom>
        </p:spPr>
      </p:pic>
      <p:pic>
        <p:nvPicPr>
          <p:cNvPr id="26" name="Picture 25" descr="A graph of a graph with different colored triangles&#10;&#10;AI-generated content may be incorrect.">
            <a:extLst>
              <a:ext uri="{FF2B5EF4-FFF2-40B4-BE49-F238E27FC236}">
                <a16:creationId xmlns:a16="http://schemas.microsoft.com/office/drawing/2014/main" id="{C44DF05D-ECBF-4AC9-C853-430263A46524}"/>
              </a:ext>
            </a:extLst>
          </p:cNvPr>
          <p:cNvPicPr>
            <a:picLocks noChangeAspect="1"/>
          </p:cNvPicPr>
          <p:nvPr/>
        </p:nvPicPr>
        <p:blipFill>
          <a:blip r:embed="rId8"/>
          <a:stretch>
            <a:fillRect/>
          </a:stretch>
        </p:blipFill>
        <p:spPr>
          <a:xfrm>
            <a:off x="457194" y="1300900"/>
            <a:ext cx="4572000" cy="4572000"/>
          </a:xfrm>
          <a:prstGeom prst="rect">
            <a:avLst/>
          </a:prstGeom>
        </p:spPr>
      </p:pic>
      <p:pic>
        <p:nvPicPr>
          <p:cNvPr id="28" name="Picture 27" descr="A graph of a function&#10;&#10;AI-generated content may be incorrect.">
            <a:extLst>
              <a:ext uri="{FF2B5EF4-FFF2-40B4-BE49-F238E27FC236}">
                <a16:creationId xmlns:a16="http://schemas.microsoft.com/office/drawing/2014/main" id="{2C6DF12F-95AF-2FE3-1F71-8AF3A0AD14C2}"/>
              </a:ext>
            </a:extLst>
          </p:cNvPr>
          <p:cNvPicPr>
            <a:picLocks noChangeAspect="1"/>
          </p:cNvPicPr>
          <p:nvPr/>
        </p:nvPicPr>
        <p:blipFill>
          <a:blip r:embed="rId9"/>
          <a:stretch>
            <a:fillRect/>
          </a:stretch>
        </p:blipFill>
        <p:spPr>
          <a:xfrm>
            <a:off x="457193" y="1300900"/>
            <a:ext cx="4572000" cy="4572000"/>
          </a:xfrm>
          <a:prstGeom prst="rect">
            <a:avLst/>
          </a:prstGeom>
        </p:spPr>
      </p:pic>
    </p:spTree>
    <p:extLst>
      <p:ext uri="{BB962C8B-B14F-4D97-AF65-F5344CB8AC3E}">
        <p14:creationId xmlns:p14="http://schemas.microsoft.com/office/powerpoint/2010/main" val="1731042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500"/>
                                        <p:tgtEl>
                                          <p:spTgt spid="14"/>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Effect transition="in" filter="fade">
                                      <p:cBhvr>
                                        <p:cTn id="33" dur="500"/>
                                        <p:tgtEl>
                                          <p:spTgt spid="3">
                                            <p:txEl>
                                              <p:pRg st="5" end="5"/>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6" dur="500"/>
                                        <p:tgtEl>
                                          <p:spTgt spid="18"/>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animEffect transition="in" filter="fade">
                                      <p:cBhvr>
                                        <p:cTn id="41" dur="500"/>
                                        <p:tgtEl>
                                          <p:spTgt spid="3">
                                            <p:txEl>
                                              <p:pRg st="7" end="7"/>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3">
                                            <p:txEl>
                                              <p:pRg st="8" end="8"/>
                                            </p:txEl>
                                          </p:spTgt>
                                        </p:tgtEl>
                                        <p:attrNameLst>
                                          <p:attrName>style.visibility</p:attrName>
                                        </p:attrNameLst>
                                      </p:cBhvr>
                                      <p:to>
                                        <p:strVal val="visible"/>
                                      </p:to>
                                    </p:set>
                                    <p:animEffect transition="in" filter="fade">
                                      <p:cBhvr>
                                        <p:cTn id="46" dur="500"/>
                                        <p:tgtEl>
                                          <p:spTgt spid="3">
                                            <p:txEl>
                                              <p:pRg st="8" end="8"/>
                                            </p:txEl>
                                          </p:spTgt>
                                        </p:tgtEl>
                                      </p:cBhvr>
                                    </p:animEffect>
                                  </p:childTnLst>
                                </p:cTn>
                              </p:par>
                              <p:par>
                                <p:cTn id="47" presetID="10" presetClass="entr" presetSubtype="0" fill="hold" nodeType="with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500"/>
                                        <p:tgtEl>
                                          <p:spTgt spid="24"/>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3">
                                            <p:txEl>
                                              <p:pRg st="9" end="9"/>
                                            </p:txEl>
                                          </p:spTgt>
                                        </p:tgtEl>
                                        <p:attrNameLst>
                                          <p:attrName>style.visibility</p:attrName>
                                        </p:attrNameLst>
                                      </p:cBhvr>
                                      <p:to>
                                        <p:strVal val="visible"/>
                                      </p:to>
                                    </p:set>
                                    <p:animEffect transition="in" filter="fade">
                                      <p:cBhvr>
                                        <p:cTn id="54" dur="500"/>
                                        <p:tgtEl>
                                          <p:spTgt spid="3">
                                            <p:txEl>
                                              <p:pRg st="9" end="9"/>
                                            </p:txEl>
                                          </p:spTgt>
                                        </p:tgtEl>
                                      </p:cBhvr>
                                    </p:animEffect>
                                  </p:childTnLst>
                                </p:cTn>
                              </p:par>
                              <p:par>
                                <p:cTn id="55" presetID="10" presetClass="entr" presetSubtype="0" fill="hold" nodeType="withEffect">
                                  <p:stCondLst>
                                    <p:cond delay="0"/>
                                  </p:stCondLst>
                                  <p:childTnLst>
                                    <p:set>
                                      <p:cBhvr>
                                        <p:cTn id="56" dur="1" fill="hold">
                                          <p:stCondLst>
                                            <p:cond delay="0"/>
                                          </p:stCondLst>
                                        </p:cTn>
                                        <p:tgtEl>
                                          <p:spTgt spid="26"/>
                                        </p:tgtEl>
                                        <p:attrNameLst>
                                          <p:attrName>style.visibility</p:attrName>
                                        </p:attrNameLst>
                                      </p:cBhvr>
                                      <p:to>
                                        <p:strVal val="visible"/>
                                      </p:to>
                                    </p:set>
                                    <p:animEffect transition="in" filter="fade">
                                      <p:cBhvr>
                                        <p:cTn id="57" dur="500"/>
                                        <p:tgtEl>
                                          <p:spTgt spid="26"/>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3">
                                            <p:txEl>
                                              <p:pRg st="10" end="10"/>
                                            </p:txEl>
                                          </p:spTgt>
                                        </p:tgtEl>
                                        <p:attrNameLst>
                                          <p:attrName>style.visibility</p:attrName>
                                        </p:attrNameLst>
                                      </p:cBhvr>
                                      <p:to>
                                        <p:strVal val="visible"/>
                                      </p:to>
                                    </p:set>
                                    <p:animEffect transition="in" filter="fade">
                                      <p:cBhvr>
                                        <p:cTn id="62" dur="500"/>
                                        <p:tgtEl>
                                          <p:spTgt spid="3">
                                            <p:txEl>
                                              <p:pRg st="10" end="1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3">
                                            <p:txEl>
                                              <p:pRg st="11" end="11"/>
                                            </p:txEl>
                                          </p:spTgt>
                                        </p:tgtEl>
                                        <p:attrNameLst>
                                          <p:attrName>style.visibility</p:attrName>
                                        </p:attrNameLst>
                                      </p:cBhvr>
                                      <p:to>
                                        <p:strVal val="visible"/>
                                      </p:to>
                                    </p:set>
                                    <p:animEffect transition="in" filter="fade">
                                      <p:cBhvr>
                                        <p:cTn id="67" dur="500"/>
                                        <p:tgtEl>
                                          <p:spTgt spid="3">
                                            <p:txEl>
                                              <p:pRg st="11" end="11"/>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28"/>
                                        </p:tgtEl>
                                        <p:attrNameLst>
                                          <p:attrName>style.visibility</p:attrName>
                                        </p:attrNameLst>
                                      </p:cBhvr>
                                      <p:to>
                                        <p:strVal val="visible"/>
                                      </p:to>
                                    </p:set>
                                    <p:animEffect transition="in" filter="fade">
                                      <p:cBhvr>
                                        <p:cTn id="7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242D8-276E-62EF-2ED4-E0AB160C6B3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1BBE0EA-BB8E-A9A7-7006-29D60F6364B5}"/>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0E2553E0-B2B4-2E82-046A-AF34B3754727}"/>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The Open Market: </a:t>
                </a:r>
                <a14:m>
                  <m:oMath xmlns:m="http://schemas.openxmlformats.org/officeDocument/2006/math">
                    <m:sSub>
                      <m:sSubPr>
                        <m:ctrlPr>
                          <a:rPr lang="en-US" altLang="zh-TW" sz="4000" i="1" smtClean="0">
                            <a:solidFill>
                              <a:schemeClr val="bg1"/>
                            </a:solidFill>
                            <a:latin typeface="Cambria Math" panose="02040503050406030204" pitchFamily="18" charset="0"/>
                          </a:rPr>
                        </m:ctrlPr>
                      </m:sSubPr>
                      <m:e>
                        <m:r>
                          <m:rPr>
                            <m:nor/>
                          </m:rPr>
                          <a:rPr lang="en-US" altLang="zh-TW" sz="4000" dirty="0">
                            <a:solidFill>
                              <a:schemeClr val="bg1"/>
                            </a:solidFill>
                          </a:rPr>
                          <m:t>P</m:t>
                        </m:r>
                      </m:e>
                      <m:sub>
                        <m:r>
                          <m:rPr>
                            <m:nor/>
                          </m:rPr>
                          <a:rPr lang="en-US" altLang="zh-TW" sz="4000" dirty="0">
                            <a:solidFill>
                              <a:schemeClr val="bg1"/>
                            </a:solidFill>
                          </a:rPr>
                          <m:t>W</m:t>
                        </m:r>
                      </m:sub>
                    </m:sSub>
                    <m:r>
                      <m:rPr>
                        <m:nor/>
                      </m:rPr>
                      <a:rPr lang="en-US" altLang="zh-TW" sz="4000" b="1" i="0" dirty="0" smtClean="0">
                        <a:solidFill>
                          <a:schemeClr val="bg1"/>
                        </a:solidFill>
                      </a:rPr>
                      <m:t>&lt;</m:t>
                    </m:r>
                    <m:sSub>
                      <m:sSubPr>
                        <m:ctrlPr>
                          <a:rPr lang="en-US" altLang="zh-TW" sz="4000" i="1">
                            <a:solidFill>
                              <a:schemeClr val="bg1"/>
                            </a:solidFill>
                            <a:latin typeface="Cambria Math" panose="02040503050406030204" pitchFamily="18" charset="0"/>
                          </a:rPr>
                        </m:ctrlPr>
                      </m:sSubPr>
                      <m:e>
                        <m:r>
                          <m:rPr>
                            <m:nor/>
                          </m:rPr>
                          <a:rPr lang="en-US" altLang="zh-TW" sz="4000" dirty="0">
                            <a:solidFill>
                              <a:schemeClr val="bg1"/>
                            </a:solidFill>
                          </a:rPr>
                          <m:t>P</m:t>
                        </m:r>
                      </m:e>
                      <m:sub>
                        <m:r>
                          <m:rPr>
                            <m:nor/>
                          </m:rPr>
                          <a:rPr lang="en-US" altLang="zh-TW" sz="4000" dirty="0">
                            <a:solidFill>
                              <a:schemeClr val="bg1"/>
                            </a:solidFill>
                          </a:rPr>
                          <m:t>D</m:t>
                        </m:r>
                      </m:sub>
                    </m:sSub>
                  </m:oMath>
                </a14:m>
                <a:endParaRPr lang="en-US" sz="4000" dirty="0">
                  <a:solidFill>
                    <a:schemeClr val="bg1"/>
                  </a:solidFill>
                </a:endParaRPr>
              </a:p>
            </p:txBody>
          </p:sp>
        </mc:Choice>
        <mc:Fallback xmlns="">
          <p:sp>
            <p:nvSpPr>
              <p:cNvPr id="2" name="Title 1">
                <a:extLst>
                  <a:ext uri="{FF2B5EF4-FFF2-40B4-BE49-F238E27FC236}">
                    <a16:creationId xmlns:a16="http://schemas.microsoft.com/office/drawing/2014/main" id="{0E2553E0-B2B4-2E82-046A-AF34B3754727}"/>
                  </a:ext>
                </a:extLst>
              </p:cNvPr>
              <p:cNvSpPr>
                <a:spLocks noGrp="1" noRot="1" noChangeAspect="1" noMove="1" noResize="1" noEditPoints="1" noAdjustHandles="1" noChangeArrowheads="1" noChangeShapeType="1" noTextEdit="1"/>
              </p:cNvSpPr>
              <p:nvPr>
                <p:ph type="title"/>
              </p:nvPr>
            </p:nvSpPr>
            <p:spPr>
              <a:xfrm>
                <a:off x="0" y="0"/>
                <a:ext cx="12188825" cy="923636"/>
              </a:xfrm>
              <a:blipFill>
                <a:blip r:embed="rId2"/>
                <a:stretch>
                  <a:fillRect b="-16447"/>
                </a:stretch>
              </a:blipFill>
            </p:spPr>
            <p:txBody>
              <a:bodyPr/>
              <a:lstStyle/>
              <a:p>
                <a:r>
                  <a:rPr lang="en-US">
                    <a:noFill/>
                  </a:rPr>
                  <a:t> </a:t>
                </a:r>
              </a:p>
            </p:txBody>
          </p:sp>
        </mc:Fallback>
      </mc:AlternateContent>
      <p:sp>
        <p:nvSpPr>
          <p:cNvPr id="5" name="Rectangle 4">
            <a:extLst>
              <a:ext uri="{FF2B5EF4-FFF2-40B4-BE49-F238E27FC236}">
                <a16:creationId xmlns:a16="http://schemas.microsoft.com/office/drawing/2014/main" id="{BA87FCB1-FB57-A54E-9F20-8509E4887010}"/>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AA46C678-0789-DB53-A7E3-0D14CD85E222}"/>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FEE1F789-0EFA-147D-DBB4-22CFEA280A2F}"/>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13</a:t>
            </a:fld>
            <a:r>
              <a:rPr lang="en-US" b="1" dirty="0">
                <a:solidFill>
                  <a:schemeClr val="bg1"/>
                </a:solidFill>
                <a:latin typeface="Garamond" panose="02020404030301010803" pitchFamily="18" charset="0"/>
              </a:rPr>
              <a:t>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9D930D9-D5BF-2AF6-FE6D-6458C1068A0C}"/>
                  </a:ext>
                </a:extLst>
              </p:cNvPr>
              <p:cNvSpPr>
                <a:spLocks noGrp="1"/>
              </p:cNvSpPr>
              <p:nvPr>
                <p:ph idx="1"/>
              </p:nvPr>
            </p:nvSpPr>
            <p:spPr>
              <a:xfrm>
                <a:off x="5029198" y="1300900"/>
                <a:ext cx="6702429" cy="4937975"/>
              </a:xfrm>
            </p:spPr>
            <p:txBody>
              <a:bodyPr>
                <a:normAutofit/>
              </a:bodyPr>
              <a:lstStyle/>
              <a:p>
                <a:pPr>
                  <a:spcBef>
                    <a:spcPts val="576"/>
                  </a:spcBef>
                  <a:defRPr sz="2000">
                    <a:solidFill>
                      <a:srgbClr val="000000"/>
                    </a:solidFill>
                    <a:latin typeface="Garamond"/>
                  </a:defRPr>
                </a:pPr>
                <a:r>
                  <a:rPr lang="en-US" altLang="zh-TW" sz="2400" dirty="0"/>
                  <a:t>The domestic producers are made worse off, as domestic prices fall to </a:t>
                </a:r>
                <a14:m>
                  <m:oMath xmlns:m="http://schemas.openxmlformats.org/officeDocument/2006/math">
                    <m:sSub>
                      <m:sSubPr>
                        <m:ctrlPr>
                          <a:rPr lang="en-US" altLang="zh-TW" sz="2400" i="1">
                            <a:latin typeface="Cambria Math" panose="02040503050406030204" pitchFamily="18" charset="0"/>
                          </a:rPr>
                        </m:ctrlPr>
                      </m:sSubPr>
                      <m:e>
                        <m:r>
                          <m:rPr>
                            <m:nor/>
                          </m:rPr>
                          <a:rPr lang="en-US" altLang="zh-TW" sz="2400" dirty="0"/>
                          <m:t>P</m:t>
                        </m:r>
                      </m:e>
                      <m:sub>
                        <m:r>
                          <m:rPr>
                            <m:nor/>
                          </m:rPr>
                          <a:rPr lang="en-US" altLang="zh-TW" sz="2400" dirty="0"/>
                          <m:t>W</m:t>
                        </m:r>
                      </m:sub>
                    </m:sSub>
                  </m:oMath>
                </a14:m>
                <a:r>
                  <a:rPr lang="en-US" altLang="zh-TW" sz="2400" dirty="0"/>
                  <a:t>, and they sell less units.</a:t>
                </a:r>
              </a:p>
              <a:p>
                <a:pPr lvl="3">
                  <a:spcBef>
                    <a:spcPts val="576"/>
                  </a:spcBef>
                  <a:defRPr sz="2000">
                    <a:solidFill>
                      <a:srgbClr val="000000"/>
                    </a:solidFill>
                    <a:latin typeface="Garamond"/>
                  </a:defRPr>
                </a:pPr>
                <a:endParaRPr lang="en-US" altLang="zh-TW" sz="1200" dirty="0"/>
              </a:p>
              <a:p>
                <a:pPr>
                  <a:spcBef>
                    <a:spcPts val="576"/>
                  </a:spcBef>
                  <a:defRPr sz="2000">
                    <a:solidFill>
                      <a:srgbClr val="000000"/>
                    </a:solidFill>
                    <a:latin typeface="Garamond"/>
                  </a:defRPr>
                </a:pPr>
                <a:r>
                  <a:rPr lang="en-US" altLang="zh-TW" sz="2400" dirty="0"/>
                  <a:t>However, the gains to the consumers are greater than the losses to the producers.</a:t>
                </a:r>
              </a:p>
              <a:p>
                <a:pPr lvl="3">
                  <a:spcBef>
                    <a:spcPts val="576"/>
                  </a:spcBef>
                  <a:defRPr sz="2000">
                    <a:solidFill>
                      <a:srgbClr val="000000"/>
                    </a:solidFill>
                    <a:latin typeface="Garamond"/>
                  </a:defRPr>
                </a:pPr>
                <a:endParaRPr lang="en-US" altLang="zh-TW" sz="1200" dirty="0"/>
              </a:p>
              <a:p>
                <a:pPr>
                  <a:spcBef>
                    <a:spcPts val="576"/>
                  </a:spcBef>
                  <a:defRPr sz="2000">
                    <a:solidFill>
                      <a:srgbClr val="000000"/>
                    </a:solidFill>
                    <a:latin typeface="Garamond"/>
                  </a:defRPr>
                </a:pPr>
                <a:r>
                  <a:rPr lang="en-US" altLang="zh-TW" sz="2400" dirty="0"/>
                  <a:t>Therefore, total welfare increases by the area D.</a:t>
                </a:r>
              </a:p>
              <a:p>
                <a:pPr lvl="3">
                  <a:spcBef>
                    <a:spcPts val="576"/>
                  </a:spcBef>
                  <a:defRPr sz="2000">
                    <a:solidFill>
                      <a:srgbClr val="000000"/>
                    </a:solidFill>
                    <a:latin typeface="Garamond"/>
                  </a:defRPr>
                </a:pPr>
                <a:endParaRPr lang="en-US" altLang="zh-TW" sz="1200" dirty="0"/>
              </a:p>
              <a:p>
                <a:pPr>
                  <a:spcBef>
                    <a:spcPts val="576"/>
                  </a:spcBef>
                  <a:defRPr sz="2000">
                    <a:solidFill>
                      <a:srgbClr val="000000"/>
                    </a:solidFill>
                    <a:latin typeface="Garamond"/>
                  </a:defRPr>
                </a:pPr>
                <a:endParaRPr lang="en-US" altLang="zh-TW" sz="2400" dirty="0"/>
              </a:p>
            </p:txBody>
          </p:sp>
        </mc:Choice>
        <mc:Fallback xmlns="">
          <p:sp>
            <p:nvSpPr>
              <p:cNvPr id="3" name="Content Placeholder 2">
                <a:extLst>
                  <a:ext uri="{FF2B5EF4-FFF2-40B4-BE49-F238E27FC236}">
                    <a16:creationId xmlns:a16="http://schemas.microsoft.com/office/drawing/2014/main" id="{79D930D9-D5BF-2AF6-FE6D-6458C1068A0C}"/>
                  </a:ext>
                </a:extLst>
              </p:cNvPr>
              <p:cNvSpPr>
                <a:spLocks noGrp="1" noRot="1" noChangeAspect="1" noMove="1" noResize="1" noEditPoints="1" noAdjustHandles="1" noChangeArrowheads="1" noChangeShapeType="1" noTextEdit="1"/>
              </p:cNvSpPr>
              <p:nvPr>
                <p:ph idx="1"/>
              </p:nvPr>
            </p:nvSpPr>
            <p:spPr>
              <a:xfrm>
                <a:off x="5029198" y="1300900"/>
                <a:ext cx="6702429" cy="4937975"/>
              </a:xfrm>
              <a:blipFill>
                <a:blip r:embed="rId3"/>
                <a:stretch>
                  <a:fillRect l="-1183" t="-988"/>
                </a:stretch>
              </a:blipFill>
            </p:spPr>
            <p:txBody>
              <a:bodyPr/>
              <a:lstStyle/>
              <a:p>
                <a:r>
                  <a:rPr lang="en-US">
                    <a:noFill/>
                  </a:rPr>
                  <a:t> </a:t>
                </a:r>
              </a:p>
            </p:txBody>
          </p:sp>
        </mc:Fallback>
      </mc:AlternateContent>
      <p:pic>
        <p:nvPicPr>
          <p:cNvPr id="10" name="Picture 9">
            <a:extLst>
              <a:ext uri="{FF2B5EF4-FFF2-40B4-BE49-F238E27FC236}">
                <a16:creationId xmlns:a16="http://schemas.microsoft.com/office/drawing/2014/main" id="{77238037-FC39-2A75-D41A-77139D20E2D2}"/>
              </a:ext>
            </a:extLst>
          </p:cNvPr>
          <p:cNvPicPr>
            <a:picLocks noChangeAspect="1"/>
          </p:cNvPicPr>
          <p:nvPr/>
        </p:nvPicPr>
        <p:blipFill>
          <a:blip r:embed="rId4"/>
          <a:srcRect/>
          <a:stretch/>
        </p:blipFill>
        <p:spPr>
          <a:xfrm>
            <a:off x="457198" y="1300900"/>
            <a:ext cx="4572000" cy="4572000"/>
          </a:xfrm>
          <a:prstGeom prst="rect">
            <a:avLst/>
          </a:prstGeom>
        </p:spPr>
      </p:pic>
    </p:spTree>
    <p:extLst>
      <p:ext uri="{BB962C8B-B14F-4D97-AF65-F5344CB8AC3E}">
        <p14:creationId xmlns:p14="http://schemas.microsoft.com/office/powerpoint/2010/main" val="2645058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FA2F4-DA0F-4977-5AC1-4DD57088674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A8B922A-2FCC-DE17-5949-867346DD0271}"/>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5C5BE6B-94AE-11CA-6497-323C2B4AD1C6}"/>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Exercise: World Price and Domestic Price</a:t>
            </a:r>
          </a:p>
        </p:txBody>
      </p:sp>
      <p:sp>
        <p:nvSpPr>
          <p:cNvPr id="5" name="Rectangle 4">
            <a:extLst>
              <a:ext uri="{FF2B5EF4-FFF2-40B4-BE49-F238E27FC236}">
                <a16:creationId xmlns:a16="http://schemas.microsoft.com/office/drawing/2014/main" id="{B011A322-7A94-4FE1-D43A-FB16BA334856}"/>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63A27823-6D7B-5DE8-3A6F-80976308DD06}"/>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72939F56-E442-5389-FC93-D57384684CFB}"/>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14</a:t>
            </a:fld>
            <a:r>
              <a:rPr lang="en-US" b="1" dirty="0">
                <a:solidFill>
                  <a:schemeClr val="bg1"/>
                </a:solidFill>
                <a:latin typeface="Garamond" panose="02020404030301010803" pitchFamily="18" charset="0"/>
              </a:rPr>
              <a:t>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E62053F-6400-1938-DCB1-D1D2C0CF5051}"/>
                  </a:ext>
                </a:extLst>
              </p:cNvPr>
              <p:cNvSpPr>
                <a:spLocks noGrp="1"/>
              </p:cNvSpPr>
              <p:nvPr>
                <p:ph idx="1"/>
              </p:nvPr>
            </p:nvSpPr>
            <p:spPr>
              <a:xfrm>
                <a:off x="5029198" y="1300900"/>
                <a:ext cx="6702429" cy="4937975"/>
              </a:xfrm>
            </p:spPr>
            <p:txBody>
              <a:bodyPr>
                <a:normAutofit/>
              </a:bodyPr>
              <a:lstStyle/>
              <a:p>
                <a:pPr>
                  <a:spcBef>
                    <a:spcPts val="576"/>
                  </a:spcBef>
                  <a:defRPr sz="2000">
                    <a:solidFill>
                      <a:srgbClr val="000000"/>
                    </a:solidFill>
                    <a:latin typeface="Garamond"/>
                  </a:defRPr>
                </a:pPr>
                <a:r>
                  <a:rPr lang="en-US" altLang="zh-TW" sz="2400" dirty="0"/>
                  <a:t>Suppose that the autarky equilibrium is found at:</a:t>
                </a:r>
              </a:p>
              <a:p>
                <a:pPr lvl="1">
                  <a:spcBef>
                    <a:spcPts val="576"/>
                  </a:spcBef>
                  <a:defRPr sz="2000">
                    <a:solidFill>
                      <a:srgbClr val="000000"/>
                    </a:solidFill>
                    <a:latin typeface="Garamond"/>
                  </a:defRPr>
                </a:pPr>
                <a:r>
                  <a:rPr lang="en-US" altLang="zh-TW" sz="2000" dirty="0"/>
                  <a:t>Price: $6.5</a:t>
                </a:r>
              </a:p>
              <a:p>
                <a:pPr lvl="1">
                  <a:spcBef>
                    <a:spcPts val="576"/>
                  </a:spcBef>
                  <a:defRPr sz="2000">
                    <a:solidFill>
                      <a:srgbClr val="000000"/>
                    </a:solidFill>
                    <a:latin typeface="Garamond"/>
                  </a:defRPr>
                </a:pPr>
                <a:r>
                  <a:rPr lang="en-US" altLang="zh-TW" sz="2000" dirty="0"/>
                  <a:t>Quantity: 55</a:t>
                </a:r>
              </a:p>
              <a:p>
                <a:pPr lvl="4">
                  <a:spcBef>
                    <a:spcPts val="576"/>
                  </a:spcBef>
                  <a:defRPr sz="2000">
                    <a:solidFill>
                      <a:srgbClr val="000000"/>
                    </a:solidFill>
                    <a:latin typeface="Garamond"/>
                  </a:defRPr>
                </a:pPr>
                <a:endParaRPr lang="en-US" altLang="zh-TW" sz="1200" dirty="0"/>
              </a:p>
              <a:p>
                <a:pPr>
                  <a:spcBef>
                    <a:spcPts val="576"/>
                  </a:spcBef>
                  <a:defRPr sz="2000">
                    <a:solidFill>
                      <a:srgbClr val="000000"/>
                    </a:solidFill>
                    <a:latin typeface="Garamond"/>
                  </a:defRPr>
                </a:pPr>
                <a:r>
                  <a:rPr lang="en-US" altLang="zh-TW" sz="2400" dirty="0"/>
                  <a:t>If this market opens to world trade where the world price is $5, find the following:</a:t>
                </a:r>
              </a:p>
              <a:p>
                <a:pPr lvl="1">
                  <a:spcBef>
                    <a:spcPts val="576"/>
                  </a:spcBef>
                  <a:defRPr sz="2000">
                    <a:solidFill>
                      <a:srgbClr val="000000"/>
                    </a:solidFill>
                    <a:latin typeface="Garamond"/>
                  </a:defRPr>
                </a:pPr>
                <a:r>
                  <a:rPr lang="en-US" altLang="zh-TW" sz="2000" dirty="0"/>
                  <a:t>Domestic Price: </a:t>
                </a:r>
              </a:p>
              <a:p>
                <a:pPr lvl="1">
                  <a:spcBef>
                    <a:spcPts val="576"/>
                  </a:spcBef>
                  <a:defRPr sz="2000">
                    <a:solidFill>
                      <a:srgbClr val="000000"/>
                    </a:solidFill>
                    <a:latin typeface="Garamond"/>
                  </a:defRPr>
                </a:pPr>
                <a14:m>
                  <m:oMath xmlns:m="http://schemas.openxmlformats.org/officeDocument/2006/math">
                    <m:sSub>
                      <m:sSubPr>
                        <m:ctrlPr>
                          <a:rPr lang="en-US" altLang="zh-TW" sz="2000" i="1">
                            <a:latin typeface="Cambria Math" panose="02040503050406030204" pitchFamily="18" charset="0"/>
                          </a:rPr>
                        </m:ctrlPr>
                      </m:sSubPr>
                      <m:e>
                        <m:r>
                          <m:rPr>
                            <m:nor/>
                          </m:rPr>
                          <a:rPr lang="en-US" altLang="zh-TW" sz="2000" dirty="0"/>
                          <m:t>Q</m:t>
                        </m:r>
                      </m:e>
                      <m:sub>
                        <m:r>
                          <m:rPr>
                            <m:nor/>
                          </m:rPr>
                          <a:rPr lang="en-US" altLang="zh-TW" sz="2000" dirty="0"/>
                          <m:t>D</m:t>
                        </m:r>
                      </m:sub>
                    </m:sSub>
                  </m:oMath>
                </a14:m>
                <a:r>
                  <a:rPr lang="en-US" altLang="zh-TW" sz="2000" dirty="0"/>
                  <a:t>: </a:t>
                </a:r>
              </a:p>
              <a:p>
                <a:pPr lvl="1">
                  <a:spcBef>
                    <a:spcPts val="576"/>
                  </a:spcBef>
                  <a:defRPr sz="2000">
                    <a:solidFill>
                      <a:srgbClr val="000000"/>
                    </a:solidFill>
                    <a:latin typeface="Garamond"/>
                  </a:defRPr>
                </a:pPr>
                <a14:m>
                  <m:oMath xmlns:m="http://schemas.openxmlformats.org/officeDocument/2006/math">
                    <m:sSub>
                      <m:sSubPr>
                        <m:ctrlPr>
                          <a:rPr lang="en-US" altLang="zh-TW" sz="2000" i="1">
                            <a:latin typeface="Cambria Math" panose="02040503050406030204" pitchFamily="18" charset="0"/>
                          </a:rPr>
                        </m:ctrlPr>
                      </m:sSubPr>
                      <m:e>
                        <m:r>
                          <m:rPr>
                            <m:nor/>
                          </m:rPr>
                          <a:rPr lang="en-US" altLang="zh-TW" sz="2000" dirty="0"/>
                          <m:t>Q</m:t>
                        </m:r>
                      </m:e>
                      <m:sub>
                        <m:r>
                          <m:rPr>
                            <m:nor/>
                          </m:rPr>
                          <a:rPr lang="en-US" altLang="zh-TW" sz="2000" b="0" i="0" dirty="0" smtClean="0"/>
                          <m:t>S</m:t>
                        </m:r>
                      </m:sub>
                    </m:sSub>
                  </m:oMath>
                </a14:m>
                <a:r>
                  <a:rPr lang="en-US" altLang="zh-TW" sz="2000" dirty="0"/>
                  <a:t>: </a:t>
                </a:r>
              </a:p>
              <a:p>
                <a:pPr lvl="1">
                  <a:spcBef>
                    <a:spcPts val="576"/>
                  </a:spcBef>
                  <a:defRPr sz="2000">
                    <a:solidFill>
                      <a:srgbClr val="000000"/>
                    </a:solidFill>
                    <a:latin typeface="Garamond"/>
                  </a:defRPr>
                </a:pPr>
                <a:r>
                  <a:rPr lang="en-US" altLang="zh-TW" sz="2000" dirty="0"/>
                  <a:t>Trade: </a:t>
                </a:r>
              </a:p>
              <a:p>
                <a:pPr lvl="1">
                  <a:spcBef>
                    <a:spcPts val="576"/>
                  </a:spcBef>
                  <a:defRPr sz="2000">
                    <a:solidFill>
                      <a:srgbClr val="000000"/>
                    </a:solidFill>
                    <a:latin typeface="Garamond"/>
                  </a:defRPr>
                </a:pPr>
                <a:r>
                  <a:rPr lang="en-US" altLang="zh-TW" sz="2000" dirty="0"/>
                  <a:t>Consumer Surplus: </a:t>
                </a:r>
              </a:p>
              <a:p>
                <a:pPr lvl="1">
                  <a:spcBef>
                    <a:spcPts val="576"/>
                  </a:spcBef>
                  <a:defRPr sz="2000">
                    <a:solidFill>
                      <a:srgbClr val="000000"/>
                    </a:solidFill>
                    <a:latin typeface="Garamond"/>
                  </a:defRPr>
                </a:pPr>
                <a:r>
                  <a:rPr lang="en-US" altLang="zh-TW" sz="2000" dirty="0"/>
                  <a:t>Producer Surplus: </a:t>
                </a:r>
              </a:p>
            </p:txBody>
          </p:sp>
        </mc:Choice>
        <mc:Fallback xmlns="">
          <p:sp>
            <p:nvSpPr>
              <p:cNvPr id="3" name="Content Placeholder 2">
                <a:extLst>
                  <a:ext uri="{FF2B5EF4-FFF2-40B4-BE49-F238E27FC236}">
                    <a16:creationId xmlns:a16="http://schemas.microsoft.com/office/drawing/2014/main" id="{EE62053F-6400-1938-DCB1-D1D2C0CF5051}"/>
                  </a:ext>
                </a:extLst>
              </p:cNvPr>
              <p:cNvSpPr>
                <a:spLocks noGrp="1" noRot="1" noChangeAspect="1" noMove="1" noResize="1" noEditPoints="1" noAdjustHandles="1" noChangeArrowheads="1" noChangeShapeType="1" noTextEdit="1"/>
              </p:cNvSpPr>
              <p:nvPr>
                <p:ph idx="1"/>
              </p:nvPr>
            </p:nvSpPr>
            <p:spPr>
              <a:xfrm>
                <a:off x="5029198" y="1300900"/>
                <a:ext cx="6702429" cy="4937975"/>
              </a:xfrm>
              <a:blipFill>
                <a:blip r:embed="rId2"/>
                <a:stretch>
                  <a:fillRect l="-1183" t="-988" r="-2184"/>
                </a:stretch>
              </a:blipFill>
            </p:spPr>
            <p:txBody>
              <a:bodyPr/>
              <a:lstStyle/>
              <a:p>
                <a:r>
                  <a:rPr lang="en-US">
                    <a:noFill/>
                  </a:rPr>
                  <a:t> </a:t>
                </a:r>
              </a:p>
            </p:txBody>
          </p:sp>
        </mc:Fallback>
      </mc:AlternateContent>
      <p:pic>
        <p:nvPicPr>
          <p:cNvPr id="10" name="Picture 9">
            <a:extLst>
              <a:ext uri="{FF2B5EF4-FFF2-40B4-BE49-F238E27FC236}">
                <a16:creationId xmlns:a16="http://schemas.microsoft.com/office/drawing/2014/main" id="{99537AD2-2C07-0A55-3C07-7C89A6DC0977}"/>
              </a:ext>
            </a:extLst>
          </p:cNvPr>
          <p:cNvPicPr>
            <a:picLocks noChangeAspect="1"/>
          </p:cNvPicPr>
          <p:nvPr/>
        </p:nvPicPr>
        <p:blipFill>
          <a:blip r:embed="rId3"/>
          <a:srcRect/>
          <a:stretch/>
        </p:blipFill>
        <p:spPr>
          <a:xfrm>
            <a:off x="457198" y="1300900"/>
            <a:ext cx="4572000" cy="4572000"/>
          </a:xfrm>
          <a:prstGeom prst="rect">
            <a:avLst/>
          </a:prstGeom>
        </p:spPr>
      </p:pic>
      <p:pic>
        <p:nvPicPr>
          <p:cNvPr id="9" name="Picture 8" descr="A graph of a line and a red line&#10;&#10;AI-generated content may be incorrect.">
            <a:extLst>
              <a:ext uri="{FF2B5EF4-FFF2-40B4-BE49-F238E27FC236}">
                <a16:creationId xmlns:a16="http://schemas.microsoft.com/office/drawing/2014/main" id="{C6D2CED1-0B92-6F91-FAF2-A2FEB81CD508}"/>
              </a:ext>
            </a:extLst>
          </p:cNvPr>
          <p:cNvPicPr>
            <a:picLocks noChangeAspect="1"/>
          </p:cNvPicPr>
          <p:nvPr/>
        </p:nvPicPr>
        <p:blipFill>
          <a:blip r:embed="rId4"/>
          <a:stretch>
            <a:fillRect/>
          </a:stretch>
        </p:blipFill>
        <p:spPr>
          <a:xfrm>
            <a:off x="457198" y="1300900"/>
            <a:ext cx="4572000" cy="4572000"/>
          </a:xfrm>
          <a:prstGeom prst="rect">
            <a:avLst/>
          </a:prstGeom>
        </p:spPr>
      </p:pic>
      <p:sp>
        <p:nvSpPr>
          <p:cNvPr id="11" name="Rectangle 10">
            <a:extLst>
              <a:ext uri="{FF2B5EF4-FFF2-40B4-BE49-F238E27FC236}">
                <a16:creationId xmlns:a16="http://schemas.microsoft.com/office/drawing/2014/main" id="{5F7526EA-A304-28A4-81DB-467D7FD92BB2}"/>
              </a:ext>
            </a:extLst>
          </p:cNvPr>
          <p:cNvSpPr/>
          <p:nvPr/>
        </p:nvSpPr>
        <p:spPr>
          <a:xfrm>
            <a:off x="7487624" y="3644982"/>
            <a:ext cx="540808" cy="249810"/>
          </a:xfrm>
          <a:prstGeom prst="rect">
            <a:avLst/>
          </a:prstGeom>
          <a:solidFill>
            <a:schemeClr val="bg1"/>
          </a:solidFill>
          <a:ln>
            <a:solidFill>
              <a:srgbClr val="77122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TW" sz="2000" dirty="0">
                <a:solidFill>
                  <a:srgbClr val="000000"/>
                </a:solidFill>
                <a:latin typeface="Garamond"/>
              </a:rPr>
              <a:t>$5</a:t>
            </a:r>
            <a:endParaRPr lang="en-US" sz="2000" dirty="0">
              <a:solidFill>
                <a:srgbClr val="000000"/>
              </a:solidFill>
              <a:latin typeface="Garamond"/>
            </a:endParaRPr>
          </a:p>
        </p:txBody>
      </p:sp>
      <p:pic>
        <p:nvPicPr>
          <p:cNvPr id="15" name="Picture 14" descr="A graph of a price line&#10;&#10;AI-generated content may be incorrect.">
            <a:extLst>
              <a:ext uri="{FF2B5EF4-FFF2-40B4-BE49-F238E27FC236}">
                <a16:creationId xmlns:a16="http://schemas.microsoft.com/office/drawing/2014/main" id="{87BC17B1-BEC3-CEE6-DAA7-3376BFF88782}"/>
              </a:ext>
            </a:extLst>
          </p:cNvPr>
          <p:cNvPicPr>
            <a:picLocks noChangeAspect="1"/>
          </p:cNvPicPr>
          <p:nvPr/>
        </p:nvPicPr>
        <p:blipFill>
          <a:blip r:embed="rId5"/>
          <a:stretch>
            <a:fillRect/>
          </a:stretch>
        </p:blipFill>
        <p:spPr>
          <a:xfrm>
            <a:off x="457198" y="1300900"/>
            <a:ext cx="4572000" cy="4572000"/>
          </a:xfrm>
          <a:prstGeom prst="rect">
            <a:avLst/>
          </a:prstGeom>
        </p:spPr>
      </p:pic>
      <p:sp>
        <p:nvSpPr>
          <p:cNvPr id="16" name="Rectangle 15">
            <a:extLst>
              <a:ext uri="{FF2B5EF4-FFF2-40B4-BE49-F238E27FC236}">
                <a16:creationId xmlns:a16="http://schemas.microsoft.com/office/drawing/2014/main" id="{1C6E05FB-F70A-9C32-B3E0-E93DCE7427A0}"/>
              </a:ext>
            </a:extLst>
          </p:cNvPr>
          <p:cNvSpPr/>
          <p:nvPr/>
        </p:nvSpPr>
        <p:spPr>
          <a:xfrm>
            <a:off x="6359864" y="4047192"/>
            <a:ext cx="540808" cy="249810"/>
          </a:xfrm>
          <a:prstGeom prst="rect">
            <a:avLst/>
          </a:prstGeom>
          <a:solidFill>
            <a:schemeClr val="bg1"/>
          </a:solidFill>
          <a:ln>
            <a:solidFill>
              <a:srgbClr val="77122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TW" sz="2000" dirty="0">
                <a:solidFill>
                  <a:srgbClr val="000000"/>
                </a:solidFill>
                <a:latin typeface="Garamond"/>
              </a:rPr>
              <a:t>80</a:t>
            </a:r>
            <a:endParaRPr lang="en-US" sz="2000" dirty="0">
              <a:solidFill>
                <a:srgbClr val="000000"/>
              </a:solidFill>
              <a:latin typeface="Garamond"/>
            </a:endParaRPr>
          </a:p>
        </p:txBody>
      </p:sp>
      <p:sp>
        <p:nvSpPr>
          <p:cNvPr id="17" name="Rectangle 16">
            <a:extLst>
              <a:ext uri="{FF2B5EF4-FFF2-40B4-BE49-F238E27FC236}">
                <a16:creationId xmlns:a16="http://schemas.microsoft.com/office/drawing/2014/main" id="{34FB2AA7-3658-25B6-BB50-00B5D6D2E9D1}"/>
              </a:ext>
            </a:extLst>
          </p:cNvPr>
          <p:cNvSpPr/>
          <p:nvPr/>
        </p:nvSpPr>
        <p:spPr>
          <a:xfrm>
            <a:off x="6359864" y="4449402"/>
            <a:ext cx="540808" cy="249810"/>
          </a:xfrm>
          <a:prstGeom prst="rect">
            <a:avLst/>
          </a:prstGeom>
          <a:solidFill>
            <a:schemeClr val="bg1"/>
          </a:solidFill>
          <a:ln>
            <a:solidFill>
              <a:srgbClr val="77122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TW" sz="2000" dirty="0">
                <a:solidFill>
                  <a:srgbClr val="000000"/>
                </a:solidFill>
                <a:latin typeface="Garamond"/>
              </a:rPr>
              <a:t>50</a:t>
            </a:r>
            <a:endParaRPr lang="en-US" sz="2000" dirty="0">
              <a:solidFill>
                <a:srgbClr val="000000"/>
              </a:solidFill>
              <a:latin typeface="Garamond"/>
            </a:endParaRPr>
          </a:p>
        </p:txBody>
      </p:sp>
      <p:pic>
        <p:nvPicPr>
          <p:cNvPr id="19" name="Picture 18" descr="A graph of the price of goods&#10;&#10;AI-generated content may be incorrect.">
            <a:extLst>
              <a:ext uri="{FF2B5EF4-FFF2-40B4-BE49-F238E27FC236}">
                <a16:creationId xmlns:a16="http://schemas.microsoft.com/office/drawing/2014/main" id="{12F46582-BBAF-FD93-9CCE-CEA8FE4095BC}"/>
              </a:ext>
            </a:extLst>
          </p:cNvPr>
          <p:cNvPicPr>
            <a:picLocks noChangeAspect="1"/>
          </p:cNvPicPr>
          <p:nvPr/>
        </p:nvPicPr>
        <p:blipFill>
          <a:blip r:embed="rId6"/>
          <a:stretch>
            <a:fillRect/>
          </a:stretch>
        </p:blipFill>
        <p:spPr>
          <a:xfrm>
            <a:off x="457198" y="1300900"/>
            <a:ext cx="4572000" cy="4572000"/>
          </a:xfrm>
          <a:prstGeom prst="rect">
            <a:avLst/>
          </a:prstGeom>
        </p:spPr>
      </p:pic>
      <p:sp>
        <p:nvSpPr>
          <p:cNvPr id="20" name="Rectangle 19">
            <a:extLst>
              <a:ext uri="{FF2B5EF4-FFF2-40B4-BE49-F238E27FC236}">
                <a16:creationId xmlns:a16="http://schemas.microsoft.com/office/drawing/2014/main" id="{52A06253-8D48-63B6-8166-519C8C2661FC}"/>
              </a:ext>
            </a:extLst>
          </p:cNvPr>
          <p:cNvSpPr/>
          <p:nvPr/>
        </p:nvSpPr>
        <p:spPr>
          <a:xfrm>
            <a:off x="6542088" y="4759388"/>
            <a:ext cx="1891072" cy="354572"/>
          </a:xfrm>
          <a:prstGeom prst="rect">
            <a:avLst/>
          </a:prstGeom>
          <a:solidFill>
            <a:schemeClr val="bg1"/>
          </a:solidFill>
          <a:ln>
            <a:solidFill>
              <a:srgbClr val="77122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TW" sz="2000" dirty="0">
                <a:solidFill>
                  <a:srgbClr val="000000"/>
                </a:solidFill>
                <a:latin typeface="Garamond"/>
              </a:rPr>
              <a:t>Import 30 Units</a:t>
            </a:r>
            <a:endParaRPr lang="en-US" sz="2000" dirty="0">
              <a:solidFill>
                <a:srgbClr val="000000"/>
              </a:solidFill>
              <a:latin typeface="Garamond"/>
            </a:endParaRPr>
          </a:p>
        </p:txBody>
      </p:sp>
      <p:pic>
        <p:nvPicPr>
          <p:cNvPr id="24" name="Picture 23" descr="A diagram of a price line&#10;&#10;AI-generated content may be incorrect.">
            <a:extLst>
              <a:ext uri="{FF2B5EF4-FFF2-40B4-BE49-F238E27FC236}">
                <a16:creationId xmlns:a16="http://schemas.microsoft.com/office/drawing/2014/main" id="{D8B283C9-00DF-74F3-B904-097262DA1EC6}"/>
              </a:ext>
            </a:extLst>
          </p:cNvPr>
          <p:cNvPicPr>
            <a:picLocks noChangeAspect="1"/>
          </p:cNvPicPr>
          <p:nvPr/>
        </p:nvPicPr>
        <p:blipFill>
          <a:blip r:embed="rId7"/>
          <a:stretch>
            <a:fillRect/>
          </a:stretch>
        </p:blipFill>
        <p:spPr>
          <a:xfrm>
            <a:off x="457198" y="1300900"/>
            <a:ext cx="4572000" cy="4572000"/>
          </a:xfrm>
          <a:prstGeom prst="rect">
            <a:avLst/>
          </a:prstGeom>
        </p:spPr>
      </p:pic>
      <p:sp>
        <p:nvSpPr>
          <p:cNvPr id="25" name="Rectangle 24">
            <a:extLst>
              <a:ext uri="{FF2B5EF4-FFF2-40B4-BE49-F238E27FC236}">
                <a16:creationId xmlns:a16="http://schemas.microsoft.com/office/drawing/2014/main" id="{1EB63007-F247-75E0-A224-3F715560A4CC}"/>
              </a:ext>
            </a:extLst>
          </p:cNvPr>
          <p:cNvSpPr/>
          <p:nvPr/>
        </p:nvSpPr>
        <p:spPr>
          <a:xfrm>
            <a:off x="7799980" y="5183280"/>
            <a:ext cx="722228" cy="249810"/>
          </a:xfrm>
          <a:prstGeom prst="rect">
            <a:avLst/>
          </a:prstGeom>
          <a:solidFill>
            <a:schemeClr val="bg1"/>
          </a:solidFill>
          <a:ln>
            <a:solidFill>
              <a:srgbClr val="77122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TW" sz="2000" dirty="0">
                <a:solidFill>
                  <a:srgbClr val="000000"/>
                </a:solidFill>
                <a:latin typeface="Garamond"/>
              </a:rPr>
              <a:t>$200</a:t>
            </a:r>
            <a:endParaRPr lang="en-US" sz="2000" dirty="0">
              <a:solidFill>
                <a:srgbClr val="000000"/>
              </a:solidFill>
              <a:latin typeface="Garamond"/>
            </a:endParaRPr>
          </a:p>
        </p:txBody>
      </p:sp>
      <p:sp>
        <p:nvSpPr>
          <p:cNvPr id="26" name="Rectangle 25">
            <a:extLst>
              <a:ext uri="{FF2B5EF4-FFF2-40B4-BE49-F238E27FC236}">
                <a16:creationId xmlns:a16="http://schemas.microsoft.com/office/drawing/2014/main" id="{935DB391-DADE-0243-BF9D-F3BF47CC8ADA}"/>
              </a:ext>
            </a:extLst>
          </p:cNvPr>
          <p:cNvSpPr/>
          <p:nvPr/>
        </p:nvSpPr>
        <p:spPr>
          <a:xfrm>
            <a:off x="7681976" y="5581600"/>
            <a:ext cx="722228" cy="249810"/>
          </a:xfrm>
          <a:prstGeom prst="rect">
            <a:avLst/>
          </a:prstGeom>
          <a:solidFill>
            <a:schemeClr val="bg1"/>
          </a:solidFill>
          <a:ln>
            <a:solidFill>
              <a:srgbClr val="77122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TW" sz="2000" dirty="0">
                <a:solidFill>
                  <a:srgbClr val="000000"/>
                </a:solidFill>
                <a:latin typeface="Garamond"/>
              </a:rPr>
              <a:t>$200</a:t>
            </a:r>
            <a:endParaRPr lang="en-US" sz="2000" dirty="0">
              <a:solidFill>
                <a:srgbClr val="000000"/>
              </a:solidFill>
              <a:latin typeface="Garamond"/>
            </a:endParaRPr>
          </a:p>
        </p:txBody>
      </p:sp>
    </p:spTree>
    <p:extLst>
      <p:ext uri="{BB962C8B-B14F-4D97-AF65-F5344CB8AC3E}">
        <p14:creationId xmlns:p14="http://schemas.microsoft.com/office/powerpoint/2010/main" val="911341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fade">
                                      <p:cBhvr>
                                        <p:cTn id="30" dur="500"/>
                                        <p:tgtEl>
                                          <p:spTgt spid="3">
                                            <p:txEl>
                                              <p:pRg st="7" end="7"/>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animEffect transition="in" filter="fade">
                                      <p:cBhvr>
                                        <p:cTn id="33" dur="500"/>
                                        <p:tgtEl>
                                          <p:spTgt spid="3">
                                            <p:txEl>
                                              <p:pRg st="8" end="8"/>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3">
                                            <p:txEl>
                                              <p:pRg st="9" end="9"/>
                                            </p:txEl>
                                          </p:spTgt>
                                        </p:tgtEl>
                                        <p:attrNameLst>
                                          <p:attrName>style.visibility</p:attrName>
                                        </p:attrNameLst>
                                      </p:cBhvr>
                                      <p:to>
                                        <p:strVal val="visible"/>
                                      </p:to>
                                    </p:set>
                                    <p:animEffect transition="in" filter="fade">
                                      <p:cBhvr>
                                        <p:cTn id="36" dur="500"/>
                                        <p:tgtEl>
                                          <p:spTgt spid="3">
                                            <p:txEl>
                                              <p:pRg st="9" end="9"/>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animEffect transition="in" filter="fade">
                                      <p:cBhvr>
                                        <p:cTn id="39" dur="500"/>
                                        <p:tgtEl>
                                          <p:spTgt spid="3">
                                            <p:txEl>
                                              <p:pRg st="10" end="10"/>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fade">
                                      <p:cBhvr>
                                        <p:cTn id="44" dur="500"/>
                                        <p:tgtEl>
                                          <p:spTgt spid="9"/>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500"/>
                                        <p:tgtEl>
                                          <p:spTgt spid="11"/>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fade">
                                      <p:cBhvr>
                                        <p:cTn id="52" dur="500"/>
                                        <p:tgtEl>
                                          <p:spTgt spid="15"/>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6"/>
                                        </p:tgtEl>
                                        <p:attrNameLst>
                                          <p:attrName>style.visibility</p:attrName>
                                        </p:attrNameLst>
                                      </p:cBhvr>
                                      <p:to>
                                        <p:strVal val="visible"/>
                                      </p:to>
                                    </p:set>
                                    <p:animEffect transition="in" filter="fade">
                                      <p:cBhvr>
                                        <p:cTn id="55" dur="500"/>
                                        <p:tgtEl>
                                          <p:spTgt spid="16"/>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500"/>
                                        <p:tgtEl>
                                          <p:spTgt spid="17"/>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19"/>
                                        </p:tgtEl>
                                        <p:attrNameLst>
                                          <p:attrName>style.visibility</p:attrName>
                                        </p:attrNameLst>
                                      </p:cBhvr>
                                      <p:to>
                                        <p:strVal val="visible"/>
                                      </p:to>
                                    </p:set>
                                    <p:animEffect transition="in" filter="fade">
                                      <p:cBhvr>
                                        <p:cTn id="63" dur="500"/>
                                        <p:tgtEl>
                                          <p:spTgt spid="19"/>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0"/>
                                        </p:tgtEl>
                                        <p:attrNameLst>
                                          <p:attrName>style.visibility</p:attrName>
                                        </p:attrNameLst>
                                      </p:cBhvr>
                                      <p:to>
                                        <p:strVal val="visible"/>
                                      </p:to>
                                    </p:set>
                                    <p:animEffect transition="in" filter="fade">
                                      <p:cBhvr>
                                        <p:cTn id="66" dur="500"/>
                                        <p:tgtEl>
                                          <p:spTgt spid="20"/>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24"/>
                                        </p:tgtEl>
                                        <p:attrNameLst>
                                          <p:attrName>style.visibility</p:attrName>
                                        </p:attrNameLst>
                                      </p:cBhvr>
                                      <p:to>
                                        <p:strVal val="visible"/>
                                      </p:to>
                                    </p:set>
                                    <p:animEffect transition="in" filter="fade">
                                      <p:cBhvr>
                                        <p:cTn id="71" dur="500"/>
                                        <p:tgtEl>
                                          <p:spTgt spid="24"/>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fade">
                                      <p:cBhvr>
                                        <p:cTn id="74" dur="500"/>
                                        <p:tgtEl>
                                          <p:spTgt spid="25"/>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6" grpId="0" animBg="1"/>
      <p:bldP spid="17" grpId="0" animBg="1"/>
      <p:bldP spid="20" grpId="0" animBg="1"/>
      <p:bldP spid="25" grpId="0" animBg="1"/>
      <p:bldP spid="2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13F9C-DC28-EA26-4183-7C91FBD5EFF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1FC45C0-F927-07D2-66CD-7AAB2A833CC8}"/>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3185031-BB92-EDF7-0894-017A3BA8A4E1}"/>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Summary: International Trade and Welfare</a:t>
            </a:r>
          </a:p>
        </p:txBody>
      </p:sp>
      <p:sp>
        <p:nvSpPr>
          <p:cNvPr id="5" name="Rectangle 4">
            <a:extLst>
              <a:ext uri="{FF2B5EF4-FFF2-40B4-BE49-F238E27FC236}">
                <a16:creationId xmlns:a16="http://schemas.microsoft.com/office/drawing/2014/main" id="{1533730A-E325-560E-CAB9-39FB2AF1F032}"/>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BD43AAB1-1D0E-5524-69B9-10D93949270C}"/>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EDA64E59-827A-455C-C5F5-B0855D35478B}"/>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15</a:t>
            </a:fld>
            <a:r>
              <a:rPr lang="en-US" b="1" dirty="0">
                <a:solidFill>
                  <a:schemeClr val="bg1"/>
                </a:solidFill>
                <a:latin typeface="Garamond" panose="02020404030301010803" pitchFamily="18" charset="0"/>
              </a:rPr>
              <a:t> </a:t>
            </a:r>
          </a:p>
        </p:txBody>
      </p:sp>
      <p:sp>
        <p:nvSpPr>
          <p:cNvPr id="11" name="Content Placeholder 2">
            <a:extLst>
              <a:ext uri="{FF2B5EF4-FFF2-40B4-BE49-F238E27FC236}">
                <a16:creationId xmlns:a16="http://schemas.microsoft.com/office/drawing/2014/main" id="{0FB152E6-B4DE-BAD9-E842-040042041D3B}"/>
              </a:ext>
            </a:extLst>
          </p:cNvPr>
          <p:cNvSpPr>
            <a:spLocks noGrp="1"/>
          </p:cNvSpPr>
          <p:nvPr>
            <p:ph idx="1"/>
          </p:nvPr>
        </p:nvSpPr>
        <p:spPr>
          <a:xfrm>
            <a:off x="457199" y="1300900"/>
            <a:ext cx="11189855" cy="5081046"/>
          </a:xfrm>
        </p:spPr>
        <p:txBody>
          <a:bodyPr>
            <a:normAutofit/>
          </a:bodyPr>
          <a:lstStyle/>
          <a:p>
            <a:pPr>
              <a:spcBef>
                <a:spcPts val="576"/>
              </a:spcBef>
              <a:defRPr sz="2000">
                <a:solidFill>
                  <a:srgbClr val="000000"/>
                </a:solidFill>
                <a:latin typeface="Garamond"/>
              </a:defRPr>
            </a:pPr>
            <a:r>
              <a:rPr lang="en-US" altLang="zh-TW" sz="2400" dirty="0"/>
              <a:t>The following table summarizes the main points from previous slides:</a:t>
            </a:r>
          </a:p>
          <a:p>
            <a:pPr>
              <a:spcBef>
                <a:spcPts val="576"/>
              </a:spcBef>
              <a:defRPr sz="2000">
                <a:solidFill>
                  <a:srgbClr val="000000"/>
                </a:solidFill>
                <a:latin typeface="Garamond"/>
              </a:defRPr>
            </a:pPr>
            <a:endParaRPr lang="en-US" altLang="zh-TW" sz="2400" dirty="0"/>
          </a:p>
          <a:p>
            <a:pPr>
              <a:spcBef>
                <a:spcPts val="576"/>
              </a:spcBef>
              <a:defRPr sz="2000">
                <a:solidFill>
                  <a:srgbClr val="000000"/>
                </a:solidFill>
                <a:latin typeface="Garamond"/>
              </a:defRPr>
            </a:pPr>
            <a:endParaRPr lang="en-US" altLang="zh-TW" sz="2400" dirty="0"/>
          </a:p>
          <a:p>
            <a:pPr>
              <a:spcBef>
                <a:spcPts val="576"/>
              </a:spcBef>
              <a:defRPr sz="2000">
                <a:solidFill>
                  <a:srgbClr val="000000"/>
                </a:solidFill>
                <a:latin typeface="Garamond"/>
              </a:defRPr>
            </a:pPr>
            <a:endParaRPr lang="en-US" altLang="zh-TW" sz="2400" dirty="0"/>
          </a:p>
          <a:p>
            <a:pPr>
              <a:spcBef>
                <a:spcPts val="576"/>
              </a:spcBef>
              <a:defRPr sz="2000">
                <a:solidFill>
                  <a:srgbClr val="000000"/>
                </a:solidFill>
                <a:latin typeface="Garamond"/>
              </a:defRPr>
            </a:pPr>
            <a:endParaRPr lang="en-US" altLang="zh-TW" sz="2400" dirty="0"/>
          </a:p>
          <a:p>
            <a:pPr>
              <a:spcBef>
                <a:spcPts val="576"/>
              </a:spcBef>
              <a:defRPr sz="2000">
                <a:solidFill>
                  <a:srgbClr val="000000"/>
                </a:solidFill>
                <a:latin typeface="Garamond"/>
              </a:defRPr>
            </a:pPr>
            <a:endParaRPr lang="en-US" altLang="zh-TW" sz="2400" dirty="0"/>
          </a:p>
          <a:p>
            <a:pPr>
              <a:spcBef>
                <a:spcPts val="576"/>
              </a:spcBef>
              <a:defRPr sz="2000">
                <a:solidFill>
                  <a:srgbClr val="000000"/>
                </a:solidFill>
                <a:latin typeface="Garamond"/>
              </a:defRPr>
            </a:pPr>
            <a:r>
              <a:rPr lang="en-US" altLang="zh-TW" sz="2400" dirty="0"/>
              <a:t>Takeaways:</a:t>
            </a:r>
          </a:p>
          <a:p>
            <a:pPr lvl="1">
              <a:spcBef>
                <a:spcPts val="576"/>
              </a:spcBef>
              <a:defRPr sz="2000">
                <a:solidFill>
                  <a:srgbClr val="000000"/>
                </a:solidFill>
                <a:latin typeface="Garamond"/>
              </a:defRPr>
            </a:pPr>
            <a:r>
              <a:rPr lang="en-US" altLang="zh-TW" sz="2000" dirty="0"/>
              <a:t>Trade creates winners and losers, but the gains exceed the losses.</a:t>
            </a:r>
          </a:p>
          <a:p>
            <a:pPr lvl="1">
              <a:spcBef>
                <a:spcPts val="576"/>
              </a:spcBef>
              <a:defRPr sz="2000">
                <a:solidFill>
                  <a:srgbClr val="000000"/>
                </a:solidFill>
                <a:latin typeface="Garamond"/>
              </a:defRPr>
            </a:pPr>
            <a:r>
              <a:rPr lang="en-US" altLang="zh-TW" sz="2000" dirty="0"/>
              <a:t>By redistributing part of the gains from trade from the winners to the losers, everyone </a:t>
            </a:r>
            <a:r>
              <a:rPr lang="en-US" altLang="zh-TW" sz="2000" i="1" dirty="0"/>
              <a:t>can</a:t>
            </a:r>
            <a:r>
              <a:rPr lang="en-US" altLang="zh-TW" sz="2000" dirty="0"/>
              <a:t> be better off.</a:t>
            </a:r>
          </a:p>
          <a:p>
            <a:pPr lvl="1">
              <a:spcBef>
                <a:spcPts val="576"/>
              </a:spcBef>
              <a:defRPr sz="2000">
                <a:solidFill>
                  <a:srgbClr val="000000"/>
                </a:solidFill>
                <a:latin typeface="Garamond"/>
              </a:defRPr>
            </a:pPr>
            <a:r>
              <a:rPr lang="en-US" altLang="zh-TW" sz="2000" dirty="0"/>
              <a:t>Compensating the losers from any government policy is often highly contentious.</a:t>
            </a:r>
          </a:p>
          <a:p>
            <a:pPr lvl="1">
              <a:spcBef>
                <a:spcPts val="576"/>
              </a:spcBef>
              <a:defRPr sz="2000">
                <a:solidFill>
                  <a:srgbClr val="000000"/>
                </a:solidFill>
                <a:latin typeface="Garamond"/>
              </a:defRPr>
            </a:pPr>
            <a:r>
              <a:rPr lang="en-US" altLang="zh-TW" sz="2000" dirty="0"/>
              <a:t>In the real-world, the losing side often exert more political power, which lead to barriers to trade.</a:t>
            </a:r>
          </a:p>
          <a:p>
            <a:pPr lvl="3">
              <a:spcBef>
                <a:spcPts val="576"/>
              </a:spcBef>
              <a:defRPr sz="2000">
                <a:solidFill>
                  <a:srgbClr val="000000"/>
                </a:solidFill>
                <a:latin typeface="Garamond"/>
              </a:defRPr>
            </a:pPr>
            <a:endParaRPr lang="en-US" altLang="zh-TW" sz="1200" dirty="0"/>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07F9208E-577E-3458-070B-5DCF489EBD06}"/>
                  </a:ext>
                </a:extLst>
              </p:cNvPr>
              <p:cNvGraphicFramePr>
                <a:graphicFrameLocks noGrp="1"/>
              </p:cNvGraphicFramePr>
              <p:nvPr>
                <p:extLst>
                  <p:ext uri="{D42A27DB-BD31-4B8C-83A1-F6EECF244321}">
                    <p14:modId xmlns:p14="http://schemas.microsoft.com/office/powerpoint/2010/main" val="1806085968"/>
                  </p:ext>
                </p:extLst>
              </p:nvPr>
            </p:nvGraphicFramePr>
            <p:xfrm>
              <a:off x="2031471" y="1749604"/>
              <a:ext cx="8125884" cy="1855343"/>
            </p:xfrm>
            <a:graphic>
              <a:graphicData uri="http://schemas.openxmlformats.org/drawingml/2006/table">
                <a:tbl>
                  <a:tblPr firstRow="1" bandRow="1">
                    <a:tableStyleId>{5C22544A-7EE6-4342-B048-85BDC9FD1C3A}</a:tableStyleId>
                  </a:tblPr>
                  <a:tblGrid>
                    <a:gridCol w="2708628">
                      <a:extLst>
                        <a:ext uri="{9D8B030D-6E8A-4147-A177-3AD203B41FA5}">
                          <a16:colId xmlns:a16="http://schemas.microsoft.com/office/drawing/2014/main" val="1922002224"/>
                        </a:ext>
                      </a:extLst>
                    </a:gridCol>
                    <a:gridCol w="2708628">
                      <a:extLst>
                        <a:ext uri="{9D8B030D-6E8A-4147-A177-3AD203B41FA5}">
                          <a16:colId xmlns:a16="http://schemas.microsoft.com/office/drawing/2014/main" val="3842182792"/>
                        </a:ext>
                      </a:extLst>
                    </a:gridCol>
                    <a:gridCol w="2708628">
                      <a:extLst>
                        <a:ext uri="{9D8B030D-6E8A-4147-A177-3AD203B41FA5}">
                          <a16:colId xmlns:a16="http://schemas.microsoft.com/office/drawing/2014/main" val="1879517028"/>
                        </a:ext>
                      </a:extLst>
                    </a:gridCol>
                  </a:tblGrid>
                  <a:tr h="370840">
                    <a:tc>
                      <a:txBody>
                        <a:bodyPr/>
                        <a:lstStyle/>
                        <a:p>
                          <a:pPr algn="ctr"/>
                          <a:endParaRPr lang="en-US" dirty="0">
                            <a:latin typeface="Garamond" panose="02020404030301010803" pitchFamily="18" charset="0"/>
                          </a:endParaRPr>
                        </a:p>
                      </a:txBody>
                      <a:tcPr>
                        <a:solidFill>
                          <a:srgbClr val="77122C"/>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m:rPr>
                                        <m:nor/>
                                      </m:rPr>
                                      <a:rPr lang="en-US" altLang="zh-TW" sz="1800" dirty="0" smtClean="0">
                                        <a:latin typeface="Garamond" panose="02020404030301010803" pitchFamily="18" charset="0"/>
                                      </a:rPr>
                                      <m:t>P</m:t>
                                    </m:r>
                                  </m:e>
                                  <m:sub>
                                    <m:r>
                                      <m:rPr>
                                        <m:nor/>
                                      </m:rPr>
                                      <a:rPr lang="en-US" altLang="zh-TW" sz="1800" b="1" i="0" dirty="0" smtClean="0">
                                        <a:latin typeface="Garamond" panose="02020404030301010803" pitchFamily="18" charset="0"/>
                                      </a:rPr>
                                      <m:t>W</m:t>
                                    </m:r>
                                  </m:sub>
                                </m:sSub>
                                <m:r>
                                  <a:rPr lang="en-US" b="1" i="1" smtClean="0">
                                    <a:latin typeface="Cambria Math" panose="02040503050406030204" pitchFamily="18" charset="0"/>
                                  </a:rPr>
                                  <m:t>&lt;</m:t>
                                </m:r>
                                <m:sSub>
                                  <m:sSubPr>
                                    <m:ctrlPr>
                                      <a:rPr lang="en-US" i="1" smtClean="0">
                                        <a:latin typeface="Cambria Math" panose="02040503050406030204" pitchFamily="18" charset="0"/>
                                      </a:rPr>
                                    </m:ctrlPr>
                                  </m:sSubPr>
                                  <m:e>
                                    <m:r>
                                      <m:rPr>
                                        <m:nor/>
                                      </m:rPr>
                                      <a:rPr lang="en-US" altLang="zh-TW" sz="1800" dirty="0" smtClean="0">
                                        <a:latin typeface="Garamond" panose="02020404030301010803" pitchFamily="18" charset="0"/>
                                      </a:rPr>
                                      <m:t>P</m:t>
                                    </m:r>
                                  </m:e>
                                  <m:sub>
                                    <m:r>
                                      <m:rPr>
                                        <m:nor/>
                                      </m:rPr>
                                      <a:rPr lang="en-US" altLang="zh-TW" sz="1800" b="1" i="0" dirty="0" smtClean="0">
                                        <a:latin typeface="Garamond" panose="02020404030301010803" pitchFamily="18" charset="0"/>
                                      </a:rPr>
                                      <m:t>D</m:t>
                                    </m:r>
                                  </m:sub>
                                </m:sSub>
                              </m:oMath>
                            </m:oMathPara>
                          </a14:m>
                          <a:endParaRPr lang="en-US" dirty="0">
                            <a:latin typeface="Garamond" panose="02020404030301010803" pitchFamily="18" charset="0"/>
                          </a:endParaRPr>
                        </a:p>
                      </a:txBody>
                      <a:tcPr>
                        <a:solidFill>
                          <a:srgbClr val="77122C"/>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m:rPr>
                                        <m:nor/>
                                      </m:rPr>
                                      <a:rPr lang="en-US" altLang="zh-TW" sz="1800" dirty="0" smtClean="0">
                                        <a:latin typeface="Garamond" panose="02020404030301010803" pitchFamily="18" charset="0"/>
                                      </a:rPr>
                                      <m:t>P</m:t>
                                    </m:r>
                                  </m:e>
                                  <m:sub>
                                    <m:r>
                                      <m:rPr>
                                        <m:nor/>
                                      </m:rPr>
                                      <a:rPr lang="en-US" altLang="zh-TW" sz="1800" b="1" i="0" dirty="0" smtClean="0">
                                        <a:latin typeface="Garamond" panose="02020404030301010803" pitchFamily="18" charset="0"/>
                                      </a:rPr>
                                      <m:t>W</m:t>
                                    </m:r>
                                  </m:sub>
                                </m:sSub>
                                <m:r>
                                  <a:rPr lang="en-US" b="1" i="1" smtClean="0">
                                    <a:latin typeface="Cambria Math" panose="02040503050406030204" pitchFamily="18" charset="0"/>
                                  </a:rPr>
                                  <m:t>&gt;</m:t>
                                </m:r>
                                <m:sSub>
                                  <m:sSubPr>
                                    <m:ctrlPr>
                                      <a:rPr lang="en-US" i="1" smtClean="0">
                                        <a:latin typeface="Cambria Math" panose="02040503050406030204" pitchFamily="18" charset="0"/>
                                      </a:rPr>
                                    </m:ctrlPr>
                                  </m:sSubPr>
                                  <m:e>
                                    <m:r>
                                      <m:rPr>
                                        <m:nor/>
                                      </m:rPr>
                                      <a:rPr lang="en-US" altLang="zh-TW" sz="1800" dirty="0" smtClean="0">
                                        <a:latin typeface="Garamond" panose="02020404030301010803" pitchFamily="18" charset="0"/>
                                      </a:rPr>
                                      <m:t>P</m:t>
                                    </m:r>
                                  </m:e>
                                  <m:sub>
                                    <m:r>
                                      <m:rPr>
                                        <m:nor/>
                                      </m:rPr>
                                      <a:rPr lang="en-US" altLang="zh-TW" sz="1800" b="1" i="0" dirty="0" smtClean="0">
                                        <a:latin typeface="Garamond" panose="02020404030301010803" pitchFamily="18" charset="0"/>
                                      </a:rPr>
                                      <m:t>D</m:t>
                                    </m:r>
                                  </m:sub>
                                </m:sSub>
                              </m:oMath>
                            </m:oMathPara>
                          </a14:m>
                          <a:endParaRPr lang="en-US" dirty="0">
                            <a:latin typeface="Garamond" panose="02020404030301010803" pitchFamily="18" charset="0"/>
                          </a:endParaRPr>
                        </a:p>
                      </a:txBody>
                      <a:tcPr>
                        <a:solidFill>
                          <a:srgbClr val="77122C"/>
                        </a:solidFill>
                      </a:tcPr>
                    </a:tc>
                    <a:extLst>
                      <a:ext uri="{0D108BD9-81ED-4DB2-BD59-A6C34878D82A}">
                        <a16:rowId xmlns:a16="http://schemas.microsoft.com/office/drawing/2014/main" val="1297997492"/>
                      </a:ext>
                    </a:extLst>
                  </a:tr>
                  <a:tr h="370840">
                    <a:tc>
                      <a:txBody>
                        <a:bodyPr/>
                        <a:lstStyle/>
                        <a:p>
                          <a:pPr algn="ctr"/>
                          <a:r>
                            <a:rPr lang="en-US" dirty="0">
                              <a:latin typeface="Garamond" panose="02020404030301010803" pitchFamily="18" charset="0"/>
                            </a:rPr>
                            <a:t>Direction of Trade</a:t>
                          </a:r>
                        </a:p>
                      </a:txBody>
                      <a:tcPr/>
                    </a:tc>
                    <a:tc>
                      <a:txBody>
                        <a:bodyPr/>
                        <a:lstStyle/>
                        <a:p>
                          <a:pPr algn="ctr"/>
                          <a:endParaRPr lang="en-US" dirty="0">
                            <a:latin typeface="Garamond" panose="02020404030301010803" pitchFamily="18" charset="0"/>
                          </a:endParaRPr>
                        </a:p>
                      </a:txBody>
                      <a:tcPr/>
                    </a:tc>
                    <a:tc>
                      <a:txBody>
                        <a:bodyPr/>
                        <a:lstStyle/>
                        <a:p>
                          <a:pPr algn="ctr"/>
                          <a:endParaRPr lang="en-US" dirty="0">
                            <a:latin typeface="Garamond" panose="02020404030301010803" pitchFamily="18" charset="0"/>
                          </a:endParaRPr>
                        </a:p>
                      </a:txBody>
                      <a:tcPr/>
                    </a:tc>
                    <a:extLst>
                      <a:ext uri="{0D108BD9-81ED-4DB2-BD59-A6C34878D82A}">
                        <a16:rowId xmlns:a16="http://schemas.microsoft.com/office/drawing/2014/main" val="2075377126"/>
                      </a:ext>
                    </a:extLst>
                  </a:tr>
                  <a:tr h="370840">
                    <a:tc>
                      <a:txBody>
                        <a:bodyPr/>
                        <a:lstStyle/>
                        <a:p>
                          <a:pPr algn="ctr"/>
                          <a:r>
                            <a:rPr lang="en-US" dirty="0">
                              <a:latin typeface="Garamond" panose="02020404030301010803" pitchFamily="18" charset="0"/>
                            </a:rPr>
                            <a:t>Consumer Surplus</a:t>
                          </a:r>
                        </a:p>
                      </a:txBody>
                      <a:tcPr/>
                    </a:tc>
                    <a:tc>
                      <a:txBody>
                        <a:bodyPr/>
                        <a:lstStyle/>
                        <a:p>
                          <a:pPr algn="ctr"/>
                          <a:endParaRPr lang="en-US" dirty="0">
                            <a:latin typeface="Garamond" panose="02020404030301010803" pitchFamily="18" charset="0"/>
                          </a:endParaRPr>
                        </a:p>
                      </a:txBody>
                      <a:tcPr/>
                    </a:tc>
                    <a:tc>
                      <a:txBody>
                        <a:bodyPr/>
                        <a:lstStyle/>
                        <a:p>
                          <a:pPr algn="ctr"/>
                          <a:endParaRPr lang="en-US" dirty="0">
                            <a:latin typeface="Garamond" panose="02020404030301010803" pitchFamily="18" charset="0"/>
                          </a:endParaRPr>
                        </a:p>
                      </a:txBody>
                      <a:tcPr/>
                    </a:tc>
                    <a:extLst>
                      <a:ext uri="{0D108BD9-81ED-4DB2-BD59-A6C34878D82A}">
                        <a16:rowId xmlns:a16="http://schemas.microsoft.com/office/drawing/2014/main" val="2140162646"/>
                      </a:ext>
                    </a:extLst>
                  </a:tr>
                  <a:tr h="370840">
                    <a:tc>
                      <a:txBody>
                        <a:bodyPr/>
                        <a:lstStyle/>
                        <a:p>
                          <a:pPr algn="ctr"/>
                          <a:r>
                            <a:rPr lang="en-US" dirty="0">
                              <a:latin typeface="Garamond" panose="02020404030301010803" pitchFamily="18" charset="0"/>
                            </a:rPr>
                            <a:t>Producer Surplus</a:t>
                          </a:r>
                        </a:p>
                      </a:txBody>
                      <a:tcPr/>
                    </a:tc>
                    <a:tc>
                      <a:txBody>
                        <a:bodyPr/>
                        <a:lstStyle/>
                        <a:p>
                          <a:pPr algn="ctr"/>
                          <a:endParaRPr lang="en-US" dirty="0">
                            <a:latin typeface="Garamond" panose="02020404030301010803" pitchFamily="18" charset="0"/>
                          </a:endParaRPr>
                        </a:p>
                      </a:txBody>
                      <a:tcPr/>
                    </a:tc>
                    <a:tc>
                      <a:txBody>
                        <a:bodyPr/>
                        <a:lstStyle/>
                        <a:p>
                          <a:pPr algn="ctr"/>
                          <a:endParaRPr lang="en-US" dirty="0">
                            <a:latin typeface="Garamond" panose="02020404030301010803" pitchFamily="18" charset="0"/>
                          </a:endParaRPr>
                        </a:p>
                      </a:txBody>
                      <a:tcPr/>
                    </a:tc>
                    <a:extLst>
                      <a:ext uri="{0D108BD9-81ED-4DB2-BD59-A6C34878D82A}">
                        <a16:rowId xmlns:a16="http://schemas.microsoft.com/office/drawing/2014/main" val="2507531080"/>
                      </a:ext>
                    </a:extLst>
                  </a:tr>
                  <a:tr h="370840">
                    <a:tc>
                      <a:txBody>
                        <a:bodyPr/>
                        <a:lstStyle/>
                        <a:p>
                          <a:pPr algn="ctr"/>
                          <a:r>
                            <a:rPr lang="en-US" dirty="0">
                              <a:latin typeface="Garamond" panose="02020404030301010803" pitchFamily="18" charset="0"/>
                            </a:rPr>
                            <a:t>Total Surplus</a:t>
                          </a:r>
                        </a:p>
                      </a:txBody>
                      <a:tcPr/>
                    </a:tc>
                    <a:tc>
                      <a:txBody>
                        <a:bodyPr/>
                        <a:lstStyle/>
                        <a:p>
                          <a:pPr algn="ctr"/>
                          <a:endParaRPr lang="en-US" dirty="0">
                            <a:latin typeface="Garamond" panose="02020404030301010803" pitchFamily="18" charset="0"/>
                          </a:endParaRPr>
                        </a:p>
                      </a:txBody>
                      <a:tcPr/>
                    </a:tc>
                    <a:tc>
                      <a:txBody>
                        <a:bodyPr/>
                        <a:lstStyle/>
                        <a:p>
                          <a:pPr algn="ctr"/>
                          <a:endParaRPr lang="en-US" dirty="0">
                            <a:latin typeface="Garamond" panose="02020404030301010803" pitchFamily="18" charset="0"/>
                          </a:endParaRPr>
                        </a:p>
                      </a:txBody>
                      <a:tcPr/>
                    </a:tc>
                    <a:extLst>
                      <a:ext uri="{0D108BD9-81ED-4DB2-BD59-A6C34878D82A}">
                        <a16:rowId xmlns:a16="http://schemas.microsoft.com/office/drawing/2014/main" val="2775118383"/>
                      </a:ext>
                    </a:extLst>
                  </a:tr>
                </a:tbl>
              </a:graphicData>
            </a:graphic>
          </p:graphicFrame>
        </mc:Choice>
        <mc:Fallback xmlns="">
          <p:graphicFrame>
            <p:nvGraphicFramePr>
              <p:cNvPr id="3" name="Table 2">
                <a:extLst>
                  <a:ext uri="{FF2B5EF4-FFF2-40B4-BE49-F238E27FC236}">
                    <a16:creationId xmlns:a16="http://schemas.microsoft.com/office/drawing/2014/main" id="{07F9208E-577E-3458-070B-5DCF489EBD06}"/>
                  </a:ext>
                </a:extLst>
              </p:cNvPr>
              <p:cNvGraphicFramePr>
                <a:graphicFrameLocks noGrp="1"/>
              </p:cNvGraphicFramePr>
              <p:nvPr>
                <p:extLst>
                  <p:ext uri="{D42A27DB-BD31-4B8C-83A1-F6EECF244321}">
                    <p14:modId xmlns:p14="http://schemas.microsoft.com/office/powerpoint/2010/main" val="1806085968"/>
                  </p:ext>
                </p:extLst>
              </p:nvPr>
            </p:nvGraphicFramePr>
            <p:xfrm>
              <a:off x="2031471" y="1749604"/>
              <a:ext cx="8125884" cy="1855343"/>
            </p:xfrm>
            <a:graphic>
              <a:graphicData uri="http://schemas.openxmlformats.org/drawingml/2006/table">
                <a:tbl>
                  <a:tblPr firstRow="1" bandRow="1">
                    <a:tableStyleId>{5C22544A-7EE6-4342-B048-85BDC9FD1C3A}</a:tableStyleId>
                  </a:tblPr>
                  <a:tblGrid>
                    <a:gridCol w="2708628">
                      <a:extLst>
                        <a:ext uri="{9D8B030D-6E8A-4147-A177-3AD203B41FA5}">
                          <a16:colId xmlns:a16="http://schemas.microsoft.com/office/drawing/2014/main" val="1922002224"/>
                        </a:ext>
                      </a:extLst>
                    </a:gridCol>
                    <a:gridCol w="2708628">
                      <a:extLst>
                        <a:ext uri="{9D8B030D-6E8A-4147-A177-3AD203B41FA5}">
                          <a16:colId xmlns:a16="http://schemas.microsoft.com/office/drawing/2014/main" val="3842182792"/>
                        </a:ext>
                      </a:extLst>
                    </a:gridCol>
                    <a:gridCol w="2708628">
                      <a:extLst>
                        <a:ext uri="{9D8B030D-6E8A-4147-A177-3AD203B41FA5}">
                          <a16:colId xmlns:a16="http://schemas.microsoft.com/office/drawing/2014/main" val="1879517028"/>
                        </a:ext>
                      </a:extLst>
                    </a:gridCol>
                  </a:tblGrid>
                  <a:tr h="371983">
                    <a:tc>
                      <a:txBody>
                        <a:bodyPr/>
                        <a:lstStyle/>
                        <a:p>
                          <a:pPr algn="ctr"/>
                          <a:endParaRPr lang="en-US" dirty="0">
                            <a:latin typeface="Garamond" panose="02020404030301010803" pitchFamily="18" charset="0"/>
                          </a:endParaRPr>
                        </a:p>
                      </a:txBody>
                      <a:tcPr>
                        <a:solidFill>
                          <a:srgbClr val="77122C"/>
                        </a:solidFill>
                      </a:tcPr>
                    </a:tc>
                    <a:tc>
                      <a:txBody>
                        <a:bodyPr/>
                        <a:lstStyle/>
                        <a:p>
                          <a:endParaRPr lang="en-US"/>
                        </a:p>
                      </a:txBody>
                      <a:tcPr>
                        <a:blipFill>
                          <a:blip r:embed="rId2"/>
                          <a:stretch>
                            <a:fillRect l="-100450" t="-3279" r="-101126" b="-424590"/>
                          </a:stretch>
                        </a:blipFill>
                      </a:tcPr>
                    </a:tc>
                    <a:tc>
                      <a:txBody>
                        <a:bodyPr/>
                        <a:lstStyle/>
                        <a:p>
                          <a:endParaRPr lang="en-US"/>
                        </a:p>
                      </a:txBody>
                      <a:tcPr>
                        <a:blipFill>
                          <a:blip r:embed="rId2"/>
                          <a:stretch>
                            <a:fillRect l="-200000" t="-3279" r="-899" b="-424590"/>
                          </a:stretch>
                        </a:blipFill>
                      </a:tcPr>
                    </a:tc>
                    <a:extLst>
                      <a:ext uri="{0D108BD9-81ED-4DB2-BD59-A6C34878D82A}">
                        <a16:rowId xmlns:a16="http://schemas.microsoft.com/office/drawing/2014/main" val="1297997492"/>
                      </a:ext>
                    </a:extLst>
                  </a:tr>
                  <a:tr h="370840">
                    <a:tc>
                      <a:txBody>
                        <a:bodyPr/>
                        <a:lstStyle/>
                        <a:p>
                          <a:pPr algn="ctr"/>
                          <a:r>
                            <a:rPr lang="en-US" dirty="0">
                              <a:latin typeface="Garamond" panose="02020404030301010803" pitchFamily="18" charset="0"/>
                            </a:rPr>
                            <a:t>Direction of Trade</a:t>
                          </a:r>
                        </a:p>
                      </a:txBody>
                      <a:tcPr/>
                    </a:tc>
                    <a:tc>
                      <a:txBody>
                        <a:bodyPr/>
                        <a:lstStyle/>
                        <a:p>
                          <a:pPr algn="ctr"/>
                          <a:endParaRPr lang="en-US" dirty="0">
                            <a:latin typeface="Garamond" panose="02020404030301010803" pitchFamily="18" charset="0"/>
                          </a:endParaRPr>
                        </a:p>
                      </a:txBody>
                      <a:tcPr/>
                    </a:tc>
                    <a:tc>
                      <a:txBody>
                        <a:bodyPr/>
                        <a:lstStyle/>
                        <a:p>
                          <a:pPr algn="ctr"/>
                          <a:endParaRPr lang="en-US" dirty="0">
                            <a:latin typeface="Garamond" panose="02020404030301010803" pitchFamily="18" charset="0"/>
                          </a:endParaRPr>
                        </a:p>
                      </a:txBody>
                      <a:tcPr/>
                    </a:tc>
                    <a:extLst>
                      <a:ext uri="{0D108BD9-81ED-4DB2-BD59-A6C34878D82A}">
                        <a16:rowId xmlns:a16="http://schemas.microsoft.com/office/drawing/2014/main" val="2075377126"/>
                      </a:ext>
                    </a:extLst>
                  </a:tr>
                  <a:tr h="370840">
                    <a:tc>
                      <a:txBody>
                        <a:bodyPr/>
                        <a:lstStyle/>
                        <a:p>
                          <a:pPr algn="ctr"/>
                          <a:r>
                            <a:rPr lang="en-US" dirty="0">
                              <a:latin typeface="Garamond" panose="02020404030301010803" pitchFamily="18" charset="0"/>
                            </a:rPr>
                            <a:t>Consumer Surplus</a:t>
                          </a:r>
                        </a:p>
                      </a:txBody>
                      <a:tcPr/>
                    </a:tc>
                    <a:tc>
                      <a:txBody>
                        <a:bodyPr/>
                        <a:lstStyle/>
                        <a:p>
                          <a:pPr algn="ctr"/>
                          <a:endParaRPr lang="en-US" dirty="0">
                            <a:latin typeface="Garamond" panose="02020404030301010803" pitchFamily="18" charset="0"/>
                          </a:endParaRPr>
                        </a:p>
                      </a:txBody>
                      <a:tcPr/>
                    </a:tc>
                    <a:tc>
                      <a:txBody>
                        <a:bodyPr/>
                        <a:lstStyle/>
                        <a:p>
                          <a:pPr algn="ctr"/>
                          <a:endParaRPr lang="en-US" dirty="0">
                            <a:latin typeface="Garamond" panose="02020404030301010803" pitchFamily="18" charset="0"/>
                          </a:endParaRPr>
                        </a:p>
                      </a:txBody>
                      <a:tcPr/>
                    </a:tc>
                    <a:extLst>
                      <a:ext uri="{0D108BD9-81ED-4DB2-BD59-A6C34878D82A}">
                        <a16:rowId xmlns:a16="http://schemas.microsoft.com/office/drawing/2014/main" val="2140162646"/>
                      </a:ext>
                    </a:extLst>
                  </a:tr>
                  <a:tr h="370840">
                    <a:tc>
                      <a:txBody>
                        <a:bodyPr/>
                        <a:lstStyle/>
                        <a:p>
                          <a:pPr algn="ctr"/>
                          <a:r>
                            <a:rPr lang="en-US" dirty="0">
                              <a:latin typeface="Garamond" panose="02020404030301010803" pitchFamily="18" charset="0"/>
                            </a:rPr>
                            <a:t>Producer Surplus</a:t>
                          </a:r>
                        </a:p>
                      </a:txBody>
                      <a:tcPr/>
                    </a:tc>
                    <a:tc>
                      <a:txBody>
                        <a:bodyPr/>
                        <a:lstStyle/>
                        <a:p>
                          <a:pPr algn="ctr"/>
                          <a:endParaRPr lang="en-US" dirty="0">
                            <a:latin typeface="Garamond" panose="02020404030301010803" pitchFamily="18" charset="0"/>
                          </a:endParaRPr>
                        </a:p>
                      </a:txBody>
                      <a:tcPr/>
                    </a:tc>
                    <a:tc>
                      <a:txBody>
                        <a:bodyPr/>
                        <a:lstStyle/>
                        <a:p>
                          <a:pPr algn="ctr"/>
                          <a:endParaRPr lang="en-US" dirty="0">
                            <a:latin typeface="Garamond" panose="02020404030301010803" pitchFamily="18" charset="0"/>
                          </a:endParaRPr>
                        </a:p>
                      </a:txBody>
                      <a:tcPr/>
                    </a:tc>
                    <a:extLst>
                      <a:ext uri="{0D108BD9-81ED-4DB2-BD59-A6C34878D82A}">
                        <a16:rowId xmlns:a16="http://schemas.microsoft.com/office/drawing/2014/main" val="2507531080"/>
                      </a:ext>
                    </a:extLst>
                  </a:tr>
                  <a:tr h="370840">
                    <a:tc>
                      <a:txBody>
                        <a:bodyPr/>
                        <a:lstStyle/>
                        <a:p>
                          <a:pPr algn="ctr"/>
                          <a:r>
                            <a:rPr lang="en-US" dirty="0">
                              <a:latin typeface="Garamond" panose="02020404030301010803" pitchFamily="18" charset="0"/>
                            </a:rPr>
                            <a:t>Total Surplus</a:t>
                          </a:r>
                        </a:p>
                      </a:txBody>
                      <a:tcPr/>
                    </a:tc>
                    <a:tc>
                      <a:txBody>
                        <a:bodyPr/>
                        <a:lstStyle/>
                        <a:p>
                          <a:pPr algn="ctr"/>
                          <a:endParaRPr lang="en-US" dirty="0">
                            <a:latin typeface="Garamond" panose="02020404030301010803" pitchFamily="18" charset="0"/>
                          </a:endParaRPr>
                        </a:p>
                      </a:txBody>
                      <a:tcPr/>
                    </a:tc>
                    <a:tc>
                      <a:txBody>
                        <a:bodyPr/>
                        <a:lstStyle/>
                        <a:p>
                          <a:pPr algn="ctr"/>
                          <a:endParaRPr lang="en-US" dirty="0">
                            <a:latin typeface="Garamond" panose="02020404030301010803" pitchFamily="18" charset="0"/>
                          </a:endParaRPr>
                        </a:p>
                      </a:txBody>
                      <a:tcPr/>
                    </a:tc>
                    <a:extLst>
                      <a:ext uri="{0D108BD9-81ED-4DB2-BD59-A6C34878D82A}">
                        <a16:rowId xmlns:a16="http://schemas.microsoft.com/office/drawing/2014/main" val="2775118383"/>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F3E437D5-41BB-5F93-C3F6-5B7BF4412C00}"/>
                  </a:ext>
                </a:extLst>
              </p:cNvPr>
              <p:cNvGraphicFramePr>
                <a:graphicFrameLocks noGrp="1"/>
              </p:cNvGraphicFramePr>
              <p:nvPr>
                <p:extLst>
                  <p:ext uri="{D42A27DB-BD31-4B8C-83A1-F6EECF244321}">
                    <p14:modId xmlns:p14="http://schemas.microsoft.com/office/powerpoint/2010/main" val="1398385781"/>
                  </p:ext>
                </p:extLst>
              </p:nvPr>
            </p:nvGraphicFramePr>
            <p:xfrm>
              <a:off x="2031471" y="1749603"/>
              <a:ext cx="8125884" cy="1855343"/>
            </p:xfrm>
            <a:graphic>
              <a:graphicData uri="http://schemas.openxmlformats.org/drawingml/2006/table">
                <a:tbl>
                  <a:tblPr firstRow="1" bandRow="1">
                    <a:tableStyleId>{5C22544A-7EE6-4342-B048-85BDC9FD1C3A}</a:tableStyleId>
                  </a:tblPr>
                  <a:tblGrid>
                    <a:gridCol w="2708628">
                      <a:extLst>
                        <a:ext uri="{9D8B030D-6E8A-4147-A177-3AD203B41FA5}">
                          <a16:colId xmlns:a16="http://schemas.microsoft.com/office/drawing/2014/main" val="1922002224"/>
                        </a:ext>
                      </a:extLst>
                    </a:gridCol>
                    <a:gridCol w="2708628">
                      <a:extLst>
                        <a:ext uri="{9D8B030D-6E8A-4147-A177-3AD203B41FA5}">
                          <a16:colId xmlns:a16="http://schemas.microsoft.com/office/drawing/2014/main" val="3842182792"/>
                        </a:ext>
                      </a:extLst>
                    </a:gridCol>
                    <a:gridCol w="2708628">
                      <a:extLst>
                        <a:ext uri="{9D8B030D-6E8A-4147-A177-3AD203B41FA5}">
                          <a16:colId xmlns:a16="http://schemas.microsoft.com/office/drawing/2014/main" val="1879517028"/>
                        </a:ext>
                      </a:extLst>
                    </a:gridCol>
                  </a:tblGrid>
                  <a:tr h="370840">
                    <a:tc>
                      <a:txBody>
                        <a:bodyPr/>
                        <a:lstStyle/>
                        <a:p>
                          <a:pPr algn="ctr"/>
                          <a:endParaRPr lang="en-US" dirty="0">
                            <a:latin typeface="Garamond" panose="02020404030301010803" pitchFamily="18" charset="0"/>
                          </a:endParaRPr>
                        </a:p>
                      </a:txBody>
                      <a:tcPr>
                        <a:solidFill>
                          <a:srgbClr val="77122C"/>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m:rPr>
                                        <m:nor/>
                                      </m:rPr>
                                      <a:rPr lang="en-US" altLang="zh-TW" sz="1800" dirty="0" smtClean="0">
                                        <a:latin typeface="Garamond" panose="02020404030301010803" pitchFamily="18" charset="0"/>
                                      </a:rPr>
                                      <m:t>P</m:t>
                                    </m:r>
                                  </m:e>
                                  <m:sub>
                                    <m:r>
                                      <m:rPr>
                                        <m:nor/>
                                      </m:rPr>
                                      <a:rPr lang="en-US" altLang="zh-TW" sz="1800" b="1" i="0" dirty="0" smtClean="0">
                                        <a:latin typeface="Garamond" panose="02020404030301010803" pitchFamily="18" charset="0"/>
                                      </a:rPr>
                                      <m:t>W</m:t>
                                    </m:r>
                                  </m:sub>
                                </m:sSub>
                                <m:r>
                                  <a:rPr lang="en-US" b="1" i="1" smtClean="0">
                                    <a:latin typeface="Cambria Math" panose="02040503050406030204" pitchFamily="18" charset="0"/>
                                  </a:rPr>
                                  <m:t>&lt;</m:t>
                                </m:r>
                                <m:sSub>
                                  <m:sSubPr>
                                    <m:ctrlPr>
                                      <a:rPr lang="en-US" i="1" smtClean="0">
                                        <a:latin typeface="Cambria Math" panose="02040503050406030204" pitchFamily="18" charset="0"/>
                                      </a:rPr>
                                    </m:ctrlPr>
                                  </m:sSubPr>
                                  <m:e>
                                    <m:r>
                                      <m:rPr>
                                        <m:nor/>
                                      </m:rPr>
                                      <a:rPr lang="en-US" altLang="zh-TW" sz="1800" dirty="0" smtClean="0">
                                        <a:latin typeface="Garamond" panose="02020404030301010803" pitchFamily="18" charset="0"/>
                                      </a:rPr>
                                      <m:t>P</m:t>
                                    </m:r>
                                  </m:e>
                                  <m:sub>
                                    <m:r>
                                      <m:rPr>
                                        <m:nor/>
                                      </m:rPr>
                                      <a:rPr lang="en-US" altLang="zh-TW" sz="1800" b="1" i="0" dirty="0" smtClean="0">
                                        <a:latin typeface="Garamond" panose="02020404030301010803" pitchFamily="18" charset="0"/>
                                      </a:rPr>
                                      <m:t>D</m:t>
                                    </m:r>
                                  </m:sub>
                                </m:sSub>
                              </m:oMath>
                            </m:oMathPara>
                          </a14:m>
                          <a:endParaRPr lang="en-US" dirty="0">
                            <a:latin typeface="Garamond" panose="02020404030301010803" pitchFamily="18" charset="0"/>
                          </a:endParaRPr>
                        </a:p>
                      </a:txBody>
                      <a:tcPr>
                        <a:solidFill>
                          <a:srgbClr val="77122C"/>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m:rPr>
                                        <m:nor/>
                                      </m:rPr>
                                      <a:rPr lang="en-US" altLang="zh-TW" sz="1800" dirty="0" smtClean="0">
                                        <a:latin typeface="Garamond" panose="02020404030301010803" pitchFamily="18" charset="0"/>
                                      </a:rPr>
                                      <m:t>P</m:t>
                                    </m:r>
                                  </m:e>
                                  <m:sub>
                                    <m:r>
                                      <m:rPr>
                                        <m:nor/>
                                      </m:rPr>
                                      <a:rPr lang="en-US" altLang="zh-TW" sz="1800" b="1" i="0" dirty="0" smtClean="0">
                                        <a:latin typeface="Garamond" panose="02020404030301010803" pitchFamily="18" charset="0"/>
                                      </a:rPr>
                                      <m:t>W</m:t>
                                    </m:r>
                                  </m:sub>
                                </m:sSub>
                                <m:r>
                                  <a:rPr lang="en-US" b="1" i="1" smtClean="0">
                                    <a:latin typeface="Cambria Math" panose="02040503050406030204" pitchFamily="18" charset="0"/>
                                  </a:rPr>
                                  <m:t>&gt;</m:t>
                                </m:r>
                                <m:sSub>
                                  <m:sSubPr>
                                    <m:ctrlPr>
                                      <a:rPr lang="en-US" i="1" smtClean="0">
                                        <a:latin typeface="Cambria Math" panose="02040503050406030204" pitchFamily="18" charset="0"/>
                                      </a:rPr>
                                    </m:ctrlPr>
                                  </m:sSubPr>
                                  <m:e>
                                    <m:r>
                                      <m:rPr>
                                        <m:nor/>
                                      </m:rPr>
                                      <a:rPr lang="en-US" altLang="zh-TW" sz="1800" dirty="0" smtClean="0">
                                        <a:latin typeface="Garamond" panose="02020404030301010803" pitchFamily="18" charset="0"/>
                                      </a:rPr>
                                      <m:t>P</m:t>
                                    </m:r>
                                  </m:e>
                                  <m:sub>
                                    <m:r>
                                      <m:rPr>
                                        <m:nor/>
                                      </m:rPr>
                                      <a:rPr lang="en-US" altLang="zh-TW" sz="1800" b="1" i="0" dirty="0" smtClean="0">
                                        <a:latin typeface="Garamond" panose="02020404030301010803" pitchFamily="18" charset="0"/>
                                      </a:rPr>
                                      <m:t>D</m:t>
                                    </m:r>
                                  </m:sub>
                                </m:sSub>
                              </m:oMath>
                            </m:oMathPara>
                          </a14:m>
                          <a:endParaRPr lang="en-US" dirty="0">
                            <a:latin typeface="Garamond" panose="02020404030301010803" pitchFamily="18" charset="0"/>
                          </a:endParaRPr>
                        </a:p>
                      </a:txBody>
                      <a:tcPr>
                        <a:solidFill>
                          <a:srgbClr val="77122C"/>
                        </a:solidFill>
                      </a:tcPr>
                    </a:tc>
                    <a:extLst>
                      <a:ext uri="{0D108BD9-81ED-4DB2-BD59-A6C34878D82A}">
                        <a16:rowId xmlns:a16="http://schemas.microsoft.com/office/drawing/2014/main" val="1297997492"/>
                      </a:ext>
                    </a:extLst>
                  </a:tr>
                  <a:tr h="370840">
                    <a:tc>
                      <a:txBody>
                        <a:bodyPr/>
                        <a:lstStyle/>
                        <a:p>
                          <a:pPr algn="ctr"/>
                          <a:r>
                            <a:rPr lang="en-US" dirty="0">
                              <a:latin typeface="Garamond" panose="02020404030301010803" pitchFamily="18" charset="0"/>
                            </a:rPr>
                            <a:t>Direction of Trade</a:t>
                          </a:r>
                        </a:p>
                      </a:txBody>
                      <a:tcPr/>
                    </a:tc>
                    <a:tc>
                      <a:txBody>
                        <a:bodyPr/>
                        <a:lstStyle/>
                        <a:p>
                          <a:pPr algn="ctr"/>
                          <a:r>
                            <a:rPr lang="en-US" dirty="0">
                              <a:latin typeface="Garamond" panose="02020404030301010803" pitchFamily="18" charset="0"/>
                            </a:rPr>
                            <a:t>Import</a:t>
                          </a:r>
                        </a:p>
                      </a:txBody>
                      <a:tcPr/>
                    </a:tc>
                    <a:tc>
                      <a:txBody>
                        <a:bodyPr/>
                        <a:lstStyle/>
                        <a:p>
                          <a:pPr algn="ctr"/>
                          <a:endParaRPr lang="en-US" dirty="0">
                            <a:latin typeface="Garamond" panose="02020404030301010803" pitchFamily="18" charset="0"/>
                          </a:endParaRPr>
                        </a:p>
                      </a:txBody>
                      <a:tcPr/>
                    </a:tc>
                    <a:extLst>
                      <a:ext uri="{0D108BD9-81ED-4DB2-BD59-A6C34878D82A}">
                        <a16:rowId xmlns:a16="http://schemas.microsoft.com/office/drawing/2014/main" val="2075377126"/>
                      </a:ext>
                    </a:extLst>
                  </a:tr>
                  <a:tr h="370840">
                    <a:tc>
                      <a:txBody>
                        <a:bodyPr/>
                        <a:lstStyle/>
                        <a:p>
                          <a:pPr algn="ctr"/>
                          <a:r>
                            <a:rPr lang="en-US" dirty="0">
                              <a:latin typeface="Garamond" panose="02020404030301010803" pitchFamily="18" charset="0"/>
                            </a:rPr>
                            <a:t>Consumer Surplus</a:t>
                          </a:r>
                        </a:p>
                      </a:txBody>
                      <a:tcPr/>
                    </a:tc>
                    <a:tc>
                      <a:txBody>
                        <a:bodyPr/>
                        <a:lstStyle/>
                        <a:p>
                          <a:pPr algn="ctr"/>
                          <a:r>
                            <a:rPr lang="en-US" dirty="0">
                              <a:latin typeface="Garamond" panose="02020404030301010803" pitchFamily="18" charset="0"/>
                            </a:rPr>
                            <a:t>Rises</a:t>
                          </a:r>
                        </a:p>
                      </a:txBody>
                      <a:tcPr/>
                    </a:tc>
                    <a:tc>
                      <a:txBody>
                        <a:bodyPr/>
                        <a:lstStyle/>
                        <a:p>
                          <a:pPr algn="ctr"/>
                          <a:endParaRPr lang="en-US" dirty="0">
                            <a:latin typeface="Garamond" panose="02020404030301010803" pitchFamily="18" charset="0"/>
                          </a:endParaRPr>
                        </a:p>
                      </a:txBody>
                      <a:tcPr/>
                    </a:tc>
                    <a:extLst>
                      <a:ext uri="{0D108BD9-81ED-4DB2-BD59-A6C34878D82A}">
                        <a16:rowId xmlns:a16="http://schemas.microsoft.com/office/drawing/2014/main" val="2140162646"/>
                      </a:ext>
                    </a:extLst>
                  </a:tr>
                  <a:tr h="370840">
                    <a:tc>
                      <a:txBody>
                        <a:bodyPr/>
                        <a:lstStyle/>
                        <a:p>
                          <a:pPr algn="ctr"/>
                          <a:r>
                            <a:rPr lang="en-US" dirty="0">
                              <a:latin typeface="Garamond" panose="02020404030301010803" pitchFamily="18" charset="0"/>
                            </a:rPr>
                            <a:t>Producer Surplus</a:t>
                          </a:r>
                        </a:p>
                      </a:txBody>
                      <a:tcPr/>
                    </a:tc>
                    <a:tc>
                      <a:txBody>
                        <a:bodyPr/>
                        <a:lstStyle/>
                        <a:p>
                          <a:pPr algn="ctr"/>
                          <a:r>
                            <a:rPr lang="en-US" dirty="0">
                              <a:latin typeface="Garamond" panose="02020404030301010803" pitchFamily="18" charset="0"/>
                            </a:rPr>
                            <a:t>Falls</a:t>
                          </a:r>
                        </a:p>
                      </a:txBody>
                      <a:tcPr/>
                    </a:tc>
                    <a:tc>
                      <a:txBody>
                        <a:bodyPr/>
                        <a:lstStyle/>
                        <a:p>
                          <a:pPr algn="ctr"/>
                          <a:endParaRPr lang="en-US" dirty="0">
                            <a:latin typeface="Garamond" panose="02020404030301010803" pitchFamily="18" charset="0"/>
                          </a:endParaRPr>
                        </a:p>
                      </a:txBody>
                      <a:tcPr/>
                    </a:tc>
                    <a:extLst>
                      <a:ext uri="{0D108BD9-81ED-4DB2-BD59-A6C34878D82A}">
                        <a16:rowId xmlns:a16="http://schemas.microsoft.com/office/drawing/2014/main" val="2507531080"/>
                      </a:ext>
                    </a:extLst>
                  </a:tr>
                  <a:tr h="370840">
                    <a:tc>
                      <a:txBody>
                        <a:bodyPr/>
                        <a:lstStyle/>
                        <a:p>
                          <a:pPr algn="ctr"/>
                          <a:r>
                            <a:rPr lang="en-US" dirty="0">
                              <a:latin typeface="Garamond" panose="02020404030301010803" pitchFamily="18" charset="0"/>
                            </a:rPr>
                            <a:t>Total Surplus</a:t>
                          </a:r>
                        </a:p>
                      </a:txBody>
                      <a:tcPr/>
                    </a:tc>
                    <a:tc>
                      <a:txBody>
                        <a:bodyPr/>
                        <a:lstStyle/>
                        <a:p>
                          <a:pPr algn="ctr"/>
                          <a:r>
                            <a:rPr lang="en-US" dirty="0">
                              <a:latin typeface="Garamond" panose="02020404030301010803" pitchFamily="18" charset="0"/>
                            </a:rPr>
                            <a:t>Increases</a:t>
                          </a:r>
                        </a:p>
                      </a:txBody>
                      <a:tcPr/>
                    </a:tc>
                    <a:tc>
                      <a:txBody>
                        <a:bodyPr/>
                        <a:lstStyle/>
                        <a:p>
                          <a:pPr algn="ctr"/>
                          <a:endParaRPr lang="en-US" dirty="0">
                            <a:latin typeface="Garamond" panose="02020404030301010803" pitchFamily="18" charset="0"/>
                          </a:endParaRPr>
                        </a:p>
                      </a:txBody>
                      <a:tcPr/>
                    </a:tc>
                    <a:extLst>
                      <a:ext uri="{0D108BD9-81ED-4DB2-BD59-A6C34878D82A}">
                        <a16:rowId xmlns:a16="http://schemas.microsoft.com/office/drawing/2014/main" val="2775118383"/>
                      </a:ext>
                    </a:extLst>
                  </a:tr>
                </a:tbl>
              </a:graphicData>
            </a:graphic>
          </p:graphicFrame>
        </mc:Choice>
        <mc:Fallback xmlns="">
          <p:graphicFrame>
            <p:nvGraphicFramePr>
              <p:cNvPr id="8" name="Table 7">
                <a:extLst>
                  <a:ext uri="{FF2B5EF4-FFF2-40B4-BE49-F238E27FC236}">
                    <a16:creationId xmlns:a16="http://schemas.microsoft.com/office/drawing/2014/main" id="{F3E437D5-41BB-5F93-C3F6-5B7BF4412C00}"/>
                  </a:ext>
                </a:extLst>
              </p:cNvPr>
              <p:cNvGraphicFramePr>
                <a:graphicFrameLocks noGrp="1"/>
              </p:cNvGraphicFramePr>
              <p:nvPr>
                <p:extLst>
                  <p:ext uri="{D42A27DB-BD31-4B8C-83A1-F6EECF244321}">
                    <p14:modId xmlns:p14="http://schemas.microsoft.com/office/powerpoint/2010/main" val="1398385781"/>
                  </p:ext>
                </p:extLst>
              </p:nvPr>
            </p:nvGraphicFramePr>
            <p:xfrm>
              <a:off x="2031471" y="1749603"/>
              <a:ext cx="8125884" cy="1855343"/>
            </p:xfrm>
            <a:graphic>
              <a:graphicData uri="http://schemas.openxmlformats.org/drawingml/2006/table">
                <a:tbl>
                  <a:tblPr firstRow="1" bandRow="1">
                    <a:tableStyleId>{5C22544A-7EE6-4342-B048-85BDC9FD1C3A}</a:tableStyleId>
                  </a:tblPr>
                  <a:tblGrid>
                    <a:gridCol w="2708628">
                      <a:extLst>
                        <a:ext uri="{9D8B030D-6E8A-4147-A177-3AD203B41FA5}">
                          <a16:colId xmlns:a16="http://schemas.microsoft.com/office/drawing/2014/main" val="1922002224"/>
                        </a:ext>
                      </a:extLst>
                    </a:gridCol>
                    <a:gridCol w="2708628">
                      <a:extLst>
                        <a:ext uri="{9D8B030D-6E8A-4147-A177-3AD203B41FA5}">
                          <a16:colId xmlns:a16="http://schemas.microsoft.com/office/drawing/2014/main" val="3842182792"/>
                        </a:ext>
                      </a:extLst>
                    </a:gridCol>
                    <a:gridCol w="2708628">
                      <a:extLst>
                        <a:ext uri="{9D8B030D-6E8A-4147-A177-3AD203B41FA5}">
                          <a16:colId xmlns:a16="http://schemas.microsoft.com/office/drawing/2014/main" val="1879517028"/>
                        </a:ext>
                      </a:extLst>
                    </a:gridCol>
                  </a:tblGrid>
                  <a:tr h="371983">
                    <a:tc>
                      <a:txBody>
                        <a:bodyPr/>
                        <a:lstStyle/>
                        <a:p>
                          <a:pPr algn="ctr"/>
                          <a:endParaRPr lang="en-US" dirty="0">
                            <a:latin typeface="Garamond" panose="02020404030301010803" pitchFamily="18" charset="0"/>
                          </a:endParaRPr>
                        </a:p>
                      </a:txBody>
                      <a:tcPr>
                        <a:solidFill>
                          <a:srgbClr val="77122C"/>
                        </a:solidFill>
                      </a:tcPr>
                    </a:tc>
                    <a:tc>
                      <a:txBody>
                        <a:bodyPr/>
                        <a:lstStyle/>
                        <a:p>
                          <a:endParaRPr lang="en-US"/>
                        </a:p>
                      </a:txBody>
                      <a:tcPr>
                        <a:blipFill>
                          <a:blip r:embed="rId3"/>
                          <a:stretch>
                            <a:fillRect l="-100450" t="-3279" r="-101126" b="-424590"/>
                          </a:stretch>
                        </a:blipFill>
                      </a:tcPr>
                    </a:tc>
                    <a:tc>
                      <a:txBody>
                        <a:bodyPr/>
                        <a:lstStyle/>
                        <a:p>
                          <a:endParaRPr lang="en-US"/>
                        </a:p>
                      </a:txBody>
                      <a:tcPr>
                        <a:blipFill>
                          <a:blip r:embed="rId3"/>
                          <a:stretch>
                            <a:fillRect l="-200000" t="-3279" r="-899" b="-424590"/>
                          </a:stretch>
                        </a:blipFill>
                      </a:tcPr>
                    </a:tc>
                    <a:extLst>
                      <a:ext uri="{0D108BD9-81ED-4DB2-BD59-A6C34878D82A}">
                        <a16:rowId xmlns:a16="http://schemas.microsoft.com/office/drawing/2014/main" val="1297997492"/>
                      </a:ext>
                    </a:extLst>
                  </a:tr>
                  <a:tr h="370840">
                    <a:tc>
                      <a:txBody>
                        <a:bodyPr/>
                        <a:lstStyle/>
                        <a:p>
                          <a:pPr algn="ctr"/>
                          <a:r>
                            <a:rPr lang="en-US" dirty="0">
                              <a:latin typeface="Garamond" panose="02020404030301010803" pitchFamily="18" charset="0"/>
                            </a:rPr>
                            <a:t>Direction of Trade</a:t>
                          </a:r>
                        </a:p>
                      </a:txBody>
                      <a:tcPr/>
                    </a:tc>
                    <a:tc>
                      <a:txBody>
                        <a:bodyPr/>
                        <a:lstStyle/>
                        <a:p>
                          <a:pPr algn="ctr"/>
                          <a:r>
                            <a:rPr lang="en-US" dirty="0">
                              <a:latin typeface="Garamond" panose="02020404030301010803" pitchFamily="18" charset="0"/>
                            </a:rPr>
                            <a:t>Import</a:t>
                          </a:r>
                        </a:p>
                      </a:txBody>
                      <a:tcPr/>
                    </a:tc>
                    <a:tc>
                      <a:txBody>
                        <a:bodyPr/>
                        <a:lstStyle/>
                        <a:p>
                          <a:pPr algn="ctr"/>
                          <a:endParaRPr lang="en-US" dirty="0">
                            <a:latin typeface="Garamond" panose="02020404030301010803" pitchFamily="18" charset="0"/>
                          </a:endParaRPr>
                        </a:p>
                      </a:txBody>
                      <a:tcPr/>
                    </a:tc>
                    <a:extLst>
                      <a:ext uri="{0D108BD9-81ED-4DB2-BD59-A6C34878D82A}">
                        <a16:rowId xmlns:a16="http://schemas.microsoft.com/office/drawing/2014/main" val="2075377126"/>
                      </a:ext>
                    </a:extLst>
                  </a:tr>
                  <a:tr h="370840">
                    <a:tc>
                      <a:txBody>
                        <a:bodyPr/>
                        <a:lstStyle/>
                        <a:p>
                          <a:pPr algn="ctr"/>
                          <a:r>
                            <a:rPr lang="en-US" dirty="0">
                              <a:latin typeface="Garamond" panose="02020404030301010803" pitchFamily="18" charset="0"/>
                            </a:rPr>
                            <a:t>Consumer Surplus</a:t>
                          </a:r>
                        </a:p>
                      </a:txBody>
                      <a:tcPr/>
                    </a:tc>
                    <a:tc>
                      <a:txBody>
                        <a:bodyPr/>
                        <a:lstStyle/>
                        <a:p>
                          <a:pPr algn="ctr"/>
                          <a:r>
                            <a:rPr lang="en-US" dirty="0">
                              <a:latin typeface="Garamond" panose="02020404030301010803" pitchFamily="18" charset="0"/>
                            </a:rPr>
                            <a:t>Rises</a:t>
                          </a:r>
                        </a:p>
                      </a:txBody>
                      <a:tcPr/>
                    </a:tc>
                    <a:tc>
                      <a:txBody>
                        <a:bodyPr/>
                        <a:lstStyle/>
                        <a:p>
                          <a:pPr algn="ctr"/>
                          <a:endParaRPr lang="en-US" dirty="0">
                            <a:latin typeface="Garamond" panose="02020404030301010803" pitchFamily="18" charset="0"/>
                          </a:endParaRPr>
                        </a:p>
                      </a:txBody>
                      <a:tcPr/>
                    </a:tc>
                    <a:extLst>
                      <a:ext uri="{0D108BD9-81ED-4DB2-BD59-A6C34878D82A}">
                        <a16:rowId xmlns:a16="http://schemas.microsoft.com/office/drawing/2014/main" val="2140162646"/>
                      </a:ext>
                    </a:extLst>
                  </a:tr>
                  <a:tr h="370840">
                    <a:tc>
                      <a:txBody>
                        <a:bodyPr/>
                        <a:lstStyle/>
                        <a:p>
                          <a:pPr algn="ctr"/>
                          <a:r>
                            <a:rPr lang="en-US" dirty="0">
                              <a:latin typeface="Garamond" panose="02020404030301010803" pitchFamily="18" charset="0"/>
                            </a:rPr>
                            <a:t>Producer Surplus</a:t>
                          </a:r>
                        </a:p>
                      </a:txBody>
                      <a:tcPr/>
                    </a:tc>
                    <a:tc>
                      <a:txBody>
                        <a:bodyPr/>
                        <a:lstStyle/>
                        <a:p>
                          <a:pPr algn="ctr"/>
                          <a:r>
                            <a:rPr lang="en-US" dirty="0">
                              <a:latin typeface="Garamond" panose="02020404030301010803" pitchFamily="18" charset="0"/>
                            </a:rPr>
                            <a:t>Falls</a:t>
                          </a:r>
                        </a:p>
                      </a:txBody>
                      <a:tcPr/>
                    </a:tc>
                    <a:tc>
                      <a:txBody>
                        <a:bodyPr/>
                        <a:lstStyle/>
                        <a:p>
                          <a:pPr algn="ctr"/>
                          <a:endParaRPr lang="en-US" dirty="0">
                            <a:latin typeface="Garamond" panose="02020404030301010803" pitchFamily="18" charset="0"/>
                          </a:endParaRPr>
                        </a:p>
                      </a:txBody>
                      <a:tcPr/>
                    </a:tc>
                    <a:extLst>
                      <a:ext uri="{0D108BD9-81ED-4DB2-BD59-A6C34878D82A}">
                        <a16:rowId xmlns:a16="http://schemas.microsoft.com/office/drawing/2014/main" val="2507531080"/>
                      </a:ext>
                    </a:extLst>
                  </a:tr>
                  <a:tr h="370840">
                    <a:tc>
                      <a:txBody>
                        <a:bodyPr/>
                        <a:lstStyle/>
                        <a:p>
                          <a:pPr algn="ctr"/>
                          <a:r>
                            <a:rPr lang="en-US" dirty="0">
                              <a:latin typeface="Garamond" panose="02020404030301010803" pitchFamily="18" charset="0"/>
                            </a:rPr>
                            <a:t>Total Surplus</a:t>
                          </a:r>
                        </a:p>
                      </a:txBody>
                      <a:tcPr/>
                    </a:tc>
                    <a:tc>
                      <a:txBody>
                        <a:bodyPr/>
                        <a:lstStyle/>
                        <a:p>
                          <a:pPr algn="ctr"/>
                          <a:r>
                            <a:rPr lang="en-US" dirty="0">
                              <a:latin typeface="Garamond" panose="02020404030301010803" pitchFamily="18" charset="0"/>
                            </a:rPr>
                            <a:t>Increases</a:t>
                          </a:r>
                        </a:p>
                      </a:txBody>
                      <a:tcPr/>
                    </a:tc>
                    <a:tc>
                      <a:txBody>
                        <a:bodyPr/>
                        <a:lstStyle/>
                        <a:p>
                          <a:pPr algn="ctr"/>
                          <a:endParaRPr lang="en-US" dirty="0">
                            <a:latin typeface="Garamond" panose="02020404030301010803" pitchFamily="18" charset="0"/>
                          </a:endParaRPr>
                        </a:p>
                      </a:txBody>
                      <a:tcPr/>
                    </a:tc>
                    <a:extLst>
                      <a:ext uri="{0D108BD9-81ED-4DB2-BD59-A6C34878D82A}">
                        <a16:rowId xmlns:a16="http://schemas.microsoft.com/office/drawing/2014/main" val="2775118383"/>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9" name="Table 8">
                <a:extLst>
                  <a:ext uri="{FF2B5EF4-FFF2-40B4-BE49-F238E27FC236}">
                    <a16:creationId xmlns:a16="http://schemas.microsoft.com/office/drawing/2014/main" id="{225EBF23-713D-0AC9-293F-8143EE7A242A}"/>
                  </a:ext>
                </a:extLst>
              </p:cNvPr>
              <p:cNvGraphicFramePr>
                <a:graphicFrameLocks noGrp="1"/>
              </p:cNvGraphicFramePr>
              <p:nvPr>
                <p:extLst>
                  <p:ext uri="{D42A27DB-BD31-4B8C-83A1-F6EECF244321}">
                    <p14:modId xmlns:p14="http://schemas.microsoft.com/office/powerpoint/2010/main" val="572340783"/>
                  </p:ext>
                </p:extLst>
              </p:nvPr>
            </p:nvGraphicFramePr>
            <p:xfrm>
              <a:off x="2031469" y="1749604"/>
              <a:ext cx="8125884" cy="1855343"/>
            </p:xfrm>
            <a:graphic>
              <a:graphicData uri="http://schemas.openxmlformats.org/drawingml/2006/table">
                <a:tbl>
                  <a:tblPr firstRow="1" bandRow="1">
                    <a:tableStyleId>{5C22544A-7EE6-4342-B048-85BDC9FD1C3A}</a:tableStyleId>
                  </a:tblPr>
                  <a:tblGrid>
                    <a:gridCol w="2708628">
                      <a:extLst>
                        <a:ext uri="{9D8B030D-6E8A-4147-A177-3AD203B41FA5}">
                          <a16:colId xmlns:a16="http://schemas.microsoft.com/office/drawing/2014/main" val="1922002224"/>
                        </a:ext>
                      </a:extLst>
                    </a:gridCol>
                    <a:gridCol w="2708628">
                      <a:extLst>
                        <a:ext uri="{9D8B030D-6E8A-4147-A177-3AD203B41FA5}">
                          <a16:colId xmlns:a16="http://schemas.microsoft.com/office/drawing/2014/main" val="3842182792"/>
                        </a:ext>
                      </a:extLst>
                    </a:gridCol>
                    <a:gridCol w="2708628">
                      <a:extLst>
                        <a:ext uri="{9D8B030D-6E8A-4147-A177-3AD203B41FA5}">
                          <a16:colId xmlns:a16="http://schemas.microsoft.com/office/drawing/2014/main" val="1879517028"/>
                        </a:ext>
                      </a:extLst>
                    </a:gridCol>
                  </a:tblGrid>
                  <a:tr h="370840">
                    <a:tc>
                      <a:txBody>
                        <a:bodyPr/>
                        <a:lstStyle/>
                        <a:p>
                          <a:pPr algn="ctr"/>
                          <a:endParaRPr lang="en-US" dirty="0">
                            <a:latin typeface="Garamond" panose="02020404030301010803" pitchFamily="18" charset="0"/>
                          </a:endParaRPr>
                        </a:p>
                      </a:txBody>
                      <a:tcPr>
                        <a:solidFill>
                          <a:srgbClr val="77122C"/>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m:rPr>
                                        <m:nor/>
                                      </m:rPr>
                                      <a:rPr lang="en-US" altLang="zh-TW" sz="1800" dirty="0" smtClean="0">
                                        <a:latin typeface="Garamond" panose="02020404030301010803" pitchFamily="18" charset="0"/>
                                      </a:rPr>
                                      <m:t>P</m:t>
                                    </m:r>
                                  </m:e>
                                  <m:sub>
                                    <m:r>
                                      <m:rPr>
                                        <m:nor/>
                                      </m:rPr>
                                      <a:rPr lang="en-US" altLang="zh-TW" sz="1800" b="1" i="0" dirty="0" smtClean="0">
                                        <a:latin typeface="Garamond" panose="02020404030301010803" pitchFamily="18" charset="0"/>
                                      </a:rPr>
                                      <m:t>W</m:t>
                                    </m:r>
                                  </m:sub>
                                </m:sSub>
                                <m:r>
                                  <a:rPr lang="en-US" b="1" i="1" smtClean="0">
                                    <a:latin typeface="Cambria Math" panose="02040503050406030204" pitchFamily="18" charset="0"/>
                                  </a:rPr>
                                  <m:t>&lt;</m:t>
                                </m:r>
                                <m:sSub>
                                  <m:sSubPr>
                                    <m:ctrlPr>
                                      <a:rPr lang="en-US" i="1" smtClean="0">
                                        <a:latin typeface="Cambria Math" panose="02040503050406030204" pitchFamily="18" charset="0"/>
                                      </a:rPr>
                                    </m:ctrlPr>
                                  </m:sSubPr>
                                  <m:e>
                                    <m:r>
                                      <m:rPr>
                                        <m:nor/>
                                      </m:rPr>
                                      <a:rPr lang="en-US" altLang="zh-TW" sz="1800" dirty="0" smtClean="0">
                                        <a:latin typeface="Garamond" panose="02020404030301010803" pitchFamily="18" charset="0"/>
                                      </a:rPr>
                                      <m:t>P</m:t>
                                    </m:r>
                                  </m:e>
                                  <m:sub>
                                    <m:r>
                                      <m:rPr>
                                        <m:nor/>
                                      </m:rPr>
                                      <a:rPr lang="en-US" altLang="zh-TW" sz="1800" b="1" i="0" dirty="0" smtClean="0">
                                        <a:latin typeface="Garamond" panose="02020404030301010803" pitchFamily="18" charset="0"/>
                                      </a:rPr>
                                      <m:t>D</m:t>
                                    </m:r>
                                  </m:sub>
                                </m:sSub>
                              </m:oMath>
                            </m:oMathPara>
                          </a14:m>
                          <a:endParaRPr lang="en-US" dirty="0">
                            <a:latin typeface="Garamond" panose="02020404030301010803" pitchFamily="18" charset="0"/>
                          </a:endParaRPr>
                        </a:p>
                      </a:txBody>
                      <a:tcPr>
                        <a:solidFill>
                          <a:srgbClr val="77122C"/>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m:rPr>
                                        <m:nor/>
                                      </m:rPr>
                                      <a:rPr lang="en-US" altLang="zh-TW" sz="1800" dirty="0" smtClean="0">
                                        <a:latin typeface="Garamond" panose="02020404030301010803" pitchFamily="18" charset="0"/>
                                      </a:rPr>
                                      <m:t>P</m:t>
                                    </m:r>
                                  </m:e>
                                  <m:sub>
                                    <m:r>
                                      <m:rPr>
                                        <m:nor/>
                                      </m:rPr>
                                      <a:rPr lang="en-US" altLang="zh-TW" sz="1800" b="1" i="0" dirty="0" smtClean="0">
                                        <a:latin typeface="Garamond" panose="02020404030301010803" pitchFamily="18" charset="0"/>
                                      </a:rPr>
                                      <m:t>W</m:t>
                                    </m:r>
                                  </m:sub>
                                </m:sSub>
                                <m:r>
                                  <a:rPr lang="en-US" b="1" i="1" smtClean="0">
                                    <a:latin typeface="Cambria Math" panose="02040503050406030204" pitchFamily="18" charset="0"/>
                                  </a:rPr>
                                  <m:t>&gt;</m:t>
                                </m:r>
                                <m:sSub>
                                  <m:sSubPr>
                                    <m:ctrlPr>
                                      <a:rPr lang="en-US" i="1" smtClean="0">
                                        <a:latin typeface="Cambria Math" panose="02040503050406030204" pitchFamily="18" charset="0"/>
                                      </a:rPr>
                                    </m:ctrlPr>
                                  </m:sSubPr>
                                  <m:e>
                                    <m:r>
                                      <m:rPr>
                                        <m:nor/>
                                      </m:rPr>
                                      <a:rPr lang="en-US" altLang="zh-TW" sz="1800" dirty="0" smtClean="0">
                                        <a:latin typeface="Garamond" panose="02020404030301010803" pitchFamily="18" charset="0"/>
                                      </a:rPr>
                                      <m:t>P</m:t>
                                    </m:r>
                                  </m:e>
                                  <m:sub>
                                    <m:r>
                                      <m:rPr>
                                        <m:nor/>
                                      </m:rPr>
                                      <a:rPr lang="en-US" altLang="zh-TW" sz="1800" b="1" i="0" dirty="0" smtClean="0">
                                        <a:latin typeface="Garamond" panose="02020404030301010803" pitchFamily="18" charset="0"/>
                                      </a:rPr>
                                      <m:t>D</m:t>
                                    </m:r>
                                  </m:sub>
                                </m:sSub>
                              </m:oMath>
                            </m:oMathPara>
                          </a14:m>
                          <a:endParaRPr lang="en-US" dirty="0">
                            <a:latin typeface="Garamond" panose="02020404030301010803" pitchFamily="18" charset="0"/>
                          </a:endParaRPr>
                        </a:p>
                      </a:txBody>
                      <a:tcPr>
                        <a:solidFill>
                          <a:srgbClr val="77122C"/>
                        </a:solidFill>
                      </a:tcPr>
                    </a:tc>
                    <a:extLst>
                      <a:ext uri="{0D108BD9-81ED-4DB2-BD59-A6C34878D82A}">
                        <a16:rowId xmlns:a16="http://schemas.microsoft.com/office/drawing/2014/main" val="1297997492"/>
                      </a:ext>
                    </a:extLst>
                  </a:tr>
                  <a:tr h="370840">
                    <a:tc>
                      <a:txBody>
                        <a:bodyPr/>
                        <a:lstStyle/>
                        <a:p>
                          <a:pPr algn="ctr"/>
                          <a:r>
                            <a:rPr lang="en-US" dirty="0">
                              <a:latin typeface="Garamond" panose="02020404030301010803" pitchFamily="18" charset="0"/>
                            </a:rPr>
                            <a:t>Direction of Trade</a:t>
                          </a:r>
                        </a:p>
                      </a:txBody>
                      <a:tcPr/>
                    </a:tc>
                    <a:tc>
                      <a:txBody>
                        <a:bodyPr/>
                        <a:lstStyle/>
                        <a:p>
                          <a:pPr algn="ctr"/>
                          <a:r>
                            <a:rPr lang="en-US" dirty="0">
                              <a:latin typeface="Garamond" panose="02020404030301010803" pitchFamily="18" charset="0"/>
                            </a:rPr>
                            <a:t>Import</a:t>
                          </a:r>
                        </a:p>
                      </a:txBody>
                      <a:tcPr/>
                    </a:tc>
                    <a:tc>
                      <a:txBody>
                        <a:bodyPr/>
                        <a:lstStyle/>
                        <a:p>
                          <a:pPr algn="ctr"/>
                          <a:r>
                            <a:rPr lang="en-US" dirty="0">
                              <a:latin typeface="Garamond" panose="02020404030301010803" pitchFamily="18" charset="0"/>
                            </a:rPr>
                            <a:t>Export</a:t>
                          </a:r>
                        </a:p>
                      </a:txBody>
                      <a:tcPr/>
                    </a:tc>
                    <a:extLst>
                      <a:ext uri="{0D108BD9-81ED-4DB2-BD59-A6C34878D82A}">
                        <a16:rowId xmlns:a16="http://schemas.microsoft.com/office/drawing/2014/main" val="2075377126"/>
                      </a:ext>
                    </a:extLst>
                  </a:tr>
                  <a:tr h="370840">
                    <a:tc>
                      <a:txBody>
                        <a:bodyPr/>
                        <a:lstStyle/>
                        <a:p>
                          <a:pPr algn="ctr"/>
                          <a:r>
                            <a:rPr lang="en-US" dirty="0">
                              <a:latin typeface="Garamond" panose="02020404030301010803" pitchFamily="18" charset="0"/>
                            </a:rPr>
                            <a:t>Consumer Surplus</a:t>
                          </a:r>
                        </a:p>
                      </a:txBody>
                      <a:tcPr/>
                    </a:tc>
                    <a:tc>
                      <a:txBody>
                        <a:bodyPr/>
                        <a:lstStyle/>
                        <a:p>
                          <a:pPr algn="ctr"/>
                          <a:r>
                            <a:rPr lang="en-US" dirty="0">
                              <a:latin typeface="Garamond" panose="02020404030301010803" pitchFamily="18" charset="0"/>
                            </a:rPr>
                            <a:t>Rises</a:t>
                          </a:r>
                        </a:p>
                      </a:txBody>
                      <a:tcPr/>
                    </a:tc>
                    <a:tc>
                      <a:txBody>
                        <a:bodyPr/>
                        <a:lstStyle/>
                        <a:p>
                          <a:pPr algn="ctr"/>
                          <a:r>
                            <a:rPr lang="en-US" dirty="0">
                              <a:latin typeface="Garamond" panose="02020404030301010803" pitchFamily="18" charset="0"/>
                            </a:rPr>
                            <a:t>Falls</a:t>
                          </a:r>
                        </a:p>
                      </a:txBody>
                      <a:tcPr/>
                    </a:tc>
                    <a:extLst>
                      <a:ext uri="{0D108BD9-81ED-4DB2-BD59-A6C34878D82A}">
                        <a16:rowId xmlns:a16="http://schemas.microsoft.com/office/drawing/2014/main" val="2140162646"/>
                      </a:ext>
                    </a:extLst>
                  </a:tr>
                  <a:tr h="370840">
                    <a:tc>
                      <a:txBody>
                        <a:bodyPr/>
                        <a:lstStyle/>
                        <a:p>
                          <a:pPr algn="ctr"/>
                          <a:r>
                            <a:rPr lang="en-US" dirty="0">
                              <a:latin typeface="Garamond" panose="02020404030301010803" pitchFamily="18" charset="0"/>
                            </a:rPr>
                            <a:t>Producer Surplus</a:t>
                          </a:r>
                        </a:p>
                      </a:txBody>
                      <a:tcPr/>
                    </a:tc>
                    <a:tc>
                      <a:txBody>
                        <a:bodyPr/>
                        <a:lstStyle/>
                        <a:p>
                          <a:pPr algn="ctr"/>
                          <a:r>
                            <a:rPr lang="en-US" dirty="0">
                              <a:latin typeface="Garamond" panose="02020404030301010803" pitchFamily="18" charset="0"/>
                            </a:rPr>
                            <a:t>Falls</a:t>
                          </a:r>
                        </a:p>
                      </a:txBody>
                      <a:tcPr/>
                    </a:tc>
                    <a:tc>
                      <a:txBody>
                        <a:bodyPr/>
                        <a:lstStyle/>
                        <a:p>
                          <a:pPr algn="ctr"/>
                          <a:r>
                            <a:rPr lang="en-US" dirty="0">
                              <a:latin typeface="Garamond" panose="02020404030301010803" pitchFamily="18" charset="0"/>
                            </a:rPr>
                            <a:t>Rises</a:t>
                          </a:r>
                        </a:p>
                      </a:txBody>
                      <a:tcPr/>
                    </a:tc>
                    <a:extLst>
                      <a:ext uri="{0D108BD9-81ED-4DB2-BD59-A6C34878D82A}">
                        <a16:rowId xmlns:a16="http://schemas.microsoft.com/office/drawing/2014/main" val="2507531080"/>
                      </a:ext>
                    </a:extLst>
                  </a:tr>
                  <a:tr h="370840">
                    <a:tc>
                      <a:txBody>
                        <a:bodyPr/>
                        <a:lstStyle/>
                        <a:p>
                          <a:pPr algn="ctr"/>
                          <a:r>
                            <a:rPr lang="en-US" dirty="0">
                              <a:latin typeface="Garamond" panose="02020404030301010803" pitchFamily="18" charset="0"/>
                            </a:rPr>
                            <a:t>Total Surplus</a:t>
                          </a:r>
                        </a:p>
                      </a:txBody>
                      <a:tcPr/>
                    </a:tc>
                    <a:tc>
                      <a:txBody>
                        <a:bodyPr/>
                        <a:lstStyle/>
                        <a:p>
                          <a:pPr algn="ctr"/>
                          <a:r>
                            <a:rPr lang="en-US" dirty="0">
                              <a:latin typeface="Garamond" panose="02020404030301010803" pitchFamily="18" charset="0"/>
                            </a:rPr>
                            <a:t>Increases</a:t>
                          </a:r>
                        </a:p>
                      </a:txBody>
                      <a:tcPr/>
                    </a:tc>
                    <a:tc>
                      <a:txBody>
                        <a:bodyPr/>
                        <a:lstStyle/>
                        <a:p>
                          <a:pPr algn="ctr"/>
                          <a:r>
                            <a:rPr lang="en-US" dirty="0">
                              <a:latin typeface="Garamond" panose="02020404030301010803" pitchFamily="18" charset="0"/>
                            </a:rPr>
                            <a:t>Increases</a:t>
                          </a:r>
                        </a:p>
                      </a:txBody>
                      <a:tcPr/>
                    </a:tc>
                    <a:extLst>
                      <a:ext uri="{0D108BD9-81ED-4DB2-BD59-A6C34878D82A}">
                        <a16:rowId xmlns:a16="http://schemas.microsoft.com/office/drawing/2014/main" val="2775118383"/>
                      </a:ext>
                    </a:extLst>
                  </a:tr>
                </a:tbl>
              </a:graphicData>
            </a:graphic>
          </p:graphicFrame>
        </mc:Choice>
        <mc:Fallback xmlns="">
          <p:graphicFrame>
            <p:nvGraphicFramePr>
              <p:cNvPr id="9" name="Table 8">
                <a:extLst>
                  <a:ext uri="{FF2B5EF4-FFF2-40B4-BE49-F238E27FC236}">
                    <a16:creationId xmlns:a16="http://schemas.microsoft.com/office/drawing/2014/main" id="{225EBF23-713D-0AC9-293F-8143EE7A242A}"/>
                  </a:ext>
                </a:extLst>
              </p:cNvPr>
              <p:cNvGraphicFramePr>
                <a:graphicFrameLocks noGrp="1"/>
              </p:cNvGraphicFramePr>
              <p:nvPr>
                <p:extLst>
                  <p:ext uri="{D42A27DB-BD31-4B8C-83A1-F6EECF244321}">
                    <p14:modId xmlns:p14="http://schemas.microsoft.com/office/powerpoint/2010/main" val="572340783"/>
                  </p:ext>
                </p:extLst>
              </p:nvPr>
            </p:nvGraphicFramePr>
            <p:xfrm>
              <a:off x="2031469" y="1749604"/>
              <a:ext cx="8125884" cy="1855343"/>
            </p:xfrm>
            <a:graphic>
              <a:graphicData uri="http://schemas.openxmlformats.org/drawingml/2006/table">
                <a:tbl>
                  <a:tblPr firstRow="1" bandRow="1">
                    <a:tableStyleId>{5C22544A-7EE6-4342-B048-85BDC9FD1C3A}</a:tableStyleId>
                  </a:tblPr>
                  <a:tblGrid>
                    <a:gridCol w="2708628">
                      <a:extLst>
                        <a:ext uri="{9D8B030D-6E8A-4147-A177-3AD203B41FA5}">
                          <a16:colId xmlns:a16="http://schemas.microsoft.com/office/drawing/2014/main" val="1922002224"/>
                        </a:ext>
                      </a:extLst>
                    </a:gridCol>
                    <a:gridCol w="2708628">
                      <a:extLst>
                        <a:ext uri="{9D8B030D-6E8A-4147-A177-3AD203B41FA5}">
                          <a16:colId xmlns:a16="http://schemas.microsoft.com/office/drawing/2014/main" val="3842182792"/>
                        </a:ext>
                      </a:extLst>
                    </a:gridCol>
                    <a:gridCol w="2708628">
                      <a:extLst>
                        <a:ext uri="{9D8B030D-6E8A-4147-A177-3AD203B41FA5}">
                          <a16:colId xmlns:a16="http://schemas.microsoft.com/office/drawing/2014/main" val="1879517028"/>
                        </a:ext>
                      </a:extLst>
                    </a:gridCol>
                  </a:tblGrid>
                  <a:tr h="371983">
                    <a:tc>
                      <a:txBody>
                        <a:bodyPr/>
                        <a:lstStyle/>
                        <a:p>
                          <a:pPr algn="ctr"/>
                          <a:endParaRPr lang="en-US" dirty="0">
                            <a:latin typeface="Garamond" panose="02020404030301010803" pitchFamily="18" charset="0"/>
                          </a:endParaRPr>
                        </a:p>
                      </a:txBody>
                      <a:tcPr>
                        <a:solidFill>
                          <a:srgbClr val="77122C"/>
                        </a:solidFill>
                      </a:tcPr>
                    </a:tc>
                    <a:tc>
                      <a:txBody>
                        <a:bodyPr/>
                        <a:lstStyle/>
                        <a:p>
                          <a:endParaRPr lang="en-US"/>
                        </a:p>
                      </a:txBody>
                      <a:tcPr>
                        <a:blipFill>
                          <a:blip r:embed="rId4"/>
                          <a:stretch>
                            <a:fillRect l="-100450" t="-3279" r="-101126" b="-424590"/>
                          </a:stretch>
                        </a:blipFill>
                      </a:tcPr>
                    </a:tc>
                    <a:tc>
                      <a:txBody>
                        <a:bodyPr/>
                        <a:lstStyle/>
                        <a:p>
                          <a:endParaRPr lang="en-US"/>
                        </a:p>
                      </a:txBody>
                      <a:tcPr>
                        <a:blipFill>
                          <a:blip r:embed="rId4"/>
                          <a:stretch>
                            <a:fillRect l="-200000" t="-3279" r="-899" b="-424590"/>
                          </a:stretch>
                        </a:blipFill>
                      </a:tcPr>
                    </a:tc>
                    <a:extLst>
                      <a:ext uri="{0D108BD9-81ED-4DB2-BD59-A6C34878D82A}">
                        <a16:rowId xmlns:a16="http://schemas.microsoft.com/office/drawing/2014/main" val="1297997492"/>
                      </a:ext>
                    </a:extLst>
                  </a:tr>
                  <a:tr h="370840">
                    <a:tc>
                      <a:txBody>
                        <a:bodyPr/>
                        <a:lstStyle/>
                        <a:p>
                          <a:pPr algn="ctr"/>
                          <a:r>
                            <a:rPr lang="en-US" dirty="0">
                              <a:latin typeface="Garamond" panose="02020404030301010803" pitchFamily="18" charset="0"/>
                            </a:rPr>
                            <a:t>Direction of Trade</a:t>
                          </a:r>
                        </a:p>
                      </a:txBody>
                      <a:tcPr/>
                    </a:tc>
                    <a:tc>
                      <a:txBody>
                        <a:bodyPr/>
                        <a:lstStyle/>
                        <a:p>
                          <a:pPr algn="ctr"/>
                          <a:r>
                            <a:rPr lang="en-US" dirty="0">
                              <a:latin typeface="Garamond" panose="02020404030301010803" pitchFamily="18" charset="0"/>
                            </a:rPr>
                            <a:t>Import</a:t>
                          </a:r>
                        </a:p>
                      </a:txBody>
                      <a:tcPr/>
                    </a:tc>
                    <a:tc>
                      <a:txBody>
                        <a:bodyPr/>
                        <a:lstStyle/>
                        <a:p>
                          <a:pPr algn="ctr"/>
                          <a:r>
                            <a:rPr lang="en-US" dirty="0">
                              <a:latin typeface="Garamond" panose="02020404030301010803" pitchFamily="18" charset="0"/>
                            </a:rPr>
                            <a:t>Export</a:t>
                          </a:r>
                        </a:p>
                      </a:txBody>
                      <a:tcPr/>
                    </a:tc>
                    <a:extLst>
                      <a:ext uri="{0D108BD9-81ED-4DB2-BD59-A6C34878D82A}">
                        <a16:rowId xmlns:a16="http://schemas.microsoft.com/office/drawing/2014/main" val="2075377126"/>
                      </a:ext>
                    </a:extLst>
                  </a:tr>
                  <a:tr h="370840">
                    <a:tc>
                      <a:txBody>
                        <a:bodyPr/>
                        <a:lstStyle/>
                        <a:p>
                          <a:pPr algn="ctr"/>
                          <a:r>
                            <a:rPr lang="en-US" dirty="0">
                              <a:latin typeface="Garamond" panose="02020404030301010803" pitchFamily="18" charset="0"/>
                            </a:rPr>
                            <a:t>Consumer Surplus</a:t>
                          </a:r>
                        </a:p>
                      </a:txBody>
                      <a:tcPr/>
                    </a:tc>
                    <a:tc>
                      <a:txBody>
                        <a:bodyPr/>
                        <a:lstStyle/>
                        <a:p>
                          <a:pPr algn="ctr"/>
                          <a:r>
                            <a:rPr lang="en-US" dirty="0">
                              <a:latin typeface="Garamond" panose="02020404030301010803" pitchFamily="18" charset="0"/>
                            </a:rPr>
                            <a:t>Rises</a:t>
                          </a:r>
                        </a:p>
                      </a:txBody>
                      <a:tcPr/>
                    </a:tc>
                    <a:tc>
                      <a:txBody>
                        <a:bodyPr/>
                        <a:lstStyle/>
                        <a:p>
                          <a:pPr algn="ctr"/>
                          <a:r>
                            <a:rPr lang="en-US" dirty="0">
                              <a:latin typeface="Garamond" panose="02020404030301010803" pitchFamily="18" charset="0"/>
                            </a:rPr>
                            <a:t>Falls</a:t>
                          </a:r>
                        </a:p>
                      </a:txBody>
                      <a:tcPr/>
                    </a:tc>
                    <a:extLst>
                      <a:ext uri="{0D108BD9-81ED-4DB2-BD59-A6C34878D82A}">
                        <a16:rowId xmlns:a16="http://schemas.microsoft.com/office/drawing/2014/main" val="2140162646"/>
                      </a:ext>
                    </a:extLst>
                  </a:tr>
                  <a:tr h="370840">
                    <a:tc>
                      <a:txBody>
                        <a:bodyPr/>
                        <a:lstStyle/>
                        <a:p>
                          <a:pPr algn="ctr"/>
                          <a:r>
                            <a:rPr lang="en-US" dirty="0">
                              <a:latin typeface="Garamond" panose="02020404030301010803" pitchFamily="18" charset="0"/>
                            </a:rPr>
                            <a:t>Producer Surplus</a:t>
                          </a:r>
                        </a:p>
                      </a:txBody>
                      <a:tcPr/>
                    </a:tc>
                    <a:tc>
                      <a:txBody>
                        <a:bodyPr/>
                        <a:lstStyle/>
                        <a:p>
                          <a:pPr algn="ctr"/>
                          <a:r>
                            <a:rPr lang="en-US" dirty="0">
                              <a:latin typeface="Garamond" panose="02020404030301010803" pitchFamily="18" charset="0"/>
                            </a:rPr>
                            <a:t>Falls</a:t>
                          </a:r>
                        </a:p>
                      </a:txBody>
                      <a:tcPr/>
                    </a:tc>
                    <a:tc>
                      <a:txBody>
                        <a:bodyPr/>
                        <a:lstStyle/>
                        <a:p>
                          <a:pPr algn="ctr"/>
                          <a:r>
                            <a:rPr lang="en-US" dirty="0">
                              <a:latin typeface="Garamond" panose="02020404030301010803" pitchFamily="18" charset="0"/>
                            </a:rPr>
                            <a:t>Rises</a:t>
                          </a:r>
                        </a:p>
                      </a:txBody>
                      <a:tcPr/>
                    </a:tc>
                    <a:extLst>
                      <a:ext uri="{0D108BD9-81ED-4DB2-BD59-A6C34878D82A}">
                        <a16:rowId xmlns:a16="http://schemas.microsoft.com/office/drawing/2014/main" val="2507531080"/>
                      </a:ext>
                    </a:extLst>
                  </a:tr>
                  <a:tr h="370840">
                    <a:tc>
                      <a:txBody>
                        <a:bodyPr/>
                        <a:lstStyle/>
                        <a:p>
                          <a:pPr algn="ctr"/>
                          <a:r>
                            <a:rPr lang="en-US" dirty="0">
                              <a:latin typeface="Garamond" panose="02020404030301010803" pitchFamily="18" charset="0"/>
                            </a:rPr>
                            <a:t>Total Surplus</a:t>
                          </a:r>
                        </a:p>
                      </a:txBody>
                      <a:tcPr/>
                    </a:tc>
                    <a:tc>
                      <a:txBody>
                        <a:bodyPr/>
                        <a:lstStyle/>
                        <a:p>
                          <a:pPr algn="ctr"/>
                          <a:r>
                            <a:rPr lang="en-US" dirty="0">
                              <a:latin typeface="Garamond" panose="02020404030301010803" pitchFamily="18" charset="0"/>
                            </a:rPr>
                            <a:t>Increases</a:t>
                          </a:r>
                        </a:p>
                      </a:txBody>
                      <a:tcPr/>
                    </a:tc>
                    <a:tc>
                      <a:txBody>
                        <a:bodyPr/>
                        <a:lstStyle/>
                        <a:p>
                          <a:pPr algn="ctr"/>
                          <a:r>
                            <a:rPr lang="en-US" dirty="0">
                              <a:latin typeface="Garamond" panose="02020404030301010803" pitchFamily="18" charset="0"/>
                            </a:rPr>
                            <a:t>Increases</a:t>
                          </a:r>
                        </a:p>
                      </a:txBody>
                      <a:tcPr/>
                    </a:tc>
                    <a:extLst>
                      <a:ext uri="{0D108BD9-81ED-4DB2-BD59-A6C34878D82A}">
                        <a16:rowId xmlns:a16="http://schemas.microsoft.com/office/drawing/2014/main" val="2775118383"/>
                      </a:ext>
                    </a:extLst>
                  </a:tr>
                </a:tbl>
              </a:graphicData>
            </a:graphic>
          </p:graphicFrame>
        </mc:Fallback>
      </mc:AlternateContent>
    </p:spTree>
    <p:extLst>
      <p:ext uri="{BB962C8B-B14F-4D97-AF65-F5344CB8AC3E}">
        <p14:creationId xmlns:p14="http://schemas.microsoft.com/office/powerpoint/2010/main" val="3348585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500"/>
                                        <p:tgtEl>
                                          <p:spTgt spid="11">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1">
                                            <p:txEl>
                                              <p:pRg st="6" end="6"/>
                                            </p:txEl>
                                          </p:spTgt>
                                        </p:tgtEl>
                                        <p:attrNameLst>
                                          <p:attrName>style.visibility</p:attrName>
                                        </p:attrNameLst>
                                      </p:cBhvr>
                                      <p:to>
                                        <p:strVal val="visible"/>
                                      </p:to>
                                    </p:set>
                                    <p:animEffect transition="in" filter="fade">
                                      <p:cBhvr>
                                        <p:cTn id="25" dur="500"/>
                                        <p:tgtEl>
                                          <p:spTgt spid="11">
                                            <p:txEl>
                                              <p:pRg st="6" end="6"/>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1">
                                            <p:txEl>
                                              <p:pRg st="7" end="7"/>
                                            </p:txEl>
                                          </p:spTgt>
                                        </p:tgtEl>
                                        <p:attrNameLst>
                                          <p:attrName>style.visibility</p:attrName>
                                        </p:attrNameLst>
                                      </p:cBhvr>
                                      <p:to>
                                        <p:strVal val="visible"/>
                                      </p:to>
                                    </p:set>
                                    <p:animEffect transition="in" filter="fade">
                                      <p:cBhvr>
                                        <p:cTn id="30" dur="500"/>
                                        <p:tgtEl>
                                          <p:spTgt spid="11">
                                            <p:txEl>
                                              <p:pRg st="7" end="7"/>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1">
                                            <p:txEl>
                                              <p:pRg st="8" end="8"/>
                                            </p:txEl>
                                          </p:spTgt>
                                        </p:tgtEl>
                                        <p:attrNameLst>
                                          <p:attrName>style.visibility</p:attrName>
                                        </p:attrNameLst>
                                      </p:cBhvr>
                                      <p:to>
                                        <p:strVal val="visible"/>
                                      </p:to>
                                    </p:set>
                                    <p:animEffect transition="in" filter="fade">
                                      <p:cBhvr>
                                        <p:cTn id="35" dur="500"/>
                                        <p:tgtEl>
                                          <p:spTgt spid="11">
                                            <p:txEl>
                                              <p:pRg st="8" end="8"/>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1">
                                            <p:txEl>
                                              <p:pRg st="9" end="9"/>
                                            </p:txEl>
                                          </p:spTgt>
                                        </p:tgtEl>
                                        <p:attrNameLst>
                                          <p:attrName>style.visibility</p:attrName>
                                        </p:attrNameLst>
                                      </p:cBhvr>
                                      <p:to>
                                        <p:strVal val="visible"/>
                                      </p:to>
                                    </p:set>
                                    <p:animEffect transition="in" filter="fade">
                                      <p:cBhvr>
                                        <p:cTn id="40" dur="500"/>
                                        <p:tgtEl>
                                          <p:spTgt spid="11">
                                            <p:txEl>
                                              <p:pRg st="9" end="9"/>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1">
                                            <p:txEl>
                                              <p:pRg st="10" end="10"/>
                                            </p:txEl>
                                          </p:spTgt>
                                        </p:tgtEl>
                                        <p:attrNameLst>
                                          <p:attrName>style.visibility</p:attrName>
                                        </p:attrNameLst>
                                      </p:cBhvr>
                                      <p:to>
                                        <p:strVal val="visible"/>
                                      </p:to>
                                    </p:set>
                                    <p:animEffect transition="in" filter="fade">
                                      <p:cBhvr>
                                        <p:cTn id="45" dur="500"/>
                                        <p:tgtEl>
                                          <p:spTgt spid="11">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30558-DBF9-0510-97F0-86CDEDBD345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A857074-4CC3-A92A-7E5D-F3B2DBAF0235}"/>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916CB19-2973-327E-2F41-8238BC1E456E}"/>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Tariffs</a:t>
            </a:r>
          </a:p>
        </p:txBody>
      </p:sp>
      <p:sp>
        <p:nvSpPr>
          <p:cNvPr id="5" name="Rectangle 4">
            <a:extLst>
              <a:ext uri="{FF2B5EF4-FFF2-40B4-BE49-F238E27FC236}">
                <a16:creationId xmlns:a16="http://schemas.microsoft.com/office/drawing/2014/main" id="{3C571D73-5F60-3A20-19DE-6F9319D52A1E}"/>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E878D25F-E362-D042-FF93-33352967AA0A}"/>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CAB9ADF2-91AA-9635-0FA4-4FA416378083}"/>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16</a:t>
            </a:fld>
            <a:r>
              <a:rPr lang="en-US" b="1" dirty="0">
                <a:solidFill>
                  <a:schemeClr val="bg1"/>
                </a:solidFill>
                <a:latin typeface="Garamond" panose="02020404030301010803" pitchFamily="18" charset="0"/>
              </a:rPr>
              <a:t> </a:t>
            </a:r>
          </a:p>
        </p:txBody>
      </p:sp>
      <p:sp>
        <p:nvSpPr>
          <p:cNvPr id="3" name="Content Placeholder 2">
            <a:extLst>
              <a:ext uri="{FF2B5EF4-FFF2-40B4-BE49-F238E27FC236}">
                <a16:creationId xmlns:a16="http://schemas.microsoft.com/office/drawing/2014/main" id="{24D86DFF-B55C-ACD5-D4D5-1FCA2BBDEE96}"/>
              </a:ext>
            </a:extLst>
          </p:cNvPr>
          <p:cNvSpPr>
            <a:spLocks noGrp="1"/>
          </p:cNvSpPr>
          <p:nvPr>
            <p:ph idx="1"/>
          </p:nvPr>
        </p:nvSpPr>
        <p:spPr>
          <a:xfrm>
            <a:off x="6148064" y="1300900"/>
            <a:ext cx="5498990" cy="5081046"/>
          </a:xfrm>
        </p:spPr>
        <p:txBody>
          <a:bodyPr>
            <a:normAutofit/>
          </a:bodyPr>
          <a:lstStyle/>
          <a:p>
            <a:pPr>
              <a:spcBef>
                <a:spcPts val="576"/>
              </a:spcBef>
              <a:defRPr sz="2000">
                <a:solidFill>
                  <a:srgbClr val="000000"/>
                </a:solidFill>
                <a:latin typeface="Garamond"/>
              </a:defRPr>
            </a:pPr>
            <a:r>
              <a:rPr lang="en-US" altLang="zh-TW" sz="2400" dirty="0"/>
              <a:t>A </a:t>
            </a:r>
            <a:r>
              <a:rPr lang="en-US" altLang="zh-TW" sz="2400" b="1" dirty="0"/>
              <a:t>Tariff</a:t>
            </a:r>
            <a:r>
              <a:rPr lang="en-US" altLang="zh-TW" sz="2400" dirty="0"/>
              <a:t> is a tax on goods produced abroad and sold domestically.</a:t>
            </a:r>
          </a:p>
          <a:p>
            <a:pPr lvl="3">
              <a:spcBef>
                <a:spcPts val="576"/>
              </a:spcBef>
              <a:defRPr sz="2000">
                <a:solidFill>
                  <a:srgbClr val="000000"/>
                </a:solidFill>
                <a:latin typeface="Garamond"/>
              </a:defRPr>
            </a:pPr>
            <a:endParaRPr lang="en-US" altLang="zh-TW" sz="1200" dirty="0"/>
          </a:p>
          <a:p>
            <a:pPr>
              <a:spcBef>
                <a:spcPts val="576"/>
              </a:spcBef>
              <a:defRPr sz="2000">
                <a:solidFill>
                  <a:srgbClr val="000000"/>
                </a:solidFill>
                <a:latin typeface="Garamond"/>
              </a:defRPr>
            </a:pPr>
            <a:r>
              <a:rPr lang="en-US" altLang="zh-TW" sz="2400" dirty="0"/>
              <a:t>Curious etymology:</a:t>
            </a:r>
          </a:p>
          <a:p>
            <a:pPr lvl="1">
              <a:spcBef>
                <a:spcPts val="576"/>
              </a:spcBef>
              <a:defRPr sz="2000">
                <a:solidFill>
                  <a:srgbClr val="000000"/>
                </a:solidFill>
                <a:latin typeface="Garamond"/>
              </a:defRPr>
            </a:pPr>
            <a:r>
              <a:rPr lang="en-US" altLang="zh-TW" sz="2000" dirty="0"/>
              <a:t>Originates from Arabic </a:t>
            </a:r>
            <a:r>
              <a:rPr lang="ar-AE" sz="2000" dirty="0"/>
              <a:t>تعريف</a:t>
            </a:r>
            <a:r>
              <a:rPr lang="en-US" sz="2000" dirty="0"/>
              <a:t>, (“</a:t>
            </a:r>
            <a:r>
              <a:rPr lang="en-US" sz="2000" dirty="0" err="1"/>
              <a:t>taʿrīf</a:t>
            </a:r>
            <a:r>
              <a:rPr lang="en-US" sz="2000" dirty="0"/>
              <a:t>”) meaning ‘notification,’ or ‘announcement.’</a:t>
            </a:r>
          </a:p>
          <a:p>
            <a:pPr lvl="1">
              <a:spcBef>
                <a:spcPts val="576"/>
              </a:spcBef>
              <a:defRPr sz="2000">
                <a:solidFill>
                  <a:srgbClr val="000000"/>
                </a:solidFill>
                <a:latin typeface="Garamond"/>
              </a:defRPr>
            </a:pPr>
            <a:r>
              <a:rPr lang="en-US" altLang="zh-TW" sz="2000" dirty="0"/>
              <a:t>Turned into Ottoman Turkish </a:t>
            </a:r>
            <a:r>
              <a:rPr lang="ar-AE" sz="2000" dirty="0"/>
              <a:t>تعرفه</a:t>
            </a:r>
            <a:r>
              <a:rPr lang="en-US" altLang="zh-TW" sz="2000" dirty="0"/>
              <a:t>, (“</a:t>
            </a:r>
            <a:r>
              <a:rPr lang="en-US" altLang="zh-TW" sz="2000" dirty="0" err="1"/>
              <a:t>ta</a:t>
            </a:r>
            <a:r>
              <a:rPr lang="en-US" sz="2000" dirty="0" err="1"/>
              <a:t>ʿ</a:t>
            </a:r>
            <a:r>
              <a:rPr lang="en-US" altLang="zh-TW" sz="2000" dirty="0" err="1"/>
              <a:t>rife</a:t>
            </a:r>
            <a:r>
              <a:rPr lang="en-US" altLang="zh-TW" sz="2000" dirty="0"/>
              <a:t>”) which referred to the table of custom rates.</a:t>
            </a:r>
          </a:p>
          <a:p>
            <a:pPr lvl="1">
              <a:spcBef>
                <a:spcPts val="576"/>
              </a:spcBef>
              <a:defRPr sz="2000">
                <a:solidFill>
                  <a:srgbClr val="000000"/>
                </a:solidFill>
                <a:latin typeface="Garamond"/>
              </a:defRPr>
            </a:pPr>
            <a:r>
              <a:rPr lang="en-US" altLang="zh-TW" sz="2000" dirty="0"/>
              <a:t>Origin of the Medieval Latin term “</a:t>
            </a:r>
            <a:r>
              <a:rPr lang="en-US" altLang="zh-TW" sz="2000" dirty="0" err="1"/>
              <a:t>tariffe</a:t>
            </a:r>
            <a:r>
              <a:rPr lang="en-US" altLang="zh-TW" sz="2000" dirty="0"/>
              <a:t>,” which means a ‘set price’.</a:t>
            </a:r>
          </a:p>
          <a:p>
            <a:pPr lvl="4">
              <a:spcBef>
                <a:spcPts val="576"/>
              </a:spcBef>
              <a:defRPr sz="2000">
                <a:solidFill>
                  <a:srgbClr val="000000"/>
                </a:solidFill>
                <a:latin typeface="Garamond"/>
              </a:defRPr>
            </a:pPr>
            <a:endParaRPr lang="en-US" altLang="zh-TW" sz="1200" dirty="0"/>
          </a:p>
          <a:p>
            <a:pPr>
              <a:spcBef>
                <a:spcPts val="576"/>
              </a:spcBef>
              <a:defRPr sz="2000">
                <a:solidFill>
                  <a:srgbClr val="000000"/>
                </a:solidFill>
                <a:latin typeface="Garamond"/>
              </a:defRPr>
            </a:pPr>
            <a:r>
              <a:rPr lang="en-US" altLang="zh-TW" sz="2400" dirty="0"/>
              <a:t>Designed to raise the price of imported goods to discourage consumption.</a:t>
            </a:r>
          </a:p>
          <a:p>
            <a:pPr lvl="1">
              <a:spcBef>
                <a:spcPts val="576"/>
              </a:spcBef>
              <a:defRPr sz="2000">
                <a:solidFill>
                  <a:srgbClr val="000000"/>
                </a:solidFill>
                <a:latin typeface="Garamond"/>
              </a:defRPr>
            </a:pPr>
            <a:endParaRPr lang="en-US" altLang="zh-TW" sz="2000" dirty="0"/>
          </a:p>
        </p:txBody>
      </p:sp>
      <p:pic>
        <p:nvPicPr>
          <p:cNvPr id="1026" name="Picture 2" descr="undefined">
            <a:extLst>
              <a:ext uri="{FF2B5EF4-FFF2-40B4-BE49-F238E27FC236}">
                <a16:creationId xmlns:a16="http://schemas.microsoft.com/office/drawing/2014/main" id="{5D7E2BE1-705F-5BC1-2A3F-9569EC4CBA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199" y="1300900"/>
            <a:ext cx="5583563" cy="457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7046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500"/>
                                        <p:tgtEl>
                                          <p:spTgt spid="1026"/>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Effect transition="in" filter="fade">
                                      <p:cBhvr>
                                        <p:cTn id="35"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329A6-9898-E90F-0BE2-09246F2F586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C2FE111-D6DE-C77A-50A9-084502EF0E78}"/>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E80ADE-85D4-041D-0C51-61B49D75547C}"/>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Tariffs</a:t>
            </a:r>
          </a:p>
        </p:txBody>
      </p:sp>
      <p:sp>
        <p:nvSpPr>
          <p:cNvPr id="5" name="Rectangle 4">
            <a:extLst>
              <a:ext uri="{FF2B5EF4-FFF2-40B4-BE49-F238E27FC236}">
                <a16:creationId xmlns:a16="http://schemas.microsoft.com/office/drawing/2014/main" id="{0CEBE483-9BBC-663E-206C-6B1DD7562C59}"/>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40477F7B-32A1-1627-7737-E6B1C7184EE8}"/>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0700AFB9-DE31-A10D-69D0-B60CCDDC39CF}"/>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17</a:t>
            </a:fld>
            <a:r>
              <a:rPr lang="en-US" b="1" dirty="0">
                <a:solidFill>
                  <a:schemeClr val="bg1"/>
                </a:solidFill>
                <a:latin typeface="Garamond" panose="02020404030301010803" pitchFamily="18" charset="0"/>
              </a:rPr>
              <a:t>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B569620-012D-B7DC-59FB-849D27130F0D}"/>
                  </a:ext>
                </a:extLst>
              </p:cNvPr>
              <p:cNvSpPr>
                <a:spLocks noGrp="1"/>
              </p:cNvSpPr>
              <p:nvPr>
                <p:ph idx="1"/>
              </p:nvPr>
            </p:nvSpPr>
            <p:spPr>
              <a:xfrm>
                <a:off x="457199" y="1300900"/>
                <a:ext cx="11189855" cy="5081046"/>
              </a:xfrm>
            </p:spPr>
            <p:txBody>
              <a:bodyPr>
                <a:normAutofit/>
              </a:bodyPr>
              <a:lstStyle/>
              <a:p>
                <a:pPr>
                  <a:spcBef>
                    <a:spcPts val="576"/>
                  </a:spcBef>
                  <a:defRPr sz="2000">
                    <a:solidFill>
                      <a:srgbClr val="000000"/>
                    </a:solidFill>
                    <a:latin typeface="Garamond"/>
                  </a:defRPr>
                </a:pPr>
                <a:r>
                  <a:rPr lang="en-US" altLang="zh-TW" sz="2400" dirty="0"/>
                  <a:t>Under free trade, the domestic price and world price always match.</a:t>
                </a:r>
              </a:p>
              <a:p>
                <a:pPr lvl="1">
                  <a:spcBef>
                    <a:spcPts val="576"/>
                  </a:spcBef>
                  <a:defRPr sz="2000">
                    <a:solidFill>
                      <a:srgbClr val="000000"/>
                    </a:solidFill>
                    <a:latin typeface="Garamond"/>
                  </a:defRPr>
                </a:pPr>
                <a:r>
                  <a:rPr lang="en-US" altLang="zh-TW" sz="2000" dirty="0"/>
                  <a:t>If </a:t>
                </a:r>
                <a14:m>
                  <m:oMath xmlns:m="http://schemas.openxmlformats.org/officeDocument/2006/math">
                    <m:sSub>
                      <m:sSubPr>
                        <m:ctrlPr>
                          <a:rPr lang="en-US" altLang="zh-TW" sz="2000" i="1">
                            <a:latin typeface="Cambria Math" panose="02040503050406030204" pitchFamily="18" charset="0"/>
                          </a:rPr>
                        </m:ctrlPr>
                      </m:sSubPr>
                      <m:e>
                        <m:r>
                          <m:rPr>
                            <m:nor/>
                          </m:rPr>
                          <a:rPr lang="en-US" altLang="zh-TW" sz="2000" dirty="0"/>
                          <m:t>P</m:t>
                        </m:r>
                      </m:e>
                      <m:sub>
                        <m:r>
                          <m:rPr>
                            <m:nor/>
                          </m:rPr>
                          <a:rPr lang="en-US" altLang="zh-TW" sz="2000" dirty="0"/>
                          <m:t>W</m:t>
                        </m:r>
                      </m:sub>
                    </m:sSub>
                    <m:r>
                      <m:rPr>
                        <m:nor/>
                      </m:rPr>
                      <a:rPr lang="en-US" altLang="zh-TW" sz="2000" dirty="0"/>
                      <m:t>&lt;</m:t>
                    </m:r>
                    <m:sSub>
                      <m:sSubPr>
                        <m:ctrlPr>
                          <a:rPr lang="en-US" altLang="zh-TW" sz="2000" i="1">
                            <a:latin typeface="Cambria Math" panose="02040503050406030204" pitchFamily="18" charset="0"/>
                          </a:rPr>
                        </m:ctrlPr>
                      </m:sSubPr>
                      <m:e>
                        <m:r>
                          <m:rPr>
                            <m:nor/>
                          </m:rPr>
                          <a:rPr lang="en-US" altLang="zh-TW" sz="2000" dirty="0"/>
                          <m:t>P</m:t>
                        </m:r>
                      </m:e>
                      <m:sub>
                        <m:r>
                          <m:rPr>
                            <m:nor/>
                          </m:rPr>
                          <a:rPr lang="en-US" altLang="zh-TW" sz="2000" dirty="0"/>
                          <m:t>D</m:t>
                        </m:r>
                      </m:sub>
                    </m:sSub>
                  </m:oMath>
                </a14:m>
                <a:r>
                  <a:rPr lang="en-US" altLang="zh-TW" sz="2000" dirty="0"/>
                  <a:t>, the domestic price will fall to match the world price (price of imported goods).</a:t>
                </a:r>
              </a:p>
              <a:p>
                <a:pPr lvl="1">
                  <a:spcBef>
                    <a:spcPts val="576"/>
                  </a:spcBef>
                  <a:defRPr sz="2000">
                    <a:solidFill>
                      <a:srgbClr val="000000"/>
                    </a:solidFill>
                    <a:latin typeface="Garamond"/>
                  </a:defRPr>
                </a:pPr>
                <a:r>
                  <a:rPr lang="en-US" altLang="zh-TW" sz="2000" dirty="0"/>
                  <a:t>If </a:t>
                </a:r>
                <a14:m>
                  <m:oMath xmlns:m="http://schemas.openxmlformats.org/officeDocument/2006/math">
                    <m:sSub>
                      <m:sSubPr>
                        <m:ctrlPr>
                          <a:rPr lang="en-US" altLang="zh-TW" sz="2000" i="1">
                            <a:latin typeface="Cambria Math" panose="02040503050406030204" pitchFamily="18" charset="0"/>
                          </a:rPr>
                        </m:ctrlPr>
                      </m:sSubPr>
                      <m:e>
                        <m:r>
                          <m:rPr>
                            <m:nor/>
                          </m:rPr>
                          <a:rPr lang="en-US" altLang="zh-TW" sz="2000" dirty="0"/>
                          <m:t>P</m:t>
                        </m:r>
                      </m:e>
                      <m:sub>
                        <m:r>
                          <m:rPr>
                            <m:nor/>
                          </m:rPr>
                          <a:rPr lang="en-US" altLang="zh-TW" sz="2000" dirty="0"/>
                          <m:t>W</m:t>
                        </m:r>
                      </m:sub>
                    </m:sSub>
                    <m:r>
                      <m:rPr>
                        <m:nor/>
                      </m:rPr>
                      <a:rPr lang="en-US" altLang="zh-TW" sz="2000" b="0" i="0" dirty="0" smtClean="0"/>
                      <m:t>&gt;</m:t>
                    </m:r>
                    <m:sSub>
                      <m:sSubPr>
                        <m:ctrlPr>
                          <a:rPr lang="en-US" altLang="zh-TW" sz="2000" i="1">
                            <a:latin typeface="Cambria Math" panose="02040503050406030204" pitchFamily="18" charset="0"/>
                          </a:rPr>
                        </m:ctrlPr>
                      </m:sSubPr>
                      <m:e>
                        <m:r>
                          <m:rPr>
                            <m:nor/>
                          </m:rPr>
                          <a:rPr lang="en-US" altLang="zh-TW" sz="2000" dirty="0"/>
                          <m:t>P</m:t>
                        </m:r>
                      </m:e>
                      <m:sub>
                        <m:r>
                          <m:rPr>
                            <m:nor/>
                          </m:rPr>
                          <a:rPr lang="en-US" altLang="zh-TW" sz="2000" dirty="0"/>
                          <m:t>D</m:t>
                        </m:r>
                      </m:sub>
                    </m:sSub>
                  </m:oMath>
                </a14:m>
                <a:r>
                  <a:rPr lang="en-US" altLang="zh-TW" sz="2000" dirty="0"/>
                  <a:t>, the domestic price will rise to match the world price (price of domestic exports).</a:t>
                </a:r>
              </a:p>
              <a:p>
                <a:pPr lvl="3">
                  <a:spcBef>
                    <a:spcPts val="576"/>
                  </a:spcBef>
                  <a:defRPr sz="2000">
                    <a:solidFill>
                      <a:srgbClr val="000000"/>
                    </a:solidFill>
                    <a:latin typeface="Garamond"/>
                  </a:defRPr>
                </a:pPr>
                <a:endParaRPr lang="en-US" altLang="zh-TW" sz="1200" dirty="0"/>
              </a:p>
              <a:p>
                <a:pPr>
                  <a:spcBef>
                    <a:spcPts val="576"/>
                  </a:spcBef>
                  <a:defRPr sz="2000">
                    <a:solidFill>
                      <a:srgbClr val="000000"/>
                    </a:solidFill>
                    <a:latin typeface="Garamond"/>
                  </a:defRPr>
                </a:pPr>
                <a:r>
                  <a:rPr lang="en-US" altLang="zh-TW" sz="2400" dirty="0"/>
                  <a:t>Tariffs on imports raise the domestic price above the world price by the amount of the tariff.</a:t>
                </a:r>
              </a:p>
              <a:p>
                <a:pPr lvl="3">
                  <a:spcBef>
                    <a:spcPts val="576"/>
                  </a:spcBef>
                  <a:defRPr sz="2000">
                    <a:solidFill>
                      <a:srgbClr val="000000"/>
                    </a:solidFill>
                    <a:latin typeface="Garamond"/>
                  </a:defRPr>
                </a:pPr>
                <a:endParaRPr lang="en-US" altLang="zh-TW" sz="1200" dirty="0"/>
              </a:p>
              <a:p>
                <a:pPr>
                  <a:spcBef>
                    <a:spcPts val="576"/>
                  </a:spcBef>
                  <a:defRPr sz="2000">
                    <a:solidFill>
                      <a:srgbClr val="000000"/>
                    </a:solidFill>
                    <a:latin typeface="Garamond"/>
                  </a:defRPr>
                </a:pPr>
                <a:r>
                  <a:rPr lang="en-US" altLang="zh-TW" sz="2400" dirty="0"/>
                  <a:t>As a result, the tariff reduces the quantity of imports and moves the domestic market closer to its pre-trade equilibrium.</a:t>
                </a:r>
              </a:p>
              <a:p>
                <a:pPr lvl="1">
                  <a:spcBef>
                    <a:spcPts val="576"/>
                  </a:spcBef>
                  <a:defRPr sz="2000">
                    <a:solidFill>
                      <a:srgbClr val="000000"/>
                    </a:solidFill>
                    <a:latin typeface="Garamond"/>
                  </a:defRPr>
                </a:pPr>
                <a:endParaRPr lang="en-US" altLang="zh-TW" sz="2000" dirty="0"/>
              </a:p>
              <a:p>
                <a:pPr lvl="1">
                  <a:spcBef>
                    <a:spcPts val="576"/>
                  </a:spcBef>
                  <a:defRPr sz="2000">
                    <a:solidFill>
                      <a:srgbClr val="000000"/>
                    </a:solidFill>
                    <a:latin typeface="Garamond"/>
                  </a:defRPr>
                </a:pPr>
                <a:endParaRPr lang="en-US" altLang="zh-TW" sz="2000" dirty="0"/>
              </a:p>
            </p:txBody>
          </p:sp>
        </mc:Choice>
        <mc:Fallback xmlns="">
          <p:sp>
            <p:nvSpPr>
              <p:cNvPr id="3" name="Content Placeholder 2">
                <a:extLst>
                  <a:ext uri="{FF2B5EF4-FFF2-40B4-BE49-F238E27FC236}">
                    <a16:creationId xmlns:a16="http://schemas.microsoft.com/office/drawing/2014/main" id="{1B569620-012D-B7DC-59FB-849D27130F0D}"/>
                  </a:ext>
                </a:extLst>
              </p:cNvPr>
              <p:cNvSpPr>
                <a:spLocks noGrp="1" noRot="1" noChangeAspect="1" noMove="1" noResize="1" noEditPoints="1" noAdjustHandles="1" noChangeArrowheads="1" noChangeShapeType="1" noTextEdit="1"/>
              </p:cNvSpPr>
              <p:nvPr>
                <p:ph idx="1"/>
              </p:nvPr>
            </p:nvSpPr>
            <p:spPr>
              <a:xfrm>
                <a:off x="457199" y="1300900"/>
                <a:ext cx="11189855" cy="5081046"/>
              </a:xfrm>
              <a:blipFill>
                <a:blip r:embed="rId2"/>
                <a:stretch>
                  <a:fillRect l="-708" t="-959"/>
                </a:stretch>
              </a:blipFill>
            </p:spPr>
            <p:txBody>
              <a:bodyPr/>
              <a:lstStyle/>
              <a:p>
                <a:r>
                  <a:rPr lang="en-US">
                    <a:noFill/>
                  </a:rPr>
                  <a:t> </a:t>
                </a:r>
              </a:p>
            </p:txBody>
          </p:sp>
        </mc:Fallback>
      </mc:AlternateContent>
    </p:spTree>
    <p:extLst>
      <p:ext uri="{BB962C8B-B14F-4D97-AF65-F5344CB8AC3E}">
        <p14:creationId xmlns:p14="http://schemas.microsoft.com/office/powerpoint/2010/main" val="1516955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C6E67-379B-61B4-4B26-F102D26E332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1B1C85F-37C6-03F4-C9DE-BAE39DBA393E}"/>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7327114-4E9E-AACF-9285-FF40EB0F5BA1}"/>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Tariffs on Imports: </a:t>
                </a:r>
                <a14:m>
                  <m:oMath xmlns:m="http://schemas.openxmlformats.org/officeDocument/2006/math">
                    <m:sSub>
                      <m:sSubPr>
                        <m:ctrlPr>
                          <a:rPr lang="en-US" altLang="zh-TW" sz="4000" i="1" smtClean="0">
                            <a:solidFill>
                              <a:schemeClr val="bg1"/>
                            </a:solidFill>
                            <a:latin typeface="Cambria Math" panose="02040503050406030204" pitchFamily="18" charset="0"/>
                          </a:rPr>
                        </m:ctrlPr>
                      </m:sSubPr>
                      <m:e>
                        <m:r>
                          <m:rPr>
                            <m:nor/>
                          </m:rPr>
                          <a:rPr lang="en-US" altLang="zh-TW" sz="4000" dirty="0">
                            <a:solidFill>
                              <a:schemeClr val="bg1"/>
                            </a:solidFill>
                          </a:rPr>
                          <m:t>P</m:t>
                        </m:r>
                      </m:e>
                      <m:sub>
                        <m:r>
                          <m:rPr>
                            <m:nor/>
                          </m:rPr>
                          <a:rPr lang="en-US" altLang="zh-TW" sz="4000" dirty="0">
                            <a:solidFill>
                              <a:schemeClr val="bg1"/>
                            </a:solidFill>
                          </a:rPr>
                          <m:t>W</m:t>
                        </m:r>
                      </m:sub>
                    </m:sSub>
                    <m:r>
                      <m:rPr>
                        <m:nor/>
                      </m:rPr>
                      <a:rPr lang="en-US" altLang="zh-TW" sz="4000" b="1" i="0" dirty="0" smtClean="0">
                        <a:solidFill>
                          <a:schemeClr val="bg1"/>
                        </a:solidFill>
                      </a:rPr>
                      <m:t>&lt;</m:t>
                    </m:r>
                    <m:sSub>
                      <m:sSubPr>
                        <m:ctrlPr>
                          <a:rPr lang="en-US" altLang="zh-TW" sz="4000" i="1">
                            <a:solidFill>
                              <a:schemeClr val="bg1"/>
                            </a:solidFill>
                            <a:latin typeface="Cambria Math" panose="02040503050406030204" pitchFamily="18" charset="0"/>
                          </a:rPr>
                        </m:ctrlPr>
                      </m:sSubPr>
                      <m:e>
                        <m:r>
                          <m:rPr>
                            <m:nor/>
                          </m:rPr>
                          <a:rPr lang="en-US" altLang="zh-TW" sz="4000" dirty="0">
                            <a:solidFill>
                              <a:schemeClr val="bg1"/>
                            </a:solidFill>
                          </a:rPr>
                          <m:t>P</m:t>
                        </m:r>
                      </m:e>
                      <m:sub>
                        <m:r>
                          <m:rPr>
                            <m:nor/>
                          </m:rPr>
                          <a:rPr lang="en-US" altLang="zh-TW" sz="4000" dirty="0">
                            <a:solidFill>
                              <a:schemeClr val="bg1"/>
                            </a:solidFill>
                          </a:rPr>
                          <m:t>D</m:t>
                        </m:r>
                      </m:sub>
                    </m:sSub>
                  </m:oMath>
                </a14:m>
                <a:endParaRPr lang="en-US" sz="4000" dirty="0">
                  <a:solidFill>
                    <a:schemeClr val="bg1"/>
                  </a:solidFill>
                </a:endParaRPr>
              </a:p>
            </p:txBody>
          </p:sp>
        </mc:Choice>
        <mc:Fallback xmlns="">
          <p:sp>
            <p:nvSpPr>
              <p:cNvPr id="2" name="Title 1">
                <a:extLst>
                  <a:ext uri="{FF2B5EF4-FFF2-40B4-BE49-F238E27FC236}">
                    <a16:creationId xmlns:a16="http://schemas.microsoft.com/office/drawing/2014/main" id="{D7327114-4E9E-AACF-9285-FF40EB0F5BA1}"/>
                  </a:ext>
                </a:extLst>
              </p:cNvPr>
              <p:cNvSpPr>
                <a:spLocks noGrp="1" noRot="1" noChangeAspect="1" noMove="1" noResize="1" noEditPoints="1" noAdjustHandles="1" noChangeArrowheads="1" noChangeShapeType="1" noTextEdit="1"/>
              </p:cNvSpPr>
              <p:nvPr>
                <p:ph type="title"/>
              </p:nvPr>
            </p:nvSpPr>
            <p:spPr>
              <a:xfrm>
                <a:off x="0" y="0"/>
                <a:ext cx="12188825" cy="923636"/>
              </a:xfrm>
              <a:blipFill>
                <a:blip r:embed="rId2"/>
                <a:stretch>
                  <a:fillRect b="-16447"/>
                </a:stretch>
              </a:blipFill>
            </p:spPr>
            <p:txBody>
              <a:bodyPr/>
              <a:lstStyle/>
              <a:p>
                <a:r>
                  <a:rPr lang="en-US">
                    <a:noFill/>
                  </a:rPr>
                  <a:t> </a:t>
                </a:r>
              </a:p>
            </p:txBody>
          </p:sp>
        </mc:Fallback>
      </mc:AlternateContent>
      <p:sp>
        <p:nvSpPr>
          <p:cNvPr id="5" name="Rectangle 4">
            <a:extLst>
              <a:ext uri="{FF2B5EF4-FFF2-40B4-BE49-F238E27FC236}">
                <a16:creationId xmlns:a16="http://schemas.microsoft.com/office/drawing/2014/main" id="{739C41B3-66AF-943D-6EC2-DB6451406B77}"/>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7C07FA30-D61D-A825-160D-439475E82713}"/>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8178F2DA-ABF4-A662-251A-32E9E172BE0B}"/>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18</a:t>
            </a:fld>
            <a:r>
              <a:rPr lang="en-US" b="1" dirty="0">
                <a:solidFill>
                  <a:schemeClr val="bg1"/>
                </a:solidFill>
                <a:latin typeface="Garamond" panose="02020404030301010803" pitchFamily="18" charset="0"/>
              </a:rPr>
              <a:t> </a:t>
            </a:r>
          </a:p>
        </p:txBody>
      </p:sp>
      <p:sp>
        <p:nvSpPr>
          <p:cNvPr id="3" name="Content Placeholder 2">
            <a:extLst>
              <a:ext uri="{FF2B5EF4-FFF2-40B4-BE49-F238E27FC236}">
                <a16:creationId xmlns:a16="http://schemas.microsoft.com/office/drawing/2014/main" id="{3E7E1E01-C0D5-108F-3ED1-B7F9AC985EDF}"/>
              </a:ext>
            </a:extLst>
          </p:cNvPr>
          <p:cNvSpPr>
            <a:spLocks noGrp="1"/>
          </p:cNvSpPr>
          <p:nvPr>
            <p:ph idx="1"/>
          </p:nvPr>
        </p:nvSpPr>
        <p:spPr>
          <a:xfrm>
            <a:off x="5029199" y="1300900"/>
            <a:ext cx="6702428" cy="4937975"/>
          </a:xfrm>
        </p:spPr>
        <p:txBody>
          <a:bodyPr>
            <a:normAutofit/>
          </a:bodyPr>
          <a:lstStyle/>
          <a:p>
            <a:pPr>
              <a:spcBef>
                <a:spcPts val="576"/>
              </a:spcBef>
              <a:defRPr sz="2000">
                <a:solidFill>
                  <a:srgbClr val="000000"/>
                </a:solidFill>
                <a:latin typeface="Garamond"/>
              </a:defRPr>
            </a:pPr>
            <a:r>
              <a:rPr lang="en-US" altLang="zh-TW" sz="2400" dirty="0"/>
              <a:t>Suppose that a new $1 per-unit tariff is enacted.</a:t>
            </a:r>
          </a:p>
          <a:p>
            <a:pPr lvl="3">
              <a:spcBef>
                <a:spcPts val="576"/>
              </a:spcBef>
              <a:defRPr sz="2000">
                <a:solidFill>
                  <a:srgbClr val="000000"/>
                </a:solidFill>
                <a:latin typeface="Garamond"/>
              </a:defRPr>
            </a:pPr>
            <a:endParaRPr lang="en-US" altLang="zh-TW" sz="1200" dirty="0"/>
          </a:p>
          <a:p>
            <a:pPr>
              <a:spcBef>
                <a:spcPts val="576"/>
              </a:spcBef>
              <a:defRPr sz="2000">
                <a:solidFill>
                  <a:srgbClr val="000000"/>
                </a:solidFill>
                <a:latin typeface="Garamond"/>
              </a:defRPr>
            </a:pPr>
            <a:r>
              <a:rPr lang="en-US" altLang="zh-TW" sz="2400" dirty="0"/>
              <a:t>Compared to the free-trade example, the price rises by the amount of the tariff.</a:t>
            </a:r>
          </a:p>
          <a:p>
            <a:pPr lvl="1">
              <a:spcBef>
                <a:spcPts val="576"/>
              </a:spcBef>
              <a:defRPr sz="2000">
                <a:solidFill>
                  <a:srgbClr val="000000"/>
                </a:solidFill>
                <a:latin typeface="Garamond"/>
              </a:defRPr>
            </a:pPr>
            <a:r>
              <a:rPr lang="en-US" altLang="zh-TW" sz="2000" dirty="0"/>
              <a:t>Now, the world price is effectively $3.</a:t>
            </a:r>
          </a:p>
          <a:p>
            <a:pPr lvl="3">
              <a:spcBef>
                <a:spcPts val="576"/>
              </a:spcBef>
              <a:defRPr sz="2000">
                <a:solidFill>
                  <a:srgbClr val="000000"/>
                </a:solidFill>
                <a:latin typeface="Garamond"/>
              </a:defRPr>
            </a:pPr>
            <a:endParaRPr lang="en-US" altLang="zh-TW" sz="1200" dirty="0"/>
          </a:p>
          <a:p>
            <a:pPr>
              <a:spcBef>
                <a:spcPts val="576"/>
              </a:spcBef>
              <a:defRPr sz="2000">
                <a:solidFill>
                  <a:srgbClr val="000000"/>
                </a:solidFill>
                <a:latin typeface="Garamond"/>
              </a:defRPr>
            </a:pPr>
            <a:r>
              <a:rPr lang="en-US" altLang="zh-TW" sz="2400" dirty="0"/>
              <a:t>The market responds by:</a:t>
            </a:r>
          </a:p>
          <a:p>
            <a:pPr lvl="1">
              <a:spcBef>
                <a:spcPts val="576"/>
              </a:spcBef>
              <a:defRPr sz="2000">
                <a:solidFill>
                  <a:srgbClr val="000000"/>
                </a:solidFill>
                <a:latin typeface="Garamond"/>
              </a:defRPr>
            </a:pPr>
            <a:r>
              <a:rPr lang="en-US" altLang="zh-TW" sz="2000" dirty="0"/>
              <a:t>Domestic quantity demanded decreases to 70 units.</a:t>
            </a:r>
          </a:p>
          <a:p>
            <a:pPr lvl="1">
              <a:spcBef>
                <a:spcPts val="576"/>
              </a:spcBef>
              <a:defRPr sz="2000">
                <a:solidFill>
                  <a:srgbClr val="000000"/>
                </a:solidFill>
                <a:latin typeface="Garamond"/>
              </a:defRPr>
            </a:pPr>
            <a:r>
              <a:rPr lang="en-US" altLang="zh-TW" sz="2000" dirty="0"/>
              <a:t>Domestic quantity supplied increases to 30 units.</a:t>
            </a:r>
          </a:p>
          <a:p>
            <a:pPr lvl="1">
              <a:spcBef>
                <a:spcPts val="576"/>
              </a:spcBef>
              <a:defRPr sz="2000">
                <a:solidFill>
                  <a:srgbClr val="000000"/>
                </a:solidFill>
                <a:latin typeface="Garamond"/>
              </a:defRPr>
            </a:pPr>
            <a:r>
              <a:rPr lang="en-US" altLang="zh-TW" sz="2000" dirty="0"/>
              <a:t>Imports fall to 40 units (previously 60).</a:t>
            </a:r>
          </a:p>
          <a:p>
            <a:pPr lvl="3">
              <a:spcBef>
                <a:spcPts val="576"/>
              </a:spcBef>
              <a:defRPr sz="2000">
                <a:solidFill>
                  <a:srgbClr val="000000"/>
                </a:solidFill>
                <a:latin typeface="Garamond"/>
              </a:defRPr>
            </a:pPr>
            <a:endParaRPr lang="en-US" altLang="zh-TW" sz="1200" dirty="0"/>
          </a:p>
          <a:p>
            <a:pPr>
              <a:spcBef>
                <a:spcPts val="576"/>
              </a:spcBef>
              <a:defRPr sz="2000">
                <a:solidFill>
                  <a:srgbClr val="000000"/>
                </a:solidFill>
                <a:latin typeface="Garamond"/>
              </a:defRPr>
            </a:pPr>
            <a:r>
              <a:rPr lang="en-US" altLang="zh-TW" sz="2400" dirty="0"/>
              <a:t>The market approaches its closed economy (autarky) equilibrium.</a:t>
            </a:r>
          </a:p>
          <a:p>
            <a:pPr>
              <a:spcBef>
                <a:spcPts val="576"/>
              </a:spcBef>
              <a:defRPr sz="2000">
                <a:solidFill>
                  <a:srgbClr val="000000"/>
                </a:solidFill>
                <a:latin typeface="Garamond"/>
              </a:defRPr>
            </a:pPr>
            <a:endParaRPr lang="en-US" altLang="zh-TW" sz="2400" dirty="0"/>
          </a:p>
          <a:p>
            <a:pPr>
              <a:spcBef>
                <a:spcPts val="576"/>
              </a:spcBef>
              <a:defRPr sz="2000">
                <a:solidFill>
                  <a:srgbClr val="000000"/>
                </a:solidFill>
                <a:latin typeface="Garamond"/>
              </a:defRPr>
            </a:pPr>
            <a:endParaRPr lang="en-US" altLang="zh-TW" sz="2000" dirty="0"/>
          </a:p>
        </p:txBody>
      </p:sp>
      <p:pic>
        <p:nvPicPr>
          <p:cNvPr id="10" name="Picture 9">
            <a:extLst>
              <a:ext uri="{FF2B5EF4-FFF2-40B4-BE49-F238E27FC236}">
                <a16:creationId xmlns:a16="http://schemas.microsoft.com/office/drawing/2014/main" id="{0D79D8E4-9F2F-F0D3-5423-C5E235C18F09}"/>
              </a:ext>
            </a:extLst>
          </p:cNvPr>
          <p:cNvPicPr>
            <a:picLocks noChangeAspect="1"/>
          </p:cNvPicPr>
          <p:nvPr/>
        </p:nvPicPr>
        <p:blipFill>
          <a:blip r:embed="rId3"/>
          <a:srcRect/>
          <a:stretch/>
        </p:blipFill>
        <p:spPr>
          <a:xfrm>
            <a:off x="457198" y="1300900"/>
            <a:ext cx="4572000" cy="4572000"/>
          </a:xfrm>
          <a:prstGeom prst="rect">
            <a:avLst/>
          </a:prstGeom>
        </p:spPr>
      </p:pic>
      <p:pic>
        <p:nvPicPr>
          <p:cNvPr id="9" name="Picture 8" descr="A graph of a line&#10;&#10;AI-generated content may be incorrect.">
            <a:extLst>
              <a:ext uri="{FF2B5EF4-FFF2-40B4-BE49-F238E27FC236}">
                <a16:creationId xmlns:a16="http://schemas.microsoft.com/office/drawing/2014/main" id="{D85C3E9F-75EC-6510-AE09-3DD95845458D}"/>
              </a:ext>
            </a:extLst>
          </p:cNvPr>
          <p:cNvPicPr>
            <a:picLocks noChangeAspect="1"/>
          </p:cNvPicPr>
          <p:nvPr/>
        </p:nvPicPr>
        <p:blipFill>
          <a:blip r:embed="rId4"/>
          <a:stretch>
            <a:fillRect/>
          </a:stretch>
        </p:blipFill>
        <p:spPr>
          <a:xfrm>
            <a:off x="457199" y="1300900"/>
            <a:ext cx="4572000" cy="4572000"/>
          </a:xfrm>
          <a:prstGeom prst="rect">
            <a:avLst/>
          </a:prstGeom>
        </p:spPr>
      </p:pic>
      <p:pic>
        <p:nvPicPr>
          <p:cNvPr id="16" name="Picture 15" descr="A graph of a graph with colored lines&#10;&#10;AI-generated content may be incorrect.">
            <a:extLst>
              <a:ext uri="{FF2B5EF4-FFF2-40B4-BE49-F238E27FC236}">
                <a16:creationId xmlns:a16="http://schemas.microsoft.com/office/drawing/2014/main" id="{D7196F8E-7B3E-82B5-A3D9-AE4829DE50EA}"/>
              </a:ext>
            </a:extLst>
          </p:cNvPr>
          <p:cNvPicPr>
            <a:picLocks noChangeAspect="1"/>
          </p:cNvPicPr>
          <p:nvPr/>
        </p:nvPicPr>
        <p:blipFill>
          <a:blip r:embed="rId5"/>
          <a:stretch>
            <a:fillRect/>
          </a:stretch>
        </p:blipFill>
        <p:spPr>
          <a:xfrm>
            <a:off x="457199" y="1300900"/>
            <a:ext cx="4572000" cy="4572000"/>
          </a:xfrm>
          <a:prstGeom prst="rect">
            <a:avLst/>
          </a:prstGeom>
        </p:spPr>
      </p:pic>
    </p:spTree>
    <p:extLst>
      <p:ext uri="{BB962C8B-B14F-4D97-AF65-F5344CB8AC3E}">
        <p14:creationId xmlns:p14="http://schemas.microsoft.com/office/powerpoint/2010/main" val="3913000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fade">
                                      <p:cBhvr>
                                        <p:cTn id="23" dur="500"/>
                                        <p:tgtEl>
                                          <p:spTgt spid="3">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500"/>
                                        <p:tgtEl>
                                          <p:spTgt spid="3">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fade">
                                      <p:cBhvr>
                                        <p:cTn id="33" dur="500"/>
                                        <p:tgtEl>
                                          <p:spTgt spid="3">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fade">
                                      <p:cBhvr>
                                        <p:cTn id="38" dur="500"/>
                                        <p:tgtEl>
                                          <p:spTgt spid="3">
                                            <p:txEl>
                                              <p:pRg st="7" end="7"/>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Effect transition="in" filter="fade">
                                      <p:cBhvr>
                                        <p:cTn id="43" dur="500"/>
                                        <p:tgtEl>
                                          <p:spTgt spid="3">
                                            <p:txEl>
                                              <p:pRg st="8" end="8"/>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500"/>
                                        <p:tgtEl>
                                          <p:spTgt spid="16"/>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3">
                                            <p:txEl>
                                              <p:pRg st="10" end="10"/>
                                            </p:txEl>
                                          </p:spTgt>
                                        </p:tgtEl>
                                        <p:attrNameLst>
                                          <p:attrName>style.visibility</p:attrName>
                                        </p:attrNameLst>
                                      </p:cBhvr>
                                      <p:to>
                                        <p:strVal val="visible"/>
                                      </p:to>
                                    </p:set>
                                    <p:animEffect transition="in" filter="fade">
                                      <p:cBhvr>
                                        <p:cTn id="53"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AFB7C4-C453-4C60-D443-84083F5861F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9A17953-E862-3922-DC3E-2AEC0CB1BE7F}"/>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4898A9B-E567-AB2E-6A69-D1C1B2A6D214}"/>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Tariffs on Imports: Consumers’ Loss</a:t>
            </a:r>
          </a:p>
        </p:txBody>
      </p:sp>
      <p:sp>
        <p:nvSpPr>
          <p:cNvPr id="5" name="Rectangle 4">
            <a:extLst>
              <a:ext uri="{FF2B5EF4-FFF2-40B4-BE49-F238E27FC236}">
                <a16:creationId xmlns:a16="http://schemas.microsoft.com/office/drawing/2014/main" id="{C5896D04-DC98-1D21-FBAD-9AB78911CAB0}"/>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F2340092-E5C3-F5FF-389D-5234603FF696}"/>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88424B00-A83C-F0D5-4645-BB870112129E}"/>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19</a:t>
            </a:fld>
            <a:r>
              <a:rPr lang="en-US" b="1" dirty="0">
                <a:solidFill>
                  <a:schemeClr val="bg1"/>
                </a:solidFill>
                <a:latin typeface="Garamond" panose="02020404030301010803" pitchFamily="18" charset="0"/>
              </a:rPr>
              <a:t> </a:t>
            </a:r>
          </a:p>
        </p:txBody>
      </p:sp>
      <p:sp>
        <p:nvSpPr>
          <p:cNvPr id="3" name="Content Placeholder 2">
            <a:extLst>
              <a:ext uri="{FF2B5EF4-FFF2-40B4-BE49-F238E27FC236}">
                <a16:creationId xmlns:a16="http://schemas.microsoft.com/office/drawing/2014/main" id="{F0FE8C39-DD20-138F-BCF0-63D6B7EF8E49}"/>
              </a:ext>
            </a:extLst>
          </p:cNvPr>
          <p:cNvSpPr>
            <a:spLocks noGrp="1"/>
          </p:cNvSpPr>
          <p:nvPr>
            <p:ph idx="1"/>
          </p:nvPr>
        </p:nvSpPr>
        <p:spPr>
          <a:xfrm>
            <a:off x="5029199" y="1300900"/>
            <a:ext cx="6702428" cy="4937975"/>
          </a:xfrm>
        </p:spPr>
        <p:txBody>
          <a:bodyPr>
            <a:normAutofit/>
          </a:bodyPr>
          <a:lstStyle/>
          <a:p>
            <a:pPr>
              <a:spcBef>
                <a:spcPts val="576"/>
              </a:spcBef>
              <a:defRPr sz="2000">
                <a:solidFill>
                  <a:srgbClr val="000000"/>
                </a:solidFill>
                <a:latin typeface="Garamond"/>
              </a:defRPr>
            </a:pPr>
            <a:r>
              <a:rPr lang="en-US" altLang="zh-TW" sz="2400" dirty="0"/>
              <a:t>Let’s examine the welfare implications of tariffs.</a:t>
            </a:r>
          </a:p>
          <a:p>
            <a:pPr lvl="4">
              <a:spcBef>
                <a:spcPts val="576"/>
              </a:spcBef>
              <a:defRPr sz="2000">
                <a:solidFill>
                  <a:srgbClr val="000000"/>
                </a:solidFill>
                <a:latin typeface="Garamond"/>
              </a:defRPr>
            </a:pPr>
            <a:endParaRPr lang="en-US" altLang="zh-TW" sz="1200" dirty="0"/>
          </a:p>
          <a:p>
            <a:pPr>
              <a:spcBef>
                <a:spcPts val="576"/>
              </a:spcBef>
              <a:defRPr sz="2000">
                <a:solidFill>
                  <a:srgbClr val="000000"/>
                </a:solidFill>
                <a:latin typeface="Garamond"/>
              </a:defRPr>
            </a:pPr>
            <a:r>
              <a:rPr lang="en-US" altLang="zh-TW" sz="2400" dirty="0"/>
              <a:t>Consumer Surplus:</a:t>
            </a:r>
          </a:p>
          <a:p>
            <a:pPr lvl="1">
              <a:spcBef>
                <a:spcPts val="576"/>
              </a:spcBef>
              <a:defRPr sz="2000">
                <a:solidFill>
                  <a:srgbClr val="000000"/>
                </a:solidFill>
                <a:latin typeface="Garamond"/>
              </a:defRPr>
            </a:pPr>
            <a:r>
              <a:rPr lang="en-US" altLang="zh-TW" sz="2000" dirty="0"/>
              <a:t>Free Trade: A+B+C+D+E+F</a:t>
            </a:r>
          </a:p>
          <a:p>
            <a:pPr lvl="1">
              <a:spcBef>
                <a:spcPts val="576"/>
              </a:spcBef>
              <a:defRPr sz="2000">
                <a:solidFill>
                  <a:srgbClr val="000000"/>
                </a:solidFill>
                <a:latin typeface="Garamond"/>
              </a:defRPr>
            </a:pPr>
            <a:r>
              <a:rPr lang="en-US" altLang="zh-TW" sz="2000" dirty="0"/>
              <a:t>Tariffs: A+B</a:t>
            </a:r>
          </a:p>
          <a:p>
            <a:pPr lvl="1">
              <a:spcBef>
                <a:spcPts val="576"/>
              </a:spcBef>
              <a:defRPr sz="2000">
                <a:solidFill>
                  <a:srgbClr val="000000"/>
                </a:solidFill>
                <a:latin typeface="Garamond"/>
              </a:defRPr>
            </a:pPr>
            <a:r>
              <a:rPr lang="en-US" altLang="zh-TW" sz="2000" dirty="0"/>
              <a:t>Loss: C+D+E+F</a:t>
            </a:r>
          </a:p>
          <a:p>
            <a:pPr lvl="4">
              <a:spcBef>
                <a:spcPts val="576"/>
              </a:spcBef>
              <a:defRPr sz="2000">
                <a:solidFill>
                  <a:srgbClr val="000000"/>
                </a:solidFill>
                <a:latin typeface="Garamond"/>
              </a:defRPr>
            </a:pPr>
            <a:endParaRPr lang="en-US" altLang="zh-TW" sz="1200" dirty="0"/>
          </a:p>
          <a:p>
            <a:pPr>
              <a:spcBef>
                <a:spcPts val="576"/>
              </a:spcBef>
              <a:defRPr sz="2000">
                <a:solidFill>
                  <a:srgbClr val="000000"/>
                </a:solidFill>
                <a:latin typeface="Garamond"/>
              </a:defRPr>
            </a:pPr>
            <a:r>
              <a:rPr lang="en-US" altLang="zh-TW" sz="2400" dirty="0"/>
              <a:t>Tariffs make consumers worse off, because they now pay a higher price.</a:t>
            </a:r>
          </a:p>
          <a:p>
            <a:pPr lvl="3">
              <a:spcBef>
                <a:spcPts val="576"/>
              </a:spcBef>
              <a:defRPr sz="2000">
                <a:solidFill>
                  <a:srgbClr val="000000"/>
                </a:solidFill>
                <a:latin typeface="Garamond"/>
              </a:defRPr>
            </a:pPr>
            <a:endParaRPr lang="en-US" altLang="zh-TW" sz="1200" dirty="0"/>
          </a:p>
          <a:p>
            <a:pPr>
              <a:spcBef>
                <a:spcPts val="576"/>
              </a:spcBef>
              <a:defRPr sz="2000">
                <a:solidFill>
                  <a:srgbClr val="000000"/>
                </a:solidFill>
                <a:latin typeface="Garamond"/>
              </a:defRPr>
            </a:pPr>
            <a:r>
              <a:rPr lang="en-US" altLang="zh-TW" sz="2400" dirty="0"/>
              <a:t>A portion of this loss is absorbed by the domestic producers.</a:t>
            </a:r>
          </a:p>
          <a:p>
            <a:pPr lvl="3">
              <a:spcBef>
                <a:spcPts val="576"/>
              </a:spcBef>
              <a:defRPr sz="2000">
                <a:solidFill>
                  <a:srgbClr val="000000"/>
                </a:solidFill>
                <a:latin typeface="Garamond"/>
              </a:defRPr>
            </a:pPr>
            <a:endParaRPr lang="en-US" altLang="zh-TW" sz="1200" dirty="0"/>
          </a:p>
          <a:p>
            <a:pPr>
              <a:spcBef>
                <a:spcPts val="576"/>
              </a:spcBef>
              <a:defRPr sz="2000">
                <a:solidFill>
                  <a:srgbClr val="000000"/>
                </a:solidFill>
                <a:latin typeface="Garamond"/>
              </a:defRPr>
            </a:pPr>
            <a:endParaRPr lang="en-US" altLang="zh-TW" sz="2400" dirty="0"/>
          </a:p>
          <a:p>
            <a:pPr>
              <a:spcBef>
                <a:spcPts val="576"/>
              </a:spcBef>
              <a:defRPr sz="2000">
                <a:solidFill>
                  <a:srgbClr val="000000"/>
                </a:solidFill>
                <a:latin typeface="Garamond"/>
              </a:defRPr>
            </a:pPr>
            <a:endParaRPr lang="en-US" altLang="zh-TW" sz="2400" dirty="0"/>
          </a:p>
          <a:p>
            <a:pPr>
              <a:spcBef>
                <a:spcPts val="576"/>
              </a:spcBef>
              <a:defRPr sz="2000">
                <a:solidFill>
                  <a:srgbClr val="000000"/>
                </a:solidFill>
                <a:latin typeface="Garamond"/>
              </a:defRPr>
            </a:pPr>
            <a:endParaRPr lang="en-US" altLang="zh-TW" sz="2000" dirty="0"/>
          </a:p>
        </p:txBody>
      </p:sp>
      <p:pic>
        <p:nvPicPr>
          <p:cNvPr id="10" name="Picture 9">
            <a:extLst>
              <a:ext uri="{FF2B5EF4-FFF2-40B4-BE49-F238E27FC236}">
                <a16:creationId xmlns:a16="http://schemas.microsoft.com/office/drawing/2014/main" id="{69BFE007-A6E2-F59F-B89F-E0C4D8878FCB}"/>
              </a:ext>
            </a:extLst>
          </p:cNvPr>
          <p:cNvPicPr>
            <a:picLocks noChangeAspect="1"/>
          </p:cNvPicPr>
          <p:nvPr/>
        </p:nvPicPr>
        <p:blipFill>
          <a:blip r:embed="rId2"/>
          <a:srcRect/>
          <a:stretch/>
        </p:blipFill>
        <p:spPr>
          <a:xfrm>
            <a:off x="457198" y="1300900"/>
            <a:ext cx="4572000" cy="4572000"/>
          </a:xfrm>
          <a:prstGeom prst="rect">
            <a:avLst/>
          </a:prstGeom>
        </p:spPr>
      </p:pic>
      <p:pic>
        <p:nvPicPr>
          <p:cNvPr id="9" name="Picture 8" descr="A graph of a line&#10;&#10;AI-generated content may be incorrect.">
            <a:extLst>
              <a:ext uri="{FF2B5EF4-FFF2-40B4-BE49-F238E27FC236}">
                <a16:creationId xmlns:a16="http://schemas.microsoft.com/office/drawing/2014/main" id="{FFEDE7C6-8E67-C554-F610-B1F46813C887}"/>
              </a:ext>
            </a:extLst>
          </p:cNvPr>
          <p:cNvPicPr>
            <a:picLocks noChangeAspect="1"/>
          </p:cNvPicPr>
          <p:nvPr/>
        </p:nvPicPr>
        <p:blipFill>
          <a:blip r:embed="rId3"/>
          <a:stretch>
            <a:fillRect/>
          </a:stretch>
        </p:blipFill>
        <p:spPr>
          <a:xfrm>
            <a:off x="457197" y="1300900"/>
            <a:ext cx="4572000" cy="4572000"/>
          </a:xfrm>
          <a:prstGeom prst="rect">
            <a:avLst/>
          </a:prstGeom>
        </p:spPr>
      </p:pic>
      <p:pic>
        <p:nvPicPr>
          <p:cNvPr id="12" name="Picture 11" descr="A graph of a line&#10;&#10;AI-generated content may be incorrect.">
            <a:extLst>
              <a:ext uri="{FF2B5EF4-FFF2-40B4-BE49-F238E27FC236}">
                <a16:creationId xmlns:a16="http://schemas.microsoft.com/office/drawing/2014/main" id="{565344CB-7214-60E7-3439-24ADB49296C8}"/>
              </a:ext>
            </a:extLst>
          </p:cNvPr>
          <p:cNvPicPr>
            <a:picLocks noChangeAspect="1"/>
          </p:cNvPicPr>
          <p:nvPr/>
        </p:nvPicPr>
        <p:blipFill>
          <a:blip r:embed="rId4"/>
          <a:stretch>
            <a:fillRect/>
          </a:stretch>
        </p:blipFill>
        <p:spPr>
          <a:xfrm>
            <a:off x="457196" y="1300900"/>
            <a:ext cx="4572000" cy="4572000"/>
          </a:xfrm>
          <a:prstGeom prst="rect">
            <a:avLst/>
          </a:prstGeom>
        </p:spPr>
      </p:pic>
      <p:pic>
        <p:nvPicPr>
          <p:cNvPr id="20" name="Picture 19" descr="A graph of a line with a red x and blue line&#10;&#10;AI-generated content may be incorrect.">
            <a:extLst>
              <a:ext uri="{FF2B5EF4-FFF2-40B4-BE49-F238E27FC236}">
                <a16:creationId xmlns:a16="http://schemas.microsoft.com/office/drawing/2014/main" id="{1FCE6B5A-8BA2-18BC-AE87-80D7783C1C42}"/>
              </a:ext>
            </a:extLst>
          </p:cNvPr>
          <p:cNvPicPr>
            <a:picLocks noChangeAspect="1"/>
          </p:cNvPicPr>
          <p:nvPr/>
        </p:nvPicPr>
        <p:blipFill>
          <a:blip r:embed="rId5"/>
          <a:stretch>
            <a:fillRect/>
          </a:stretch>
        </p:blipFill>
        <p:spPr>
          <a:xfrm>
            <a:off x="457195" y="1300900"/>
            <a:ext cx="4572000" cy="4572000"/>
          </a:xfrm>
          <a:prstGeom prst="rect">
            <a:avLst/>
          </a:prstGeom>
        </p:spPr>
      </p:pic>
    </p:spTree>
    <p:extLst>
      <p:ext uri="{BB962C8B-B14F-4D97-AF65-F5344CB8AC3E}">
        <p14:creationId xmlns:p14="http://schemas.microsoft.com/office/powerpoint/2010/main" val="3076043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500"/>
                                        <p:tgtEl>
                                          <p:spTgt spid="3">
                                            <p:txEl>
                                              <p:pRg st="4" end="4"/>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
                                            <p:txEl>
                                              <p:pRg st="5" end="5"/>
                                            </p:txEl>
                                          </p:spTgt>
                                        </p:tgtEl>
                                        <p:attrNameLst>
                                          <p:attrName>style.visibility</p:attrName>
                                        </p:attrNameLst>
                                      </p:cBhvr>
                                      <p:to>
                                        <p:strVal val="visible"/>
                                      </p:to>
                                    </p:set>
                                    <p:animEffect transition="in" filter="fade">
                                      <p:cBhvr>
                                        <p:cTn id="36" dur="500"/>
                                        <p:tgtEl>
                                          <p:spTgt spid="3">
                                            <p:txEl>
                                              <p:pRg st="5" end="5"/>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500"/>
                                        <p:tgtEl>
                                          <p:spTgt spid="20"/>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3">
                                            <p:txEl>
                                              <p:pRg st="7" end="7"/>
                                            </p:txEl>
                                          </p:spTgt>
                                        </p:tgtEl>
                                        <p:attrNameLst>
                                          <p:attrName>style.visibility</p:attrName>
                                        </p:attrNameLst>
                                      </p:cBhvr>
                                      <p:to>
                                        <p:strVal val="visible"/>
                                      </p:to>
                                    </p:set>
                                    <p:animEffect transition="in" filter="fade">
                                      <p:cBhvr>
                                        <p:cTn id="44" dur="500"/>
                                        <p:tgtEl>
                                          <p:spTgt spid="3">
                                            <p:txEl>
                                              <p:pRg st="7" end="7"/>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3">
                                            <p:txEl>
                                              <p:pRg st="9" end="9"/>
                                            </p:txEl>
                                          </p:spTgt>
                                        </p:tgtEl>
                                        <p:attrNameLst>
                                          <p:attrName>style.visibility</p:attrName>
                                        </p:attrNameLst>
                                      </p:cBhvr>
                                      <p:to>
                                        <p:strVal val="visible"/>
                                      </p:to>
                                    </p:set>
                                    <p:animEffect transition="in" filter="fade">
                                      <p:cBhvr>
                                        <p:cTn id="49"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DE055-A6B1-23BC-3C26-BCA03459454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D233CF0-2377-D021-1072-E41135CC2924}"/>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B0B2ED7-A806-AB2B-0059-849AC9192BAF}"/>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Tariffs on Imports: Producers’ Gain</a:t>
            </a:r>
          </a:p>
        </p:txBody>
      </p:sp>
      <p:sp>
        <p:nvSpPr>
          <p:cNvPr id="5" name="Rectangle 4">
            <a:extLst>
              <a:ext uri="{FF2B5EF4-FFF2-40B4-BE49-F238E27FC236}">
                <a16:creationId xmlns:a16="http://schemas.microsoft.com/office/drawing/2014/main" id="{116C32D3-4C4B-4208-04F7-42A187D0F8B5}"/>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C1927242-EDB5-23ED-D88D-C17A5DBF0552}"/>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DCA3285D-4BEC-B26F-E2C5-DF52EB0568E3}"/>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20</a:t>
            </a:fld>
            <a:r>
              <a:rPr lang="en-US" b="1" dirty="0">
                <a:solidFill>
                  <a:schemeClr val="bg1"/>
                </a:solidFill>
                <a:latin typeface="Garamond" panose="02020404030301010803" pitchFamily="18" charset="0"/>
              </a:rPr>
              <a:t> </a:t>
            </a:r>
          </a:p>
        </p:txBody>
      </p:sp>
      <p:sp>
        <p:nvSpPr>
          <p:cNvPr id="3" name="Content Placeholder 2">
            <a:extLst>
              <a:ext uri="{FF2B5EF4-FFF2-40B4-BE49-F238E27FC236}">
                <a16:creationId xmlns:a16="http://schemas.microsoft.com/office/drawing/2014/main" id="{13ACCC44-FEF6-A78F-972A-FC71193DBF67}"/>
              </a:ext>
            </a:extLst>
          </p:cNvPr>
          <p:cNvSpPr>
            <a:spLocks noGrp="1"/>
          </p:cNvSpPr>
          <p:nvPr>
            <p:ph idx="1"/>
          </p:nvPr>
        </p:nvSpPr>
        <p:spPr>
          <a:xfrm>
            <a:off x="5029199" y="1300900"/>
            <a:ext cx="6702428" cy="4937975"/>
          </a:xfrm>
        </p:spPr>
        <p:txBody>
          <a:bodyPr>
            <a:normAutofit/>
          </a:bodyPr>
          <a:lstStyle/>
          <a:p>
            <a:pPr>
              <a:spcBef>
                <a:spcPts val="576"/>
              </a:spcBef>
              <a:defRPr sz="2000">
                <a:solidFill>
                  <a:srgbClr val="000000"/>
                </a:solidFill>
                <a:latin typeface="Garamond"/>
              </a:defRPr>
            </a:pPr>
            <a:r>
              <a:rPr lang="en-US" altLang="zh-TW" sz="2400" dirty="0"/>
              <a:t>Producer Surplus:</a:t>
            </a:r>
          </a:p>
          <a:p>
            <a:pPr lvl="1">
              <a:spcBef>
                <a:spcPts val="576"/>
              </a:spcBef>
              <a:defRPr sz="2000">
                <a:solidFill>
                  <a:srgbClr val="000000"/>
                </a:solidFill>
                <a:latin typeface="Garamond"/>
              </a:defRPr>
            </a:pPr>
            <a:r>
              <a:rPr lang="en-US" altLang="zh-TW" sz="2000" dirty="0"/>
              <a:t>Free Trade: G</a:t>
            </a:r>
          </a:p>
          <a:p>
            <a:pPr lvl="1">
              <a:spcBef>
                <a:spcPts val="576"/>
              </a:spcBef>
              <a:defRPr sz="2000">
                <a:solidFill>
                  <a:srgbClr val="000000"/>
                </a:solidFill>
                <a:latin typeface="Garamond"/>
              </a:defRPr>
            </a:pPr>
            <a:r>
              <a:rPr lang="en-US" altLang="zh-TW" sz="2000" dirty="0"/>
              <a:t>Tariffs: C+G</a:t>
            </a:r>
          </a:p>
          <a:p>
            <a:pPr lvl="1">
              <a:spcBef>
                <a:spcPts val="576"/>
              </a:spcBef>
              <a:defRPr sz="2000">
                <a:solidFill>
                  <a:srgbClr val="000000"/>
                </a:solidFill>
                <a:latin typeface="Garamond"/>
              </a:defRPr>
            </a:pPr>
            <a:r>
              <a:rPr lang="en-US" altLang="zh-TW" sz="2000" dirty="0"/>
              <a:t>Gain: C</a:t>
            </a:r>
          </a:p>
          <a:p>
            <a:pPr lvl="1">
              <a:spcBef>
                <a:spcPts val="576"/>
              </a:spcBef>
              <a:defRPr sz="2000">
                <a:solidFill>
                  <a:srgbClr val="000000"/>
                </a:solidFill>
                <a:latin typeface="Garamond"/>
              </a:defRPr>
            </a:pPr>
            <a:endParaRPr lang="en-US" altLang="zh-TW" sz="1200" dirty="0"/>
          </a:p>
          <a:p>
            <a:pPr>
              <a:spcBef>
                <a:spcPts val="576"/>
              </a:spcBef>
              <a:defRPr sz="2000">
                <a:solidFill>
                  <a:srgbClr val="000000"/>
                </a:solidFill>
                <a:latin typeface="Garamond"/>
              </a:defRPr>
            </a:pPr>
            <a:r>
              <a:rPr lang="en-US" altLang="zh-TW" sz="2400" dirty="0"/>
              <a:t>Tariffs benefit domestic producers, because they can sell at  a higher price.</a:t>
            </a:r>
          </a:p>
          <a:p>
            <a:pPr lvl="3">
              <a:spcBef>
                <a:spcPts val="576"/>
              </a:spcBef>
              <a:defRPr sz="2000">
                <a:solidFill>
                  <a:srgbClr val="000000"/>
                </a:solidFill>
                <a:latin typeface="Garamond"/>
              </a:defRPr>
            </a:pPr>
            <a:endParaRPr lang="en-US" altLang="zh-TW" sz="1200" dirty="0"/>
          </a:p>
          <a:p>
            <a:pPr>
              <a:spcBef>
                <a:spcPts val="576"/>
              </a:spcBef>
              <a:defRPr sz="2000">
                <a:solidFill>
                  <a:srgbClr val="000000"/>
                </a:solidFill>
                <a:latin typeface="Garamond"/>
              </a:defRPr>
            </a:pPr>
            <a:r>
              <a:rPr lang="en-US" altLang="zh-TW" sz="2400" dirty="0"/>
              <a:t>The domestic producers’ gains come from the loss in consumers’ surplus.</a:t>
            </a:r>
          </a:p>
          <a:p>
            <a:pPr lvl="1">
              <a:spcBef>
                <a:spcPts val="576"/>
              </a:spcBef>
              <a:defRPr sz="2000">
                <a:solidFill>
                  <a:srgbClr val="000000"/>
                </a:solidFill>
                <a:latin typeface="Garamond"/>
              </a:defRPr>
            </a:pPr>
            <a:r>
              <a:rPr lang="en-US" altLang="zh-TW" sz="2000" dirty="0"/>
              <a:t>Loss in CS: C+D+E+F</a:t>
            </a:r>
          </a:p>
          <a:p>
            <a:pPr lvl="1">
              <a:spcBef>
                <a:spcPts val="576"/>
              </a:spcBef>
              <a:defRPr sz="2000">
                <a:solidFill>
                  <a:srgbClr val="000000"/>
                </a:solidFill>
                <a:latin typeface="Garamond"/>
              </a:defRPr>
            </a:pPr>
            <a:r>
              <a:rPr lang="en-US" altLang="zh-TW" sz="2000" dirty="0"/>
              <a:t>Gain in PS: C</a:t>
            </a:r>
            <a:endParaRPr lang="en-US" altLang="zh-TW" sz="2400" dirty="0"/>
          </a:p>
          <a:p>
            <a:pPr lvl="3">
              <a:spcBef>
                <a:spcPts val="576"/>
              </a:spcBef>
              <a:defRPr sz="2000">
                <a:solidFill>
                  <a:srgbClr val="000000"/>
                </a:solidFill>
                <a:latin typeface="Garamond"/>
              </a:defRPr>
            </a:pPr>
            <a:endParaRPr lang="en-US" altLang="zh-TW" sz="1200" dirty="0"/>
          </a:p>
          <a:p>
            <a:pPr>
              <a:spcBef>
                <a:spcPts val="576"/>
              </a:spcBef>
              <a:defRPr sz="2000">
                <a:solidFill>
                  <a:srgbClr val="000000"/>
                </a:solidFill>
                <a:latin typeface="Garamond"/>
              </a:defRPr>
            </a:pPr>
            <a:endParaRPr lang="en-US" altLang="zh-TW" sz="2400" dirty="0"/>
          </a:p>
          <a:p>
            <a:pPr>
              <a:spcBef>
                <a:spcPts val="576"/>
              </a:spcBef>
              <a:defRPr sz="2000">
                <a:solidFill>
                  <a:srgbClr val="000000"/>
                </a:solidFill>
                <a:latin typeface="Garamond"/>
              </a:defRPr>
            </a:pPr>
            <a:endParaRPr lang="en-US" altLang="zh-TW" sz="2400" dirty="0"/>
          </a:p>
          <a:p>
            <a:pPr>
              <a:spcBef>
                <a:spcPts val="576"/>
              </a:spcBef>
              <a:defRPr sz="2000">
                <a:solidFill>
                  <a:srgbClr val="000000"/>
                </a:solidFill>
                <a:latin typeface="Garamond"/>
              </a:defRPr>
            </a:pPr>
            <a:endParaRPr lang="en-US" altLang="zh-TW" sz="2000" dirty="0"/>
          </a:p>
        </p:txBody>
      </p:sp>
      <p:pic>
        <p:nvPicPr>
          <p:cNvPr id="10" name="Picture 9">
            <a:extLst>
              <a:ext uri="{FF2B5EF4-FFF2-40B4-BE49-F238E27FC236}">
                <a16:creationId xmlns:a16="http://schemas.microsoft.com/office/drawing/2014/main" id="{3E30A56D-8009-BE97-54DF-2F561C5D1906}"/>
              </a:ext>
            </a:extLst>
          </p:cNvPr>
          <p:cNvPicPr>
            <a:picLocks noChangeAspect="1"/>
          </p:cNvPicPr>
          <p:nvPr/>
        </p:nvPicPr>
        <p:blipFill>
          <a:blip r:embed="rId2"/>
          <a:srcRect/>
          <a:stretch/>
        </p:blipFill>
        <p:spPr>
          <a:xfrm>
            <a:off x="457198" y="1300900"/>
            <a:ext cx="4572000" cy="4572000"/>
          </a:xfrm>
          <a:prstGeom prst="rect">
            <a:avLst/>
          </a:prstGeom>
        </p:spPr>
      </p:pic>
      <p:pic>
        <p:nvPicPr>
          <p:cNvPr id="11" name="Picture 10" descr="A graph of a line&#10;&#10;AI-generated content may be incorrect.">
            <a:extLst>
              <a:ext uri="{FF2B5EF4-FFF2-40B4-BE49-F238E27FC236}">
                <a16:creationId xmlns:a16="http://schemas.microsoft.com/office/drawing/2014/main" id="{08D2D4F3-C53D-C912-1C6F-D3953111FCBE}"/>
              </a:ext>
            </a:extLst>
          </p:cNvPr>
          <p:cNvPicPr>
            <a:picLocks noChangeAspect="1"/>
          </p:cNvPicPr>
          <p:nvPr/>
        </p:nvPicPr>
        <p:blipFill>
          <a:blip r:embed="rId3"/>
          <a:stretch>
            <a:fillRect/>
          </a:stretch>
        </p:blipFill>
        <p:spPr>
          <a:xfrm>
            <a:off x="457197" y="1300900"/>
            <a:ext cx="4572000" cy="4572000"/>
          </a:xfrm>
          <a:prstGeom prst="rect">
            <a:avLst/>
          </a:prstGeom>
        </p:spPr>
      </p:pic>
      <p:pic>
        <p:nvPicPr>
          <p:cNvPr id="14" name="Picture 13" descr="A graph of a line&#10;&#10;AI-generated content may be incorrect.">
            <a:extLst>
              <a:ext uri="{FF2B5EF4-FFF2-40B4-BE49-F238E27FC236}">
                <a16:creationId xmlns:a16="http://schemas.microsoft.com/office/drawing/2014/main" id="{9C76BBF1-7225-A5EE-29B3-82E13B358C06}"/>
              </a:ext>
            </a:extLst>
          </p:cNvPr>
          <p:cNvPicPr>
            <a:picLocks noChangeAspect="1"/>
          </p:cNvPicPr>
          <p:nvPr/>
        </p:nvPicPr>
        <p:blipFill>
          <a:blip r:embed="rId4"/>
          <a:stretch>
            <a:fillRect/>
          </a:stretch>
        </p:blipFill>
        <p:spPr>
          <a:xfrm>
            <a:off x="457196" y="1300900"/>
            <a:ext cx="4572000" cy="4572000"/>
          </a:xfrm>
          <a:prstGeom prst="rect">
            <a:avLst/>
          </a:prstGeom>
        </p:spPr>
      </p:pic>
      <p:pic>
        <p:nvPicPr>
          <p:cNvPr id="16" name="Picture 15" descr="A graph of a line&#10;&#10;AI-generated content may be incorrect.">
            <a:extLst>
              <a:ext uri="{FF2B5EF4-FFF2-40B4-BE49-F238E27FC236}">
                <a16:creationId xmlns:a16="http://schemas.microsoft.com/office/drawing/2014/main" id="{D6C40C56-33C2-ABA8-F760-61FC669A78D2}"/>
              </a:ext>
            </a:extLst>
          </p:cNvPr>
          <p:cNvPicPr>
            <a:picLocks noChangeAspect="1"/>
          </p:cNvPicPr>
          <p:nvPr/>
        </p:nvPicPr>
        <p:blipFill>
          <a:blip r:embed="rId5"/>
          <a:stretch>
            <a:fillRect/>
          </a:stretch>
        </p:blipFill>
        <p:spPr>
          <a:xfrm>
            <a:off x="457195" y="1300900"/>
            <a:ext cx="4572000" cy="4572000"/>
          </a:xfrm>
          <a:prstGeom prst="rect">
            <a:avLst/>
          </a:prstGeom>
        </p:spPr>
      </p:pic>
    </p:spTree>
    <p:extLst>
      <p:ext uri="{BB962C8B-B14F-4D97-AF65-F5344CB8AC3E}">
        <p14:creationId xmlns:p14="http://schemas.microsoft.com/office/powerpoint/2010/main" val="3033750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fade">
                                      <p:cBhvr>
                                        <p:cTn id="23" dur="500"/>
                                        <p:tgtEl>
                                          <p:spTgt spid="3">
                                            <p:txEl>
                                              <p:pRg st="2" end="2"/>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500"/>
                                        <p:tgtEl>
                                          <p:spTgt spid="1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Effect transition="in" filter="fade">
                                      <p:cBhvr>
                                        <p:cTn id="31" dur="500"/>
                                        <p:tgtEl>
                                          <p:spTgt spid="3">
                                            <p:txEl>
                                              <p:pRg st="3" end="3"/>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500"/>
                                        <p:tgtEl>
                                          <p:spTgt spid="16"/>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
                                            <p:txEl>
                                              <p:pRg st="5" end="5"/>
                                            </p:txEl>
                                          </p:spTgt>
                                        </p:tgtEl>
                                        <p:attrNameLst>
                                          <p:attrName>style.visibility</p:attrName>
                                        </p:attrNameLst>
                                      </p:cBhvr>
                                      <p:to>
                                        <p:strVal val="visible"/>
                                      </p:to>
                                    </p:set>
                                    <p:animEffect transition="in" filter="fade">
                                      <p:cBhvr>
                                        <p:cTn id="39" dur="500"/>
                                        <p:tgtEl>
                                          <p:spTgt spid="3">
                                            <p:txEl>
                                              <p:pRg st="5" end="5"/>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3">
                                            <p:txEl>
                                              <p:pRg st="7" end="7"/>
                                            </p:txEl>
                                          </p:spTgt>
                                        </p:tgtEl>
                                        <p:attrNameLst>
                                          <p:attrName>style.visibility</p:attrName>
                                        </p:attrNameLst>
                                      </p:cBhvr>
                                      <p:to>
                                        <p:strVal val="visible"/>
                                      </p:to>
                                    </p:set>
                                    <p:animEffect transition="in" filter="fade">
                                      <p:cBhvr>
                                        <p:cTn id="44" dur="500"/>
                                        <p:tgtEl>
                                          <p:spTgt spid="3">
                                            <p:txEl>
                                              <p:pRg st="7" end="7"/>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3">
                                            <p:txEl>
                                              <p:pRg st="8" end="8"/>
                                            </p:txEl>
                                          </p:spTgt>
                                        </p:tgtEl>
                                        <p:attrNameLst>
                                          <p:attrName>style.visibility</p:attrName>
                                        </p:attrNameLst>
                                      </p:cBhvr>
                                      <p:to>
                                        <p:strVal val="visible"/>
                                      </p:to>
                                    </p:set>
                                    <p:animEffect transition="in" filter="fade">
                                      <p:cBhvr>
                                        <p:cTn id="49" dur="500"/>
                                        <p:tgtEl>
                                          <p:spTgt spid="3">
                                            <p:txEl>
                                              <p:pRg st="8" end="8"/>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3">
                                            <p:txEl>
                                              <p:pRg st="9" end="9"/>
                                            </p:txEl>
                                          </p:spTgt>
                                        </p:tgtEl>
                                        <p:attrNameLst>
                                          <p:attrName>style.visibility</p:attrName>
                                        </p:attrNameLst>
                                      </p:cBhvr>
                                      <p:to>
                                        <p:strVal val="visible"/>
                                      </p:to>
                                    </p:set>
                                    <p:animEffect transition="in" filter="fade">
                                      <p:cBhvr>
                                        <p:cTn id="54"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BC820-FDEA-A653-3DC9-3CF90067176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2408E25-2139-DEB1-B67E-C4B9C8CE2AFE}"/>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6353E4-B62B-79B1-4E9E-ABCBC8615F10}"/>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Tariffs on Imports: Tariff Revenues</a:t>
            </a:r>
          </a:p>
        </p:txBody>
      </p:sp>
      <p:sp>
        <p:nvSpPr>
          <p:cNvPr id="5" name="Rectangle 4">
            <a:extLst>
              <a:ext uri="{FF2B5EF4-FFF2-40B4-BE49-F238E27FC236}">
                <a16:creationId xmlns:a16="http://schemas.microsoft.com/office/drawing/2014/main" id="{6AE2D0FA-CC3E-E5F1-7B02-A0381514E7CD}"/>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82F68181-997C-E66A-E1B8-D7799756855A}"/>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CCEE0CEA-3F0E-47A5-ACAE-D0F5C0EE0949}"/>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21</a:t>
            </a:fld>
            <a:r>
              <a:rPr lang="en-US" b="1" dirty="0">
                <a:solidFill>
                  <a:schemeClr val="bg1"/>
                </a:solidFill>
                <a:latin typeface="Garamond" panose="02020404030301010803" pitchFamily="18" charset="0"/>
              </a:rPr>
              <a:t> </a:t>
            </a:r>
          </a:p>
        </p:txBody>
      </p:sp>
      <p:sp>
        <p:nvSpPr>
          <p:cNvPr id="3" name="Content Placeholder 2">
            <a:extLst>
              <a:ext uri="{FF2B5EF4-FFF2-40B4-BE49-F238E27FC236}">
                <a16:creationId xmlns:a16="http://schemas.microsoft.com/office/drawing/2014/main" id="{0D50CB5F-4978-83F2-C0DB-664606A7E5B5}"/>
              </a:ext>
            </a:extLst>
          </p:cNvPr>
          <p:cNvSpPr>
            <a:spLocks noGrp="1"/>
          </p:cNvSpPr>
          <p:nvPr>
            <p:ph idx="1"/>
          </p:nvPr>
        </p:nvSpPr>
        <p:spPr>
          <a:xfrm>
            <a:off x="5029199" y="1300900"/>
            <a:ext cx="6702428" cy="4937975"/>
          </a:xfrm>
        </p:spPr>
        <p:txBody>
          <a:bodyPr>
            <a:normAutofit/>
          </a:bodyPr>
          <a:lstStyle/>
          <a:p>
            <a:pPr>
              <a:spcBef>
                <a:spcPts val="576"/>
              </a:spcBef>
              <a:defRPr sz="2000">
                <a:solidFill>
                  <a:srgbClr val="000000"/>
                </a:solidFill>
                <a:latin typeface="Garamond"/>
              </a:defRPr>
            </a:pPr>
            <a:r>
              <a:rPr lang="en-US" altLang="zh-TW" sz="2400" dirty="0"/>
              <a:t>The loss of D+E+F remains unaccounted for.</a:t>
            </a:r>
          </a:p>
          <a:p>
            <a:pPr lvl="1">
              <a:spcBef>
                <a:spcPts val="576"/>
              </a:spcBef>
              <a:defRPr sz="2000">
                <a:solidFill>
                  <a:srgbClr val="000000"/>
                </a:solidFill>
                <a:latin typeface="Garamond"/>
              </a:defRPr>
            </a:pPr>
            <a:endParaRPr lang="en-US" altLang="zh-TW" sz="1200" dirty="0"/>
          </a:p>
          <a:p>
            <a:pPr>
              <a:spcBef>
                <a:spcPts val="576"/>
              </a:spcBef>
              <a:defRPr sz="2000">
                <a:solidFill>
                  <a:srgbClr val="000000"/>
                </a:solidFill>
                <a:latin typeface="Garamond"/>
              </a:defRPr>
            </a:pPr>
            <a:r>
              <a:rPr lang="en-US" altLang="zh-TW" sz="2400" dirty="0"/>
              <a:t>The government’s revenue from enacting the tariff is the size of the tariff multiplied by units imported.</a:t>
            </a:r>
          </a:p>
          <a:p>
            <a:pPr lvl="3">
              <a:spcBef>
                <a:spcPts val="576"/>
              </a:spcBef>
              <a:defRPr sz="2000">
                <a:solidFill>
                  <a:srgbClr val="000000"/>
                </a:solidFill>
                <a:latin typeface="Garamond"/>
              </a:defRPr>
            </a:pPr>
            <a:endParaRPr lang="en-US" altLang="zh-TW" sz="1200" dirty="0"/>
          </a:p>
          <a:p>
            <a:pPr>
              <a:spcBef>
                <a:spcPts val="576"/>
              </a:spcBef>
              <a:defRPr sz="2000">
                <a:solidFill>
                  <a:srgbClr val="000000"/>
                </a:solidFill>
                <a:latin typeface="Garamond"/>
              </a:defRPr>
            </a:pPr>
            <a:r>
              <a:rPr lang="en-US" altLang="zh-TW" sz="2400" dirty="0"/>
              <a:t>In the diagram, E represents the tariff revenue.</a:t>
            </a:r>
          </a:p>
          <a:p>
            <a:pPr lvl="3">
              <a:spcBef>
                <a:spcPts val="576"/>
              </a:spcBef>
              <a:defRPr sz="2000">
                <a:solidFill>
                  <a:srgbClr val="000000"/>
                </a:solidFill>
                <a:latin typeface="Garamond"/>
              </a:defRPr>
            </a:pPr>
            <a:endParaRPr lang="en-US" altLang="zh-TW" sz="1200" dirty="0"/>
          </a:p>
          <a:p>
            <a:pPr>
              <a:spcBef>
                <a:spcPts val="576"/>
              </a:spcBef>
              <a:defRPr sz="2000">
                <a:solidFill>
                  <a:srgbClr val="000000"/>
                </a:solidFill>
                <a:latin typeface="Garamond"/>
              </a:defRPr>
            </a:pPr>
            <a:r>
              <a:rPr lang="en-US" altLang="zh-TW" sz="2400" dirty="0"/>
              <a:t>Summary:</a:t>
            </a:r>
          </a:p>
          <a:p>
            <a:pPr lvl="1">
              <a:spcBef>
                <a:spcPts val="576"/>
              </a:spcBef>
              <a:defRPr sz="2000">
                <a:solidFill>
                  <a:srgbClr val="000000"/>
                </a:solidFill>
                <a:latin typeface="Garamond"/>
              </a:defRPr>
            </a:pPr>
            <a:r>
              <a:rPr lang="en-US" altLang="zh-TW" sz="2000" dirty="0"/>
              <a:t>The consumers lose C+D+E+F</a:t>
            </a:r>
          </a:p>
          <a:p>
            <a:pPr lvl="1">
              <a:spcBef>
                <a:spcPts val="576"/>
              </a:spcBef>
              <a:defRPr sz="2000">
                <a:solidFill>
                  <a:srgbClr val="000000"/>
                </a:solidFill>
                <a:latin typeface="Garamond"/>
              </a:defRPr>
            </a:pPr>
            <a:r>
              <a:rPr lang="en-US" altLang="zh-TW" sz="2000" dirty="0"/>
              <a:t>The producers absorb C</a:t>
            </a:r>
          </a:p>
          <a:p>
            <a:pPr lvl="1">
              <a:spcBef>
                <a:spcPts val="576"/>
              </a:spcBef>
              <a:defRPr sz="2000">
                <a:solidFill>
                  <a:srgbClr val="000000"/>
                </a:solidFill>
                <a:latin typeface="Garamond"/>
              </a:defRPr>
            </a:pPr>
            <a:r>
              <a:rPr lang="en-US" altLang="zh-TW" sz="2000" dirty="0"/>
              <a:t>The government absorbs E</a:t>
            </a:r>
          </a:p>
          <a:p>
            <a:pPr lvl="1">
              <a:spcBef>
                <a:spcPts val="576"/>
              </a:spcBef>
              <a:defRPr sz="2000">
                <a:solidFill>
                  <a:srgbClr val="000000"/>
                </a:solidFill>
                <a:latin typeface="Garamond"/>
              </a:defRPr>
            </a:pPr>
            <a:r>
              <a:rPr lang="en-US" altLang="zh-TW" sz="2000" dirty="0"/>
              <a:t>D+F is not absorbed by any other actor</a:t>
            </a:r>
          </a:p>
          <a:p>
            <a:pPr lvl="3">
              <a:spcBef>
                <a:spcPts val="576"/>
              </a:spcBef>
              <a:defRPr sz="2000">
                <a:solidFill>
                  <a:srgbClr val="000000"/>
                </a:solidFill>
                <a:latin typeface="Garamond"/>
              </a:defRPr>
            </a:pPr>
            <a:endParaRPr lang="en-US" altLang="zh-TW" sz="1200" dirty="0"/>
          </a:p>
          <a:p>
            <a:pPr>
              <a:spcBef>
                <a:spcPts val="576"/>
              </a:spcBef>
              <a:defRPr sz="2000">
                <a:solidFill>
                  <a:srgbClr val="000000"/>
                </a:solidFill>
                <a:latin typeface="Garamond"/>
              </a:defRPr>
            </a:pPr>
            <a:endParaRPr lang="en-US" altLang="zh-TW" sz="2400" dirty="0"/>
          </a:p>
          <a:p>
            <a:pPr>
              <a:spcBef>
                <a:spcPts val="576"/>
              </a:spcBef>
              <a:defRPr sz="2000">
                <a:solidFill>
                  <a:srgbClr val="000000"/>
                </a:solidFill>
                <a:latin typeface="Garamond"/>
              </a:defRPr>
            </a:pPr>
            <a:endParaRPr lang="en-US" altLang="zh-TW" sz="2400" dirty="0"/>
          </a:p>
          <a:p>
            <a:pPr>
              <a:spcBef>
                <a:spcPts val="576"/>
              </a:spcBef>
              <a:defRPr sz="2000">
                <a:solidFill>
                  <a:srgbClr val="000000"/>
                </a:solidFill>
                <a:latin typeface="Garamond"/>
              </a:defRPr>
            </a:pPr>
            <a:endParaRPr lang="en-US" altLang="zh-TW" sz="2000" dirty="0"/>
          </a:p>
        </p:txBody>
      </p:sp>
      <p:pic>
        <p:nvPicPr>
          <p:cNvPr id="10" name="Picture 9">
            <a:extLst>
              <a:ext uri="{FF2B5EF4-FFF2-40B4-BE49-F238E27FC236}">
                <a16:creationId xmlns:a16="http://schemas.microsoft.com/office/drawing/2014/main" id="{42FEE3B6-D9BC-176E-0CE7-DBD09A25B781}"/>
              </a:ext>
            </a:extLst>
          </p:cNvPr>
          <p:cNvPicPr>
            <a:picLocks noChangeAspect="1"/>
          </p:cNvPicPr>
          <p:nvPr/>
        </p:nvPicPr>
        <p:blipFill>
          <a:blip r:embed="rId2"/>
          <a:srcRect/>
          <a:stretch/>
        </p:blipFill>
        <p:spPr>
          <a:xfrm>
            <a:off x="457198" y="1300900"/>
            <a:ext cx="4572000" cy="4572000"/>
          </a:xfrm>
          <a:prstGeom prst="rect">
            <a:avLst/>
          </a:prstGeom>
        </p:spPr>
      </p:pic>
      <p:pic>
        <p:nvPicPr>
          <p:cNvPr id="9" name="Picture 8" descr="A graph of a line with a red x and blue line&#10;&#10;AI-generated content may be incorrect.">
            <a:extLst>
              <a:ext uri="{FF2B5EF4-FFF2-40B4-BE49-F238E27FC236}">
                <a16:creationId xmlns:a16="http://schemas.microsoft.com/office/drawing/2014/main" id="{66D67893-E722-0453-9765-7961A3527AAD}"/>
              </a:ext>
            </a:extLst>
          </p:cNvPr>
          <p:cNvPicPr>
            <a:picLocks noChangeAspect="1"/>
          </p:cNvPicPr>
          <p:nvPr/>
        </p:nvPicPr>
        <p:blipFill>
          <a:blip r:embed="rId3"/>
          <a:stretch>
            <a:fillRect/>
          </a:stretch>
        </p:blipFill>
        <p:spPr>
          <a:xfrm>
            <a:off x="457197" y="1300900"/>
            <a:ext cx="4572000" cy="4572000"/>
          </a:xfrm>
          <a:prstGeom prst="rect">
            <a:avLst/>
          </a:prstGeom>
        </p:spPr>
      </p:pic>
      <p:pic>
        <p:nvPicPr>
          <p:cNvPr id="13" name="Picture 12" descr="A graph of a line&#10;&#10;AI-generated content may be incorrect.">
            <a:extLst>
              <a:ext uri="{FF2B5EF4-FFF2-40B4-BE49-F238E27FC236}">
                <a16:creationId xmlns:a16="http://schemas.microsoft.com/office/drawing/2014/main" id="{49A43F4C-5827-60EA-607E-C887287C81EE}"/>
              </a:ext>
            </a:extLst>
          </p:cNvPr>
          <p:cNvPicPr>
            <a:picLocks noChangeAspect="1"/>
          </p:cNvPicPr>
          <p:nvPr/>
        </p:nvPicPr>
        <p:blipFill>
          <a:blip r:embed="rId4"/>
          <a:stretch>
            <a:fillRect/>
          </a:stretch>
        </p:blipFill>
        <p:spPr>
          <a:xfrm>
            <a:off x="457199" y="1300900"/>
            <a:ext cx="4572000" cy="4572000"/>
          </a:xfrm>
          <a:prstGeom prst="rect">
            <a:avLst/>
          </a:prstGeom>
        </p:spPr>
      </p:pic>
    </p:spTree>
    <p:extLst>
      <p:ext uri="{BB962C8B-B14F-4D97-AF65-F5344CB8AC3E}">
        <p14:creationId xmlns:p14="http://schemas.microsoft.com/office/powerpoint/2010/main" val="3494214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500"/>
                                        <p:tgtEl>
                                          <p:spTgt spid="3">
                                            <p:txEl>
                                              <p:pRg st="6" end="6"/>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animEffect transition="in" filter="fade">
                                      <p:cBhvr>
                                        <p:cTn id="33" dur="500"/>
                                        <p:tgtEl>
                                          <p:spTgt spid="3">
                                            <p:txEl>
                                              <p:pRg st="7" end="7"/>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3">
                                            <p:txEl>
                                              <p:pRg st="8" end="8"/>
                                            </p:txEl>
                                          </p:spTgt>
                                        </p:tgtEl>
                                        <p:attrNameLst>
                                          <p:attrName>style.visibility</p:attrName>
                                        </p:attrNameLst>
                                      </p:cBhvr>
                                      <p:to>
                                        <p:strVal val="visible"/>
                                      </p:to>
                                    </p:set>
                                    <p:animEffect transition="in" filter="fade">
                                      <p:cBhvr>
                                        <p:cTn id="38" dur="500"/>
                                        <p:tgtEl>
                                          <p:spTgt spid="3">
                                            <p:txEl>
                                              <p:pRg st="8" end="8"/>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animEffect transition="in" filter="fade">
                                      <p:cBhvr>
                                        <p:cTn id="43" dur="500"/>
                                        <p:tgtEl>
                                          <p:spTgt spid="3">
                                            <p:txEl>
                                              <p:pRg st="9" end="9"/>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3">
                                            <p:txEl>
                                              <p:pRg st="10" end="10"/>
                                            </p:txEl>
                                          </p:spTgt>
                                        </p:tgtEl>
                                        <p:attrNameLst>
                                          <p:attrName>style.visibility</p:attrName>
                                        </p:attrNameLst>
                                      </p:cBhvr>
                                      <p:to>
                                        <p:strVal val="visible"/>
                                      </p:to>
                                    </p:set>
                                    <p:animEffect transition="in" filter="fade">
                                      <p:cBhvr>
                                        <p:cTn id="48"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41DB0-A146-3F44-64B5-8B30CF7E72C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43A8C70-A32C-4847-E6F6-427AA514BAAD}"/>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71431F7-047C-2EBB-C716-642AE5806E58}"/>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Tariffs on Imports: Deadweight Loss</a:t>
            </a:r>
          </a:p>
        </p:txBody>
      </p:sp>
      <p:sp>
        <p:nvSpPr>
          <p:cNvPr id="5" name="Rectangle 4">
            <a:extLst>
              <a:ext uri="{FF2B5EF4-FFF2-40B4-BE49-F238E27FC236}">
                <a16:creationId xmlns:a16="http://schemas.microsoft.com/office/drawing/2014/main" id="{BFD67B56-9F31-E8AF-9537-4B132AE58FE0}"/>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ECBACF48-2312-6BC9-FC09-9B437979804D}"/>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ED4BCC66-A40F-FB10-DE0C-9F6DD80F7EBE}"/>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22</a:t>
            </a:fld>
            <a:r>
              <a:rPr lang="en-US" b="1" dirty="0">
                <a:solidFill>
                  <a:schemeClr val="bg1"/>
                </a:solidFill>
                <a:latin typeface="Garamond" panose="02020404030301010803" pitchFamily="18" charset="0"/>
              </a:rPr>
              <a:t> </a:t>
            </a:r>
          </a:p>
        </p:txBody>
      </p:sp>
      <p:sp>
        <p:nvSpPr>
          <p:cNvPr id="3" name="Content Placeholder 2">
            <a:extLst>
              <a:ext uri="{FF2B5EF4-FFF2-40B4-BE49-F238E27FC236}">
                <a16:creationId xmlns:a16="http://schemas.microsoft.com/office/drawing/2014/main" id="{D13C811D-5AFE-AC7F-8326-66FC753C807D}"/>
              </a:ext>
            </a:extLst>
          </p:cNvPr>
          <p:cNvSpPr>
            <a:spLocks noGrp="1"/>
          </p:cNvSpPr>
          <p:nvPr>
            <p:ph idx="1"/>
          </p:nvPr>
        </p:nvSpPr>
        <p:spPr>
          <a:xfrm>
            <a:off x="5029199" y="1300900"/>
            <a:ext cx="6702428" cy="4937975"/>
          </a:xfrm>
        </p:spPr>
        <p:txBody>
          <a:bodyPr>
            <a:normAutofit/>
          </a:bodyPr>
          <a:lstStyle/>
          <a:p>
            <a:pPr>
              <a:spcBef>
                <a:spcPts val="576"/>
              </a:spcBef>
              <a:defRPr sz="2000">
                <a:solidFill>
                  <a:srgbClr val="000000"/>
                </a:solidFill>
                <a:latin typeface="Garamond"/>
              </a:defRPr>
            </a:pPr>
            <a:r>
              <a:rPr lang="en-US" altLang="zh-TW" sz="2400" dirty="0"/>
              <a:t>The area D+F represents the Deadweight Loss (DWL) of tariffs.</a:t>
            </a:r>
          </a:p>
          <a:p>
            <a:pPr lvl="1">
              <a:spcBef>
                <a:spcPts val="576"/>
              </a:spcBef>
              <a:defRPr sz="2000">
                <a:solidFill>
                  <a:srgbClr val="000000"/>
                </a:solidFill>
                <a:latin typeface="Garamond"/>
              </a:defRPr>
            </a:pPr>
            <a:endParaRPr lang="en-US" altLang="zh-TW" sz="1200" dirty="0"/>
          </a:p>
          <a:p>
            <a:pPr>
              <a:spcBef>
                <a:spcPts val="576"/>
              </a:spcBef>
              <a:defRPr sz="2000">
                <a:solidFill>
                  <a:srgbClr val="000000"/>
                </a:solidFill>
                <a:latin typeface="Garamond"/>
              </a:defRPr>
            </a:pPr>
            <a:r>
              <a:rPr lang="en-US" altLang="zh-TW" sz="2400" dirty="0"/>
              <a:t>Tariffs are taxes, taxes distort incentives, and this leads to DWL in the market.</a:t>
            </a:r>
          </a:p>
          <a:p>
            <a:pPr lvl="1">
              <a:spcBef>
                <a:spcPts val="576"/>
              </a:spcBef>
              <a:defRPr sz="2000">
                <a:solidFill>
                  <a:srgbClr val="000000"/>
                </a:solidFill>
                <a:latin typeface="Garamond"/>
              </a:defRPr>
            </a:pPr>
            <a:r>
              <a:rPr lang="en-US" altLang="zh-TW" sz="2000" dirty="0"/>
              <a:t>The tariff causes the economy to devote more resources to produce a good that could have been produced at a lower opportunity cost (Area D).</a:t>
            </a:r>
          </a:p>
          <a:p>
            <a:pPr lvl="1">
              <a:spcBef>
                <a:spcPts val="576"/>
              </a:spcBef>
              <a:defRPr sz="2000">
                <a:solidFill>
                  <a:srgbClr val="000000"/>
                </a:solidFill>
                <a:latin typeface="Garamond"/>
              </a:defRPr>
            </a:pPr>
            <a:r>
              <a:rPr lang="en-US" altLang="zh-TW" sz="2000" dirty="0"/>
              <a:t>The tariff also prices out some consumers, due to the increased price of said good (Area F).</a:t>
            </a:r>
          </a:p>
          <a:p>
            <a:pPr lvl="3">
              <a:spcBef>
                <a:spcPts val="576"/>
              </a:spcBef>
              <a:defRPr sz="2000">
                <a:solidFill>
                  <a:srgbClr val="000000"/>
                </a:solidFill>
                <a:latin typeface="Garamond"/>
              </a:defRPr>
            </a:pPr>
            <a:endParaRPr lang="en-US" altLang="zh-TW" sz="1200" dirty="0"/>
          </a:p>
          <a:p>
            <a:pPr>
              <a:spcBef>
                <a:spcPts val="576"/>
              </a:spcBef>
              <a:defRPr sz="2000">
                <a:solidFill>
                  <a:srgbClr val="000000"/>
                </a:solidFill>
                <a:latin typeface="Garamond"/>
              </a:defRPr>
            </a:pPr>
            <a:r>
              <a:rPr lang="en-US" altLang="zh-TW" sz="2400" dirty="0"/>
              <a:t>Overall, the welfare loss from the tariffs is greater than the welfare gain, so total surplus falls.</a:t>
            </a:r>
          </a:p>
          <a:p>
            <a:pPr>
              <a:spcBef>
                <a:spcPts val="576"/>
              </a:spcBef>
              <a:defRPr sz="2000">
                <a:solidFill>
                  <a:srgbClr val="000000"/>
                </a:solidFill>
                <a:latin typeface="Garamond"/>
              </a:defRPr>
            </a:pPr>
            <a:endParaRPr lang="en-US" altLang="zh-TW" sz="2400" dirty="0"/>
          </a:p>
          <a:p>
            <a:pPr>
              <a:spcBef>
                <a:spcPts val="576"/>
              </a:spcBef>
              <a:defRPr sz="2000">
                <a:solidFill>
                  <a:srgbClr val="000000"/>
                </a:solidFill>
                <a:latin typeface="Garamond"/>
              </a:defRPr>
            </a:pPr>
            <a:endParaRPr lang="en-US" altLang="zh-TW" sz="2400" dirty="0"/>
          </a:p>
          <a:p>
            <a:pPr>
              <a:spcBef>
                <a:spcPts val="576"/>
              </a:spcBef>
              <a:defRPr sz="2000">
                <a:solidFill>
                  <a:srgbClr val="000000"/>
                </a:solidFill>
                <a:latin typeface="Garamond"/>
              </a:defRPr>
            </a:pPr>
            <a:endParaRPr lang="en-US" altLang="zh-TW" sz="2000" dirty="0"/>
          </a:p>
        </p:txBody>
      </p:sp>
      <p:pic>
        <p:nvPicPr>
          <p:cNvPr id="10" name="Picture 9">
            <a:extLst>
              <a:ext uri="{FF2B5EF4-FFF2-40B4-BE49-F238E27FC236}">
                <a16:creationId xmlns:a16="http://schemas.microsoft.com/office/drawing/2014/main" id="{7AF99F5F-FB5D-8B44-9D55-6FA09D5B2E41}"/>
              </a:ext>
            </a:extLst>
          </p:cNvPr>
          <p:cNvPicPr>
            <a:picLocks noChangeAspect="1"/>
          </p:cNvPicPr>
          <p:nvPr/>
        </p:nvPicPr>
        <p:blipFill>
          <a:blip r:embed="rId2"/>
          <a:srcRect/>
          <a:stretch/>
        </p:blipFill>
        <p:spPr>
          <a:xfrm>
            <a:off x="457198" y="1300900"/>
            <a:ext cx="4572000" cy="4572000"/>
          </a:xfrm>
          <a:prstGeom prst="rect">
            <a:avLst/>
          </a:prstGeom>
        </p:spPr>
      </p:pic>
    </p:spTree>
    <p:extLst>
      <p:ext uri="{BB962C8B-B14F-4D97-AF65-F5344CB8AC3E}">
        <p14:creationId xmlns:p14="http://schemas.microsoft.com/office/powerpoint/2010/main" val="110492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6" end="6"/>
                                            </p:txEl>
                                          </p:spTgt>
                                        </p:tgtEl>
                                        <p:attrNameLst>
                                          <p:attrName>style.visibility</p:attrName>
                                        </p:attrNameLst>
                                      </p:cBhvr>
                                      <p:to>
                                        <p:strVal val="visible"/>
                                      </p:to>
                                    </p:set>
                                    <p:animEffect transition="in" filter="fade">
                                      <p:cBhvr>
                                        <p:cTn id="30"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34621A-45B0-BD44-ED52-6D83014EE0F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5E095F8-E085-3C2C-7931-E05BCA13655E}"/>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C733F7-F875-B3FF-0C26-06112C6B4799}"/>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Tariffs on Imports: A Summary</a:t>
            </a:r>
          </a:p>
        </p:txBody>
      </p:sp>
      <p:sp>
        <p:nvSpPr>
          <p:cNvPr id="5" name="Rectangle 4">
            <a:extLst>
              <a:ext uri="{FF2B5EF4-FFF2-40B4-BE49-F238E27FC236}">
                <a16:creationId xmlns:a16="http://schemas.microsoft.com/office/drawing/2014/main" id="{5D705503-0BDC-5AA1-57D9-AE54C08CA806}"/>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9FF4FB5D-AC06-57B0-8FA3-1D9619A02993}"/>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F37DFDE5-9932-DF53-E139-93069D068997}"/>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23</a:t>
            </a:fld>
            <a:r>
              <a:rPr lang="en-US" b="1" dirty="0">
                <a:solidFill>
                  <a:schemeClr val="bg1"/>
                </a:solidFill>
                <a:latin typeface="Garamond" panose="02020404030301010803" pitchFamily="18" charset="0"/>
              </a:rPr>
              <a:t> </a:t>
            </a:r>
          </a:p>
        </p:txBody>
      </p:sp>
      <p:sp>
        <p:nvSpPr>
          <p:cNvPr id="3" name="Content Placeholder 2">
            <a:extLst>
              <a:ext uri="{FF2B5EF4-FFF2-40B4-BE49-F238E27FC236}">
                <a16:creationId xmlns:a16="http://schemas.microsoft.com/office/drawing/2014/main" id="{C2815601-F0B6-C111-1F43-C1ED9D0842D4}"/>
              </a:ext>
            </a:extLst>
          </p:cNvPr>
          <p:cNvSpPr>
            <a:spLocks noGrp="1"/>
          </p:cNvSpPr>
          <p:nvPr>
            <p:ph idx="1"/>
          </p:nvPr>
        </p:nvSpPr>
        <p:spPr>
          <a:xfrm>
            <a:off x="5029199" y="1300900"/>
            <a:ext cx="6702428" cy="4937975"/>
          </a:xfrm>
        </p:spPr>
        <p:txBody>
          <a:bodyPr>
            <a:normAutofit/>
          </a:bodyPr>
          <a:lstStyle/>
          <a:p>
            <a:pPr>
              <a:spcBef>
                <a:spcPts val="576"/>
              </a:spcBef>
              <a:defRPr sz="2000">
                <a:solidFill>
                  <a:srgbClr val="000000"/>
                </a:solidFill>
                <a:latin typeface="Garamond"/>
              </a:defRPr>
            </a:pPr>
            <a:r>
              <a:rPr lang="en-US" altLang="zh-TW" sz="2400" dirty="0"/>
              <a:t>A quick summary of the welfare implications of tariffs is listed in the table below:</a:t>
            </a:r>
          </a:p>
          <a:p>
            <a:pPr>
              <a:spcBef>
                <a:spcPts val="576"/>
              </a:spcBef>
              <a:defRPr sz="2000">
                <a:solidFill>
                  <a:srgbClr val="000000"/>
                </a:solidFill>
                <a:latin typeface="Garamond"/>
              </a:defRPr>
            </a:pPr>
            <a:endParaRPr lang="en-US" altLang="zh-TW" sz="2400" dirty="0"/>
          </a:p>
          <a:p>
            <a:pPr>
              <a:spcBef>
                <a:spcPts val="576"/>
              </a:spcBef>
              <a:defRPr sz="2000">
                <a:solidFill>
                  <a:srgbClr val="000000"/>
                </a:solidFill>
                <a:latin typeface="Garamond"/>
              </a:defRPr>
            </a:pPr>
            <a:endParaRPr lang="en-US" altLang="zh-TW" sz="2400" dirty="0"/>
          </a:p>
          <a:p>
            <a:pPr>
              <a:spcBef>
                <a:spcPts val="576"/>
              </a:spcBef>
              <a:defRPr sz="2000">
                <a:solidFill>
                  <a:srgbClr val="000000"/>
                </a:solidFill>
                <a:latin typeface="Garamond"/>
              </a:defRPr>
            </a:pPr>
            <a:endParaRPr lang="en-US" altLang="zh-TW" sz="2400" dirty="0"/>
          </a:p>
          <a:p>
            <a:pPr>
              <a:spcBef>
                <a:spcPts val="576"/>
              </a:spcBef>
              <a:defRPr sz="2000">
                <a:solidFill>
                  <a:srgbClr val="000000"/>
                </a:solidFill>
                <a:latin typeface="Garamond"/>
              </a:defRPr>
            </a:pPr>
            <a:endParaRPr lang="en-US" altLang="zh-TW" sz="2400" dirty="0"/>
          </a:p>
          <a:p>
            <a:pPr marL="1371600" lvl="3" indent="0">
              <a:spcBef>
                <a:spcPts val="576"/>
              </a:spcBef>
              <a:buNone/>
              <a:defRPr sz="2000">
                <a:solidFill>
                  <a:srgbClr val="000000"/>
                </a:solidFill>
                <a:latin typeface="Garamond"/>
              </a:defRPr>
            </a:pPr>
            <a:endParaRPr lang="en-US" altLang="zh-TW" sz="1200" dirty="0"/>
          </a:p>
          <a:p>
            <a:pPr marL="0" indent="0">
              <a:spcBef>
                <a:spcPts val="576"/>
              </a:spcBef>
              <a:buNone/>
              <a:defRPr sz="2000">
                <a:solidFill>
                  <a:srgbClr val="000000"/>
                </a:solidFill>
                <a:latin typeface="Garamond"/>
              </a:defRPr>
            </a:pPr>
            <a:endParaRPr lang="en-US" altLang="zh-TW" sz="2400" dirty="0"/>
          </a:p>
          <a:p>
            <a:pPr>
              <a:spcBef>
                <a:spcPts val="576"/>
              </a:spcBef>
              <a:defRPr sz="2000">
                <a:solidFill>
                  <a:srgbClr val="000000"/>
                </a:solidFill>
                <a:latin typeface="Garamond"/>
              </a:defRPr>
            </a:pPr>
            <a:endParaRPr lang="en-US" altLang="zh-TW" sz="2400" dirty="0"/>
          </a:p>
          <a:p>
            <a:pPr>
              <a:spcBef>
                <a:spcPts val="576"/>
              </a:spcBef>
              <a:defRPr sz="2000">
                <a:solidFill>
                  <a:srgbClr val="000000"/>
                </a:solidFill>
                <a:latin typeface="Garamond"/>
              </a:defRPr>
            </a:pPr>
            <a:endParaRPr lang="en-US" altLang="zh-TW" sz="2000" dirty="0"/>
          </a:p>
        </p:txBody>
      </p:sp>
      <p:pic>
        <p:nvPicPr>
          <p:cNvPr id="10" name="Picture 9">
            <a:extLst>
              <a:ext uri="{FF2B5EF4-FFF2-40B4-BE49-F238E27FC236}">
                <a16:creationId xmlns:a16="http://schemas.microsoft.com/office/drawing/2014/main" id="{3A2BE9A1-16A0-3170-1E97-F972E517BE2B}"/>
              </a:ext>
            </a:extLst>
          </p:cNvPr>
          <p:cNvPicPr>
            <a:picLocks noChangeAspect="1"/>
          </p:cNvPicPr>
          <p:nvPr/>
        </p:nvPicPr>
        <p:blipFill>
          <a:blip r:embed="rId2"/>
          <a:srcRect/>
          <a:stretch/>
        </p:blipFill>
        <p:spPr>
          <a:xfrm>
            <a:off x="457198" y="1300900"/>
            <a:ext cx="4572000" cy="4572000"/>
          </a:xfrm>
          <a:prstGeom prst="rect">
            <a:avLst/>
          </a:prstGeom>
        </p:spPr>
      </p:pic>
      <p:graphicFrame>
        <p:nvGraphicFramePr>
          <p:cNvPr id="8" name="Table 7">
            <a:extLst>
              <a:ext uri="{FF2B5EF4-FFF2-40B4-BE49-F238E27FC236}">
                <a16:creationId xmlns:a16="http://schemas.microsoft.com/office/drawing/2014/main" id="{A78B6A32-8831-F294-1848-7B21C223E3BB}"/>
              </a:ext>
            </a:extLst>
          </p:cNvPr>
          <p:cNvGraphicFramePr>
            <a:graphicFrameLocks noGrp="1"/>
          </p:cNvGraphicFramePr>
          <p:nvPr>
            <p:extLst>
              <p:ext uri="{D42A27DB-BD31-4B8C-83A1-F6EECF244321}">
                <p14:modId xmlns:p14="http://schemas.microsoft.com/office/powerpoint/2010/main" val="2483524004"/>
              </p:ext>
            </p:extLst>
          </p:nvPr>
        </p:nvGraphicFramePr>
        <p:xfrm>
          <a:off x="5029197" y="2128479"/>
          <a:ext cx="6702428" cy="1854200"/>
        </p:xfrm>
        <a:graphic>
          <a:graphicData uri="http://schemas.openxmlformats.org/drawingml/2006/table">
            <a:tbl>
              <a:tblPr firstRow="1" bandRow="1">
                <a:tableStyleId>{5C22544A-7EE6-4342-B048-85BDC9FD1C3A}</a:tableStyleId>
              </a:tblPr>
              <a:tblGrid>
                <a:gridCol w="1431143">
                  <a:extLst>
                    <a:ext uri="{9D8B030D-6E8A-4147-A177-3AD203B41FA5}">
                      <a16:colId xmlns:a16="http://schemas.microsoft.com/office/drawing/2014/main" val="3598937401"/>
                    </a:ext>
                  </a:extLst>
                </a:gridCol>
                <a:gridCol w="2361945">
                  <a:extLst>
                    <a:ext uri="{9D8B030D-6E8A-4147-A177-3AD203B41FA5}">
                      <a16:colId xmlns:a16="http://schemas.microsoft.com/office/drawing/2014/main" val="2169659597"/>
                    </a:ext>
                  </a:extLst>
                </a:gridCol>
                <a:gridCol w="1715575">
                  <a:extLst>
                    <a:ext uri="{9D8B030D-6E8A-4147-A177-3AD203B41FA5}">
                      <a16:colId xmlns:a16="http://schemas.microsoft.com/office/drawing/2014/main" val="1751646114"/>
                    </a:ext>
                  </a:extLst>
                </a:gridCol>
                <a:gridCol w="1193765">
                  <a:extLst>
                    <a:ext uri="{9D8B030D-6E8A-4147-A177-3AD203B41FA5}">
                      <a16:colId xmlns:a16="http://schemas.microsoft.com/office/drawing/2014/main" val="1989637859"/>
                    </a:ext>
                  </a:extLst>
                </a:gridCol>
              </a:tblGrid>
              <a:tr h="370840">
                <a:tc>
                  <a:txBody>
                    <a:bodyPr/>
                    <a:lstStyle/>
                    <a:p>
                      <a:pPr algn="ctr"/>
                      <a:endParaRPr lang="en-US" dirty="0">
                        <a:latin typeface="Garamond" panose="02020404030301010803" pitchFamily="18" charset="0"/>
                      </a:endParaRPr>
                    </a:p>
                  </a:txBody>
                  <a:tcPr>
                    <a:solidFill>
                      <a:srgbClr val="77122C"/>
                    </a:solidFill>
                  </a:tcPr>
                </a:tc>
                <a:tc>
                  <a:txBody>
                    <a:bodyPr/>
                    <a:lstStyle/>
                    <a:p>
                      <a:pPr algn="ctr"/>
                      <a:r>
                        <a:rPr lang="en-US" dirty="0">
                          <a:latin typeface="Garamond" panose="02020404030301010803" pitchFamily="18" charset="0"/>
                        </a:rPr>
                        <a:t>Free Trade</a:t>
                      </a:r>
                    </a:p>
                  </a:txBody>
                  <a:tcPr>
                    <a:solidFill>
                      <a:srgbClr val="77122C"/>
                    </a:solidFill>
                  </a:tcPr>
                </a:tc>
                <a:tc>
                  <a:txBody>
                    <a:bodyPr/>
                    <a:lstStyle/>
                    <a:p>
                      <a:pPr algn="ctr"/>
                      <a:r>
                        <a:rPr lang="en-US" dirty="0">
                          <a:latin typeface="Garamond" panose="02020404030301010803" pitchFamily="18" charset="0"/>
                        </a:rPr>
                        <a:t>With Tariffs</a:t>
                      </a:r>
                    </a:p>
                  </a:txBody>
                  <a:tcPr>
                    <a:solidFill>
                      <a:srgbClr val="77122C"/>
                    </a:solidFill>
                  </a:tcPr>
                </a:tc>
                <a:tc>
                  <a:txBody>
                    <a:bodyPr/>
                    <a:lstStyle/>
                    <a:p>
                      <a:pPr algn="ctr"/>
                      <a:r>
                        <a:rPr lang="en-US" dirty="0">
                          <a:latin typeface="Garamond" panose="02020404030301010803" pitchFamily="18" charset="0"/>
                        </a:rPr>
                        <a:t>Change</a:t>
                      </a:r>
                    </a:p>
                  </a:txBody>
                  <a:tcPr>
                    <a:solidFill>
                      <a:srgbClr val="77122C"/>
                    </a:solidFill>
                  </a:tcPr>
                </a:tc>
                <a:extLst>
                  <a:ext uri="{0D108BD9-81ED-4DB2-BD59-A6C34878D82A}">
                    <a16:rowId xmlns:a16="http://schemas.microsoft.com/office/drawing/2014/main" val="227903503"/>
                  </a:ext>
                </a:extLst>
              </a:tr>
              <a:tr h="370840">
                <a:tc>
                  <a:txBody>
                    <a:bodyPr/>
                    <a:lstStyle/>
                    <a:p>
                      <a:pPr algn="ctr"/>
                      <a:r>
                        <a:rPr lang="en-US" dirty="0">
                          <a:latin typeface="Garamond" panose="02020404030301010803" pitchFamily="18" charset="0"/>
                        </a:rPr>
                        <a:t>CS</a:t>
                      </a:r>
                    </a:p>
                  </a:txBody>
                  <a:tcPr/>
                </a:tc>
                <a:tc>
                  <a:txBody>
                    <a:bodyPr/>
                    <a:lstStyle/>
                    <a:p>
                      <a:pPr algn="ctr"/>
                      <a:endParaRPr lang="en-US" dirty="0">
                        <a:latin typeface="Garamond" panose="02020404030301010803" pitchFamily="18" charset="0"/>
                      </a:endParaRPr>
                    </a:p>
                  </a:txBody>
                  <a:tcPr/>
                </a:tc>
                <a:tc>
                  <a:txBody>
                    <a:bodyPr/>
                    <a:lstStyle/>
                    <a:p>
                      <a:pPr algn="ctr"/>
                      <a:endParaRPr lang="en-US" dirty="0">
                        <a:latin typeface="Garamond" panose="02020404030301010803" pitchFamily="18" charset="0"/>
                      </a:endParaRPr>
                    </a:p>
                  </a:txBody>
                  <a:tcPr/>
                </a:tc>
                <a:tc>
                  <a:txBody>
                    <a:bodyPr/>
                    <a:lstStyle/>
                    <a:p>
                      <a:pPr algn="ctr"/>
                      <a:endParaRPr lang="en-US" dirty="0">
                        <a:latin typeface="Garamond" panose="02020404030301010803" pitchFamily="18" charset="0"/>
                      </a:endParaRPr>
                    </a:p>
                  </a:txBody>
                  <a:tcPr/>
                </a:tc>
                <a:extLst>
                  <a:ext uri="{0D108BD9-81ED-4DB2-BD59-A6C34878D82A}">
                    <a16:rowId xmlns:a16="http://schemas.microsoft.com/office/drawing/2014/main" val="2851790981"/>
                  </a:ext>
                </a:extLst>
              </a:tr>
              <a:tr h="370840">
                <a:tc>
                  <a:txBody>
                    <a:bodyPr/>
                    <a:lstStyle/>
                    <a:p>
                      <a:pPr algn="ctr"/>
                      <a:r>
                        <a:rPr lang="en-US" dirty="0">
                          <a:latin typeface="Garamond" panose="02020404030301010803" pitchFamily="18" charset="0"/>
                        </a:rPr>
                        <a:t>PS</a:t>
                      </a:r>
                    </a:p>
                  </a:txBody>
                  <a:tcPr/>
                </a:tc>
                <a:tc>
                  <a:txBody>
                    <a:bodyPr/>
                    <a:lstStyle/>
                    <a:p>
                      <a:pPr algn="ctr"/>
                      <a:endParaRPr lang="en-US" dirty="0">
                        <a:latin typeface="Garamond" panose="02020404030301010803" pitchFamily="18" charset="0"/>
                      </a:endParaRPr>
                    </a:p>
                  </a:txBody>
                  <a:tcPr/>
                </a:tc>
                <a:tc>
                  <a:txBody>
                    <a:bodyPr/>
                    <a:lstStyle/>
                    <a:p>
                      <a:pPr algn="ctr"/>
                      <a:endParaRPr lang="en-US" dirty="0">
                        <a:latin typeface="Garamond" panose="02020404030301010803" pitchFamily="18" charset="0"/>
                      </a:endParaRPr>
                    </a:p>
                  </a:txBody>
                  <a:tcPr/>
                </a:tc>
                <a:tc>
                  <a:txBody>
                    <a:bodyPr/>
                    <a:lstStyle/>
                    <a:p>
                      <a:pPr algn="ctr"/>
                      <a:endParaRPr lang="en-US" dirty="0">
                        <a:latin typeface="Garamond" panose="02020404030301010803" pitchFamily="18" charset="0"/>
                      </a:endParaRPr>
                    </a:p>
                  </a:txBody>
                  <a:tcPr/>
                </a:tc>
                <a:extLst>
                  <a:ext uri="{0D108BD9-81ED-4DB2-BD59-A6C34878D82A}">
                    <a16:rowId xmlns:a16="http://schemas.microsoft.com/office/drawing/2014/main" val="1423068346"/>
                  </a:ext>
                </a:extLst>
              </a:tr>
              <a:tr h="370840">
                <a:tc>
                  <a:txBody>
                    <a:bodyPr/>
                    <a:lstStyle/>
                    <a:p>
                      <a:pPr algn="ctr"/>
                      <a:r>
                        <a:rPr lang="en-US" dirty="0">
                          <a:latin typeface="Garamond" panose="02020404030301010803" pitchFamily="18" charset="0"/>
                        </a:rPr>
                        <a:t>Tax Revenue</a:t>
                      </a:r>
                    </a:p>
                  </a:txBody>
                  <a:tcPr/>
                </a:tc>
                <a:tc>
                  <a:txBody>
                    <a:bodyPr/>
                    <a:lstStyle/>
                    <a:p>
                      <a:pPr algn="ctr"/>
                      <a:endParaRPr lang="en-US" dirty="0">
                        <a:latin typeface="Garamond" panose="02020404030301010803" pitchFamily="18" charset="0"/>
                      </a:endParaRPr>
                    </a:p>
                  </a:txBody>
                  <a:tcPr/>
                </a:tc>
                <a:tc>
                  <a:txBody>
                    <a:bodyPr/>
                    <a:lstStyle/>
                    <a:p>
                      <a:pPr algn="ctr"/>
                      <a:endParaRPr lang="en-US" dirty="0">
                        <a:latin typeface="Garamond" panose="02020404030301010803" pitchFamily="18" charset="0"/>
                      </a:endParaRPr>
                    </a:p>
                  </a:txBody>
                  <a:tcPr/>
                </a:tc>
                <a:tc>
                  <a:txBody>
                    <a:bodyPr/>
                    <a:lstStyle/>
                    <a:p>
                      <a:pPr algn="ctr"/>
                      <a:endParaRPr lang="en-US" dirty="0">
                        <a:latin typeface="Garamond" panose="02020404030301010803" pitchFamily="18" charset="0"/>
                      </a:endParaRPr>
                    </a:p>
                  </a:txBody>
                  <a:tcPr/>
                </a:tc>
                <a:extLst>
                  <a:ext uri="{0D108BD9-81ED-4DB2-BD59-A6C34878D82A}">
                    <a16:rowId xmlns:a16="http://schemas.microsoft.com/office/drawing/2014/main" val="1292987066"/>
                  </a:ext>
                </a:extLst>
              </a:tr>
              <a:tr h="370840">
                <a:tc>
                  <a:txBody>
                    <a:bodyPr/>
                    <a:lstStyle/>
                    <a:p>
                      <a:pPr algn="ctr"/>
                      <a:r>
                        <a:rPr lang="en-US" dirty="0">
                          <a:latin typeface="Garamond" panose="02020404030301010803" pitchFamily="18" charset="0"/>
                        </a:rPr>
                        <a:t>Total Surplus</a:t>
                      </a:r>
                    </a:p>
                  </a:txBody>
                  <a:tcPr/>
                </a:tc>
                <a:tc>
                  <a:txBody>
                    <a:bodyPr/>
                    <a:lstStyle/>
                    <a:p>
                      <a:pPr algn="ctr"/>
                      <a:endParaRPr lang="en-US" dirty="0">
                        <a:latin typeface="Garamond" panose="02020404030301010803" pitchFamily="18" charset="0"/>
                      </a:endParaRPr>
                    </a:p>
                  </a:txBody>
                  <a:tcPr/>
                </a:tc>
                <a:tc>
                  <a:txBody>
                    <a:bodyPr/>
                    <a:lstStyle/>
                    <a:p>
                      <a:pPr algn="ctr"/>
                      <a:endParaRPr lang="en-US" dirty="0">
                        <a:latin typeface="Garamond" panose="02020404030301010803" pitchFamily="18" charset="0"/>
                      </a:endParaRPr>
                    </a:p>
                  </a:txBody>
                  <a:tcPr/>
                </a:tc>
                <a:tc>
                  <a:txBody>
                    <a:bodyPr/>
                    <a:lstStyle/>
                    <a:p>
                      <a:pPr algn="ctr"/>
                      <a:endParaRPr lang="en-US" dirty="0">
                        <a:latin typeface="Garamond" panose="02020404030301010803" pitchFamily="18" charset="0"/>
                      </a:endParaRPr>
                    </a:p>
                  </a:txBody>
                  <a:tcPr/>
                </a:tc>
                <a:extLst>
                  <a:ext uri="{0D108BD9-81ED-4DB2-BD59-A6C34878D82A}">
                    <a16:rowId xmlns:a16="http://schemas.microsoft.com/office/drawing/2014/main" val="3450253966"/>
                  </a:ext>
                </a:extLst>
              </a:tr>
            </a:tbl>
          </a:graphicData>
        </a:graphic>
      </p:graphicFrame>
      <p:graphicFrame>
        <p:nvGraphicFramePr>
          <p:cNvPr id="11" name="Table 10">
            <a:extLst>
              <a:ext uri="{FF2B5EF4-FFF2-40B4-BE49-F238E27FC236}">
                <a16:creationId xmlns:a16="http://schemas.microsoft.com/office/drawing/2014/main" id="{005AB5F5-A7B2-9081-D077-7755C52192B2}"/>
              </a:ext>
            </a:extLst>
          </p:cNvPr>
          <p:cNvGraphicFramePr>
            <a:graphicFrameLocks noGrp="1"/>
          </p:cNvGraphicFramePr>
          <p:nvPr>
            <p:extLst>
              <p:ext uri="{D42A27DB-BD31-4B8C-83A1-F6EECF244321}">
                <p14:modId xmlns:p14="http://schemas.microsoft.com/office/powerpoint/2010/main" val="1154727724"/>
              </p:ext>
            </p:extLst>
          </p:nvPr>
        </p:nvGraphicFramePr>
        <p:xfrm>
          <a:off x="5029195" y="2128479"/>
          <a:ext cx="6702428" cy="1854200"/>
        </p:xfrm>
        <a:graphic>
          <a:graphicData uri="http://schemas.openxmlformats.org/drawingml/2006/table">
            <a:tbl>
              <a:tblPr firstRow="1" bandRow="1">
                <a:tableStyleId>{5C22544A-7EE6-4342-B048-85BDC9FD1C3A}</a:tableStyleId>
              </a:tblPr>
              <a:tblGrid>
                <a:gridCol w="1431143">
                  <a:extLst>
                    <a:ext uri="{9D8B030D-6E8A-4147-A177-3AD203B41FA5}">
                      <a16:colId xmlns:a16="http://schemas.microsoft.com/office/drawing/2014/main" val="3598937401"/>
                    </a:ext>
                  </a:extLst>
                </a:gridCol>
                <a:gridCol w="2361945">
                  <a:extLst>
                    <a:ext uri="{9D8B030D-6E8A-4147-A177-3AD203B41FA5}">
                      <a16:colId xmlns:a16="http://schemas.microsoft.com/office/drawing/2014/main" val="2169659597"/>
                    </a:ext>
                  </a:extLst>
                </a:gridCol>
                <a:gridCol w="1715575">
                  <a:extLst>
                    <a:ext uri="{9D8B030D-6E8A-4147-A177-3AD203B41FA5}">
                      <a16:colId xmlns:a16="http://schemas.microsoft.com/office/drawing/2014/main" val="1751646114"/>
                    </a:ext>
                  </a:extLst>
                </a:gridCol>
                <a:gridCol w="1193765">
                  <a:extLst>
                    <a:ext uri="{9D8B030D-6E8A-4147-A177-3AD203B41FA5}">
                      <a16:colId xmlns:a16="http://schemas.microsoft.com/office/drawing/2014/main" val="1989637859"/>
                    </a:ext>
                  </a:extLst>
                </a:gridCol>
              </a:tblGrid>
              <a:tr h="370840">
                <a:tc>
                  <a:txBody>
                    <a:bodyPr/>
                    <a:lstStyle/>
                    <a:p>
                      <a:pPr algn="ctr"/>
                      <a:endParaRPr lang="en-US" dirty="0">
                        <a:latin typeface="Garamond" panose="02020404030301010803" pitchFamily="18" charset="0"/>
                      </a:endParaRPr>
                    </a:p>
                  </a:txBody>
                  <a:tcPr>
                    <a:solidFill>
                      <a:srgbClr val="77122C"/>
                    </a:solidFill>
                  </a:tcPr>
                </a:tc>
                <a:tc>
                  <a:txBody>
                    <a:bodyPr/>
                    <a:lstStyle/>
                    <a:p>
                      <a:pPr algn="ctr"/>
                      <a:r>
                        <a:rPr lang="en-US" dirty="0">
                          <a:latin typeface="Garamond" panose="02020404030301010803" pitchFamily="18" charset="0"/>
                        </a:rPr>
                        <a:t>Free Trade</a:t>
                      </a:r>
                    </a:p>
                  </a:txBody>
                  <a:tcPr>
                    <a:solidFill>
                      <a:srgbClr val="77122C"/>
                    </a:solidFill>
                  </a:tcPr>
                </a:tc>
                <a:tc>
                  <a:txBody>
                    <a:bodyPr/>
                    <a:lstStyle/>
                    <a:p>
                      <a:pPr algn="ctr"/>
                      <a:r>
                        <a:rPr lang="en-US" dirty="0">
                          <a:latin typeface="Garamond" panose="02020404030301010803" pitchFamily="18" charset="0"/>
                        </a:rPr>
                        <a:t>With Tariffs</a:t>
                      </a:r>
                    </a:p>
                  </a:txBody>
                  <a:tcPr>
                    <a:solidFill>
                      <a:srgbClr val="77122C"/>
                    </a:solidFill>
                  </a:tcPr>
                </a:tc>
                <a:tc>
                  <a:txBody>
                    <a:bodyPr/>
                    <a:lstStyle/>
                    <a:p>
                      <a:pPr algn="ctr"/>
                      <a:r>
                        <a:rPr lang="en-US" dirty="0">
                          <a:latin typeface="Garamond" panose="02020404030301010803" pitchFamily="18" charset="0"/>
                        </a:rPr>
                        <a:t>Change</a:t>
                      </a:r>
                    </a:p>
                  </a:txBody>
                  <a:tcPr>
                    <a:solidFill>
                      <a:srgbClr val="77122C"/>
                    </a:solidFill>
                  </a:tcPr>
                </a:tc>
                <a:extLst>
                  <a:ext uri="{0D108BD9-81ED-4DB2-BD59-A6C34878D82A}">
                    <a16:rowId xmlns:a16="http://schemas.microsoft.com/office/drawing/2014/main" val="227903503"/>
                  </a:ext>
                </a:extLst>
              </a:tr>
              <a:tr h="370840">
                <a:tc>
                  <a:txBody>
                    <a:bodyPr/>
                    <a:lstStyle/>
                    <a:p>
                      <a:pPr algn="ctr"/>
                      <a:r>
                        <a:rPr lang="en-US" dirty="0">
                          <a:latin typeface="Garamond" panose="02020404030301010803" pitchFamily="18" charset="0"/>
                        </a:rPr>
                        <a:t>CS</a:t>
                      </a:r>
                    </a:p>
                  </a:txBody>
                  <a:tcPr/>
                </a:tc>
                <a:tc>
                  <a:txBody>
                    <a:bodyPr/>
                    <a:lstStyle/>
                    <a:p>
                      <a:pPr algn="ctr"/>
                      <a:r>
                        <a:rPr lang="en-US" dirty="0">
                          <a:latin typeface="Garamond" panose="02020404030301010803" pitchFamily="18" charset="0"/>
                        </a:rPr>
                        <a:t>A+B+C+D+E+F</a:t>
                      </a:r>
                    </a:p>
                  </a:txBody>
                  <a:tcPr/>
                </a:tc>
                <a:tc>
                  <a:txBody>
                    <a:bodyPr/>
                    <a:lstStyle/>
                    <a:p>
                      <a:pPr algn="ctr"/>
                      <a:r>
                        <a:rPr lang="en-US" dirty="0">
                          <a:latin typeface="Garamond" panose="02020404030301010803" pitchFamily="18" charset="0"/>
                        </a:rPr>
                        <a:t>A+B</a:t>
                      </a:r>
                    </a:p>
                  </a:txBody>
                  <a:tcPr/>
                </a:tc>
                <a:tc>
                  <a:txBody>
                    <a:bodyPr/>
                    <a:lstStyle/>
                    <a:p>
                      <a:pPr algn="ctr"/>
                      <a:r>
                        <a:rPr lang="en-US" dirty="0">
                          <a:latin typeface="Garamond" panose="02020404030301010803" pitchFamily="18" charset="0"/>
                        </a:rPr>
                        <a:t>-C-D-E-F</a:t>
                      </a:r>
                    </a:p>
                  </a:txBody>
                  <a:tcPr/>
                </a:tc>
                <a:extLst>
                  <a:ext uri="{0D108BD9-81ED-4DB2-BD59-A6C34878D82A}">
                    <a16:rowId xmlns:a16="http://schemas.microsoft.com/office/drawing/2014/main" val="2851790981"/>
                  </a:ext>
                </a:extLst>
              </a:tr>
              <a:tr h="370840">
                <a:tc>
                  <a:txBody>
                    <a:bodyPr/>
                    <a:lstStyle/>
                    <a:p>
                      <a:pPr algn="ctr"/>
                      <a:r>
                        <a:rPr lang="en-US" dirty="0">
                          <a:latin typeface="Garamond" panose="02020404030301010803" pitchFamily="18" charset="0"/>
                        </a:rPr>
                        <a:t>PS</a:t>
                      </a:r>
                    </a:p>
                  </a:txBody>
                  <a:tcPr/>
                </a:tc>
                <a:tc>
                  <a:txBody>
                    <a:bodyPr/>
                    <a:lstStyle/>
                    <a:p>
                      <a:pPr algn="ctr"/>
                      <a:endParaRPr lang="en-US" dirty="0">
                        <a:latin typeface="Garamond" panose="02020404030301010803" pitchFamily="18" charset="0"/>
                      </a:endParaRPr>
                    </a:p>
                  </a:txBody>
                  <a:tcPr/>
                </a:tc>
                <a:tc>
                  <a:txBody>
                    <a:bodyPr/>
                    <a:lstStyle/>
                    <a:p>
                      <a:pPr algn="ctr"/>
                      <a:endParaRPr lang="en-US" dirty="0">
                        <a:latin typeface="Garamond" panose="02020404030301010803" pitchFamily="18" charset="0"/>
                      </a:endParaRPr>
                    </a:p>
                  </a:txBody>
                  <a:tcPr/>
                </a:tc>
                <a:tc>
                  <a:txBody>
                    <a:bodyPr/>
                    <a:lstStyle/>
                    <a:p>
                      <a:pPr algn="ctr"/>
                      <a:endParaRPr lang="en-US" dirty="0">
                        <a:latin typeface="Garamond" panose="02020404030301010803" pitchFamily="18" charset="0"/>
                      </a:endParaRPr>
                    </a:p>
                  </a:txBody>
                  <a:tcPr/>
                </a:tc>
                <a:extLst>
                  <a:ext uri="{0D108BD9-81ED-4DB2-BD59-A6C34878D82A}">
                    <a16:rowId xmlns:a16="http://schemas.microsoft.com/office/drawing/2014/main" val="1423068346"/>
                  </a:ext>
                </a:extLst>
              </a:tr>
              <a:tr h="370840">
                <a:tc>
                  <a:txBody>
                    <a:bodyPr/>
                    <a:lstStyle/>
                    <a:p>
                      <a:pPr algn="ctr"/>
                      <a:r>
                        <a:rPr lang="en-US" dirty="0">
                          <a:latin typeface="Garamond" panose="02020404030301010803" pitchFamily="18" charset="0"/>
                        </a:rPr>
                        <a:t>Tax Revenue</a:t>
                      </a:r>
                    </a:p>
                  </a:txBody>
                  <a:tcPr/>
                </a:tc>
                <a:tc>
                  <a:txBody>
                    <a:bodyPr/>
                    <a:lstStyle/>
                    <a:p>
                      <a:pPr algn="ctr"/>
                      <a:endParaRPr lang="en-US" dirty="0">
                        <a:latin typeface="Garamond" panose="02020404030301010803" pitchFamily="18" charset="0"/>
                      </a:endParaRPr>
                    </a:p>
                  </a:txBody>
                  <a:tcPr/>
                </a:tc>
                <a:tc>
                  <a:txBody>
                    <a:bodyPr/>
                    <a:lstStyle/>
                    <a:p>
                      <a:pPr algn="ctr"/>
                      <a:endParaRPr lang="en-US" dirty="0">
                        <a:latin typeface="Garamond" panose="02020404030301010803" pitchFamily="18" charset="0"/>
                      </a:endParaRPr>
                    </a:p>
                  </a:txBody>
                  <a:tcPr/>
                </a:tc>
                <a:tc>
                  <a:txBody>
                    <a:bodyPr/>
                    <a:lstStyle/>
                    <a:p>
                      <a:pPr algn="ctr"/>
                      <a:endParaRPr lang="en-US" dirty="0">
                        <a:latin typeface="Garamond" panose="02020404030301010803" pitchFamily="18" charset="0"/>
                      </a:endParaRPr>
                    </a:p>
                  </a:txBody>
                  <a:tcPr/>
                </a:tc>
                <a:extLst>
                  <a:ext uri="{0D108BD9-81ED-4DB2-BD59-A6C34878D82A}">
                    <a16:rowId xmlns:a16="http://schemas.microsoft.com/office/drawing/2014/main" val="1292987066"/>
                  </a:ext>
                </a:extLst>
              </a:tr>
              <a:tr h="370840">
                <a:tc>
                  <a:txBody>
                    <a:bodyPr/>
                    <a:lstStyle/>
                    <a:p>
                      <a:pPr algn="ctr"/>
                      <a:r>
                        <a:rPr lang="en-US" dirty="0">
                          <a:latin typeface="Garamond" panose="02020404030301010803" pitchFamily="18" charset="0"/>
                        </a:rPr>
                        <a:t>Total Surplus</a:t>
                      </a:r>
                    </a:p>
                  </a:txBody>
                  <a:tcPr/>
                </a:tc>
                <a:tc>
                  <a:txBody>
                    <a:bodyPr/>
                    <a:lstStyle/>
                    <a:p>
                      <a:pPr algn="ctr"/>
                      <a:endParaRPr lang="en-US" dirty="0">
                        <a:latin typeface="Garamond" panose="02020404030301010803" pitchFamily="18" charset="0"/>
                      </a:endParaRPr>
                    </a:p>
                  </a:txBody>
                  <a:tcPr/>
                </a:tc>
                <a:tc>
                  <a:txBody>
                    <a:bodyPr/>
                    <a:lstStyle/>
                    <a:p>
                      <a:pPr algn="ctr"/>
                      <a:endParaRPr lang="en-US" dirty="0">
                        <a:latin typeface="Garamond" panose="02020404030301010803" pitchFamily="18" charset="0"/>
                      </a:endParaRPr>
                    </a:p>
                  </a:txBody>
                  <a:tcPr/>
                </a:tc>
                <a:tc>
                  <a:txBody>
                    <a:bodyPr/>
                    <a:lstStyle/>
                    <a:p>
                      <a:pPr algn="ctr"/>
                      <a:endParaRPr lang="en-US" dirty="0">
                        <a:latin typeface="Garamond" panose="02020404030301010803" pitchFamily="18" charset="0"/>
                      </a:endParaRPr>
                    </a:p>
                  </a:txBody>
                  <a:tcPr/>
                </a:tc>
                <a:extLst>
                  <a:ext uri="{0D108BD9-81ED-4DB2-BD59-A6C34878D82A}">
                    <a16:rowId xmlns:a16="http://schemas.microsoft.com/office/drawing/2014/main" val="3450253966"/>
                  </a:ext>
                </a:extLst>
              </a:tr>
            </a:tbl>
          </a:graphicData>
        </a:graphic>
      </p:graphicFrame>
      <p:graphicFrame>
        <p:nvGraphicFramePr>
          <p:cNvPr id="13" name="Table 12">
            <a:extLst>
              <a:ext uri="{FF2B5EF4-FFF2-40B4-BE49-F238E27FC236}">
                <a16:creationId xmlns:a16="http://schemas.microsoft.com/office/drawing/2014/main" id="{6B52D68C-27DB-44AC-74A8-2135AB3C669D}"/>
              </a:ext>
            </a:extLst>
          </p:cNvPr>
          <p:cNvGraphicFramePr>
            <a:graphicFrameLocks noGrp="1"/>
          </p:cNvGraphicFramePr>
          <p:nvPr>
            <p:extLst>
              <p:ext uri="{D42A27DB-BD31-4B8C-83A1-F6EECF244321}">
                <p14:modId xmlns:p14="http://schemas.microsoft.com/office/powerpoint/2010/main" val="202358491"/>
              </p:ext>
            </p:extLst>
          </p:nvPr>
        </p:nvGraphicFramePr>
        <p:xfrm>
          <a:off x="5029199" y="2128479"/>
          <a:ext cx="6702428" cy="1854200"/>
        </p:xfrm>
        <a:graphic>
          <a:graphicData uri="http://schemas.openxmlformats.org/drawingml/2006/table">
            <a:tbl>
              <a:tblPr firstRow="1" bandRow="1">
                <a:tableStyleId>{5C22544A-7EE6-4342-B048-85BDC9FD1C3A}</a:tableStyleId>
              </a:tblPr>
              <a:tblGrid>
                <a:gridCol w="1431143">
                  <a:extLst>
                    <a:ext uri="{9D8B030D-6E8A-4147-A177-3AD203B41FA5}">
                      <a16:colId xmlns:a16="http://schemas.microsoft.com/office/drawing/2014/main" val="3598937401"/>
                    </a:ext>
                  </a:extLst>
                </a:gridCol>
                <a:gridCol w="2361945">
                  <a:extLst>
                    <a:ext uri="{9D8B030D-6E8A-4147-A177-3AD203B41FA5}">
                      <a16:colId xmlns:a16="http://schemas.microsoft.com/office/drawing/2014/main" val="2169659597"/>
                    </a:ext>
                  </a:extLst>
                </a:gridCol>
                <a:gridCol w="1715575">
                  <a:extLst>
                    <a:ext uri="{9D8B030D-6E8A-4147-A177-3AD203B41FA5}">
                      <a16:colId xmlns:a16="http://schemas.microsoft.com/office/drawing/2014/main" val="1751646114"/>
                    </a:ext>
                  </a:extLst>
                </a:gridCol>
                <a:gridCol w="1193765">
                  <a:extLst>
                    <a:ext uri="{9D8B030D-6E8A-4147-A177-3AD203B41FA5}">
                      <a16:colId xmlns:a16="http://schemas.microsoft.com/office/drawing/2014/main" val="1989637859"/>
                    </a:ext>
                  </a:extLst>
                </a:gridCol>
              </a:tblGrid>
              <a:tr h="370840">
                <a:tc>
                  <a:txBody>
                    <a:bodyPr/>
                    <a:lstStyle/>
                    <a:p>
                      <a:pPr algn="ctr"/>
                      <a:endParaRPr lang="en-US" dirty="0">
                        <a:latin typeface="Garamond" panose="02020404030301010803" pitchFamily="18" charset="0"/>
                      </a:endParaRPr>
                    </a:p>
                  </a:txBody>
                  <a:tcPr>
                    <a:solidFill>
                      <a:srgbClr val="77122C"/>
                    </a:solidFill>
                  </a:tcPr>
                </a:tc>
                <a:tc>
                  <a:txBody>
                    <a:bodyPr/>
                    <a:lstStyle/>
                    <a:p>
                      <a:pPr algn="ctr"/>
                      <a:r>
                        <a:rPr lang="en-US" dirty="0">
                          <a:latin typeface="Garamond" panose="02020404030301010803" pitchFamily="18" charset="0"/>
                        </a:rPr>
                        <a:t>Free Trade</a:t>
                      </a:r>
                    </a:p>
                  </a:txBody>
                  <a:tcPr>
                    <a:solidFill>
                      <a:srgbClr val="77122C"/>
                    </a:solidFill>
                  </a:tcPr>
                </a:tc>
                <a:tc>
                  <a:txBody>
                    <a:bodyPr/>
                    <a:lstStyle/>
                    <a:p>
                      <a:pPr algn="ctr"/>
                      <a:r>
                        <a:rPr lang="en-US" dirty="0">
                          <a:latin typeface="Garamond" panose="02020404030301010803" pitchFamily="18" charset="0"/>
                        </a:rPr>
                        <a:t>With Tariffs</a:t>
                      </a:r>
                    </a:p>
                  </a:txBody>
                  <a:tcPr>
                    <a:solidFill>
                      <a:srgbClr val="77122C"/>
                    </a:solidFill>
                  </a:tcPr>
                </a:tc>
                <a:tc>
                  <a:txBody>
                    <a:bodyPr/>
                    <a:lstStyle/>
                    <a:p>
                      <a:pPr algn="ctr"/>
                      <a:r>
                        <a:rPr lang="en-US" dirty="0">
                          <a:latin typeface="Garamond" panose="02020404030301010803" pitchFamily="18" charset="0"/>
                        </a:rPr>
                        <a:t>Change</a:t>
                      </a:r>
                    </a:p>
                  </a:txBody>
                  <a:tcPr>
                    <a:solidFill>
                      <a:srgbClr val="77122C"/>
                    </a:solidFill>
                  </a:tcPr>
                </a:tc>
                <a:extLst>
                  <a:ext uri="{0D108BD9-81ED-4DB2-BD59-A6C34878D82A}">
                    <a16:rowId xmlns:a16="http://schemas.microsoft.com/office/drawing/2014/main" val="227903503"/>
                  </a:ext>
                </a:extLst>
              </a:tr>
              <a:tr h="370840">
                <a:tc>
                  <a:txBody>
                    <a:bodyPr/>
                    <a:lstStyle/>
                    <a:p>
                      <a:pPr algn="ctr"/>
                      <a:r>
                        <a:rPr lang="en-US" dirty="0">
                          <a:latin typeface="Garamond" panose="02020404030301010803" pitchFamily="18" charset="0"/>
                        </a:rPr>
                        <a:t>CS</a:t>
                      </a:r>
                    </a:p>
                  </a:txBody>
                  <a:tcPr/>
                </a:tc>
                <a:tc>
                  <a:txBody>
                    <a:bodyPr/>
                    <a:lstStyle/>
                    <a:p>
                      <a:pPr algn="ctr"/>
                      <a:r>
                        <a:rPr lang="en-US" dirty="0">
                          <a:latin typeface="Garamond" panose="02020404030301010803" pitchFamily="18" charset="0"/>
                        </a:rPr>
                        <a:t>A+B+C+D+E+F</a:t>
                      </a:r>
                    </a:p>
                  </a:txBody>
                  <a:tcPr/>
                </a:tc>
                <a:tc>
                  <a:txBody>
                    <a:bodyPr/>
                    <a:lstStyle/>
                    <a:p>
                      <a:pPr algn="ctr"/>
                      <a:r>
                        <a:rPr lang="en-US" dirty="0">
                          <a:latin typeface="Garamond" panose="02020404030301010803" pitchFamily="18" charset="0"/>
                        </a:rPr>
                        <a:t>A+B</a:t>
                      </a:r>
                    </a:p>
                  </a:txBody>
                  <a:tcPr/>
                </a:tc>
                <a:tc>
                  <a:txBody>
                    <a:bodyPr/>
                    <a:lstStyle/>
                    <a:p>
                      <a:pPr algn="ctr"/>
                      <a:r>
                        <a:rPr lang="en-US" dirty="0">
                          <a:latin typeface="Garamond" panose="02020404030301010803" pitchFamily="18" charset="0"/>
                        </a:rPr>
                        <a:t>-C-D-E-F</a:t>
                      </a:r>
                    </a:p>
                  </a:txBody>
                  <a:tcPr/>
                </a:tc>
                <a:extLst>
                  <a:ext uri="{0D108BD9-81ED-4DB2-BD59-A6C34878D82A}">
                    <a16:rowId xmlns:a16="http://schemas.microsoft.com/office/drawing/2014/main" val="2851790981"/>
                  </a:ext>
                </a:extLst>
              </a:tr>
              <a:tr h="370840">
                <a:tc>
                  <a:txBody>
                    <a:bodyPr/>
                    <a:lstStyle/>
                    <a:p>
                      <a:pPr algn="ctr"/>
                      <a:r>
                        <a:rPr lang="en-US" dirty="0">
                          <a:latin typeface="Garamond" panose="02020404030301010803" pitchFamily="18" charset="0"/>
                        </a:rPr>
                        <a:t>PS</a:t>
                      </a:r>
                    </a:p>
                  </a:txBody>
                  <a:tcPr/>
                </a:tc>
                <a:tc>
                  <a:txBody>
                    <a:bodyPr/>
                    <a:lstStyle/>
                    <a:p>
                      <a:pPr algn="ctr"/>
                      <a:r>
                        <a:rPr lang="en-US" dirty="0">
                          <a:latin typeface="Garamond" panose="02020404030301010803" pitchFamily="18" charset="0"/>
                        </a:rPr>
                        <a:t>G</a:t>
                      </a:r>
                    </a:p>
                  </a:txBody>
                  <a:tcPr/>
                </a:tc>
                <a:tc>
                  <a:txBody>
                    <a:bodyPr/>
                    <a:lstStyle/>
                    <a:p>
                      <a:pPr algn="ctr"/>
                      <a:r>
                        <a:rPr lang="en-US" dirty="0">
                          <a:latin typeface="Garamond" panose="02020404030301010803" pitchFamily="18" charset="0"/>
                        </a:rPr>
                        <a:t>C+G</a:t>
                      </a:r>
                    </a:p>
                  </a:txBody>
                  <a:tcPr/>
                </a:tc>
                <a:tc>
                  <a:txBody>
                    <a:bodyPr/>
                    <a:lstStyle/>
                    <a:p>
                      <a:pPr algn="ctr"/>
                      <a:r>
                        <a:rPr lang="en-US" dirty="0">
                          <a:latin typeface="Garamond" panose="02020404030301010803" pitchFamily="18" charset="0"/>
                        </a:rPr>
                        <a:t>+C</a:t>
                      </a:r>
                    </a:p>
                  </a:txBody>
                  <a:tcPr/>
                </a:tc>
                <a:extLst>
                  <a:ext uri="{0D108BD9-81ED-4DB2-BD59-A6C34878D82A}">
                    <a16:rowId xmlns:a16="http://schemas.microsoft.com/office/drawing/2014/main" val="1423068346"/>
                  </a:ext>
                </a:extLst>
              </a:tr>
              <a:tr h="370840">
                <a:tc>
                  <a:txBody>
                    <a:bodyPr/>
                    <a:lstStyle/>
                    <a:p>
                      <a:pPr algn="ctr"/>
                      <a:r>
                        <a:rPr lang="en-US" dirty="0">
                          <a:latin typeface="Garamond" panose="02020404030301010803" pitchFamily="18" charset="0"/>
                        </a:rPr>
                        <a:t>Tax Revenue</a:t>
                      </a:r>
                    </a:p>
                  </a:txBody>
                  <a:tcPr/>
                </a:tc>
                <a:tc>
                  <a:txBody>
                    <a:bodyPr/>
                    <a:lstStyle/>
                    <a:p>
                      <a:pPr algn="ctr"/>
                      <a:endParaRPr lang="en-US" dirty="0">
                        <a:latin typeface="Garamond" panose="02020404030301010803" pitchFamily="18" charset="0"/>
                      </a:endParaRPr>
                    </a:p>
                  </a:txBody>
                  <a:tcPr/>
                </a:tc>
                <a:tc>
                  <a:txBody>
                    <a:bodyPr/>
                    <a:lstStyle/>
                    <a:p>
                      <a:pPr algn="ctr"/>
                      <a:endParaRPr lang="en-US" dirty="0">
                        <a:latin typeface="Garamond" panose="02020404030301010803" pitchFamily="18" charset="0"/>
                      </a:endParaRPr>
                    </a:p>
                  </a:txBody>
                  <a:tcPr/>
                </a:tc>
                <a:tc>
                  <a:txBody>
                    <a:bodyPr/>
                    <a:lstStyle/>
                    <a:p>
                      <a:pPr algn="ctr"/>
                      <a:endParaRPr lang="en-US" dirty="0">
                        <a:latin typeface="Garamond" panose="02020404030301010803" pitchFamily="18" charset="0"/>
                      </a:endParaRPr>
                    </a:p>
                  </a:txBody>
                  <a:tcPr/>
                </a:tc>
                <a:extLst>
                  <a:ext uri="{0D108BD9-81ED-4DB2-BD59-A6C34878D82A}">
                    <a16:rowId xmlns:a16="http://schemas.microsoft.com/office/drawing/2014/main" val="1292987066"/>
                  </a:ext>
                </a:extLst>
              </a:tr>
              <a:tr h="370840">
                <a:tc>
                  <a:txBody>
                    <a:bodyPr/>
                    <a:lstStyle/>
                    <a:p>
                      <a:pPr algn="ctr"/>
                      <a:r>
                        <a:rPr lang="en-US" dirty="0">
                          <a:latin typeface="Garamond" panose="02020404030301010803" pitchFamily="18" charset="0"/>
                        </a:rPr>
                        <a:t>Total Surplus</a:t>
                      </a:r>
                    </a:p>
                  </a:txBody>
                  <a:tcPr/>
                </a:tc>
                <a:tc>
                  <a:txBody>
                    <a:bodyPr/>
                    <a:lstStyle/>
                    <a:p>
                      <a:pPr algn="ctr"/>
                      <a:endParaRPr lang="en-US" dirty="0">
                        <a:latin typeface="Garamond" panose="02020404030301010803" pitchFamily="18" charset="0"/>
                      </a:endParaRPr>
                    </a:p>
                  </a:txBody>
                  <a:tcPr/>
                </a:tc>
                <a:tc>
                  <a:txBody>
                    <a:bodyPr/>
                    <a:lstStyle/>
                    <a:p>
                      <a:pPr algn="ctr"/>
                      <a:endParaRPr lang="en-US" dirty="0">
                        <a:latin typeface="Garamond" panose="02020404030301010803" pitchFamily="18" charset="0"/>
                      </a:endParaRPr>
                    </a:p>
                  </a:txBody>
                  <a:tcPr/>
                </a:tc>
                <a:tc>
                  <a:txBody>
                    <a:bodyPr/>
                    <a:lstStyle/>
                    <a:p>
                      <a:pPr algn="ctr"/>
                      <a:endParaRPr lang="en-US" dirty="0">
                        <a:latin typeface="Garamond" panose="02020404030301010803" pitchFamily="18" charset="0"/>
                      </a:endParaRPr>
                    </a:p>
                  </a:txBody>
                  <a:tcPr/>
                </a:tc>
                <a:extLst>
                  <a:ext uri="{0D108BD9-81ED-4DB2-BD59-A6C34878D82A}">
                    <a16:rowId xmlns:a16="http://schemas.microsoft.com/office/drawing/2014/main" val="3450253966"/>
                  </a:ext>
                </a:extLst>
              </a:tr>
            </a:tbl>
          </a:graphicData>
        </a:graphic>
      </p:graphicFrame>
      <p:graphicFrame>
        <p:nvGraphicFramePr>
          <p:cNvPr id="14" name="Table 13">
            <a:extLst>
              <a:ext uri="{FF2B5EF4-FFF2-40B4-BE49-F238E27FC236}">
                <a16:creationId xmlns:a16="http://schemas.microsoft.com/office/drawing/2014/main" id="{53DF8B62-00D1-6BA4-47AC-1C9B8381837B}"/>
              </a:ext>
            </a:extLst>
          </p:cNvPr>
          <p:cNvGraphicFramePr>
            <a:graphicFrameLocks noGrp="1"/>
          </p:cNvGraphicFramePr>
          <p:nvPr>
            <p:extLst>
              <p:ext uri="{D42A27DB-BD31-4B8C-83A1-F6EECF244321}">
                <p14:modId xmlns:p14="http://schemas.microsoft.com/office/powerpoint/2010/main" val="1216442406"/>
              </p:ext>
            </p:extLst>
          </p:nvPr>
        </p:nvGraphicFramePr>
        <p:xfrm>
          <a:off x="5029199" y="2123358"/>
          <a:ext cx="6702428" cy="1854200"/>
        </p:xfrm>
        <a:graphic>
          <a:graphicData uri="http://schemas.openxmlformats.org/drawingml/2006/table">
            <a:tbl>
              <a:tblPr firstRow="1" bandRow="1">
                <a:tableStyleId>{5C22544A-7EE6-4342-B048-85BDC9FD1C3A}</a:tableStyleId>
              </a:tblPr>
              <a:tblGrid>
                <a:gridCol w="1431143">
                  <a:extLst>
                    <a:ext uri="{9D8B030D-6E8A-4147-A177-3AD203B41FA5}">
                      <a16:colId xmlns:a16="http://schemas.microsoft.com/office/drawing/2014/main" val="3598937401"/>
                    </a:ext>
                  </a:extLst>
                </a:gridCol>
                <a:gridCol w="2361945">
                  <a:extLst>
                    <a:ext uri="{9D8B030D-6E8A-4147-A177-3AD203B41FA5}">
                      <a16:colId xmlns:a16="http://schemas.microsoft.com/office/drawing/2014/main" val="2169659597"/>
                    </a:ext>
                  </a:extLst>
                </a:gridCol>
                <a:gridCol w="1715575">
                  <a:extLst>
                    <a:ext uri="{9D8B030D-6E8A-4147-A177-3AD203B41FA5}">
                      <a16:colId xmlns:a16="http://schemas.microsoft.com/office/drawing/2014/main" val="1751646114"/>
                    </a:ext>
                  </a:extLst>
                </a:gridCol>
                <a:gridCol w="1193765">
                  <a:extLst>
                    <a:ext uri="{9D8B030D-6E8A-4147-A177-3AD203B41FA5}">
                      <a16:colId xmlns:a16="http://schemas.microsoft.com/office/drawing/2014/main" val="1989637859"/>
                    </a:ext>
                  </a:extLst>
                </a:gridCol>
              </a:tblGrid>
              <a:tr h="370840">
                <a:tc>
                  <a:txBody>
                    <a:bodyPr/>
                    <a:lstStyle/>
                    <a:p>
                      <a:pPr algn="ctr"/>
                      <a:endParaRPr lang="en-US" dirty="0">
                        <a:latin typeface="Garamond" panose="02020404030301010803" pitchFamily="18" charset="0"/>
                      </a:endParaRPr>
                    </a:p>
                  </a:txBody>
                  <a:tcPr>
                    <a:solidFill>
                      <a:srgbClr val="77122C"/>
                    </a:solidFill>
                  </a:tcPr>
                </a:tc>
                <a:tc>
                  <a:txBody>
                    <a:bodyPr/>
                    <a:lstStyle/>
                    <a:p>
                      <a:pPr algn="ctr"/>
                      <a:r>
                        <a:rPr lang="en-US" dirty="0">
                          <a:latin typeface="Garamond" panose="02020404030301010803" pitchFamily="18" charset="0"/>
                        </a:rPr>
                        <a:t>Free Trade</a:t>
                      </a:r>
                    </a:p>
                  </a:txBody>
                  <a:tcPr>
                    <a:solidFill>
                      <a:srgbClr val="77122C"/>
                    </a:solidFill>
                  </a:tcPr>
                </a:tc>
                <a:tc>
                  <a:txBody>
                    <a:bodyPr/>
                    <a:lstStyle/>
                    <a:p>
                      <a:pPr algn="ctr"/>
                      <a:r>
                        <a:rPr lang="en-US" dirty="0">
                          <a:latin typeface="Garamond" panose="02020404030301010803" pitchFamily="18" charset="0"/>
                        </a:rPr>
                        <a:t>With Tariffs</a:t>
                      </a:r>
                    </a:p>
                  </a:txBody>
                  <a:tcPr>
                    <a:solidFill>
                      <a:srgbClr val="77122C"/>
                    </a:solidFill>
                  </a:tcPr>
                </a:tc>
                <a:tc>
                  <a:txBody>
                    <a:bodyPr/>
                    <a:lstStyle/>
                    <a:p>
                      <a:pPr algn="ctr"/>
                      <a:r>
                        <a:rPr lang="en-US" dirty="0">
                          <a:latin typeface="Garamond" panose="02020404030301010803" pitchFamily="18" charset="0"/>
                        </a:rPr>
                        <a:t>Change</a:t>
                      </a:r>
                    </a:p>
                  </a:txBody>
                  <a:tcPr>
                    <a:solidFill>
                      <a:srgbClr val="77122C"/>
                    </a:solidFill>
                  </a:tcPr>
                </a:tc>
                <a:extLst>
                  <a:ext uri="{0D108BD9-81ED-4DB2-BD59-A6C34878D82A}">
                    <a16:rowId xmlns:a16="http://schemas.microsoft.com/office/drawing/2014/main" val="227903503"/>
                  </a:ext>
                </a:extLst>
              </a:tr>
              <a:tr h="370840">
                <a:tc>
                  <a:txBody>
                    <a:bodyPr/>
                    <a:lstStyle/>
                    <a:p>
                      <a:pPr algn="ctr"/>
                      <a:r>
                        <a:rPr lang="en-US" dirty="0">
                          <a:latin typeface="Garamond" panose="02020404030301010803" pitchFamily="18" charset="0"/>
                        </a:rPr>
                        <a:t>CS</a:t>
                      </a:r>
                    </a:p>
                  </a:txBody>
                  <a:tcPr/>
                </a:tc>
                <a:tc>
                  <a:txBody>
                    <a:bodyPr/>
                    <a:lstStyle/>
                    <a:p>
                      <a:pPr algn="ctr"/>
                      <a:r>
                        <a:rPr lang="en-US" dirty="0">
                          <a:latin typeface="Garamond" panose="02020404030301010803" pitchFamily="18" charset="0"/>
                        </a:rPr>
                        <a:t>A+B+C+D+E+F</a:t>
                      </a:r>
                    </a:p>
                  </a:txBody>
                  <a:tcPr/>
                </a:tc>
                <a:tc>
                  <a:txBody>
                    <a:bodyPr/>
                    <a:lstStyle/>
                    <a:p>
                      <a:pPr algn="ctr"/>
                      <a:r>
                        <a:rPr lang="en-US" dirty="0">
                          <a:latin typeface="Garamond" panose="02020404030301010803" pitchFamily="18" charset="0"/>
                        </a:rPr>
                        <a:t>A+B</a:t>
                      </a:r>
                    </a:p>
                  </a:txBody>
                  <a:tcPr/>
                </a:tc>
                <a:tc>
                  <a:txBody>
                    <a:bodyPr/>
                    <a:lstStyle/>
                    <a:p>
                      <a:pPr algn="ctr"/>
                      <a:r>
                        <a:rPr lang="en-US" dirty="0">
                          <a:latin typeface="Garamond" panose="02020404030301010803" pitchFamily="18" charset="0"/>
                        </a:rPr>
                        <a:t>-C-D-E-F</a:t>
                      </a:r>
                    </a:p>
                  </a:txBody>
                  <a:tcPr/>
                </a:tc>
                <a:extLst>
                  <a:ext uri="{0D108BD9-81ED-4DB2-BD59-A6C34878D82A}">
                    <a16:rowId xmlns:a16="http://schemas.microsoft.com/office/drawing/2014/main" val="2851790981"/>
                  </a:ext>
                </a:extLst>
              </a:tr>
              <a:tr h="370840">
                <a:tc>
                  <a:txBody>
                    <a:bodyPr/>
                    <a:lstStyle/>
                    <a:p>
                      <a:pPr algn="ctr"/>
                      <a:r>
                        <a:rPr lang="en-US" dirty="0">
                          <a:latin typeface="Garamond" panose="02020404030301010803" pitchFamily="18" charset="0"/>
                        </a:rPr>
                        <a:t>PS</a:t>
                      </a:r>
                    </a:p>
                  </a:txBody>
                  <a:tcPr/>
                </a:tc>
                <a:tc>
                  <a:txBody>
                    <a:bodyPr/>
                    <a:lstStyle/>
                    <a:p>
                      <a:pPr algn="ctr"/>
                      <a:r>
                        <a:rPr lang="en-US" dirty="0">
                          <a:latin typeface="Garamond" panose="02020404030301010803" pitchFamily="18" charset="0"/>
                        </a:rPr>
                        <a:t>G</a:t>
                      </a:r>
                    </a:p>
                  </a:txBody>
                  <a:tcPr/>
                </a:tc>
                <a:tc>
                  <a:txBody>
                    <a:bodyPr/>
                    <a:lstStyle/>
                    <a:p>
                      <a:pPr algn="ctr"/>
                      <a:r>
                        <a:rPr lang="en-US" dirty="0">
                          <a:latin typeface="Garamond" panose="02020404030301010803" pitchFamily="18" charset="0"/>
                        </a:rPr>
                        <a:t>C+G</a:t>
                      </a:r>
                    </a:p>
                  </a:txBody>
                  <a:tcPr/>
                </a:tc>
                <a:tc>
                  <a:txBody>
                    <a:bodyPr/>
                    <a:lstStyle/>
                    <a:p>
                      <a:pPr algn="ctr"/>
                      <a:r>
                        <a:rPr lang="en-US" dirty="0">
                          <a:latin typeface="Garamond" panose="02020404030301010803" pitchFamily="18" charset="0"/>
                        </a:rPr>
                        <a:t>+C</a:t>
                      </a:r>
                    </a:p>
                  </a:txBody>
                  <a:tcPr/>
                </a:tc>
                <a:extLst>
                  <a:ext uri="{0D108BD9-81ED-4DB2-BD59-A6C34878D82A}">
                    <a16:rowId xmlns:a16="http://schemas.microsoft.com/office/drawing/2014/main" val="1423068346"/>
                  </a:ext>
                </a:extLst>
              </a:tr>
              <a:tr h="370840">
                <a:tc>
                  <a:txBody>
                    <a:bodyPr/>
                    <a:lstStyle/>
                    <a:p>
                      <a:pPr algn="ctr"/>
                      <a:r>
                        <a:rPr lang="en-US" dirty="0">
                          <a:latin typeface="Garamond" panose="02020404030301010803" pitchFamily="18" charset="0"/>
                        </a:rPr>
                        <a:t>Tax Revenue</a:t>
                      </a:r>
                    </a:p>
                  </a:txBody>
                  <a:tcPr/>
                </a:tc>
                <a:tc>
                  <a:txBody>
                    <a:bodyPr/>
                    <a:lstStyle/>
                    <a:p>
                      <a:pPr algn="ctr"/>
                      <a:r>
                        <a:rPr lang="en-US" dirty="0">
                          <a:latin typeface="Garamond" panose="02020404030301010803" pitchFamily="18" charset="0"/>
                        </a:rPr>
                        <a:t>-</a:t>
                      </a:r>
                    </a:p>
                  </a:txBody>
                  <a:tcPr/>
                </a:tc>
                <a:tc>
                  <a:txBody>
                    <a:bodyPr/>
                    <a:lstStyle/>
                    <a:p>
                      <a:pPr algn="ctr"/>
                      <a:r>
                        <a:rPr lang="en-US" dirty="0">
                          <a:latin typeface="Garamond" panose="02020404030301010803" pitchFamily="18" charset="0"/>
                        </a:rPr>
                        <a:t>E</a:t>
                      </a:r>
                    </a:p>
                  </a:txBody>
                  <a:tcPr/>
                </a:tc>
                <a:tc>
                  <a:txBody>
                    <a:bodyPr/>
                    <a:lstStyle/>
                    <a:p>
                      <a:pPr algn="ctr"/>
                      <a:r>
                        <a:rPr lang="en-US">
                          <a:latin typeface="Garamond" panose="02020404030301010803" pitchFamily="18" charset="0"/>
                        </a:rPr>
                        <a:t>+E</a:t>
                      </a:r>
                      <a:endParaRPr lang="en-US" dirty="0">
                        <a:latin typeface="Garamond" panose="02020404030301010803" pitchFamily="18" charset="0"/>
                      </a:endParaRPr>
                    </a:p>
                  </a:txBody>
                  <a:tcPr/>
                </a:tc>
                <a:extLst>
                  <a:ext uri="{0D108BD9-81ED-4DB2-BD59-A6C34878D82A}">
                    <a16:rowId xmlns:a16="http://schemas.microsoft.com/office/drawing/2014/main" val="1292987066"/>
                  </a:ext>
                </a:extLst>
              </a:tr>
              <a:tr h="370840">
                <a:tc>
                  <a:txBody>
                    <a:bodyPr/>
                    <a:lstStyle/>
                    <a:p>
                      <a:pPr algn="ctr"/>
                      <a:r>
                        <a:rPr lang="en-US" dirty="0">
                          <a:latin typeface="Garamond" panose="02020404030301010803" pitchFamily="18" charset="0"/>
                        </a:rPr>
                        <a:t>Total Surplus</a:t>
                      </a:r>
                    </a:p>
                  </a:txBody>
                  <a:tcPr/>
                </a:tc>
                <a:tc>
                  <a:txBody>
                    <a:bodyPr/>
                    <a:lstStyle/>
                    <a:p>
                      <a:pPr algn="ctr"/>
                      <a:endParaRPr lang="en-US" dirty="0">
                        <a:latin typeface="Garamond" panose="02020404030301010803" pitchFamily="18" charset="0"/>
                      </a:endParaRPr>
                    </a:p>
                  </a:txBody>
                  <a:tcPr/>
                </a:tc>
                <a:tc>
                  <a:txBody>
                    <a:bodyPr/>
                    <a:lstStyle/>
                    <a:p>
                      <a:pPr algn="ctr"/>
                      <a:endParaRPr lang="en-US" dirty="0">
                        <a:latin typeface="Garamond" panose="02020404030301010803" pitchFamily="18" charset="0"/>
                      </a:endParaRPr>
                    </a:p>
                  </a:txBody>
                  <a:tcPr/>
                </a:tc>
                <a:tc>
                  <a:txBody>
                    <a:bodyPr/>
                    <a:lstStyle/>
                    <a:p>
                      <a:pPr algn="ctr"/>
                      <a:endParaRPr lang="en-US" dirty="0">
                        <a:latin typeface="Garamond" panose="02020404030301010803" pitchFamily="18" charset="0"/>
                      </a:endParaRPr>
                    </a:p>
                  </a:txBody>
                  <a:tcPr/>
                </a:tc>
                <a:extLst>
                  <a:ext uri="{0D108BD9-81ED-4DB2-BD59-A6C34878D82A}">
                    <a16:rowId xmlns:a16="http://schemas.microsoft.com/office/drawing/2014/main" val="3450253966"/>
                  </a:ext>
                </a:extLst>
              </a:tr>
            </a:tbl>
          </a:graphicData>
        </a:graphic>
      </p:graphicFrame>
      <p:graphicFrame>
        <p:nvGraphicFramePr>
          <p:cNvPr id="15" name="Table 14">
            <a:extLst>
              <a:ext uri="{FF2B5EF4-FFF2-40B4-BE49-F238E27FC236}">
                <a16:creationId xmlns:a16="http://schemas.microsoft.com/office/drawing/2014/main" id="{36A2BEC6-18FA-19F0-8948-88718DA63EF2}"/>
              </a:ext>
            </a:extLst>
          </p:cNvPr>
          <p:cNvGraphicFramePr>
            <a:graphicFrameLocks noGrp="1"/>
          </p:cNvGraphicFramePr>
          <p:nvPr>
            <p:extLst>
              <p:ext uri="{D42A27DB-BD31-4B8C-83A1-F6EECF244321}">
                <p14:modId xmlns:p14="http://schemas.microsoft.com/office/powerpoint/2010/main" val="971499561"/>
              </p:ext>
            </p:extLst>
          </p:nvPr>
        </p:nvGraphicFramePr>
        <p:xfrm>
          <a:off x="5029199" y="2123358"/>
          <a:ext cx="6702428" cy="1854200"/>
        </p:xfrm>
        <a:graphic>
          <a:graphicData uri="http://schemas.openxmlformats.org/drawingml/2006/table">
            <a:tbl>
              <a:tblPr firstRow="1" bandRow="1">
                <a:tableStyleId>{5C22544A-7EE6-4342-B048-85BDC9FD1C3A}</a:tableStyleId>
              </a:tblPr>
              <a:tblGrid>
                <a:gridCol w="1431143">
                  <a:extLst>
                    <a:ext uri="{9D8B030D-6E8A-4147-A177-3AD203B41FA5}">
                      <a16:colId xmlns:a16="http://schemas.microsoft.com/office/drawing/2014/main" val="3598937401"/>
                    </a:ext>
                  </a:extLst>
                </a:gridCol>
                <a:gridCol w="2361945">
                  <a:extLst>
                    <a:ext uri="{9D8B030D-6E8A-4147-A177-3AD203B41FA5}">
                      <a16:colId xmlns:a16="http://schemas.microsoft.com/office/drawing/2014/main" val="2169659597"/>
                    </a:ext>
                  </a:extLst>
                </a:gridCol>
                <a:gridCol w="1715575">
                  <a:extLst>
                    <a:ext uri="{9D8B030D-6E8A-4147-A177-3AD203B41FA5}">
                      <a16:colId xmlns:a16="http://schemas.microsoft.com/office/drawing/2014/main" val="1751646114"/>
                    </a:ext>
                  </a:extLst>
                </a:gridCol>
                <a:gridCol w="1193765">
                  <a:extLst>
                    <a:ext uri="{9D8B030D-6E8A-4147-A177-3AD203B41FA5}">
                      <a16:colId xmlns:a16="http://schemas.microsoft.com/office/drawing/2014/main" val="1989637859"/>
                    </a:ext>
                  </a:extLst>
                </a:gridCol>
              </a:tblGrid>
              <a:tr h="370840">
                <a:tc>
                  <a:txBody>
                    <a:bodyPr/>
                    <a:lstStyle/>
                    <a:p>
                      <a:pPr algn="ctr"/>
                      <a:endParaRPr lang="en-US" dirty="0">
                        <a:latin typeface="Garamond" panose="02020404030301010803" pitchFamily="18" charset="0"/>
                      </a:endParaRPr>
                    </a:p>
                  </a:txBody>
                  <a:tcPr>
                    <a:solidFill>
                      <a:srgbClr val="77122C"/>
                    </a:solidFill>
                  </a:tcPr>
                </a:tc>
                <a:tc>
                  <a:txBody>
                    <a:bodyPr/>
                    <a:lstStyle/>
                    <a:p>
                      <a:pPr algn="ctr"/>
                      <a:r>
                        <a:rPr lang="en-US" dirty="0">
                          <a:latin typeface="Garamond" panose="02020404030301010803" pitchFamily="18" charset="0"/>
                        </a:rPr>
                        <a:t>Free Trade</a:t>
                      </a:r>
                    </a:p>
                  </a:txBody>
                  <a:tcPr>
                    <a:solidFill>
                      <a:srgbClr val="77122C"/>
                    </a:solidFill>
                  </a:tcPr>
                </a:tc>
                <a:tc>
                  <a:txBody>
                    <a:bodyPr/>
                    <a:lstStyle/>
                    <a:p>
                      <a:pPr algn="ctr"/>
                      <a:r>
                        <a:rPr lang="en-US" dirty="0">
                          <a:latin typeface="Garamond" panose="02020404030301010803" pitchFamily="18" charset="0"/>
                        </a:rPr>
                        <a:t>With Tariffs</a:t>
                      </a:r>
                    </a:p>
                  </a:txBody>
                  <a:tcPr>
                    <a:solidFill>
                      <a:srgbClr val="77122C"/>
                    </a:solidFill>
                  </a:tcPr>
                </a:tc>
                <a:tc>
                  <a:txBody>
                    <a:bodyPr/>
                    <a:lstStyle/>
                    <a:p>
                      <a:pPr algn="ctr"/>
                      <a:r>
                        <a:rPr lang="en-US" dirty="0">
                          <a:latin typeface="Garamond" panose="02020404030301010803" pitchFamily="18" charset="0"/>
                        </a:rPr>
                        <a:t>Change</a:t>
                      </a:r>
                    </a:p>
                  </a:txBody>
                  <a:tcPr>
                    <a:solidFill>
                      <a:srgbClr val="77122C"/>
                    </a:solidFill>
                  </a:tcPr>
                </a:tc>
                <a:extLst>
                  <a:ext uri="{0D108BD9-81ED-4DB2-BD59-A6C34878D82A}">
                    <a16:rowId xmlns:a16="http://schemas.microsoft.com/office/drawing/2014/main" val="227903503"/>
                  </a:ext>
                </a:extLst>
              </a:tr>
              <a:tr h="370840">
                <a:tc>
                  <a:txBody>
                    <a:bodyPr/>
                    <a:lstStyle/>
                    <a:p>
                      <a:pPr algn="ctr"/>
                      <a:r>
                        <a:rPr lang="en-US" dirty="0">
                          <a:latin typeface="Garamond" panose="02020404030301010803" pitchFamily="18" charset="0"/>
                        </a:rPr>
                        <a:t>CS</a:t>
                      </a:r>
                    </a:p>
                  </a:txBody>
                  <a:tcPr/>
                </a:tc>
                <a:tc>
                  <a:txBody>
                    <a:bodyPr/>
                    <a:lstStyle/>
                    <a:p>
                      <a:pPr algn="ctr"/>
                      <a:r>
                        <a:rPr lang="en-US" dirty="0">
                          <a:latin typeface="Garamond" panose="02020404030301010803" pitchFamily="18" charset="0"/>
                        </a:rPr>
                        <a:t>A+B+C+D+E+F</a:t>
                      </a:r>
                    </a:p>
                  </a:txBody>
                  <a:tcPr/>
                </a:tc>
                <a:tc>
                  <a:txBody>
                    <a:bodyPr/>
                    <a:lstStyle/>
                    <a:p>
                      <a:pPr algn="ctr"/>
                      <a:r>
                        <a:rPr lang="en-US" dirty="0">
                          <a:latin typeface="Garamond" panose="02020404030301010803" pitchFamily="18" charset="0"/>
                        </a:rPr>
                        <a:t>A+B</a:t>
                      </a:r>
                    </a:p>
                  </a:txBody>
                  <a:tcPr/>
                </a:tc>
                <a:tc>
                  <a:txBody>
                    <a:bodyPr/>
                    <a:lstStyle/>
                    <a:p>
                      <a:pPr algn="ctr"/>
                      <a:r>
                        <a:rPr lang="en-US" dirty="0">
                          <a:latin typeface="Garamond" panose="02020404030301010803" pitchFamily="18" charset="0"/>
                        </a:rPr>
                        <a:t>-C-D-E-F</a:t>
                      </a:r>
                    </a:p>
                  </a:txBody>
                  <a:tcPr/>
                </a:tc>
                <a:extLst>
                  <a:ext uri="{0D108BD9-81ED-4DB2-BD59-A6C34878D82A}">
                    <a16:rowId xmlns:a16="http://schemas.microsoft.com/office/drawing/2014/main" val="2851790981"/>
                  </a:ext>
                </a:extLst>
              </a:tr>
              <a:tr h="370840">
                <a:tc>
                  <a:txBody>
                    <a:bodyPr/>
                    <a:lstStyle/>
                    <a:p>
                      <a:pPr algn="ctr"/>
                      <a:r>
                        <a:rPr lang="en-US" dirty="0">
                          <a:latin typeface="Garamond" panose="02020404030301010803" pitchFamily="18" charset="0"/>
                        </a:rPr>
                        <a:t>PS</a:t>
                      </a:r>
                    </a:p>
                  </a:txBody>
                  <a:tcPr/>
                </a:tc>
                <a:tc>
                  <a:txBody>
                    <a:bodyPr/>
                    <a:lstStyle/>
                    <a:p>
                      <a:pPr algn="ctr"/>
                      <a:r>
                        <a:rPr lang="en-US" dirty="0">
                          <a:latin typeface="Garamond" panose="02020404030301010803" pitchFamily="18" charset="0"/>
                        </a:rPr>
                        <a:t>G</a:t>
                      </a:r>
                    </a:p>
                  </a:txBody>
                  <a:tcPr/>
                </a:tc>
                <a:tc>
                  <a:txBody>
                    <a:bodyPr/>
                    <a:lstStyle/>
                    <a:p>
                      <a:pPr algn="ctr"/>
                      <a:r>
                        <a:rPr lang="en-US" dirty="0">
                          <a:latin typeface="Garamond" panose="02020404030301010803" pitchFamily="18" charset="0"/>
                        </a:rPr>
                        <a:t>C+G</a:t>
                      </a:r>
                    </a:p>
                  </a:txBody>
                  <a:tcPr/>
                </a:tc>
                <a:tc>
                  <a:txBody>
                    <a:bodyPr/>
                    <a:lstStyle/>
                    <a:p>
                      <a:pPr algn="ctr"/>
                      <a:r>
                        <a:rPr lang="en-US" dirty="0">
                          <a:latin typeface="Garamond" panose="02020404030301010803" pitchFamily="18" charset="0"/>
                        </a:rPr>
                        <a:t>+C</a:t>
                      </a:r>
                    </a:p>
                  </a:txBody>
                  <a:tcPr/>
                </a:tc>
                <a:extLst>
                  <a:ext uri="{0D108BD9-81ED-4DB2-BD59-A6C34878D82A}">
                    <a16:rowId xmlns:a16="http://schemas.microsoft.com/office/drawing/2014/main" val="1423068346"/>
                  </a:ext>
                </a:extLst>
              </a:tr>
              <a:tr h="370840">
                <a:tc>
                  <a:txBody>
                    <a:bodyPr/>
                    <a:lstStyle/>
                    <a:p>
                      <a:pPr algn="ctr"/>
                      <a:r>
                        <a:rPr lang="en-US" dirty="0">
                          <a:latin typeface="Garamond" panose="02020404030301010803" pitchFamily="18" charset="0"/>
                        </a:rPr>
                        <a:t>Tax Revenue</a:t>
                      </a:r>
                    </a:p>
                  </a:txBody>
                  <a:tcPr/>
                </a:tc>
                <a:tc>
                  <a:txBody>
                    <a:bodyPr/>
                    <a:lstStyle/>
                    <a:p>
                      <a:pPr algn="ctr"/>
                      <a:r>
                        <a:rPr lang="en-US" dirty="0">
                          <a:latin typeface="Garamond" panose="02020404030301010803" pitchFamily="18" charset="0"/>
                        </a:rPr>
                        <a:t>-</a:t>
                      </a:r>
                    </a:p>
                  </a:txBody>
                  <a:tcPr/>
                </a:tc>
                <a:tc>
                  <a:txBody>
                    <a:bodyPr/>
                    <a:lstStyle/>
                    <a:p>
                      <a:pPr algn="ctr"/>
                      <a:r>
                        <a:rPr lang="en-US" dirty="0">
                          <a:latin typeface="Garamond" panose="02020404030301010803" pitchFamily="18" charset="0"/>
                        </a:rPr>
                        <a:t>E</a:t>
                      </a:r>
                    </a:p>
                  </a:txBody>
                  <a:tcPr/>
                </a:tc>
                <a:tc>
                  <a:txBody>
                    <a:bodyPr/>
                    <a:lstStyle/>
                    <a:p>
                      <a:pPr algn="ctr"/>
                      <a:r>
                        <a:rPr lang="en-US">
                          <a:latin typeface="Garamond" panose="02020404030301010803" pitchFamily="18" charset="0"/>
                        </a:rPr>
                        <a:t>+E</a:t>
                      </a:r>
                      <a:endParaRPr lang="en-US" dirty="0">
                        <a:latin typeface="Garamond" panose="02020404030301010803" pitchFamily="18" charset="0"/>
                      </a:endParaRPr>
                    </a:p>
                  </a:txBody>
                  <a:tcPr/>
                </a:tc>
                <a:extLst>
                  <a:ext uri="{0D108BD9-81ED-4DB2-BD59-A6C34878D82A}">
                    <a16:rowId xmlns:a16="http://schemas.microsoft.com/office/drawing/2014/main" val="1292987066"/>
                  </a:ext>
                </a:extLst>
              </a:tr>
              <a:tr h="370840">
                <a:tc>
                  <a:txBody>
                    <a:bodyPr/>
                    <a:lstStyle/>
                    <a:p>
                      <a:pPr algn="ctr"/>
                      <a:r>
                        <a:rPr lang="en-US" dirty="0">
                          <a:latin typeface="Garamond" panose="02020404030301010803" pitchFamily="18" charset="0"/>
                        </a:rPr>
                        <a:t>Total Surplus</a:t>
                      </a:r>
                    </a:p>
                  </a:txBody>
                  <a:tcPr/>
                </a:tc>
                <a:tc>
                  <a:txBody>
                    <a:bodyPr/>
                    <a:lstStyle/>
                    <a:p>
                      <a:pPr algn="ctr"/>
                      <a:r>
                        <a:rPr lang="en-US" dirty="0">
                          <a:latin typeface="Garamond" panose="02020404030301010803" pitchFamily="18" charset="0"/>
                        </a:rPr>
                        <a:t>A+B+C+D+E+F+G</a:t>
                      </a:r>
                    </a:p>
                  </a:txBody>
                  <a:tcPr/>
                </a:tc>
                <a:tc>
                  <a:txBody>
                    <a:bodyPr/>
                    <a:lstStyle/>
                    <a:p>
                      <a:pPr algn="ctr"/>
                      <a:r>
                        <a:rPr lang="en-US" dirty="0">
                          <a:latin typeface="Garamond" panose="02020404030301010803" pitchFamily="18" charset="0"/>
                        </a:rPr>
                        <a:t>A+B+C+E+G</a:t>
                      </a:r>
                    </a:p>
                  </a:txBody>
                  <a:tcPr/>
                </a:tc>
                <a:tc>
                  <a:txBody>
                    <a:bodyPr/>
                    <a:lstStyle/>
                    <a:p>
                      <a:pPr algn="ctr"/>
                      <a:r>
                        <a:rPr lang="en-US" dirty="0">
                          <a:latin typeface="Garamond" panose="02020404030301010803" pitchFamily="18" charset="0"/>
                        </a:rPr>
                        <a:t>-D-F</a:t>
                      </a:r>
                    </a:p>
                  </a:txBody>
                  <a:tcPr/>
                </a:tc>
                <a:extLst>
                  <a:ext uri="{0D108BD9-81ED-4DB2-BD59-A6C34878D82A}">
                    <a16:rowId xmlns:a16="http://schemas.microsoft.com/office/drawing/2014/main" val="3450253966"/>
                  </a:ext>
                </a:extLst>
              </a:tr>
            </a:tbl>
          </a:graphicData>
        </a:graphic>
      </p:graphicFrame>
    </p:spTree>
    <p:extLst>
      <p:ext uri="{BB962C8B-B14F-4D97-AF65-F5344CB8AC3E}">
        <p14:creationId xmlns:p14="http://schemas.microsoft.com/office/powerpoint/2010/main" val="4212924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50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500"/>
                                        <p:tgtEl>
                                          <p:spTgt spid="14"/>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77122C"/>
        </a:solidFill>
        <a:effectLst/>
      </p:bgPr>
    </p:bg>
    <p:spTree>
      <p:nvGrpSpPr>
        <p:cNvPr id="1" name="">
          <a:extLst>
            <a:ext uri="{FF2B5EF4-FFF2-40B4-BE49-F238E27FC236}">
              <a16:creationId xmlns:a16="http://schemas.microsoft.com/office/drawing/2014/main" id="{5718F05A-9AEA-F06B-44FD-2D8F3C789D9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795A852-6A9D-B465-0A64-5AF8FF41F29A}"/>
              </a:ext>
            </a:extLst>
          </p:cNvPr>
          <p:cNvSpPr txBox="1"/>
          <p:nvPr/>
        </p:nvSpPr>
        <p:spPr>
          <a:xfrm>
            <a:off x="1" y="3013501"/>
            <a:ext cx="12188824" cy="830997"/>
          </a:xfrm>
          <a:prstGeom prst="rect">
            <a:avLst/>
          </a:prstGeom>
          <a:noFill/>
        </p:spPr>
        <p:txBody>
          <a:bodyPr wrap="square">
            <a:spAutoFit/>
          </a:bodyPr>
          <a:lstStyle/>
          <a:p>
            <a:pPr algn="ctr">
              <a:defRPr sz="4400" b="1">
                <a:solidFill>
                  <a:srgbClr val="FDB913"/>
                </a:solidFill>
                <a:latin typeface="Garamond"/>
              </a:defRPr>
            </a:pPr>
            <a:r>
              <a:rPr lang="en-US" sz="4800" dirty="0">
                <a:solidFill>
                  <a:schemeClr val="bg1"/>
                </a:solidFill>
              </a:rPr>
              <a:t>Discussions on Trade</a:t>
            </a:r>
            <a:endParaRPr sz="4000" dirty="0">
              <a:solidFill>
                <a:schemeClr val="bg1"/>
              </a:solidFill>
            </a:endParaRPr>
          </a:p>
        </p:txBody>
      </p:sp>
    </p:spTree>
    <p:extLst>
      <p:ext uri="{BB962C8B-B14F-4D97-AF65-F5344CB8AC3E}">
        <p14:creationId xmlns:p14="http://schemas.microsoft.com/office/powerpoint/2010/main" val="13242468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D76F6-EDD0-4EC0-5817-D0BC33235FB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4D35FCC-DEDD-9F13-6295-8F6C704EA4AC}"/>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55987C6-660D-13DA-03B7-4346E5C599B7}"/>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Benefits of Trade</a:t>
            </a:r>
          </a:p>
        </p:txBody>
      </p:sp>
      <p:sp>
        <p:nvSpPr>
          <p:cNvPr id="5" name="Rectangle 4">
            <a:extLst>
              <a:ext uri="{FF2B5EF4-FFF2-40B4-BE49-F238E27FC236}">
                <a16:creationId xmlns:a16="http://schemas.microsoft.com/office/drawing/2014/main" id="{B464F540-EF80-090B-2974-E08885DC1139}"/>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EFFB7E0C-EFF6-519B-B808-549840EDCC1B}"/>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B75C5B11-0E14-76B6-1238-E1E124D84507}"/>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25</a:t>
            </a:fld>
            <a:r>
              <a:rPr lang="en-US" b="1" dirty="0">
                <a:solidFill>
                  <a:schemeClr val="bg1"/>
                </a:solidFill>
                <a:latin typeface="Garamond" panose="02020404030301010803" pitchFamily="18" charset="0"/>
              </a:rPr>
              <a:t> </a:t>
            </a:r>
          </a:p>
        </p:txBody>
      </p:sp>
      <p:sp>
        <p:nvSpPr>
          <p:cNvPr id="3" name="Content Placeholder 2">
            <a:extLst>
              <a:ext uri="{FF2B5EF4-FFF2-40B4-BE49-F238E27FC236}">
                <a16:creationId xmlns:a16="http://schemas.microsoft.com/office/drawing/2014/main" id="{ECE0220A-BBE2-A4FE-60D9-80E8852F4D26}"/>
              </a:ext>
            </a:extLst>
          </p:cNvPr>
          <p:cNvSpPr>
            <a:spLocks noGrp="1"/>
          </p:cNvSpPr>
          <p:nvPr>
            <p:ph idx="1"/>
          </p:nvPr>
        </p:nvSpPr>
        <p:spPr>
          <a:xfrm>
            <a:off x="457199" y="1300900"/>
            <a:ext cx="11189855" cy="5081046"/>
          </a:xfrm>
        </p:spPr>
        <p:txBody>
          <a:bodyPr>
            <a:normAutofit/>
          </a:bodyPr>
          <a:lstStyle/>
          <a:p>
            <a:pPr>
              <a:spcBef>
                <a:spcPts val="576"/>
              </a:spcBef>
              <a:defRPr sz="2000">
                <a:solidFill>
                  <a:srgbClr val="000000"/>
                </a:solidFill>
                <a:latin typeface="Garamond"/>
              </a:defRPr>
            </a:pPr>
            <a:r>
              <a:rPr lang="en-US" altLang="zh-TW" sz="2400" dirty="0"/>
              <a:t>The primary benefits of trade come from the increased total surplus in the economy.</a:t>
            </a:r>
          </a:p>
          <a:p>
            <a:pPr lvl="1">
              <a:spcBef>
                <a:spcPts val="576"/>
              </a:spcBef>
              <a:defRPr sz="2000">
                <a:solidFill>
                  <a:srgbClr val="000000"/>
                </a:solidFill>
                <a:latin typeface="Garamond"/>
              </a:defRPr>
            </a:pPr>
            <a:r>
              <a:rPr lang="en-US" altLang="zh-TW" sz="2000" dirty="0"/>
              <a:t>When a country acts as an exporter, producer surplus increases substantially.</a:t>
            </a:r>
          </a:p>
          <a:p>
            <a:pPr lvl="1">
              <a:spcBef>
                <a:spcPts val="576"/>
              </a:spcBef>
              <a:defRPr sz="2000">
                <a:solidFill>
                  <a:srgbClr val="000000"/>
                </a:solidFill>
                <a:latin typeface="Garamond"/>
              </a:defRPr>
            </a:pPr>
            <a:r>
              <a:rPr lang="en-US" altLang="zh-TW" sz="2000" dirty="0"/>
              <a:t>When a country acts as an importer, consumer surplus increases substantially.</a:t>
            </a:r>
          </a:p>
          <a:p>
            <a:pPr lvl="1">
              <a:spcBef>
                <a:spcPts val="576"/>
              </a:spcBef>
              <a:defRPr sz="2000">
                <a:solidFill>
                  <a:srgbClr val="000000"/>
                </a:solidFill>
                <a:latin typeface="Garamond"/>
              </a:defRPr>
            </a:pPr>
            <a:r>
              <a:rPr lang="en-US" altLang="zh-TW" sz="2000" dirty="0"/>
              <a:t>Although there is a “losing side,” the total gains outweigh the losses in surplus.</a:t>
            </a:r>
          </a:p>
          <a:p>
            <a:pPr lvl="4">
              <a:spcBef>
                <a:spcPts val="576"/>
              </a:spcBef>
              <a:defRPr sz="2000">
                <a:solidFill>
                  <a:srgbClr val="000000"/>
                </a:solidFill>
                <a:latin typeface="Garamond"/>
              </a:defRPr>
            </a:pPr>
            <a:endParaRPr lang="en-US" altLang="zh-TW" sz="1200" dirty="0"/>
          </a:p>
          <a:p>
            <a:pPr>
              <a:spcBef>
                <a:spcPts val="576"/>
              </a:spcBef>
              <a:defRPr sz="2000">
                <a:solidFill>
                  <a:srgbClr val="000000"/>
                </a:solidFill>
                <a:latin typeface="Garamond"/>
              </a:defRPr>
            </a:pPr>
            <a:r>
              <a:rPr lang="en-US" altLang="zh-TW" sz="2400" dirty="0"/>
              <a:t>Trade increases the variety of goods available to domestic consumers:</a:t>
            </a:r>
          </a:p>
          <a:p>
            <a:pPr lvl="1">
              <a:spcBef>
                <a:spcPts val="576"/>
              </a:spcBef>
              <a:defRPr sz="2000">
                <a:solidFill>
                  <a:srgbClr val="000000"/>
                </a:solidFill>
                <a:latin typeface="Garamond"/>
              </a:defRPr>
            </a:pPr>
            <a:r>
              <a:rPr lang="en-US" altLang="zh-TW" sz="2000" dirty="0"/>
              <a:t>For example, people in Finland consume the most coffee per capita, yet Finland produces none.</a:t>
            </a:r>
          </a:p>
          <a:p>
            <a:pPr lvl="1">
              <a:spcBef>
                <a:spcPts val="576"/>
              </a:spcBef>
              <a:defRPr sz="2000">
                <a:solidFill>
                  <a:srgbClr val="000000"/>
                </a:solidFill>
                <a:latin typeface="Garamond"/>
              </a:defRPr>
            </a:pPr>
            <a:r>
              <a:rPr lang="en-US" altLang="zh-TW" sz="2000" dirty="0"/>
              <a:t>Although the U.S. produces cars, German cars differ from U.S. cars in design and quality.</a:t>
            </a:r>
          </a:p>
          <a:p>
            <a:pPr lvl="3">
              <a:spcBef>
                <a:spcPts val="576"/>
              </a:spcBef>
              <a:defRPr sz="2000">
                <a:solidFill>
                  <a:srgbClr val="000000"/>
                </a:solidFill>
                <a:latin typeface="Garamond"/>
              </a:defRPr>
            </a:pPr>
            <a:endParaRPr lang="en-US" altLang="zh-TW" sz="1200" dirty="0"/>
          </a:p>
          <a:p>
            <a:pPr>
              <a:spcBef>
                <a:spcPts val="576"/>
              </a:spcBef>
              <a:defRPr sz="2000">
                <a:solidFill>
                  <a:srgbClr val="000000"/>
                </a:solidFill>
                <a:latin typeface="Garamond"/>
              </a:defRPr>
            </a:pPr>
            <a:r>
              <a:rPr lang="en-US" altLang="zh-TW" sz="2400" dirty="0"/>
              <a:t>Trade can lower costs by leveraging economies of scale:</a:t>
            </a:r>
          </a:p>
          <a:p>
            <a:pPr lvl="1">
              <a:spcBef>
                <a:spcPts val="576"/>
              </a:spcBef>
              <a:defRPr sz="2000">
                <a:solidFill>
                  <a:srgbClr val="000000"/>
                </a:solidFill>
                <a:latin typeface="Garamond"/>
              </a:defRPr>
            </a:pPr>
            <a:r>
              <a:rPr lang="en-US" altLang="zh-TW" sz="2000" dirty="0"/>
              <a:t>Economies of scale occur when the average cost of production falls as output increases.</a:t>
            </a:r>
          </a:p>
          <a:p>
            <a:pPr lvl="1">
              <a:spcBef>
                <a:spcPts val="576"/>
              </a:spcBef>
              <a:defRPr sz="2000">
                <a:solidFill>
                  <a:srgbClr val="000000"/>
                </a:solidFill>
                <a:latin typeface="Garamond"/>
              </a:defRPr>
            </a:pPr>
            <a:r>
              <a:rPr lang="en-US" altLang="zh-TW" sz="2000" dirty="0"/>
              <a:t>A firm cannot fully realize economies of scale if it is limited to selling in a small domestic market.</a:t>
            </a:r>
          </a:p>
        </p:txBody>
      </p:sp>
    </p:spTree>
    <p:extLst>
      <p:ext uri="{BB962C8B-B14F-4D97-AF65-F5344CB8AC3E}">
        <p14:creationId xmlns:p14="http://schemas.microsoft.com/office/powerpoint/2010/main" val="227205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fade">
                                      <p:cBhvr>
                                        <p:cTn id="42" dur="500"/>
                                        <p:tgtEl>
                                          <p:spTgt spid="3">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animEffect transition="in" filter="fade">
                                      <p:cBhvr>
                                        <p:cTn id="47" dur="500"/>
                                        <p:tgtEl>
                                          <p:spTgt spid="3">
                                            <p:txEl>
                                              <p:pRg st="10" end="1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11" end="11"/>
                                            </p:txEl>
                                          </p:spTgt>
                                        </p:tgtEl>
                                        <p:attrNameLst>
                                          <p:attrName>style.visibility</p:attrName>
                                        </p:attrNameLst>
                                      </p:cBhvr>
                                      <p:to>
                                        <p:strVal val="visible"/>
                                      </p:to>
                                    </p:set>
                                    <p:animEffect transition="in" filter="fade">
                                      <p:cBhvr>
                                        <p:cTn id="52"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5174E4-D825-4A5D-27EF-1AB9F3097B3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F59D1E9-6E5D-30C4-5462-14B540EA1E0D}"/>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9A2547-8054-7CA5-1DE8-8FF58948C0D4}"/>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Benefits of Trade</a:t>
            </a:r>
          </a:p>
        </p:txBody>
      </p:sp>
      <p:sp>
        <p:nvSpPr>
          <p:cNvPr id="5" name="Rectangle 4">
            <a:extLst>
              <a:ext uri="{FF2B5EF4-FFF2-40B4-BE49-F238E27FC236}">
                <a16:creationId xmlns:a16="http://schemas.microsoft.com/office/drawing/2014/main" id="{B457A609-066E-802E-BC73-A2E65CDBE36E}"/>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7CC5DF92-D19B-6D44-345D-18D5E0E29C7E}"/>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FC25C2B9-569B-B19A-5D2F-FF92DD192686}"/>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26</a:t>
            </a:fld>
            <a:r>
              <a:rPr lang="en-US" b="1" dirty="0">
                <a:solidFill>
                  <a:schemeClr val="bg1"/>
                </a:solidFill>
                <a:latin typeface="Garamond" panose="02020404030301010803" pitchFamily="18" charset="0"/>
              </a:rPr>
              <a:t> </a:t>
            </a:r>
          </a:p>
        </p:txBody>
      </p:sp>
      <p:sp>
        <p:nvSpPr>
          <p:cNvPr id="3" name="Content Placeholder 2">
            <a:extLst>
              <a:ext uri="{FF2B5EF4-FFF2-40B4-BE49-F238E27FC236}">
                <a16:creationId xmlns:a16="http://schemas.microsoft.com/office/drawing/2014/main" id="{EBC086A2-2446-3757-63CE-2BDA2B226FA3}"/>
              </a:ext>
            </a:extLst>
          </p:cNvPr>
          <p:cNvSpPr>
            <a:spLocks noGrp="1"/>
          </p:cNvSpPr>
          <p:nvPr>
            <p:ph idx="1"/>
          </p:nvPr>
        </p:nvSpPr>
        <p:spPr>
          <a:xfrm>
            <a:off x="457199" y="1300900"/>
            <a:ext cx="11189855" cy="5081046"/>
          </a:xfrm>
        </p:spPr>
        <p:txBody>
          <a:bodyPr>
            <a:normAutofit/>
          </a:bodyPr>
          <a:lstStyle/>
          <a:p>
            <a:pPr>
              <a:spcBef>
                <a:spcPts val="576"/>
              </a:spcBef>
              <a:defRPr sz="2000">
                <a:solidFill>
                  <a:srgbClr val="000000"/>
                </a:solidFill>
                <a:latin typeface="Garamond"/>
              </a:defRPr>
            </a:pPr>
            <a:r>
              <a:rPr lang="en-US" altLang="zh-TW" sz="2400" dirty="0"/>
              <a:t>Trade can lead to increased competition:</a:t>
            </a:r>
          </a:p>
          <a:p>
            <a:pPr lvl="1">
              <a:spcBef>
                <a:spcPts val="576"/>
              </a:spcBef>
              <a:defRPr sz="2000">
                <a:solidFill>
                  <a:srgbClr val="000000"/>
                </a:solidFill>
                <a:latin typeface="Garamond"/>
              </a:defRPr>
            </a:pPr>
            <a:r>
              <a:rPr lang="en-US" altLang="zh-TW" sz="2000" dirty="0"/>
              <a:t>Companies shielded from foreign competitors are more likely to gain market power.</a:t>
            </a:r>
          </a:p>
          <a:p>
            <a:pPr lvl="1">
              <a:spcBef>
                <a:spcPts val="576"/>
              </a:spcBef>
              <a:defRPr sz="2000">
                <a:solidFill>
                  <a:srgbClr val="000000"/>
                </a:solidFill>
                <a:latin typeface="Garamond"/>
              </a:defRPr>
            </a:pPr>
            <a:r>
              <a:rPr lang="en-US" altLang="zh-TW" sz="2000" dirty="0"/>
              <a:t>Concentration of market power leads to inefficiencies in the market, which trade can help correct.</a:t>
            </a:r>
          </a:p>
          <a:p>
            <a:pPr lvl="3">
              <a:spcBef>
                <a:spcPts val="576"/>
              </a:spcBef>
              <a:defRPr sz="2000">
                <a:solidFill>
                  <a:srgbClr val="000000"/>
                </a:solidFill>
                <a:latin typeface="Garamond"/>
              </a:defRPr>
            </a:pPr>
            <a:endParaRPr lang="en-US" altLang="zh-TW" sz="1200" dirty="0"/>
          </a:p>
          <a:p>
            <a:pPr>
              <a:spcBef>
                <a:spcPts val="576"/>
              </a:spcBef>
              <a:defRPr sz="2000">
                <a:solidFill>
                  <a:srgbClr val="000000"/>
                </a:solidFill>
                <a:latin typeface="Garamond"/>
              </a:defRPr>
            </a:pPr>
            <a:r>
              <a:rPr lang="en-US" altLang="zh-TW" sz="2400" dirty="0"/>
              <a:t>Trade can increase productivity:</a:t>
            </a:r>
          </a:p>
          <a:p>
            <a:pPr lvl="1">
              <a:spcBef>
                <a:spcPts val="576"/>
              </a:spcBef>
              <a:defRPr sz="2000">
                <a:solidFill>
                  <a:srgbClr val="000000"/>
                </a:solidFill>
                <a:latin typeface="Garamond"/>
              </a:defRPr>
            </a:pPr>
            <a:r>
              <a:rPr lang="en-US" altLang="zh-TW" sz="2000" dirty="0"/>
              <a:t>When a nation opens to international trade, its most productive firms expand their markets.</a:t>
            </a:r>
          </a:p>
          <a:p>
            <a:pPr lvl="1">
              <a:spcBef>
                <a:spcPts val="576"/>
              </a:spcBef>
              <a:defRPr sz="2000">
                <a:solidFill>
                  <a:srgbClr val="000000"/>
                </a:solidFill>
                <a:latin typeface="Garamond"/>
              </a:defRPr>
            </a:pPr>
            <a:r>
              <a:rPr lang="en-US" altLang="zh-TW" sz="2000" dirty="0"/>
              <a:t>Meanwhile, the least productive firms are forced out by increased competition.</a:t>
            </a:r>
          </a:p>
          <a:p>
            <a:pPr lvl="1">
              <a:spcBef>
                <a:spcPts val="576"/>
              </a:spcBef>
              <a:defRPr sz="2000">
                <a:solidFill>
                  <a:srgbClr val="000000"/>
                </a:solidFill>
                <a:latin typeface="Garamond"/>
              </a:defRPr>
            </a:pPr>
            <a:r>
              <a:rPr lang="en-US" altLang="zh-TW" sz="2000" dirty="0"/>
              <a:t>Resources shift from less productive to more productive firms.</a:t>
            </a:r>
          </a:p>
          <a:p>
            <a:pPr lvl="3">
              <a:spcBef>
                <a:spcPts val="576"/>
              </a:spcBef>
              <a:defRPr sz="2000">
                <a:solidFill>
                  <a:srgbClr val="000000"/>
                </a:solidFill>
                <a:latin typeface="Garamond"/>
              </a:defRPr>
            </a:pPr>
            <a:endParaRPr lang="en-US" altLang="zh-TW" sz="1200" dirty="0"/>
          </a:p>
          <a:p>
            <a:pPr>
              <a:spcBef>
                <a:spcPts val="576"/>
              </a:spcBef>
              <a:defRPr sz="2000">
                <a:solidFill>
                  <a:srgbClr val="000000"/>
                </a:solidFill>
                <a:latin typeface="Garamond"/>
              </a:defRPr>
            </a:pPr>
            <a:r>
              <a:rPr lang="en-US" altLang="zh-TW" sz="2400" dirty="0"/>
              <a:t>Trade can enhance the flow of ideas:</a:t>
            </a:r>
          </a:p>
          <a:p>
            <a:pPr lvl="1">
              <a:spcBef>
                <a:spcPts val="576"/>
              </a:spcBef>
              <a:defRPr sz="2000">
                <a:solidFill>
                  <a:srgbClr val="000000"/>
                </a:solidFill>
                <a:latin typeface="Garamond"/>
              </a:defRPr>
            </a:pPr>
            <a:r>
              <a:rPr lang="en-US" altLang="zh-TW" sz="2000" dirty="0"/>
              <a:t>The transfer of technological advances around the world is often linked to the exchange of goods.</a:t>
            </a:r>
          </a:p>
          <a:p>
            <a:pPr lvl="1">
              <a:spcBef>
                <a:spcPts val="576"/>
              </a:spcBef>
              <a:defRPr sz="2000">
                <a:solidFill>
                  <a:srgbClr val="000000"/>
                </a:solidFill>
                <a:latin typeface="Garamond"/>
              </a:defRPr>
            </a:pPr>
            <a:r>
              <a:rPr lang="en-US" altLang="zh-TW" sz="2000" dirty="0"/>
              <a:t>For example, economic development is often spurred by the introduction of information technology to developing nations.</a:t>
            </a:r>
          </a:p>
          <a:p>
            <a:pPr>
              <a:spcBef>
                <a:spcPts val="576"/>
              </a:spcBef>
              <a:defRPr sz="2000">
                <a:solidFill>
                  <a:srgbClr val="000000"/>
                </a:solidFill>
                <a:latin typeface="Garamond"/>
              </a:defRPr>
            </a:pPr>
            <a:endParaRPr lang="en-US" altLang="zh-TW" sz="2400" dirty="0"/>
          </a:p>
        </p:txBody>
      </p:sp>
    </p:spTree>
    <p:extLst>
      <p:ext uri="{BB962C8B-B14F-4D97-AF65-F5344CB8AC3E}">
        <p14:creationId xmlns:p14="http://schemas.microsoft.com/office/powerpoint/2010/main" val="3908251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fade">
                                      <p:cBhvr>
                                        <p:cTn id="42" dur="500"/>
                                        <p:tgtEl>
                                          <p:spTgt spid="3">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animEffect transition="in" filter="fade">
                                      <p:cBhvr>
                                        <p:cTn id="47" dur="500"/>
                                        <p:tgtEl>
                                          <p:spTgt spid="3">
                                            <p:txEl>
                                              <p:pRg st="10" end="1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11" end="11"/>
                                            </p:txEl>
                                          </p:spTgt>
                                        </p:tgtEl>
                                        <p:attrNameLst>
                                          <p:attrName>style.visibility</p:attrName>
                                        </p:attrNameLst>
                                      </p:cBhvr>
                                      <p:to>
                                        <p:strVal val="visible"/>
                                      </p:to>
                                    </p:set>
                                    <p:animEffect transition="in" filter="fade">
                                      <p:cBhvr>
                                        <p:cTn id="52"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A80E90-32A0-AF57-1649-00F88B7DA99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FAAEDAA-C6FF-A446-9E67-9FBFBE048796}"/>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04CC410-50D8-4691-2F28-E2E5E73B0683}"/>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Arguments of Restricting Trade</a:t>
            </a:r>
          </a:p>
        </p:txBody>
      </p:sp>
      <p:sp>
        <p:nvSpPr>
          <p:cNvPr id="5" name="Rectangle 4">
            <a:extLst>
              <a:ext uri="{FF2B5EF4-FFF2-40B4-BE49-F238E27FC236}">
                <a16:creationId xmlns:a16="http://schemas.microsoft.com/office/drawing/2014/main" id="{2E0598AB-3760-4121-B39E-49B5AF25D736}"/>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D6257D9F-C705-D006-F737-245C5933EA46}"/>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3B9F8118-9EA3-7F88-B1EA-1F37B4C1B954}"/>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27</a:t>
            </a:fld>
            <a:r>
              <a:rPr lang="en-US" b="1" dirty="0">
                <a:solidFill>
                  <a:schemeClr val="bg1"/>
                </a:solidFill>
                <a:latin typeface="Garamond" panose="02020404030301010803" pitchFamily="18" charset="0"/>
              </a:rPr>
              <a:t> </a:t>
            </a:r>
          </a:p>
        </p:txBody>
      </p:sp>
      <p:sp>
        <p:nvSpPr>
          <p:cNvPr id="3" name="Content Placeholder 2">
            <a:extLst>
              <a:ext uri="{FF2B5EF4-FFF2-40B4-BE49-F238E27FC236}">
                <a16:creationId xmlns:a16="http://schemas.microsoft.com/office/drawing/2014/main" id="{A8B24957-2F2F-9858-AFA3-01D62B22C60C}"/>
              </a:ext>
            </a:extLst>
          </p:cNvPr>
          <p:cNvSpPr>
            <a:spLocks noGrp="1"/>
          </p:cNvSpPr>
          <p:nvPr>
            <p:ph idx="1"/>
          </p:nvPr>
        </p:nvSpPr>
        <p:spPr>
          <a:xfrm>
            <a:off x="5113771" y="1300900"/>
            <a:ext cx="6533283" cy="5081046"/>
          </a:xfrm>
        </p:spPr>
        <p:txBody>
          <a:bodyPr>
            <a:normAutofit/>
          </a:bodyPr>
          <a:lstStyle/>
          <a:p>
            <a:pPr>
              <a:spcBef>
                <a:spcPts val="576"/>
              </a:spcBef>
              <a:defRPr sz="2000">
                <a:solidFill>
                  <a:srgbClr val="000000"/>
                </a:solidFill>
                <a:latin typeface="Garamond"/>
              </a:defRPr>
            </a:pPr>
            <a:r>
              <a:rPr lang="en-US" altLang="zh-TW" sz="2400" dirty="0"/>
              <a:t>The Jobs Argument:</a:t>
            </a:r>
          </a:p>
          <a:p>
            <a:pPr lvl="1">
              <a:spcBef>
                <a:spcPts val="576"/>
              </a:spcBef>
              <a:defRPr sz="2000">
                <a:solidFill>
                  <a:srgbClr val="000000"/>
                </a:solidFill>
                <a:latin typeface="Garamond"/>
              </a:defRPr>
            </a:pPr>
            <a:r>
              <a:rPr lang="en-US" altLang="zh-TW" sz="2000" dirty="0"/>
              <a:t>Opponents of free trade often argue that it destroys domestic jobs in industries that face foreign competition.</a:t>
            </a:r>
          </a:p>
          <a:p>
            <a:pPr lvl="1">
              <a:spcBef>
                <a:spcPts val="576"/>
              </a:spcBef>
              <a:defRPr sz="2000">
                <a:solidFill>
                  <a:srgbClr val="000000"/>
                </a:solidFill>
                <a:latin typeface="Garamond"/>
              </a:defRPr>
            </a:pPr>
            <a:r>
              <a:rPr lang="en-US" altLang="zh-TW" sz="2000" dirty="0"/>
              <a:t>When imports increase, domestic production declines, and workers in affected industries may lose employment.</a:t>
            </a:r>
          </a:p>
          <a:p>
            <a:pPr lvl="1">
              <a:spcBef>
                <a:spcPts val="576"/>
              </a:spcBef>
              <a:defRPr sz="2000">
                <a:solidFill>
                  <a:srgbClr val="000000"/>
                </a:solidFill>
                <a:latin typeface="Garamond"/>
              </a:defRPr>
            </a:pPr>
            <a:r>
              <a:rPr lang="en-US" altLang="zh-TW" sz="2000" dirty="0"/>
              <a:t>However, trade also creates new jobs in other sectors as resources shift toward industries where the country has a comparative advantage.</a:t>
            </a:r>
            <a:endParaRPr lang="en-US" altLang="zh-TW" sz="1200" dirty="0"/>
          </a:p>
          <a:p>
            <a:pPr lvl="1">
              <a:spcBef>
                <a:spcPts val="576"/>
              </a:spcBef>
              <a:defRPr sz="2000">
                <a:solidFill>
                  <a:srgbClr val="000000"/>
                </a:solidFill>
                <a:latin typeface="Garamond"/>
              </a:defRPr>
            </a:pPr>
            <a:r>
              <a:rPr lang="en-US" altLang="zh-TW" sz="2000" dirty="0"/>
              <a:t>Over time, displaced workers can find employment in expanding industries that benefit from trade.</a:t>
            </a:r>
          </a:p>
          <a:p>
            <a:pPr lvl="1">
              <a:spcBef>
                <a:spcPts val="576"/>
              </a:spcBef>
              <a:defRPr sz="2000">
                <a:solidFill>
                  <a:srgbClr val="000000"/>
                </a:solidFill>
                <a:latin typeface="Garamond"/>
              </a:defRPr>
            </a:pPr>
            <a:r>
              <a:rPr lang="en-US" altLang="zh-TW" sz="2000" dirty="0"/>
              <a:t>The main challenge is that workers cannot always transition quickly or easily between industries.</a:t>
            </a:r>
          </a:p>
        </p:txBody>
      </p:sp>
      <p:pic>
        <p:nvPicPr>
          <p:cNvPr id="1026" name="Picture 2" descr="Logo of the NAFTA Secretariat of North American Free Trade Agreement">
            <a:extLst>
              <a:ext uri="{FF2B5EF4-FFF2-40B4-BE49-F238E27FC236}">
                <a16:creationId xmlns:a16="http://schemas.microsoft.com/office/drawing/2014/main" id="{B56AFF3D-6D47-8FFA-B298-5C53452F57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771" y="1841750"/>
            <a:ext cx="4572000" cy="3743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2638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026"/>
                                        </p:tgtEl>
                                        <p:attrNameLst>
                                          <p:attrName>style.visibility</p:attrName>
                                        </p:attrNameLst>
                                      </p:cBhvr>
                                      <p:to>
                                        <p:strVal val="visible"/>
                                      </p:to>
                                    </p:set>
                                    <p:animEffect transition="in" filter="fade">
                                      <p:cBhvr>
                                        <p:cTn id="10" dur="500"/>
                                        <p:tgtEl>
                                          <p:spTgt spid="102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5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500"/>
                                        <p:tgtEl>
                                          <p:spTgt spid="3">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Effect transition="in" filter="fade">
                                      <p:cBhvr>
                                        <p:cTn id="30" dur="500"/>
                                        <p:tgtEl>
                                          <p:spTgt spid="3">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fade">
                                      <p:cBhvr>
                                        <p:cTn id="35"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C6D7E5-C28D-97F5-666E-F748DF32730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0789ACB-D25E-47B8-E781-B7B5CE10AE42}"/>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EC0E15-F482-901C-4769-F4B48AF2F859}"/>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Arguments of Restricting Trade</a:t>
            </a:r>
          </a:p>
        </p:txBody>
      </p:sp>
      <p:sp>
        <p:nvSpPr>
          <p:cNvPr id="5" name="Rectangle 4">
            <a:extLst>
              <a:ext uri="{FF2B5EF4-FFF2-40B4-BE49-F238E27FC236}">
                <a16:creationId xmlns:a16="http://schemas.microsoft.com/office/drawing/2014/main" id="{819B216A-020A-5EDA-190F-16ED8BA21D0D}"/>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61C6EE87-CD00-17CE-63DF-231FE6372377}"/>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0DB4979D-04E7-3C0B-3B99-806EEED8E4D5}"/>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28</a:t>
            </a:fld>
            <a:r>
              <a:rPr lang="en-US" b="1" dirty="0">
                <a:solidFill>
                  <a:schemeClr val="bg1"/>
                </a:solidFill>
                <a:latin typeface="Garamond" panose="02020404030301010803" pitchFamily="18" charset="0"/>
              </a:rPr>
              <a:t> </a:t>
            </a:r>
          </a:p>
        </p:txBody>
      </p:sp>
      <p:sp>
        <p:nvSpPr>
          <p:cNvPr id="3" name="Content Placeholder 2">
            <a:extLst>
              <a:ext uri="{FF2B5EF4-FFF2-40B4-BE49-F238E27FC236}">
                <a16:creationId xmlns:a16="http://schemas.microsoft.com/office/drawing/2014/main" id="{D81EE84F-EED9-85BE-DAE9-7747C914E283}"/>
              </a:ext>
            </a:extLst>
          </p:cNvPr>
          <p:cNvSpPr>
            <a:spLocks noGrp="1"/>
          </p:cNvSpPr>
          <p:nvPr>
            <p:ph idx="1"/>
          </p:nvPr>
        </p:nvSpPr>
        <p:spPr>
          <a:xfrm>
            <a:off x="5618375" y="1300900"/>
            <a:ext cx="6028679" cy="5081046"/>
          </a:xfrm>
        </p:spPr>
        <p:txBody>
          <a:bodyPr>
            <a:normAutofit/>
          </a:bodyPr>
          <a:lstStyle/>
          <a:p>
            <a:pPr>
              <a:spcBef>
                <a:spcPts val="576"/>
              </a:spcBef>
              <a:defRPr sz="2000">
                <a:solidFill>
                  <a:srgbClr val="000000"/>
                </a:solidFill>
                <a:latin typeface="Garamond"/>
              </a:defRPr>
            </a:pPr>
            <a:r>
              <a:rPr lang="en-US" altLang="zh-TW" sz="2400" dirty="0"/>
              <a:t>The National Security Argument:</a:t>
            </a:r>
          </a:p>
          <a:p>
            <a:pPr lvl="1">
              <a:spcBef>
                <a:spcPts val="576"/>
              </a:spcBef>
              <a:defRPr sz="2000">
                <a:solidFill>
                  <a:srgbClr val="000000"/>
                </a:solidFill>
                <a:latin typeface="Garamond"/>
              </a:defRPr>
            </a:pPr>
            <a:r>
              <a:rPr lang="en-US" altLang="zh-TW" sz="2000" dirty="0"/>
              <a:t>Some argue that industries vital to national defense should be protected from foreign competition.</a:t>
            </a:r>
          </a:p>
          <a:p>
            <a:pPr lvl="1">
              <a:spcBef>
                <a:spcPts val="576"/>
              </a:spcBef>
              <a:defRPr sz="2000">
                <a:solidFill>
                  <a:srgbClr val="000000"/>
                </a:solidFill>
                <a:latin typeface="Garamond"/>
              </a:defRPr>
            </a:pPr>
            <a:r>
              <a:rPr lang="en-US" altLang="zh-TW" sz="2000" dirty="0"/>
              <a:t>For example, free trade in steel could make a nation dependent on foreign suppliers for key military materials.</a:t>
            </a:r>
          </a:p>
          <a:p>
            <a:pPr lvl="1">
              <a:spcBef>
                <a:spcPts val="576"/>
              </a:spcBef>
              <a:defRPr sz="2000">
                <a:solidFill>
                  <a:srgbClr val="000000"/>
                </a:solidFill>
                <a:latin typeface="Garamond"/>
              </a:defRPr>
            </a:pPr>
            <a:r>
              <a:rPr lang="en-US" altLang="zh-TW" sz="2000" dirty="0"/>
              <a:t>Economists agree that protection may be justified when true security risks exist.</a:t>
            </a:r>
          </a:p>
          <a:p>
            <a:pPr lvl="1">
              <a:spcBef>
                <a:spcPts val="576"/>
              </a:spcBef>
              <a:defRPr sz="2000">
                <a:solidFill>
                  <a:srgbClr val="000000"/>
                </a:solidFill>
                <a:latin typeface="Garamond"/>
              </a:defRPr>
            </a:pPr>
            <a:r>
              <a:rPr lang="en-US" altLang="zh-TW" sz="2000" dirty="0"/>
              <a:t>However, this argument is often used by industries seeking protection for profit rather than genuine security needs.</a:t>
            </a:r>
          </a:p>
          <a:p>
            <a:pPr lvl="1">
              <a:spcBef>
                <a:spcPts val="576"/>
              </a:spcBef>
              <a:defRPr sz="2000">
                <a:solidFill>
                  <a:srgbClr val="000000"/>
                </a:solidFill>
                <a:latin typeface="Garamond"/>
              </a:defRPr>
            </a:pPr>
            <a:r>
              <a:rPr lang="en-US" altLang="zh-TW" sz="2000" dirty="0"/>
              <a:t>Lower-cost imports can even benefit the military by reducing the cost of obtaining essential materials.</a:t>
            </a:r>
          </a:p>
        </p:txBody>
      </p:sp>
      <p:pic>
        <p:nvPicPr>
          <p:cNvPr id="2050" name="Picture 2" descr="POSCO Steelworks Pohang Tour with AustCham Sponsors – AustCham">
            <a:extLst>
              <a:ext uri="{FF2B5EF4-FFF2-40B4-BE49-F238E27FC236}">
                <a16:creationId xmlns:a16="http://schemas.microsoft.com/office/drawing/2014/main" id="{CC5E7B09-60C2-A817-38C3-759574BBC42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909" r="29677"/>
          <a:stretch/>
        </p:blipFill>
        <p:spPr bwMode="auto">
          <a:xfrm>
            <a:off x="541771" y="1427532"/>
            <a:ext cx="4991763" cy="457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3200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fade">
                                      <p:cBhvr>
                                        <p:cTn id="7" dur="500"/>
                                        <p:tgtEl>
                                          <p:spTgt spid="2050"/>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5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500"/>
                                        <p:tgtEl>
                                          <p:spTgt spid="3">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Effect transition="in" filter="fade">
                                      <p:cBhvr>
                                        <p:cTn id="30" dur="500"/>
                                        <p:tgtEl>
                                          <p:spTgt spid="3">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fade">
                                      <p:cBhvr>
                                        <p:cTn id="35"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4F995F-7FCE-482E-7B37-4B69F17C5F3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D154A76-3937-D9E5-F4D5-E5EAD180061B}"/>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1B5551-BEB1-93C4-B6D0-0D69D598439A}"/>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Arguments of Restricting Trade</a:t>
            </a:r>
          </a:p>
        </p:txBody>
      </p:sp>
      <p:sp>
        <p:nvSpPr>
          <p:cNvPr id="5" name="Rectangle 4">
            <a:extLst>
              <a:ext uri="{FF2B5EF4-FFF2-40B4-BE49-F238E27FC236}">
                <a16:creationId xmlns:a16="http://schemas.microsoft.com/office/drawing/2014/main" id="{AFDDFB92-E9EA-9DDF-032F-68629420523D}"/>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8D546FA2-E0E3-5513-8CE1-723BF206FFAC}"/>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FA0D321D-E008-FE60-3C22-A68DA2D89F22}"/>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29</a:t>
            </a:fld>
            <a:r>
              <a:rPr lang="en-US" b="1" dirty="0">
                <a:solidFill>
                  <a:schemeClr val="bg1"/>
                </a:solidFill>
                <a:latin typeface="Garamond" panose="02020404030301010803" pitchFamily="18" charset="0"/>
              </a:rPr>
              <a:t> </a:t>
            </a:r>
          </a:p>
        </p:txBody>
      </p:sp>
      <p:sp>
        <p:nvSpPr>
          <p:cNvPr id="3" name="Content Placeholder 2">
            <a:extLst>
              <a:ext uri="{FF2B5EF4-FFF2-40B4-BE49-F238E27FC236}">
                <a16:creationId xmlns:a16="http://schemas.microsoft.com/office/drawing/2014/main" id="{FBFE888F-08A4-B8A5-87CB-06CFF49E1B0C}"/>
              </a:ext>
            </a:extLst>
          </p:cNvPr>
          <p:cNvSpPr>
            <a:spLocks noGrp="1"/>
          </p:cNvSpPr>
          <p:nvPr>
            <p:ph idx="1"/>
          </p:nvPr>
        </p:nvSpPr>
        <p:spPr>
          <a:xfrm>
            <a:off x="5031548" y="1300900"/>
            <a:ext cx="6615506" cy="5081046"/>
          </a:xfrm>
        </p:spPr>
        <p:txBody>
          <a:bodyPr>
            <a:normAutofit/>
          </a:bodyPr>
          <a:lstStyle/>
          <a:p>
            <a:pPr>
              <a:spcBef>
                <a:spcPts val="576"/>
              </a:spcBef>
              <a:defRPr sz="2000">
                <a:solidFill>
                  <a:srgbClr val="000000"/>
                </a:solidFill>
                <a:latin typeface="Garamond"/>
              </a:defRPr>
            </a:pPr>
            <a:r>
              <a:rPr lang="en-US" altLang="zh-TW" sz="2400" dirty="0"/>
              <a:t>The Infant Industry Argument:</a:t>
            </a:r>
          </a:p>
          <a:p>
            <a:pPr lvl="1">
              <a:spcBef>
                <a:spcPts val="576"/>
              </a:spcBef>
              <a:defRPr sz="2000">
                <a:solidFill>
                  <a:srgbClr val="000000"/>
                </a:solidFill>
                <a:latin typeface="Garamond"/>
              </a:defRPr>
            </a:pPr>
            <a:r>
              <a:rPr lang="en-US" altLang="zh-TW" sz="2000" dirty="0"/>
              <a:t>Some argue that new industries need temporary protection from foreign competition until they become established.</a:t>
            </a:r>
          </a:p>
          <a:p>
            <a:pPr lvl="1">
              <a:spcBef>
                <a:spcPts val="576"/>
              </a:spcBef>
              <a:defRPr sz="2000">
                <a:solidFill>
                  <a:srgbClr val="000000"/>
                </a:solidFill>
                <a:latin typeface="Garamond"/>
              </a:defRPr>
            </a:pPr>
            <a:r>
              <a:rPr lang="en-US" altLang="zh-TW" sz="2000" dirty="0"/>
              <a:t>The idea is that, once mature, these industries will be able to compete internationally without support.</a:t>
            </a:r>
          </a:p>
          <a:p>
            <a:pPr lvl="1">
              <a:spcBef>
                <a:spcPts val="576"/>
              </a:spcBef>
              <a:defRPr sz="2000">
                <a:solidFill>
                  <a:srgbClr val="000000"/>
                </a:solidFill>
                <a:latin typeface="Garamond"/>
              </a:defRPr>
            </a:pPr>
            <a:r>
              <a:rPr lang="en-US" altLang="zh-TW" sz="2000" dirty="0"/>
              <a:t>Political influence often leads to protection being granted to industries with the most lobbying power rather than true economic potential.</a:t>
            </a:r>
          </a:p>
          <a:p>
            <a:pPr lvl="1">
              <a:spcBef>
                <a:spcPts val="576"/>
              </a:spcBef>
              <a:defRPr sz="2000">
                <a:solidFill>
                  <a:srgbClr val="000000"/>
                </a:solidFill>
                <a:latin typeface="Garamond"/>
              </a:defRPr>
            </a:pPr>
            <a:r>
              <a:rPr lang="en-US" altLang="zh-TW" sz="2000" dirty="0"/>
              <a:t>However, this argument is often used by industries seeking protection for profit rather than genuine security needs.</a:t>
            </a:r>
          </a:p>
          <a:p>
            <a:pPr lvl="1">
              <a:spcBef>
                <a:spcPts val="576"/>
              </a:spcBef>
              <a:defRPr sz="2000">
                <a:solidFill>
                  <a:srgbClr val="000000"/>
                </a:solidFill>
                <a:latin typeface="Garamond"/>
              </a:defRPr>
            </a:pPr>
            <a:r>
              <a:rPr lang="en-US" altLang="zh-TW" sz="2000" dirty="0"/>
              <a:t>Lower-cost imports can even benefit the military by reducing the cost of obtaining essential materials.</a:t>
            </a:r>
          </a:p>
        </p:txBody>
      </p:sp>
      <p:pic>
        <p:nvPicPr>
          <p:cNvPr id="3076" name="Picture 4" descr="Infant Industry Argument - Definition, Main Arguments">
            <a:extLst>
              <a:ext uri="{FF2B5EF4-FFF2-40B4-BE49-F238E27FC236}">
                <a16:creationId xmlns:a16="http://schemas.microsoft.com/office/drawing/2014/main" id="{BDD6280A-F67D-E00E-98DA-0CD08676DF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199" y="1427532"/>
            <a:ext cx="4574349" cy="457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4989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076"/>
                                        </p:tgtEl>
                                        <p:attrNameLst>
                                          <p:attrName>style.visibility</p:attrName>
                                        </p:attrNameLst>
                                      </p:cBhvr>
                                      <p:to>
                                        <p:strVal val="visible"/>
                                      </p:to>
                                    </p:set>
                                    <p:animEffect transition="in" filter="fade">
                                      <p:cBhvr>
                                        <p:cTn id="7" dur="500"/>
                                        <p:tgtEl>
                                          <p:spTgt spid="3076"/>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5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500"/>
                                        <p:tgtEl>
                                          <p:spTgt spid="3">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Effect transition="in" filter="fade">
                                      <p:cBhvr>
                                        <p:cTn id="30" dur="500"/>
                                        <p:tgtEl>
                                          <p:spTgt spid="3">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fade">
                                      <p:cBhvr>
                                        <p:cTn id="35"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AD571-B9A2-2CD6-77A9-CEBFF75C6D0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683656E-A156-CF93-6A30-221EBBC44AC9}"/>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A72AD5-A7BF-97CE-BC03-8E3F7835999E}"/>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Arguments of Restricting Trade</a:t>
            </a:r>
          </a:p>
        </p:txBody>
      </p:sp>
      <p:sp>
        <p:nvSpPr>
          <p:cNvPr id="5" name="Rectangle 4">
            <a:extLst>
              <a:ext uri="{FF2B5EF4-FFF2-40B4-BE49-F238E27FC236}">
                <a16:creationId xmlns:a16="http://schemas.microsoft.com/office/drawing/2014/main" id="{05A2661E-6CAC-24F7-ED47-E602AD9EA742}"/>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A9E6C278-2FEB-09EF-0C17-A1A0D82A23E2}"/>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0851C88D-9860-C56B-85BF-9400F55DFE17}"/>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30</a:t>
            </a:fld>
            <a:r>
              <a:rPr lang="en-US" b="1" dirty="0">
                <a:solidFill>
                  <a:schemeClr val="bg1"/>
                </a:solidFill>
                <a:latin typeface="Garamond" panose="02020404030301010803" pitchFamily="18" charset="0"/>
              </a:rPr>
              <a:t> </a:t>
            </a:r>
          </a:p>
        </p:txBody>
      </p:sp>
      <p:sp>
        <p:nvSpPr>
          <p:cNvPr id="3" name="Content Placeholder 2">
            <a:extLst>
              <a:ext uri="{FF2B5EF4-FFF2-40B4-BE49-F238E27FC236}">
                <a16:creationId xmlns:a16="http://schemas.microsoft.com/office/drawing/2014/main" id="{0ADA72C6-5D83-8E3C-F939-D23345A775FC}"/>
              </a:ext>
            </a:extLst>
          </p:cNvPr>
          <p:cNvSpPr>
            <a:spLocks noGrp="1"/>
          </p:cNvSpPr>
          <p:nvPr>
            <p:ph idx="1"/>
          </p:nvPr>
        </p:nvSpPr>
        <p:spPr>
          <a:xfrm>
            <a:off x="5961888" y="1300900"/>
            <a:ext cx="5685166" cy="5081046"/>
          </a:xfrm>
        </p:spPr>
        <p:txBody>
          <a:bodyPr>
            <a:normAutofit/>
          </a:bodyPr>
          <a:lstStyle/>
          <a:p>
            <a:pPr>
              <a:spcBef>
                <a:spcPts val="576"/>
              </a:spcBef>
              <a:defRPr sz="2000">
                <a:solidFill>
                  <a:srgbClr val="000000"/>
                </a:solidFill>
                <a:latin typeface="Garamond"/>
              </a:defRPr>
            </a:pPr>
            <a:r>
              <a:rPr lang="en-US" altLang="zh-TW" sz="2400" dirty="0"/>
              <a:t>The Unfair Competition Argument:</a:t>
            </a:r>
          </a:p>
          <a:p>
            <a:pPr lvl="1">
              <a:spcBef>
                <a:spcPts val="576"/>
              </a:spcBef>
              <a:defRPr sz="2000">
                <a:solidFill>
                  <a:srgbClr val="000000"/>
                </a:solidFill>
                <a:latin typeface="Garamond"/>
              </a:defRPr>
            </a:pPr>
            <a:r>
              <a:rPr lang="en-US" altLang="zh-TW" sz="2000" dirty="0"/>
              <a:t>Some argue that free trade is unfair if foreign producers operate under different rules or government policies.</a:t>
            </a:r>
          </a:p>
          <a:p>
            <a:pPr lvl="1">
              <a:spcBef>
                <a:spcPts val="576"/>
              </a:spcBef>
              <a:defRPr sz="2000">
                <a:solidFill>
                  <a:srgbClr val="000000"/>
                </a:solidFill>
                <a:latin typeface="Garamond"/>
              </a:defRPr>
            </a:pPr>
            <a:r>
              <a:rPr lang="en-US" altLang="zh-TW" sz="2000" dirty="0"/>
              <a:t>Even if foreign governments subsidize their industries, domestic consumers benefit from the resulting lower prices.</a:t>
            </a:r>
          </a:p>
          <a:p>
            <a:pPr lvl="1">
              <a:spcBef>
                <a:spcPts val="576"/>
              </a:spcBef>
              <a:defRPr sz="2000">
                <a:solidFill>
                  <a:srgbClr val="000000"/>
                </a:solidFill>
                <a:latin typeface="Garamond"/>
              </a:defRPr>
            </a:pPr>
            <a:r>
              <a:rPr lang="en-US" altLang="zh-TW" sz="2000" dirty="0"/>
              <a:t>Domestic producers may lose, but the total gains to consumers exceed the producers’ losses.</a:t>
            </a:r>
          </a:p>
          <a:p>
            <a:pPr lvl="1">
              <a:spcBef>
                <a:spcPts val="576"/>
              </a:spcBef>
              <a:defRPr sz="2000">
                <a:solidFill>
                  <a:srgbClr val="000000"/>
                </a:solidFill>
                <a:latin typeface="Garamond"/>
              </a:defRPr>
            </a:pPr>
            <a:r>
              <a:rPr lang="en-US" altLang="zh-TW" sz="2000" dirty="0"/>
              <a:t>In effect, foreign subsidies benefit the importing country, since its consumers enjoy lower prices paid for by foreign taxpayers.</a:t>
            </a:r>
          </a:p>
        </p:txBody>
      </p:sp>
      <p:pic>
        <p:nvPicPr>
          <p:cNvPr id="4098" name="Picture 2" descr="15,600+ Unfair Stock Photos, Pictures &amp; Royalty-Free Images - iStock |  Unfair competition, Not equal sign, Bias">
            <a:extLst>
              <a:ext uri="{FF2B5EF4-FFF2-40B4-BE49-F238E27FC236}">
                <a16:creationId xmlns:a16="http://schemas.microsoft.com/office/drawing/2014/main" id="{78531F14-66D0-9386-D57D-76A444E9C9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199" y="1427532"/>
            <a:ext cx="5380892" cy="457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4234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fade">
                                      <p:cBhvr>
                                        <p:cTn id="7" dur="500"/>
                                        <p:tgtEl>
                                          <p:spTgt spid="4098"/>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5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500"/>
                                        <p:tgtEl>
                                          <p:spTgt spid="3">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Effect transition="in" filter="fade">
                                      <p:cBhvr>
                                        <p:cTn id="30"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B08BA6-C9CB-551B-ECD9-817B971D41F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463F1AD-0A14-8456-F11E-B20397D2BD33}"/>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2987A34-B100-0CDB-39C0-C270DFC27376}"/>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Arguments of Restricting Trade</a:t>
            </a:r>
          </a:p>
        </p:txBody>
      </p:sp>
      <p:sp>
        <p:nvSpPr>
          <p:cNvPr id="5" name="Rectangle 4">
            <a:extLst>
              <a:ext uri="{FF2B5EF4-FFF2-40B4-BE49-F238E27FC236}">
                <a16:creationId xmlns:a16="http://schemas.microsoft.com/office/drawing/2014/main" id="{2B9DBC4F-6D9B-83B6-A6EE-F20FE255FEE9}"/>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2DD1D579-3214-FF01-7AD3-281FEAF790B8}"/>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324A66A5-7DAD-0CF8-A3DF-9A6188112F8C}"/>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31</a:t>
            </a:fld>
            <a:r>
              <a:rPr lang="en-US" b="1" dirty="0">
                <a:solidFill>
                  <a:schemeClr val="bg1"/>
                </a:solidFill>
                <a:latin typeface="Garamond" panose="02020404030301010803" pitchFamily="18" charset="0"/>
              </a:rPr>
              <a:t> </a:t>
            </a:r>
          </a:p>
        </p:txBody>
      </p:sp>
      <p:sp>
        <p:nvSpPr>
          <p:cNvPr id="3" name="Content Placeholder 2">
            <a:extLst>
              <a:ext uri="{FF2B5EF4-FFF2-40B4-BE49-F238E27FC236}">
                <a16:creationId xmlns:a16="http://schemas.microsoft.com/office/drawing/2014/main" id="{17B2A405-B386-525A-8F47-F469088B89C7}"/>
              </a:ext>
            </a:extLst>
          </p:cNvPr>
          <p:cNvSpPr>
            <a:spLocks noGrp="1"/>
          </p:cNvSpPr>
          <p:nvPr>
            <p:ph idx="1"/>
          </p:nvPr>
        </p:nvSpPr>
        <p:spPr>
          <a:xfrm>
            <a:off x="5213022" y="1300900"/>
            <a:ext cx="6434031" cy="5081046"/>
          </a:xfrm>
        </p:spPr>
        <p:txBody>
          <a:bodyPr>
            <a:normAutofit/>
          </a:bodyPr>
          <a:lstStyle/>
          <a:p>
            <a:pPr>
              <a:spcBef>
                <a:spcPts val="576"/>
              </a:spcBef>
              <a:defRPr sz="2000">
                <a:solidFill>
                  <a:srgbClr val="000000"/>
                </a:solidFill>
                <a:latin typeface="Garamond"/>
              </a:defRPr>
            </a:pPr>
            <a:r>
              <a:rPr lang="en-US" altLang="zh-TW" sz="2400" dirty="0"/>
              <a:t>The Protection-as-a-Bargaining-Chip Argument:</a:t>
            </a:r>
          </a:p>
          <a:p>
            <a:pPr lvl="1">
              <a:spcBef>
                <a:spcPts val="576"/>
              </a:spcBef>
              <a:defRPr sz="2000">
                <a:solidFill>
                  <a:srgbClr val="000000"/>
                </a:solidFill>
                <a:latin typeface="Garamond"/>
              </a:defRPr>
            </a:pPr>
            <a:r>
              <a:rPr lang="en-US" altLang="zh-TW" sz="2000" dirty="0"/>
              <a:t>Some policymakers argue that trade restrictions can be used as leverage in international negotiations.</a:t>
            </a:r>
          </a:p>
          <a:p>
            <a:pPr lvl="1">
              <a:spcBef>
                <a:spcPts val="576"/>
              </a:spcBef>
              <a:defRPr sz="2000">
                <a:solidFill>
                  <a:srgbClr val="000000"/>
                </a:solidFill>
                <a:latin typeface="Garamond"/>
              </a:defRPr>
            </a:pPr>
            <a:r>
              <a:rPr lang="en-US" altLang="zh-TW" sz="2000" dirty="0"/>
              <a:t>For example, a country might threaten tariffs on certain goods to pressure another country into lowering its own trade barriers.</a:t>
            </a:r>
          </a:p>
          <a:p>
            <a:pPr lvl="1">
              <a:spcBef>
                <a:spcPts val="576"/>
              </a:spcBef>
              <a:defRPr sz="2000">
                <a:solidFill>
                  <a:srgbClr val="000000"/>
                </a:solidFill>
                <a:latin typeface="Garamond"/>
              </a:defRPr>
            </a:pPr>
            <a:r>
              <a:rPr lang="en-US" altLang="zh-TW" sz="2000" dirty="0"/>
              <a:t>However, this strategy is risky because the threat may fail.</a:t>
            </a:r>
          </a:p>
          <a:p>
            <a:pPr lvl="1">
              <a:spcBef>
                <a:spcPts val="576"/>
              </a:spcBef>
              <a:defRPr sz="2000">
                <a:solidFill>
                  <a:srgbClr val="000000"/>
                </a:solidFill>
                <a:latin typeface="Garamond"/>
              </a:defRPr>
            </a:pPr>
            <a:r>
              <a:rPr lang="en-US" altLang="zh-TW" sz="2000" dirty="0"/>
              <a:t>If it fails, the country must either impose the restriction while harming its own economy, or back down and lose credibility in future negotiations.</a:t>
            </a:r>
          </a:p>
          <a:p>
            <a:pPr lvl="1">
              <a:spcBef>
                <a:spcPts val="576"/>
              </a:spcBef>
              <a:defRPr sz="2000">
                <a:solidFill>
                  <a:srgbClr val="000000"/>
                </a:solidFill>
                <a:latin typeface="Garamond"/>
              </a:defRPr>
            </a:pPr>
            <a:r>
              <a:rPr lang="en-US" altLang="zh-TW" sz="2000" dirty="0"/>
              <a:t>Economists generally view this approach as unreliable and potentially self-defeating.</a:t>
            </a:r>
          </a:p>
        </p:txBody>
      </p:sp>
      <p:pic>
        <p:nvPicPr>
          <p:cNvPr id="5122" name="Picture 2" descr="5+ Hundred Bargaining Chip Royalty-Free Images, Stock Photos &amp; Pictures |  Shutterstock">
            <a:extLst>
              <a:ext uri="{FF2B5EF4-FFF2-40B4-BE49-F238E27FC236}">
                <a16:creationId xmlns:a16="http://schemas.microsoft.com/office/drawing/2014/main" id="{C0F96F9C-2A0E-62E2-DFF6-094B944685E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4858" r="-14"/>
          <a:stretch/>
        </p:blipFill>
        <p:spPr bwMode="auto">
          <a:xfrm>
            <a:off x="541771" y="1427532"/>
            <a:ext cx="4524867" cy="457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6638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122"/>
                                        </p:tgtEl>
                                        <p:attrNameLst>
                                          <p:attrName>style.visibility</p:attrName>
                                        </p:attrNameLst>
                                      </p:cBhvr>
                                      <p:to>
                                        <p:strVal val="visible"/>
                                      </p:to>
                                    </p:set>
                                    <p:animEffect transition="in" filter="fade">
                                      <p:cBhvr>
                                        <p:cTn id="7" dur="500"/>
                                        <p:tgtEl>
                                          <p:spTgt spid="5122"/>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5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500"/>
                                        <p:tgtEl>
                                          <p:spTgt spid="3">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Effect transition="in" filter="fade">
                                      <p:cBhvr>
                                        <p:cTn id="30" dur="500"/>
                                        <p:tgtEl>
                                          <p:spTgt spid="3">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fade">
                                      <p:cBhvr>
                                        <p:cTn id="35"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77122C"/>
        </a:solidFill>
        <a:effectLst/>
      </p:bgPr>
    </p:bg>
    <p:spTree>
      <p:nvGrpSpPr>
        <p:cNvPr id="1" name="">
          <a:extLst>
            <a:ext uri="{FF2B5EF4-FFF2-40B4-BE49-F238E27FC236}">
              <a16:creationId xmlns:a16="http://schemas.microsoft.com/office/drawing/2014/main" id="{8E853B3F-3E08-35EB-E165-FE8DCCE69BD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6F72FFF-33CD-9D7D-B09A-A69AD60E0E56}"/>
              </a:ext>
            </a:extLst>
          </p:cNvPr>
          <p:cNvSpPr txBox="1"/>
          <p:nvPr/>
        </p:nvSpPr>
        <p:spPr>
          <a:xfrm>
            <a:off x="1" y="3013501"/>
            <a:ext cx="12188824" cy="830997"/>
          </a:xfrm>
          <a:prstGeom prst="rect">
            <a:avLst/>
          </a:prstGeom>
          <a:noFill/>
        </p:spPr>
        <p:txBody>
          <a:bodyPr wrap="square">
            <a:spAutoFit/>
          </a:bodyPr>
          <a:lstStyle/>
          <a:p>
            <a:pPr algn="ctr">
              <a:defRPr sz="4400" b="1">
                <a:solidFill>
                  <a:srgbClr val="FDB913"/>
                </a:solidFill>
                <a:latin typeface="Garamond"/>
              </a:defRPr>
            </a:pPr>
            <a:r>
              <a:rPr lang="en-US" sz="4800" dirty="0">
                <a:solidFill>
                  <a:schemeClr val="bg1"/>
                </a:solidFill>
              </a:rPr>
              <a:t>Recap of Chapter 9</a:t>
            </a:r>
            <a:endParaRPr sz="4000" dirty="0">
              <a:solidFill>
                <a:schemeClr val="bg1"/>
              </a:solidFill>
            </a:endParaRPr>
          </a:p>
        </p:txBody>
      </p:sp>
    </p:spTree>
    <p:extLst>
      <p:ext uri="{BB962C8B-B14F-4D97-AF65-F5344CB8AC3E}">
        <p14:creationId xmlns:p14="http://schemas.microsoft.com/office/powerpoint/2010/main" val="42385890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EF9591-C524-EA4B-D0F6-519365BC864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574158F-174C-DECE-2238-21BD22425FD8}"/>
              </a:ext>
            </a:extLst>
          </p:cNvPr>
          <p:cNvSpPr>
            <a:spLocks noGrp="1"/>
          </p:cNvSpPr>
          <p:nvPr>
            <p:ph idx="1"/>
          </p:nvPr>
        </p:nvSpPr>
        <p:spPr>
          <a:xfrm>
            <a:off x="457199" y="1300900"/>
            <a:ext cx="11189855" cy="5081046"/>
          </a:xfrm>
        </p:spPr>
        <p:txBody>
          <a:bodyPr>
            <a:normAutofit/>
          </a:bodyPr>
          <a:lstStyle/>
          <a:p>
            <a:pPr>
              <a:defRPr sz="2000">
                <a:solidFill>
                  <a:srgbClr val="000000"/>
                </a:solidFill>
                <a:latin typeface="Garamond"/>
              </a:defRPr>
            </a:pPr>
            <a:r>
              <a:rPr lang="en-US" altLang="zh-TW" sz="2400" dirty="0"/>
              <a:t>International trade allows countries to specialize based on comparative advantage, raising total economic welfare.</a:t>
            </a:r>
          </a:p>
          <a:p>
            <a:pPr lvl="1">
              <a:defRPr sz="2000">
                <a:solidFill>
                  <a:srgbClr val="000000"/>
                </a:solidFill>
                <a:latin typeface="Garamond"/>
              </a:defRPr>
            </a:pPr>
            <a:r>
              <a:rPr lang="en-US" altLang="zh-TW" sz="2000" dirty="0"/>
              <a:t>Exporting countries gain mainly through higher producer surplus.</a:t>
            </a:r>
          </a:p>
          <a:p>
            <a:pPr lvl="1">
              <a:defRPr sz="2000">
                <a:solidFill>
                  <a:srgbClr val="000000"/>
                </a:solidFill>
                <a:latin typeface="Garamond"/>
              </a:defRPr>
            </a:pPr>
            <a:r>
              <a:rPr lang="en-US" altLang="zh-TW" sz="2000" dirty="0"/>
              <a:t>Importing countries gain through higher consumer surplus.</a:t>
            </a:r>
          </a:p>
          <a:p>
            <a:pPr lvl="4">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Trade creates winners and losers, but the total gains from trade exceed the total losses.</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Barriers to trade reduce overall welfare by creating deadweight losses.</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A tariff is a tax on imported goods that raises the domestic price above the world price.</a:t>
            </a:r>
          </a:p>
          <a:p>
            <a:pPr lvl="1">
              <a:defRPr sz="2000">
                <a:solidFill>
                  <a:srgbClr val="000000"/>
                </a:solidFill>
                <a:latin typeface="Garamond"/>
              </a:defRPr>
            </a:pPr>
            <a:r>
              <a:rPr lang="en-US" altLang="zh-TW" sz="2000" dirty="0"/>
              <a:t>Consumers lose from higher prices and reduced choices.</a:t>
            </a:r>
          </a:p>
          <a:p>
            <a:pPr lvl="1">
              <a:defRPr sz="2000">
                <a:solidFill>
                  <a:srgbClr val="000000"/>
                </a:solidFill>
                <a:latin typeface="Garamond"/>
              </a:defRPr>
            </a:pPr>
            <a:r>
              <a:rPr lang="en-US" altLang="zh-TW" sz="2000" dirty="0"/>
              <a:t>Domestic producers gain from the higher price, and the government collects tariff revenue.</a:t>
            </a:r>
          </a:p>
          <a:p>
            <a:pPr lvl="1">
              <a:defRPr sz="2000">
                <a:solidFill>
                  <a:srgbClr val="000000"/>
                </a:solidFill>
                <a:latin typeface="Garamond"/>
              </a:defRPr>
            </a:pPr>
            <a:r>
              <a:rPr lang="en-US" altLang="zh-TW" sz="2000" dirty="0"/>
              <a:t>The loss in total surplus (deadweight loss) comes from inefficient production and reduced consumption.</a:t>
            </a:r>
          </a:p>
          <a:p>
            <a:pPr lvl="1">
              <a:defRPr sz="2000">
                <a:solidFill>
                  <a:srgbClr val="000000"/>
                </a:solidFill>
                <a:latin typeface="Garamond"/>
              </a:defRPr>
            </a:pPr>
            <a:r>
              <a:rPr lang="en-US" altLang="zh-TW" sz="2000" dirty="0"/>
              <a:t>While tariffs help some groups, they make the economy as a whole worse off.</a:t>
            </a:r>
          </a:p>
        </p:txBody>
      </p:sp>
      <p:sp>
        <p:nvSpPr>
          <p:cNvPr id="4" name="Rectangle 3">
            <a:extLst>
              <a:ext uri="{FF2B5EF4-FFF2-40B4-BE49-F238E27FC236}">
                <a16:creationId xmlns:a16="http://schemas.microsoft.com/office/drawing/2014/main" id="{A5C9CF70-A65D-B843-4AEB-8B7692201B9A}"/>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80E2B3-3228-C754-73A2-6349DBFD68E3}"/>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Recap</a:t>
            </a:r>
          </a:p>
        </p:txBody>
      </p:sp>
      <p:sp>
        <p:nvSpPr>
          <p:cNvPr id="5" name="Rectangle 4">
            <a:extLst>
              <a:ext uri="{FF2B5EF4-FFF2-40B4-BE49-F238E27FC236}">
                <a16:creationId xmlns:a16="http://schemas.microsoft.com/office/drawing/2014/main" id="{50B003BA-74C8-03D4-28C2-F2AD1532AE81}"/>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578CE243-F385-3907-7CB6-7F2C0BEA801C}"/>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59DA5AC3-B79F-D41E-98BD-BFF76C731305}"/>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33</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656502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8" end="8"/>
                                            </p:txEl>
                                          </p:spTgt>
                                        </p:tgtEl>
                                        <p:attrNameLst>
                                          <p:attrName>style.visibility</p:attrName>
                                        </p:attrNameLst>
                                      </p:cBhvr>
                                      <p:to>
                                        <p:strVal val="visible"/>
                                      </p:to>
                                    </p:set>
                                    <p:animEffect transition="in" filter="fade">
                                      <p:cBhvr>
                                        <p:cTn id="32" dur="500"/>
                                        <p:tgtEl>
                                          <p:spTgt spid="3">
                                            <p:txEl>
                                              <p:pRg st="8" end="8"/>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Effect transition="in" filter="fade">
                                      <p:cBhvr>
                                        <p:cTn id="37" dur="500"/>
                                        <p:tgtEl>
                                          <p:spTgt spid="3">
                                            <p:txEl>
                                              <p:pRg st="9" end="9"/>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10" end="10"/>
                                            </p:txEl>
                                          </p:spTgt>
                                        </p:tgtEl>
                                        <p:attrNameLst>
                                          <p:attrName>style.visibility</p:attrName>
                                        </p:attrNameLst>
                                      </p:cBhvr>
                                      <p:to>
                                        <p:strVal val="visible"/>
                                      </p:to>
                                    </p:set>
                                    <p:animEffect transition="in" filter="fade">
                                      <p:cBhvr>
                                        <p:cTn id="42" dur="500"/>
                                        <p:tgtEl>
                                          <p:spTgt spid="3">
                                            <p:txEl>
                                              <p:pRg st="10" end="1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animEffect transition="in" filter="fade">
                                      <p:cBhvr>
                                        <p:cTn id="47" dur="500"/>
                                        <p:tgtEl>
                                          <p:spTgt spid="3">
                                            <p:txEl>
                                              <p:pRg st="11" end="1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12" end="12"/>
                                            </p:txEl>
                                          </p:spTgt>
                                        </p:tgtEl>
                                        <p:attrNameLst>
                                          <p:attrName>style.visibility</p:attrName>
                                        </p:attrNameLst>
                                      </p:cBhvr>
                                      <p:to>
                                        <p:strVal val="visible"/>
                                      </p:to>
                                    </p:set>
                                    <p:animEffect transition="in" filter="fade">
                                      <p:cBhvr>
                                        <p:cTn id="52"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5178b066-ece4-42d6-be80-b911ff775fa2}" enabled="1" method="Privileged" siteId="{4881a8fa-b252-4912-b93a-7806c41bbe91}" contentBits="0" removed="0"/>
</clbl:labelList>
</file>

<file path=docProps/app.xml><?xml version="1.0" encoding="utf-8"?>
<Properties xmlns="http://schemas.openxmlformats.org/officeDocument/2006/extended-properties" xmlns:vt="http://schemas.openxmlformats.org/officeDocument/2006/docPropsVTypes">
  <TotalTime>10820</TotalTime>
  <Words>3064</Words>
  <Application>Microsoft Office PowerPoint</Application>
  <PresentationFormat>Custom</PresentationFormat>
  <Paragraphs>464</Paragraphs>
  <Slides>33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Aptos</vt:lpstr>
      <vt:lpstr>Arial</vt:lpstr>
      <vt:lpstr>Calibri</vt:lpstr>
      <vt:lpstr>Cambria Math</vt:lpstr>
      <vt:lpstr>Garamond</vt:lpstr>
      <vt:lpstr>Office Theme</vt:lpstr>
      <vt:lpstr>PowerPoint Presentation</vt:lpstr>
      <vt:lpstr>  Global Trade</vt:lpstr>
      <vt:lpstr>  The iPhone Supply Chain: Trade in One Product</vt:lpstr>
      <vt:lpstr>PowerPoint Presentation</vt:lpstr>
      <vt:lpstr>  The Closed Market: Autarky</vt:lpstr>
      <vt:lpstr>  World Prices and Comparative Advantage</vt:lpstr>
      <vt:lpstr>  The Open Market: "P" _"W"  "&gt;" "P" _"D" </vt:lpstr>
      <vt:lpstr>  The Open Market: "P" _"W"  "&gt;" "P" _"D" </vt:lpstr>
      <vt:lpstr>  The Open Market: "P" _"W"  "&gt;" "P" _"D" </vt:lpstr>
      <vt:lpstr>  Exercise: International Trade and Welfare</vt:lpstr>
      <vt:lpstr>  The Open Market: "P" _"W"  "&lt;" "P" _"D" </vt:lpstr>
      <vt:lpstr>  The Open Market: "P" _"W"  "&lt;" "P" _"D" </vt:lpstr>
      <vt:lpstr>  The Open Market: "P" _"W"  "&lt;" "P" _"D" </vt:lpstr>
      <vt:lpstr>  Exercise: World Price and Domestic Price</vt:lpstr>
      <vt:lpstr>  Summary: International Trade and Welfare</vt:lpstr>
      <vt:lpstr>  Tariffs</vt:lpstr>
      <vt:lpstr>  Tariffs</vt:lpstr>
      <vt:lpstr>  Tariffs on Imports: "P" _"W"  "&lt;" "P" _"D" </vt:lpstr>
      <vt:lpstr>  Tariffs on Imports: Consumers’ Loss</vt:lpstr>
      <vt:lpstr>  Tariffs on Imports: Producers’ Gain</vt:lpstr>
      <vt:lpstr>  Tariffs on Imports: Tariff Revenues</vt:lpstr>
      <vt:lpstr>  Tariffs on Imports: Deadweight Loss</vt:lpstr>
      <vt:lpstr>  Tariffs on Imports: A Summary</vt:lpstr>
      <vt:lpstr>PowerPoint Presentation</vt:lpstr>
      <vt:lpstr>  Benefits of Trade</vt:lpstr>
      <vt:lpstr>  Benefits of Trade</vt:lpstr>
      <vt:lpstr>  Arguments of Restricting Trade</vt:lpstr>
      <vt:lpstr>  Arguments of Restricting Trade</vt:lpstr>
      <vt:lpstr>  Arguments of Restricting Trade</vt:lpstr>
      <vt:lpstr>  Arguments of Restricting Trade</vt:lpstr>
      <vt:lpstr>  Arguments of Restricting Trade</vt:lpstr>
      <vt:lpstr>PowerPoint Presentation</vt:lpstr>
      <vt:lpstr>  Recap</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Brian Park</dc:creator>
  <cp:keywords/>
  <dc:description>generated using python-pptx</dc:description>
  <cp:lastModifiedBy>Brian Park</cp:lastModifiedBy>
  <cp:revision>290</cp:revision>
  <dcterms:created xsi:type="dcterms:W3CDTF">2013-01-27T09:14:16Z</dcterms:created>
  <dcterms:modified xsi:type="dcterms:W3CDTF">2025-10-11T02:27:41Z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178b066-ece4-42d6-be80-b911ff775fa2_Enabled">
    <vt:lpwstr>true</vt:lpwstr>
  </property>
  <property fmtid="{D5CDD505-2E9C-101B-9397-08002B2CF9AE}" pid="3" name="MSIP_Label_5178b066-ece4-42d6-be80-b911ff775fa2_SetDate">
    <vt:lpwstr>2025-09-24T18:17:42Z</vt:lpwstr>
  </property>
  <property fmtid="{D5CDD505-2E9C-101B-9397-08002B2CF9AE}" pid="4" name="MSIP_Label_5178b066-ece4-42d6-be80-b911ff775fa2_Method">
    <vt:lpwstr>Privileged</vt:lpwstr>
  </property>
  <property fmtid="{D5CDD505-2E9C-101B-9397-08002B2CF9AE}" pid="5" name="MSIP_Label_5178b066-ece4-42d6-be80-b911ff775fa2_Name">
    <vt:lpwstr>Public</vt:lpwstr>
  </property>
  <property fmtid="{D5CDD505-2E9C-101B-9397-08002B2CF9AE}" pid="6" name="MSIP_Label_5178b066-ece4-42d6-be80-b911ff775fa2_SiteId">
    <vt:lpwstr>4881a8fa-b252-4912-b93a-7806c41bbe91</vt:lpwstr>
  </property>
  <property fmtid="{D5CDD505-2E9C-101B-9397-08002B2CF9AE}" pid="7" name="MSIP_Label_5178b066-ece4-42d6-be80-b911ff775fa2_ActionId">
    <vt:lpwstr>5b7f0eae-2a30-4cf8-86c7-eaabe8636cb8</vt:lpwstr>
  </property>
  <property fmtid="{D5CDD505-2E9C-101B-9397-08002B2CF9AE}" pid="8" name="MSIP_Label_5178b066-ece4-42d6-be80-b911ff775fa2_ContentBits">
    <vt:lpwstr>0</vt:lpwstr>
  </property>
  <property fmtid="{D5CDD505-2E9C-101B-9397-08002B2CF9AE}" pid="9" name="MSIP_Label_5178b066-ece4-42d6-be80-b911ff775fa2_Tag">
    <vt:lpwstr>10, 0, 1, 1</vt:lpwstr>
  </property>
</Properties>
</file>