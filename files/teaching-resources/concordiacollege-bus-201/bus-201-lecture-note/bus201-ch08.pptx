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565" r:id="rId3"/>
    <p:sldId id="523" r:id="rId4"/>
    <p:sldId id="605" r:id="rId5"/>
    <p:sldId id="610" r:id="rId6"/>
    <p:sldId id="647" r:id="rId7"/>
    <p:sldId id="648" r:id="rId8"/>
    <p:sldId id="649" r:id="rId9"/>
    <p:sldId id="650" r:id="rId10"/>
    <p:sldId id="651" r:id="rId11"/>
    <p:sldId id="588" r:id="rId12"/>
    <p:sldId id="606" r:id="rId13"/>
    <p:sldId id="611" r:id="rId14"/>
    <p:sldId id="653" r:id="rId15"/>
    <p:sldId id="654" r:id="rId16"/>
    <p:sldId id="655" r:id="rId17"/>
    <p:sldId id="656" r:id="rId18"/>
    <p:sldId id="657" r:id="rId19"/>
    <p:sldId id="658" r:id="rId20"/>
    <p:sldId id="669" r:id="rId21"/>
    <p:sldId id="668" r:id="rId22"/>
    <p:sldId id="645" r:id="rId23"/>
    <p:sldId id="661" r:id="rId24"/>
    <p:sldId id="662" r:id="rId25"/>
    <p:sldId id="667" r:id="rId26"/>
    <p:sldId id="663" r:id="rId27"/>
    <p:sldId id="664" r:id="rId28"/>
    <p:sldId id="665" r:id="rId29"/>
    <p:sldId id="666" r:id="rId30"/>
    <p:sldId id="659" r:id="rId31"/>
    <p:sldId id="604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9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If the same tax is levied on the two goods below, which would result in a greater deadweight loss?
https://www.polleverywhere.com/multiple_choice_polls/YYx7tqUPw1aJfeoLLmekX?display_state=instructions&amp;activity_state=opened&amp;state=opened&amp;flow=Engagement&amp;onscreen=persist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B880D-03D5-B0D7-2049-BDE6DC605AF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14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If the same tax is levied on the two goods below, which would result in a greater deadweight loss?
https://www.polleverywhere.com/multiple_choice_polls/YYx7tqUPw1aJfeoLLmekX?display_state=chart&amp;activity_state=opened&amp;state=opened&amp;flow=Engagement&amp;onscreen=persist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4B1F7-1174-E6AD-2A17-CED892B3A79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12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If the same tax is levied on the two goods below, which would result in a greater deadweight loss?
https://www.polleverywhere.com/multiple_choice_polls/YYx7tqUPw1aJfeoLLmekX?display_state=chart&amp;activity_state=closed&amp;state=closed&amp;flow=Engagement&amp;onscreen=persist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E8088-433C-BAB7-DEA9-32CDE7C3D9F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4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P</a:t>
            </a:r>
            <a:r>
              <a:rPr lang="en-US" sz="4000" dirty="0"/>
              <a:t>RINCIPLES OF </a:t>
            </a:r>
            <a:r>
              <a:rPr lang="en-US" sz="4800" dirty="0"/>
              <a:t>G</a:t>
            </a:r>
            <a:r>
              <a:rPr lang="en-US" sz="4000" dirty="0"/>
              <a:t>LOBAL </a:t>
            </a:r>
            <a:r>
              <a:rPr lang="en-US" sz="4800" dirty="0"/>
              <a:t>E</a:t>
            </a:r>
            <a:r>
              <a:rPr lang="en-US" sz="4000" dirty="0"/>
              <a:t>CONOMICS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8: The Costs of Taxation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0773-F21F-06C8-4F80-47664838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CDA983-3FBA-ADFB-636B-11FB30DA984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943CA-C545-26BD-8E28-F39E6266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Taxation is Inevitable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79FB29-EBDA-57F8-721F-3E345C3D046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DAC62-D179-F5D4-505A-45EF42D6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A8E41-4353-6026-BB12-21AE093E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26" name="Picture 2" descr="Death and Taxes, Deferred - PyxisCare">
            <a:extLst>
              <a:ext uri="{FF2B5EF4-FFF2-40B4-BE49-F238E27FC236}">
                <a16:creationId xmlns:a16="http://schemas.microsoft.com/office/drawing/2014/main" id="{4C8A37A7-3434-922A-8DD4-D2265CC86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1" y="970332"/>
            <a:ext cx="85725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04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B9BE-AF65-5659-9D4E-E04A1887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08B13E-511B-7802-FB00-A17B1BEB321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6BD40-85BE-D3EA-637B-C1238F13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Taxation and Welfare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52344-DCCD-395D-9C3D-5C5B98D50F9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BDB3-971B-DFC3-D0AC-9C30D742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03A3-84F3-99D2-969F-D527BD3A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F6E3A-678C-0413-1AC9-9D6C8FC27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previous chapters, we examined: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taxes alter the market equilibrium.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the burden is split between consumers and producers.</a:t>
            </a:r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learned that both buyers and sellers of goods and services are worse off when taxed: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Buyers pay more, lowering their consumer surplus.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Sellers receive less, lowering their producer surplus.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group of sellers and buyers are “priced out” of the market altogether.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fully understand how taxation affects societal well-being, we must compare the losses to the amount of revenue the government collects.</a:t>
            </a:r>
          </a:p>
        </p:txBody>
      </p:sp>
    </p:spTree>
    <p:extLst>
      <p:ext uri="{BB962C8B-B14F-4D97-AF65-F5344CB8AC3E}">
        <p14:creationId xmlns:p14="http://schemas.microsoft.com/office/powerpoint/2010/main" val="403199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C2379D-B54E-B460-E551-DDE0543D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85D3AC-BBCE-7F35-C811-1E1A3670D9D9}"/>
              </a:ext>
            </a:extLst>
          </p:cNvPr>
          <p:cNvSpPr txBox="1"/>
          <p:nvPr/>
        </p:nvSpPr>
        <p:spPr>
          <a:xfrm>
            <a:off x="1" y="3013501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The Deadweight Loss of Taxation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1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552E-60A9-4CB4-11AD-2EE9B43D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EBB2E8-11E4-A468-C2D0-0C629AD2660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4A75D-7758-41BB-C0C1-B7F9A3A9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Welfare Analysis: Tax-Free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C9AC8-4834-C5B2-51AE-D98A6E22239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8B526-8F45-FD60-E34A-6C5464C3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A72DA-5ED9-820A-CB24-9BF94527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D2B37-43C3-C832-24C2-80102EF27C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8" cy="493797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Initially, the market is in equilibrium, trading at the equilibrium price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P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 and quantity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b="0" i="0" dirty="0" smtClean="0"/>
                          <m:t>Q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know that total surplus is maximized in a perfectly competitive market.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Next, we will analyze how this market changes when a new tax is introduced.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Recall that it does not matter whether the tax is levied on sellers or buyers. We will use the wedge approach to examine its effects.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D2B37-43C3-C832-24C2-80102EF27C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8" cy="4937975"/>
              </a:xfrm>
              <a:blipFill>
                <a:blip r:embed="rId2"/>
                <a:stretch>
                  <a:fillRect l="-118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F5C3E6D-0DDB-0508-0A0F-B0948783C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5EA639-AAA9-4B74-47B0-4116309A43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6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47FF-851E-EE20-D2FD-ACBDA2D9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ED02AE-773B-7363-010F-AEA26096979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06EB0-7557-A56F-D065-2A2BA8FC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Welfare Analysis: CS and PS under Taxation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7472F-FBAA-5E1F-CBB5-FB438344B83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6A92C-61BE-8413-63B0-16435198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BA82A-32D8-A95C-570C-1E5538F5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69821-4FE0-EC9C-C234-BF30E5A51C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8" cy="493797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government levies a new sales tax of T on each unit traded in the market: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Quantity traded under taxation: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000" dirty="0"/>
                          <m:t>Q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zh-TW" sz="2000" b="0" i="0" dirty="0" smtClean="0"/>
                          <m:t>T</m:t>
                        </m:r>
                      </m:sup>
                    </m:sSup>
                  </m:oMath>
                </a14:m>
                <a:endParaRPr lang="en-US" altLang="zh-TW" sz="2000" dirty="0"/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Price paid by buyers: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000" b="0" i="0" dirty="0" smtClean="0"/>
                          <m:t>P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zh-TW" sz="2000" b="0" i="0" dirty="0" smtClean="0"/>
                          <m:t>D</m:t>
                        </m:r>
                      </m:sup>
                    </m:sSup>
                  </m:oMath>
                </a14:m>
                <a:endParaRPr lang="en-US" altLang="zh-TW" sz="2000" dirty="0"/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Price received by sellers: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000" dirty="0"/>
                          <m:t>P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zh-TW" sz="2000" b="0" i="0" dirty="0" smtClean="0"/>
                          <m:t>S</m:t>
                        </m:r>
                      </m:sup>
                    </m:sSup>
                  </m:oMath>
                </a14:m>
                <a:endParaRPr lang="en-US" altLang="zh-TW" sz="2000" dirty="0"/>
              </a:p>
              <a:p>
                <a:pPr lvl="4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consumer and producer surplus are now: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CS: Willingness to Pay – Price Paid by Consumers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PS: Price Received by Sellers – Willingness to Sell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Both consumer surplus and producer surplus decrease as a result of the new tax.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69821-4FE0-EC9C-C234-BF30E5A51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8" cy="4937975"/>
              </a:xfrm>
              <a:blipFill>
                <a:blip r:embed="rId2"/>
                <a:stretch>
                  <a:fillRect l="-1183" t="-988" r="-1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CBE25D3-82ED-1852-9914-A8F8B79EE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DB0555-C97C-AFC7-3844-03EEDF770D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6EAB83-E7EC-ADEF-08DF-33C15B70E1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196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8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4469-9196-3CE0-508A-0D8D2A71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5B6C90-DC5D-477B-B647-10F3F235508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457DD-B987-C011-D33C-3D436B664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Welfare Analysis: Government Revenue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F8FB-488B-FCE0-69FB-28F1199CA93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AE70C-C8DB-9B20-097C-79C9B31A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5C94F-D9F1-194A-E08E-4660086A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67AD6-2FB7-89F1-4A41-98FE7B66A3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8" cy="493797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this scenario, however, there is a third party in addition to sellers and buyers: the government.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Total surplus is now </a:t>
                </a:r>
                <a:r>
                  <a:rPr lang="en-US" altLang="zh-TW" sz="2400" dirty="0" err="1"/>
                  <a:t>CS+PS+Tax</a:t>
                </a:r>
                <a:r>
                  <a:rPr lang="en-US" altLang="zh-TW" sz="2400" dirty="0"/>
                  <a:t> Revenue.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government collects revenues equal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T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Q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zh-TW" sz="2400" b="0" i="0" dirty="0" smtClean="0"/>
                          <m:t>T</m:t>
                        </m:r>
                      </m:sup>
                    </m:sSup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revenue can be used to fund programs that would not otherwise be provided, a topic we will discuss later in the term.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now, let’s review what is happening in the market.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67AD6-2FB7-89F1-4A41-98FE7B66A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8" cy="4937975"/>
              </a:xfrm>
              <a:blipFill>
                <a:blip r:embed="rId2"/>
                <a:stretch>
                  <a:fillRect l="-1183" t="-988" r="-1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7747777-5383-BAF0-A56D-B4B0058BA9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11" name="Picture 10" descr="A diagram of a government revenue&#10;&#10;AI-generated content may be incorrect.">
            <a:extLst>
              <a:ext uri="{FF2B5EF4-FFF2-40B4-BE49-F238E27FC236}">
                <a16:creationId xmlns:a16="http://schemas.microsoft.com/office/drawing/2014/main" id="{C4B3262C-9A0C-C0D8-D3FF-B4FEC7D1B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7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62BD9-AA14-B806-941E-1FAA42BB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9E365F-3EAE-EF03-BAA2-25748FCD317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B762B-3047-0E28-FAE7-C2183A11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Welfare Analysis: Breakdown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9C4791-202F-B4D0-471C-66C19FC541C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7590C-3153-CA0A-995E-D816F248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D951D-EAD3-89A5-0E13-DA036A08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3B6CC-AF7B-F373-0575-20B01BD1A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8" cy="4937975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this scenario, however, there is a third party in addition to sellers and buyers: the government.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find that the area C+E is no longer captured by any agent in the market.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represents the </a:t>
            </a:r>
            <a:r>
              <a:rPr lang="en-US" altLang="zh-TW" sz="2400" b="1" dirty="0"/>
              <a:t>Deadweight Loss</a:t>
            </a:r>
            <a:r>
              <a:rPr lang="en-US" altLang="zh-TW" sz="2400" dirty="0"/>
              <a:t>, the fall in total surplus that results from market distortions.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1F9353-A850-A6B9-3E19-AB8703F3A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31762B9-7B7B-83B5-CFF5-73CB0D3A9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79709"/>
              </p:ext>
            </p:extLst>
          </p:nvPr>
        </p:nvGraphicFramePr>
        <p:xfrm>
          <a:off x="5458967" y="2118780"/>
          <a:ext cx="62726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5">
                  <a:extLst>
                    <a:ext uri="{9D8B030D-6E8A-4147-A177-3AD203B41FA5}">
                      <a16:colId xmlns:a16="http://schemas.microsoft.com/office/drawing/2014/main" val="348877026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91050621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27678827"/>
                    </a:ext>
                  </a:extLst>
                </a:gridCol>
                <a:gridCol w="1590930">
                  <a:extLst>
                    <a:ext uri="{9D8B030D-6E8A-4147-A177-3AD203B41FA5}">
                      <a16:colId xmlns:a16="http://schemas.microsoft.com/office/drawing/2014/main" val="4155519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Without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Change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90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28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26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39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Total Surplus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8095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BB23A9-9843-F29B-760C-05C72F17B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9633"/>
              </p:ext>
            </p:extLst>
          </p:nvPr>
        </p:nvGraphicFramePr>
        <p:xfrm>
          <a:off x="5458968" y="2118780"/>
          <a:ext cx="62726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5">
                  <a:extLst>
                    <a:ext uri="{9D8B030D-6E8A-4147-A177-3AD203B41FA5}">
                      <a16:colId xmlns:a16="http://schemas.microsoft.com/office/drawing/2014/main" val="348877026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91050621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27678827"/>
                    </a:ext>
                  </a:extLst>
                </a:gridCol>
                <a:gridCol w="1590930">
                  <a:extLst>
                    <a:ext uri="{9D8B030D-6E8A-4147-A177-3AD203B41FA5}">
                      <a16:colId xmlns:a16="http://schemas.microsoft.com/office/drawing/2014/main" val="4155519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Without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Change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90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28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D+E+F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26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39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Total Surplus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A+B+C+D+E+F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8095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6A61310-93F0-11C5-0190-5CE75756D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7169"/>
              </p:ext>
            </p:extLst>
          </p:nvPr>
        </p:nvGraphicFramePr>
        <p:xfrm>
          <a:off x="5458968" y="2118780"/>
          <a:ext cx="62726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5">
                  <a:extLst>
                    <a:ext uri="{9D8B030D-6E8A-4147-A177-3AD203B41FA5}">
                      <a16:colId xmlns:a16="http://schemas.microsoft.com/office/drawing/2014/main" val="348877026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91050621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27678827"/>
                    </a:ext>
                  </a:extLst>
                </a:gridCol>
                <a:gridCol w="1590930">
                  <a:extLst>
                    <a:ext uri="{9D8B030D-6E8A-4147-A177-3AD203B41FA5}">
                      <a16:colId xmlns:a16="http://schemas.microsoft.com/office/drawing/2014/main" val="4155519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Without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Change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90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28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D+E+F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26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B+D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39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Total Surplus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A+B+C+D+E+F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A+B+D+F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8095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78FA46D-E748-2333-1A44-CFEA95BD3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82636"/>
              </p:ext>
            </p:extLst>
          </p:nvPr>
        </p:nvGraphicFramePr>
        <p:xfrm>
          <a:off x="5458968" y="2118780"/>
          <a:ext cx="62726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5">
                  <a:extLst>
                    <a:ext uri="{9D8B030D-6E8A-4147-A177-3AD203B41FA5}">
                      <a16:colId xmlns:a16="http://schemas.microsoft.com/office/drawing/2014/main" val="348877026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91050621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27678827"/>
                    </a:ext>
                  </a:extLst>
                </a:gridCol>
                <a:gridCol w="1590930">
                  <a:extLst>
                    <a:ext uri="{9D8B030D-6E8A-4147-A177-3AD203B41FA5}">
                      <a16:colId xmlns:a16="http://schemas.microsoft.com/office/drawing/2014/main" val="4155519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Without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With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Change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90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aramond" panose="02020404030301010803" pitchFamily="18" charset="0"/>
                        </a:rPr>
                        <a:t>Lose B+C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28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D+E+F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aramond" panose="02020404030301010803" pitchFamily="18" charset="0"/>
                        </a:rPr>
                        <a:t>Lose D+E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26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B+D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Garamond" panose="02020404030301010803" pitchFamily="18" charset="0"/>
                        </a:rPr>
                        <a:t>Gain B+D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391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aramond" panose="02020404030301010803" pitchFamily="18" charset="0"/>
                        </a:rPr>
                        <a:t>Total Surplus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A+B+C+D+E+F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A+B+D+F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Lost C+E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68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06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72C0-1FA4-F2D3-BFC1-B97FACD00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A708FD-9244-17AC-1D19-1D4F53928B5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6CC0D-B632-8BF5-ED1D-F601694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Exercise: Deadweight Losses and Gains from Trade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FCD63-6EE1-9B5B-F700-7B67BDF2F6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7EAE8-02C0-306D-08D2-B6C41F8F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45758-FA0D-8FBC-E391-C3BE123B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AA7448-5EDF-580C-278B-97B8D5601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Scenario:</a:t>
            </a:r>
          </a:p>
          <a:p>
            <a:pPr marL="400050" lvl="1" indent="0">
              <a:spcBef>
                <a:spcPts val="576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Producing a local confectioner (candy manufacturer) can mass-produce one crate of candy at a cost of $200. The local grocery store is willing to pay up to $220 for each crate of candy. The confectioner and the grocery store agrees on a price of $205.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Calculate CS, PS, and TS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 Surplus: 			Producer Surplus: 			Total Surplus: </a:t>
            </a:r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Calculate CS, PS, and TS if the government levies a $25 per crate tax on candy.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 Surplus:			Producer Surplus:			Total Surplus: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Even if the grocery store pays their WTP of $220, the confectioner receives $195, which is below their WTS, and trade cannot happen.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0628A9-F0CB-B617-EBA9-9CA2D1C9E978}"/>
              </a:ext>
            </a:extLst>
          </p:cNvPr>
          <p:cNvSpPr/>
          <p:nvPr/>
        </p:nvSpPr>
        <p:spPr>
          <a:xfrm>
            <a:off x="3272240" y="3686141"/>
            <a:ext cx="553277" cy="274320"/>
          </a:xfrm>
          <a:prstGeom prst="rect">
            <a:avLst/>
          </a:prstGeom>
          <a:solidFill>
            <a:schemeClr val="bg1"/>
          </a:solidFill>
          <a:ln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$15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F4547-1B06-68FE-FE21-D617F306152F}"/>
              </a:ext>
            </a:extLst>
          </p:cNvPr>
          <p:cNvSpPr/>
          <p:nvPr/>
        </p:nvSpPr>
        <p:spPr>
          <a:xfrm>
            <a:off x="6052126" y="3685725"/>
            <a:ext cx="553277" cy="274320"/>
          </a:xfrm>
          <a:prstGeom prst="rect">
            <a:avLst/>
          </a:prstGeom>
          <a:solidFill>
            <a:schemeClr val="bg1"/>
          </a:solidFill>
          <a:ln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$5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37920D-2984-7701-9D0C-D1B7BD0CB26F}"/>
              </a:ext>
            </a:extLst>
          </p:cNvPr>
          <p:cNvSpPr/>
          <p:nvPr/>
        </p:nvSpPr>
        <p:spPr>
          <a:xfrm>
            <a:off x="8363309" y="3686141"/>
            <a:ext cx="553277" cy="274320"/>
          </a:xfrm>
          <a:prstGeom prst="rect">
            <a:avLst/>
          </a:prstGeom>
          <a:solidFill>
            <a:schemeClr val="bg1"/>
          </a:solidFill>
          <a:ln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$20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21F046-15C0-85A0-EAB7-6E758F861EE6}"/>
              </a:ext>
            </a:extLst>
          </p:cNvPr>
          <p:cNvSpPr/>
          <p:nvPr/>
        </p:nvSpPr>
        <p:spPr>
          <a:xfrm>
            <a:off x="3272240" y="4759723"/>
            <a:ext cx="553277" cy="274320"/>
          </a:xfrm>
          <a:prstGeom prst="rect">
            <a:avLst/>
          </a:prstGeom>
          <a:solidFill>
            <a:schemeClr val="bg1"/>
          </a:solidFill>
          <a:ln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$0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D9F048-0E6A-CB3F-4655-EAE9D8B3E8CA}"/>
              </a:ext>
            </a:extLst>
          </p:cNvPr>
          <p:cNvSpPr/>
          <p:nvPr/>
        </p:nvSpPr>
        <p:spPr>
          <a:xfrm>
            <a:off x="6052125" y="4759515"/>
            <a:ext cx="553277" cy="274320"/>
          </a:xfrm>
          <a:prstGeom prst="rect">
            <a:avLst/>
          </a:prstGeom>
          <a:solidFill>
            <a:schemeClr val="bg1"/>
          </a:solidFill>
          <a:ln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$0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641D86-0F87-9CD8-A0EF-67EF269EFCF2}"/>
              </a:ext>
            </a:extLst>
          </p:cNvPr>
          <p:cNvSpPr/>
          <p:nvPr/>
        </p:nvSpPr>
        <p:spPr>
          <a:xfrm>
            <a:off x="8364711" y="4759515"/>
            <a:ext cx="553277" cy="274320"/>
          </a:xfrm>
          <a:prstGeom prst="rect">
            <a:avLst/>
          </a:prstGeom>
          <a:solidFill>
            <a:schemeClr val="bg1"/>
          </a:solidFill>
          <a:ln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$0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21472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86A5-D012-3254-FC58-EF2A84B8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D8905B-4994-380B-F16C-9D25205DCE6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EC1AE-9812-0E21-80BD-C1821BCE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Exercise: Deadweight Losses and Gains from Trade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3522C-14A7-29A3-F32A-87C07C5D337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F80CE-A86B-76D9-9808-740E1E8A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C3191-125A-708E-2892-F313E861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10D8-D07A-EF70-69DC-17739F592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8" cy="4937975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Calculate CS and PS: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 Surplus: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Producer Surplus: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Calculate CS, PS, Tax Revenue, Total Surplus, and Deadweight Loss when the government levies a $3 per unit tax.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 Surplus: 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Producer Surplus: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Tax Revenue: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Total Surplus: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Deadweight Loss: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336BBE-058C-6891-4410-105714EF9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5210551-318D-52C7-D1D8-4EC7AAC6FA77}"/>
                  </a:ext>
                </a:extLst>
              </p:cNvPr>
              <p:cNvSpPr/>
              <p:nvPr/>
            </p:nvSpPr>
            <p:spPr>
              <a:xfrm>
                <a:off x="7827137" y="1800191"/>
                <a:ext cx="2326514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($9-$7)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40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0.5=$40</a:t>
                </a:r>
                <a:endParaRPr lang="en-US" sz="20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5210551-318D-52C7-D1D8-4EC7AAC6F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137" y="1800191"/>
                <a:ext cx="2326514" cy="274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055940C-5A04-E407-0864-7A176B70D1D2}"/>
                  </a:ext>
                </a:extLst>
              </p:cNvPr>
              <p:cNvSpPr/>
              <p:nvPr/>
            </p:nvSpPr>
            <p:spPr>
              <a:xfrm>
                <a:off x="7702897" y="2177455"/>
                <a:ext cx="2450754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($7-$1)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40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0.5=$120</a:t>
                </a:r>
                <a:endParaRPr lang="en-US" sz="20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055940C-5A04-E407-0864-7A176B70D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97" y="2177455"/>
                <a:ext cx="2450754" cy="2743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graph of a line and a line&#10;&#10;AI-generated content may be incorrect.">
            <a:extLst>
              <a:ext uri="{FF2B5EF4-FFF2-40B4-BE49-F238E27FC236}">
                <a16:creationId xmlns:a16="http://schemas.microsoft.com/office/drawing/2014/main" id="{4AE1F8D9-DF15-7BA6-6DCD-349DCCB7C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  <p:pic>
        <p:nvPicPr>
          <p:cNvPr id="20" name="Picture 19" descr="A graph of a line&#10;&#10;AI-generated content may be incorrect.">
            <a:extLst>
              <a:ext uri="{FF2B5EF4-FFF2-40B4-BE49-F238E27FC236}">
                <a16:creationId xmlns:a16="http://schemas.microsoft.com/office/drawing/2014/main" id="{A498C7FA-3CA6-510D-C6C4-D2050B6C4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6" y="1300900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BC9468D-CF3B-78F8-A154-761894D1CE96}"/>
                  </a:ext>
                </a:extLst>
              </p:cNvPr>
              <p:cNvSpPr/>
              <p:nvPr/>
            </p:nvSpPr>
            <p:spPr>
              <a:xfrm>
                <a:off x="7808087" y="3990995"/>
                <a:ext cx="2326514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($9-$8)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20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0.5=$10</a:t>
                </a:r>
                <a:endParaRPr lang="en-US" sz="20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BC9468D-CF3B-78F8-A154-761894D1C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087" y="3990995"/>
                <a:ext cx="2326514" cy="2743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934BB15-8014-03E8-6DDF-7978BEA4F43F}"/>
                  </a:ext>
                </a:extLst>
              </p:cNvPr>
              <p:cNvSpPr/>
              <p:nvPr/>
            </p:nvSpPr>
            <p:spPr>
              <a:xfrm>
                <a:off x="7702897" y="4392708"/>
                <a:ext cx="2326514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($4-$1)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20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0.5=$30</a:t>
                </a:r>
                <a:endParaRPr lang="en-US" sz="20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934BB15-8014-03E8-6DDF-7978BEA4F4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97" y="4392708"/>
                <a:ext cx="2326514" cy="2743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83BA2EE-4914-15DB-E113-9C73DBBCE2FF}"/>
                  </a:ext>
                </a:extLst>
              </p:cNvPr>
              <p:cNvSpPr/>
              <p:nvPr/>
            </p:nvSpPr>
            <p:spPr>
              <a:xfrm>
                <a:off x="7217156" y="4760225"/>
                <a:ext cx="1822069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($8-$4)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20=$80</a:t>
                </a:r>
                <a:endParaRPr lang="en-US" sz="20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83BA2EE-4914-15DB-E113-9C73DBBCE2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156" y="4760225"/>
                <a:ext cx="1822069" cy="2743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63DE94A-564F-89F9-B66B-3FB8C2B022C2}"/>
              </a:ext>
            </a:extLst>
          </p:cNvPr>
          <p:cNvSpPr/>
          <p:nvPr/>
        </p:nvSpPr>
        <p:spPr>
          <a:xfrm>
            <a:off x="7283831" y="5152359"/>
            <a:ext cx="2984119" cy="274320"/>
          </a:xfrm>
          <a:prstGeom prst="rect">
            <a:avLst/>
          </a:prstGeom>
          <a:solidFill>
            <a:schemeClr val="bg1"/>
          </a:solidFill>
          <a:ln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err="1">
                <a:solidFill>
                  <a:srgbClr val="000000"/>
                </a:solidFill>
                <a:latin typeface="Garamond"/>
              </a:rPr>
              <a:t>PS+CS+Tax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 Revenue=$120</a:t>
            </a:r>
            <a:endParaRPr lang="en-US" sz="2000" dirty="0">
              <a:solidFill>
                <a:srgbClr val="000000"/>
              </a:solidFill>
              <a:latin typeface="Garamon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288CE2D-F40A-09A0-01BE-648F3A7C7EF3}"/>
                  </a:ext>
                </a:extLst>
              </p:cNvPr>
              <p:cNvSpPr/>
              <p:nvPr/>
            </p:nvSpPr>
            <p:spPr>
              <a:xfrm>
                <a:off x="7702897" y="5530842"/>
                <a:ext cx="2326514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7122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($8-$4)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20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Garamond"/>
                  </a:rPr>
                  <a:t>0.5=$40</a:t>
                </a:r>
                <a:endParaRPr lang="en-US" sz="20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288CE2D-F40A-09A0-01BE-648F3A7C7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97" y="5530842"/>
                <a:ext cx="2326514" cy="2743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77122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05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8F05A-9AEA-F06B-44FD-2D8F3C78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5A852-6A9D-B465-0A64-5AF8FF41F29A}"/>
              </a:ext>
            </a:extLst>
          </p:cNvPr>
          <p:cNvSpPr txBox="1"/>
          <p:nvPr/>
        </p:nvSpPr>
        <p:spPr>
          <a:xfrm>
            <a:off x="1" y="2644170"/>
            <a:ext cx="121888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The Determinants of</a:t>
            </a:r>
          </a:p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Deadweight Loss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24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0558-DBF9-0510-97F0-86CDEDBD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57074-4CC3-A92A-7E5D-F3B2DBAF023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6CB19-2973-327E-2F41-8238BC1E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Determinants of Deadweight 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71D73-5F60-3A20-19DE-6F9319D52A1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8D25F-E362-D042-FF93-33352967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9ADF2-91AA-9635-0FA4-4FA41637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86DFF-B55C-ACD5-D4D5-1FCA2BBDE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Deadweight loss arises from a distortion in prices that prevents buyers and sellers from realizing some of the potential gains from trade.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other words, the more buyers or sellers are “priced out” of the market, the larger the deadweight loss.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Therefore, if sellers or buyers are more sensitive to price, the DWL becomes larger.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a given demand, the more elastic the supply curve, the larger the DWL.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a given supply, the more elastic the demand curve, the larger the DWL.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The greater the elasticity of supply and demand, the greater the DWL caused by taxation.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52704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CA42-8FC9-FC19-ADD1-60B6CC9E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854CBA-E18A-7232-75F5-0E234C730F8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19537-9EFC-0E5D-794F-AD7164977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DWL and Elasticities: Inelastic Supply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A593C-DDB1-F083-7513-B7B4CDA45E8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ACFC9-463F-15BC-F83F-79A8A908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E4FA-56CE-B4A4-789E-FBCC02CF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8A1D-C81F-7EEB-E645-E4E6FD623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8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the supply of a good is inelastic.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government levies a tax of T on each unit of the good traded in the market.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Because the supply is inelastic, the tax results in only a small decrease in the quantity traded.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Consequently, the deadweight loss is also small.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Now, let’s compare this to an alternative scenario where the same tax is levied when supply is elastic.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C0F527-09B9-3069-1DC1-69953A25A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9" name="Picture 8" descr="A graph of a line&#10;&#10;AI-generated content may be incorrect.">
            <a:extLst>
              <a:ext uri="{FF2B5EF4-FFF2-40B4-BE49-F238E27FC236}">
                <a16:creationId xmlns:a16="http://schemas.microsoft.com/office/drawing/2014/main" id="{3C836F10-A3FB-DEC0-11DC-1DF61FA38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3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41091-6B81-526A-D3BC-048BB24A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59744-10C3-D62A-F579-D9F0A666F28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C7041-B593-C76E-F0C7-89F90041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DWL and Elasticities: Elastic Supply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087035-85C3-C467-3ABF-4CD60170CDA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2BDD8-98DF-95EF-F3E2-B1D90F88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CD43D-99BA-C07E-005F-C9A5DE23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2FDE-EF83-ADAC-5561-EAF1E4A45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8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Now, suppose the supply is elastic, with the same tax 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Because the supply is elastic, the same tax causes a larger decrease in the quantity traded in the market.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DWL is therefore larger, as more buyers and sellers are priced out of the market.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minimize DWL, the government should tax goods with a less elastic price elasticity of supply.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What about demand?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AF8BDC-931F-6753-9887-059BD816B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9" name="Picture 8" descr="A diagram of a line&#10;&#10;AI-generated content may be incorrect.">
            <a:extLst>
              <a:ext uri="{FF2B5EF4-FFF2-40B4-BE49-F238E27FC236}">
                <a16:creationId xmlns:a16="http://schemas.microsoft.com/office/drawing/2014/main" id="{A59EE97C-5C0E-25F8-6964-69BFA51A6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7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4236-89ED-CA7E-98D5-C94C06D6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AB4554-B886-8554-AF66-CA0596317C1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0733B-A3A9-7399-C435-257E8969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DWL and Elasticities: Inelastic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7A54A4-6F21-B2D8-E03F-DBCF4DF5E39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82F73-69D4-8E40-A7D3-65DB07BF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5060A-3227-3182-A954-5F8B3571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D86A4-3C3C-21E2-197C-DC9C2DE56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8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the demand of a good is inelastic.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government levies a tax of T on each unit of the good traded in the market.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Because the demand is inelastic, the tax results in only a small decrease in the quantity traded.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Consequently, the deadweight loss is also small.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Now, let’s compare this to an alternative scenario where the same tax is levied when demand is elastic.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69948E-2E46-D229-3CFF-FA23B35DF5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11" name="Picture 10" descr="A graph of a line&#10;&#10;AI-generated content may be incorrect.">
            <a:extLst>
              <a:ext uri="{FF2B5EF4-FFF2-40B4-BE49-F238E27FC236}">
                <a16:creationId xmlns:a16="http://schemas.microsoft.com/office/drawing/2014/main" id="{37D2145D-0AB0-B8DB-82EC-F07ECE65A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1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77E28-765E-D496-4393-73C00E43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49DB56-009D-98EE-7162-DD86ED22256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BF706-32E3-7736-2257-5EE7727E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DWL and Elasticities: Elastic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0A6294-E269-4199-43C5-14E24117627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8C792-195B-FF1D-8812-54BEDFD2A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304C1-2011-5BC8-DBE3-D0644F81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636DB-96A3-8F63-115C-E461EC6FA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8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Now, suppose the demand is elastic, with the same tax 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Because the demand is elastic, the same tax causes a larger decrease in the quantity traded in the market.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DWL is therefore larger, as more buyers and sellers are priced out of the market.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minimize DWL, the government should tax goods with a less elastic price elasticity of demand.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Let’s consider some real-world scenarios.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EE08F1-8A4E-A72C-2C21-7B26D6159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11" name="Picture 10" descr="A diagram of a line&#10;&#10;AI-generated content may be incorrect.">
            <a:extLst>
              <a:ext uri="{FF2B5EF4-FFF2-40B4-BE49-F238E27FC236}">
                <a16:creationId xmlns:a16="http://schemas.microsoft.com/office/drawing/2014/main" id="{CBFFB493-864F-029E-6743-AD214566C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2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4980-C28F-31E6-EC84-6DB141DC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If the same tax is levied on the two goods below, which would result in a greater deadweight loss?
Slide 17</a:t>
            </a:r>
          </a:p>
        </p:txBody>
      </p:sp>
      <p:pic>
        <p:nvPicPr>
          <p:cNvPr id="4" name="Picture 3" descr="Poll Everywhere multiple choice poll instructions screen&#10;Activity Title: If the same tax is levied on the two goods below, which would result in a greater deadweight loss?">
            <a:extLst>
              <a:ext uri="{FF2B5EF4-FFF2-40B4-BE49-F238E27FC236}">
                <a16:creationId xmlns:a16="http://schemas.microsoft.com/office/drawing/2014/main" id="{695ABB5D-F55B-ECA2-5981-52578CCDB71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3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A545-1C33-BC85-6D61-85497BA5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If the same tax is levied on the two goods below, which would result in a greater deadweight loss?
Slide 18</a:t>
            </a:r>
          </a:p>
        </p:txBody>
      </p:sp>
      <p:pic>
        <p:nvPicPr>
          <p:cNvPr id="4" name="Picture 3" descr="Poll Everywhere multiple choice poll chart screen&#10;Activity Title: If the same tax is levied on the two goods below, which would result in a greater deadweight loss?">
            <a:extLst>
              <a:ext uri="{FF2B5EF4-FFF2-40B4-BE49-F238E27FC236}">
                <a16:creationId xmlns:a16="http://schemas.microsoft.com/office/drawing/2014/main" id="{6706EFDF-F9FF-1CFC-FBD3-B0DB8E3B992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17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F37D-A37E-8380-3A00-48AC8A2D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If the same tax is levied on the two goods below, which would result in a greater deadweight loss?
Slide 19</a:t>
            </a:r>
          </a:p>
        </p:txBody>
      </p:sp>
      <p:pic>
        <p:nvPicPr>
          <p:cNvPr id="4" name="Picture 3" descr="Poll Everywhere multiple choice poll chart screen&#10;Activity Title: If the same tax is levied on the two goods below, which would result in a greater deadweight loss?">
            <a:extLst>
              <a:ext uri="{FF2B5EF4-FFF2-40B4-BE49-F238E27FC236}">
                <a16:creationId xmlns:a16="http://schemas.microsoft.com/office/drawing/2014/main" id="{6A5F5459-9060-5E33-A556-A16D52E7B4B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92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76F6-EDD0-4EC0-5817-D0BC3323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D35FCC-DEDD-9F13-6295-8F6C704EA4A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987C6-660D-13DA-03B7-4346E5C5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Case Study: Federal Income Tax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64F540-EF80-090B-2974-E08885DC113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B7E0C-EFF6-519B-B808-549840ED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C5B11-0E14-76B6-1238-E1E124D8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0220A-BBE2-A4FE-60D9-80E8852F4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are philosophical, political, and sociological arguments both for and against large versus small governments.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From an economic perspective, one way to evaluate the size of government is to consider the deadweight loss (DWL) associated with taxation.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taxation creates a large DWL, it may provide a strong case for a smaller government.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taxation imposes only a small DWL on the economy, it may support the case for a larger or more active government.</a:t>
            </a:r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impact of an increase in the income tax on DWL depends on whether the supply of labor is elastic or inelastic.</a:t>
            </a:r>
          </a:p>
        </p:txBody>
      </p:sp>
    </p:spTree>
    <p:extLst>
      <p:ext uri="{BB962C8B-B14F-4D97-AF65-F5344CB8AC3E}">
        <p14:creationId xmlns:p14="http://schemas.microsoft.com/office/powerpoint/2010/main" val="22720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D796-9901-A47C-5249-A8F5118B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683093-CF4D-75DF-D741-1CD1E981C99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76FF8-62C2-830C-DCFF-34C61FBF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Case Study: Federal Income Tax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287FAF-B2C9-E4A4-340A-8351F305F03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15A54-E17B-74B9-C6A5-50A64652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95CB3-3F2E-31CC-886D-27F1242C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6503-EA6F-D1EA-F742-B14A55C1C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Labor Supply is Inelastic: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Most people choose to work full-time regardless of the wage.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This is especially true for workers in their prime working years.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It is also true for workers who are the primary source of household income.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Therefore, an increase in the tax on labor results in a small deadweight loss (DWL).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Labor Supply is Elastic: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Some groups of workers have a more elastic labor supply and respond more strongly to changes in incentives.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Many workers can adjust their hours or switch to part-time employment.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Many households have dual earners, allowing one member to reduce hours when taxes rise.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Some workers may even shift to the underground economy to avoid taxes.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Therefore, an increase in the tax on labor results in a large deadweight loss (DWL).</a:t>
            </a:r>
          </a:p>
        </p:txBody>
      </p:sp>
    </p:spTree>
    <p:extLst>
      <p:ext uri="{BB962C8B-B14F-4D97-AF65-F5344CB8AC3E}">
        <p14:creationId xmlns:p14="http://schemas.microsoft.com/office/powerpoint/2010/main" val="22713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75DC6-1171-9BA5-FC5C-0398C119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EB1EB6-D83A-57E9-146E-650ABFCA2773}"/>
              </a:ext>
            </a:extLst>
          </p:cNvPr>
          <p:cNvSpPr txBox="1"/>
          <p:nvPr/>
        </p:nvSpPr>
        <p:spPr>
          <a:xfrm>
            <a:off x="0" y="2644170"/>
            <a:ext cx="121888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Deadweight Loss and</a:t>
            </a:r>
          </a:p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Tax Revenue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990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75CA2-E59D-A7A6-FBC9-52F74BCE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4D5B07-A903-0E55-2EA7-3B331986253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8CB52-BE45-8441-B9BE-A567CAAB8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Laffer Curve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5F7E29-856D-D359-DEDD-E132C7F367B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3C55D-A0D3-33B4-0461-E9766432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41BB9-6D45-FE14-A288-D81EDE17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656F7-8461-0493-ECBF-F8C2BFBC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496" y="1300900"/>
            <a:ext cx="5972558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Generally, as the tax rate increases, tax revenue rises at first.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However, tax revenue eventually begins to decline as the tax rate becomes too high.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relationship is illustrated by the Laffer Curve, popularized by Arthur Laffer, who served during the Reagan administration.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theory was used to argue for lowering U.S. income tax rates to stimulate economic growth and increase overall tax revenue.</a:t>
            </a:r>
          </a:p>
        </p:txBody>
      </p:sp>
      <p:pic>
        <p:nvPicPr>
          <p:cNvPr id="1026" name="Picture 2" descr="Question of the Week: What's the Right Point on the Laffer Curve? | Cato at  Liberty Blog">
            <a:extLst>
              <a:ext uri="{FF2B5EF4-FFF2-40B4-BE49-F238E27FC236}">
                <a16:creationId xmlns:a16="http://schemas.microsoft.com/office/drawing/2014/main" id="{39E06137-A9AE-B666-C506-380B8B3EA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300900"/>
            <a:ext cx="521729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20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EAD65-F4E0-A372-895F-C79A4812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7C533A-5890-551D-8036-270F5709E2B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C6185-9032-73F9-E947-EB93A7F9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Laffer Curve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AF455F-42DE-A8B9-7C54-B96E1C4D5A8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4C856-8458-5CC8-B6BA-8389B689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E569F-25EE-33B7-7D81-18E1E217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EB54B-0893-116C-69B0-AEA6A697D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8" cy="5081046"/>
          </a:xfrm>
        </p:spPr>
        <p:txBody>
          <a:bodyPr>
            <a:normAutofit lnSpcReduction="10000"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Let’s examine whether the model supports the implications of the Laffer Curve.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By varying the tax rate, we can calculate the corresponding tax revenue and DWL: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find that while DWL increases continuously, tax revenue reaches a maximum at a certain point before declining.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9D307C-AE05-227C-805B-3B50B13E1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8" y="1300900"/>
            <a:ext cx="4572000" cy="4572000"/>
          </a:xfrm>
          <a:prstGeom prst="rect">
            <a:avLst/>
          </a:prstGeom>
        </p:spPr>
      </p:pic>
      <p:pic>
        <p:nvPicPr>
          <p:cNvPr id="9" name="Picture 8" descr="A graph of a line&#10;&#10;AI-generated content may be incorrect.">
            <a:extLst>
              <a:ext uri="{FF2B5EF4-FFF2-40B4-BE49-F238E27FC236}">
                <a16:creationId xmlns:a16="http://schemas.microsoft.com/office/drawing/2014/main" id="{923A4330-8EC7-F9AC-6879-D3B7288A5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3" name="Picture 12" descr="A graph of a line and a line&#10;&#10;AI-generated content may be incorrect.">
            <a:extLst>
              <a:ext uri="{FF2B5EF4-FFF2-40B4-BE49-F238E27FC236}">
                <a16:creationId xmlns:a16="http://schemas.microsoft.com/office/drawing/2014/main" id="{AD86F8E9-0393-B88F-E1F3-7BB67F45D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7" y="1300900"/>
            <a:ext cx="4572000" cy="457200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0C2C3E-B51E-578A-4DCD-1CE8B8251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11522"/>
              </p:ext>
            </p:extLst>
          </p:nvPr>
        </p:nvGraphicFramePr>
        <p:xfrm>
          <a:off x="5413248" y="3033320"/>
          <a:ext cx="62543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90">
                  <a:extLst>
                    <a:ext uri="{9D8B030D-6E8A-4147-A177-3AD203B41FA5}">
                      <a16:colId xmlns:a16="http://schemas.microsoft.com/office/drawing/2014/main" val="3420464840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3417190782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2929326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Per Unit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Deadweight Loss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52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8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96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4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432640"/>
                  </a:ext>
                </a:extLst>
              </a:tr>
            </a:tbl>
          </a:graphicData>
        </a:graphic>
      </p:graphicFrame>
      <p:pic>
        <p:nvPicPr>
          <p:cNvPr id="16" name="Picture 15" descr="A graph of a line and a triangle&#10;&#10;AI-generated content may be incorrect.">
            <a:extLst>
              <a:ext uri="{FF2B5EF4-FFF2-40B4-BE49-F238E27FC236}">
                <a16:creationId xmlns:a16="http://schemas.microsoft.com/office/drawing/2014/main" id="{4731319D-B476-D835-710A-802A00246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6" y="1300900"/>
            <a:ext cx="4572000" cy="4572000"/>
          </a:xfrm>
          <a:prstGeom prst="rect">
            <a:avLst/>
          </a:prstGeom>
        </p:spPr>
      </p:pic>
      <p:pic>
        <p:nvPicPr>
          <p:cNvPr id="18" name="Picture 17" descr="A graph of a line&#10;&#10;AI-generated content may be incorrect.">
            <a:extLst>
              <a:ext uri="{FF2B5EF4-FFF2-40B4-BE49-F238E27FC236}">
                <a16:creationId xmlns:a16="http://schemas.microsoft.com/office/drawing/2014/main" id="{4FA81FD4-142A-1FBC-75BD-ABE7D469D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5" y="1300900"/>
            <a:ext cx="4572000" cy="4572000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9D8A1D6-C45E-84F8-AB02-A88D81A48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207126"/>
              </p:ext>
            </p:extLst>
          </p:nvPr>
        </p:nvGraphicFramePr>
        <p:xfrm>
          <a:off x="5413244" y="3033320"/>
          <a:ext cx="62543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90">
                  <a:extLst>
                    <a:ext uri="{9D8B030D-6E8A-4147-A177-3AD203B41FA5}">
                      <a16:colId xmlns:a16="http://schemas.microsoft.com/office/drawing/2014/main" val="3420464840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3417190782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2929326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Per Unit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Deadweight Loss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52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8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96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4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43264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9BC3213-B1E2-AB3A-768E-F7B79B19E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408174"/>
              </p:ext>
            </p:extLst>
          </p:nvPr>
        </p:nvGraphicFramePr>
        <p:xfrm>
          <a:off x="5413240" y="3033320"/>
          <a:ext cx="62543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90">
                  <a:extLst>
                    <a:ext uri="{9D8B030D-6E8A-4147-A177-3AD203B41FA5}">
                      <a16:colId xmlns:a16="http://schemas.microsoft.com/office/drawing/2014/main" val="3420464840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3417190782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2929326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Per Unit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Deadweight Loss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52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8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96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4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43264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F46CF18-9CE1-2C58-6A27-B751E3915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149460"/>
              </p:ext>
            </p:extLst>
          </p:nvPr>
        </p:nvGraphicFramePr>
        <p:xfrm>
          <a:off x="5413236" y="3033320"/>
          <a:ext cx="62543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90">
                  <a:extLst>
                    <a:ext uri="{9D8B030D-6E8A-4147-A177-3AD203B41FA5}">
                      <a16:colId xmlns:a16="http://schemas.microsoft.com/office/drawing/2014/main" val="3420464840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3417190782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2929326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Per Unit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Deadweight Loss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52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8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96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4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43264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3777154-ACA7-BC16-D7F6-C9E24E3F2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263028"/>
              </p:ext>
            </p:extLst>
          </p:nvPr>
        </p:nvGraphicFramePr>
        <p:xfrm>
          <a:off x="5413248" y="3033320"/>
          <a:ext cx="62543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90">
                  <a:extLst>
                    <a:ext uri="{9D8B030D-6E8A-4147-A177-3AD203B41FA5}">
                      <a16:colId xmlns:a16="http://schemas.microsoft.com/office/drawing/2014/main" val="3420464840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3417190782"/>
                    </a:ext>
                  </a:extLst>
                </a:gridCol>
                <a:gridCol w="2084790">
                  <a:extLst>
                    <a:ext uri="{9D8B030D-6E8A-4147-A177-3AD203B41FA5}">
                      <a16:colId xmlns:a16="http://schemas.microsoft.com/office/drawing/2014/main" val="2929326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Per Unit Tax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Tax Revenue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Deadweight Loss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52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8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96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4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$160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432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53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4892-CB0E-7FB6-CED5-4871075B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C54B4E-070B-E9F7-620F-E6FC7BC7DA3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8143B-57A1-757B-C40D-44274385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Laffer Curve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B95F-0551-D173-189A-9602C940DF9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244E-2877-1C7F-14DB-C5457948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4DE39-92CB-DC1C-1D6F-3932D833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 descr="A graph of a line&#10;&#10;AI-generated content may be incorrect.">
            <a:extLst>
              <a:ext uri="{FF2B5EF4-FFF2-40B4-BE49-F238E27FC236}">
                <a16:creationId xmlns:a16="http://schemas.microsoft.com/office/drawing/2014/main" id="{2FC065AB-A7F6-5E89-2CCB-D21692CD8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27744"/>
            <a:ext cx="2743200" cy="2743200"/>
          </a:xfrm>
          <a:prstGeom prst="rect">
            <a:avLst/>
          </a:prstGeom>
        </p:spPr>
      </p:pic>
      <p:pic>
        <p:nvPicPr>
          <p:cNvPr id="13" name="Picture 12" descr="A graph of a line and a line&#10;&#10;AI-generated content may be incorrect.">
            <a:extLst>
              <a:ext uri="{FF2B5EF4-FFF2-40B4-BE49-F238E27FC236}">
                <a16:creationId xmlns:a16="http://schemas.microsoft.com/office/drawing/2014/main" id="{6D9A22FF-8446-C31D-7886-0D3120472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127" y="1727744"/>
            <a:ext cx="2743200" cy="2743200"/>
          </a:xfrm>
          <a:prstGeom prst="rect">
            <a:avLst/>
          </a:prstGeom>
        </p:spPr>
      </p:pic>
      <p:pic>
        <p:nvPicPr>
          <p:cNvPr id="16" name="Picture 15" descr="A graph of a line and a triangle&#10;&#10;AI-generated content may be incorrect.">
            <a:extLst>
              <a:ext uri="{FF2B5EF4-FFF2-40B4-BE49-F238E27FC236}">
                <a16:creationId xmlns:a16="http://schemas.microsoft.com/office/drawing/2014/main" id="{D73C3D17-BB07-7442-73FB-A152B7CDF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498" y="1727744"/>
            <a:ext cx="2743200" cy="2743200"/>
          </a:xfrm>
          <a:prstGeom prst="rect">
            <a:avLst/>
          </a:prstGeom>
        </p:spPr>
      </p:pic>
      <p:pic>
        <p:nvPicPr>
          <p:cNvPr id="18" name="Picture 17" descr="A graph of a line&#10;&#10;AI-generated content may be incorrect.">
            <a:extLst>
              <a:ext uri="{FF2B5EF4-FFF2-40B4-BE49-F238E27FC236}">
                <a16:creationId xmlns:a16="http://schemas.microsoft.com/office/drawing/2014/main" id="{1610807E-18C5-4FC1-B0E6-9B902C22C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071" y="1727744"/>
            <a:ext cx="2743200" cy="27432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F66D7B3-D173-9B61-1487-7EAD4C82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Below is a quick visual comparison of markets with different levels of taxation.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Let’s plot our own version of the Laffer Curve and examine the relationship between deadweight loss (DWL) and tax rates.</a:t>
            </a:r>
          </a:p>
        </p:txBody>
      </p:sp>
    </p:spTree>
    <p:extLst>
      <p:ext uri="{BB962C8B-B14F-4D97-AF65-F5344CB8AC3E}">
        <p14:creationId xmlns:p14="http://schemas.microsoft.com/office/powerpoint/2010/main" val="37598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6A33B-88C8-70DA-1D27-C747418B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F5860D-8D5B-DA2A-E710-AD21B0C4357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5E6F4-3792-9A4D-DA28-2A42C975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Laffer Curve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95AF4-127D-456A-A580-F3066D902C3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FF4AF-1768-C69B-4C76-92864D65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4314C-DA7A-26C0-FE94-8CD34093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3A7F-0E23-1CF7-DE16-FD4CDFBD0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496" y="1300900"/>
            <a:ext cx="5972558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By plotting the four data points, we obtain a rough outline of the Laffer Curve.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Using the exact functional forms of the supply and demand curves, we can derive a smooth version of the Laffer Curve.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According to our model, tax revenue is maximized when the per-unit tax is set at $5.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Meanwhile, what happens to the deadweight loss?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DBC887-7AFC-DA64-22B8-87CE7CA47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779847" y="1300900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graph with a red line&#10;&#10;AI-generated content may be incorrect.">
            <a:extLst>
              <a:ext uri="{FF2B5EF4-FFF2-40B4-BE49-F238E27FC236}">
                <a16:creationId xmlns:a16="http://schemas.microsoft.com/office/drawing/2014/main" id="{17C8CC72-7822-E764-C2AB-2EA88119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47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4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6420A-C3C2-536F-5C21-E7F56BE9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5D2725-6913-C942-B397-1A3500C0B62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0B4C7-9BC4-6115-F08F-380B7885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Laffer Curve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D2DBA-0FEB-9B27-E31F-1E9EC938562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1266A-C7FB-B5BE-4ED5-94533048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6C436-CFE9-199C-D876-43B9B0D3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94570-BAE3-01F2-0115-301BCC547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496" y="1300900"/>
            <a:ext cx="5972558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By plotting the four points based on our DWL calculations, we observe that deadweight loss increases as the tax rate rises.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Using the exact functional forms, we can derive a smooth version of the DWL curve.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DWL increases at a much faster rate than tax revenue.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Most economists agree that applying the Laffer Curve as a justification for reducing federal income taxes was misguided.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A97377-1A16-7613-9603-5ED441512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779847" y="1300900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0DB00E2C-B20A-8E74-B061-E447CB54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47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0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E118-9BEC-760B-C99D-F09841E8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E28E8E-E127-BC08-D53B-15E0874D86F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6F191-C664-C533-34D5-02B7D511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Case Study: Reagan Tax Cuts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0644D-8055-9EAB-CD40-9089C80CB82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23281-3BEF-A8C1-BD6D-3DCCF9A4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9B313-89D9-6D1A-7089-D929B664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1081D-3D44-F32E-0342-252C05851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the late 1970s, economist Arthur Laffer argued that very high tax rates reduce incentives to work and invest, which can lower total tax revenue.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His idea, known as the Laffer Curve, influenced President Ronald Reagan's economic advisors during the 1980 campaign.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Economic Recovery Tax Act of 1981 reduced the top marginal income tax rate from 70% to 50%, and later to 28% by 1986.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stated goals were to stimulate economic growth, increase investment and labor supply, and eventually raise total tax revenue through stronger overall activity.</a:t>
            </a:r>
          </a:p>
        </p:txBody>
      </p:sp>
    </p:spTree>
    <p:extLst>
      <p:ext uri="{BB962C8B-B14F-4D97-AF65-F5344CB8AC3E}">
        <p14:creationId xmlns:p14="http://schemas.microsoft.com/office/powerpoint/2010/main" val="276522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26C5-116E-7B0B-2FFE-C8B25E43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8E235E-9B4E-DC0F-2CFF-E6F8BF86FEA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F1B43-6C61-809B-F5E0-45579FE7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Case Study: Reagan Tax Cuts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C03BEB-2E76-95BC-6A01-478A1EE86FB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61ECD-F3A7-27B7-1C01-F1D82CDC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26DEF-E381-8BF2-7D0D-5B87E0A8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4C47D-02D5-1EAF-4A3F-8D6CF1606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Supporters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cuts helped end stagflation and supported rapid economic growth in the mid-1980s.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Private investment and job creation increased, showing stronger incentives to produce.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stock market expanded and inflation fell, which supporters attributed partly to tax policy changes.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Critics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Federal deficits grew sharply as tax revenues declined faster than government spending.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Evidence showed that the United States was below the revenue-maximizing point on the Laffer Curve, so tax cuts reduced total revenue.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Income inequality widened, and much of the growth benefited higher-income households.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Later analyses by the Congressional Budget Office and the U.S. Treasury found that tax cuts recovered only a small portion of lost revenue.</a:t>
            </a:r>
          </a:p>
        </p:txBody>
      </p:sp>
    </p:spTree>
    <p:extLst>
      <p:ext uri="{BB962C8B-B14F-4D97-AF65-F5344CB8AC3E}">
        <p14:creationId xmlns:p14="http://schemas.microsoft.com/office/powerpoint/2010/main" val="325200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3B3F-3E08-35EB-E165-FE8DCCE69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F72FFF-33CD-9D7D-B09A-A69AD60E0E56}"/>
              </a:ext>
            </a:extLst>
          </p:cNvPr>
          <p:cNvSpPr txBox="1"/>
          <p:nvPr/>
        </p:nvSpPr>
        <p:spPr>
          <a:xfrm>
            <a:off x="1" y="3013501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Recap of Chapter 8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589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9591-C524-EA4B-D0F6-519365BC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4158F-174C-DECE-2238-21BD22425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Taxation reduces the welfare of both buyers and sellers.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Buyers consume less and pay a higher price.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Sellers produce less and receive a lower price.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reduction in consumer surplus (CS) and producer surplus (PS) generally exceeds the tax revenue collected by the government.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resulting fall in total surplus is the deadweight loss (DWL) of taxation.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deadweight loss of taxation is larger when demand and supply are more elastic.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the tax increases: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deadweight loss grows larger.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Tax revenue rises at low tax rates but eventually falls once the tax rate becomes too high.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C9CF70-A65D-B843-4AEB-8B7692201B9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0E2B3-3228-C754-73A2-6349DBFD6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003BA-74C8-03D4-28C2-F2AD1532AE8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CE243-F385-3907-7CB6-7F2C0BEA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A5AC3-B79F-D41E-98BD-BFF76C73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650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93ccd17-d990-4dcf-8848-e195c32ed8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33d346b-911d-4142-b1aa-383eaa6021f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888de9d-57cc-4c80-9b8e-7dbb2bb18b3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78b066-ece4-42d6-be80-b911ff775fa2}" enabled="1" method="Privilege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9620</TotalTime>
  <Words>2899</Words>
  <Application>Microsoft Office PowerPoint</Application>
  <PresentationFormat>Custom</PresentationFormat>
  <Paragraphs>407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Taxation is Inevitable</vt:lpstr>
      <vt:lpstr>  Taxation and Welfare</vt:lpstr>
      <vt:lpstr>PowerPoint Presentation</vt:lpstr>
      <vt:lpstr>  Welfare Analysis: Tax-Free</vt:lpstr>
      <vt:lpstr>  Welfare Analysis: CS and PS under Taxation</vt:lpstr>
      <vt:lpstr>  Welfare Analysis: Government Revenue</vt:lpstr>
      <vt:lpstr>  Welfare Analysis: Breakdown</vt:lpstr>
      <vt:lpstr>  Exercise: Deadweight Losses and Gains from Trade</vt:lpstr>
      <vt:lpstr>  Exercise: Deadweight Losses and Gains from Trade</vt:lpstr>
      <vt:lpstr>PowerPoint Presentation</vt:lpstr>
      <vt:lpstr>  The Determinants of Deadweight Loss</vt:lpstr>
      <vt:lpstr>  DWL and Elasticities: Inelastic Supply</vt:lpstr>
      <vt:lpstr>  DWL and Elasticities: Elastic Supply</vt:lpstr>
      <vt:lpstr>  DWL and Elasticities: Inelastic Demand</vt:lpstr>
      <vt:lpstr>  DWL and Elasticities: Elastic Demand</vt:lpstr>
      <vt:lpstr>Poll Everywhere multiple choice poll instructions screen
Activity Title: If the same tax is levied on the two goods below, which would result in a greater deadweight loss?
Slide 17</vt:lpstr>
      <vt:lpstr>Poll Everywhere multiple choice poll chart screen
Activity Title: If the same tax is levied on the two goods below, which would result in a greater deadweight loss?
Slide 18</vt:lpstr>
      <vt:lpstr>Poll Everywhere multiple choice poll chart screen
Activity Title: If the same tax is levied on the two goods below, which would result in a greater deadweight loss?
Slide 19</vt:lpstr>
      <vt:lpstr>  Case Study: Federal Income Tax</vt:lpstr>
      <vt:lpstr>  Case Study: Federal Income Tax</vt:lpstr>
      <vt:lpstr>PowerPoint Presentation</vt:lpstr>
      <vt:lpstr>  The Laffer Curve</vt:lpstr>
      <vt:lpstr>  The Laffer Curve</vt:lpstr>
      <vt:lpstr>  The Laffer Curve</vt:lpstr>
      <vt:lpstr>  The Laffer Curve</vt:lpstr>
      <vt:lpstr>  The Laffer Curve</vt:lpstr>
      <vt:lpstr>  Case Study: Reagan Tax Cuts</vt:lpstr>
      <vt:lpstr>  Case Study: Reagan Tax Cuts</vt:lpstr>
      <vt:lpstr>PowerPoint Presentation</vt:lpstr>
      <vt:lpstr>  Recap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246</cp:revision>
  <dcterms:created xsi:type="dcterms:W3CDTF">2013-01-27T09:14:16Z</dcterms:created>
  <dcterms:modified xsi:type="dcterms:W3CDTF">2025-10-05T20:21:06Z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78b066-ece4-42d6-be80-b911ff775fa2_Enabled">
    <vt:lpwstr>true</vt:lpwstr>
  </property>
  <property fmtid="{D5CDD505-2E9C-101B-9397-08002B2CF9AE}" pid="3" name="MSIP_Label_5178b066-ece4-42d6-be80-b911ff775fa2_SetDate">
    <vt:lpwstr>2025-09-24T18:17:42Z</vt:lpwstr>
  </property>
  <property fmtid="{D5CDD505-2E9C-101B-9397-08002B2CF9AE}" pid="4" name="MSIP_Label_5178b066-ece4-42d6-be80-b911ff775fa2_Method">
    <vt:lpwstr>Privileged</vt:lpwstr>
  </property>
  <property fmtid="{D5CDD505-2E9C-101B-9397-08002B2CF9AE}" pid="5" name="MSIP_Label_5178b066-ece4-42d6-be80-b911ff775fa2_Name">
    <vt:lpwstr>Public</vt:lpwstr>
  </property>
  <property fmtid="{D5CDD505-2E9C-101B-9397-08002B2CF9AE}" pid="6" name="MSIP_Label_5178b066-ece4-42d6-be80-b911ff775fa2_SiteId">
    <vt:lpwstr>4881a8fa-b252-4912-b93a-7806c41bbe91</vt:lpwstr>
  </property>
  <property fmtid="{D5CDD505-2E9C-101B-9397-08002B2CF9AE}" pid="7" name="MSIP_Label_5178b066-ece4-42d6-be80-b911ff775fa2_ActionId">
    <vt:lpwstr>5b7f0eae-2a30-4cf8-86c7-eaabe8636cb8</vt:lpwstr>
  </property>
  <property fmtid="{D5CDD505-2E9C-101B-9397-08002B2CF9AE}" pid="8" name="MSIP_Label_5178b066-ece4-42d6-be80-b911ff775fa2_ContentBits">
    <vt:lpwstr>0</vt:lpwstr>
  </property>
  <property fmtid="{D5CDD505-2E9C-101B-9397-08002B2CF9AE}" pid="9" name="MSIP_Label_5178b066-ece4-42d6-be80-b911ff775fa2_Tag">
    <vt:lpwstr>10, 0, 1, 1</vt:lpwstr>
  </property>
</Properties>
</file>