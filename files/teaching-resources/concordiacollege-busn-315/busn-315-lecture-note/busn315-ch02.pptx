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tags/tag1.xml" ContentType="application/vnd.openxmlformats-officedocument.presentationml.tags+xml"/>
  <Override PartName="/ppt/notesSlides/notesSlide40.xml" ContentType="application/vnd.openxmlformats-officedocument.presentationml.notesSlide+xml"/>
  <Override PartName="/ppt/tags/tag2.xml" ContentType="application/vnd.openxmlformats-officedocument.presentationml.tags+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tags/tag3.xml" ContentType="application/vnd.openxmlformats-officedocument.presentationml.tags+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71"/>
  </p:notesMasterIdLst>
  <p:sldIdLst>
    <p:sldId id="256" r:id="rId2"/>
    <p:sldId id="382" r:id="rId3"/>
    <p:sldId id="257" r:id="rId4"/>
    <p:sldId id="387" r:id="rId5"/>
    <p:sldId id="388" r:id="rId6"/>
    <p:sldId id="389" r:id="rId7"/>
    <p:sldId id="390" r:id="rId8"/>
    <p:sldId id="391" r:id="rId9"/>
    <p:sldId id="392" r:id="rId10"/>
    <p:sldId id="393" r:id="rId11"/>
    <p:sldId id="453" r:id="rId12"/>
    <p:sldId id="394" r:id="rId13"/>
    <p:sldId id="395" r:id="rId14"/>
    <p:sldId id="396" r:id="rId15"/>
    <p:sldId id="397" r:id="rId16"/>
    <p:sldId id="398" r:id="rId17"/>
    <p:sldId id="399" r:id="rId18"/>
    <p:sldId id="400" r:id="rId19"/>
    <p:sldId id="401" r:id="rId20"/>
    <p:sldId id="402" r:id="rId21"/>
    <p:sldId id="403" r:id="rId22"/>
    <p:sldId id="407" r:id="rId23"/>
    <p:sldId id="409" r:id="rId24"/>
    <p:sldId id="410" r:id="rId25"/>
    <p:sldId id="411" r:id="rId26"/>
    <p:sldId id="413" r:id="rId27"/>
    <p:sldId id="459" r:id="rId28"/>
    <p:sldId id="414" r:id="rId29"/>
    <p:sldId id="415" r:id="rId30"/>
    <p:sldId id="456" r:id="rId31"/>
    <p:sldId id="416" r:id="rId32"/>
    <p:sldId id="417" r:id="rId33"/>
    <p:sldId id="458" r:id="rId34"/>
    <p:sldId id="418" r:id="rId35"/>
    <p:sldId id="419" r:id="rId36"/>
    <p:sldId id="412" r:id="rId37"/>
    <p:sldId id="457" r:id="rId38"/>
    <p:sldId id="454" r:id="rId39"/>
    <p:sldId id="421" r:id="rId40"/>
    <p:sldId id="422" r:id="rId41"/>
    <p:sldId id="423" r:id="rId42"/>
    <p:sldId id="425" r:id="rId43"/>
    <p:sldId id="426" r:id="rId44"/>
    <p:sldId id="428" r:id="rId45"/>
    <p:sldId id="430" r:id="rId46"/>
    <p:sldId id="432" r:id="rId47"/>
    <p:sldId id="427" r:id="rId48"/>
    <p:sldId id="433" r:id="rId49"/>
    <p:sldId id="452" r:id="rId50"/>
    <p:sldId id="434" r:id="rId51"/>
    <p:sldId id="435" r:id="rId52"/>
    <p:sldId id="429" r:id="rId53"/>
    <p:sldId id="437" r:id="rId54"/>
    <p:sldId id="436" r:id="rId55"/>
    <p:sldId id="438" r:id="rId56"/>
    <p:sldId id="439" r:id="rId57"/>
    <p:sldId id="441" r:id="rId58"/>
    <p:sldId id="440" r:id="rId59"/>
    <p:sldId id="442" r:id="rId60"/>
    <p:sldId id="455" r:id="rId61"/>
    <p:sldId id="443" r:id="rId62"/>
    <p:sldId id="444" r:id="rId63"/>
    <p:sldId id="445" r:id="rId64"/>
    <p:sldId id="446" r:id="rId65"/>
    <p:sldId id="448" r:id="rId66"/>
    <p:sldId id="447" r:id="rId67"/>
    <p:sldId id="450" r:id="rId68"/>
    <p:sldId id="449" r:id="rId69"/>
    <p:sldId id="451" r:id="rId7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7122C"/>
    <a:srgbClr val="FDB913"/>
    <a:srgbClr val="B8964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04" autoAdjust="0"/>
    <p:restoredTop sz="92252" autoAdjust="0"/>
  </p:normalViewPr>
  <p:slideViewPr>
    <p:cSldViewPr snapToGrid="0" snapToObjects="1">
      <p:cViewPr varScale="1">
        <p:scale>
          <a:sx n="102" d="100"/>
          <a:sy n="102" d="100"/>
        </p:scale>
        <p:origin x="858" y="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359EC7-19C7-4638-A61A-0E2B59861576}" type="datetimeFigureOut">
              <a:rPr lang="en-US" smtClean="0"/>
              <a:t>1/23/2026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87AAC7-CF25-414B-93E7-2A61E431E831}" type="slidenum">
              <a:rPr lang="en-US" smtClean="0"/>
              <a:t>‹#›</a:t>
            </a:fld>
            <a:endParaRPr lang="en-US"/>
          </a:p>
        </p:txBody>
      </p:sp>
    </p:spTree>
    <p:extLst>
      <p:ext uri="{BB962C8B-B14F-4D97-AF65-F5344CB8AC3E}">
        <p14:creationId xmlns:p14="http://schemas.microsoft.com/office/powerpoint/2010/main" val="4102823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B0394-E5C4-6569-9000-A64A44EBA8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0823-31F3-9D0B-FCA7-0EF4F4FAD0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AF84BF-994F-E96E-A165-29795273679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E57F7C-824B-0983-C6CC-41D1AF925F07}"/>
              </a:ext>
            </a:extLst>
          </p:cNvPr>
          <p:cNvSpPr>
            <a:spLocks noGrp="1"/>
          </p:cNvSpPr>
          <p:nvPr>
            <p:ph type="sldNum" sz="quarter" idx="5"/>
          </p:nvPr>
        </p:nvSpPr>
        <p:spPr/>
        <p:txBody>
          <a:bodyPr/>
          <a:lstStyle/>
          <a:p>
            <a:fld id="{C987AAC7-CF25-414B-93E7-2A61E431E831}" type="slidenum">
              <a:rPr lang="en-US" smtClean="0"/>
              <a:t>2</a:t>
            </a:fld>
            <a:endParaRPr lang="en-US"/>
          </a:p>
        </p:txBody>
      </p:sp>
    </p:spTree>
    <p:extLst>
      <p:ext uri="{BB962C8B-B14F-4D97-AF65-F5344CB8AC3E}">
        <p14:creationId xmlns:p14="http://schemas.microsoft.com/office/powerpoint/2010/main" val="22635957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3FC3B-566A-F1DA-C914-F5E06D4835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0470AD-6966-6F0D-7DD4-1B725FC466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D1F33A-3B20-1388-6C26-7B6DDDD477F6}"/>
              </a:ext>
            </a:extLst>
          </p:cNvPr>
          <p:cNvSpPr>
            <a:spLocks noGrp="1"/>
          </p:cNvSpPr>
          <p:nvPr>
            <p:ph type="body" idx="1"/>
          </p:nvPr>
        </p:nvSpPr>
        <p:spPr/>
        <p:txBody>
          <a:bodyPr/>
          <a:lstStyle/>
          <a:p>
            <a:r>
              <a:rPr lang="en-US" dirty="0"/>
              <a:t>Businesses must deal with many different pieces of information about suppliers, customers, employees, invoices, payments, and of course their products and services. They must organize work activities that use this information to operate efficiently and enhance the overall performance of the firm. Information systems make it possible for firms to manage all their information, make better decisions, and improve the execution of their business processes.</a:t>
            </a:r>
          </a:p>
        </p:txBody>
      </p:sp>
      <p:sp>
        <p:nvSpPr>
          <p:cNvPr id="4" name="Slide Number Placeholder 3">
            <a:extLst>
              <a:ext uri="{FF2B5EF4-FFF2-40B4-BE49-F238E27FC236}">
                <a16:creationId xmlns:a16="http://schemas.microsoft.com/office/drawing/2014/main" id="{C52870C0-D86E-0453-D4BE-FF4846BA61CE}"/>
              </a:ext>
            </a:extLst>
          </p:cNvPr>
          <p:cNvSpPr>
            <a:spLocks noGrp="1"/>
          </p:cNvSpPr>
          <p:nvPr>
            <p:ph type="sldNum" sz="quarter" idx="5"/>
          </p:nvPr>
        </p:nvSpPr>
        <p:spPr/>
        <p:txBody>
          <a:bodyPr/>
          <a:lstStyle/>
          <a:p>
            <a:fld id="{C987AAC7-CF25-414B-93E7-2A61E431E831}" type="slidenum">
              <a:rPr lang="en-US" smtClean="0"/>
              <a:t>4</a:t>
            </a:fld>
            <a:endParaRPr lang="en-US"/>
          </a:p>
        </p:txBody>
      </p:sp>
    </p:spTree>
    <p:extLst>
      <p:ext uri="{BB962C8B-B14F-4D97-AF65-F5344CB8AC3E}">
        <p14:creationId xmlns:p14="http://schemas.microsoft.com/office/powerpoint/2010/main" val="12090614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15FE1-D769-3B50-DB34-35EFBC5AF7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064BAE-6C14-6E1D-72E0-743815874F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C295D9-714B-2FDB-2563-81FACFBC3A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30A8ED-D188-913A-70FF-A3F30CD339D1}"/>
              </a:ext>
            </a:extLst>
          </p:cNvPr>
          <p:cNvSpPr>
            <a:spLocks noGrp="1"/>
          </p:cNvSpPr>
          <p:nvPr>
            <p:ph type="sldNum" sz="quarter" idx="5"/>
          </p:nvPr>
        </p:nvSpPr>
        <p:spPr/>
        <p:txBody>
          <a:bodyPr/>
          <a:lstStyle/>
          <a:p>
            <a:fld id="{C987AAC7-CF25-414B-93E7-2A61E431E831}" type="slidenum">
              <a:rPr lang="en-US" smtClean="0"/>
              <a:t>5</a:t>
            </a:fld>
            <a:endParaRPr lang="en-US"/>
          </a:p>
        </p:txBody>
      </p:sp>
    </p:spTree>
    <p:extLst>
      <p:ext uri="{BB962C8B-B14F-4D97-AF65-F5344CB8AC3E}">
        <p14:creationId xmlns:p14="http://schemas.microsoft.com/office/powerpoint/2010/main" val="23250167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EAF2F-1F8D-E3DD-6CB2-A81615D5E8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75249-494E-DA91-1479-9EDA9EEED3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2CB7FD-782A-A65A-A472-76F4F73749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E10F86-946C-1C97-09CA-DDBADFD13E82}"/>
              </a:ext>
            </a:extLst>
          </p:cNvPr>
          <p:cNvSpPr>
            <a:spLocks noGrp="1"/>
          </p:cNvSpPr>
          <p:nvPr>
            <p:ph type="sldNum" sz="quarter" idx="5"/>
          </p:nvPr>
        </p:nvSpPr>
        <p:spPr/>
        <p:txBody>
          <a:bodyPr/>
          <a:lstStyle/>
          <a:p>
            <a:fld id="{C987AAC7-CF25-414B-93E7-2A61E431E831}" type="slidenum">
              <a:rPr lang="en-US" smtClean="0"/>
              <a:t>6</a:t>
            </a:fld>
            <a:endParaRPr lang="en-US"/>
          </a:p>
        </p:txBody>
      </p:sp>
    </p:spTree>
    <p:extLst>
      <p:ext uri="{BB962C8B-B14F-4D97-AF65-F5344CB8AC3E}">
        <p14:creationId xmlns:p14="http://schemas.microsoft.com/office/powerpoint/2010/main" val="24174309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2B7CA-B2C8-4579-3DF0-7052494DF2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FA92B4-EF0C-766B-5D3E-820395CB0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FB5583-0858-082D-72D3-9E678FA2C8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084D63-DACB-6E27-0FE9-15BC27C187D2}"/>
              </a:ext>
            </a:extLst>
          </p:cNvPr>
          <p:cNvSpPr>
            <a:spLocks noGrp="1"/>
          </p:cNvSpPr>
          <p:nvPr>
            <p:ph type="sldNum" sz="quarter" idx="5"/>
          </p:nvPr>
        </p:nvSpPr>
        <p:spPr/>
        <p:txBody>
          <a:bodyPr/>
          <a:lstStyle/>
          <a:p>
            <a:fld id="{C987AAC7-CF25-414B-93E7-2A61E431E831}" type="slidenum">
              <a:rPr lang="en-US" smtClean="0"/>
              <a:t>7</a:t>
            </a:fld>
            <a:endParaRPr lang="en-US"/>
          </a:p>
        </p:txBody>
      </p:sp>
    </p:spTree>
    <p:extLst>
      <p:ext uri="{BB962C8B-B14F-4D97-AF65-F5344CB8AC3E}">
        <p14:creationId xmlns:p14="http://schemas.microsoft.com/office/powerpoint/2010/main" val="3756270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C79EF-AC91-1D82-CAF5-3CB7750BE2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50FF43-9747-C2D7-5A53-C411782FC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4E2336-7EBE-E9DE-7021-6FC890DC65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1CC3A4-8000-CA74-1383-90223A3BFCD1}"/>
              </a:ext>
            </a:extLst>
          </p:cNvPr>
          <p:cNvSpPr>
            <a:spLocks noGrp="1"/>
          </p:cNvSpPr>
          <p:nvPr>
            <p:ph type="sldNum" sz="quarter" idx="5"/>
          </p:nvPr>
        </p:nvSpPr>
        <p:spPr/>
        <p:txBody>
          <a:bodyPr/>
          <a:lstStyle/>
          <a:p>
            <a:fld id="{C987AAC7-CF25-414B-93E7-2A61E431E831}" type="slidenum">
              <a:rPr lang="en-US" smtClean="0"/>
              <a:t>8</a:t>
            </a:fld>
            <a:endParaRPr lang="en-US"/>
          </a:p>
        </p:txBody>
      </p:sp>
    </p:spTree>
    <p:extLst>
      <p:ext uri="{BB962C8B-B14F-4D97-AF65-F5344CB8AC3E}">
        <p14:creationId xmlns:p14="http://schemas.microsoft.com/office/powerpoint/2010/main" val="22703617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81EBE-A53B-D188-7C90-883144CDA5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35CEFB-EC89-7468-54C2-FC782CD263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2257D7-84E2-F515-67C5-2CC4D987A0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0EC93D-E5BA-4DBD-8554-B4937C5A80B4}"/>
              </a:ext>
            </a:extLst>
          </p:cNvPr>
          <p:cNvSpPr>
            <a:spLocks noGrp="1"/>
          </p:cNvSpPr>
          <p:nvPr>
            <p:ph type="sldNum" sz="quarter" idx="5"/>
          </p:nvPr>
        </p:nvSpPr>
        <p:spPr/>
        <p:txBody>
          <a:bodyPr/>
          <a:lstStyle/>
          <a:p>
            <a:fld id="{C987AAC7-CF25-414B-93E7-2A61E431E831}" type="slidenum">
              <a:rPr lang="en-US" smtClean="0"/>
              <a:t>9</a:t>
            </a:fld>
            <a:endParaRPr lang="en-US"/>
          </a:p>
        </p:txBody>
      </p:sp>
    </p:spTree>
    <p:extLst>
      <p:ext uri="{BB962C8B-B14F-4D97-AF65-F5344CB8AC3E}">
        <p14:creationId xmlns:p14="http://schemas.microsoft.com/office/powerpoint/2010/main" val="12287519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ABB7B-5884-69FF-9FDF-616E74298C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0C4DCF-129A-66D4-D814-EBEB1B100A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3BD74A-35D5-96E5-10A8-D3FC55D0FF5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81166C-19D3-3D8D-D83F-5676266809C1}"/>
              </a:ext>
            </a:extLst>
          </p:cNvPr>
          <p:cNvSpPr>
            <a:spLocks noGrp="1"/>
          </p:cNvSpPr>
          <p:nvPr>
            <p:ph type="sldNum" sz="quarter" idx="5"/>
          </p:nvPr>
        </p:nvSpPr>
        <p:spPr/>
        <p:txBody>
          <a:bodyPr/>
          <a:lstStyle/>
          <a:p>
            <a:fld id="{C987AAC7-CF25-414B-93E7-2A61E431E831}" type="slidenum">
              <a:rPr lang="en-US" smtClean="0"/>
              <a:t>10</a:t>
            </a:fld>
            <a:endParaRPr lang="en-US"/>
          </a:p>
        </p:txBody>
      </p:sp>
    </p:spTree>
    <p:extLst>
      <p:ext uri="{BB962C8B-B14F-4D97-AF65-F5344CB8AC3E}">
        <p14:creationId xmlns:p14="http://schemas.microsoft.com/office/powerpoint/2010/main" val="16611389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CDA03-BBCE-01CD-6003-DD609B7FAB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C5497-0C21-08F8-9B7E-92BBE98F83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94A63A-83DC-A2F1-8627-14E28C46E5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F53C07-CAAD-2A69-79CC-90DA3E6E27D7}"/>
              </a:ext>
            </a:extLst>
          </p:cNvPr>
          <p:cNvSpPr>
            <a:spLocks noGrp="1"/>
          </p:cNvSpPr>
          <p:nvPr>
            <p:ph type="sldNum" sz="quarter" idx="5"/>
          </p:nvPr>
        </p:nvSpPr>
        <p:spPr/>
        <p:txBody>
          <a:bodyPr/>
          <a:lstStyle/>
          <a:p>
            <a:fld id="{C987AAC7-CF25-414B-93E7-2A61E431E831}" type="slidenum">
              <a:rPr lang="en-US" smtClean="0"/>
              <a:t>11</a:t>
            </a:fld>
            <a:endParaRPr lang="en-US"/>
          </a:p>
        </p:txBody>
      </p:sp>
    </p:spTree>
    <p:extLst>
      <p:ext uri="{BB962C8B-B14F-4D97-AF65-F5344CB8AC3E}">
        <p14:creationId xmlns:p14="http://schemas.microsoft.com/office/powerpoint/2010/main" val="24721034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95379-A733-1A10-F4C0-841C21F8A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CE733B-EF73-985A-53B5-49640A42BD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9797C3-6B50-5B5A-2784-4EBF8E8626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F4089C-7376-36D1-D085-0E324F84D62C}"/>
              </a:ext>
            </a:extLst>
          </p:cNvPr>
          <p:cNvSpPr>
            <a:spLocks noGrp="1"/>
          </p:cNvSpPr>
          <p:nvPr>
            <p:ph type="sldNum" sz="quarter" idx="5"/>
          </p:nvPr>
        </p:nvSpPr>
        <p:spPr/>
        <p:txBody>
          <a:bodyPr/>
          <a:lstStyle/>
          <a:p>
            <a:fld id="{C987AAC7-CF25-414B-93E7-2A61E431E831}" type="slidenum">
              <a:rPr lang="en-US" smtClean="0"/>
              <a:t>13</a:t>
            </a:fld>
            <a:endParaRPr lang="en-US"/>
          </a:p>
        </p:txBody>
      </p:sp>
    </p:spTree>
    <p:extLst>
      <p:ext uri="{BB962C8B-B14F-4D97-AF65-F5344CB8AC3E}">
        <p14:creationId xmlns:p14="http://schemas.microsoft.com/office/powerpoint/2010/main" val="11751719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D7EFDF-067C-1144-96ED-B7467ECA54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704570-3F60-6185-D655-0DB96042CA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75444-ED22-A65D-D525-BB7D90C882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870E9B-564F-9827-6F43-0A99AC64AB6D}"/>
              </a:ext>
            </a:extLst>
          </p:cNvPr>
          <p:cNvSpPr>
            <a:spLocks noGrp="1"/>
          </p:cNvSpPr>
          <p:nvPr>
            <p:ph type="sldNum" sz="quarter" idx="5"/>
          </p:nvPr>
        </p:nvSpPr>
        <p:spPr/>
        <p:txBody>
          <a:bodyPr/>
          <a:lstStyle/>
          <a:p>
            <a:fld id="{C987AAC7-CF25-414B-93E7-2A61E431E831}" type="slidenum">
              <a:rPr lang="en-US" smtClean="0"/>
              <a:t>14</a:t>
            </a:fld>
            <a:endParaRPr lang="en-US"/>
          </a:p>
        </p:txBody>
      </p:sp>
    </p:spTree>
    <p:extLst>
      <p:ext uri="{BB962C8B-B14F-4D97-AF65-F5344CB8AC3E}">
        <p14:creationId xmlns:p14="http://schemas.microsoft.com/office/powerpoint/2010/main" val="7398755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7270D-F7C0-3A8A-8CB1-C49C51D036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D56F82-3DB2-7BFF-2627-C30D61B879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2EC305-BECC-5D7B-E0E9-AB8A237AC6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A25B78-D343-F2E5-E6D5-0641CB787215}"/>
              </a:ext>
            </a:extLst>
          </p:cNvPr>
          <p:cNvSpPr>
            <a:spLocks noGrp="1"/>
          </p:cNvSpPr>
          <p:nvPr>
            <p:ph type="sldNum" sz="quarter" idx="5"/>
          </p:nvPr>
        </p:nvSpPr>
        <p:spPr/>
        <p:txBody>
          <a:bodyPr/>
          <a:lstStyle/>
          <a:p>
            <a:fld id="{C987AAC7-CF25-414B-93E7-2A61E431E831}" type="slidenum">
              <a:rPr lang="en-US" smtClean="0"/>
              <a:t>15</a:t>
            </a:fld>
            <a:endParaRPr lang="en-US"/>
          </a:p>
        </p:txBody>
      </p:sp>
    </p:spTree>
    <p:extLst>
      <p:ext uri="{BB962C8B-B14F-4D97-AF65-F5344CB8AC3E}">
        <p14:creationId xmlns:p14="http://schemas.microsoft.com/office/powerpoint/2010/main" val="40568168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9FE18-98F7-CF00-7CFB-A209015F19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0A2A37-39B4-773F-B8E9-2D66B6B00D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7D8D26-7454-90E0-EC1F-53113CD24C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EEB17E0-036F-4477-F5BE-A1775D8CE28F}"/>
              </a:ext>
            </a:extLst>
          </p:cNvPr>
          <p:cNvSpPr>
            <a:spLocks noGrp="1"/>
          </p:cNvSpPr>
          <p:nvPr>
            <p:ph type="sldNum" sz="quarter" idx="5"/>
          </p:nvPr>
        </p:nvSpPr>
        <p:spPr/>
        <p:txBody>
          <a:bodyPr/>
          <a:lstStyle/>
          <a:p>
            <a:fld id="{C987AAC7-CF25-414B-93E7-2A61E431E831}" type="slidenum">
              <a:rPr lang="en-US" smtClean="0"/>
              <a:t>16</a:t>
            </a:fld>
            <a:endParaRPr lang="en-US"/>
          </a:p>
        </p:txBody>
      </p:sp>
    </p:spTree>
    <p:extLst>
      <p:ext uri="{BB962C8B-B14F-4D97-AF65-F5344CB8AC3E}">
        <p14:creationId xmlns:p14="http://schemas.microsoft.com/office/powerpoint/2010/main" val="5992901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8A714-D01F-F398-A5AF-D5F7D1CF3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DC7279-01FD-A07B-8681-8B49494E20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54958B-4BD7-ADB9-6E51-68F8598F66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4EC816-283D-89C8-0A6E-49FF269A9AF2}"/>
              </a:ext>
            </a:extLst>
          </p:cNvPr>
          <p:cNvSpPr>
            <a:spLocks noGrp="1"/>
          </p:cNvSpPr>
          <p:nvPr>
            <p:ph type="sldNum" sz="quarter" idx="5"/>
          </p:nvPr>
        </p:nvSpPr>
        <p:spPr/>
        <p:txBody>
          <a:bodyPr/>
          <a:lstStyle/>
          <a:p>
            <a:fld id="{C987AAC7-CF25-414B-93E7-2A61E431E831}" type="slidenum">
              <a:rPr lang="en-US" smtClean="0"/>
              <a:t>17</a:t>
            </a:fld>
            <a:endParaRPr lang="en-US"/>
          </a:p>
        </p:txBody>
      </p:sp>
    </p:spTree>
    <p:extLst>
      <p:ext uri="{BB962C8B-B14F-4D97-AF65-F5344CB8AC3E}">
        <p14:creationId xmlns:p14="http://schemas.microsoft.com/office/powerpoint/2010/main" val="40308637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EB1844-F7C3-41AA-023A-941FC12759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AA6C4A-FA87-EF59-2823-0F31382072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809915-4E48-E646-E88D-E3B04005A3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8D1628-D1F5-F360-9187-FC79D407B430}"/>
              </a:ext>
            </a:extLst>
          </p:cNvPr>
          <p:cNvSpPr>
            <a:spLocks noGrp="1"/>
          </p:cNvSpPr>
          <p:nvPr>
            <p:ph type="sldNum" sz="quarter" idx="5"/>
          </p:nvPr>
        </p:nvSpPr>
        <p:spPr/>
        <p:txBody>
          <a:bodyPr/>
          <a:lstStyle/>
          <a:p>
            <a:fld id="{C987AAC7-CF25-414B-93E7-2A61E431E831}" type="slidenum">
              <a:rPr lang="en-US" smtClean="0"/>
              <a:t>18</a:t>
            </a:fld>
            <a:endParaRPr lang="en-US"/>
          </a:p>
        </p:txBody>
      </p:sp>
    </p:spTree>
    <p:extLst>
      <p:ext uri="{BB962C8B-B14F-4D97-AF65-F5344CB8AC3E}">
        <p14:creationId xmlns:p14="http://schemas.microsoft.com/office/powerpoint/2010/main" val="38268662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DBE2E-421E-084D-40AB-7FB4942ADD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9F90F3-283E-7F98-8ADC-8648258783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0837C0-BED8-0496-5F5D-A6F6663DFA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79C988-CB01-1EE3-F0E3-D465C281B876}"/>
              </a:ext>
            </a:extLst>
          </p:cNvPr>
          <p:cNvSpPr>
            <a:spLocks noGrp="1"/>
          </p:cNvSpPr>
          <p:nvPr>
            <p:ph type="sldNum" sz="quarter" idx="5"/>
          </p:nvPr>
        </p:nvSpPr>
        <p:spPr/>
        <p:txBody>
          <a:bodyPr/>
          <a:lstStyle/>
          <a:p>
            <a:fld id="{C987AAC7-CF25-414B-93E7-2A61E431E831}" type="slidenum">
              <a:rPr lang="en-US" smtClean="0"/>
              <a:t>19</a:t>
            </a:fld>
            <a:endParaRPr lang="en-US"/>
          </a:p>
        </p:txBody>
      </p:sp>
    </p:spTree>
    <p:extLst>
      <p:ext uri="{BB962C8B-B14F-4D97-AF65-F5344CB8AC3E}">
        <p14:creationId xmlns:p14="http://schemas.microsoft.com/office/powerpoint/2010/main" val="1342809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B061A-2DC9-56E4-776A-28E7ADB3F3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5BCDD8-0E8A-6BB1-A5E8-020EFDD59E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74FACD-102E-B536-B8F8-469B469F69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3D7192-4169-0C8A-B36C-68BB628C089F}"/>
              </a:ext>
            </a:extLst>
          </p:cNvPr>
          <p:cNvSpPr>
            <a:spLocks noGrp="1"/>
          </p:cNvSpPr>
          <p:nvPr>
            <p:ph type="sldNum" sz="quarter" idx="5"/>
          </p:nvPr>
        </p:nvSpPr>
        <p:spPr/>
        <p:txBody>
          <a:bodyPr/>
          <a:lstStyle/>
          <a:p>
            <a:fld id="{C987AAC7-CF25-414B-93E7-2A61E431E831}" type="slidenum">
              <a:rPr lang="en-US" smtClean="0"/>
              <a:t>20</a:t>
            </a:fld>
            <a:endParaRPr lang="en-US"/>
          </a:p>
        </p:txBody>
      </p:sp>
    </p:spTree>
    <p:extLst>
      <p:ext uri="{BB962C8B-B14F-4D97-AF65-F5344CB8AC3E}">
        <p14:creationId xmlns:p14="http://schemas.microsoft.com/office/powerpoint/2010/main" val="38993406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7CC46-8B83-8ADF-B21D-BE97B76210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6367E2-7B89-CEA7-9ED8-F44AA8DC6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660C1B-93F9-5F43-43FD-C17696C0AE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347C55-0F76-C8F1-BD05-6DE4025DE503}"/>
              </a:ext>
            </a:extLst>
          </p:cNvPr>
          <p:cNvSpPr>
            <a:spLocks noGrp="1"/>
          </p:cNvSpPr>
          <p:nvPr>
            <p:ph type="sldNum" sz="quarter" idx="5"/>
          </p:nvPr>
        </p:nvSpPr>
        <p:spPr/>
        <p:txBody>
          <a:bodyPr/>
          <a:lstStyle/>
          <a:p>
            <a:fld id="{C987AAC7-CF25-414B-93E7-2A61E431E831}" type="slidenum">
              <a:rPr lang="en-US" smtClean="0"/>
              <a:t>21</a:t>
            </a:fld>
            <a:endParaRPr lang="en-US"/>
          </a:p>
        </p:txBody>
      </p:sp>
    </p:spTree>
    <p:extLst>
      <p:ext uri="{BB962C8B-B14F-4D97-AF65-F5344CB8AC3E}">
        <p14:creationId xmlns:p14="http://schemas.microsoft.com/office/powerpoint/2010/main" val="53255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BDF4A-EDF7-1AC1-78B3-D5BBA55D85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5BBA45-13C2-100E-FD91-D70EB95127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021165-FCF3-02E3-8CD5-E43840656A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7BE456-B2B2-8E2D-9FAD-DE23AE2A34C8}"/>
              </a:ext>
            </a:extLst>
          </p:cNvPr>
          <p:cNvSpPr>
            <a:spLocks noGrp="1"/>
          </p:cNvSpPr>
          <p:nvPr>
            <p:ph type="sldNum" sz="quarter" idx="5"/>
          </p:nvPr>
        </p:nvSpPr>
        <p:spPr/>
        <p:txBody>
          <a:bodyPr/>
          <a:lstStyle/>
          <a:p>
            <a:fld id="{C987AAC7-CF25-414B-93E7-2A61E431E831}" type="slidenum">
              <a:rPr lang="en-US" smtClean="0"/>
              <a:t>22</a:t>
            </a:fld>
            <a:endParaRPr lang="en-US"/>
          </a:p>
        </p:txBody>
      </p:sp>
    </p:spTree>
    <p:extLst>
      <p:ext uri="{BB962C8B-B14F-4D97-AF65-F5344CB8AC3E}">
        <p14:creationId xmlns:p14="http://schemas.microsoft.com/office/powerpoint/2010/main" val="40195729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145E1-DB1D-3AE1-2E23-22CA92158B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EBE07E-1B58-70C1-051D-998209C617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7C23E6-252B-70B9-EEB3-22C9E960DA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006899-3254-D9D0-E669-31FA2A3ECBBE}"/>
              </a:ext>
            </a:extLst>
          </p:cNvPr>
          <p:cNvSpPr>
            <a:spLocks noGrp="1"/>
          </p:cNvSpPr>
          <p:nvPr>
            <p:ph type="sldNum" sz="quarter" idx="5"/>
          </p:nvPr>
        </p:nvSpPr>
        <p:spPr/>
        <p:txBody>
          <a:bodyPr/>
          <a:lstStyle/>
          <a:p>
            <a:fld id="{C987AAC7-CF25-414B-93E7-2A61E431E831}" type="slidenum">
              <a:rPr lang="en-US" smtClean="0"/>
              <a:t>24</a:t>
            </a:fld>
            <a:endParaRPr lang="en-US"/>
          </a:p>
        </p:txBody>
      </p:sp>
    </p:spTree>
    <p:extLst>
      <p:ext uri="{BB962C8B-B14F-4D97-AF65-F5344CB8AC3E}">
        <p14:creationId xmlns:p14="http://schemas.microsoft.com/office/powerpoint/2010/main" val="2823952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4ADF4-8C5D-F85E-6D32-89BA6CB90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088E3C-85C7-1C67-E026-BB8A2D01D0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3F46F3-8620-F7DC-BEC6-8EE40FDE77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0AF428-C57A-85C4-1B53-F592A1A268FB}"/>
              </a:ext>
            </a:extLst>
          </p:cNvPr>
          <p:cNvSpPr>
            <a:spLocks noGrp="1"/>
          </p:cNvSpPr>
          <p:nvPr>
            <p:ph type="sldNum" sz="quarter" idx="5"/>
          </p:nvPr>
        </p:nvSpPr>
        <p:spPr/>
        <p:txBody>
          <a:bodyPr/>
          <a:lstStyle/>
          <a:p>
            <a:fld id="{C987AAC7-CF25-414B-93E7-2A61E431E831}" type="slidenum">
              <a:rPr lang="en-US" smtClean="0"/>
              <a:t>25</a:t>
            </a:fld>
            <a:endParaRPr lang="en-US"/>
          </a:p>
        </p:txBody>
      </p:sp>
    </p:spTree>
    <p:extLst>
      <p:ext uri="{BB962C8B-B14F-4D97-AF65-F5344CB8AC3E}">
        <p14:creationId xmlns:p14="http://schemas.microsoft.com/office/powerpoint/2010/main" val="388474899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A460F-7152-879A-F4E5-E9E8304E1C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915C5-BD5D-4D4A-CD19-6E8ED6C544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7B2996-093C-0B74-C192-3016A1F974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6320E7-E138-19D5-006E-AE3B5F59E7DC}"/>
              </a:ext>
            </a:extLst>
          </p:cNvPr>
          <p:cNvSpPr>
            <a:spLocks noGrp="1"/>
          </p:cNvSpPr>
          <p:nvPr>
            <p:ph type="sldNum" sz="quarter" idx="5"/>
          </p:nvPr>
        </p:nvSpPr>
        <p:spPr/>
        <p:txBody>
          <a:bodyPr/>
          <a:lstStyle/>
          <a:p>
            <a:fld id="{C987AAC7-CF25-414B-93E7-2A61E431E831}" type="slidenum">
              <a:rPr lang="en-US" smtClean="0"/>
              <a:t>26</a:t>
            </a:fld>
            <a:endParaRPr lang="en-US"/>
          </a:p>
        </p:txBody>
      </p:sp>
    </p:spTree>
    <p:extLst>
      <p:ext uri="{BB962C8B-B14F-4D97-AF65-F5344CB8AC3E}">
        <p14:creationId xmlns:p14="http://schemas.microsoft.com/office/powerpoint/2010/main" val="7659515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B9A96-2DE3-4CA1-C7AD-F2E91E01FD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1ADAB-A5FB-CEE6-2BA1-074C7363F9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D1FB18-F7E3-7877-33DE-994504E9ED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65AF467-2D29-0E9C-2430-35DAC3B74C49}"/>
              </a:ext>
            </a:extLst>
          </p:cNvPr>
          <p:cNvSpPr>
            <a:spLocks noGrp="1"/>
          </p:cNvSpPr>
          <p:nvPr>
            <p:ph type="sldNum" sz="quarter" idx="5"/>
          </p:nvPr>
        </p:nvSpPr>
        <p:spPr/>
        <p:txBody>
          <a:bodyPr/>
          <a:lstStyle/>
          <a:p>
            <a:fld id="{C987AAC7-CF25-414B-93E7-2A61E431E831}" type="slidenum">
              <a:rPr lang="en-US" smtClean="0"/>
              <a:t>27</a:t>
            </a:fld>
            <a:endParaRPr lang="en-US"/>
          </a:p>
        </p:txBody>
      </p:sp>
    </p:spTree>
    <p:extLst>
      <p:ext uri="{BB962C8B-B14F-4D97-AF65-F5344CB8AC3E}">
        <p14:creationId xmlns:p14="http://schemas.microsoft.com/office/powerpoint/2010/main" val="10741693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12EF5-0AD0-D6FB-501C-78AE65A8E5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004F7E-9AA3-2D58-2C00-E3AE87B0C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EAD714-F31F-C74C-B8CE-8D3564284E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61A47-2EE0-B51A-2B89-F65418D624DB}"/>
              </a:ext>
            </a:extLst>
          </p:cNvPr>
          <p:cNvSpPr>
            <a:spLocks noGrp="1"/>
          </p:cNvSpPr>
          <p:nvPr>
            <p:ph type="sldNum" sz="quarter" idx="5"/>
          </p:nvPr>
        </p:nvSpPr>
        <p:spPr/>
        <p:txBody>
          <a:bodyPr/>
          <a:lstStyle/>
          <a:p>
            <a:fld id="{C987AAC7-CF25-414B-93E7-2A61E431E831}" type="slidenum">
              <a:rPr lang="en-US" smtClean="0"/>
              <a:t>28</a:t>
            </a:fld>
            <a:endParaRPr lang="en-US"/>
          </a:p>
        </p:txBody>
      </p:sp>
    </p:spTree>
    <p:extLst>
      <p:ext uri="{BB962C8B-B14F-4D97-AF65-F5344CB8AC3E}">
        <p14:creationId xmlns:p14="http://schemas.microsoft.com/office/powerpoint/2010/main" val="322988245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B0D267-0334-620A-597C-15884BC57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E3D2F9-01F4-DE0B-7FDC-1E6A5FCBD5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F1CCC8-9EA7-B867-AA86-38C3CEF94F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608B24-E958-B8D1-120C-61805EA3F42B}"/>
              </a:ext>
            </a:extLst>
          </p:cNvPr>
          <p:cNvSpPr>
            <a:spLocks noGrp="1"/>
          </p:cNvSpPr>
          <p:nvPr>
            <p:ph type="sldNum" sz="quarter" idx="5"/>
          </p:nvPr>
        </p:nvSpPr>
        <p:spPr/>
        <p:txBody>
          <a:bodyPr/>
          <a:lstStyle/>
          <a:p>
            <a:fld id="{C987AAC7-CF25-414B-93E7-2A61E431E831}" type="slidenum">
              <a:rPr lang="en-US" smtClean="0"/>
              <a:t>29</a:t>
            </a:fld>
            <a:endParaRPr lang="en-US"/>
          </a:p>
        </p:txBody>
      </p:sp>
    </p:spTree>
    <p:extLst>
      <p:ext uri="{BB962C8B-B14F-4D97-AF65-F5344CB8AC3E}">
        <p14:creationId xmlns:p14="http://schemas.microsoft.com/office/powerpoint/2010/main" val="159924167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C7901-4A7B-336A-F76C-00A10E939E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023C9-277B-4C7D-A8F4-AAFEED21FB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8C6BBE-8005-E170-1D50-0531CCF07E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1D40A0-FE38-9A5F-0BCD-48ED9D73BD94}"/>
              </a:ext>
            </a:extLst>
          </p:cNvPr>
          <p:cNvSpPr>
            <a:spLocks noGrp="1"/>
          </p:cNvSpPr>
          <p:nvPr>
            <p:ph type="sldNum" sz="quarter" idx="5"/>
          </p:nvPr>
        </p:nvSpPr>
        <p:spPr/>
        <p:txBody>
          <a:bodyPr/>
          <a:lstStyle/>
          <a:p>
            <a:fld id="{C987AAC7-CF25-414B-93E7-2A61E431E831}" type="slidenum">
              <a:rPr lang="en-US" smtClean="0"/>
              <a:t>30</a:t>
            </a:fld>
            <a:endParaRPr lang="en-US"/>
          </a:p>
        </p:txBody>
      </p:sp>
    </p:spTree>
    <p:extLst>
      <p:ext uri="{BB962C8B-B14F-4D97-AF65-F5344CB8AC3E}">
        <p14:creationId xmlns:p14="http://schemas.microsoft.com/office/powerpoint/2010/main" val="400251599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6725E-6214-B4C8-AE0F-C99EBA44BD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1F46FD-ACEB-EC24-2C2C-447DEC9D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C76CC1-9001-4291-9213-081518F021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B5F30B-BBCE-8741-F278-BF2D1BA84BC0}"/>
              </a:ext>
            </a:extLst>
          </p:cNvPr>
          <p:cNvSpPr>
            <a:spLocks noGrp="1"/>
          </p:cNvSpPr>
          <p:nvPr>
            <p:ph type="sldNum" sz="quarter" idx="5"/>
          </p:nvPr>
        </p:nvSpPr>
        <p:spPr/>
        <p:txBody>
          <a:bodyPr/>
          <a:lstStyle/>
          <a:p>
            <a:fld id="{C987AAC7-CF25-414B-93E7-2A61E431E831}" type="slidenum">
              <a:rPr lang="en-US" smtClean="0"/>
              <a:t>31</a:t>
            </a:fld>
            <a:endParaRPr lang="en-US"/>
          </a:p>
        </p:txBody>
      </p:sp>
    </p:spTree>
    <p:extLst>
      <p:ext uri="{BB962C8B-B14F-4D97-AF65-F5344CB8AC3E}">
        <p14:creationId xmlns:p14="http://schemas.microsoft.com/office/powerpoint/2010/main" val="13893459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CB3F8-E8A4-9623-AACC-422105B93E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C60B2E-1CE4-31E8-50E6-11A3F4FB48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455EBE-9BE7-2E16-BE0B-CFDE5E5201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210632-0E63-9CA2-400C-8067A4608965}"/>
              </a:ext>
            </a:extLst>
          </p:cNvPr>
          <p:cNvSpPr>
            <a:spLocks noGrp="1"/>
          </p:cNvSpPr>
          <p:nvPr>
            <p:ph type="sldNum" sz="quarter" idx="5"/>
          </p:nvPr>
        </p:nvSpPr>
        <p:spPr/>
        <p:txBody>
          <a:bodyPr/>
          <a:lstStyle/>
          <a:p>
            <a:fld id="{C987AAC7-CF25-414B-93E7-2A61E431E831}" type="slidenum">
              <a:rPr lang="en-US" smtClean="0"/>
              <a:t>32</a:t>
            </a:fld>
            <a:endParaRPr lang="en-US"/>
          </a:p>
        </p:txBody>
      </p:sp>
    </p:spTree>
    <p:extLst>
      <p:ext uri="{BB962C8B-B14F-4D97-AF65-F5344CB8AC3E}">
        <p14:creationId xmlns:p14="http://schemas.microsoft.com/office/powerpoint/2010/main" val="18854443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B2027-A471-21F6-A6F2-AF3AF4A0C9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724701-D7AE-688F-5700-870053F56B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0987A7-6CB3-9832-8836-29A23ACA9E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B056749-CBE6-828A-8843-EE5085DAF114}"/>
              </a:ext>
            </a:extLst>
          </p:cNvPr>
          <p:cNvSpPr>
            <a:spLocks noGrp="1"/>
          </p:cNvSpPr>
          <p:nvPr>
            <p:ph type="sldNum" sz="quarter" idx="5"/>
          </p:nvPr>
        </p:nvSpPr>
        <p:spPr/>
        <p:txBody>
          <a:bodyPr/>
          <a:lstStyle/>
          <a:p>
            <a:fld id="{C987AAC7-CF25-414B-93E7-2A61E431E831}" type="slidenum">
              <a:rPr lang="en-US" smtClean="0"/>
              <a:t>33</a:t>
            </a:fld>
            <a:endParaRPr lang="en-US"/>
          </a:p>
        </p:txBody>
      </p:sp>
    </p:spTree>
    <p:extLst>
      <p:ext uri="{BB962C8B-B14F-4D97-AF65-F5344CB8AC3E}">
        <p14:creationId xmlns:p14="http://schemas.microsoft.com/office/powerpoint/2010/main" val="16022734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79F24-3CA6-5222-E5FE-1106941AA0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6C0226-FA95-B35A-6701-1BD4E5DDF3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46BBFF-B221-E609-252D-86DCD2FCB5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3F1B1D-ECBA-4C74-B101-7B4632E41369}"/>
              </a:ext>
            </a:extLst>
          </p:cNvPr>
          <p:cNvSpPr>
            <a:spLocks noGrp="1"/>
          </p:cNvSpPr>
          <p:nvPr>
            <p:ph type="sldNum" sz="quarter" idx="5"/>
          </p:nvPr>
        </p:nvSpPr>
        <p:spPr/>
        <p:txBody>
          <a:bodyPr/>
          <a:lstStyle/>
          <a:p>
            <a:fld id="{C987AAC7-CF25-414B-93E7-2A61E431E831}" type="slidenum">
              <a:rPr lang="en-US" smtClean="0"/>
              <a:t>34</a:t>
            </a:fld>
            <a:endParaRPr lang="en-US"/>
          </a:p>
        </p:txBody>
      </p:sp>
    </p:spTree>
    <p:extLst>
      <p:ext uri="{BB962C8B-B14F-4D97-AF65-F5344CB8AC3E}">
        <p14:creationId xmlns:p14="http://schemas.microsoft.com/office/powerpoint/2010/main" val="6668969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DE262-C90C-7D8D-EDCF-E2656F2D7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963EB7-4619-51C9-414A-385B998158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C5AC8-33A0-2B19-AA59-D6F50F7EE8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22148D-6ED4-B4A0-B3B4-7F6F4A5D8524}"/>
              </a:ext>
            </a:extLst>
          </p:cNvPr>
          <p:cNvSpPr>
            <a:spLocks noGrp="1"/>
          </p:cNvSpPr>
          <p:nvPr>
            <p:ph type="sldNum" sz="quarter" idx="5"/>
          </p:nvPr>
        </p:nvSpPr>
        <p:spPr/>
        <p:txBody>
          <a:bodyPr/>
          <a:lstStyle/>
          <a:p>
            <a:fld id="{C987AAC7-CF25-414B-93E7-2A61E431E831}" type="slidenum">
              <a:rPr lang="en-US" smtClean="0"/>
              <a:t>35</a:t>
            </a:fld>
            <a:endParaRPr lang="en-US"/>
          </a:p>
        </p:txBody>
      </p:sp>
    </p:spTree>
    <p:extLst>
      <p:ext uri="{BB962C8B-B14F-4D97-AF65-F5344CB8AC3E}">
        <p14:creationId xmlns:p14="http://schemas.microsoft.com/office/powerpoint/2010/main" val="328904041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A8AE9-A720-9C2E-6EBC-F0429E9907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0EC93C-3309-C774-5781-026E43C8E6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29DE64-95D0-8A04-2254-AFCAA6D09E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91462A-F224-D69B-C3A7-E4C9E05B2A37}"/>
              </a:ext>
            </a:extLst>
          </p:cNvPr>
          <p:cNvSpPr>
            <a:spLocks noGrp="1"/>
          </p:cNvSpPr>
          <p:nvPr>
            <p:ph type="sldNum" sz="quarter" idx="5"/>
          </p:nvPr>
        </p:nvSpPr>
        <p:spPr/>
        <p:txBody>
          <a:bodyPr/>
          <a:lstStyle/>
          <a:p>
            <a:fld id="{C987AAC7-CF25-414B-93E7-2A61E431E831}" type="slidenum">
              <a:rPr lang="en-US" smtClean="0"/>
              <a:t>36</a:t>
            </a:fld>
            <a:endParaRPr lang="en-US"/>
          </a:p>
        </p:txBody>
      </p:sp>
    </p:spTree>
    <p:extLst>
      <p:ext uri="{BB962C8B-B14F-4D97-AF65-F5344CB8AC3E}">
        <p14:creationId xmlns:p14="http://schemas.microsoft.com/office/powerpoint/2010/main" val="34650884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D52ED-013F-DCDB-B5CA-889CB3C341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677002-938E-D58E-D158-AB99CF918D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6B2D56-9579-E8F1-85A2-39E99AD4B1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222B93-F99B-EA5C-D1DA-8B27C63A499A}"/>
              </a:ext>
            </a:extLst>
          </p:cNvPr>
          <p:cNvSpPr>
            <a:spLocks noGrp="1"/>
          </p:cNvSpPr>
          <p:nvPr>
            <p:ph type="sldNum" sz="quarter" idx="5"/>
          </p:nvPr>
        </p:nvSpPr>
        <p:spPr/>
        <p:txBody>
          <a:bodyPr/>
          <a:lstStyle/>
          <a:p>
            <a:fld id="{C987AAC7-CF25-414B-93E7-2A61E431E831}" type="slidenum">
              <a:rPr lang="en-US" smtClean="0"/>
              <a:t>37</a:t>
            </a:fld>
            <a:endParaRPr lang="en-US"/>
          </a:p>
        </p:txBody>
      </p:sp>
    </p:spTree>
    <p:extLst>
      <p:ext uri="{BB962C8B-B14F-4D97-AF65-F5344CB8AC3E}">
        <p14:creationId xmlns:p14="http://schemas.microsoft.com/office/powerpoint/2010/main" val="105622570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B2457-6AB9-FB69-DC75-2170A61B43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8EB55-A041-F947-999D-21F7EBD234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DC0EB8-F946-7893-5D11-9376C2BB15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A68442-756F-1A12-A487-97AE1C88BDD6}"/>
              </a:ext>
            </a:extLst>
          </p:cNvPr>
          <p:cNvSpPr>
            <a:spLocks noGrp="1"/>
          </p:cNvSpPr>
          <p:nvPr>
            <p:ph type="sldNum" sz="quarter" idx="5"/>
          </p:nvPr>
        </p:nvSpPr>
        <p:spPr/>
        <p:txBody>
          <a:bodyPr/>
          <a:lstStyle/>
          <a:p>
            <a:fld id="{C987AAC7-CF25-414B-93E7-2A61E431E831}" type="slidenum">
              <a:rPr lang="en-US" smtClean="0"/>
              <a:t>38</a:t>
            </a:fld>
            <a:endParaRPr lang="en-US"/>
          </a:p>
        </p:txBody>
      </p:sp>
    </p:spTree>
    <p:extLst>
      <p:ext uri="{BB962C8B-B14F-4D97-AF65-F5344CB8AC3E}">
        <p14:creationId xmlns:p14="http://schemas.microsoft.com/office/powerpoint/2010/main" val="1822794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85D2B-9AFC-1213-F628-A76172D253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002AE8-AF2D-04AE-3A1E-8612618B97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AC11D1-02DB-EFD3-FBB1-AC0403D765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853163-1A82-6807-C1F7-9FD60FD4733F}"/>
              </a:ext>
            </a:extLst>
          </p:cNvPr>
          <p:cNvSpPr>
            <a:spLocks noGrp="1"/>
          </p:cNvSpPr>
          <p:nvPr>
            <p:ph type="sldNum" sz="quarter" idx="5"/>
          </p:nvPr>
        </p:nvSpPr>
        <p:spPr/>
        <p:txBody>
          <a:bodyPr/>
          <a:lstStyle/>
          <a:p>
            <a:fld id="{C987AAC7-CF25-414B-93E7-2A61E431E831}" type="slidenum">
              <a:rPr lang="en-US" smtClean="0"/>
              <a:t>40</a:t>
            </a:fld>
            <a:endParaRPr lang="en-US"/>
          </a:p>
        </p:txBody>
      </p:sp>
    </p:spTree>
    <p:extLst>
      <p:ext uri="{BB962C8B-B14F-4D97-AF65-F5344CB8AC3E}">
        <p14:creationId xmlns:p14="http://schemas.microsoft.com/office/powerpoint/2010/main" val="210766249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CC560-FB66-D09A-B61E-26A097D7B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331495-773D-E17E-661C-DDA27423A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AD0C3E-CF24-C316-2568-79A647275BBD}"/>
              </a:ext>
            </a:extLst>
          </p:cNvPr>
          <p:cNvSpPr>
            <a:spLocks noGrp="1"/>
          </p:cNvSpPr>
          <p:nvPr>
            <p:ph type="body" idx="1"/>
          </p:nvPr>
        </p:nvSpPr>
        <p:spPr/>
        <p:txBody>
          <a:bodyPr/>
          <a:lstStyle/>
          <a:p>
            <a:endParaRPr lang="en-US" i="1" dirty="0"/>
          </a:p>
        </p:txBody>
      </p:sp>
      <p:sp>
        <p:nvSpPr>
          <p:cNvPr id="4" name="Slide Number Placeholder 3">
            <a:extLst>
              <a:ext uri="{FF2B5EF4-FFF2-40B4-BE49-F238E27FC236}">
                <a16:creationId xmlns:a16="http://schemas.microsoft.com/office/drawing/2014/main" id="{7861499D-A5F0-318C-7492-79A94A79C8C4}"/>
              </a:ext>
            </a:extLst>
          </p:cNvPr>
          <p:cNvSpPr>
            <a:spLocks noGrp="1"/>
          </p:cNvSpPr>
          <p:nvPr>
            <p:ph type="sldNum" sz="quarter" idx="5"/>
          </p:nvPr>
        </p:nvSpPr>
        <p:spPr/>
        <p:txBody>
          <a:bodyPr/>
          <a:lstStyle/>
          <a:p>
            <a:fld id="{C987AAC7-CF25-414B-93E7-2A61E431E831}" type="slidenum">
              <a:rPr lang="en-US" smtClean="0"/>
              <a:t>41</a:t>
            </a:fld>
            <a:endParaRPr lang="en-US"/>
          </a:p>
        </p:txBody>
      </p:sp>
    </p:spTree>
    <p:extLst>
      <p:ext uri="{BB962C8B-B14F-4D97-AF65-F5344CB8AC3E}">
        <p14:creationId xmlns:p14="http://schemas.microsoft.com/office/powerpoint/2010/main" val="41535292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43103-558C-57CD-3822-395AD131C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4ED531-F3AB-ABC3-319C-BFBCDC60A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977483-75C0-570C-898A-4A6135A8757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85ADE9-1751-35D2-EAB3-FDE920B341B6}"/>
              </a:ext>
            </a:extLst>
          </p:cNvPr>
          <p:cNvSpPr>
            <a:spLocks noGrp="1"/>
          </p:cNvSpPr>
          <p:nvPr>
            <p:ph type="sldNum" sz="quarter" idx="5"/>
          </p:nvPr>
        </p:nvSpPr>
        <p:spPr/>
        <p:txBody>
          <a:bodyPr/>
          <a:lstStyle/>
          <a:p>
            <a:fld id="{C987AAC7-CF25-414B-93E7-2A61E431E831}" type="slidenum">
              <a:rPr lang="en-US" smtClean="0"/>
              <a:t>42</a:t>
            </a:fld>
            <a:endParaRPr lang="en-US"/>
          </a:p>
        </p:txBody>
      </p:sp>
    </p:spTree>
    <p:extLst>
      <p:ext uri="{BB962C8B-B14F-4D97-AF65-F5344CB8AC3E}">
        <p14:creationId xmlns:p14="http://schemas.microsoft.com/office/powerpoint/2010/main" val="16332666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CFFF0-60E9-88F1-210E-873DD4C4C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C68A5E-9FF2-DBB0-5D5D-8CA3C955A3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0A423B-D456-2777-FC6B-BC74041A41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BA7E07-0F6D-CDD9-1865-1DE475535E39}"/>
              </a:ext>
            </a:extLst>
          </p:cNvPr>
          <p:cNvSpPr>
            <a:spLocks noGrp="1"/>
          </p:cNvSpPr>
          <p:nvPr>
            <p:ph type="sldNum" sz="quarter" idx="5"/>
          </p:nvPr>
        </p:nvSpPr>
        <p:spPr/>
        <p:txBody>
          <a:bodyPr/>
          <a:lstStyle/>
          <a:p>
            <a:fld id="{C987AAC7-CF25-414B-93E7-2A61E431E831}" type="slidenum">
              <a:rPr lang="en-US" smtClean="0"/>
              <a:t>43</a:t>
            </a:fld>
            <a:endParaRPr lang="en-US"/>
          </a:p>
        </p:txBody>
      </p:sp>
    </p:spTree>
    <p:extLst>
      <p:ext uri="{BB962C8B-B14F-4D97-AF65-F5344CB8AC3E}">
        <p14:creationId xmlns:p14="http://schemas.microsoft.com/office/powerpoint/2010/main" val="265088294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602EC-9C09-2E7D-F260-FD2BBAA896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E74423-8BCE-474A-F8BB-71BFABE88B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9072C1-0F6B-A9F5-6635-5656206469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A16F6-3F74-19DA-0835-795C8933BC6A}"/>
              </a:ext>
            </a:extLst>
          </p:cNvPr>
          <p:cNvSpPr>
            <a:spLocks noGrp="1"/>
          </p:cNvSpPr>
          <p:nvPr>
            <p:ph type="sldNum" sz="quarter" idx="5"/>
          </p:nvPr>
        </p:nvSpPr>
        <p:spPr/>
        <p:txBody>
          <a:bodyPr/>
          <a:lstStyle/>
          <a:p>
            <a:fld id="{C987AAC7-CF25-414B-93E7-2A61E431E831}" type="slidenum">
              <a:rPr lang="en-US" smtClean="0"/>
              <a:t>44</a:t>
            </a:fld>
            <a:endParaRPr lang="en-US"/>
          </a:p>
        </p:txBody>
      </p:sp>
    </p:spTree>
    <p:extLst>
      <p:ext uri="{BB962C8B-B14F-4D97-AF65-F5344CB8AC3E}">
        <p14:creationId xmlns:p14="http://schemas.microsoft.com/office/powerpoint/2010/main" val="425497573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Do not modify the notes in this section to avoid tampering with the Poll Everywhere activity.
More info at polleverywhere.com/support
Vote for the most inspirational name for the new polar research ship.
https://www.polleverywhere.com/multiple_choice_polls/dSFrQTbdKY0U5DWd9gOFR?display_state=instructions&amp;activity_state=opened&amp;state=opened&amp;flow=Engagement&amp;onscreen=persist</a:t>
            </a:r>
          </a:p>
        </p:txBody>
      </p:sp>
      <p:sp>
        <p:nvSpPr>
          <p:cNvPr id="4" name="Slide Number Placeholder 3"/>
          <p:cNvSpPr>
            <a:spLocks noGrp="1"/>
          </p:cNvSpPr>
          <p:nvPr>
            <p:ph type="sldNum" sz="quarter" idx="5"/>
          </p:nvPr>
        </p:nvSpPr>
        <p:spPr/>
        <p:txBody>
          <a:bodyPr/>
          <a:lstStyle/>
          <a:p>
            <a:fld id="{C987AAC7-CF25-414B-93E7-2A61E431E831}" type="slidenum">
              <a:rPr lang="en-US" smtClean="0"/>
              <a:t>45</a:t>
            </a:fld>
            <a:endParaRPr lang="en-US"/>
          </a:p>
        </p:txBody>
      </p:sp>
      <p:sp>
        <p:nvSpPr>
          <p:cNvPr id="5" name="TextBox 4">
            <a:extLst>
              <a:ext uri="{FF2B5EF4-FFF2-40B4-BE49-F238E27FC236}">
                <a16:creationId xmlns:a16="http://schemas.microsoft.com/office/drawing/2014/main" id="{48B1719A-75D0-F268-E8F7-A25BDCF36701}"/>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371665503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Do not modify the notes in this section to avoid tampering with the Poll Everywhere activity.
More info at polleverywhere.com/support
Vote for the most inspirational name for the new polar research ship.
https://www.polleverywhere.com/multiple_choice_polls/dSFrQTbdKY0U5DWd9gOFR?display_state=chart&amp;activity_state=closed&amp;state=closed&amp;flow=Engagement&amp;onscreen=persist</a:t>
            </a:r>
          </a:p>
        </p:txBody>
      </p:sp>
      <p:sp>
        <p:nvSpPr>
          <p:cNvPr id="4" name="Slide Number Placeholder 3"/>
          <p:cNvSpPr>
            <a:spLocks noGrp="1"/>
          </p:cNvSpPr>
          <p:nvPr>
            <p:ph type="sldNum" sz="quarter" idx="5"/>
          </p:nvPr>
        </p:nvSpPr>
        <p:spPr/>
        <p:txBody>
          <a:bodyPr/>
          <a:lstStyle/>
          <a:p>
            <a:fld id="{C987AAC7-CF25-414B-93E7-2A61E431E831}" type="slidenum">
              <a:rPr lang="en-US" smtClean="0"/>
              <a:t>46</a:t>
            </a:fld>
            <a:endParaRPr lang="en-US"/>
          </a:p>
        </p:txBody>
      </p:sp>
      <p:sp>
        <p:nvSpPr>
          <p:cNvPr id="5" name="TextBox 4">
            <a:extLst>
              <a:ext uri="{FF2B5EF4-FFF2-40B4-BE49-F238E27FC236}">
                <a16:creationId xmlns:a16="http://schemas.microsoft.com/office/drawing/2014/main" id="{EFA1CAE0-AD81-7388-5879-73776373D7BD}"/>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32111644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F2F0B-91C6-FF3C-FD8A-8CC48FE1AF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53F56-ED8E-342D-0556-EB0DE16A37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60EC23-C4BC-CE8C-6C1D-D74C21A172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43F6B4-266E-EBA8-674C-593FB83817E0}"/>
              </a:ext>
            </a:extLst>
          </p:cNvPr>
          <p:cNvSpPr>
            <a:spLocks noGrp="1"/>
          </p:cNvSpPr>
          <p:nvPr>
            <p:ph type="sldNum" sz="quarter" idx="5"/>
          </p:nvPr>
        </p:nvSpPr>
        <p:spPr/>
        <p:txBody>
          <a:bodyPr/>
          <a:lstStyle/>
          <a:p>
            <a:fld id="{C987AAC7-CF25-414B-93E7-2A61E431E831}" type="slidenum">
              <a:rPr lang="en-US" smtClean="0"/>
              <a:t>47</a:t>
            </a:fld>
            <a:endParaRPr lang="en-US"/>
          </a:p>
        </p:txBody>
      </p:sp>
    </p:spTree>
    <p:extLst>
      <p:ext uri="{BB962C8B-B14F-4D97-AF65-F5344CB8AC3E}">
        <p14:creationId xmlns:p14="http://schemas.microsoft.com/office/powerpoint/2010/main" val="441309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015A2-A6E4-58D7-C553-C14AC9322E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6B66F-90F3-4D12-3653-458FAF6544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28F22-C2D3-811B-2593-E8B650FCB9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0C7BEB-E865-E08A-CE93-3490C12FED41}"/>
              </a:ext>
            </a:extLst>
          </p:cNvPr>
          <p:cNvSpPr>
            <a:spLocks noGrp="1"/>
          </p:cNvSpPr>
          <p:nvPr>
            <p:ph type="sldNum" sz="quarter" idx="5"/>
          </p:nvPr>
        </p:nvSpPr>
        <p:spPr/>
        <p:txBody>
          <a:bodyPr/>
          <a:lstStyle/>
          <a:p>
            <a:fld id="{C987AAC7-CF25-414B-93E7-2A61E431E831}" type="slidenum">
              <a:rPr lang="en-US" smtClean="0"/>
              <a:t>48</a:t>
            </a:fld>
            <a:endParaRPr lang="en-US"/>
          </a:p>
        </p:txBody>
      </p:sp>
    </p:spTree>
    <p:extLst>
      <p:ext uri="{BB962C8B-B14F-4D97-AF65-F5344CB8AC3E}">
        <p14:creationId xmlns:p14="http://schemas.microsoft.com/office/powerpoint/2010/main" val="2962420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Do not modify the notes in this section to avoid tampering with the Poll Everywhere activity.
More info at polleverywhere.com/support
Vote for the city/region in need of weapons of mass seduction!
https://www.polleverywhere.com/clickable_images/fQ0i971vRavQ0CVyUXhJ0</a:t>
            </a:r>
          </a:p>
        </p:txBody>
      </p:sp>
      <p:sp>
        <p:nvSpPr>
          <p:cNvPr id="4" name="Slide Number Placeholder 3"/>
          <p:cNvSpPr>
            <a:spLocks noGrp="1"/>
          </p:cNvSpPr>
          <p:nvPr>
            <p:ph type="sldNum" sz="quarter" idx="5"/>
          </p:nvPr>
        </p:nvSpPr>
        <p:spPr/>
        <p:txBody>
          <a:bodyPr/>
          <a:lstStyle/>
          <a:p>
            <a:fld id="{C987AAC7-CF25-414B-93E7-2A61E431E831}" type="slidenum">
              <a:rPr lang="en-US" smtClean="0"/>
              <a:t>49</a:t>
            </a:fld>
            <a:endParaRPr lang="en-US"/>
          </a:p>
        </p:txBody>
      </p:sp>
      <p:sp>
        <p:nvSpPr>
          <p:cNvPr id="5" name="TextBox 4">
            <a:extLst>
              <a:ext uri="{FF2B5EF4-FFF2-40B4-BE49-F238E27FC236}">
                <a16:creationId xmlns:a16="http://schemas.microsoft.com/office/drawing/2014/main" id="{358AB1C1-66CE-C566-08FE-3283E64777EE}"/>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125216397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D9700-0CBA-669E-9912-8E7077EB9F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FF941B-8502-8954-87CC-0B5C1A00CF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C22AE0-DF2B-3C6C-376D-7A1AEDE3DE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B0C2F1-4828-F8CC-8BB9-507E43BFF531}"/>
              </a:ext>
            </a:extLst>
          </p:cNvPr>
          <p:cNvSpPr>
            <a:spLocks noGrp="1"/>
          </p:cNvSpPr>
          <p:nvPr>
            <p:ph type="sldNum" sz="quarter" idx="5"/>
          </p:nvPr>
        </p:nvSpPr>
        <p:spPr/>
        <p:txBody>
          <a:bodyPr/>
          <a:lstStyle/>
          <a:p>
            <a:fld id="{C987AAC7-CF25-414B-93E7-2A61E431E831}" type="slidenum">
              <a:rPr lang="en-US" smtClean="0"/>
              <a:t>50</a:t>
            </a:fld>
            <a:endParaRPr lang="en-US"/>
          </a:p>
        </p:txBody>
      </p:sp>
    </p:spTree>
    <p:extLst>
      <p:ext uri="{BB962C8B-B14F-4D97-AF65-F5344CB8AC3E}">
        <p14:creationId xmlns:p14="http://schemas.microsoft.com/office/powerpoint/2010/main" val="122400405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759A0-331B-5EA5-E7F8-CD685CD69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CC67CF-5EAD-38F3-4444-D876A52956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355CCF-0236-F31A-B004-9AAD959B1F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2C2E8C-986C-8081-66CF-DAE7FE580C8A}"/>
              </a:ext>
            </a:extLst>
          </p:cNvPr>
          <p:cNvSpPr>
            <a:spLocks noGrp="1"/>
          </p:cNvSpPr>
          <p:nvPr>
            <p:ph type="sldNum" sz="quarter" idx="5"/>
          </p:nvPr>
        </p:nvSpPr>
        <p:spPr/>
        <p:txBody>
          <a:bodyPr/>
          <a:lstStyle/>
          <a:p>
            <a:fld id="{C987AAC7-CF25-414B-93E7-2A61E431E831}" type="slidenum">
              <a:rPr lang="en-US" smtClean="0"/>
              <a:t>51</a:t>
            </a:fld>
            <a:endParaRPr lang="en-US"/>
          </a:p>
        </p:txBody>
      </p:sp>
    </p:spTree>
    <p:extLst>
      <p:ext uri="{BB962C8B-B14F-4D97-AF65-F5344CB8AC3E}">
        <p14:creationId xmlns:p14="http://schemas.microsoft.com/office/powerpoint/2010/main" val="277802207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E6531-F7F4-59EE-386D-C4F74F29F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6C0468-B875-DD18-4467-33FF5F3E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C353E9-E862-1D20-E69B-4E9208E51D1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FDB7AB-0428-B0B2-8DE8-96E995F1A304}"/>
              </a:ext>
            </a:extLst>
          </p:cNvPr>
          <p:cNvSpPr>
            <a:spLocks noGrp="1"/>
          </p:cNvSpPr>
          <p:nvPr>
            <p:ph type="sldNum" sz="quarter" idx="5"/>
          </p:nvPr>
        </p:nvSpPr>
        <p:spPr/>
        <p:txBody>
          <a:bodyPr/>
          <a:lstStyle/>
          <a:p>
            <a:fld id="{C987AAC7-CF25-414B-93E7-2A61E431E831}" type="slidenum">
              <a:rPr lang="en-US" smtClean="0"/>
              <a:t>52</a:t>
            </a:fld>
            <a:endParaRPr lang="en-US"/>
          </a:p>
        </p:txBody>
      </p:sp>
    </p:spTree>
    <p:extLst>
      <p:ext uri="{BB962C8B-B14F-4D97-AF65-F5344CB8AC3E}">
        <p14:creationId xmlns:p14="http://schemas.microsoft.com/office/powerpoint/2010/main" val="39294877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B161F-3586-CD10-AB4B-6DB3B25C7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7E23C8-83FD-8B3E-CD60-34263F59E2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604491-96BE-665F-090C-356C4F4B97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F4A7ED-1ECE-D826-446A-7B83519E1F14}"/>
              </a:ext>
            </a:extLst>
          </p:cNvPr>
          <p:cNvSpPr>
            <a:spLocks noGrp="1"/>
          </p:cNvSpPr>
          <p:nvPr>
            <p:ph type="sldNum" sz="quarter" idx="5"/>
          </p:nvPr>
        </p:nvSpPr>
        <p:spPr/>
        <p:txBody>
          <a:bodyPr/>
          <a:lstStyle/>
          <a:p>
            <a:fld id="{C987AAC7-CF25-414B-93E7-2A61E431E831}" type="slidenum">
              <a:rPr lang="en-US" smtClean="0"/>
              <a:t>53</a:t>
            </a:fld>
            <a:endParaRPr lang="en-US"/>
          </a:p>
        </p:txBody>
      </p:sp>
    </p:spTree>
    <p:extLst>
      <p:ext uri="{BB962C8B-B14F-4D97-AF65-F5344CB8AC3E}">
        <p14:creationId xmlns:p14="http://schemas.microsoft.com/office/powerpoint/2010/main" val="21245744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1235B4-3897-199A-FFB3-012D9DD4D9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E3D9E5-C960-1A2F-84A2-C4554C4EC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1CBE32-6E55-29CD-0DA0-3AA20A1E95D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EDCEF3-7ACB-AD49-754D-5E8440D34D11}"/>
              </a:ext>
            </a:extLst>
          </p:cNvPr>
          <p:cNvSpPr>
            <a:spLocks noGrp="1"/>
          </p:cNvSpPr>
          <p:nvPr>
            <p:ph type="sldNum" sz="quarter" idx="5"/>
          </p:nvPr>
        </p:nvSpPr>
        <p:spPr/>
        <p:txBody>
          <a:bodyPr/>
          <a:lstStyle/>
          <a:p>
            <a:fld id="{C987AAC7-CF25-414B-93E7-2A61E431E831}" type="slidenum">
              <a:rPr lang="en-US" smtClean="0"/>
              <a:t>54</a:t>
            </a:fld>
            <a:endParaRPr lang="en-US"/>
          </a:p>
        </p:txBody>
      </p:sp>
    </p:spTree>
    <p:extLst>
      <p:ext uri="{BB962C8B-B14F-4D97-AF65-F5344CB8AC3E}">
        <p14:creationId xmlns:p14="http://schemas.microsoft.com/office/powerpoint/2010/main" val="24227414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DA4EFC-E015-5630-CAF6-0D1A6FD1C0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BC8EF-1A28-A9BD-C6E9-98141ED0DA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102893-673A-FA6E-A852-2CA2A1BE72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B719F6-E2E7-00BD-D711-6C7FE7BAA9C2}"/>
              </a:ext>
            </a:extLst>
          </p:cNvPr>
          <p:cNvSpPr>
            <a:spLocks noGrp="1"/>
          </p:cNvSpPr>
          <p:nvPr>
            <p:ph type="sldNum" sz="quarter" idx="5"/>
          </p:nvPr>
        </p:nvSpPr>
        <p:spPr/>
        <p:txBody>
          <a:bodyPr/>
          <a:lstStyle/>
          <a:p>
            <a:fld id="{C987AAC7-CF25-414B-93E7-2A61E431E831}" type="slidenum">
              <a:rPr lang="en-US" smtClean="0"/>
              <a:t>55</a:t>
            </a:fld>
            <a:endParaRPr lang="en-US"/>
          </a:p>
        </p:txBody>
      </p:sp>
    </p:spTree>
    <p:extLst>
      <p:ext uri="{BB962C8B-B14F-4D97-AF65-F5344CB8AC3E}">
        <p14:creationId xmlns:p14="http://schemas.microsoft.com/office/powerpoint/2010/main" val="397274050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0B697-56BB-EFB8-63BE-DE0F04C899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46E3D4-A9F5-B78B-BB18-28129268E9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5BB46A-88B4-4E2B-5036-FC6C7F1FDFE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D95BF9-695B-8FFE-02D6-8ABF4D95E062}"/>
              </a:ext>
            </a:extLst>
          </p:cNvPr>
          <p:cNvSpPr>
            <a:spLocks noGrp="1"/>
          </p:cNvSpPr>
          <p:nvPr>
            <p:ph type="sldNum" sz="quarter" idx="5"/>
          </p:nvPr>
        </p:nvSpPr>
        <p:spPr/>
        <p:txBody>
          <a:bodyPr/>
          <a:lstStyle/>
          <a:p>
            <a:fld id="{C987AAC7-CF25-414B-93E7-2A61E431E831}" type="slidenum">
              <a:rPr lang="en-US" smtClean="0"/>
              <a:t>56</a:t>
            </a:fld>
            <a:endParaRPr lang="en-US"/>
          </a:p>
        </p:txBody>
      </p:sp>
    </p:spTree>
    <p:extLst>
      <p:ext uri="{BB962C8B-B14F-4D97-AF65-F5344CB8AC3E}">
        <p14:creationId xmlns:p14="http://schemas.microsoft.com/office/powerpoint/2010/main" val="373137320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D5996-D1A8-7367-CDC9-CED39ABD23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E57900-6B87-C9C0-877E-9E1E58A7E7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07FBC9-5402-1E9F-DC6A-3B036251F7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F035641-D687-74CF-E791-95699BF789DA}"/>
              </a:ext>
            </a:extLst>
          </p:cNvPr>
          <p:cNvSpPr>
            <a:spLocks noGrp="1"/>
          </p:cNvSpPr>
          <p:nvPr>
            <p:ph type="sldNum" sz="quarter" idx="5"/>
          </p:nvPr>
        </p:nvSpPr>
        <p:spPr/>
        <p:txBody>
          <a:bodyPr/>
          <a:lstStyle/>
          <a:p>
            <a:fld id="{C987AAC7-CF25-414B-93E7-2A61E431E831}" type="slidenum">
              <a:rPr lang="en-US" smtClean="0"/>
              <a:t>57</a:t>
            </a:fld>
            <a:endParaRPr lang="en-US"/>
          </a:p>
        </p:txBody>
      </p:sp>
    </p:spTree>
    <p:extLst>
      <p:ext uri="{BB962C8B-B14F-4D97-AF65-F5344CB8AC3E}">
        <p14:creationId xmlns:p14="http://schemas.microsoft.com/office/powerpoint/2010/main" val="369005790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02576-B12B-9CD5-B0FA-52AC254D26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4B7BA4-7775-F4BC-9037-0854A8177E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62A92D-5DF5-F7BB-60B9-F5C2C13501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15287D-BC6E-427E-85FD-ACAB04A1F17A}"/>
              </a:ext>
            </a:extLst>
          </p:cNvPr>
          <p:cNvSpPr>
            <a:spLocks noGrp="1"/>
          </p:cNvSpPr>
          <p:nvPr>
            <p:ph type="sldNum" sz="quarter" idx="5"/>
          </p:nvPr>
        </p:nvSpPr>
        <p:spPr/>
        <p:txBody>
          <a:bodyPr/>
          <a:lstStyle/>
          <a:p>
            <a:fld id="{C987AAC7-CF25-414B-93E7-2A61E431E831}" type="slidenum">
              <a:rPr lang="en-US" smtClean="0"/>
              <a:t>58</a:t>
            </a:fld>
            <a:endParaRPr lang="en-US"/>
          </a:p>
        </p:txBody>
      </p:sp>
    </p:spTree>
    <p:extLst>
      <p:ext uri="{BB962C8B-B14F-4D97-AF65-F5344CB8AC3E}">
        <p14:creationId xmlns:p14="http://schemas.microsoft.com/office/powerpoint/2010/main" val="405342389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DDEAD-D402-3C78-2AFC-E962BC0B3F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A9E626-2CB4-D565-22FD-693B152FB8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EC8391-E80E-4585-E539-E318ADB85D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875C56-C2B9-1229-3533-E4FD621F6992}"/>
              </a:ext>
            </a:extLst>
          </p:cNvPr>
          <p:cNvSpPr>
            <a:spLocks noGrp="1"/>
          </p:cNvSpPr>
          <p:nvPr>
            <p:ph type="sldNum" sz="quarter" idx="5"/>
          </p:nvPr>
        </p:nvSpPr>
        <p:spPr/>
        <p:txBody>
          <a:bodyPr/>
          <a:lstStyle/>
          <a:p>
            <a:fld id="{C987AAC7-CF25-414B-93E7-2A61E431E831}" type="slidenum">
              <a:rPr lang="en-US" smtClean="0"/>
              <a:t>59</a:t>
            </a:fld>
            <a:endParaRPr lang="en-US"/>
          </a:p>
        </p:txBody>
      </p:sp>
    </p:spTree>
    <p:extLst>
      <p:ext uri="{BB962C8B-B14F-4D97-AF65-F5344CB8AC3E}">
        <p14:creationId xmlns:p14="http://schemas.microsoft.com/office/powerpoint/2010/main" val="14130410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685A6-8A25-D7CA-B988-D518694FFB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603412-68D6-A832-81AD-2E2AC0FE11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BD505B-C103-93F4-CCF9-ACB322A4AA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394CD36-B21D-EE6C-75D8-619ADE9E16B5}"/>
              </a:ext>
            </a:extLst>
          </p:cNvPr>
          <p:cNvSpPr>
            <a:spLocks noGrp="1"/>
          </p:cNvSpPr>
          <p:nvPr>
            <p:ph type="sldNum" sz="quarter" idx="5"/>
          </p:nvPr>
        </p:nvSpPr>
        <p:spPr/>
        <p:txBody>
          <a:bodyPr/>
          <a:lstStyle/>
          <a:p>
            <a:fld id="{C987AAC7-CF25-414B-93E7-2A61E431E831}" type="slidenum">
              <a:rPr lang="en-US" smtClean="0"/>
              <a:t>60</a:t>
            </a:fld>
            <a:endParaRPr lang="en-US"/>
          </a:p>
        </p:txBody>
      </p:sp>
    </p:spTree>
    <p:extLst>
      <p:ext uri="{BB962C8B-B14F-4D97-AF65-F5344CB8AC3E}">
        <p14:creationId xmlns:p14="http://schemas.microsoft.com/office/powerpoint/2010/main" val="388847046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4A890-C590-C016-58F4-80ECB3318F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902F73-C7D2-2D6F-FD21-E48CF8336C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42B46B-85FA-7650-827A-BA3592484B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0947BF-1CEE-2A5F-C4D9-3E6D216B4366}"/>
              </a:ext>
            </a:extLst>
          </p:cNvPr>
          <p:cNvSpPr>
            <a:spLocks noGrp="1"/>
          </p:cNvSpPr>
          <p:nvPr>
            <p:ph type="sldNum" sz="quarter" idx="5"/>
          </p:nvPr>
        </p:nvSpPr>
        <p:spPr/>
        <p:txBody>
          <a:bodyPr/>
          <a:lstStyle/>
          <a:p>
            <a:fld id="{C987AAC7-CF25-414B-93E7-2A61E431E831}" type="slidenum">
              <a:rPr lang="en-US" smtClean="0"/>
              <a:t>62</a:t>
            </a:fld>
            <a:endParaRPr lang="en-US"/>
          </a:p>
        </p:txBody>
      </p:sp>
    </p:spTree>
    <p:extLst>
      <p:ext uri="{BB962C8B-B14F-4D97-AF65-F5344CB8AC3E}">
        <p14:creationId xmlns:p14="http://schemas.microsoft.com/office/powerpoint/2010/main" val="221010117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016C8-DCA4-B041-73C7-FF8995D51F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DFD5E1-6CED-2057-20AD-18C4BFCCCD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A794F8-0F7E-EB39-5C7D-CC9365DC61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BDC402-C0B5-D0D0-CA51-A7D8BCC50903}"/>
              </a:ext>
            </a:extLst>
          </p:cNvPr>
          <p:cNvSpPr>
            <a:spLocks noGrp="1"/>
          </p:cNvSpPr>
          <p:nvPr>
            <p:ph type="sldNum" sz="quarter" idx="5"/>
          </p:nvPr>
        </p:nvSpPr>
        <p:spPr/>
        <p:txBody>
          <a:bodyPr/>
          <a:lstStyle/>
          <a:p>
            <a:fld id="{C987AAC7-CF25-414B-93E7-2A61E431E831}" type="slidenum">
              <a:rPr lang="en-US" smtClean="0"/>
              <a:t>63</a:t>
            </a:fld>
            <a:endParaRPr lang="en-US"/>
          </a:p>
        </p:txBody>
      </p:sp>
    </p:spTree>
    <p:extLst>
      <p:ext uri="{BB962C8B-B14F-4D97-AF65-F5344CB8AC3E}">
        <p14:creationId xmlns:p14="http://schemas.microsoft.com/office/powerpoint/2010/main" val="3989911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D4E2F-43D1-94AD-CA49-47B0489753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478436-7011-DC44-A07C-1768E141A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845B1F-60F0-A4B6-1AB0-C8E2E9135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BD5C02-E1FA-981E-69DF-02490D331341}"/>
              </a:ext>
            </a:extLst>
          </p:cNvPr>
          <p:cNvSpPr>
            <a:spLocks noGrp="1"/>
          </p:cNvSpPr>
          <p:nvPr>
            <p:ph type="sldNum" sz="quarter" idx="5"/>
          </p:nvPr>
        </p:nvSpPr>
        <p:spPr/>
        <p:txBody>
          <a:bodyPr/>
          <a:lstStyle/>
          <a:p>
            <a:fld id="{C987AAC7-CF25-414B-93E7-2A61E431E831}" type="slidenum">
              <a:rPr lang="en-US" smtClean="0"/>
              <a:t>64</a:t>
            </a:fld>
            <a:endParaRPr lang="en-US"/>
          </a:p>
        </p:txBody>
      </p:sp>
    </p:spTree>
    <p:extLst>
      <p:ext uri="{BB962C8B-B14F-4D97-AF65-F5344CB8AC3E}">
        <p14:creationId xmlns:p14="http://schemas.microsoft.com/office/powerpoint/2010/main" val="3203776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50117-D48E-1738-713D-0D48533EBD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04B8E0-F431-DD75-D824-474333CCBF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264073-1278-8CB7-A9D0-C9561B3FBA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C91261-6BE8-D2F7-4322-DFF586F7EE24}"/>
              </a:ext>
            </a:extLst>
          </p:cNvPr>
          <p:cNvSpPr>
            <a:spLocks noGrp="1"/>
          </p:cNvSpPr>
          <p:nvPr>
            <p:ph type="sldNum" sz="quarter" idx="5"/>
          </p:nvPr>
        </p:nvSpPr>
        <p:spPr/>
        <p:txBody>
          <a:bodyPr/>
          <a:lstStyle/>
          <a:p>
            <a:fld id="{C987AAC7-CF25-414B-93E7-2A61E431E831}" type="slidenum">
              <a:rPr lang="en-US" smtClean="0"/>
              <a:t>65</a:t>
            </a:fld>
            <a:endParaRPr lang="en-US"/>
          </a:p>
        </p:txBody>
      </p:sp>
    </p:spTree>
    <p:extLst>
      <p:ext uri="{BB962C8B-B14F-4D97-AF65-F5344CB8AC3E}">
        <p14:creationId xmlns:p14="http://schemas.microsoft.com/office/powerpoint/2010/main" val="130794222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4A487C-E443-6806-B4C4-371E7BAD7B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E0D62D-BB91-F0E1-9823-8BA665F134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1BE08E-1936-7DAC-D45A-2CFA26595E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37F233-ECD2-9908-8A3C-F9D0CD8A6722}"/>
              </a:ext>
            </a:extLst>
          </p:cNvPr>
          <p:cNvSpPr>
            <a:spLocks noGrp="1"/>
          </p:cNvSpPr>
          <p:nvPr>
            <p:ph type="sldNum" sz="quarter" idx="5"/>
          </p:nvPr>
        </p:nvSpPr>
        <p:spPr/>
        <p:txBody>
          <a:bodyPr/>
          <a:lstStyle/>
          <a:p>
            <a:fld id="{C987AAC7-CF25-414B-93E7-2A61E431E831}" type="slidenum">
              <a:rPr lang="en-US" smtClean="0"/>
              <a:t>66</a:t>
            </a:fld>
            <a:endParaRPr lang="en-US"/>
          </a:p>
        </p:txBody>
      </p:sp>
    </p:spTree>
    <p:extLst>
      <p:ext uri="{BB962C8B-B14F-4D97-AF65-F5344CB8AC3E}">
        <p14:creationId xmlns:p14="http://schemas.microsoft.com/office/powerpoint/2010/main" val="243941029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72E7C-9791-25C2-8831-7F3E977C03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7FBBA1-6E5F-B954-FCE1-99EAA48087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FA7C36-B046-AB8F-C166-E849567EDA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86078FC-6FAC-FA05-1A94-A75B2B8F53CE}"/>
              </a:ext>
            </a:extLst>
          </p:cNvPr>
          <p:cNvSpPr>
            <a:spLocks noGrp="1"/>
          </p:cNvSpPr>
          <p:nvPr>
            <p:ph type="sldNum" sz="quarter" idx="5"/>
          </p:nvPr>
        </p:nvSpPr>
        <p:spPr/>
        <p:txBody>
          <a:bodyPr/>
          <a:lstStyle/>
          <a:p>
            <a:fld id="{C987AAC7-CF25-414B-93E7-2A61E431E831}" type="slidenum">
              <a:rPr lang="en-US" smtClean="0"/>
              <a:t>67</a:t>
            </a:fld>
            <a:endParaRPr lang="en-US"/>
          </a:p>
        </p:txBody>
      </p:sp>
    </p:spTree>
    <p:extLst>
      <p:ext uri="{BB962C8B-B14F-4D97-AF65-F5344CB8AC3E}">
        <p14:creationId xmlns:p14="http://schemas.microsoft.com/office/powerpoint/2010/main" val="327137377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2E2E5-15F1-78EC-52A9-CAED42AD70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7A0DFB-52A7-BA92-C424-9AE17193EB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D0F12A-60CA-35B1-2EAE-169687C74A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58DC12-637D-8F39-2928-BFCFE9F1276D}"/>
              </a:ext>
            </a:extLst>
          </p:cNvPr>
          <p:cNvSpPr>
            <a:spLocks noGrp="1"/>
          </p:cNvSpPr>
          <p:nvPr>
            <p:ph type="sldNum" sz="quarter" idx="5"/>
          </p:nvPr>
        </p:nvSpPr>
        <p:spPr/>
        <p:txBody>
          <a:bodyPr/>
          <a:lstStyle/>
          <a:p>
            <a:fld id="{C987AAC7-CF25-414B-93E7-2A61E431E831}" type="slidenum">
              <a:rPr lang="en-US" smtClean="0"/>
              <a:t>69</a:t>
            </a:fld>
            <a:endParaRPr lang="en-US"/>
          </a:p>
        </p:txBody>
      </p:sp>
    </p:spTree>
    <p:extLst>
      <p:ext uri="{BB962C8B-B14F-4D97-AF65-F5344CB8AC3E}">
        <p14:creationId xmlns:p14="http://schemas.microsoft.com/office/powerpoint/2010/main" val="39687431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DFCAFFB9-A874-4FD1-A824-B4042D61D1ED}" type="datetime1">
              <a:rPr lang="en-US" smtClean="0"/>
              <a:t>1/23/2026</a:t>
            </a:fld>
            <a:endParaRPr lang="en-US"/>
          </a:p>
        </p:txBody>
      </p:sp>
      <p:sp>
        <p:nvSpPr>
          <p:cNvPr id="5" name="Footer Placeholder 4"/>
          <p:cNvSpPr>
            <a:spLocks noGrp="1"/>
          </p:cNvSpPr>
          <p:nvPr>
            <p:ph type="ftr" sz="quarter" idx="11"/>
          </p:nvPr>
        </p:nvSpPr>
        <p:spPr/>
        <p:txBody>
          <a:bodyPr/>
          <a:lstStyle/>
          <a:p>
            <a:r>
              <a:rPr lang="en-US"/>
              <a:t> Management Information Systems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F79C1E-59CB-458D-A8DF-3DF069B9691A}" type="datetime1">
              <a:rPr lang="en-US" smtClean="0"/>
              <a:t>1/23/2026</a:t>
            </a:fld>
            <a:endParaRPr lang="en-US"/>
          </a:p>
        </p:txBody>
      </p:sp>
      <p:sp>
        <p:nvSpPr>
          <p:cNvPr id="5" name="Footer Placeholder 4"/>
          <p:cNvSpPr>
            <a:spLocks noGrp="1"/>
          </p:cNvSpPr>
          <p:nvPr>
            <p:ph type="ftr" sz="quarter" idx="11"/>
          </p:nvPr>
        </p:nvSpPr>
        <p:spPr/>
        <p:txBody>
          <a:bodyPr/>
          <a:lstStyle/>
          <a:p>
            <a:r>
              <a:rPr lang="en-US"/>
              <a:t> Management Information Systems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0B038F5-1F4F-49BC-AE81-A69593E39F17}" type="datetime1">
              <a:rPr lang="en-US" smtClean="0"/>
              <a:t>1/23/2026</a:t>
            </a:fld>
            <a:endParaRPr lang="en-US"/>
          </a:p>
        </p:txBody>
      </p:sp>
      <p:sp>
        <p:nvSpPr>
          <p:cNvPr id="5" name="Footer Placeholder 4"/>
          <p:cNvSpPr>
            <a:spLocks noGrp="1"/>
          </p:cNvSpPr>
          <p:nvPr>
            <p:ph type="ftr" sz="quarter" idx="11"/>
          </p:nvPr>
        </p:nvSpPr>
        <p:spPr/>
        <p:txBody>
          <a:bodyPr/>
          <a:lstStyle/>
          <a:p>
            <a:r>
              <a:rPr lang="en-US"/>
              <a:t> Management Information Systems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F2B9C03-4953-4667-8B38-5F82E8B7824A}" type="datetime1">
              <a:rPr lang="en-US" smtClean="0"/>
              <a:t>1/23/2026</a:t>
            </a:fld>
            <a:endParaRPr lang="en-US"/>
          </a:p>
        </p:txBody>
      </p:sp>
      <p:sp>
        <p:nvSpPr>
          <p:cNvPr id="6" name="Footer Placeholder 5"/>
          <p:cNvSpPr>
            <a:spLocks noGrp="1"/>
          </p:cNvSpPr>
          <p:nvPr>
            <p:ph type="ftr" sz="quarter" idx="11"/>
          </p:nvPr>
        </p:nvSpPr>
        <p:spPr/>
        <p:txBody>
          <a:bodyPr/>
          <a:lstStyle/>
          <a:p>
            <a:r>
              <a:rPr lang="en-US"/>
              <a:t> Management Information Systems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CFF53C9-7EE5-4279-90C5-33FD7C6945F2}" type="datetime1">
              <a:rPr lang="en-US" smtClean="0"/>
              <a:t>1/23/2026</a:t>
            </a:fld>
            <a:endParaRPr lang="en-US"/>
          </a:p>
        </p:txBody>
      </p:sp>
      <p:sp>
        <p:nvSpPr>
          <p:cNvPr id="8" name="Footer Placeholder 7"/>
          <p:cNvSpPr>
            <a:spLocks noGrp="1"/>
          </p:cNvSpPr>
          <p:nvPr>
            <p:ph type="ftr" sz="quarter" idx="11"/>
          </p:nvPr>
        </p:nvSpPr>
        <p:spPr/>
        <p:txBody>
          <a:bodyPr/>
          <a:lstStyle/>
          <a:p>
            <a:r>
              <a:rPr lang="en-US"/>
              <a:t> Management Information Systems</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04720FA-FDEE-4E83-A4C7-BC2FB4952465}" type="datetime1">
              <a:rPr lang="en-US" smtClean="0"/>
              <a:t>1/23/2026</a:t>
            </a:fld>
            <a:endParaRPr lang="en-US"/>
          </a:p>
        </p:txBody>
      </p:sp>
      <p:sp>
        <p:nvSpPr>
          <p:cNvPr id="4" name="Footer Placeholder 3"/>
          <p:cNvSpPr>
            <a:spLocks noGrp="1"/>
          </p:cNvSpPr>
          <p:nvPr>
            <p:ph type="ftr" sz="quarter" idx="11"/>
          </p:nvPr>
        </p:nvSpPr>
        <p:spPr/>
        <p:txBody>
          <a:bodyPr/>
          <a:lstStyle/>
          <a:p>
            <a:r>
              <a:rPr lang="en-US"/>
              <a:t> Management Information Systems</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4851516-679C-4D73-B89D-29E30821AF23}" type="datetime1">
              <a:rPr lang="en-US" smtClean="0"/>
              <a:t>1/23/2026</a:t>
            </a:fld>
            <a:endParaRPr lang="en-US"/>
          </a:p>
        </p:txBody>
      </p:sp>
      <p:sp>
        <p:nvSpPr>
          <p:cNvPr id="3" name="Footer Placeholder 2"/>
          <p:cNvSpPr>
            <a:spLocks noGrp="1"/>
          </p:cNvSpPr>
          <p:nvPr>
            <p:ph type="ftr" sz="quarter" idx="11"/>
          </p:nvPr>
        </p:nvSpPr>
        <p:spPr/>
        <p:txBody>
          <a:bodyPr/>
          <a:lstStyle/>
          <a:p>
            <a:r>
              <a:rPr lang="en-US"/>
              <a:t> Management Information Systems</a:t>
            </a:r>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B003A1F-F54C-4527-A898-553BBCF40EAB}" type="datetime1">
              <a:rPr lang="en-US" smtClean="0"/>
              <a:t>1/23/2026</a:t>
            </a:fld>
            <a:endParaRPr lang="en-US"/>
          </a:p>
        </p:txBody>
      </p:sp>
      <p:sp>
        <p:nvSpPr>
          <p:cNvPr id="6" name="Footer Placeholder 5"/>
          <p:cNvSpPr>
            <a:spLocks noGrp="1"/>
          </p:cNvSpPr>
          <p:nvPr>
            <p:ph type="ftr" sz="quarter" idx="11"/>
          </p:nvPr>
        </p:nvSpPr>
        <p:spPr/>
        <p:txBody>
          <a:bodyPr/>
          <a:lstStyle/>
          <a:p>
            <a:r>
              <a:rPr lang="en-US"/>
              <a:t> Management Information Systems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2FD13F6-D87E-4E9E-B027-94AE4C3308CD}" type="datetime1">
              <a:rPr lang="en-US" smtClean="0"/>
              <a:t>1/23/2026</a:t>
            </a:fld>
            <a:endParaRPr lang="en-US"/>
          </a:p>
        </p:txBody>
      </p:sp>
      <p:sp>
        <p:nvSpPr>
          <p:cNvPr id="6" name="Footer Placeholder 5"/>
          <p:cNvSpPr>
            <a:spLocks noGrp="1"/>
          </p:cNvSpPr>
          <p:nvPr>
            <p:ph type="ftr" sz="quarter" idx="11"/>
          </p:nvPr>
        </p:nvSpPr>
        <p:spPr/>
        <p:txBody>
          <a:bodyPr/>
          <a:lstStyle/>
          <a:p>
            <a:r>
              <a:rPr lang="en-US"/>
              <a:t> Management Information Systems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290497A-627B-46A8-B138-876D4281251E}" type="datetime1">
              <a:rPr lang="en-US" smtClean="0"/>
              <a:t>1/23/2026</a:t>
            </a:fld>
            <a:endParaRPr lang="en-US"/>
          </a:p>
        </p:txBody>
      </p:sp>
      <p:sp>
        <p:nvSpPr>
          <p:cNvPr id="5" name="Footer Placeholder 4"/>
          <p:cNvSpPr>
            <a:spLocks noGrp="1"/>
          </p:cNvSpPr>
          <p:nvPr>
            <p:ph type="ftr" sz="quarter" idx="11"/>
          </p:nvPr>
        </p:nvSpPr>
        <p:spPr/>
        <p:txBody>
          <a:bodyPr/>
          <a:lstStyle/>
          <a:p>
            <a:r>
              <a:rPr lang="en-US"/>
              <a:t> Management Information Systems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749246-640D-41B6-A07B-C0FA43D7FEE2}" type="datetime1">
              <a:rPr lang="en-US" smtClean="0"/>
              <a:t>1/23/2026</a:t>
            </a:fld>
            <a:endParaRPr lang="en-US"/>
          </a:p>
        </p:txBody>
      </p:sp>
      <p:sp>
        <p:nvSpPr>
          <p:cNvPr id="5" name="Footer Placeholder 4"/>
          <p:cNvSpPr>
            <a:spLocks noGrp="1"/>
          </p:cNvSpPr>
          <p:nvPr>
            <p:ph type="ftr" sz="quarter" idx="11"/>
          </p:nvPr>
        </p:nvSpPr>
        <p:spPr/>
        <p:txBody>
          <a:bodyPr/>
          <a:lstStyle/>
          <a:p>
            <a:r>
              <a:rPr lang="en-US"/>
              <a:t> Management Information Systems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E17758-26A5-42DB-960B-17BBCDA98EFC}" type="datetime1">
              <a:rPr lang="en-US" smtClean="0"/>
              <a:t>1/23/2026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 Management Information Systems</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video" Target="https://www.youtube.com/embed/pjixTeSPjGg?feature=oembed" TargetMode="External"/><Relationship Id="rId4" Type="http://schemas.openxmlformats.org/officeDocument/2006/relationships/image" Target="../media/image3.jpe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video" Target="https://www.youtube.com/embed/o1yw81Z7BOI?feature=oembed" TargetMode="External"/><Relationship Id="rId4" Type="http://schemas.openxmlformats.org/officeDocument/2006/relationships/image" Target="../media/image5.jpe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2.xml"/><Relationship Id="rId1" Type="http://schemas.openxmlformats.org/officeDocument/2006/relationships/video" Target="https://www.youtube.com/embed/oR9JgZ8JVN0?feature=oembed" TargetMode="External"/><Relationship Id="rId4" Type="http://schemas.openxmlformats.org/officeDocument/2006/relationships/image" Target="../media/image6.jpe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2.xml"/><Relationship Id="rId1" Type="http://schemas.openxmlformats.org/officeDocument/2006/relationships/video" Target="https://www.youtube.com/embed/CIkKCZfrnfI?feature=oembed" TargetMode="External"/><Relationship Id="rId4" Type="http://schemas.openxmlformats.org/officeDocument/2006/relationships/image" Target="../media/image7.jpe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2.xml"/><Relationship Id="rId1" Type="http://schemas.openxmlformats.org/officeDocument/2006/relationships/video" Target="https://www.youtube.com/embed/VKg-NYEqyPo?feature=oembed" TargetMode="External"/><Relationship Id="rId4" Type="http://schemas.openxmlformats.org/officeDocument/2006/relationships/image" Target="../media/image8.jpeg"/></Relationships>
</file>

<file path=ppt/slides/_rels/slide3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6.xml"/><Relationship Id="rId1" Type="http://schemas.openxmlformats.org/officeDocument/2006/relationships/tags" Target="../tags/tag1.xml"/><Relationship Id="rId4" Type="http://schemas.openxmlformats.org/officeDocument/2006/relationships/image" Target="../media/image11.png"/></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6.xml"/><Relationship Id="rId1" Type="http://schemas.openxmlformats.org/officeDocument/2006/relationships/tags" Target="../tags/tag2.xml"/><Relationship Id="rId4" Type="http://schemas.openxmlformats.org/officeDocument/2006/relationships/image" Target="../media/image12.png"/></Relationships>
</file>

<file path=ppt/slides/_rels/slide4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6.xml"/><Relationship Id="rId1" Type="http://schemas.openxmlformats.org/officeDocument/2006/relationships/tags" Target="../tags/tag3.xml"/><Relationship Id="rId4" Type="http://schemas.openxmlformats.org/officeDocument/2006/relationships/image" Target="../media/image15.png"/></Relationships>
</file>

<file path=ppt/slides/_rels/slide5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video" Target="https://www.youtube.com/embed/taRdfhRO9lY?feature=oembed" TargetMode="External"/><Relationship Id="rId4" Type="http://schemas.openxmlformats.org/officeDocument/2006/relationships/image" Target="../media/image19.jpeg"/></Relationships>
</file>

<file path=ppt/slides/_rels/slide58.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mDPbrvbAves?feature=oembed" TargetMode="External"/><Relationship Id="rId4" Type="http://schemas.openxmlformats.org/officeDocument/2006/relationships/image" Target="../media/image23.jpeg"/></Relationships>
</file>

<file path=ppt/slides/_rels/slide66.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p:cNvGrpSpPr/>
        <p:nvPr/>
      </p:nvGrpSpPr>
      <p:grpSpPr>
        <a:xfrm>
          <a:off x="0" y="0"/>
          <a:ext cx="0" cy="0"/>
          <a:chOff x="0" y="0"/>
          <a:chExt cx="0" cy="0"/>
        </a:xfrm>
      </p:grpSpPr>
      <p:sp>
        <p:nvSpPr>
          <p:cNvPr id="2" name="TextBox 1"/>
          <p:cNvSpPr txBox="1"/>
          <p:nvPr/>
        </p:nvSpPr>
        <p:spPr>
          <a:xfrm>
            <a:off x="0" y="2650659"/>
            <a:ext cx="12188824" cy="830997"/>
          </a:xfrm>
          <a:prstGeom prst="rect">
            <a:avLst/>
          </a:prstGeom>
          <a:noFill/>
        </p:spPr>
        <p:txBody>
          <a:bodyPr wrap="square">
            <a:spAutoFit/>
          </a:bodyPr>
          <a:lstStyle/>
          <a:p>
            <a:pPr algn="ctr">
              <a:defRPr sz="4400" b="1">
                <a:solidFill>
                  <a:srgbClr val="FDB913"/>
                </a:solidFill>
                <a:latin typeface="Garamond"/>
              </a:defRPr>
            </a:pPr>
            <a:r>
              <a:rPr lang="en-US" sz="4800" dirty="0"/>
              <a:t>M</a:t>
            </a:r>
            <a:r>
              <a:rPr lang="en-US" sz="4000" dirty="0"/>
              <a:t>ANAGEMENT </a:t>
            </a:r>
            <a:r>
              <a:rPr lang="en-US" sz="4800" dirty="0"/>
              <a:t>I</a:t>
            </a:r>
            <a:r>
              <a:rPr lang="en-US" sz="4000" dirty="0"/>
              <a:t>NFORMATION </a:t>
            </a:r>
            <a:r>
              <a:rPr lang="en-US" sz="4800" dirty="0"/>
              <a:t>S</a:t>
            </a:r>
            <a:r>
              <a:rPr lang="en-US" sz="4000" dirty="0"/>
              <a:t>YSTEMS</a:t>
            </a:r>
            <a:endParaRPr sz="4000" dirty="0"/>
          </a:p>
        </p:txBody>
      </p:sp>
      <p:sp>
        <p:nvSpPr>
          <p:cNvPr id="3" name="TextBox 2"/>
          <p:cNvSpPr txBox="1"/>
          <p:nvPr/>
        </p:nvSpPr>
        <p:spPr>
          <a:xfrm>
            <a:off x="-1" y="3657600"/>
            <a:ext cx="12188825" cy="461665"/>
          </a:xfrm>
          <a:prstGeom prst="rect">
            <a:avLst/>
          </a:prstGeom>
          <a:noFill/>
        </p:spPr>
        <p:txBody>
          <a:bodyPr wrap="square">
            <a:spAutoFit/>
          </a:bodyPr>
          <a:lstStyle/>
          <a:p>
            <a:pPr algn="ctr">
              <a:defRPr sz="2400">
                <a:solidFill>
                  <a:srgbClr val="FFFFFF"/>
                </a:solidFill>
                <a:latin typeface="Garamond"/>
              </a:defRPr>
            </a:pPr>
            <a:r>
              <a:rPr lang="en-US" dirty="0"/>
              <a:t>Chapter 2: Global E-business and Collaboration</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F3F00-8C8C-AB23-4FD8-758A3E0D552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9AF5F0B-9E91-9CF7-E31B-7C1B0EDEBB8C}"/>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8EEC65DE-BF71-E500-DCF0-F48432A79EBD}"/>
              </a:ext>
            </a:extLst>
          </p:cNvPr>
          <p:cNvSpPr txBox="1">
            <a:spLocks/>
          </p:cNvSpPr>
          <p:nvPr/>
        </p:nvSpPr>
        <p:spPr>
          <a:xfrm>
            <a:off x="0" y="0"/>
            <a:ext cx="12188825" cy="92363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000" b="1">
                <a:solidFill>
                  <a:srgbClr val="FDB913"/>
                </a:solidFill>
                <a:latin typeface="Garamond"/>
              </a:defRPr>
            </a:pPr>
            <a:r>
              <a:rPr lang="en-US" sz="4000" b="1" dirty="0">
                <a:solidFill>
                  <a:schemeClr val="bg1"/>
                </a:solidFill>
                <a:latin typeface="Garamond"/>
              </a:rPr>
              <a:t>  Recap of Chapter 1</a:t>
            </a:r>
          </a:p>
        </p:txBody>
      </p:sp>
      <p:sp>
        <p:nvSpPr>
          <p:cNvPr id="7" name="Rectangle 6">
            <a:extLst>
              <a:ext uri="{FF2B5EF4-FFF2-40B4-BE49-F238E27FC236}">
                <a16:creationId xmlns:a16="http://schemas.microsoft.com/office/drawing/2014/main" id="{A21BF0C7-29D7-FA6A-0C72-BBCEB4148790}"/>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Footer Placeholder 5">
            <a:extLst>
              <a:ext uri="{FF2B5EF4-FFF2-40B4-BE49-F238E27FC236}">
                <a16:creationId xmlns:a16="http://schemas.microsoft.com/office/drawing/2014/main" id="{F0948B46-C0CE-0488-151C-A0FAFB92484D}"/>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Management Information Systems</a:t>
            </a:r>
          </a:p>
        </p:txBody>
      </p:sp>
      <p:sp>
        <p:nvSpPr>
          <p:cNvPr id="9" name="Slide Number Placeholder 6">
            <a:extLst>
              <a:ext uri="{FF2B5EF4-FFF2-40B4-BE49-F238E27FC236}">
                <a16:creationId xmlns:a16="http://schemas.microsoft.com/office/drawing/2014/main" id="{6A19B34A-26DA-74D5-A37E-F125C642102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a:t>
            </a:fld>
            <a:r>
              <a:rPr lang="en-US" b="1" dirty="0">
                <a:solidFill>
                  <a:schemeClr val="bg1"/>
                </a:solidFill>
                <a:latin typeface="Garamond" panose="02020404030301010803" pitchFamily="18" charset="0"/>
              </a:rPr>
              <a:t> </a:t>
            </a:r>
          </a:p>
        </p:txBody>
      </p:sp>
      <p:sp>
        <p:nvSpPr>
          <p:cNvPr id="14" name="Content Placeholder 2">
            <a:extLst>
              <a:ext uri="{FF2B5EF4-FFF2-40B4-BE49-F238E27FC236}">
                <a16:creationId xmlns:a16="http://schemas.microsoft.com/office/drawing/2014/main" id="{9731B94F-5E90-B616-E3A8-FB65F57B1FEA}"/>
              </a:ext>
            </a:extLst>
          </p:cNvPr>
          <p:cNvSpPr>
            <a:spLocks noGrp="1"/>
          </p:cNvSpPr>
          <p:nvPr>
            <p:ph idx="1"/>
          </p:nvPr>
        </p:nvSpPr>
        <p:spPr>
          <a:xfrm>
            <a:off x="457199" y="1300900"/>
            <a:ext cx="11189855" cy="5081046"/>
          </a:xfrm>
        </p:spPr>
        <p:txBody>
          <a:bodyPr>
            <a:normAutofit lnSpcReduction="10000"/>
          </a:bodyPr>
          <a:lstStyle/>
          <a:p>
            <a:pPr>
              <a:defRPr sz="2000">
                <a:solidFill>
                  <a:srgbClr val="000000"/>
                </a:solidFill>
                <a:latin typeface="Garamond"/>
              </a:defRPr>
            </a:pPr>
            <a:r>
              <a:rPr lang="en-US" altLang="zh-TW" sz="2400" dirty="0"/>
              <a:t>How does IS transform businesses and careers?</a:t>
            </a:r>
          </a:p>
          <a:p>
            <a:pPr lvl="3">
              <a:defRPr sz="2000">
                <a:solidFill>
                  <a:srgbClr val="000000"/>
                </a:solidFill>
                <a:latin typeface="Garamond"/>
              </a:defRPr>
            </a:pPr>
            <a:endParaRPr lang="en-US" altLang="zh-TW" sz="1400" dirty="0"/>
          </a:p>
          <a:p>
            <a:pPr>
              <a:defRPr sz="2000">
                <a:solidFill>
                  <a:srgbClr val="000000"/>
                </a:solidFill>
                <a:latin typeface="Garamond"/>
              </a:defRPr>
            </a:pPr>
            <a:r>
              <a:rPr lang="en-US" altLang="zh-TW" sz="2400" dirty="0"/>
              <a:t>What are the key challenges and opportunities created by new MIS technologies?</a:t>
            </a:r>
          </a:p>
          <a:p>
            <a:pPr lvl="3">
              <a:defRPr sz="2000">
                <a:solidFill>
                  <a:srgbClr val="000000"/>
                </a:solidFill>
                <a:latin typeface="Garamond"/>
              </a:defRPr>
            </a:pPr>
            <a:endParaRPr lang="en-US" altLang="zh-TW" sz="1400" dirty="0"/>
          </a:p>
          <a:p>
            <a:pPr>
              <a:defRPr sz="2000">
                <a:solidFill>
                  <a:srgbClr val="000000"/>
                </a:solidFill>
                <a:latin typeface="Garamond"/>
              </a:defRPr>
            </a:pPr>
            <a:r>
              <a:rPr lang="en-US" altLang="zh-TW" sz="2400" dirty="0"/>
              <a:t>What are the key features of a digital firm?</a:t>
            </a:r>
          </a:p>
          <a:p>
            <a:pPr lvl="3">
              <a:defRPr sz="2000">
                <a:solidFill>
                  <a:srgbClr val="000000"/>
                </a:solidFill>
                <a:latin typeface="Garamond"/>
              </a:defRPr>
            </a:pPr>
            <a:endParaRPr lang="en-US" altLang="zh-TW" sz="1400" dirty="0"/>
          </a:p>
          <a:p>
            <a:pPr>
              <a:defRPr sz="2000">
                <a:solidFill>
                  <a:srgbClr val="000000"/>
                </a:solidFill>
                <a:latin typeface="Garamond"/>
              </a:defRPr>
            </a:pPr>
            <a:r>
              <a:rPr lang="en-US" altLang="zh-TW" sz="2400" dirty="0"/>
              <a:t>What are the business objectives of information systems?</a:t>
            </a:r>
          </a:p>
          <a:p>
            <a:pPr lvl="3">
              <a:defRPr sz="2000">
                <a:solidFill>
                  <a:srgbClr val="000000"/>
                </a:solidFill>
                <a:latin typeface="Garamond"/>
              </a:defRPr>
            </a:pPr>
            <a:endParaRPr lang="en-US" altLang="zh-TW" sz="1400" dirty="0"/>
          </a:p>
          <a:p>
            <a:pPr>
              <a:defRPr sz="2000">
                <a:solidFill>
                  <a:srgbClr val="000000"/>
                </a:solidFill>
                <a:latin typeface="Garamond"/>
              </a:defRPr>
            </a:pPr>
            <a:r>
              <a:rPr lang="en-US" altLang="zh-TW" sz="2400" dirty="0"/>
              <a:t>What is an information system, and how does it work?</a:t>
            </a:r>
          </a:p>
          <a:p>
            <a:pPr lvl="3">
              <a:defRPr sz="2000">
                <a:solidFill>
                  <a:srgbClr val="000000"/>
                </a:solidFill>
                <a:latin typeface="Garamond"/>
              </a:defRPr>
            </a:pPr>
            <a:endParaRPr lang="en-US" altLang="zh-TW" sz="1400" dirty="0"/>
          </a:p>
          <a:p>
            <a:pPr>
              <a:defRPr sz="2000">
                <a:solidFill>
                  <a:srgbClr val="000000"/>
                </a:solidFill>
                <a:latin typeface="Garamond"/>
              </a:defRPr>
            </a:pPr>
            <a:r>
              <a:rPr lang="en-US" altLang="zh-TW" sz="2400" dirty="0"/>
              <a:t>What are the organizational, managerial, and technological dimensions of IS?</a:t>
            </a:r>
          </a:p>
          <a:p>
            <a:pPr lvl="3">
              <a:defRPr sz="2000">
                <a:solidFill>
                  <a:srgbClr val="000000"/>
                </a:solidFill>
                <a:latin typeface="Garamond"/>
              </a:defRPr>
            </a:pPr>
            <a:endParaRPr lang="en-US" altLang="zh-TW" sz="1400" dirty="0"/>
          </a:p>
          <a:p>
            <a:pPr>
              <a:defRPr sz="2000">
                <a:solidFill>
                  <a:srgbClr val="000000"/>
                </a:solidFill>
                <a:latin typeface="Garamond"/>
              </a:defRPr>
            </a:pPr>
            <a:r>
              <a:rPr lang="en-US" altLang="zh-TW" sz="2400" dirty="0"/>
              <a:t>Why are complementary assets important?</a:t>
            </a:r>
          </a:p>
          <a:p>
            <a:pPr lvl="3">
              <a:defRPr sz="2000">
                <a:solidFill>
                  <a:srgbClr val="000000"/>
                </a:solidFill>
                <a:latin typeface="Garamond"/>
              </a:defRPr>
            </a:pPr>
            <a:endParaRPr lang="en-US" altLang="zh-TW" sz="1400" dirty="0"/>
          </a:p>
          <a:p>
            <a:pPr>
              <a:defRPr sz="2000">
                <a:solidFill>
                  <a:srgbClr val="000000"/>
                </a:solidFill>
                <a:latin typeface="Garamond"/>
              </a:defRPr>
            </a:pPr>
            <a:r>
              <a:rPr lang="en-US" altLang="zh-TW" sz="2400" dirty="0"/>
              <a:t>What are the approaches in studying IS?</a:t>
            </a:r>
          </a:p>
        </p:txBody>
      </p:sp>
    </p:spTree>
    <p:extLst>
      <p:ext uri="{BB962C8B-B14F-4D97-AF65-F5344CB8AC3E}">
        <p14:creationId xmlns:p14="http://schemas.microsoft.com/office/powerpoint/2010/main" val="416721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500"/>
                                        <p:tgtEl>
                                          <p:spTgt spid="14">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animEffect transition="in" filter="fade">
                                      <p:cBhvr>
                                        <p:cTn id="11" dur="500"/>
                                        <p:tgtEl>
                                          <p:spTgt spid="14">
                                            <p:txEl>
                                              <p:pRg st="2" end="2"/>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animEffect transition="in" filter="fade">
                                      <p:cBhvr>
                                        <p:cTn id="15" dur="500"/>
                                        <p:tgtEl>
                                          <p:spTgt spid="14">
                                            <p:txEl>
                                              <p:pRg st="4" end="4"/>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14">
                                            <p:txEl>
                                              <p:pRg st="6" end="6"/>
                                            </p:txEl>
                                          </p:spTgt>
                                        </p:tgtEl>
                                        <p:attrNameLst>
                                          <p:attrName>style.visibility</p:attrName>
                                        </p:attrNameLst>
                                      </p:cBhvr>
                                      <p:to>
                                        <p:strVal val="visible"/>
                                      </p:to>
                                    </p:set>
                                    <p:animEffect transition="in" filter="fade">
                                      <p:cBhvr>
                                        <p:cTn id="19" dur="500"/>
                                        <p:tgtEl>
                                          <p:spTgt spid="14">
                                            <p:txEl>
                                              <p:pRg st="6" end="6"/>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14">
                                            <p:txEl>
                                              <p:pRg st="8" end="8"/>
                                            </p:txEl>
                                          </p:spTgt>
                                        </p:tgtEl>
                                        <p:attrNameLst>
                                          <p:attrName>style.visibility</p:attrName>
                                        </p:attrNameLst>
                                      </p:cBhvr>
                                      <p:to>
                                        <p:strVal val="visible"/>
                                      </p:to>
                                    </p:set>
                                    <p:animEffect transition="in" filter="fade">
                                      <p:cBhvr>
                                        <p:cTn id="23" dur="500"/>
                                        <p:tgtEl>
                                          <p:spTgt spid="14">
                                            <p:txEl>
                                              <p:pRg st="8" end="8"/>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14">
                                            <p:txEl>
                                              <p:pRg st="10" end="10"/>
                                            </p:txEl>
                                          </p:spTgt>
                                        </p:tgtEl>
                                        <p:attrNameLst>
                                          <p:attrName>style.visibility</p:attrName>
                                        </p:attrNameLst>
                                      </p:cBhvr>
                                      <p:to>
                                        <p:strVal val="visible"/>
                                      </p:to>
                                    </p:set>
                                    <p:animEffect transition="in" filter="fade">
                                      <p:cBhvr>
                                        <p:cTn id="27" dur="500"/>
                                        <p:tgtEl>
                                          <p:spTgt spid="14">
                                            <p:txEl>
                                              <p:pRg st="10" end="10"/>
                                            </p:txEl>
                                          </p:spTgt>
                                        </p:tgtEl>
                                      </p:cBhvr>
                                    </p:animEffect>
                                  </p:childTnLst>
                                </p:cTn>
                              </p:par>
                            </p:childTnLst>
                          </p:cTn>
                        </p:par>
                        <p:par>
                          <p:cTn id="28" fill="hold">
                            <p:stCondLst>
                              <p:cond delay="3000"/>
                            </p:stCondLst>
                            <p:childTnLst>
                              <p:par>
                                <p:cTn id="29" presetID="10" presetClass="entr" presetSubtype="0" fill="hold" nodeType="afterEffect">
                                  <p:stCondLst>
                                    <p:cond delay="0"/>
                                  </p:stCondLst>
                                  <p:childTnLst>
                                    <p:set>
                                      <p:cBhvr>
                                        <p:cTn id="30" dur="1" fill="hold">
                                          <p:stCondLst>
                                            <p:cond delay="0"/>
                                          </p:stCondLst>
                                        </p:cTn>
                                        <p:tgtEl>
                                          <p:spTgt spid="14">
                                            <p:txEl>
                                              <p:pRg st="12" end="12"/>
                                            </p:txEl>
                                          </p:spTgt>
                                        </p:tgtEl>
                                        <p:attrNameLst>
                                          <p:attrName>style.visibility</p:attrName>
                                        </p:attrNameLst>
                                      </p:cBhvr>
                                      <p:to>
                                        <p:strVal val="visible"/>
                                      </p:to>
                                    </p:set>
                                    <p:animEffect transition="in" filter="fade">
                                      <p:cBhvr>
                                        <p:cTn id="31" dur="500"/>
                                        <p:tgtEl>
                                          <p:spTgt spid="14">
                                            <p:txEl>
                                              <p:pRg st="12" end="12"/>
                                            </p:txEl>
                                          </p:spTgt>
                                        </p:tgtEl>
                                      </p:cBhvr>
                                    </p:animEffect>
                                  </p:childTnLst>
                                </p:cTn>
                              </p:par>
                            </p:childTnLst>
                          </p:cTn>
                        </p:par>
                        <p:par>
                          <p:cTn id="32" fill="hold">
                            <p:stCondLst>
                              <p:cond delay="3500"/>
                            </p:stCondLst>
                            <p:childTnLst>
                              <p:par>
                                <p:cTn id="33" presetID="10" presetClass="entr" presetSubtype="0" fill="hold" nodeType="afterEffect">
                                  <p:stCondLst>
                                    <p:cond delay="0"/>
                                  </p:stCondLst>
                                  <p:childTnLst>
                                    <p:set>
                                      <p:cBhvr>
                                        <p:cTn id="34" dur="1" fill="hold">
                                          <p:stCondLst>
                                            <p:cond delay="0"/>
                                          </p:stCondLst>
                                        </p:cTn>
                                        <p:tgtEl>
                                          <p:spTgt spid="14">
                                            <p:txEl>
                                              <p:pRg st="14" end="14"/>
                                            </p:txEl>
                                          </p:spTgt>
                                        </p:tgtEl>
                                        <p:attrNameLst>
                                          <p:attrName>style.visibility</p:attrName>
                                        </p:attrNameLst>
                                      </p:cBhvr>
                                      <p:to>
                                        <p:strVal val="visible"/>
                                      </p:to>
                                    </p:set>
                                    <p:animEffect transition="in" filter="fade">
                                      <p:cBhvr>
                                        <p:cTn id="35" dur="500"/>
                                        <p:tgtEl>
                                          <p:spTgt spid="14">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p:cNvGrpSpPr/>
        <p:nvPr/>
      </p:nvGrpSpPr>
      <p:grpSpPr>
        <a:xfrm>
          <a:off x="0" y="0"/>
          <a:ext cx="0" cy="0"/>
          <a:chOff x="0" y="0"/>
          <a:chExt cx="0" cy="0"/>
        </a:xfrm>
      </p:grpSpPr>
      <p:sp>
        <p:nvSpPr>
          <p:cNvPr id="2" name="TextBox 1"/>
          <p:cNvSpPr txBox="1"/>
          <p:nvPr/>
        </p:nvSpPr>
        <p:spPr>
          <a:xfrm>
            <a:off x="0" y="2705725"/>
            <a:ext cx="12188825" cy="1446550"/>
          </a:xfrm>
          <a:prstGeom prst="rect">
            <a:avLst/>
          </a:prstGeom>
          <a:noFill/>
        </p:spPr>
        <p:txBody>
          <a:bodyPr wrap="square">
            <a:spAutoFit/>
          </a:bodyPr>
          <a:lstStyle/>
          <a:p>
            <a:pPr algn="ctr">
              <a:defRPr sz="4000" b="1">
                <a:solidFill>
                  <a:srgbClr val="FDB913"/>
                </a:solidFill>
                <a:latin typeface="Garamond"/>
              </a:defRPr>
            </a:pPr>
            <a:r>
              <a:rPr lang="en-US" sz="4400" dirty="0">
                <a:solidFill>
                  <a:schemeClr val="bg1"/>
                </a:solidFill>
              </a:rPr>
              <a:t>How Business Processes </a:t>
            </a:r>
          </a:p>
          <a:p>
            <a:pPr algn="ctr">
              <a:defRPr sz="4000" b="1">
                <a:solidFill>
                  <a:srgbClr val="FDB913"/>
                </a:solidFill>
                <a:latin typeface="Garamond"/>
              </a:defRPr>
            </a:pPr>
            <a:r>
              <a:rPr lang="en-US" sz="4400" dirty="0">
                <a:solidFill>
                  <a:schemeClr val="bg1"/>
                </a:solidFill>
              </a:rPr>
              <a:t>Relate to Information Systems</a:t>
            </a:r>
            <a:endParaRPr sz="4400" dirty="0">
              <a:solidFill>
                <a:schemeClr val="bg1"/>
              </a:solidFill>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7CE89-301A-70F1-4260-6BE7F3ECF59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F155BD8-8A9D-C759-E57B-798D3259D94E}"/>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altLang="zh-TW" sz="2400" dirty="0"/>
              <a:t>Business processes refer to:</a:t>
            </a:r>
          </a:p>
          <a:p>
            <a:pPr lvl="1">
              <a:defRPr sz="2000">
                <a:solidFill>
                  <a:srgbClr val="000000"/>
                </a:solidFill>
                <a:latin typeface="Garamond"/>
              </a:defRPr>
            </a:pPr>
            <a:r>
              <a:rPr lang="en-US" altLang="zh-TW" sz="2000" dirty="0"/>
              <a:t>The way work is organized, coordinated, and focused to produce a valuable product or service.</a:t>
            </a:r>
          </a:p>
          <a:p>
            <a:pPr lvl="1">
              <a:defRPr sz="2000">
                <a:solidFill>
                  <a:srgbClr val="000000"/>
                </a:solidFill>
                <a:latin typeface="Garamond"/>
              </a:defRPr>
            </a:pPr>
            <a:r>
              <a:rPr lang="en-US" altLang="zh-TW" sz="2000" dirty="0"/>
              <a:t>The collection of activities required to create that product or service.</a:t>
            </a:r>
          </a:p>
          <a:p>
            <a:pPr lvl="4">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Business processes are supported by flows of material, information, and knowledge among participants.</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overall performance of an organization largely depends on how well its business processes are designed and coordinated.</a:t>
            </a:r>
          </a:p>
          <a:p>
            <a:pPr lvl="1">
              <a:defRPr sz="2000">
                <a:solidFill>
                  <a:srgbClr val="000000"/>
                </a:solidFill>
                <a:latin typeface="Garamond"/>
              </a:defRPr>
            </a:pPr>
            <a:r>
              <a:rPr lang="en-US" altLang="zh-TW" sz="2000" dirty="0"/>
              <a:t>When done well, they are essential assets.</a:t>
            </a:r>
          </a:p>
          <a:p>
            <a:pPr lvl="1">
              <a:defRPr sz="2000">
                <a:solidFill>
                  <a:srgbClr val="000000"/>
                </a:solidFill>
                <a:latin typeface="Garamond"/>
              </a:defRPr>
            </a:pPr>
            <a:r>
              <a:rPr lang="en-US" altLang="zh-TW" sz="2000" dirty="0"/>
              <a:t>When poorly designed, they can become liabilities.</a:t>
            </a:r>
          </a:p>
          <a:p>
            <a:pPr lvl="3">
              <a:defRPr sz="2000">
                <a:solidFill>
                  <a:srgbClr val="000000"/>
                </a:solidFill>
                <a:latin typeface="Garamond"/>
              </a:defRPr>
            </a:pPr>
            <a:endParaRPr lang="en-US" altLang="zh-TW" sz="1200" dirty="0"/>
          </a:p>
        </p:txBody>
      </p:sp>
      <p:sp>
        <p:nvSpPr>
          <p:cNvPr id="4" name="Rectangle 3">
            <a:extLst>
              <a:ext uri="{FF2B5EF4-FFF2-40B4-BE49-F238E27FC236}">
                <a16:creationId xmlns:a16="http://schemas.microsoft.com/office/drawing/2014/main" id="{EB7F8D10-BDB6-A3B1-C66D-3AAD06B37E30}"/>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11ED87-11C7-E07A-360C-C69F65EDD607}"/>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Understanding the Business Process</a:t>
            </a:r>
          </a:p>
        </p:txBody>
      </p:sp>
      <p:sp>
        <p:nvSpPr>
          <p:cNvPr id="5" name="Rectangle 4">
            <a:extLst>
              <a:ext uri="{FF2B5EF4-FFF2-40B4-BE49-F238E27FC236}">
                <a16:creationId xmlns:a16="http://schemas.microsoft.com/office/drawing/2014/main" id="{E8DA463A-E4AE-D67D-E769-807CD9E1890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AD2F9F19-8B6A-699A-698A-67E99D9D88AA}"/>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E92A4FA5-9191-0EBF-702D-330CA4BD6763}"/>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2478314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A545F7-7349-76F1-272B-2678BAC48C2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4CA3EDF-8E12-5220-44B2-3DC57C03F0F1}"/>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9357FED-B932-D011-83EC-99F950FEFC2F}"/>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Understanding the Business Process</a:t>
            </a:r>
          </a:p>
        </p:txBody>
      </p:sp>
      <p:sp>
        <p:nvSpPr>
          <p:cNvPr id="5" name="Rectangle 4">
            <a:extLst>
              <a:ext uri="{FF2B5EF4-FFF2-40B4-BE49-F238E27FC236}">
                <a16:creationId xmlns:a16="http://schemas.microsoft.com/office/drawing/2014/main" id="{C566A950-AA1C-24A7-14D7-34720504C930}"/>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F880676F-5F87-31DE-41B4-E11546A84BCA}"/>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6094DF06-F90E-5E04-83E3-FE9CC677549F}"/>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5</a:t>
            </a:fld>
            <a:r>
              <a:rPr lang="en-US" b="1" dirty="0">
                <a:solidFill>
                  <a:schemeClr val="bg1"/>
                </a:solidFill>
                <a:latin typeface="Garamond" panose="02020404030301010803" pitchFamily="18" charset="0"/>
              </a:rPr>
              <a:t> </a:t>
            </a:r>
          </a:p>
        </p:txBody>
      </p:sp>
      <p:sp>
        <p:nvSpPr>
          <p:cNvPr id="9" name="Content Placeholder 2">
            <a:extLst>
              <a:ext uri="{FF2B5EF4-FFF2-40B4-BE49-F238E27FC236}">
                <a16:creationId xmlns:a16="http://schemas.microsoft.com/office/drawing/2014/main" id="{E256ACFC-C42A-A8C3-E3EF-33F21D4331C5}"/>
              </a:ext>
            </a:extLst>
          </p:cNvPr>
          <p:cNvSpPr txBox="1">
            <a:spLocks/>
          </p:cNvSpPr>
          <p:nvPr/>
        </p:nvSpPr>
        <p:spPr>
          <a:xfrm>
            <a:off x="457199" y="1300900"/>
            <a:ext cx="11189855" cy="5081046"/>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altLang="zh-TW" sz="2400" dirty="0">
                <a:solidFill>
                  <a:srgbClr val="000000"/>
                </a:solidFill>
                <a:latin typeface="Garamond"/>
              </a:rPr>
              <a:t>Many business processes fall within distinct functional areas.</a:t>
            </a:r>
          </a:p>
          <a:p>
            <a:pPr>
              <a:defRPr sz="2000">
                <a:solidFill>
                  <a:srgbClr val="000000"/>
                </a:solidFill>
                <a:latin typeface="Garamond"/>
              </a:defRPr>
            </a:pPr>
            <a:endParaRPr lang="en-US" altLang="zh-TW" sz="2400" dirty="0">
              <a:solidFill>
                <a:srgbClr val="000000"/>
              </a:solidFill>
              <a:latin typeface="Garamond"/>
            </a:endParaRPr>
          </a:p>
          <a:p>
            <a:pPr>
              <a:defRPr sz="2000">
                <a:solidFill>
                  <a:srgbClr val="000000"/>
                </a:solidFill>
                <a:latin typeface="Garamond"/>
              </a:defRPr>
            </a:pPr>
            <a:endParaRPr lang="en-US" altLang="zh-TW" sz="1600" dirty="0">
              <a:solidFill>
                <a:srgbClr val="000000"/>
              </a:solidFill>
              <a:latin typeface="Garamond"/>
            </a:endParaRPr>
          </a:p>
          <a:p>
            <a:pPr>
              <a:defRPr sz="2000">
                <a:solidFill>
                  <a:srgbClr val="000000"/>
                </a:solidFill>
                <a:latin typeface="Garamond"/>
              </a:defRPr>
            </a:pPr>
            <a:endParaRPr lang="en-US" altLang="zh-TW" sz="1600" dirty="0">
              <a:solidFill>
                <a:srgbClr val="000000"/>
              </a:solidFill>
              <a:latin typeface="Garamond"/>
            </a:endParaRPr>
          </a:p>
          <a:p>
            <a:pPr>
              <a:defRPr sz="2000">
                <a:solidFill>
                  <a:srgbClr val="000000"/>
                </a:solidFill>
                <a:latin typeface="Garamond"/>
              </a:defRPr>
            </a:pPr>
            <a:endParaRPr lang="en-US" altLang="zh-TW" sz="2400" dirty="0">
              <a:solidFill>
                <a:srgbClr val="000000"/>
              </a:solidFill>
              <a:latin typeface="Garamond"/>
            </a:endParaRPr>
          </a:p>
          <a:p>
            <a:pPr>
              <a:defRPr sz="2000">
                <a:solidFill>
                  <a:srgbClr val="000000"/>
                </a:solidFill>
                <a:latin typeface="Garamond"/>
              </a:defRPr>
            </a:pPr>
            <a:endParaRPr lang="en-US" altLang="zh-TW" sz="2400" dirty="0">
              <a:solidFill>
                <a:srgbClr val="000000"/>
              </a:solidFill>
              <a:latin typeface="Garamond"/>
            </a:endParaRPr>
          </a:p>
          <a:p>
            <a:pPr>
              <a:defRPr sz="2000">
                <a:solidFill>
                  <a:srgbClr val="000000"/>
                </a:solidFill>
                <a:latin typeface="Garamond"/>
              </a:defRPr>
            </a:pPr>
            <a:endParaRPr lang="en-US" altLang="zh-TW" sz="2400" dirty="0">
              <a:solidFill>
                <a:srgbClr val="000000"/>
              </a:solidFill>
              <a:latin typeface="Garamond"/>
            </a:endParaRPr>
          </a:p>
          <a:p>
            <a:pPr>
              <a:defRPr sz="2000">
                <a:solidFill>
                  <a:srgbClr val="000000"/>
                </a:solidFill>
                <a:latin typeface="Garamond"/>
              </a:defRPr>
            </a:pPr>
            <a:endParaRPr lang="en-US" altLang="zh-TW" sz="2400" dirty="0">
              <a:solidFill>
                <a:srgbClr val="000000"/>
              </a:solidFill>
              <a:latin typeface="Garamond"/>
            </a:endParaRPr>
          </a:p>
          <a:p>
            <a:pPr>
              <a:defRPr sz="2000">
                <a:solidFill>
                  <a:srgbClr val="000000"/>
                </a:solidFill>
                <a:latin typeface="Garamond"/>
              </a:defRPr>
            </a:pPr>
            <a:endParaRPr lang="en-US" altLang="zh-TW" sz="2400" dirty="0">
              <a:solidFill>
                <a:srgbClr val="000000"/>
              </a:solidFill>
              <a:latin typeface="Garamond"/>
            </a:endParaRPr>
          </a:p>
          <a:p>
            <a:pPr>
              <a:defRPr sz="2000">
                <a:solidFill>
                  <a:srgbClr val="000000"/>
                </a:solidFill>
                <a:latin typeface="Garamond"/>
              </a:defRPr>
            </a:pPr>
            <a:endParaRPr lang="en-US" altLang="zh-TW" sz="2400" dirty="0">
              <a:solidFill>
                <a:srgbClr val="000000"/>
              </a:solidFill>
              <a:latin typeface="Garamond"/>
            </a:endParaRPr>
          </a:p>
          <a:p>
            <a:pPr>
              <a:defRPr sz="2000">
                <a:solidFill>
                  <a:srgbClr val="000000"/>
                </a:solidFill>
                <a:latin typeface="Garamond"/>
              </a:defRPr>
            </a:pPr>
            <a:endParaRPr lang="en-US" altLang="zh-TW" sz="2400" dirty="0">
              <a:solidFill>
                <a:srgbClr val="000000"/>
              </a:solidFill>
              <a:latin typeface="Garamond"/>
            </a:endParaRPr>
          </a:p>
          <a:p>
            <a:pPr>
              <a:defRPr sz="2000">
                <a:solidFill>
                  <a:srgbClr val="000000"/>
                </a:solidFill>
                <a:latin typeface="Garamond"/>
              </a:defRPr>
            </a:pPr>
            <a:r>
              <a:rPr lang="en-US" altLang="zh-TW" sz="2400" dirty="0">
                <a:solidFill>
                  <a:srgbClr val="000000"/>
                </a:solidFill>
                <a:latin typeface="Garamond"/>
              </a:rPr>
              <a:t>At the same time, some processes cut across multiple functional areas.</a:t>
            </a:r>
          </a:p>
        </p:txBody>
      </p:sp>
      <p:graphicFrame>
        <p:nvGraphicFramePr>
          <p:cNvPr id="8" name="Content Placeholder 7">
            <a:extLst>
              <a:ext uri="{FF2B5EF4-FFF2-40B4-BE49-F238E27FC236}">
                <a16:creationId xmlns:a16="http://schemas.microsoft.com/office/drawing/2014/main" id="{007369B2-6C40-21B2-E13F-68551CDC5DE5}"/>
              </a:ext>
            </a:extLst>
          </p:cNvPr>
          <p:cNvGraphicFramePr>
            <a:graphicFrameLocks noGrp="1"/>
          </p:cNvGraphicFramePr>
          <p:nvPr>
            <p:ph idx="1"/>
            <p:extLst>
              <p:ext uri="{D42A27DB-BD31-4B8C-83A1-F6EECF244321}">
                <p14:modId xmlns:p14="http://schemas.microsoft.com/office/powerpoint/2010/main" val="3147551174"/>
              </p:ext>
            </p:extLst>
          </p:nvPr>
        </p:nvGraphicFramePr>
        <p:xfrm>
          <a:off x="1979611" y="1799771"/>
          <a:ext cx="8229600" cy="4028440"/>
        </p:xfrm>
        <a:graphic>
          <a:graphicData uri="http://schemas.openxmlformats.org/drawingml/2006/table">
            <a:tbl>
              <a:tblPr firstRow="1" bandRow="1">
                <a:tableStyleId>{5C22544A-7EE6-4342-B048-85BDC9FD1C3A}</a:tableStyleId>
              </a:tblPr>
              <a:tblGrid>
                <a:gridCol w="2944368">
                  <a:extLst>
                    <a:ext uri="{9D8B030D-6E8A-4147-A177-3AD203B41FA5}">
                      <a16:colId xmlns:a16="http://schemas.microsoft.com/office/drawing/2014/main" val="2387890532"/>
                    </a:ext>
                  </a:extLst>
                </a:gridCol>
                <a:gridCol w="5285232">
                  <a:extLst>
                    <a:ext uri="{9D8B030D-6E8A-4147-A177-3AD203B41FA5}">
                      <a16:colId xmlns:a16="http://schemas.microsoft.com/office/drawing/2014/main" val="3952291820"/>
                    </a:ext>
                  </a:extLst>
                </a:gridCol>
              </a:tblGrid>
              <a:tr h="370840">
                <a:tc>
                  <a:txBody>
                    <a:bodyPr/>
                    <a:lstStyle/>
                    <a:p>
                      <a:r>
                        <a:rPr lang="en-US" dirty="0">
                          <a:latin typeface="Garamond" panose="02020404030301010803" pitchFamily="18" charset="0"/>
                        </a:rPr>
                        <a:t>Functional Area</a:t>
                      </a:r>
                    </a:p>
                  </a:txBody>
                  <a:tcPr>
                    <a:solidFill>
                      <a:srgbClr val="77122C"/>
                    </a:solidFill>
                  </a:tcPr>
                </a:tc>
                <a:tc>
                  <a:txBody>
                    <a:bodyPr/>
                    <a:lstStyle/>
                    <a:p>
                      <a:r>
                        <a:rPr lang="en-US" dirty="0">
                          <a:latin typeface="Garamond" panose="02020404030301010803" pitchFamily="18" charset="0"/>
                        </a:rPr>
                        <a:t>Business Process</a:t>
                      </a:r>
                    </a:p>
                  </a:txBody>
                  <a:tcPr>
                    <a:solidFill>
                      <a:srgbClr val="77122C"/>
                    </a:solidFill>
                  </a:tcPr>
                </a:tc>
                <a:extLst>
                  <a:ext uri="{0D108BD9-81ED-4DB2-BD59-A6C34878D82A}">
                    <a16:rowId xmlns:a16="http://schemas.microsoft.com/office/drawing/2014/main" val="3641092192"/>
                  </a:ext>
                </a:extLst>
              </a:tr>
              <a:tr h="370840">
                <a:tc>
                  <a:txBody>
                    <a:bodyPr/>
                    <a:lstStyle/>
                    <a:p>
                      <a:r>
                        <a:rPr lang="en-US" dirty="0">
                          <a:latin typeface="Garamond" panose="02020404030301010803" pitchFamily="18" charset="0"/>
                        </a:rPr>
                        <a:t>Manufacturing &amp; Production</a:t>
                      </a:r>
                    </a:p>
                  </a:txBody>
                  <a:tcPr/>
                </a:tc>
                <a:tc>
                  <a:txBody>
                    <a:bodyPr/>
                    <a:lstStyle/>
                    <a:p>
                      <a:pPr marL="285750" indent="-285750">
                        <a:buFontTx/>
                        <a:buChar char="-"/>
                      </a:pPr>
                      <a:r>
                        <a:rPr lang="en-US" dirty="0">
                          <a:latin typeface="Garamond" panose="02020404030301010803" pitchFamily="18" charset="0"/>
                        </a:rPr>
                        <a:t>Assembling the product</a:t>
                      </a:r>
                    </a:p>
                    <a:p>
                      <a:pPr marL="285750" indent="-285750">
                        <a:buFontTx/>
                        <a:buChar char="-"/>
                      </a:pPr>
                      <a:r>
                        <a:rPr lang="en-US" dirty="0">
                          <a:latin typeface="Garamond" panose="02020404030301010803" pitchFamily="18" charset="0"/>
                        </a:rPr>
                        <a:t>Conducting quality checks</a:t>
                      </a:r>
                    </a:p>
                    <a:p>
                      <a:pPr marL="285750" indent="-285750">
                        <a:buFontTx/>
                        <a:buChar char="-"/>
                      </a:pPr>
                      <a:r>
                        <a:rPr lang="en-US" dirty="0">
                          <a:latin typeface="Garamond" panose="02020404030301010803" pitchFamily="18" charset="0"/>
                        </a:rPr>
                        <a:t>Producing bills of materials</a:t>
                      </a:r>
                    </a:p>
                  </a:txBody>
                  <a:tcPr/>
                </a:tc>
                <a:extLst>
                  <a:ext uri="{0D108BD9-81ED-4DB2-BD59-A6C34878D82A}">
                    <a16:rowId xmlns:a16="http://schemas.microsoft.com/office/drawing/2014/main" val="1511411718"/>
                  </a:ext>
                </a:extLst>
              </a:tr>
              <a:tr h="370840">
                <a:tc>
                  <a:txBody>
                    <a:bodyPr/>
                    <a:lstStyle/>
                    <a:p>
                      <a:r>
                        <a:rPr lang="en-US" dirty="0">
                          <a:latin typeface="Garamond" panose="02020404030301010803" pitchFamily="18" charset="0"/>
                        </a:rPr>
                        <a:t>Sales &amp; Marketing</a:t>
                      </a:r>
                    </a:p>
                  </a:txBody>
                  <a:tcPr/>
                </a:tc>
                <a:tc>
                  <a:txBody>
                    <a:bodyPr/>
                    <a:lstStyle/>
                    <a:p>
                      <a:pPr marL="285750" indent="-285750">
                        <a:buFontTx/>
                        <a:buChar char="-"/>
                      </a:pPr>
                      <a:r>
                        <a:rPr lang="en-US" dirty="0">
                          <a:latin typeface="Garamond" panose="02020404030301010803" pitchFamily="18" charset="0"/>
                        </a:rPr>
                        <a:t>Identifying customers</a:t>
                      </a:r>
                    </a:p>
                    <a:p>
                      <a:pPr marL="285750" indent="-285750">
                        <a:buFontTx/>
                        <a:buChar char="-"/>
                      </a:pPr>
                      <a:r>
                        <a:rPr lang="en-US" dirty="0">
                          <a:latin typeface="Garamond" panose="02020404030301010803" pitchFamily="18" charset="0"/>
                        </a:rPr>
                        <a:t>Making customers aware of the firm’s product</a:t>
                      </a:r>
                    </a:p>
                    <a:p>
                      <a:pPr marL="285750" indent="-285750">
                        <a:buFontTx/>
                        <a:buChar char="-"/>
                      </a:pPr>
                      <a:r>
                        <a:rPr lang="en-US" dirty="0">
                          <a:latin typeface="Garamond" panose="02020404030301010803" pitchFamily="18" charset="0"/>
                        </a:rPr>
                        <a:t>Selling the product</a:t>
                      </a:r>
                    </a:p>
                  </a:txBody>
                  <a:tcPr/>
                </a:tc>
                <a:extLst>
                  <a:ext uri="{0D108BD9-81ED-4DB2-BD59-A6C34878D82A}">
                    <a16:rowId xmlns:a16="http://schemas.microsoft.com/office/drawing/2014/main" val="693626088"/>
                  </a:ext>
                </a:extLst>
              </a:tr>
              <a:tr h="370840">
                <a:tc>
                  <a:txBody>
                    <a:bodyPr/>
                    <a:lstStyle/>
                    <a:p>
                      <a:r>
                        <a:rPr lang="en-US" dirty="0">
                          <a:latin typeface="Garamond" panose="02020404030301010803" pitchFamily="18" charset="0"/>
                        </a:rPr>
                        <a:t>Finance &amp; Accounting</a:t>
                      </a:r>
                    </a:p>
                  </a:txBody>
                  <a:tcPr/>
                </a:tc>
                <a:tc>
                  <a:txBody>
                    <a:bodyPr/>
                    <a:lstStyle/>
                    <a:p>
                      <a:pPr marL="285750" indent="-285750">
                        <a:buFontTx/>
                        <a:buChar char="-"/>
                      </a:pPr>
                      <a:r>
                        <a:rPr lang="en-US" dirty="0">
                          <a:latin typeface="Garamond" panose="02020404030301010803" pitchFamily="18" charset="0"/>
                        </a:rPr>
                        <a:t>Paying creditors</a:t>
                      </a:r>
                    </a:p>
                    <a:p>
                      <a:pPr marL="285750" indent="-285750">
                        <a:buFontTx/>
                        <a:buChar char="-"/>
                      </a:pPr>
                      <a:r>
                        <a:rPr lang="en-US" dirty="0">
                          <a:latin typeface="Garamond" panose="02020404030301010803" pitchFamily="18" charset="0"/>
                        </a:rPr>
                        <a:t>Creating financial statements</a:t>
                      </a:r>
                    </a:p>
                    <a:p>
                      <a:pPr marL="285750" indent="-285750">
                        <a:buFontTx/>
                        <a:buChar char="-"/>
                      </a:pPr>
                      <a:r>
                        <a:rPr lang="en-US" dirty="0">
                          <a:latin typeface="Garamond" panose="02020404030301010803" pitchFamily="18" charset="0"/>
                        </a:rPr>
                        <a:t>Managing cash accounts</a:t>
                      </a:r>
                    </a:p>
                  </a:txBody>
                  <a:tcPr/>
                </a:tc>
                <a:extLst>
                  <a:ext uri="{0D108BD9-81ED-4DB2-BD59-A6C34878D82A}">
                    <a16:rowId xmlns:a16="http://schemas.microsoft.com/office/drawing/2014/main" val="611297328"/>
                  </a:ext>
                </a:extLst>
              </a:tr>
              <a:tr h="370840">
                <a:tc>
                  <a:txBody>
                    <a:bodyPr/>
                    <a:lstStyle/>
                    <a:p>
                      <a:r>
                        <a:rPr lang="en-US" dirty="0">
                          <a:latin typeface="Garamond" panose="02020404030301010803" pitchFamily="18" charset="0"/>
                        </a:rPr>
                        <a:t>Human Resources</a:t>
                      </a:r>
                    </a:p>
                  </a:txBody>
                  <a:tcPr/>
                </a:tc>
                <a:tc>
                  <a:txBody>
                    <a:bodyPr/>
                    <a:lstStyle/>
                    <a:p>
                      <a:pPr marL="285750" indent="-285750">
                        <a:buFontTx/>
                        <a:buChar char="-"/>
                      </a:pPr>
                      <a:r>
                        <a:rPr lang="en-US" dirty="0">
                          <a:latin typeface="Garamond" panose="02020404030301010803" pitchFamily="18" charset="0"/>
                        </a:rPr>
                        <a:t>Hiring employees</a:t>
                      </a:r>
                    </a:p>
                    <a:p>
                      <a:pPr marL="285750" indent="-285750">
                        <a:buFontTx/>
                        <a:buChar char="-"/>
                      </a:pPr>
                      <a:r>
                        <a:rPr lang="en-US" dirty="0">
                          <a:latin typeface="Garamond" panose="02020404030301010803" pitchFamily="18" charset="0"/>
                        </a:rPr>
                        <a:t>Evaluating employees’ performance</a:t>
                      </a:r>
                    </a:p>
                    <a:p>
                      <a:pPr marL="285750" indent="-285750">
                        <a:buFontTx/>
                        <a:buChar char="-"/>
                      </a:pPr>
                      <a:r>
                        <a:rPr lang="en-US" dirty="0">
                          <a:latin typeface="Garamond" panose="02020404030301010803" pitchFamily="18" charset="0"/>
                        </a:rPr>
                        <a:t>Enrolling employees in benefit plans</a:t>
                      </a:r>
                    </a:p>
                  </a:txBody>
                  <a:tcPr/>
                </a:tc>
                <a:extLst>
                  <a:ext uri="{0D108BD9-81ED-4DB2-BD59-A6C34878D82A}">
                    <a16:rowId xmlns:a16="http://schemas.microsoft.com/office/drawing/2014/main" val="1466160607"/>
                  </a:ext>
                </a:extLst>
              </a:tr>
            </a:tbl>
          </a:graphicData>
        </a:graphic>
      </p:graphicFrame>
    </p:spTree>
    <p:extLst>
      <p:ext uri="{BB962C8B-B14F-4D97-AF65-F5344CB8AC3E}">
        <p14:creationId xmlns:p14="http://schemas.microsoft.com/office/powerpoint/2010/main" val="1432542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9">
                                            <p:txEl>
                                              <p:pRg st="11" end="11"/>
                                            </p:txEl>
                                          </p:spTgt>
                                        </p:tgtEl>
                                        <p:attrNameLst>
                                          <p:attrName>style.visibility</p:attrName>
                                        </p:attrNameLst>
                                      </p:cBhvr>
                                      <p:to>
                                        <p:strVal val="visible"/>
                                      </p:to>
                                    </p:set>
                                    <p:animEffect transition="in" filter="fade">
                                      <p:cBhvr>
                                        <p:cTn id="15"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F65EF-F31D-71C8-EA33-24F2D6DC7A1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0DD0B2E-DE6C-3985-60C9-A94065C24FE1}"/>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B326E23-AA38-327B-AF16-1C9B058D4D5A}"/>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Understanding the Business Process</a:t>
            </a:r>
          </a:p>
        </p:txBody>
      </p:sp>
      <p:sp>
        <p:nvSpPr>
          <p:cNvPr id="5" name="Rectangle 4">
            <a:extLst>
              <a:ext uri="{FF2B5EF4-FFF2-40B4-BE49-F238E27FC236}">
                <a16:creationId xmlns:a16="http://schemas.microsoft.com/office/drawing/2014/main" id="{EA6EB3B8-CA88-A5E2-2349-E17353E8506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CCE50E1E-3A41-F90D-A4A2-07251F827917}"/>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599983EA-1817-62A4-542E-45D2633BC997}"/>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6</a:t>
            </a:fld>
            <a:r>
              <a:rPr lang="en-US" b="1" dirty="0">
                <a:solidFill>
                  <a:schemeClr val="bg1"/>
                </a:solidFill>
                <a:latin typeface="Garamond" panose="02020404030301010803" pitchFamily="18" charset="0"/>
              </a:rPr>
              <a:t> </a:t>
            </a:r>
          </a:p>
        </p:txBody>
      </p:sp>
      <p:sp>
        <p:nvSpPr>
          <p:cNvPr id="9" name="Content Placeholder 2">
            <a:extLst>
              <a:ext uri="{FF2B5EF4-FFF2-40B4-BE49-F238E27FC236}">
                <a16:creationId xmlns:a16="http://schemas.microsoft.com/office/drawing/2014/main" id="{C9C27C04-833A-8BB7-687A-3B92B49F3788}"/>
              </a:ext>
            </a:extLst>
          </p:cNvPr>
          <p:cNvSpPr txBox="1">
            <a:spLocks/>
          </p:cNvSpPr>
          <p:nvPr/>
        </p:nvSpPr>
        <p:spPr>
          <a:xfrm>
            <a:off x="7690716" y="1300900"/>
            <a:ext cx="3956338" cy="5081046"/>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altLang="zh-TW" sz="2400" dirty="0">
                <a:solidFill>
                  <a:srgbClr val="000000"/>
                </a:solidFill>
                <a:latin typeface="Garamond"/>
              </a:rPr>
              <a:t>Consider the process of filling a customer order.</a:t>
            </a:r>
            <a:endParaRPr lang="en-US" altLang="zh-TW" sz="1200" dirty="0">
              <a:solidFill>
                <a:srgbClr val="000000"/>
              </a:solidFill>
              <a:latin typeface="Garamond"/>
            </a:endParaRPr>
          </a:p>
          <a:p>
            <a:pPr marL="914400" lvl="1" indent="-457200">
              <a:buFont typeface="+mj-lt"/>
              <a:buAutoNum type="arabicPeriod"/>
              <a:defRPr sz="2000">
                <a:solidFill>
                  <a:srgbClr val="000000"/>
                </a:solidFill>
                <a:latin typeface="Garamond"/>
              </a:defRPr>
            </a:pPr>
            <a:r>
              <a:rPr lang="en-US" altLang="zh-TW" sz="2000" dirty="0">
                <a:solidFill>
                  <a:srgbClr val="000000"/>
                </a:solidFill>
                <a:latin typeface="Garamond"/>
              </a:rPr>
              <a:t>Sales receives the order.</a:t>
            </a:r>
            <a:endParaRPr lang="en-US" altLang="zh-TW" sz="1200" dirty="0">
              <a:solidFill>
                <a:srgbClr val="000000"/>
              </a:solidFill>
              <a:latin typeface="Garamond"/>
            </a:endParaRPr>
          </a:p>
          <a:p>
            <a:pPr marL="914400" lvl="1" indent="-457200">
              <a:buFont typeface="+mj-lt"/>
              <a:buAutoNum type="arabicPeriod"/>
              <a:defRPr sz="2000">
                <a:solidFill>
                  <a:srgbClr val="000000"/>
                </a:solidFill>
                <a:latin typeface="Garamond"/>
              </a:defRPr>
            </a:pPr>
            <a:r>
              <a:rPr lang="en-US" altLang="zh-TW" sz="2000" dirty="0">
                <a:solidFill>
                  <a:srgbClr val="000000"/>
                </a:solidFill>
                <a:latin typeface="Garamond"/>
              </a:rPr>
              <a:t>Accounting verifies that the customer is creditworthy.</a:t>
            </a:r>
          </a:p>
          <a:p>
            <a:pPr marL="914400" lvl="1" indent="-457200">
              <a:buFont typeface="+mj-lt"/>
              <a:buAutoNum type="arabicPeriod"/>
              <a:defRPr sz="2000">
                <a:solidFill>
                  <a:srgbClr val="000000"/>
                </a:solidFill>
                <a:latin typeface="Garamond"/>
              </a:defRPr>
            </a:pPr>
            <a:r>
              <a:rPr lang="en-US" altLang="zh-TW" sz="2000" dirty="0">
                <a:solidFill>
                  <a:srgbClr val="000000"/>
                </a:solidFill>
                <a:latin typeface="Garamond"/>
              </a:rPr>
              <a:t>Production assembles and ships the product.</a:t>
            </a:r>
            <a:endParaRPr lang="en-US" altLang="zh-TW" sz="1200" dirty="0">
              <a:solidFill>
                <a:srgbClr val="000000"/>
              </a:solidFill>
              <a:latin typeface="Garamond"/>
            </a:endParaRPr>
          </a:p>
          <a:p>
            <a:pPr marL="914400" lvl="1" indent="-457200">
              <a:buFont typeface="+mj-lt"/>
              <a:buAutoNum type="arabicPeriod"/>
              <a:defRPr sz="2000">
                <a:solidFill>
                  <a:srgbClr val="000000"/>
                </a:solidFill>
                <a:latin typeface="Garamond"/>
              </a:defRPr>
            </a:pPr>
            <a:r>
              <a:rPr lang="en-US" altLang="zh-TW" sz="2000" dirty="0">
                <a:solidFill>
                  <a:srgbClr val="000000"/>
                </a:solidFill>
                <a:latin typeface="Garamond"/>
              </a:rPr>
              <a:t>Sales and Accounting are notified for follow-up.</a:t>
            </a:r>
          </a:p>
          <a:p>
            <a:pPr marL="914400" lvl="1" indent="-457200">
              <a:buFont typeface="+mj-lt"/>
              <a:buAutoNum type="arabicPeriod"/>
              <a:defRPr sz="2000">
                <a:solidFill>
                  <a:srgbClr val="000000"/>
                </a:solidFill>
                <a:latin typeface="Garamond"/>
              </a:defRPr>
            </a:pPr>
            <a:r>
              <a:rPr lang="en-US" altLang="zh-TW" sz="2000" dirty="0">
                <a:solidFill>
                  <a:srgbClr val="000000"/>
                </a:solidFill>
                <a:latin typeface="Garamond"/>
              </a:rPr>
              <a:t>Accounting generates a bill or invoice.</a:t>
            </a:r>
          </a:p>
          <a:p>
            <a:pPr marL="914400" lvl="1" indent="-457200">
              <a:buFont typeface="+mj-lt"/>
              <a:buAutoNum type="arabicPeriod"/>
              <a:defRPr sz="2000">
                <a:solidFill>
                  <a:srgbClr val="000000"/>
                </a:solidFill>
                <a:latin typeface="Garamond"/>
              </a:defRPr>
            </a:pPr>
            <a:r>
              <a:rPr lang="en-US" altLang="zh-TW" sz="2000" dirty="0">
                <a:solidFill>
                  <a:srgbClr val="000000"/>
                </a:solidFill>
                <a:latin typeface="Garamond"/>
              </a:rPr>
              <a:t>Sales follows up with Q&amp;A.</a:t>
            </a:r>
          </a:p>
        </p:txBody>
      </p:sp>
      <p:pic>
        <p:nvPicPr>
          <p:cNvPr id="11" name="Picture 10" descr="An illustration explains the process followed to fulfil customer orders. Long description available in notes, press f6.">
            <a:extLst>
              <a:ext uri="{FF2B5EF4-FFF2-40B4-BE49-F238E27FC236}">
                <a16:creationId xmlns:a16="http://schemas.microsoft.com/office/drawing/2014/main" id="{4871ED33-3A10-8F35-015D-C40FD2B60E84}"/>
              </a:ext>
            </a:extLst>
          </p:cNvPr>
          <p:cNvPicPr>
            <a:picLocks noChangeAspect="1"/>
          </p:cNvPicPr>
          <p:nvPr/>
        </p:nvPicPr>
        <p:blipFill>
          <a:blip r:embed="rId3"/>
          <a:stretch>
            <a:fillRect/>
          </a:stretch>
        </p:blipFill>
        <p:spPr>
          <a:xfrm>
            <a:off x="541771" y="1300900"/>
            <a:ext cx="7148945" cy="4572000"/>
          </a:xfrm>
          <a:prstGeom prst="rect">
            <a:avLst/>
          </a:prstGeom>
        </p:spPr>
      </p:pic>
    </p:spTree>
    <p:extLst>
      <p:ext uri="{BB962C8B-B14F-4D97-AF65-F5344CB8AC3E}">
        <p14:creationId xmlns:p14="http://schemas.microsoft.com/office/powerpoint/2010/main" val="2329825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9">
                                            <p:txEl>
                                              <p:pRg st="1" end="1"/>
                                            </p:txEl>
                                          </p:spTgt>
                                        </p:tgtEl>
                                        <p:attrNameLst>
                                          <p:attrName>style.visibility</p:attrName>
                                        </p:attrNameLst>
                                      </p:cBhvr>
                                      <p:to>
                                        <p:strVal val="visible"/>
                                      </p:to>
                                    </p:set>
                                    <p:animEffect transition="in" filter="fade">
                                      <p:cBhvr>
                                        <p:cTn id="15" dur="500"/>
                                        <p:tgtEl>
                                          <p:spTgt spid="9">
                                            <p:txEl>
                                              <p:pRg st="1" end="1"/>
                                            </p:txEl>
                                          </p:spTgt>
                                        </p:tgtEl>
                                      </p:cBhvr>
                                    </p:animEffect>
                                  </p:childTnLst>
                                </p:cTn>
                              </p:par>
                            </p:childTnLst>
                          </p:cTn>
                        </p:par>
                        <p:par>
                          <p:cTn id="16" fill="hold">
                            <p:stCondLst>
                              <p:cond delay="500"/>
                            </p:stCondLst>
                            <p:childTnLst>
                              <p:par>
                                <p:cTn id="17" presetID="10" presetClass="entr" presetSubtype="0" fill="hold" nodeType="afterEffect">
                                  <p:stCondLst>
                                    <p:cond delay="0"/>
                                  </p:stCondLst>
                                  <p:childTnLst>
                                    <p:set>
                                      <p:cBhvr>
                                        <p:cTn id="18" dur="1" fill="hold">
                                          <p:stCondLst>
                                            <p:cond delay="0"/>
                                          </p:stCondLst>
                                        </p:cTn>
                                        <p:tgtEl>
                                          <p:spTgt spid="9">
                                            <p:txEl>
                                              <p:pRg st="2" end="2"/>
                                            </p:txEl>
                                          </p:spTgt>
                                        </p:tgtEl>
                                        <p:attrNameLst>
                                          <p:attrName>style.visibility</p:attrName>
                                        </p:attrNameLst>
                                      </p:cBhvr>
                                      <p:to>
                                        <p:strVal val="visible"/>
                                      </p:to>
                                    </p:set>
                                    <p:animEffect transition="in" filter="fade">
                                      <p:cBhvr>
                                        <p:cTn id="19" dur="500"/>
                                        <p:tgtEl>
                                          <p:spTgt spid="9">
                                            <p:txEl>
                                              <p:pRg st="2" end="2"/>
                                            </p:txEl>
                                          </p:spTgt>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500"/>
                                        <p:tgtEl>
                                          <p:spTgt spid="9">
                                            <p:txEl>
                                              <p:pRg st="3" end="3"/>
                                            </p:txEl>
                                          </p:spTgt>
                                        </p:tgtEl>
                                      </p:cBhvr>
                                    </p:animEffect>
                                  </p:childTnLst>
                                </p:cTn>
                              </p:par>
                            </p:childTnLst>
                          </p:cTn>
                        </p:par>
                        <p:par>
                          <p:cTn id="24" fill="hold">
                            <p:stCondLst>
                              <p:cond delay="1500"/>
                            </p:stCondLst>
                            <p:childTnLst>
                              <p:par>
                                <p:cTn id="25" presetID="10" presetClass="entr" presetSubtype="0" fill="hold" nodeType="afterEffect">
                                  <p:stCondLst>
                                    <p:cond delay="0"/>
                                  </p:stCondLst>
                                  <p:childTnLst>
                                    <p:set>
                                      <p:cBhvr>
                                        <p:cTn id="26" dur="1" fill="hold">
                                          <p:stCondLst>
                                            <p:cond delay="0"/>
                                          </p:stCondLst>
                                        </p:cTn>
                                        <p:tgtEl>
                                          <p:spTgt spid="9">
                                            <p:txEl>
                                              <p:pRg st="4" end="4"/>
                                            </p:txEl>
                                          </p:spTgt>
                                        </p:tgtEl>
                                        <p:attrNameLst>
                                          <p:attrName>style.visibility</p:attrName>
                                        </p:attrNameLst>
                                      </p:cBhvr>
                                      <p:to>
                                        <p:strVal val="visible"/>
                                      </p:to>
                                    </p:set>
                                    <p:animEffect transition="in" filter="fade">
                                      <p:cBhvr>
                                        <p:cTn id="27" dur="500"/>
                                        <p:tgtEl>
                                          <p:spTgt spid="9">
                                            <p:txEl>
                                              <p:pRg st="4" end="4"/>
                                            </p:txEl>
                                          </p:spTgt>
                                        </p:tgtEl>
                                      </p:cBhvr>
                                    </p:animEffect>
                                  </p:childTnLst>
                                </p:cTn>
                              </p:par>
                            </p:childTnLst>
                          </p:cTn>
                        </p:par>
                        <p:par>
                          <p:cTn id="28" fill="hold">
                            <p:stCondLst>
                              <p:cond delay="2000"/>
                            </p:stCondLst>
                            <p:childTnLst>
                              <p:par>
                                <p:cTn id="29" presetID="10" presetClass="entr" presetSubtype="0" fill="hold" nodeType="afterEffect">
                                  <p:stCondLst>
                                    <p:cond delay="0"/>
                                  </p:stCondLst>
                                  <p:childTnLst>
                                    <p:set>
                                      <p:cBhvr>
                                        <p:cTn id="30" dur="1" fill="hold">
                                          <p:stCondLst>
                                            <p:cond delay="0"/>
                                          </p:stCondLst>
                                        </p:cTn>
                                        <p:tgtEl>
                                          <p:spTgt spid="9">
                                            <p:txEl>
                                              <p:pRg st="5" end="5"/>
                                            </p:txEl>
                                          </p:spTgt>
                                        </p:tgtEl>
                                        <p:attrNameLst>
                                          <p:attrName>style.visibility</p:attrName>
                                        </p:attrNameLst>
                                      </p:cBhvr>
                                      <p:to>
                                        <p:strVal val="visible"/>
                                      </p:to>
                                    </p:set>
                                    <p:animEffect transition="in" filter="fade">
                                      <p:cBhvr>
                                        <p:cTn id="31" dur="500"/>
                                        <p:tgtEl>
                                          <p:spTgt spid="9">
                                            <p:txEl>
                                              <p:pRg st="5" end="5"/>
                                            </p:txEl>
                                          </p:spTgt>
                                        </p:tgtEl>
                                      </p:cBhvr>
                                    </p:animEffect>
                                  </p:childTnLst>
                                </p:cTn>
                              </p:par>
                            </p:childTnLst>
                          </p:cTn>
                        </p:par>
                        <p:par>
                          <p:cTn id="32" fill="hold">
                            <p:stCondLst>
                              <p:cond delay="2500"/>
                            </p:stCondLst>
                            <p:childTnLst>
                              <p:par>
                                <p:cTn id="33" presetID="10" presetClass="entr" presetSubtype="0" fill="hold" nodeType="afterEffect">
                                  <p:stCondLst>
                                    <p:cond delay="0"/>
                                  </p:stCondLst>
                                  <p:childTnLst>
                                    <p:set>
                                      <p:cBhvr>
                                        <p:cTn id="34" dur="1" fill="hold">
                                          <p:stCondLst>
                                            <p:cond delay="0"/>
                                          </p:stCondLst>
                                        </p:cTn>
                                        <p:tgtEl>
                                          <p:spTgt spid="9">
                                            <p:txEl>
                                              <p:pRg st="6" end="6"/>
                                            </p:txEl>
                                          </p:spTgt>
                                        </p:tgtEl>
                                        <p:attrNameLst>
                                          <p:attrName>style.visibility</p:attrName>
                                        </p:attrNameLst>
                                      </p:cBhvr>
                                      <p:to>
                                        <p:strVal val="visible"/>
                                      </p:to>
                                    </p:set>
                                    <p:animEffect transition="in" filter="fade">
                                      <p:cBhvr>
                                        <p:cTn id="35" dur="500"/>
                                        <p:tgtEl>
                                          <p:spTgt spid="9">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7306F-B7D7-EC3C-D281-2C8EE2977AB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57AE40-2787-D148-8F19-57A3ACCE2205}"/>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altLang="zh-TW" sz="2400" dirty="0"/>
              <a:t>Even a seemingly simple business process, such as filling a customer order, can involve many functional groups and require close coordination across departments.</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To make this more complex, suppose the firm receives orders through a third party (e.g., Amazon, eBay) and relies on an external shipping company (e.g., USPS, FedEx, UPS) to deliver the product.</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In this case, order fulfillment becomes both cross-functional and interorganizational.</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efficiency of such processes depends on well-functioning information systems that enable cooperation and coordination.</a:t>
            </a:r>
          </a:p>
        </p:txBody>
      </p:sp>
      <p:sp>
        <p:nvSpPr>
          <p:cNvPr id="4" name="Rectangle 3">
            <a:extLst>
              <a:ext uri="{FF2B5EF4-FFF2-40B4-BE49-F238E27FC236}">
                <a16:creationId xmlns:a16="http://schemas.microsoft.com/office/drawing/2014/main" id="{A93867A3-4630-0EB2-BB12-69D5B35F337D}"/>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C5DC7FA-4CDD-8DF1-2D50-FECE75ACA0B9}"/>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Understanding the Business Process</a:t>
            </a:r>
          </a:p>
        </p:txBody>
      </p:sp>
      <p:sp>
        <p:nvSpPr>
          <p:cNvPr id="5" name="Rectangle 4">
            <a:extLst>
              <a:ext uri="{FF2B5EF4-FFF2-40B4-BE49-F238E27FC236}">
                <a16:creationId xmlns:a16="http://schemas.microsoft.com/office/drawing/2014/main" id="{481ED5EE-3432-BFB8-B895-4E6FAC6DF3CF}"/>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BC607D85-3ACB-57E2-2C78-4843FD5E810A}"/>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7515559F-9E20-AB25-E151-9F184609FE8D}"/>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7</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70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7A5A9-AB45-6E96-EE92-219D237897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8227133-260C-6564-089C-8549725931A6}"/>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altLang="zh-TW" sz="2400" dirty="0"/>
              <a:t>Information systems can enhance business processes by </a:t>
            </a:r>
            <a:r>
              <a:rPr lang="en-US" altLang="zh-TW" sz="2400" b="1" dirty="0"/>
              <a:t>automating</a:t>
            </a:r>
            <a:r>
              <a:rPr lang="en-US" altLang="zh-TW" sz="2400" dirty="0"/>
              <a:t> steps that were previously handled manually.</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Example 1: Payroll Processing</a:t>
            </a:r>
          </a:p>
          <a:p>
            <a:pPr lvl="1">
              <a:defRPr sz="2000">
                <a:solidFill>
                  <a:srgbClr val="000000"/>
                </a:solidFill>
                <a:latin typeface="Garamond"/>
              </a:defRPr>
            </a:pPr>
            <a:r>
              <a:rPr lang="en-US" altLang="zh-TW" sz="2000" dirty="0"/>
              <a:t>Past: Employees filled out timesheets, payroll staff calculated wages and deductions by hand.</a:t>
            </a:r>
          </a:p>
          <a:p>
            <a:pPr lvl="1">
              <a:defRPr sz="2000">
                <a:solidFill>
                  <a:srgbClr val="000000"/>
                </a:solidFill>
                <a:latin typeface="Garamond"/>
              </a:defRPr>
            </a:pPr>
            <a:r>
              <a:rPr lang="en-US" altLang="zh-TW" sz="2000" dirty="0"/>
              <a:t>Now: Payroll software automatically calculates wages, taxes, and deposits.</a:t>
            </a:r>
          </a:p>
          <a:p>
            <a:pPr lvl="1">
              <a:defRPr sz="2000">
                <a:solidFill>
                  <a:srgbClr val="000000"/>
                </a:solidFill>
                <a:latin typeface="Garamond"/>
              </a:defRPr>
            </a:pPr>
            <a:r>
              <a:rPr lang="en-US" altLang="zh-TW" sz="2000" dirty="0"/>
              <a:t>Manual calculations are replaced by instant, automated processing.</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Example 2: Barcode Scanning at Checkout</a:t>
            </a:r>
          </a:p>
          <a:p>
            <a:pPr lvl="1">
              <a:defRPr sz="2000">
                <a:solidFill>
                  <a:srgbClr val="000000"/>
                </a:solidFill>
                <a:latin typeface="Garamond"/>
              </a:defRPr>
            </a:pPr>
            <a:r>
              <a:rPr lang="en-US" altLang="zh-TW" sz="2000" dirty="0"/>
              <a:t>Past: Cashiers manually entered product codes or prices.</a:t>
            </a:r>
          </a:p>
          <a:p>
            <a:pPr lvl="1">
              <a:defRPr sz="2000">
                <a:solidFill>
                  <a:srgbClr val="000000"/>
                </a:solidFill>
                <a:latin typeface="Garamond"/>
              </a:defRPr>
            </a:pPr>
            <a:r>
              <a:rPr lang="en-US" altLang="zh-TW" sz="2000" dirty="0"/>
              <a:t>Now: Scanning barcodes retrieves product details and updates totals instantly.</a:t>
            </a:r>
          </a:p>
          <a:p>
            <a:pPr lvl="1">
              <a:defRPr sz="2000">
                <a:solidFill>
                  <a:srgbClr val="000000"/>
                </a:solidFill>
                <a:latin typeface="Garamond"/>
              </a:defRPr>
            </a:pPr>
            <a:r>
              <a:rPr lang="en-US" altLang="zh-TW" sz="2000" dirty="0"/>
              <a:t>Manual data entry is replaced by automated recognition, reducing errors and speeding checkout.</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Other Examples: Airline e-ticketing, automated invoice generation, etc.</a:t>
            </a:r>
          </a:p>
        </p:txBody>
      </p:sp>
      <p:sp>
        <p:nvSpPr>
          <p:cNvPr id="4" name="Rectangle 3">
            <a:extLst>
              <a:ext uri="{FF2B5EF4-FFF2-40B4-BE49-F238E27FC236}">
                <a16:creationId xmlns:a16="http://schemas.microsoft.com/office/drawing/2014/main" id="{3F68606B-B0E0-789A-DDAB-E5DA2322EDA9}"/>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DD85FC-0B2D-B29A-8B27-5D50FFDCBD8A}"/>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How IS Enhances Business Processes</a:t>
            </a:r>
          </a:p>
        </p:txBody>
      </p:sp>
      <p:sp>
        <p:nvSpPr>
          <p:cNvPr id="5" name="Rectangle 4">
            <a:extLst>
              <a:ext uri="{FF2B5EF4-FFF2-40B4-BE49-F238E27FC236}">
                <a16:creationId xmlns:a16="http://schemas.microsoft.com/office/drawing/2014/main" id="{4DF9E290-B115-F281-4EBD-014AB36CC798}"/>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322B22F0-627A-9D31-4E56-68CF714C0238}"/>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5F79CA1A-E785-B25A-1BE1-0B5D1BFD1FAF}"/>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8</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540267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500"/>
                                        <p:tgtEl>
                                          <p:spTgt spid="3">
                                            <p:txEl>
                                              <p:pRg st="10" end="10"/>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12" end="12"/>
                                            </p:txEl>
                                          </p:spTgt>
                                        </p:tgtEl>
                                        <p:attrNameLst>
                                          <p:attrName>style.visibility</p:attrName>
                                        </p:attrNameLst>
                                      </p:cBhvr>
                                      <p:to>
                                        <p:strVal val="visible"/>
                                      </p:to>
                                    </p:set>
                                    <p:animEffect transition="in" filter="fade">
                                      <p:cBhvr>
                                        <p:cTn id="4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A4A5E-6FDD-4507-3B44-24164B9D229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687B9DD-82D3-CA13-0F41-BD15DE5ECD69}"/>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altLang="zh-TW" sz="2400" dirty="0"/>
              <a:t>IS can enhance business processes by </a:t>
            </a:r>
            <a:r>
              <a:rPr lang="en-US" altLang="zh-TW" sz="2400" b="1" dirty="0"/>
              <a:t>changing the flow of information</a:t>
            </a:r>
            <a:r>
              <a:rPr lang="en-US" altLang="zh-TW" sz="2400" dirty="0"/>
              <a:t>.</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Example 1: Online Order Tracking</a:t>
            </a:r>
          </a:p>
          <a:p>
            <a:pPr lvl="1">
              <a:defRPr sz="2000">
                <a:solidFill>
                  <a:srgbClr val="000000"/>
                </a:solidFill>
                <a:latin typeface="Garamond"/>
              </a:defRPr>
            </a:pPr>
            <a:r>
              <a:rPr lang="en-US" altLang="zh-TW" sz="2000" dirty="0"/>
              <a:t>Past: Customers called customer service to check package status.</a:t>
            </a:r>
          </a:p>
          <a:p>
            <a:pPr lvl="1">
              <a:defRPr sz="2000">
                <a:solidFill>
                  <a:srgbClr val="000000"/>
                </a:solidFill>
                <a:latin typeface="Garamond"/>
              </a:defRPr>
            </a:pPr>
            <a:r>
              <a:rPr lang="en-US" altLang="zh-TW" sz="2000" dirty="0"/>
              <a:t>Now: Shipping companies provide customers with direct online access to shipment data.</a:t>
            </a:r>
          </a:p>
          <a:p>
            <a:pPr lvl="1">
              <a:defRPr sz="2000">
                <a:solidFill>
                  <a:srgbClr val="000000"/>
                </a:solidFill>
                <a:latin typeface="Garamond"/>
              </a:defRPr>
            </a:pPr>
            <a:r>
              <a:rPr lang="en-US" altLang="zh-TW" sz="2000" dirty="0"/>
              <a:t>Information once shared only internally is now accessible to customers.</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Example 2: Electronic Medical Records (EMR)</a:t>
            </a:r>
          </a:p>
          <a:p>
            <a:pPr lvl="1">
              <a:defRPr sz="2000">
                <a:solidFill>
                  <a:srgbClr val="000000"/>
                </a:solidFill>
                <a:latin typeface="Garamond"/>
              </a:defRPr>
            </a:pPr>
            <a:r>
              <a:rPr lang="en-US" altLang="zh-TW" sz="2000" dirty="0"/>
              <a:t>Past: Patient health records were stored on paper, often in a single doctor’s office.</a:t>
            </a:r>
          </a:p>
          <a:p>
            <a:pPr lvl="1">
              <a:defRPr sz="2000">
                <a:solidFill>
                  <a:srgbClr val="000000"/>
                </a:solidFill>
                <a:latin typeface="Garamond"/>
              </a:defRPr>
            </a:pPr>
            <a:r>
              <a:rPr lang="en-US" altLang="zh-TW" sz="2000" dirty="0"/>
              <a:t>Now: Hospitals use EMRs accessible to multiple departments and patients.</a:t>
            </a:r>
          </a:p>
          <a:p>
            <a:pPr lvl="1">
              <a:defRPr sz="2000">
                <a:solidFill>
                  <a:srgbClr val="000000"/>
                </a:solidFill>
                <a:latin typeface="Garamond"/>
              </a:defRPr>
            </a:pPr>
            <a:r>
              <a:rPr lang="en-US" altLang="zh-TW" sz="2000" dirty="0"/>
              <a:t>Information moves seamlessly among doctors, labs, and patients.</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Other Examples: Airline check-in systems, retail point-of-sale and inventory systems, etc.</a:t>
            </a:r>
          </a:p>
        </p:txBody>
      </p:sp>
      <p:sp>
        <p:nvSpPr>
          <p:cNvPr id="4" name="Rectangle 3">
            <a:extLst>
              <a:ext uri="{FF2B5EF4-FFF2-40B4-BE49-F238E27FC236}">
                <a16:creationId xmlns:a16="http://schemas.microsoft.com/office/drawing/2014/main" id="{1EE528FC-5A37-AC0A-5FE1-3B93B09D3E9C}"/>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6D89964-7B44-D8DD-6D1F-0FDF8D9F2759}"/>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How IS Enhances Business Processes</a:t>
            </a:r>
          </a:p>
        </p:txBody>
      </p:sp>
      <p:sp>
        <p:nvSpPr>
          <p:cNvPr id="5" name="Rectangle 4">
            <a:extLst>
              <a:ext uri="{FF2B5EF4-FFF2-40B4-BE49-F238E27FC236}">
                <a16:creationId xmlns:a16="http://schemas.microsoft.com/office/drawing/2014/main" id="{5C375802-E656-89EF-4D3D-6C04ECFA02C3}"/>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8243D026-C047-F2D1-D1EB-6B0F1C56DF2D}"/>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4987C960-01DC-7166-3FD0-9DF36D09C087}"/>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9</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111336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500"/>
                                        <p:tgtEl>
                                          <p:spTgt spid="3">
                                            <p:txEl>
                                              <p:pRg st="10" end="10"/>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12" end="12"/>
                                            </p:txEl>
                                          </p:spTgt>
                                        </p:tgtEl>
                                        <p:attrNameLst>
                                          <p:attrName>style.visibility</p:attrName>
                                        </p:attrNameLst>
                                      </p:cBhvr>
                                      <p:to>
                                        <p:strVal val="visible"/>
                                      </p:to>
                                    </p:set>
                                    <p:animEffect transition="in" filter="fade">
                                      <p:cBhvr>
                                        <p:cTn id="4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FBF966-2B76-9EE8-6ABF-DD08D82960E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62E8DF-06DC-AE65-4E65-56AAD965E11B}"/>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altLang="zh-TW" sz="2400" dirty="0"/>
              <a:t>IS can enhance business processes by </a:t>
            </a:r>
            <a:r>
              <a:rPr lang="en-US" altLang="zh-TW" sz="2400" b="1" dirty="0"/>
              <a:t>creating new business models</a:t>
            </a:r>
            <a:r>
              <a:rPr lang="en-US" altLang="zh-TW" sz="2400" dirty="0"/>
              <a:t>.</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Example 1: Airbnb</a:t>
            </a:r>
          </a:p>
          <a:p>
            <a:pPr lvl="1">
              <a:defRPr sz="2000">
                <a:solidFill>
                  <a:srgbClr val="000000"/>
                </a:solidFill>
                <a:latin typeface="Garamond"/>
              </a:defRPr>
            </a:pPr>
            <a:r>
              <a:rPr lang="en-US" altLang="zh-TW" sz="2000" dirty="0"/>
              <a:t>Past: Travelers booked hotels through traditional travel agencies or hotel chains.</a:t>
            </a:r>
          </a:p>
          <a:p>
            <a:pPr lvl="1">
              <a:defRPr sz="2000">
                <a:solidFill>
                  <a:srgbClr val="000000"/>
                </a:solidFill>
                <a:latin typeface="Garamond"/>
              </a:defRPr>
            </a:pPr>
            <a:r>
              <a:rPr lang="en-US" altLang="zh-TW" sz="2000" dirty="0"/>
              <a:t>Now: Airbnb connects hosts and guests directly through an online platform.</a:t>
            </a:r>
          </a:p>
          <a:p>
            <a:pPr lvl="1">
              <a:defRPr sz="2000">
                <a:solidFill>
                  <a:srgbClr val="000000"/>
                </a:solidFill>
                <a:latin typeface="Garamond"/>
              </a:defRPr>
            </a:pPr>
            <a:r>
              <a:rPr lang="en-US" altLang="zh-TW" sz="2000" dirty="0"/>
              <a:t>Information systems enabled a peer-to-peer model that disrupted the hotel industry.</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Example 2: Amazon</a:t>
            </a:r>
          </a:p>
          <a:p>
            <a:pPr lvl="1">
              <a:defRPr sz="2000">
                <a:solidFill>
                  <a:srgbClr val="000000"/>
                </a:solidFill>
                <a:latin typeface="Garamond"/>
              </a:defRPr>
            </a:pPr>
            <a:r>
              <a:rPr lang="en-US" altLang="zh-TW" sz="2000" dirty="0"/>
              <a:t>Past: Retail shopping required visiting physical stores.</a:t>
            </a:r>
          </a:p>
          <a:p>
            <a:pPr lvl="1">
              <a:defRPr sz="2000">
                <a:solidFill>
                  <a:srgbClr val="000000"/>
                </a:solidFill>
                <a:latin typeface="Garamond"/>
              </a:defRPr>
            </a:pPr>
            <a:r>
              <a:rPr lang="en-US" altLang="zh-TW" sz="2000" dirty="0"/>
              <a:t>Now: Amazon allows customers to browse, purchase, and receive goods entirely online.</a:t>
            </a:r>
          </a:p>
          <a:p>
            <a:pPr lvl="1">
              <a:defRPr sz="2000">
                <a:solidFill>
                  <a:srgbClr val="000000"/>
                </a:solidFill>
                <a:latin typeface="Garamond"/>
              </a:defRPr>
            </a:pPr>
            <a:r>
              <a:rPr lang="en-US" altLang="zh-TW" sz="2000" dirty="0"/>
              <a:t>Information systems enabled a large-scale e-commerce model that transformed retail.</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Other Examples: Netflix, Uber, Spotify, etc.</a:t>
            </a:r>
          </a:p>
        </p:txBody>
      </p:sp>
      <p:sp>
        <p:nvSpPr>
          <p:cNvPr id="4" name="Rectangle 3">
            <a:extLst>
              <a:ext uri="{FF2B5EF4-FFF2-40B4-BE49-F238E27FC236}">
                <a16:creationId xmlns:a16="http://schemas.microsoft.com/office/drawing/2014/main" id="{60AF86A9-EED5-81E4-E298-85E5A7823C52}"/>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D4F1A8B-3325-A23D-E3BA-CE8C5D6DFB9F}"/>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How IS Enhances Business Processes</a:t>
            </a:r>
          </a:p>
        </p:txBody>
      </p:sp>
      <p:sp>
        <p:nvSpPr>
          <p:cNvPr id="5" name="Rectangle 4">
            <a:extLst>
              <a:ext uri="{FF2B5EF4-FFF2-40B4-BE49-F238E27FC236}">
                <a16:creationId xmlns:a16="http://schemas.microsoft.com/office/drawing/2014/main" id="{F4D04C44-C9D8-8380-8873-9273F114501C}"/>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A8B089A0-DCBF-2268-6B7B-B762997F0861}"/>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D0B9E2E0-1155-F498-3B7C-437D20CEF84A}"/>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10</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206089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500"/>
                                        <p:tgtEl>
                                          <p:spTgt spid="3">
                                            <p:txEl>
                                              <p:pRg st="10" end="10"/>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12" end="12"/>
                                            </p:txEl>
                                          </p:spTgt>
                                        </p:tgtEl>
                                        <p:attrNameLst>
                                          <p:attrName>style.visibility</p:attrName>
                                        </p:attrNameLst>
                                      </p:cBhvr>
                                      <p:to>
                                        <p:strVal val="visible"/>
                                      </p:to>
                                    </p:set>
                                    <p:animEffect transition="in" filter="fade">
                                      <p:cBhvr>
                                        <p:cTn id="4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350F7-6073-2D5F-00F1-67412A23DB8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EC58A2-5FB8-8718-4D30-F8C0756B426A}"/>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altLang="zh-TW" sz="2400" dirty="0"/>
              <a:t>Business processes describe how work gets done.</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Managers care about how information from that work is used.</a:t>
            </a:r>
            <a:endParaRPr lang="en-US" altLang="zh-TW" sz="2000" dirty="0"/>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Different managers make different types of decisions.</a:t>
            </a:r>
          </a:p>
          <a:p>
            <a:pPr lvl="1">
              <a:defRPr sz="2000">
                <a:solidFill>
                  <a:srgbClr val="000000"/>
                </a:solidFill>
                <a:latin typeface="Garamond"/>
              </a:defRPr>
            </a:pPr>
            <a:r>
              <a:rPr lang="en-US" altLang="zh-TW" sz="2000" dirty="0"/>
              <a:t>Does a cashier and a CEO need the same information?</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As a result, no single information system can serve everyone equally.</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Information systems are designed not just around processes, but around who is using the information and why</a:t>
            </a:r>
            <a:r>
              <a:rPr lang="en-US" altLang="zh-TW" sz="2000" dirty="0"/>
              <a:t>.</a:t>
            </a:r>
            <a:endParaRPr lang="en-US" altLang="zh-TW" sz="2400" dirty="0"/>
          </a:p>
        </p:txBody>
      </p:sp>
      <p:sp>
        <p:nvSpPr>
          <p:cNvPr id="4" name="Rectangle 3">
            <a:extLst>
              <a:ext uri="{FF2B5EF4-FFF2-40B4-BE49-F238E27FC236}">
                <a16:creationId xmlns:a16="http://schemas.microsoft.com/office/drawing/2014/main" id="{B1C99445-13A0-4C13-E835-3F9200FFDBF8}"/>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9E2937-BA6D-B5BB-92D5-F489CA2CACDC}"/>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Business Processes to Management Decisions</a:t>
            </a:r>
          </a:p>
        </p:txBody>
      </p:sp>
      <p:sp>
        <p:nvSpPr>
          <p:cNvPr id="5" name="Rectangle 4">
            <a:extLst>
              <a:ext uri="{FF2B5EF4-FFF2-40B4-BE49-F238E27FC236}">
                <a16:creationId xmlns:a16="http://schemas.microsoft.com/office/drawing/2014/main" id="{80FE4565-DCF5-81D9-2343-1DC8A51C3B8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C584A6CC-8B23-5692-D947-96E9ECB9E18F}"/>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941C27A7-BB38-461F-44B2-2CF6C2AF4486}"/>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11</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7682846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5" end="5"/>
                                            </p:txEl>
                                          </p:spTgt>
                                        </p:tgtEl>
                                        <p:attrNameLst>
                                          <p:attrName>style.visibility</p:attrName>
                                        </p:attrNameLst>
                                      </p:cBhvr>
                                      <p:to>
                                        <p:strVal val="visible"/>
                                      </p:to>
                                    </p:set>
                                    <p:animEffect transition="in" filter="fade">
                                      <p:cBhvr>
                                        <p:cTn id="20" dur="500"/>
                                        <p:tgtEl>
                                          <p:spTgt spid="3">
                                            <p:txEl>
                                              <p:pRg st="5" end="5"/>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animEffect transition="in" filter="fade">
                                      <p:cBhvr>
                                        <p:cTn id="25" dur="500"/>
                                        <p:tgtEl>
                                          <p:spTgt spid="3">
                                            <p:txEl>
                                              <p:pRg st="7" end="7"/>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9" end="9"/>
                                            </p:txEl>
                                          </p:spTgt>
                                        </p:tgtEl>
                                        <p:attrNameLst>
                                          <p:attrName>style.visibility</p:attrName>
                                        </p:attrNameLst>
                                      </p:cBhvr>
                                      <p:to>
                                        <p:strVal val="visible"/>
                                      </p:to>
                                    </p:set>
                                    <p:animEffect transition="in" filter="fade">
                                      <p:cBhvr>
                                        <p:cTn id="30"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8706257F-59AE-BC9E-7284-F3DFB05468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3D0A199-BC1F-6D6F-BB79-5CFF83CF1517}"/>
              </a:ext>
            </a:extLst>
          </p:cNvPr>
          <p:cNvSpPr txBox="1"/>
          <p:nvPr/>
        </p:nvSpPr>
        <p:spPr>
          <a:xfrm>
            <a:off x="0" y="2705725"/>
            <a:ext cx="12188825" cy="1446550"/>
          </a:xfrm>
          <a:prstGeom prst="rect">
            <a:avLst/>
          </a:prstGeom>
          <a:noFill/>
        </p:spPr>
        <p:txBody>
          <a:bodyPr wrap="square">
            <a:spAutoFit/>
          </a:bodyPr>
          <a:lstStyle/>
          <a:p>
            <a:pPr algn="ctr">
              <a:defRPr sz="4000" b="1">
                <a:solidFill>
                  <a:srgbClr val="FDB913"/>
                </a:solidFill>
                <a:latin typeface="Garamond"/>
              </a:defRPr>
            </a:pPr>
            <a:r>
              <a:rPr lang="en-US" sz="4400" dirty="0">
                <a:solidFill>
                  <a:schemeClr val="bg1"/>
                </a:solidFill>
              </a:rPr>
              <a:t>How Information Systems Serve</a:t>
            </a:r>
            <a:br>
              <a:rPr lang="en-US" sz="4400" dirty="0">
                <a:solidFill>
                  <a:schemeClr val="bg1"/>
                </a:solidFill>
              </a:rPr>
            </a:br>
            <a:r>
              <a:rPr lang="en-US" sz="4400" dirty="0">
                <a:solidFill>
                  <a:schemeClr val="bg1"/>
                </a:solidFill>
              </a:rPr>
              <a:t>Different Management Groups</a:t>
            </a:r>
            <a:endParaRPr sz="4400" dirty="0">
              <a:solidFill>
                <a:schemeClr val="bg1"/>
              </a:solidFill>
            </a:endParaRPr>
          </a:p>
        </p:txBody>
      </p:sp>
    </p:spTree>
    <p:extLst>
      <p:ext uri="{BB962C8B-B14F-4D97-AF65-F5344CB8AC3E}">
        <p14:creationId xmlns:p14="http://schemas.microsoft.com/office/powerpoint/2010/main" val="27117202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204FB-38F3-1EE3-6D17-DE380AFA041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953F2D-606D-E789-C753-43DC779D5767}"/>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altLang="zh-TW" sz="2400" dirty="0"/>
              <a:t>Because firms consist of distinct specialties and organizational hierarchies, no single system can provide all the information the organization requires.</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A typical firm has systems that support each major business function:</a:t>
            </a:r>
          </a:p>
          <a:p>
            <a:pPr lvl="1">
              <a:defRPr sz="2000">
                <a:solidFill>
                  <a:srgbClr val="000000"/>
                </a:solidFill>
                <a:latin typeface="Garamond"/>
              </a:defRPr>
            </a:pPr>
            <a:r>
              <a:rPr lang="en-US" altLang="zh-TW" sz="2000" dirty="0"/>
              <a:t>Sales and Marketing</a:t>
            </a:r>
          </a:p>
          <a:p>
            <a:pPr lvl="1">
              <a:defRPr sz="2000">
                <a:solidFill>
                  <a:srgbClr val="000000"/>
                </a:solidFill>
                <a:latin typeface="Garamond"/>
              </a:defRPr>
            </a:pPr>
            <a:r>
              <a:rPr lang="en-US" altLang="zh-TW" sz="2000" dirty="0"/>
              <a:t>Manufacturing and Production</a:t>
            </a:r>
          </a:p>
          <a:p>
            <a:pPr lvl="1">
              <a:defRPr sz="2000">
                <a:solidFill>
                  <a:srgbClr val="000000"/>
                </a:solidFill>
                <a:latin typeface="Garamond"/>
              </a:defRPr>
            </a:pPr>
            <a:r>
              <a:rPr lang="en-US" altLang="zh-TW" sz="2000" dirty="0"/>
              <a:t>Finance and Accounting</a:t>
            </a:r>
          </a:p>
          <a:p>
            <a:pPr lvl="1">
              <a:defRPr sz="2000">
                <a:solidFill>
                  <a:srgbClr val="000000"/>
                </a:solidFill>
                <a:latin typeface="Garamond"/>
              </a:defRPr>
            </a:pPr>
            <a:r>
              <a:rPr lang="en-US" altLang="zh-TW" sz="2000" dirty="0"/>
              <a:t>Human Resources</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In addition, firms often have separate systems to support the needs of different management levels:</a:t>
            </a:r>
          </a:p>
          <a:p>
            <a:pPr lvl="1">
              <a:defRPr sz="2000">
                <a:solidFill>
                  <a:srgbClr val="000000"/>
                </a:solidFill>
                <a:latin typeface="Garamond"/>
              </a:defRPr>
            </a:pPr>
            <a:r>
              <a:rPr lang="en-US" altLang="zh-TW" sz="2000" dirty="0"/>
              <a:t>Operational Management</a:t>
            </a:r>
          </a:p>
          <a:p>
            <a:pPr lvl="1">
              <a:defRPr sz="2000">
                <a:solidFill>
                  <a:srgbClr val="000000"/>
                </a:solidFill>
                <a:latin typeface="Garamond"/>
              </a:defRPr>
            </a:pPr>
            <a:r>
              <a:rPr lang="en-US" altLang="zh-TW" sz="2000" dirty="0"/>
              <a:t>Middle Management</a:t>
            </a:r>
          </a:p>
          <a:p>
            <a:pPr lvl="1">
              <a:defRPr sz="2000">
                <a:solidFill>
                  <a:srgbClr val="000000"/>
                </a:solidFill>
                <a:latin typeface="Garamond"/>
              </a:defRPr>
            </a:pPr>
            <a:r>
              <a:rPr lang="en-US" altLang="zh-TW" sz="2000" dirty="0"/>
              <a:t>Senior Management</a:t>
            </a:r>
          </a:p>
        </p:txBody>
      </p:sp>
      <p:sp>
        <p:nvSpPr>
          <p:cNvPr id="4" name="Rectangle 3">
            <a:extLst>
              <a:ext uri="{FF2B5EF4-FFF2-40B4-BE49-F238E27FC236}">
                <a16:creationId xmlns:a16="http://schemas.microsoft.com/office/drawing/2014/main" id="{3178F942-BCD5-D614-C77D-00DBD555943D}"/>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760BFB-0CC3-1102-B9F5-F94C049068E3}"/>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Systems for Different Management Groups</a:t>
            </a:r>
          </a:p>
        </p:txBody>
      </p:sp>
      <p:sp>
        <p:nvSpPr>
          <p:cNvPr id="5" name="Rectangle 4">
            <a:extLst>
              <a:ext uri="{FF2B5EF4-FFF2-40B4-BE49-F238E27FC236}">
                <a16:creationId xmlns:a16="http://schemas.microsoft.com/office/drawing/2014/main" id="{4B294B0A-9F38-45DF-17FD-CF700807CE6A}"/>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CF6A280-87D2-975E-037B-71A6F6EAE14A}"/>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0EF8B676-0298-3CF8-464C-9D76D95A025F}"/>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13</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1296067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500"/>
                                        <p:tgtEl>
                                          <p:spTgt spid="3">
                                            <p:txEl>
                                              <p:pRg st="10" end="10"/>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3">
                                            <p:txEl>
                                              <p:pRg st="11" end="11"/>
                                            </p:txEl>
                                          </p:spTgt>
                                        </p:tgtEl>
                                        <p:attrNameLst>
                                          <p:attrName>style.visibility</p:attrName>
                                        </p:attrNameLst>
                                      </p:cBhvr>
                                      <p:to>
                                        <p:strVal val="visible"/>
                                      </p:to>
                                    </p:set>
                                    <p:animEffect transition="in" filter="fade">
                                      <p:cBhvr>
                                        <p:cTn id="38"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76653-D1AC-D080-79B4-83B98C5C4D0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6F38066-B1D5-59F3-0651-8F009933C228}"/>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altLang="zh-TW" sz="2400" b="1" dirty="0"/>
              <a:t>Transaction Processing Systems</a:t>
            </a:r>
            <a:r>
              <a:rPr lang="en-US" altLang="zh-TW" sz="2400" dirty="0"/>
              <a:t> (TPS) are information systems that perform and record the routine, day-to-day transactions required to conduct business.</a:t>
            </a:r>
            <a:endParaRPr lang="en-US" altLang="zh-TW" sz="800" dirty="0"/>
          </a:p>
          <a:p>
            <a:pPr lvl="1">
              <a:defRPr sz="2000">
                <a:solidFill>
                  <a:srgbClr val="000000"/>
                </a:solidFill>
                <a:latin typeface="Garamond"/>
              </a:defRPr>
            </a:pPr>
            <a:r>
              <a:rPr lang="en-US" altLang="zh-TW" sz="2000" dirty="0"/>
              <a:t>Examples include sales, receipts, cash deposits, buy and sell orders, payroll, credit decisions, and the movement of materials along production lines.</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TPS are used to answer questions such as:</a:t>
            </a:r>
          </a:p>
          <a:p>
            <a:pPr lvl="1">
              <a:defRPr sz="2000">
                <a:solidFill>
                  <a:srgbClr val="000000"/>
                </a:solidFill>
                <a:latin typeface="Garamond"/>
              </a:defRPr>
            </a:pPr>
            <a:r>
              <a:rPr lang="en-US" altLang="zh-TW" sz="2000" dirty="0"/>
              <a:t>How many parts are currently in inventory?</a:t>
            </a:r>
          </a:p>
          <a:p>
            <a:pPr lvl="1">
              <a:defRPr sz="2000">
                <a:solidFill>
                  <a:srgbClr val="000000"/>
                </a:solidFill>
                <a:latin typeface="Garamond"/>
              </a:defRPr>
            </a:pPr>
            <a:r>
              <a:rPr lang="en-US" altLang="zh-TW" sz="2000" dirty="0"/>
              <a:t>What is the status of a customer’s payment?</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primary purpose of a TPS is to </a:t>
            </a:r>
            <a:r>
              <a:rPr lang="en-US" altLang="zh-TW" sz="2400" b="1" dirty="0"/>
              <a:t>monitor</a:t>
            </a:r>
            <a:r>
              <a:rPr lang="en-US" altLang="zh-TW" sz="2400" dirty="0"/>
              <a:t> the status of operations and </a:t>
            </a:r>
            <a:r>
              <a:rPr lang="en-US" altLang="zh-TW" sz="2400" b="1" dirty="0"/>
              <a:t>record</a:t>
            </a:r>
            <a:r>
              <a:rPr lang="en-US" altLang="zh-TW" sz="2400" dirty="0"/>
              <a:t> interactions between the organization and its external environment.</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sz="2400" dirty="0"/>
              <a:t>TPS primarily support </a:t>
            </a:r>
            <a:r>
              <a:rPr lang="en-US" sz="2400" b="1" dirty="0"/>
              <a:t>operational management and staff</a:t>
            </a:r>
            <a:r>
              <a:rPr lang="en-US" sz="2400" dirty="0"/>
              <a:t> by enabling predefined, structured tasks and decisions.</a:t>
            </a:r>
          </a:p>
        </p:txBody>
      </p:sp>
      <p:sp>
        <p:nvSpPr>
          <p:cNvPr id="4" name="Rectangle 3">
            <a:extLst>
              <a:ext uri="{FF2B5EF4-FFF2-40B4-BE49-F238E27FC236}">
                <a16:creationId xmlns:a16="http://schemas.microsoft.com/office/drawing/2014/main" id="{B567DC9B-C6ED-B30B-853D-2B2FC3A9B604}"/>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0B50E17-72B1-303A-64DD-5EB6DC626489}"/>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Transaction Processing Systems</a:t>
            </a:r>
          </a:p>
        </p:txBody>
      </p:sp>
      <p:sp>
        <p:nvSpPr>
          <p:cNvPr id="5" name="Rectangle 4">
            <a:extLst>
              <a:ext uri="{FF2B5EF4-FFF2-40B4-BE49-F238E27FC236}">
                <a16:creationId xmlns:a16="http://schemas.microsoft.com/office/drawing/2014/main" id="{668E50EA-9EF2-2BD5-73E7-90CEA1716D84}"/>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09D2544-864B-708C-5515-EB6AF843F520}"/>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0F415983-361C-C6F0-E070-956FF7949AE2}"/>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14</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559277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animEffect transition="in" filter="fade">
                                      <p:cBhvr>
                                        <p:cTn id="31"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3D352-52FA-B4AA-B13C-C910D2A81F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A159A82-8938-496A-D91D-49582462D22E}"/>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7F16FAF-9901-3AFD-164B-643FA80528F4}"/>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TPS Examples: Payroll</a:t>
            </a:r>
          </a:p>
        </p:txBody>
      </p:sp>
      <p:sp>
        <p:nvSpPr>
          <p:cNvPr id="5" name="Rectangle 4">
            <a:extLst>
              <a:ext uri="{FF2B5EF4-FFF2-40B4-BE49-F238E27FC236}">
                <a16:creationId xmlns:a16="http://schemas.microsoft.com/office/drawing/2014/main" id="{B0F68590-6A0E-F473-D361-3275DB9ABA2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BA466E7E-58E9-CEC0-34A3-5287E2AD665B}"/>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374E2960-AA3C-48D6-342D-A1530AB1DC05}"/>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15</a:t>
            </a:fld>
            <a:r>
              <a:rPr lang="en-US" b="1" dirty="0">
                <a:solidFill>
                  <a:schemeClr val="bg1"/>
                </a:solidFill>
                <a:latin typeface="Garamond" panose="02020404030301010803" pitchFamily="18" charset="0"/>
              </a:rPr>
              <a:t> </a:t>
            </a:r>
          </a:p>
        </p:txBody>
      </p:sp>
      <p:sp>
        <p:nvSpPr>
          <p:cNvPr id="9" name="Content Placeholder 2">
            <a:extLst>
              <a:ext uri="{FF2B5EF4-FFF2-40B4-BE49-F238E27FC236}">
                <a16:creationId xmlns:a16="http://schemas.microsoft.com/office/drawing/2014/main" id="{93897434-E49A-E5B6-0C32-A5FB0C08253A}"/>
              </a:ext>
            </a:extLst>
          </p:cNvPr>
          <p:cNvSpPr txBox="1">
            <a:spLocks/>
          </p:cNvSpPr>
          <p:nvPr/>
        </p:nvSpPr>
        <p:spPr>
          <a:xfrm>
            <a:off x="6160653" y="1300900"/>
            <a:ext cx="5594571" cy="5081046"/>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altLang="zh-TW" sz="2400" dirty="0">
                <a:solidFill>
                  <a:srgbClr val="000000"/>
                </a:solidFill>
                <a:latin typeface="Garamond"/>
              </a:rPr>
              <a:t>Let’s examine an example of a payroll TPS.</a:t>
            </a:r>
          </a:p>
          <a:p>
            <a:pPr lvl="3">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r>
              <a:rPr lang="en-US" altLang="zh-TW" sz="2400" dirty="0">
                <a:solidFill>
                  <a:srgbClr val="000000"/>
                </a:solidFill>
                <a:latin typeface="Garamond"/>
              </a:rPr>
              <a:t>An employee timesheet (name, ID, hours worked, etc.) is the basic transaction processed by this system.</a:t>
            </a:r>
          </a:p>
          <a:p>
            <a:pPr lvl="3">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r>
              <a:rPr lang="en-US" altLang="zh-TW" sz="2400" dirty="0">
                <a:solidFill>
                  <a:srgbClr val="000000"/>
                </a:solidFill>
                <a:latin typeface="Garamond"/>
              </a:rPr>
              <a:t>This new transaction is entered into the payroll system, which updates the employee database.</a:t>
            </a:r>
          </a:p>
          <a:p>
            <a:pPr lvl="3">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r>
              <a:rPr lang="en-US" altLang="zh-TW" sz="2400" dirty="0">
                <a:solidFill>
                  <a:srgbClr val="000000"/>
                </a:solidFill>
                <a:latin typeface="Garamond"/>
              </a:rPr>
              <a:t>The data can then be accessed and queried online for reporting and operational purposes.</a:t>
            </a:r>
          </a:p>
        </p:txBody>
      </p:sp>
      <p:pic>
        <p:nvPicPr>
          <p:cNvPr id="3" name="Picture 2" descr="A figure illustrates a typical payroll T P S found in many firms. Long description available in notes, press f6.">
            <a:extLst>
              <a:ext uri="{FF2B5EF4-FFF2-40B4-BE49-F238E27FC236}">
                <a16:creationId xmlns:a16="http://schemas.microsoft.com/office/drawing/2014/main" id="{0A2A6D05-92C5-2E93-03B5-90266C8BEB19}"/>
              </a:ext>
            </a:extLst>
          </p:cNvPr>
          <p:cNvPicPr>
            <a:picLocks noChangeAspect="1"/>
          </p:cNvPicPr>
          <p:nvPr/>
        </p:nvPicPr>
        <p:blipFill>
          <a:blip r:embed="rId3"/>
          <a:stretch>
            <a:fillRect/>
          </a:stretch>
        </p:blipFill>
        <p:spPr>
          <a:xfrm>
            <a:off x="541771" y="1296025"/>
            <a:ext cx="5486400" cy="4572000"/>
          </a:xfrm>
          <a:prstGeom prst="rect">
            <a:avLst/>
          </a:prstGeom>
        </p:spPr>
      </p:pic>
    </p:spTree>
    <p:extLst>
      <p:ext uri="{BB962C8B-B14F-4D97-AF65-F5344CB8AC3E}">
        <p14:creationId xmlns:p14="http://schemas.microsoft.com/office/powerpoint/2010/main" val="2773974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fade">
                                      <p:cBhvr>
                                        <p:cTn id="15" dur="500"/>
                                        <p:tgtEl>
                                          <p:spTgt spid="9">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
                                            <p:txEl>
                                              <p:pRg st="4" end="4"/>
                                            </p:txEl>
                                          </p:spTgt>
                                        </p:tgtEl>
                                        <p:attrNameLst>
                                          <p:attrName>style.visibility</p:attrName>
                                        </p:attrNameLst>
                                      </p:cBhvr>
                                      <p:to>
                                        <p:strVal val="visible"/>
                                      </p:to>
                                    </p:set>
                                    <p:animEffect transition="in" filter="fade">
                                      <p:cBhvr>
                                        <p:cTn id="20" dur="500"/>
                                        <p:tgtEl>
                                          <p:spTgt spid="9">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9">
                                            <p:txEl>
                                              <p:pRg st="6" end="6"/>
                                            </p:txEl>
                                          </p:spTgt>
                                        </p:tgtEl>
                                        <p:attrNameLst>
                                          <p:attrName>style.visibility</p:attrName>
                                        </p:attrNameLst>
                                      </p:cBhvr>
                                      <p:to>
                                        <p:strVal val="visible"/>
                                      </p:to>
                                    </p:set>
                                    <p:animEffect transition="in" filter="fade">
                                      <p:cBhvr>
                                        <p:cTn id="25" dur="500"/>
                                        <p:tgtEl>
                                          <p:spTgt spid="9">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8D843-249E-6CB3-3947-5B3B0ECD2D1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EFCCBC-345C-257D-8AFA-FDFD9E2BF5A3}"/>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altLang="zh-TW" sz="2400" dirty="0"/>
              <a:t>Knight Capital, a major U.S. stock trading firm, deployed new automated trading software.</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system: SMARS, a high-frequency Transaction Processing System.</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goal: Process thousands of trades per second to identify and execute favorable prices.</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error: One server (out of eight) was running outdated “zombie code,” containing instructions that had not been used in over a decade.</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The result: Approximately 4 million unintended trades in 45 minutes, resulting in losses of roughly $160,000 per second.</a:t>
            </a:r>
          </a:p>
          <a:p>
            <a:pPr lvl="3">
              <a:defRPr sz="2000">
                <a:solidFill>
                  <a:srgbClr val="000000"/>
                </a:solidFill>
                <a:latin typeface="Garamond"/>
              </a:defRPr>
            </a:pPr>
            <a:endParaRPr lang="en-US" altLang="zh-TW" sz="1200" dirty="0"/>
          </a:p>
          <a:p>
            <a:pPr>
              <a:defRPr sz="2000">
                <a:solidFill>
                  <a:srgbClr val="000000"/>
                </a:solidFill>
                <a:latin typeface="Garamond"/>
              </a:defRPr>
            </a:pPr>
            <a:endParaRPr lang="en-US" altLang="zh-TW" sz="2400" dirty="0"/>
          </a:p>
        </p:txBody>
      </p:sp>
      <p:sp>
        <p:nvSpPr>
          <p:cNvPr id="4" name="Rectangle 3">
            <a:extLst>
              <a:ext uri="{FF2B5EF4-FFF2-40B4-BE49-F238E27FC236}">
                <a16:creationId xmlns:a16="http://schemas.microsoft.com/office/drawing/2014/main" id="{789F76ED-FECD-3223-B351-82DEFEAF6741}"/>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2139E3-678D-C945-1606-C44EAAB57915}"/>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TPS Case Study: Knight Capital (2012)</a:t>
            </a:r>
          </a:p>
        </p:txBody>
      </p:sp>
      <p:sp>
        <p:nvSpPr>
          <p:cNvPr id="5" name="Rectangle 4">
            <a:extLst>
              <a:ext uri="{FF2B5EF4-FFF2-40B4-BE49-F238E27FC236}">
                <a16:creationId xmlns:a16="http://schemas.microsoft.com/office/drawing/2014/main" id="{A1A6FB34-B084-AC09-52B2-552C62E979B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2494C23-B877-7E01-11B8-66E1370F92C5}"/>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E5210140-A628-848E-2DEC-1CD2EC5175FD}"/>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16</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2906233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297FB8-4D40-E60B-D72B-9F309E5F67C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ADB2139-5870-EF82-BD06-D06F2C697151}"/>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EF98939-615A-C03E-E31B-D62E78528FAD}"/>
              </a:ext>
            </a:extLst>
          </p:cNvPr>
          <p:cNvSpPr>
            <a:spLocks noGrp="1"/>
          </p:cNvSpPr>
          <p:nvPr>
            <p:ph type="title"/>
          </p:nvPr>
        </p:nvSpPr>
        <p:spPr>
          <a:xfrm>
            <a:off x="0" y="0"/>
            <a:ext cx="12188825" cy="923636"/>
          </a:xfrm>
        </p:spPr>
        <p:txBody>
          <a:bodyPr>
            <a:noAutofit/>
          </a:bodyPr>
          <a:lstStyle/>
          <a:p>
            <a:pPr algn="l">
              <a:defRPr sz="4000" b="1">
                <a:solidFill>
                  <a:srgbClr val="FDB913"/>
                </a:solidFill>
                <a:latin typeface="Garamond"/>
              </a:defRPr>
            </a:pPr>
            <a:r>
              <a:rPr lang="en-US" sz="2400" dirty="0">
                <a:solidFill>
                  <a:schemeClr val="bg1"/>
                </a:solidFill>
              </a:rPr>
              <a:t>  Associated Press (2012, August 2). </a:t>
            </a:r>
            <a:r>
              <a:rPr lang="en-US" sz="2400" i="1" dirty="0">
                <a:solidFill>
                  <a:schemeClr val="bg1"/>
                </a:solidFill>
              </a:rPr>
              <a:t>Analyst: Traders Saw Knight Glitch in Seconds</a:t>
            </a:r>
            <a:br>
              <a:rPr lang="en-US" sz="2400" i="1" dirty="0">
                <a:solidFill>
                  <a:schemeClr val="bg1"/>
                </a:solidFill>
              </a:rPr>
            </a:br>
            <a:r>
              <a:rPr lang="en-US" sz="2400" i="1" dirty="0">
                <a:solidFill>
                  <a:schemeClr val="bg1"/>
                </a:solidFill>
              </a:rPr>
              <a:t>  </a:t>
            </a:r>
            <a:r>
              <a:rPr lang="en-US" sz="2400" dirty="0">
                <a:solidFill>
                  <a:schemeClr val="bg1"/>
                </a:solidFill>
              </a:rPr>
              <a:t>[Video]. YouTube. https://youtu.be/pjixTeSPjGg?si=c-CLYHW_Mi5Rpqms</a:t>
            </a:r>
          </a:p>
        </p:txBody>
      </p:sp>
      <p:sp>
        <p:nvSpPr>
          <p:cNvPr id="5" name="Rectangle 4">
            <a:extLst>
              <a:ext uri="{FF2B5EF4-FFF2-40B4-BE49-F238E27FC236}">
                <a16:creationId xmlns:a16="http://schemas.microsoft.com/office/drawing/2014/main" id="{29F33B4E-928C-F360-D720-675BD9EF55F8}"/>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E32E04BD-D054-2EA2-EDF5-AA450F154527}"/>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A3A9CE9B-CDA0-A785-0D57-92A5000C1E18}"/>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17</a:t>
            </a:fld>
            <a:r>
              <a:rPr lang="en-US" b="1" dirty="0">
                <a:solidFill>
                  <a:schemeClr val="bg1"/>
                </a:solidFill>
                <a:latin typeface="Garamond" panose="02020404030301010803" pitchFamily="18" charset="0"/>
              </a:rPr>
              <a:t> </a:t>
            </a:r>
          </a:p>
        </p:txBody>
      </p:sp>
      <p:pic>
        <p:nvPicPr>
          <p:cNvPr id="8" name="Online Media 7" title="Analyst: Traders Saw Knight Glitch in Seconds">
            <a:hlinkClick r:id="" action="ppaction://media"/>
            <a:extLst>
              <a:ext uri="{FF2B5EF4-FFF2-40B4-BE49-F238E27FC236}">
                <a16:creationId xmlns:a16="http://schemas.microsoft.com/office/drawing/2014/main" id="{20A06B60-A81F-BC3F-48ED-5BA09CD9C6B7}"/>
              </a:ext>
            </a:extLst>
          </p:cNvPr>
          <p:cNvPicPr>
            <a:picLocks noRot="1" noChangeAspect="1"/>
          </p:cNvPicPr>
          <p:nvPr>
            <a:videoFile r:link="rId1"/>
          </p:nvPr>
        </p:nvPicPr>
        <p:blipFill>
          <a:blip r:embed="rId4"/>
          <a:stretch>
            <a:fillRect/>
          </a:stretch>
        </p:blipFill>
        <p:spPr>
          <a:xfrm>
            <a:off x="1239190" y="970332"/>
            <a:ext cx="9710442" cy="5486400"/>
          </a:xfrm>
          <a:prstGeom prst="rect">
            <a:avLst/>
          </a:prstGeom>
        </p:spPr>
      </p:pic>
    </p:spTree>
    <p:extLst>
      <p:ext uri="{BB962C8B-B14F-4D97-AF65-F5344CB8AC3E}">
        <p14:creationId xmlns:p14="http://schemas.microsoft.com/office/powerpoint/2010/main" val="313717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19E3A-64F0-9053-C421-EF72D72D46C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CB5ED2-5952-4036-8A9B-D2CDD8538BBA}"/>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altLang="zh-TW" sz="2400" b="1" dirty="0"/>
              <a:t>Business Intelligence </a:t>
            </a:r>
            <a:r>
              <a:rPr lang="en-US" altLang="zh-TW" sz="2400" dirty="0"/>
              <a:t>(BI) refers to applications and technologies designed to help users make more informed business decisions.</a:t>
            </a:r>
            <a:endParaRPr lang="en-US" altLang="zh-TW" sz="800" dirty="0"/>
          </a:p>
          <a:p>
            <a:pPr lvl="3">
              <a:defRPr sz="2000">
                <a:solidFill>
                  <a:srgbClr val="000000"/>
                </a:solidFill>
                <a:latin typeface="Garamond"/>
              </a:defRPr>
            </a:pPr>
            <a:endParaRPr lang="en-US" altLang="zh-TW" sz="1200" dirty="0"/>
          </a:p>
          <a:p>
            <a:pPr>
              <a:defRPr sz="2000">
                <a:solidFill>
                  <a:srgbClr val="000000"/>
                </a:solidFill>
                <a:latin typeface="Garamond"/>
              </a:defRPr>
            </a:pPr>
            <a:r>
              <a:rPr lang="en-US" sz="2400" dirty="0"/>
              <a:t>BI systems support decision-making across multiple levels of management:</a:t>
            </a:r>
          </a:p>
          <a:p>
            <a:pPr lvl="1">
              <a:defRPr sz="2000">
                <a:solidFill>
                  <a:srgbClr val="000000"/>
                </a:solidFill>
                <a:latin typeface="Garamond"/>
              </a:defRPr>
            </a:pPr>
            <a:r>
              <a:rPr lang="en-US" sz="2000" dirty="0"/>
              <a:t>Management Information Systems (MIS)</a:t>
            </a:r>
          </a:p>
          <a:p>
            <a:pPr lvl="1">
              <a:defRPr sz="2000">
                <a:solidFill>
                  <a:srgbClr val="000000"/>
                </a:solidFill>
                <a:latin typeface="Garamond"/>
              </a:defRPr>
            </a:pPr>
            <a:r>
              <a:rPr lang="en-US" sz="2000" dirty="0"/>
              <a:t>Decision Support Systems (DSS)</a:t>
            </a:r>
          </a:p>
          <a:p>
            <a:pPr lvl="1">
              <a:defRPr sz="2000">
                <a:solidFill>
                  <a:srgbClr val="000000"/>
                </a:solidFill>
                <a:latin typeface="Garamond"/>
              </a:defRPr>
            </a:pPr>
            <a:r>
              <a:rPr lang="en-US" sz="2000" dirty="0"/>
              <a:t>Executive Support Systems (ESS)</a:t>
            </a:r>
          </a:p>
          <a:p>
            <a:pPr lvl="3">
              <a:defRPr sz="2000">
                <a:solidFill>
                  <a:srgbClr val="000000"/>
                </a:solidFill>
                <a:latin typeface="Garamond"/>
              </a:defRPr>
            </a:pPr>
            <a:endParaRPr lang="en-US" sz="1200" dirty="0"/>
          </a:p>
          <a:p>
            <a:pPr>
              <a:defRPr sz="2000">
                <a:solidFill>
                  <a:srgbClr val="000000"/>
                </a:solidFill>
                <a:latin typeface="Garamond"/>
              </a:defRPr>
            </a:pPr>
            <a:r>
              <a:rPr lang="en-US" altLang="zh-TW" sz="2400" dirty="0"/>
              <a:t>Management Information Systems (MIS) here refers to a specific category of information systems that primarily support middle management.</a:t>
            </a:r>
          </a:p>
          <a:p>
            <a:pPr lvl="3">
              <a:defRPr sz="2000">
                <a:solidFill>
                  <a:srgbClr val="000000"/>
                </a:solidFill>
                <a:latin typeface="Garamond"/>
              </a:defRPr>
            </a:pPr>
            <a:endParaRPr lang="en-US" altLang="zh-TW" sz="1200" dirty="0"/>
          </a:p>
          <a:p>
            <a:pPr>
              <a:defRPr sz="2000">
                <a:solidFill>
                  <a:srgbClr val="000000"/>
                </a:solidFill>
                <a:latin typeface="Garamond"/>
              </a:defRPr>
            </a:pPr>
            <a:r>
              <a:rPr lang="en-US" altLang="zh-TW" sz="2400" dirty="0"/>
              <a:t>Recall that MIS as an academic field is more broadly defined as the study of information systems and their use in business.</a:t>
            </a:r>
            <a:endParaRPr lang="en-US" altLang="zh-TW" sz="800" dirty="0"/>
          </a:p>
        </p:txBody>
      </p:sp>
      <p:sp>
        <p:nvSpPr>
          <p:cNvPr id="4" name="Rectangle 3">
            <a:extLst>
              <a:ext uri="{FF2B5EF4-FFF2-40B4-BE49-F238E27FC236}">
                <a16:creationId xmlns:a16="http://schemas.microsoft.com/office/drawing/2014/main" id="{A8EF85C1-8F0B-274C-D43C-08E0514ACA62}"/>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6C5D17-0321-5E9E-D195-250568D47039}"/>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Systems for Business Intelligence</a:t>
            </a:r>
          </a:p>
        </p:txBody>
      </p:sp>
      <p:sp>
        <p:nvSpPr>
          <p:cNvPr id="5" name="Rectangle 4">
            <a:extLst>
              <a:ext uri="{FF2B5EF4-FFF2-40B4-BE49-F238E27FC236}">
                <a16:creationId xmlns:a16="http://schemas.microsoft.com/office/drawing/2014/main" id="{73C6DB0B-D996-E5A4-535F-5DE8E1DEBB5C}"/>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0A84B6FF-144F-8912-FB8A-9B09B28CC3FE}"/>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72D1C3CE-FBC8-BF44-4C7A-CB3C29C7B9A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18</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7266386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animEffect transition="in" filter="fade">
                                      <p:cBhvr>
                                        <p:cTn id="31"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B8493-0AAD-3251-4E3B-974939A748E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7BBE39-0271-F06B-09B3-496885361C57}"/>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sz="2400" dirty="0"/>
              <a:t>The primary function of </a:t>
            </a:r>
            <a:r>
              <a:rPr lang="en-US" sz="2400" b="1" dirty="0"/>
              <a:t>Management Information Systems (MIS)</a:t>
            </a:r>
            <a:r>
              <a:rPr lang="en-US" sz="2400" dirty="0"/>
              <a:t> is to provide reports on a firm’s current performance, drawing on data generated by TPS.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MIS typically have </a:t>
            </a:r>
            <a:r>
              <a:rPr lang="en-US" sz="2400" b="1" dirty="0"/>
              <a:t>limited analytical capability</a:t>
            </a:r>
            <a:r>
              <a:rPr lang="en-US" sz="2400" dirty="0"/>
              <a:t>, as they are designed to answer routine questions using predefined procedures.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Example: Walmart’s Retail Link System</a:t>
            </a:r>
          </a:p>
          <a:p>
            <a:pPr lvl="1">
              <a:defRPr sz="2000">
                <a:solidFill>
                  <a:srgbClr val="000000"/>
                </a:solidFill>
                <a:latin typeface="Garamond"/>
              </a:defRPr>
            </a:pPr>
            <a:r>
              <a:rPr lang="en-US" sz="2000" dirty="0"/>
              <a:t>A proprietary MIS developed by Walmart in the 1990s.</a:t>
            </a:r>
          </a:p>
          <a:p>
            <a:pPr lvl="1">
              <a:defRPr sz="2000">
                <a:solidFill>
                  <a:srgbClr val="000000"/>
                </a:solidFill>
                <a:latin typeface="Garamond"/>
              </a:defRPr>
            </a:pPr>
            <a:r>
              <a:rPr lang="en-US" sz="2000" dirty="0"/>
              <a:t>Each customer purchase at checkout feeds into a central TPS database.</a:t>
            </a:r>
          </a:p>
          <a:p>
            <a:pPr lvl="1">
              <a:defRPr sz="2000">
                <a:solidFill>
                  <a:srgbClr val="000000"/>
                </a:solidFill>
                <a:latin typeface="Garamond"/>
              </a:defRPr>
            </a:pPr>
            <a:r>
              <a:rPr lang="en-US" dirty="0"/>
              <a:t>Retail Link compiles this TPS data into routine reports on sales trends, inventory levels, and stockouts.</a:t>
            </a:r>
          </a:p>
          <a:p>
            <a:pPr lvl="1">
              <a:defRPr sz="2000">
                <a:solidFill>
                  <a:srgbClr val="000000"/>
                </a:solidFill>
                <a:latin typeface="Garamond"/>
              </a:defRPr>
            </a:pPr>
            <a:r>
              <a:rPr lang="en-US" sz="2000" dirty="0"/>
              <a:t>Suppliers can access these reports to monitor performance and manage replenishment.</a:t>
            </a:r>
          </a:p>
          <a:p>
            <a:pPr lvl="1">
              <a:defRPr sz="2000">
                <a:solidFill>
                  <a:srgbClr val="000000"/>
                </a:solidFill>
                <a:latin typeface="Garamond"/>
              </a:defRPr>
            </a:pPr>
            <a:r>
              <a:rPr lang="en-US" sz="2000" dirty="0"/>
              <a:t>Provides middle management with standardized reports that improve inventory control and reduce costs.</a:t>
            </a:r>
          </a:p>
        </p:txBody>
      </p:sp>
      <p:sp>
        <p:nvSpPr>
          <p:cNvPr id="4" name="Rectangle 3">
            <a:extLst>
              <a:ext uri="{FF2B5EF4-FFF2-40B4-BE49-F238E27FC236}">
                <a16:creationId xmlns:a16="http://schemas.microsoft.com/office/drawing/2014/main" id="{FD27AAE3-A5A3-115E-4771-0B4F1B782EEA}"/>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721D47-355B-A861-6459-1C4891F1BAB1}"/>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BI Examples: Management Information Systems</a:t>
            </a:r>
          </a:p>
        </p:txBody>
      </p:sp>
      <p:sp>
        <p:nvSpPr>
          <p:cNvPr id="5" name="Rectangle 4">
            <a:extLst>
              <a:ext uri="{FF2B5EF4-FFF2-40B4-BE49-F238E27FC236}">
                <a16:creationId xmlns:a16="http://schemas.microsoft.com/office/drawing/2014/main" id="{5665CFDD-41A4-8248-586C-BAD6DBCAB248}"/>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377E021-8AA2-3D06-8220-39B2DC4A9B70}"/>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692B9E59-817B-0267-6D64-BA3EB60BC875}"/>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19</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2842364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5" end="5"/>
                                            </p:txEl>
                                          </p:spTgt>
                                        </p:tgtEl>
                                        <p:attrNameLst>
                                          <p:attrName>style.visibility</p:attrName>
                                        </p:attrNameLst>
                                      </p:cBhvr>
                                      <p:to>
                                        <p:strVal val="visible"/>
                                      </p:to>
                                    </p:set>
                                    <p:animEffect transition="in" filter="fade">
                                      <p:cBhvr>
                                        <p:cTn id="20" dur="500"/>
                                        <p:tgtEl>
                                          <p:spTgt spid="3">
                                            <p:txEl>
                                              <p:pRg st="5" end="5"/>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85EA2-F841-7320-989C-7E975A5C76A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6E4E05F-DFA8-8DBB-C3C5-C36CDBCCB45E}"/>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6BA4515-DADF-8444-24A6-DF934A804A8C}"/>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BI Examples: MIS and TPS</a:t>
            </a:r>
          </a:p>
        </p:txBody>
      </p:sp>
      <p:sp>
        <p:nvSpPr>
          <p:cNvPr id="5" name="Rectangle 4">
            <a:extLst>
              <a:ext uri="{FF2B5EF4-FFF2-40B4-BE49-F238E27FC236}">
                <a16:creationId xmlns:a16="http://schemas.microsoft.com/office/drawing/2014/main" id="{E7B0ED11-07DE-645F-D4FE-632BFA179218}"/>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158149D-A0B0-EF5D-67C1-E9282F116DBD}"/>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C779A91D-B922-3AFB-4B24-9956787C47D4}"/>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20</a:t>
            </a:fld>
            <a:r>
              <a:rPr lang="en-US" b="1" dirty="0">
                <a:solidFill>
                  <a:schemeClr val="bg1"/>
                </a:solidFill>
                <a:latin typeface="Garamond" panose="02020404030301010803" pitchFamily="18" charset="0"/>
              </a:rPr>
              <a:t> </a:t>
            </a:r>
          </a:p>
        </p:txBody>
      </p:sp>
      <p:pic>
        <p:nvPicPr>
          <p:cNvPr id="8" name="Picture 7" descr="A figure illustrates how the M I S transforms transaction-level data from inventory, production, and accounting into M I S files and provides reports. Long description available in notes, press f6.">
            <a:extLst>
              <a:ext uri="{FF2B5EF4-FFF2-40B4-BE49-F238E27FC236}">
                <a16:creationId xmlns:a16="http://schemas.microsoft.com/office/drawing/2014/main" id="{925DB54C-6AC3-9F4E-D954-C9D2D7133880}"/>
              </a:ext>
            </a:extLst>
          </p:cNvPr>
          <p:cNvPicPr>
            <a:picLocks noChangeAspect="1"/>
          </p:cNvPicPr>
          <p:nvPr/>
        </p:nvPicPr>
        <p:blipFill>
          <a:blip r:embed="rId3"/>
          <a:stretch>
            <a:fillRect/>
          </a:stretch>
        </p:blipFill>
        <p:spPr>
          <a:xfrm>
            <a:off x="1423557" y="1313232"/>
            <a:ext cx="9341708" cy="4800600"/>
          </a:xfrm>
          <a:prstGeom prst="rect">
            <a:avLst/>
          </a:prstGeom>
        </p:spPr>
      </p:pic>
    </p:spTree>
    <p:extLst>
      <p:ext uri="{BB962C8B-B14F-4D97-AF65-F5344CB8AC3E}">
        <p14:creationId xmlns:p14="http://schemas.microsoft.com/office/powerpoint/2010/main" val="4003653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1629A-3B6C-FE36-57F8-E4C752BE664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10FA34F-4508-EF52-E0FC-5CAC435484AD}"/>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sz="2400" dirty="0"/>
              <a:t>A </a:t>
            </a:r>
            <a:r>
              <a:rPr lang="en-US" sz="2400" b="1" dirty="0"/>
              <a:t>Decision Support System</a:t>
            </a:r>
            <a:r>
              <a:rPr lang="en-US" sz="2400" dirty="0"/>
              <a:t> (DSS) combines data with analytical models to support </a:t>
            </a:r>
            <a:r>
              <a:rPr lang="en-US" sz="2400" b="1" dirty="0"/>
              <a:t>non-routine, what-if decision-making</a:t>
            </a:r>
            <a:r>
              <a:rPr lang="en-US" sz="2400" dirty="0"/>
              <a:t>.</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DSS are used to answer questions such as:</a:t>
            </a:r>
          </a:p>
          <a:p>
            <a:pPr lvl="1">
              <a:defRPr sz="2000">
                <a:solidFill>
                  <a:srgbClr val="000000"/>
                </a:solidFill>
                <a:latin typeface="Garamond"/>
              </a:defRPr>
            </a:pPr>
            <a:r>
              <a:rPr lang="en-US" sz="2000" dirty="0"/>
              <a:t>What happens to profit if a product launch is delayed?</a:t>
            </a:r>
          </a:p>
          <a:p>
            <a:pPr lvl="1">
              <a:defRPr sz="2000">
                <a:solidFill>
                  <a:srgbClr val="000000"/>
                </a:solidFill>
                <a:latin typeface="Garamond"/>
              </a:defRPr>
            </a:pPr>
            <a:r>
              <a:rPr lang="en-US" sz="2000" dirty="0"/>
              <a:t>How many employees are needed to double production within six months?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Like MIS, DSS draw on internal data generated by TPS.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Unlike MIS, DSS:</a:t>
            </a:r>
          </a:p>
          <a:p>
            <a:pPr lvl="1">
              <a:defRPr sz="2000">
                <a:solidFill>
                  <a:srgbClr val="000000"/>
                </a:solidFill>
                <a:latin typeface="Garamond"/>
              </a:defRPr>
            </a:pPr>
            <a:r>
              <a:rPr lang="en-US" sz="2000" dirty="0"/>
              <a:t>Incorporate external data.</a:t>
            </a:r>
          </a:p>
          <a:p>
            <a:pPr lvl="1">
              <a:defRPr sz="2000">
                <a:solidFill>
                  <a:srgbClr val="000000"/>
                </a:solidFill>
                <a:latin typeface="Garamond"/>
              </a:defRPr>
            </a:pPr>
            <a:r>
              <a:rPr lang="en-US" sz="2000" dirty="0"/>
              <a:t>Allow flexible analysis.</a:t>
            </a:r>
          </a:p>
          <a:p>
            <a:pPr lvl="1">
              <a:defRPr sz="2000">
                <a:solidFill>
                  <a:srgbClr val="000000"/>
                </a:solidFill>
                <a:latin typeface="Garamond"/>
              </a:defRPr>
            </a:pPr>
            <a:r>
              <a:rPr lang="en-US" sz="2000" dirty="0"/>
              <a:t>Support scenario evaluation rather than predefined reports.</a:t>
            </a:r>
          </a:p>
          <a:p>
            <a:pPr lvl="3">
              <a:defRPr sz="2000">
                <a:solidFill>
                  <a:srgbClr val="000000"/>
                </a:solidFill>
                <a:latin typeface="Garamond"/>
              </a:defRPr>
            </a:pPr>
            <a:endParaRPr lang="en-US" sz="1200" dirty="0"/>
          </a:p>
          <a:p>
            <a:pPr>
              <a:defRPr sz="2000">
                <a:solidFill>
                  <a:srgbClr val="000000"/>
                </a:solidFill>
                <a:latin typeface="Garamond"/>
              </a:defRPr>
            </a:pPr>
            <a:endParaRPr lang="en-US" sz="2400" dirty="0"/>
          </a:p>
        </p:txBody>
      </p:sp>
      <p:sp>
        <p:nvSpPr>
          <p:cNvPr id="4" name="Rectangle 3">
            <a:extLst>
              <a:ext uri="{FF2B5EF4-FFF2-40B4-BE49-F238E27FC236}">
                <a16:creationId xmlns:a16="http://schemas.microsoft.com/office/drawing/2014/main" id="{3B643C0D-649A-BBC5-4889-E9BF6A249ABE}"/>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2017539-D668-F2E5-98E0-71E565561645}"/>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BI Examples: Decision Support Systems</a:t>
            </a:r>
          </a:p>
        </p:txBody>
      </p:sp>
      <p:sp>
        <p:nvSpPr>
          <p:cNvPr id="5" name="Rectangle 4">
            <a:extLst>
              <a:ext uri="{FF2B5EF4-FFF2-40B4-BE49-F238E27FC236}">
                <a16:creationId xmlns:a16="http://schemas.microsoft.com/office/drawing/2014/main" id="{80651292-3315-B597-66CE-382D7471FC4D}"/>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165817E-EA94-EC06-CC9F-FA3DDBB5D9BD}"/>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7D2B4403-7577-2A75-14EB-56B2B450F74D}"/>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21</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401651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8" end="8"/>
                                            </p:txEl>
                                          </p:spTgt>
                                        </p:tgtEl>
                                        <p:attrNameLst>
                                          <p:attrName>style.visibility</p:attrName>
                                        </p:attrNameLst>
                                      </p:cBhvr>
                                      <p:to>
                                        <p:strVal val="visible"/>
                                      </p:to>
                                    </p:set>
                                    <p:animEffect transition="in" filter="fade">
                                      <p:cBhvr>
                                        <p:cTn id="28" dur="500"/>
                                        <p:tgtEl>
                                          <p:spTgt spid="3">
                                            <p:txEl>
                                              <p:pRg st="8" end="8"/>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animEffect transition="in" filter="fade">
                                      <p:cBhvr>
                                        <p:cTn id="31" dur="500"/>
                                        <p:tgtEl>
                                          <p:spTgt spid="3">
                                            <p:txEl>
                                              <p:pRg st="9" end="9"/>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3">
                                            <p:txEl>
                                              <p:pRg st="10" end="10"/>
                                            </p:txEl>
                                          </p:spTgt>
                                        </p:tgtEl>
                                        <p:attrNameLst>
                                          <p:attrName>style.visibility</p:attrName>
                                        </p:attrNameLst>
                                      </p:cBhvr>
                                      <p:to>
                                        <p:strVal val="visible"/>
                                      </p:to>
                                    </p:set>
                                    <p:animEffect transition="in" filter="fade">
                                      <p:cBhvr>
                                        <p:cTn id="34" dur="500"/>
                                        <p:tgtEl>
                                          <p:spTgt spid="3">
                                            <p:txEl>
                                              <p:pRg st="10" end="10"/>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3">
                                            <p:txEl>
                                              <p:pRg st="11" end="11"/>
                                            </p:txEl>
                                          </p:spTgt>
                                        </p:tgtEl>
                                        <p:attrNameLst>
                                          <p:attrName>style.visibility</p:attrName>
                                        </p:attrNameLst>
                                      </p:cBhvr>
                                      <p:to>
                                        <p:strVal val="visible"/>
                                      </p:to>
                                    </p:set>
                                    <p:animEffect transition="in" filter="fade">
                                      <p:cBhvr>
                                        <p:cTn id="37"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5F43A-879F-809B-95BC-E2260BCA76A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AECD495-CE4B-24BD-3FF9-6BF3A93771BE}"/>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b="1" dirty="0"/>
              <a:t>Executive Support Systems</a:t>
            </a:r>
            <a:r>
              <a:rPr lang="en-US" sz="2400" dirty="0"/>
              <a:t> (ESS) help senior managers make </a:t>
            </a:r>
            <a:r>
              <a:rPr lang="en-US" sz="2400" b="1" dirty="0"/>
              <a:t>nonroutine, strategic decisions </a:t>
            </a:r>
            <a:r>
              <a:rPr lang="en-US" sz="2400" dirty="0"/>
              <a:t>that rely on judgment and insight.</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ESS draw on summarized outputs from MIS and DSS, along with external information such as regulatory changes, market conditions, and competitor actions.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ESS emphasize </a:t>
            </a:r>
            <a:r>
              <a:rPr lang="en-US" sz="2400" b="1" dirty="0"/>
              <a:t>clarity, simplicity, and speed</a:t>
            </a:r>
            <a:r>
              <a:rPr lang="en-US" sz="2400" dirty="0"/>
              <a:t>, since executives need immediate access to the most critical information.</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Information is typically delivered through a </a:t>
            </a:r>
            <a:r>
              <a:rPr lang="en-US" sz="2400" b="1" dirty="0"/>
              <a:t>portal</a:t>
            </a:r>
            <a:r>
              <a:rPr lang="en-US" sz="2400" dirty="0"/>
              <a:t>, providing integrated and personalized content from multiple sources.</a:t>
            </a:r>
          </a:p>
          <a:p>
            <a:pPr lvl="3">
              <a:defRPr sz="2000">
                <a:solidFill>
                  <a:srgbClr val="000000"/>
                </a:solidFill>
                <a:latin typeface="Garamond"/>
              </a:defRPr>
            </a:pPr>
            <a:endParaRPr lang="en-US" sz="1200" dirty="0"/>
          </a:p>
          <a:p>
            <a:pPr>
              <a:defRPr sz="2000">
                <a:solidFill>
                  <a:srgbClr val="000000"/>
                </a:solidFill>
                <a:latin typeface="Garamond"/>
              </a:defRPr>
            </a:pPr>
            <a:r>
              <a:rPr lang="en-US" sz="2400" b="1" dirty="0"/>
              <a:t>BI dashboards</a:t>
            </a:r>
            <a:r>
              <a:rPr lang="en-US" sz="2400" dirty="0"/>
              <a:t>, displaying key performance indicators on a single screen, are a core component of ESS.</a:t>
            </a:r>
          </a:p>
        </p:txBody>
      </p:sp>
      <p:sp>
        <p:nvSpPr>
          <p:cNvPr id="4" name="Rectangle 3">
            <a:extLst>
              <a:ext uri="{FF2B5EF4-FFF2-40B4-BE49-F238E27FC236}">
                <a16:creationId xmlns:a16="http://schemas.microsoft.com/office/drawing/2014/main" id="{0F1945A8-0F6C-E41E-7EB5-5D01EFF1F071}"/>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FC08761-8EAB-6108-F1C7-021E474CD573}"/>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BI Examples: Executive Support Systems</a:t>
            </a:r>
          </a:p>
        </p:txBody>
      </p:sp>
      <p:sp>
        <p:nvSpPr>
          <p:cNvPr id="5" name="Rectangle 4">
            <a:extLst>
              <a:ext uri="{FF2B5EF4-FFF2-40B4-BE49-F238E27FC236}">
                <a16:creationId xmlns:a16="http://schemas.microsoft.com/office/drawing/2014/main" id="{AB0FFDE7-5200-68E8-68EB-1961AC4FDE61}"/>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E35A1C8E-2E1A-F590-94BC-E58543D96654}"/>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E35BCAAC-B589-501D-4805-E8A269B1DD7D}"/>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22</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1639553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BE3CEE53-8878-1D7F-E892-0F82F1751B0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2DB3F89-8A6D-B119-4352-6FE21C4C57EA}"/>
              </a:ext>
            </a:extLst>
          </p:cNvPr>
          <p:cNvSpPr txBox="1"/>
          <p:nvPr/>
        </p:nvSpPr>
        <p:spPr>
          <a:xfrm>
            <a:off x="-1" y="3044279"/>
            <a:ext cx="12188825" cy="769441"/>
          </a:xfrm>
          <a:prstGeom prst="rect">
            <a:avLst/>
          </a:prstGeom>
          <a:noFill/>
        </p:spPr>
        <p:txBody>
          <a:bodyPr wrap="square">
            <a:spAutoFit/>
          </a:bodyPr>
          <a:lstStyle/>
          <a:p>
            <a:pPr algn="ctr">
              <a:defRPr sz="4000" b="1">
                <a:solidFill>
                  <a:srgbClr val="FDB913"/>
                </a:solidFill>
                <a:latin typeface="Garamond"/>
              </a:defRPr>
            </a:pPr>
            <a:r>
              <a:rPr lang="en-US" sz="4400" dirty="0">
                <a:solidFill>
                  <a:schemeClr val="bg1"/>
                </a:solidFill>
              </a:rPr>
              <a:t>Enterprise Applications</a:t>
            </a:r>
            <a:endParaRPr sz="4400" dirty="0">
              <a:solidFill>
                <a:schemeClr val="bg1"/>
              </a:solidFill>
            </a:endParaRPr>
          </a:p>
        </p:txBody>
      </p:sp>
    </p:spTree>
    <p:extLst>
      <p:ext uri="{BB962C8B-B14F-4D97-AF65-F5344CB8AC3E}">
        <p14:creationId xmlns:p14="http://schemas.microsoft.com/office/powerpoint/2010/main" val="42446363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A2C31-802B-C304-5862-3F1141EBDFA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8CC6859-9F8B-E2D5-2C86-46FF32AE4A4A}"/>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How do firms manage information systems used across different functions and management levels?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One solution is </a:t>
            </a:r>
            <a:r>
              <a:rPr lang="en-US" sz="2400" b="1" dirty="0"/>
              <a:t>Enterprise Applications</a:t>
            </a:r>
            <a:r>
              <a:rPr lang="en-US" sz="2400" dirty="0"/>
              <a:t>:</a:t>
            </a:r>
          </a:p>
          <a:p>
            <a:pPr lvl="1">
              <a:defRPr sz="2000">
                <a:solidFill>
                  <a:srgbClr val="000000"/>
                </a:solidFill>
                <a:latin typeface="Garamond"/>
              </a:defRPr>
            </a:pPr>
            <a:r>
              <a:rPr lang="en-US" sz="2000" dirty="0"/>
              <a:t>Systems that integrate and coordinate processes, data, and decisions across the firm.</a:t>
            </a:r>
          </a:p>
          <a:p>
            <a:pPr lvl="1">
              <a:defRPr sz="2000">
                <a:solidFill>
                  <a:srgbClr val="000000"/>
                </a:solidFill>
                <a:latin typeface="Garamond"/>
              </a:defRPr>
            </a:pPr>
            <a:r>
              <a:rPr lang="en-US" sz="2000" dirty="0"/>
              <a:t>Span multiple functional areas.</a:t>
            </a:r>
          </a:p>
          <a:p>
            <a:pPr lvl="1">
              <a:defRPr sz="2000">
                <a:solidFill>
                  <a:srgbClr val="000000"/>
                </a:solidFill>
                <a:latin typeface="Garamond"/>
              </a:defRPr>
            </a:pPr>
            <a:r>
              <a:rPr lang="en-US" sz="2000" dirty="0"/>
              <a:t>Support organization-wide processes, and often extend to customers, suppliers, and partners.</a:t>
            </a:r>
          </a:p>
          <a:p>
            <a:pPr lvl="1">
              <a:defRPr sz="2000">
                <a:solidFill>
                  <a:srgbClr val="000000"/>
                </a:solidFill>
                <a:latin typeface="Garamond"/>
              </a:defRPr>
            </a:pPr>
            <a:r>
              <a:rPr lang="en-US" sz="2000" dirty="0"/>
              <a:t>Serve all levels of management.</a:t>
            </a:r>
          </a:p>
          <a:p>
            <a:pPr lvl="1">
              <a:defRPr sz="2000">
                <a:solidFill>
                  <a:srgbClr val="000000"/>
                </a:solidFill>
                <a:latin typeface="Garamond"/>
              </a:defRPr>
            </a:pPr>
            <a:r>
              <a:rPr lang="en-US" sz="2000" dirty="0"/>
              <a:t>Enable TPS, MIS, DSS, and ESS to work together seamlessly.</a:t>
            </a:r>
          </a:p>
          <a:p>
            <a:pPr lvl="4">
              <a:defRPr sz="2000">
                <a:solidFill>
                  <a:srgbClr val="000000"/>
                </a:solidFill>
                <a:latin typeface="Garamond"/>
              </a:defRPr>
            </a:pPr>
            <a:endParaRPr lang="en-US" sz="1200" dirty="0"/>
          </a:p>
          <a:p>
            <a:pPr>
              <a:defRPr sz="2000">
                <a:solidFill>
                  <a:srgbClr val="000000"/>
                </a:solidFill>
                <a:latin typeface="Garamond"/>
              </a:defRPr>
            </a:pPr>
            <a:r>
              <a:rPr lang="en-US" sz="2400" dirty="0"/>
              <a:t>There are four major applications: ERP, SCM, CRM, and KMS.</a:t>
            </a:r>
          </a:p>
        </p:txBody>
      </p:sp>
      <p:sp>
        <p:nvSpPr>
          <p:cNvPr id="4" name="Rectangle 3">
            <a:extLst>
              <a:ext uri="{FF2B5EF4-FFF2-40B4-BE49-F238E27FC236}">
                <a16:creationId xmlns:a16="http://schemas.microsoft.com/office/drawing/2014/main" id="{2C382C46-20D8-929A-D0F3-3BF5D82C823F}"/>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CE7F1F-3AD2-D14C-2CCE-47571166E168}"/>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Enterprise Applications</a:t>
            </a:r>
          </a:p>
        </p:txBody>
      </p:sp>
      <p:sp>
        <p:nvSpPr>
          <p:cNvPr id="5" name="Rectangle 4">
            <a:extLst>
              <a:ext uri="{FF2B5EF4-FFF2-40B4-BE49-F238E27FC236}">
                <a16:creationId xmlns:a16="http://schemas.microsoft.com/office/drawing/2014/main" id="{82D27102-EA53-9706-8C05-E13656C29D3E}"/>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80AA0347-5587-1E77-D076-0239D49DD778}"/>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2EEC47EC-284D-8D54-0979-1BBE53FA2FB3}"/>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24</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2526438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par>
                                <p:cTn id="25" presetID="10"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fade">
                                      <p:cBhvr>
                                        <p:cTn id="27" dur="500"/>
                                        <p:tgtEl>
                                          <p:spTgt spid="3">
                                            <p:txEl>
                                              <p:pRg st="7" end="7"/>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E3F75-0034-1214-FAB7-20AC9F81489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F28641-BF77-2A05-4615-308140359F2C}"/>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One major type of enterprise application is the </a:t>
            </a:r>
            <a:r>
              <a:rPr lang="en-US" sz="2400" b="1" dirty="0"/>
              <a:t>Enterprise Resource Planning </a:t>
            </a:r>
            <a:r>
              <a:rPr lang="en-US" sz="2400" dirty="0"/>
              <a:t>(ERP) system.</a:t>
            </a:r>
            <a:endParaRPr lang="en-US" sz="2000" dirty="0"/>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ERP systems are integrated, enterprise-wide information systems that coordinate core business processes across functional areas.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ERP reflects how modern firms operate: Business functions are highly interconnected (e.g., fulfilling an order touches sales, inventory, production, accounting, and logistics).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SAP is the global leader in ERP software: Its flagship ERP platform integrates finance, HR, manufacturing, and supply chain within a single system.</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SAP is among the most valuable firms in Europe.</a:t>
            </a:r>
          </a:p>
          <a:p>
            <a:pPr lvl="1">
              <a:defRPr sz="2000">
                <a:solidFill>
                  <a:srgbClr val="000000"/>
                </a:solidFill>
                <a:latin typeface="Garamond"/>
              </a:defRPr>
            </a:pPr>
            <a:r>
              <a:rPr lang="en-US" sz="2000" dirty="0"/>
              <a:t>ASML ($519B), LVMH ($332B), Novo Nordisk ($274B), SAP ($265B), </a:t>
            </a:r>
            <a:r>
              <a:rPr lang="en-US" sz="2000" dirty="0" err="1"/>
              <a:t>Prosus</a:t>
            </a:r>
            <a:r>
              <a:rPr lang="en-US" sz="2000" dirty="0"/>
              <a:t> ($261B).</a:t>
            </a:r>
          </a:p>
        </p:txBody>
      </p:sp>
      <p:sp>
        <p:nvSpPr>
          <p:cNvPr id="4" name="Rectangle 3">
            <a:extLst>
              <a:ext uri="{FF2B5EF4-FFF2-40B4-BE49-F238E27FC236}">
                <a16:creationId xmlns:a16="http://schemas.microsoft.com/office/drawing/2014/main" id="{32938169-6547-1386-E99A-59476EE22043}"/>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5D9B0FA-F08E-F232-D22B-0561F4705CDE}"/>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Enterprise Resource Planning (ERP) Systems</a:t>
            </a:r>
          </a:p>
        </p:txBody>
      </p:sp>
      <p:sp>
        <p:nvSpPr>
          <p:cNvPr id="5" name="Rectangle 4">
            <a:extLst>
              <a:ext uri="{FF2B5EF4-FFF2-40B4-BE49-F238E27FC236}">
                <a16:creationId xmlns:a16="http://schemas.microsoft.com/office/drawing/2014/main" id="{33952DAA-9347-A382-DE4B-E158CD56DA47}"/>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CC5B768F-6DDA-FB47-016F-156CCA066241}"/>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EE0E1DBC-0A2F-1366-2202-8ED9BE134876}"/>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25</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3461621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500"/>
                                        <p:tgtEl>
                                          <p:spTgt spid="3">
                                            <p:txEl>
                                              <p:pRg st="8" end="8"/>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3">
                                            <p:txEl>
                                              <p:pRg st="9" end="9"/>
                                            </p:txEl>
                                          </p:spTgt>
                                        </p:tgtEl>
                                        <p:attrNameLst>
                                          <p:attrName>style.visibility</p:attrName>
                                        </p:attrNameLst>
                                      </p:cBhvr>
                                      <p:to>
                                        <p:strVal val="visible"/>
                                      </p:to>
                                    </p:set>
                                    <p:animEffect transition="in" filter="fade">
                                      <p:cBhvr>
                                        <p:cTn id="30"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FBD6F-C001-927E-2C84-CF0DB09E2B7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CBB3018-F528-5F6B-5D52-E60138283C6E}"/>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12C1100-C58B-94C7-626A-B1316FF3544F}"/>
              </a:ext>
            </a:extLst>
          </p:cNvPr>
          <p:cNvSpPr>
            <a:spLocks noGrp="1"/>
          </p:cNvSpPr>
          <p:nvPr>
            <p:ph type="title"/>
          </p:nvPr>
        </p:nvSpPr>
        <p:spPr>
          <a:xfrm>
            <a:off x="0" y="0"/>
            <a:ext cx="12188825" cy="923636"/>
          </a:xfrm>
        </p:spPr>
        <p:txBody>
          <a:bodyPr>
            <a:noAutofit/>
          </a:bodyPr>
          <a:lstStyle/>
          <a:p>
            <a:pPr algn="l">
              <a:defRPr sz="4000" b="1">
                <a:solidFill>
                  <a:srgbClr val="FDB913"/>
                </a:solidFill>
                <a:latin typeface="Garamond"/>
              </a:defRPr>
            </a:pPr>
            <a:r>
              <a:rPr lang="en-US" sz="2400" dirty="0">
                <a:solidFill>
                  <a:schemeClr val="bg1"/>
                </a:solidFill>
              </a:rPr>
              <a:t>  Bloomberg Technology (2025, July 12). </a:t>
            </a:r>
            <a:r>
              <a:rPr lang="en-US" sz="2400" i="1" dirty="0">
                <a:solidFill>
                  <a:schemeClr val="bg1"/>
                </a:solidFill>
              </a:rPr>
              <a:t>How SAP Became the Tech Engine Behind Global </a:t>
            </a:r>
            <a:br>
              <a:rPr lang="en-US" sz="2400" i="1" dirty="0">
                <a:solidFill>
                  <a:schemeClr val="bg1"/>
                </a:solidFill>
              </a:rPr>
            </a:br>
            <a:r>
              <a:rPr lang="en-US" sz="2400" i="1" dirty="0">
                <a:solidFill>
                  <a:schemeClr val="bg1"/>
                </a:solidFill>
              </a:rPr>
              <a:t>  Business </a:t>
            </a:r>
            <a:r>
              <a:rPr lang="en-US" sz="2400" dirty="0">
                <a:solidFill>
                  <a:schemeClr val="bg1"/>
                </a:solidFill>
              </a:rPr>
              <a:t>[Video]. YouTube. https://youtu.be/o1yw81Z7BOI?si=I7_jebYmgeXwmkD7</a:t>
            </a:r>
          </a:p>
        </p:txBody>
      </p:sp>
      <p:sp>
        <p:nvSpPr>
          <p:cNvPr id="5" name="Rectangle 4">
            <a:extLst>
              <a:ext uri="{FF2B5EF4-FFF2-40B4-BE49-F238E27FC236}">
                <a16:creationId xmlns:a16="http://schemas.microsoft.com/office/drawing/2014/main" id="{6DE4AD94-C172-ED75-4DF0-B42017C8713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98616459-D778-0EFA-D6B0-06F572E91BA5}"/>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67E7A576-A82A-A09E-DEAE-67D34AAB533C}"/>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26</a:t>
            </a:fld>
            <a:r>
              <a:rPr lang="en-US" b="1" dirty="0">
                <a:solidFill>
                  <a:schemeClr val="bg1"/>
                </a:solidFill>
                <a:latin typeface="Garamond" panose="02020404030301010803" pitchFamily="18" charset="0"/>
              </a:rPr>
              <a:t> </a:t>
            </a:r>
          </a:p>
        </p:txBody>
      </p:sp>
      <p:pic>
        <p:nvPicPr>
          <p:cNvPr id="10" name="Online Media 9" title="How SAP Became the Tech Engine Behind Global Business">
            <a:hlinkClick r:id="" action="ppaction://media"/>
            <a:extLst>
              <a:ext uri="{FF2B5EF4-FFF2-40B4-BE49-F238E27FC236}">
                <a16:creationId xmlns:a16="http://schemas.microsoft.com/office/drawing/2014/main" id="{B9F929A1-4E72-6B87-6F14-CCAD85F779A0}"/>
              </a:ext>
            </a:extLst>
          </p:cNvPr>
          <p:cNvPicPr>
            <a:picLocks noRot="1" noChangeAspect="1"/>
          </p:cNvPicPr>
          <p:nvPr>
            <a:videoFile r:link="rId1"/>
          </p:nvPr>
        </p:nvPicPr>
        <p:blipFill>
          <a:blip r:embed="rId4"/>
          <a:stretch>
            <a:fillRect/>
          </a:stretch>
        </p:blipFill>
        <p:spPr>
          <a:xfrm>
            <a:off x="1239190" y="970332"/>
            <a:ext cx="9710442" cy="5486400"/>
          </a:xfrm>
          <a:prstGeom prst="rect">
            <a:avLst/>
          </a:prstGeom>
        </p:spPr>
      </p:pic>
    </p:spTree>
    <p:extLst>
      <p:ext uri="{BB962C8B-B14F-4D97-AF65-F5344CB8AC3E}">
        <p14:creationId xmlns:p14="http://schemas.microsoft.com/office/powerpoint/2010/main" val="2349927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0"/>
                </p:tgtEl>
              </p:cMediaNode>
            </p:video>
            <p:seq concurrent="1" nextAc="seek">
              <p:cTn id="8" restart="whenNotActive" fill="hold" evtFilter="cancelBubble" nodeType="interactiveSeq">
                <p:stCondLst>
                  <p:cond evt="onClick" delay="0">
                    <p:tgtEl>
                      <p:spTgt spid="10"/>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0033B-4D03-91CF-4E2D-F3C238A5241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B600BB7-CEBE-03A3-C25B-8DC3B85526D2}"/>
              </a:ext>
            </a:extLst>
          </p:cNvPr>
          <p:cNvSpPr>
            <a:spLocks noGrp="1"/>
          </p:cNvSpPr>
          <p:nvPr>
            <p:ph idx="1"/>
          </p:nvPr>
        </p:nvSpPr>
        <p:spPr>
          <a:xfrm>
            <a:off x="457200" y="1300900"/>
            <a:ext cx="2936450" cy="5099900"/>
          </a:xfrm>
        </p:spPr>
        <p:txBody>
          <a:bodyPr>
            <a:normAutofit/>
          </a:bodyPr>
          <a:lstStyle/>
          <a:p>
            <a:pPr>
              <a:defRPr sz="2000">
                <a:solidFill>
                  <a:srgbClr val="000000"/>
                </a:solidFill>
                <a:latin typeface="Garamond"/>
              </a:defRPr>
            </a:pPr>
            <a:r>
              <a:rPr lang="en-US" sz="2200" dirty="0"/>
              <a:t>Group #1</a:t>
            </a:r>
          </a:p>
          <a:p>
            <a:pPr lvl="1">
              <a:defRPr sz="2000">
                <a:solidFill>
                  <a:srgbClr val="000000"/>
                </a:solidFill>
                <a:latin typeface="Garamond"/>
              </a:defRPr>
            </a:pPr>
            <a:r>
              <a:rPr lang="en-US" sz="1800" dirty="0"/>
              <a:t>Cedric Buchholtz</a:t>
            </a:r>
          </a:p>
          <a:p>
            <a:pPr lvl="1">
              <a:defRPr sz="2000">
                <a:solidFill>
                  <a:srgbClr val="000000"/>
                </a:solidFill>
                <a:latin typeface="Garamond"/>
              </a:defRPr>
            </a:pPr>
            <a:r>
              <a:rPr lang="en-US" sz="1800" dirty="0"/>
              <a:t>Ty Christensen</a:t>
            </a:r>
          </a:p>
          <a:p>
            <a:pPr lvl="1">
              <a:defRPr sz="2000">
                <a:solidFill>
                  <a:srgbClr val="000000"/>
                </a:solidFill>
                <a:latin typeface="Garamond"/>
              </a:defRPr>
            </a:pPr>
            <a:r>
              <a:rPr lang="en-US" sz="1800" dirty="0"/>
              <a:t>Jaden Griffin</a:t>
            </a:r>
          </a:p>
          <a:p>
            <a:pPr lvl="1">
              <a:defRPr sz="2000">
                <a:solidFill>
                  <a:srgbClr val="000000"/>
                </a:solidFill>
                <a:latin typeface="Garamond"/>
              </a:defRPr>
            </a:pPr>
            <a:r>
              <a:rPr lang="en-US" sz="1800" dirty="0"/>
              <a:t>Hyrum Tanner</a:t>
            </a:r>
          </a:p>
          <a:p>
            <a:pPr lvl="4">
              <a:defRPr sz="2000">
                <a:solidFill>
                  <a:srgbClr val="000000"/>
                </a:solidFill>
                <a:latin typeface="Garamond"/>
              </a:defRPr>
            </a:pPr>
            <a:endParaRPr lang="en-US" sz="1200" dirty="0"/>
          </a:p>
          <a:p>
            <a:pPr>
              <a:defRPr sz="2000">
                <a:solidFill>
                  <a:srgbClr val="000000"/>
                </a:solidFill>
                <a:latin typeface="Garamond"/>
              </a:defRPr>
            </a:pPr>
            <a:r>
              <a:rPr lang="en-US" sz="2200" dirty="0"/>
              <a:t>Group #2</a:t>
            </a:r>
          </a:p>
          <a:p>
            <a:pPr lvl="1">
              <a:defRPr sz="2000">
                <a:solidFill>
                  <a:srgbClr val="000000"/>
                </a:solidFill>
                <a:latin typeface="Garamond"/>
              </a:defRPr>
            </a:pPr>
            <a:r>
              <a:rPr lang="sv-SE" sz="1800" dirty="0"/>
              <a:t>Abby Felts</a:t>
            </a:r>
          </a:p>
          <a:p>
            <a:pPr lvl="1">
              <a:defRPr sz="2000">
                <a:solidFill>
                  <a:srgbClr val="000000"/>
                </a:solidFill>
                <a:latin typeface="Garamond"/>
              </a:defRPr>
            </a:pPr>
            <a:r>
              <a:rPr lang="sv-SE" sz="1800" dirty="0"/>
              <a:t>Addison Moos</a:t>
            </a:r>
          </a:p>
          <a:p>
            <a:pPr lvl="1">
              <a:defRPr sz="2000">
                <a:solidFill>
                  <a:srgbClr val="000000"/>
                </a:solidFill>
                <a:latin typeface="Garamond"/>
              </a:defRPr>
            </a:pPr>
            <a:r>
              <a:rPr lang="sv-SE" sz="1800" dirty="0"/>
              <a:t>Anna Nelson</a:t>
            </a:r>
          </a:p>
          <a:p>
            <a:pPr lvl="1">
              <a:defRPr sz="2000">
                <a:solidFill>
                  <a:srgbClr val="000000"/>
                </a:solidFill>
                <a:latin typeface="Garamond"/>
              </a:defRPr>
            </a:pPr>
            <a:r>
              <a:rPr lang="sv-SE" sz="1800" dirty="0"/>
              <a:t>Maddie Skogman</a:t>
            </a:r>
            <a:endParaRPr lang="en-US" sz="1800" dirty="0"/>
          </a:p>
          <a:p>
            <a:pPr lvl="4">
              <a:defRPr sz="2000">
                <a:solidFill>
                  <a:srgbClr val="000000"/>
                </a:solidFill>
                <a:latin typeface="Garamond"/>
              </a:defRPr>
            </a:pPr>
            <a:endParaRPr lang="en-US" sz="1200" dirty="0"/>
          </a:p>
        </p:txBody>
      </p:sp>
      <p:sp>
        <p:nvSpPr>
          <p:cNvPr id="4" name="Rectangle 3">
            <a:extLst>
              <a:ext uri="{FF2B5EF4-FFF2-40B4-BE49-F238E27FC236}">
                <a16:creationId xmlns:a16="http://schemas.microsoft.com/office/drawing/2014/main" id="{091288A9-597B-C3D7-D3E8-4C8978E19658}"/>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9CAAD4E-2969-E8AC-C3EC-4E27F2584623}"/>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Final &amp; Homework Groups</a:t>
            </a:r>
          </a:p>
        </p:txBody>
      </p:sp>
      <p:sp>
        <p:nvSpPr>
          <p:cNvPr id="5" name="Rectangle 4">
            <a:extLst>
              <a:ext uri="{FF2B5EF4-FFF2-40B4-BE49-F238E27FC236}">
                <a16:creationId xmlns:a16="http://schemas.microsoft.com/office/drawing/2014/main" id="{31732A9F-56F9-EBC3-03B3-8F4E2400718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37F043CC-1DB1-FD93-A320-EE2DDAF85EB7}"/>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08C87256-B75B-3E12-84D6-4E3F747F8F4C}"/>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27</a:t>
            </a:fld>
            <a:r>
              <a:rPr lang="en-US" b="1" dirty="0">
                <a:solidFill>
                  <a:schemeClr val="bg1"/>
                </a:solidFill>
                <a:latin typeface="Garamond" panose="02020404030301010803" pitchFamily="18" charset="0"/>
              </a:rPr>
              <a:t> </a:t>
            </a:r>
          </a:p>
        </p:txBody>
      </p:sp>
      <p:sp>
        <p:nvSpPr>
          <p:cNvPr id="8" name="Content Placeholder 2">
            <a:extLst>
              <a:ext uri="{FF2B5EF4-FFF2-40B4-BE49-F238E27FC236}">
                <a16:creationId xmlns:a16="http://schemas.microsoft.com/office/drawing/2014/main" id="{A890EEDF-BD25-1FEC-1E7B-F721833E201B}"/>
              </a:ext>
            </a:extLst>
          </p:cNvPr>
          <p:cNvSpPr txBox="1">
            <a:spLocks/>
          </p:cNvSpPr>
          <p:nvPr/>
        </p:nvSpPr>
        <p:spPr>
          <a:xfrm>
            <a:off x="4065293" y="1300900"/>
            <a:ext cx="3497344" cy="5099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sz="2200" dirty="0"/>
              <a:t>Group #3</a:t>
            </a:r>
          </a:p>
          <a:p>
            <a:pPr lvl="1">
              <a:defRPr sz="2000">
                <a:solidFill>
                  <a:srgbClr val="000000"/>
                </a:solidFill>
                <a:latin typeface="Garamond"/>
              </a:defRPr>
            </a:pPr>
            <a:r>
              <a:rPr lang="en-US" sz="1800" dirty="0"/>
              <a:t>Brody Black</a:t>
            </a:r>
          </a:p>
          <a:p>
            <a:pPr lvl="1">
              <a:defRPr sz="2000">
                <a:solidFill>
                  <a:srgbClr val="000000"/>
                </a:solidFill>
                <a:latin typeface="Garamond"/>
              </a:defRPr>
            </a:pPr>
            <a:r>
              <a:rPr lang="en-US" sz="1800" dirty="0"/>
              <a:t>Jack Hanson</a:t>
            </a:r>
          </a:p>
          <a:p>
            <a:pPr lvl="1">
              <a:defRPr sz="2000">
                <a:solidFill>
                  <a:srgbClr val="000000"/>
                </a:solidFill>
                <a:latin typeface="Garamond"/>
              </a:defRPr>
            </a:pPr>
            <a:r>
              <a:rPr lang="en-US" sz="1800" dirty="0"/>
              <a:t>Connor Huntley</a:t>
            </a:r>
          </a:p>
          <a:p>
            <a:pPr lvl="1">
              <a:defRPr sz="2000">
                <a:solidFill>
                  <a:srgbClr val="000000"/>
                </a:solidFill>
                <a:latin typeface="Garamond"/>
              </a:defRPr>
            </a:pPr>
            <a:r>
              <a:rPr lang="en-US" sz="1800" dirty="0"/>
              <a:t>Dawson Roderick</a:t>
            </a:r>
          </a:p>
          <a:p>
            <a:pPr lvl="1">
              <a:defRPr sz="2000">
                <a:solidFill>
                  <a:srgbClr val="000000"/>
                </a:solidFill>
                <a:latin typeface="Garamond"/>
              </a:defRPr>
            </a:pPr>
            <a:r>
              <a:rPr lang="en-US" sz="1800" dirty="0"/>
              <a:t>Damon </a:t>
            </a:r>
            <a:r>
              <a:rPr lang="en-US" sz="1800" dirty="0" err="1"/>
              <a:t>Skappel</a:t>
            </a:r>
            <a:endParaRPr lang="en-US" sz="1800" dirty="0"/>
          </a:p>
          <a:p>
            <a:pPr lvl="4">
              <a:defRPr sz="2000">
                <a:solidFill>
                  <a:srgbClr val="000000"/>
                </a:solidFill>
                <a:latin typeface="Garamond"/>
              </a:defRPr>
            </a:pPr>
            <a:endParaRPr lang="en-US" sz="1200" dirty="0"/>
          </a:p>
          <a:p>
            <a:pPr>
              <a:defRPr sz="2000">
                <a:solidFill>
                  <a:srgbClr val="000000"/>
                </a:solidFill>
                <a:latin typeface="Garamond"/>
              </a:defRPr>
            </a:pPr>
            <a:r>
              <a:rPr lang="en-US" sz="2200" dirty="0">
                <a:solidFill>
                  <a:srgbClr val="000000"/>
                </a:solidFill>
                <a:latin typeface="Garamond"/>
              </a:rPr>
              <a:t>Group #4</a:t>
            </a:r>
          </a:p>
          <a:p>
            <a:pPr lvl="1">
              <a:defRPr sz="2000">
                <a:solidFill>
                  <a:srgbClr val="000000"/>
                </a:solidFill>
                <a:latin typeface="Garamond"/>
              </a:defRPr>
            </a:pPr>
            <a:r>
              <a:rPr lang="en-US" sz="1800" dirty="0">
                <a:solidFill>
                  <a:srgbClr val="000000"/>
                </a:solidFill>
                <a:latin typeface="Garamond"/>
              </a:rPr>
              <a:t>Peter Hiebert</a:t>
            </a:r>
          </a:p>
          <a:p>
            <a:pPr lvl="1">
              <a:defRPr sz="2000">
                <a:solidFill>
                  <a:srgbClr val="000000"/>
                </a:solidFill>
                <a:latin typeface="Garamond"/>
              </a:defRPr>
            </a:pPr>
            <a:r>
              <a:rPr lang="en-US" sz="1800" dirty="0">
                <a:solidFill>
                  <a:srgbClr val="000000"/>
                </a:solidFill>
                <a:latin typeface="Garamond"/>
              </a:rPr>
              <a:t>Mason Hughes</a:t>
            </a:r>
          </a:p>
          <a:p>
            <a:pPr lvl="1">
              <a:defRPr sz="2000">
                <a:solidFill>
                  <a:srgbClr val="000000"/>
                </a:solidFill>
                <a:latin typeface="Garamond"/>
              </a:defRPr>
            </a:pPr>
            <a:r>
              <a:rPr lang="en-US" sz="1800" dirty="0">
                <a:solidFill>
                  <a:srgbClr val="000000"/>
                </a:solidFill>
                <a:latin typeface="Garamond"/>
              </a:rPr>
              <a:t>Jake Long</a:t>
            </a:r>
          </a:p>
          <a:p>
            <a:pPr lvl="1">
              <a:defRPr sz="2000">
                <a:solidFill>
                  <a:srgbClr val="000000"/>
                </a:solidFill>
                <a:latin typeface="Garamond"/>
              </a:defRPr>
            </a:pPr>
            <a:r>
              <a:rPr lang="en-US" sz="1800" dirty="0">
                <a:solidFill>
                  <a:srgbClr val="000000"/>
                </a:solidFill>
                <a:latin typeface="Garamond"/>
              </a:rPr>
              <a:t>Collin Schulz</a:t>
            </a:r>
          </a:p>
          <a:p>
            <a:pPr marL="0" indent="0">
              <a:buNone/>
              <a:defRPr sz="2000">
                <a:solidFill>
                  <a:srgbClr val="000000"/>
                </a:solidFill>
                <a:latin typeface="Garamond"/>
              </a:defRPr>
            </a:pPr>
            <a:endParaRPr lang="en-US" sz="1800" dirty="0">
              <a:solidFill>
                <a:srgbClr val="000000"/>
              </a:solidFill>
              <a:latin typeface="Garamond"/>
            </a:endParaRPr>
          </a:p>
          <a:p>
            <a:pPr>
              <a:defRPr sz="2000">
                <a:solidFill>
                  <a:srgbClr val="000000"/>
                </a:solidFill>
                <a:latin typeface="Garamond"/>
              </a:defRPr>
            </a:pPr>
            <a:endParaRPr lang="en-US" sz="1700" dirty="0">
              <a:solidFill>
                <a:srgbClr val="000000"/>
              </a:solidFill>
              <a:latin typeface="Garamond"/>
            </a:endParaRPr>
          </a:p>
        </p:txBody>
      </p:sp>
      <p:sp>
        <p:nvSpPr>
          <p:cNvPr id="10" name="Content Placeholder 2">
            <a:extLst>
              <a:ext uri="{FF2B5EF4-FFF2-40B4-BE49-F238E27FC236}">
                <a16:creationId xmlns:a16="http://schemas.microsoft.com/office/drawing/2014/main" id="{819F43FD-5AB0-5F6C-7460-F34BC2FF8B5A}"/>
              </a:ext>
            </a:extLst>
          </p:cNvPr>
          <p:cNvSpPr txBox="1">
            <a:spLocks/>
          </p:cNvSpPr>
          <p:nvPr/>
        </p:nvSpPr>
        <p:spPr>
          <a:xfrm>
            <a:off x="8234281" y="1300900"/>
            <a:ext cx="3497344" cy="5099900"/>
          </a:xfrm>
          <a:prstGeom prst="rect">
            <a:avLst/>
          </a:prstGeom>
        </p:spPr>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sz="2200" dirty="0"/>
              <a:t>Group #5</a:t>
            </a:r>
          </a:p>
          <a:p>
            <a:pPr lvl="1">
              <a:defRPr sz="2000">
                <a:solidFill>
                  <a:srgbClr val="000000"/>
                </a:solidFill>
                <a:latin typeface="Garamond"/>
              </a:defRPr>
            </a:pPr>
            <a:r>
              <a:rPr lang="en-US" sz="1800" dirty="0" err="1"/>
              <a:t>GrecKen</a:t>
            </a:r>
            <a:r>
              <a:rPr lang="en-US" sz="1800" dirty="0"/>
              <a:t> Castillo </a:t>
            </a:r>
            <a:r>
              <a:rPr lang="en-US" sz="1800" dirty="0" err="1"/>
              <a:t>Castillo</a:t>
            </a:r>
            <a:endParaRPr lang="en-US" sz="1800" dirty="0"/>
          </a:p>
          <a:p>
            <a:pPr lvl="1">
              <a:defRPr sz="2000">
                <a:solidFill>
                  <a:srgbClr val="000000"/>
                </a:solidFill>
                <a:latin typeface="Garamond"/>
              </a:defRPr>
            </a:pPr>
            <a:r>
              <a:rPr lang="en-US" sz="1800" dirty="0"/>
              <a:t>Tinley Ernhart</a:t>
            </a:r>
          </a:p>
          <a:p>
            <a:pPr lvl="1">
              <a:defRPr sz="2000">
                <a:solidFill>
                  <a:srgbClr val="000000"/>
                </a:solidFill>
                <a:latin typeface="Garamond"/>
              </a:defRPr>
            </a:pPr>
            <a:r>
              <a:rPr lang="en-US" sz="1800" dirty="0" err="1"/>
              <a:t>Oswa</a:t>
            </a:r>
            <a:r>
              <a:rPr lang="en-US" sz="1800" dirty="0"/>
              <a:t> Kea</a:t>
            </a:r>
          </a:p>
          <a:p>
            <a:pPr lvl="1">
              <a:defRPr sz="2000">
                <a:solidFill>
                  <a:srgbClr val="000000"/>
                </a:solidFill>
                <a:latin typeface="Garamond"/>
              </a:defRPr>
            </a:pPr>
            <a:r>
              <a:rPr lang="en-US" sz="1800" dirty="0"/>
              <a:t>Jennifer </a:t>
            </a:r>
            <a:r>
              <a:rPr lang="en-US" sz="1800" dirty="0" err="1"/>
              <a:t>Kubwimana</a:t>
            </a:r>
            <a:endParaRPr lang="en-US" sz="1800" dirty="0"/>
          </a:p>
          <a:p>
            <a:pPr lvl="1">
              <a:defRPr sz="2000">
                <a:solidFill>
                  <a:srgbClr val="000000"/>
                </a:solidFill>
                <a:latin typeface="Garamond"/>
              </a:defRPr>
            </a:pPr>
            <a:r>
              <a:rPr lang="en-US" sz="1800" dirty="0" err="1"/>
              <a:t>Ryoga</a:t>
            </a:r>
            <a:r>
              <a:rPr lang="en-US" sz="1800" dirty="0"/>
              <a:t> Yano</a:t>
            </a:r>
          </a:p>
          <a:p>
            <a:pPr lvl="3">
              <a:defRPr sz="2000">
                <a:solidFill>
                  <a:srgbClr val="000000"/>
                </a:solidFill>
                <a:latin typeface="Garamond"/>
              </a:defRPr>
            </a:pPr>
            <a:endParaRPr lang="en-US" sz="1200" dirty="0"/>
          </a:p>
          <a:p>
            <a:pPr>
              <a:defRPr sz="2000">
                <a:solidFill>
                  <a:srgbClr val="000000"/>
                </a:solidFill>
                <a:latin typeface="Garamond"/>
              </a:defRPr>
            </a:pPr>
            <a:r>
              <a:rPr lang="en-US" sz="2200" dirty="0"/>
              <a:t>Group #7</a:t>
            </a:r>
          </a:p>
          <a:p>
            <a:pPr lvl="1">
              <a:defRPr sz="2000">
                <a:solidFill>
                  <a:srgbClr val="000000"/>
                </a:solidFill>
                <a:latin typeface="Garamond"/>
              </a:defRPr>
            </a:pPr>
            <a:r>
              <a:rPr lang="en-US" sz="1800" dirty="0"/>
              <a:t>Jeison Ingram</a:t>
            </a:r>
          </a:p>
          <a:p>
            <a:pPr lvl="1">
              <a:defRPr sz="2000">
                <a:solidFill>
                  <a:srgbClr val="000000"/>
                </a:solidFill>
                <a:latin typeface="Garamond"/>
              </a:defRPr>
            </a:pPr>
            <a:r>
              <a:rPr lang="en-US" sz="1800" dirty="0"/>
              <a:t>Dante Novembre</a:t>
            </a:r>
          </a:p>
          <a:p>
            <a:pPr lvl="1">
              <a:defRPr sz="2000">
                <a:solidFill>
                  <a:srgbClr val="000000"/>
                </a:solidFill>
                <a:latin typeface="Garamond"/>
              </a:defRPr>
            </a:pPr>
            <a:r>
              <a:rPr lang="en-US" sz="1800" dirty="0"/>
              <a:t>Muhsin Bashir</a:t>
            </a:r>
          </a:p>
          <a:p>
            <a:pPr lvl="4">
              <a:defRPr sz="2000">
                <a:solidFill>
                  <a:srgbClr val="000000"/>
                </a:solidFill>
                <a:latin typeface="Garamond"/>
              </a:defRPr>
            </a:pPr>
            <a:endParaRPr lang="en-US" sz="1000" dirty="0"/>
          </a:p>
          <a:p>
            <a:pPr>
              <a:defRPr sz="2000">
                <a:solidFill>
                  <a:srgbClr val="000000"/>
                </a:solidFill>
                <a:latin typeface="Garamond"/>
              </a:defRPr>
            </a:pPr>
            <a:r>
              <a:rPr lang="en-US" sz="2200" dirty="0"/>
              <a:t>Group #7</a:t>
            </a:r>
          </a:p>
          <a:p>
            <a:pPr lvl="1">
              <a:defRPr sz="2000">
                <a:solidFill>
                  <a:srgbClr val="000000"/>
                </a:solidFill>
                <a:latin typeface="Garamond"/>
              </a:defRPr>
            </a:pPr>
            <a:r>
              <a:rPr lang="en-US" sz="1800" dirty="0"/>
              <a:t>Jonah Heyer</a:t>
            </a:r>
          </a:p>
          <a:p>
            <a:pPr lvl="1">
              <a:defRPr sz="2000">
                <a:solidFill>
                  <a:srgbClr val="000000"/>
                </a:solidFill>
                <a:latin typeface="Garamond"/>
              </a:defRPr>
            </a:pPr>
            <a:r>
              <a:rPr lang="en-US" sz="1800" dirty="0"/>
              <a:t>Nathan Sand</a:t>
            </a:r>
          </a:p>
          <a:p>
            <a:pPr lvl="1">
              <a:defRPr sz="2000">
                <a:solidFill>
                  <a:srgbClr val="000000"/>
                </a:solidFill>
                <a:latin typeface="Garamond"/>
              </a:defRPr>
            </a:pPr>
            <a:r>
              <a:rPr lang="en-US" sz="1800" dirty="0"/>
              <a:t>Olivia Walter</a:t>
            </a:r>
          </a:p>
          <a:p>
            <a:pPr>
              <a:defRPr sz="2000">
                <a:solidFill>
                  <a:srgbClr val="000000"/>
                </a:solidFill>
                <a:latin typeface="Garamond"/>
              </a:defRPr>
            </a:pPr>
            <a:endParaRPr lang="en-US" sz="2200" dirty="0"/>
          </a:p>
          <a:p>
            <a:pPr lvl="3">
              <a:defRPr sz="2000">
                <a:solidFill>
                  <a:srgbClr val="000000"/>
                </a:solidFill>
                <a:latin typeface="Garamond"/>
              </a:defRPr>
            </a:pPr>
            <a:endParaRPr lang="en-US" sz="1200" dirty="0"/>
          </a:p>
        </p:txBody>
      </p:sp>
    </p:spTree>
    <p:extLst>
      <p:ext uri="{BB962C8B-B14F-4D97-AF65-F5344CB8AC3E}">
        <p14:creationId xmlns:p14="http://schemas.microsoft.com/office/powerpoint/2010/main" val="3982479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animEffect transition="in" filter="fade">
                                      <p:cBhvr>
                                        <p:cTn id="25" dur="500"/>
                                        <p:tgtEl>
                                          <p:spTgt spid="3">
                                            <p:txEl>
                                              <p:pRg st="7" end="7"/>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8" end="8"/>
                                            </p:txEl>
                                          </p:spTgt>
                                        </p:tgtEl>
                                        <p:attrNameLst>
                                          <p:attrName>style.visibility</p:attrName>
                                        </p:attrNameLst>
                                      </p:cBhvr>
                                      <p:to>
                                        <p:strVal val="visible"/>
                                      </p:to>
                                    </p:set>
                                    <p:animEffect transition="in" filter="fade">
                                      <p:cBhvr>
                                        <p:cTn id="28" dur="500"/>
                                        <p:tgtEl>
                                          <p:spTgt spid="3">
                                            <p:txEl>
                                              <p:pRg st="8" end="8"/>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animEffect transition="in" filter="fade">
                                      <p:cBhvr>
                                        <p:cTn id="31" dur="500"/>
                                        <p:tgtEl>
                                          <p:spTgt spid="3">
                                            <p:txEl>
                                              <p:pRg st="9" end="9"/>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3">
                                            <p:txEl>
                                              <p:pRg st="10" end="10"/>
                                            </p:txEl>
                                          </p:spTgt>
                                        </p:tgtEl>
                                        <p:attrNameLst>
                                          <p:attrName>style.visibility</p:attrName>
                                        </p:attrNameLst>
                                      </p:cBhvr>
                                      <p:to>
                                        <p:strVal val="visible"/>
                                      </p:to>
                                    </p:set>
                                    <p:animEffect transition="in" filter="fade">
                                      <p:cBhvr>
                                        <p:cTn id="34" dur="500"/>
                                        <p:tgtEl>
                                          <p:spTgt spid="3">
                                            <p:txEl>
                                              <p:pRg st="10" end="10"/>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8">
                                            <p:txEl>
                                              <p:pRg st="0" end="0"/>
                                            </p:txEl>
                                          </p:spTgt>
                                        </p:tgtEl>
                                        <p:attrNameLst>
                                          <p:attrName>style.visibility</p:attrName>
                                        </p:attrNameLst>
                                      </p:cBhvr>
                                      <p:to>
                                        <p:strVal val="visible"/>
                                      </p:to>
                                    </p:set>
                                    <p:animEffect transition="in" filter="fade">
                                      <p:cBhvr>
                                        <p:cTn id="37" dur="500"/>
                                        <p:tgtEl>
                                          <p:spTgt spid="8">
                                            <p:txEl>
                                              <p:pRg st="0" end="0"/>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8">
                                            <p:txEl>
                                              <p:pRg st="1" end="1"/>
                                            </p:txEl>
                                          </p:spTgt>
                                        </p:tgtEl>
                                        <p:attrNameLst>
                                          <p:attrName>style.visibility</p:attrName>
                                        </p:attrNameLst>
                                      </p:cBhvr>
                                      <p:to>
                                        <p:strVal val="visible"/>
                                      </p:to>
                                    </p:set>
                                    <p:animEffect transition="in" filter="fade">
                                      <p:cBhvr>
                                        <p:cTn id="40" dur="500"/>
                                        <p:tgtEl>
                                          <p:spTgt spid="8">
                                            <p:txEl>
                                              <p:pRg st="1" end="1"/>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8">
                                            <p:txEl>
                                              <p:pRg st="2" end="2"/>
                                            </p:txEl>
                                          </p:spTgt>
                                        </p:tgtEl>
                                        <p:attrNameLst>
                                          <p:attrName>style.visibility</p:attrName>
                                        </p:attrNameLst>
                                      </p:cBhvr>
                                      <p:to>
                                        <p:strVal val="visible"/>
                                      </p:to>
                                    </p:set>
                                    <p:animEffect transition="in" filter="fade">
                                      <p:cBhvr>
                                        <p:cTn id="43" dur="500"/>
                                        <p:tgtEl>
                                          <p:spTgt spid="8">
                                            <p:txEl>
                                              <p:pRg st="2" end="2"/>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8">
                                            <p:txEl>
                                              <p:pRg st="3" end="3"/>
                                            </p:txEl>
                                          </p:spTgt>
                                        </p:tgtEl>
                                        <p:attrNameLst>
                                          <p:attrName>style.visibility</p:attrName>
                                        </p:attrNameLst>
                                      </p:cBhvr>
                                      <p:to>
                                        <p:strVal val="visible"/>
                                      </p:to>
                                    </p:set>
                                    <p:animEffect transition="in" filter="fade">
                                      <p:cBhvr>
                                        <p:cTn id="46" dur="500"/>
                                        <p:tgtEl>
                                          <p:spTgt spid="8">
                                            <p:txEl>
                                              <p:pRg st="3" end="3"/>
                                            </p:txEl>
                                          </p:spTgt>
                                        </p:tgtEl>
                                      </p:cBhvr>
                                    </p:animEffect>
                                  </p:childTnLst>
                                </p:cTn>
                              </p:par>
                              <p:par>
                                <p:cTn id="47" presetID="10" presetClass="entr" presetSubtype="0" fill="hold" nodeType="withEffect">
                                  <p:stCondLst>
                                    <p:cond delay="0"/>
                                  </p:stCondLst>
                                  <p:childTnLst>
                                    <p:set>
                                      <p:cBhvr>
                                        <p:cTn id="48" dur="1" fill="hold">
                                          <p:stCondLst>
                                            <p:cond delay="0"/>
                                          </p:stCondLst>
                                        </p:cTn>
                                        <p:tgtEl>
                                          <p:spTgt spid="8">
                                            <p:txEl>
                                              <p:pRg st="4" end="4"/>
                                            </p:txEl>
                                          </p:spTgt>
                                        </p:tgtEl>
                                        <p:attrNameLst>
                                          <p:attrName>style.visibility</p:attrName>
                                        </p:attrNameLst>
                                      </p:cBhvr>
                                      <p:to>
                                        <p:strVal val="visible"/>
                                      </p:to>
                                    </p:set>
                                    <p:animEffect transition="in" filter="fade">
                                      <p:cBhvr>
                                        <p:cTn id="49" dur="500"/>
                                        <p:tgtEl>
                                          <p:spTgt spid="8">
                                            <p:txEl>
                                              <p:pRg st="4" end="4"/>
                                            </p:txEl>
                                          </p:spTgt>
                                        </p:tgtEl>
                                      </p:cBhvr>
                                    </p:animEffect>
                                  </p:childTnLst>
                                </p:cTn>
                              </p:par>
                              <p:par>
                                <p:cTn id="50" presetID="10" presetClass="entr" presetSubtype="0" fill="hold" nodeType="withEffect">
                                  <p:stCondLst>
                                    <p:cond delay="0"/>
                                  </p:stCondLst>
                                  <p:childTnLst>
                                    <p:set>
                                      <p:cBhvr>
                                        <p:cTn id="51" dur="1" fill="hold">
                                          <p:stCondLst>
                                            <p:cond delay="0"/>
                                          </p:stCondLst>
                                        </p:cTn>
                                        <p:tgtEl>
                                          <p:spTgt spid="8">
                                            <p:txEl>
                                              <p:pRg st="5" end="5"/>
                                            </p:txEl>
                                          </p:spTgt>
                                        </p:tgtEl>
                                        <p:attrNameLst>
                                          <p:attrName>style.visibility</p:attrName>
                                        </p:attrNameLst>
                                      </p:cBhvr>
                                      <p:to>
                                        <p:strVal val="visible"/>
                                      </p:to>
                                    </p:set>
                                    <p:animEffect transition="in" filter="fade">
                                      <p:cBhvr>
                                        <p:cTn id="52" dur="500"/>
                                        <p:tgtEl>
                                          <p:spTgt spid="8">
                                            <p:txEl>
                                              <p:pRg st="5" end="5"/>
                                            </p:txEl>
                                          </p:spTgt>
                                        </p:tgtEl>
                                      </p:cBhvr>
                                    </p:animEffect>
                                  </p:childTnLst>
                                </p:cTn>
                              </p:par>
                              <p:par>
                                <p:cTn id="53" presetID="10" presetClass="entr" presetSubtype="0" fill="hold" nodeType="withEffect">
                                  <p:stCondLst>
                                    <p:cond delay="0"/>
                                  </p:stCondLst>
                                  <p:childTnLst>
                                    <p:set>
                                      <p:cBhvr>
                                        <p:cTn id="54" dur="1" fill="hold">
                                          <p:stCondLst>
                                            <p:cond delay="0"/>
                                          </p:stCondLst>
                                        </p:cTn>
                                        <p:tgtEl>
                                          <p:spTgt spid="8">
                                            <p:txEl>
                                              <p:pRg st="7" end="7"/>
                                            </p:txEl>
                                          </p:spTgt>
                                        </p:tgtEl>
                                        <p:attrNameLst>
                                          <p:attrName>style.visibility</p:attrName>
                                        </p:attrNameLst>
                                      </p:cBhvr>
                                      <p:to>
                                        <p:strVal val="visible"/>
                                      </p:to>
                                    </p:set>
                                    <p:animEffect transition="in" filter="fade">
                                      <p:cBhvr>
                                        <p:cTn id="55" dur="500"/>
                                        <p:tgtEl>
                                          <p:spTgt spid="8">
                                            <p:txEl>
                                              <p:pRg st="7" end="7"/>
                                            </p:txEl>
                                          </p:spTgt>
                                        </p:tgtEl>
                                      </p:cBhvr>
                                    </p:animEffect>
                                  </p:childTnLst>
                                </p:cTn>
                              </p:par>
                              <p:par>
                                <p:cTn id="56" presetID="10" presetClass="entr" presetSubtype="0" fill="hold" nodeType="withEffect">
                                  <p:stCondLst>
                                    <p:cond delay="0"/>
                                  </p:stCondLst>
                                  <p:childTnLst>
                                    <p:set>
                                      <p:cBhvr>
                                        <p:cTn id="57" dur="1" fill="hold">
                                          <p:stCondLst>
                                            <p:cond delay="0"/>
                                          </p:stCondLst>
                                        </p:cTn>
                                        <p:tgtEl>
                                          <p:spTgt spid="8">
                                            <p:txEl>
                                              <p:pRg st="8" end="8"/>
                                            </p:txEl>
                                          </p:spTgt>
                                        </p:tgtEl>
                                        <p:attrNameLst>
                                          <p:attrName>style.visibility</p:attrName>
                                        </p:attrNameLst>
                                      </p:cBhvr>
                                      <p:to>
                                        <p:strVal val="visible"/>
                                      </p:to>
                                    </p:set>
                                    <p:animEffect transition="in" filter="fade">
                                      <p:cBhvr>
                                        <p:cTn id="58" dur="500"/>
                                        <p:tgtEl>
                                          <p:spTgt spid="8">
                                            <p:txEl>
                                              <p:pRg st="8" end="8"/>
                                            </p:txEl>
                                          </p:spTgt>
                                        </p:tgtEl>
                                      </p:cBhvr>
                                    </p:animEffect>
                                  </p:childTnLst>
                                </p:cTn>
                              </p:par>
                              <p:par>
                                <p:cTn id="59" presetID="10" presetClass="entr" presetSubtype="0" fill="hold" nodeType="withEffect">
                                  <p:stCondLst>
                                    <p:cond delay="0"/>
                                  </p:stCondLst>
                                  <p:childTnLst>
                                    <p:set>
                                      <p:cBhvr>
                                        <p:cTn id="60" dur="1" fill="hold">
                                          <p:stCondLst>
                                            <p:cond delay="0"/>
                                          </p:stCondLst>
                                        </p:cTn>
                                        <p:tgtEl>
                                          <p:spTgt spid="8">
                                            <p:txEl>
                                              <p:pRg st="9" end="9"/>
                                            </p:txEl>
                                          </p:spTgt>
                                        </p:tgtEl>
                                        <p:attrNameLst>
                                          <p:attrName>style.visibility</p:attrName>
                                        </p:attrNameLst>
                                      </p:cBhvr>
                                      <p:to>
                                        <p:strVal val="visible"/>
                                      </p:to>
                                    </p:set>
                                    <p:animEffect transition="in" filter="fade">
                                      <p:cBhvr>
                                        <p:cTn id="61" dur="500"/>
                                        <p:tgtEl>
                                          <p:spTgt spid="8">
                                            <p:txEl>
                                              <p:pRg st="9" end="9"/>
                                            </p:txEl>
                                          </p:spTgt>
                                        </p:tgtEl>
                                      </p:cBhvr>
                                    </p:animEffect>
                                  </p:childTnLst>
                                </p:cTn>
                              </p:par>
                              <p:par>
                                <p:cTn id="62" presetID="10" presetClass="entr" presetSubtype="0" fill="hold" nodeType="withEffect">
                                  <p:stCondLst>
                                    <p:cond delay="0"/>
                                  </p:stCondLst>
                                  <p:childTnLst>
                                    <p:set>
                                      <p:cBhvr>
                                        <p:cTn id="63" dur="1" fill="hold">
                                          <p:stCondLst>
                                            <p:cond delay="0"/>
                                          </p:stCondLst>
                                        </p:cTn>
                                        <p:tgtEl>
                                          <p:spTgt spid="8">
                                            <p:txEl>
                                              <p:pRg st="10" end="10"/>
                                            </p:txEl>
                                          </p:spTgt>
                                        </p:tgtEl>
                                        <p:attrNameLst>
                                          <p:attrName>style.visibility</p:attrName>
                                        </p:attrNameLst>
                                      </p:cBhvr>
                                      <p:to>
                                        <p:strVal val="visible"/>
                                      </p:to>
                                    </p:set>
                                    <p:animEffect transition="in" filter="fade">
                                      <p:cBhvr>
                                        <p:cTn id="64" dur="500"/>
                                        <p:tgtEl>
                                          <p:spTgt spid="8">
                                            <p:txEl>
                                              <p:pRg st="10" end="10"/>
                                            </p:txEl>
                                          </p:spTgt>
                                        </p:tgtEl>
                                      </p:cBhvr>
                                    </p:animEffect>
                                  </p:childTnLst>
                                </p:cTn>
                              </p:par>
                              <p:par>
                                <p:cTn id="65" presetID="10" presetClass="entr" presetSubtype="0" fill="hold" nodeType="withEffect">
                                  <p:stCondLst>
                                    <p:cond delay="0"/>
                                  </p:stCondLst>
                                  <p:childTnLst>
                                    <p:set>
                                      <p:cBhvr>
                                        <p:cTn id="66" dur="1" fill="hold">
                                          <p:stCondLst>
                                            <p:cond delay="0"/>
                                          </p:stCondLst>
                                        </p:cTn>
                                        <p:tgtEl>
                                          <p:spTgt spid="8">
                                            <p:txEl>
                                              <p:pRg st="11" end="11"/>
                                            </p:txEl>
                                          </p:spTgt>
                                        </p:tgtEl>
                                        <p:attrNameLst>
                                          <p:attrName>style.visibility</p:attrName>
                                        </p:attrNameLst>
                                      </p:cBhvr>
                                      <p:to>
                                        <p:strVal val="visible"/>
                                      </p:to>
                                    </p:set>
                                    <p:animEffect transition="in" filter="fade">
                                      <p:cBhvr>
                                        <p:cTn id="67" dur="500"/>
                                        <p:tgtEl>
                                          <p:spTgt spid="8">
                                            <p:txEl>
                                              <p:pRg st="11" end="11"/>
                                            </p:txEl>
                                          </p:spTgt>
                                        </p:tgtEl>
                                      </p:cBhvr>
                                    </p:animEffect>
                                  </p:childTnLst>
                                </p:cTn>
                              </p:par>
                              <p:par>
                                <p:cTn id="68" presetID="10" presetClass="entr" presetSubtype="0" fill="hold" nodeType="withEffect">
                                  <p:stCondLst>
                                    <p:cond delay="0"/>
                                  </p:stCondLst>
                                  <p:childTnLst>
                                    <p:set>
                                      <p:cBhvr>
                                        <p:cTn id="69" dur="1" fill="hold">
                                          <p:stCondLst>
                                            <p:cond delay="0"/>
                                          </p:stCondLst>
                                        </p:cTn>
                                        <p:tgtEl>
                                          <p:spTgt spid="10">
                                            <p:txEl>
                                              <p:pRg st="0" end="0"/>
                                            </p:txEl>
                                          </p:spTgt>
                                        </p:tgtEl>
                                        <p:attrNameLst>
                                          <p:attrName>style.visibility</p:attrName>
                                        </p:attrNameLst>
                                      </p:cBhvr>
                                      <p:to>
                                        <p:strVal val="visible"/>
                                      </p:to>
                                    </p:set>
                                    <p:animEffect transition="in" filter="fade">
                                      <p:cBhvr>
                                        <p:cTn id="70" dur="500"/>
                                        <p:tgtEl>
                                          <p:spTgt spid="10">
                                            <p:txEl>
                                              <p:pRg st="0" end="0"/>
                                            </p:txEl>
                                          </p:spTgt>
                                        </p:tgtEl>
                                      </p:cBhvr>
                                    </p:animEffect>
                                  </p:childTnLst>
                                </p:cTn>
                              </p:par>
                              <p:par>
                                <p:cTn id="71" presetID="10" presetClass="entr" presetSubtype="0" fill="hold" nodeType="withEffect">
                                  <p:stCondLst>
                                    <p:cond delay="0"/>
                                  </p:stCondLst>
                                  <p:childTnLst>
                                    <p:set>
                                      <p:cBhvr>
                                        <p:cTn id="72" dur="1" fill="hold">
                                          <p:stCondLst>
                                            <p:cond delay="0"/>
                                          </p:stCondLst>
                                        </p:cTn>
                                        <p:tgtEl>
                                          <p:spTgt spid="10">
                                            <p:txEl>
                                              <p:pRg st="1" end="1"/>
                                            </p:txEl>
                                          </p:spTgt>
                                        </p:tgtEl>
                                        <p:attrNameLst>
                                          <p:attrName>style.visibility</p:attrName>
                                        </p:attrNameLst>
                                      </p:cBhvr>
                                      <p:to>
                                        <p:strVal val="visible"/>
                                      </p:to>
                                    </p:set>
                                    <p:animEffect transition="in" filter="fade">
                                      <p:cBhvr>
                                        <p:cTn id="73" dur="500"/>
                                        <p:tgtEl>
                                          <p:spTgt spid="10">
                                            <p:txEl>
                                              <p:pRg st="1" end="1"/>
                                            </p:txEl>
                                          </p:spTgt>
                                        </p:tgtEl>
                                      </p:cBhvr>
                                    </p:animEffect>
                                  </p:childTnLst>
                                </p:cTn>
                              </p:par>
                              <p:par>
                                <p:cTn id="74" presetID="10" presetClass="entr" presetSubtype="0" fill="hold" nodeType="withEffect">
                                  <p:stCondLst>
                                    <p:cond delay="0"/>
                                  </p:stCondLst>
                                  <p:childTnLst>
                                    <p:set>
                                      <p:cBhvr>
                                        <p:cTn id="75" dur="1" fill="hold">
                                          <p:stCondLst>
                                            <p:cond delay="0"/>
                                          </p:stCondLst>
                                        </p:cTn>
                                        <p:tgtEl>
                                          <p:spTgt spid="10">
                                            <p:txEl>
                                              <p:pRg st="2" end="2"/>
                                            </p:txEl>
                                          </p:spTgt>
                                        </p:tgtEl>
                                        <p:attrNameLst>
                                          <p:attrName>style.visibility</p:attrName>
                                        </p:attrNameLst>
                                      </p:cBhvr>
                                      <p:to>
                                        <p:strVal val="visible"/>
                                      </p:to>
                                    </p:set>
                                    <p:animEffect transition="in" filter="fade">
                                      <p:cBhvr>
                                        <p:cTn id="76" dur="500"/>
                                        <p:tgtEl>
                                          <p:spTgt spid="10">
                                            <p:txEl>
                                              <p:pRg st="2" end="2"/>
                                            </p:txEl>
                                          </p:spTgt>
                                        </p:tgtEl>
                                      </p:cBhvr>
                                    </p:animEffect>
                                  </p:childTnLst>
                                </p:cTn>
                              </p:par>
                              <p:par>
                                <p:cTn id="77" presetID="10" presetClass="entr" presetSubtype="0" fill="hold" nodeType="withEffect">
                                  <p:stCondLst>
                                    <p:cond delay="0"/>
                                  </p:stCondLst>
                                  <p:childTnLst>
                                    <p:set>
                                      <p:cBhvr>
                                        <p:cTn id="78" dur="1" fill="hold">
                                          <p:stCondLst>
                                            <p:cond delay="0"/>
                                          </p:stCondLst>
                                        </p:cTn>
                                        <p:tgtEl>
                                          <p:spTgt spid="10">
                                            <p:txEl>
                                              <p:pRg st="3" end="3"/>
                                            </p:txEl>
                                          </p:spTgt>
                                        </p:tgtEl>
                                        <p:attrNameLst>
                                          <p:attrName>style.visibility</p:attrName>
                                        </p:attrNameLst>
                                      </p:cBhvr>
                                      <p:to>
                                        <p:strVal val="visible"/>
                                      </p:to>
                                    </p:set>
                                    <p:animEffect transition="in" filter="fade">
                                      <p:cBhvr>
                                        <p:cTn id="79" dur="500"/>
                                        <p:tgtEl>
                                          <p:spTgt spid="10">
                                            <p:txEl>
                                              <p:pRg st="3" end="3"/>
                                            </p:txEl>
                                          </p:spTgt>
                                        </p:tgtEl>
                                      </p:cBhvr>
                                    </p:animEffect>
                                  </p:childTnLst>
                                </p:cTn>
                              </p:par>
                              <p:par>
                                <p:cTn id="80" presetID="10" presetClass="entr" presetSubtype="0" fill="hold" nodeType="withEffect">
                                  <p:stCondLst>
                                    <p:cond delay="0"/>
                                  </p:stCondLst>
                                  <p:childTnLst>
                                    <p:set>
                                      <p:cBhvr>
                                        <p:cTn id="81" dur="1" fill="hold">
                                          <p:stCondLst>
                                            <p:cond delay="0"/>
                                          </p:stCondLst>
                                        </p:cTn>
                                        <p:tgtEl>
                                          <p:spTgt spid="10">
                                            <p:txEl>
                                              <p:pRg st="4" end="4"/>
                                            </p:txEl>
                                          </p:spTgt>
                                        </p:tgtEl>
                                        <p:attrNameLst>
                                          <p:attrName>style.visibility</p:attrName>
                                        </p:attrNameLst>
                                      </p:cBhvr>
                                      <p:to>
                                        <p:strVal val="visible"/>
                                      </p:to>
                                    </p:set>
                                    <p:animEffect transition="in" filter="fade">
                                      <p:cBhvr>
                                        <p:cTn id="82" dur="500"/>
                                        <p:tgtEl>
                                          <p:spTgt spid="10">
                                            <p:txEl>
                                              <p:pRg st="4" end="4"/>
                                            </p:txEl>
                                          </p:spTgt>
                                        </p:tgtEl>
                                      </p:cBhvr>
                                    </p:animEffect>
                                  </p:childTnLst>
                                </p:cTn>
                              </p:par>
                              <p:par>
                                <p:cTn id="83" presetID="10" presetClass="entr" presetSubtype="0" fill="hold" nodeType="withEffect">
                                  <p:stCondLst>
                                    <p:cond delay="0"/>
                                  </p:stCondLst>
                                  <p:childTnLst>
                                    <p:set>
                                      <p:cBhvr>
                                        <p:cTn id="84" dur="1" fill="hold">
                                          <p:stCondLst>
                                            <p:cond delay="0"/>
                                          </p:stCondLst>
                                        </p:cTn>
                                        <p:tgtEl>
                                          <p:spTgt spid="10">
                                            <p:txEl>
                                              <p:pRg st="5" end="5"/>
                                            </p:txEl>
                                          </p:spTgt>
                                        </p:tgtEl>
                                        <p:attrNameLst>
                                          <p:attrName>style.visibility</p:attrName>
                                        </p:attrNameLst>
                                      </p:cBhvr>
                                      <p:to>
                                        <p:strVal val="visible"/>
                                      </p:to>
                                    </p:set>
                                    <p:animEffect transition="in" filter="fade">
                                      <p:cBhvr>
                                        <p:cTn id="85" dur="500"/>
                                        <p:tgtEl>
                                          <p:spTgt spid="10">
                                            <p:txEl>
                                              <p:pRg st="5" end="5"/>
                                            </p:txEl>
                                          </p:spTgt>
                                        </p:tgtEl>
                                      </p:cBhvr>
                                    </p:animEffect>
                                  </p:childTnLst>
                                </p:cTn>
                              </p:par>
                              <p:par>
                                <p:cTn id="86" presetID="10" presetClass="entr" presetSubtype="0" fill="hold" nodeType="withEffect">
                                  <p:stCondLst>
                                    <p:cond delay="0"/>
                                  </p:stCondLst>
                                  <p:childTnLst>
                                    <p:set>
                                      <p:cBhvr>
                                        <p:cTn id="87" dur="1" fill="hold">
                                          <p:stCondLst>
                                            <p:cond delay="0"/>
                                          </p:stCondLst>
                                        </p:cTn>
                                        <p:tgtEl>
                                          <p:spTgt spid="10">
                                            <p:txEl>
                                              <p:pRg st="7" end="7"/>
                                            </p:txEl>
                                          </p:spTgt>
                                        </p:tgtEl>
                                        <p:attrNameLst>
                                          <p:attrName>style.visibility</p:attrName>
                                        </p:attrNameLst>
                                      </p:cBhvr>
                                      <p:to>
                                        <p:strVal val="visible"/>
                                      </p:to>
                                    </p:set>
                                    <p:animEffect transition="in" filter="fade">
                                      <p:cBhvr>
                                        <p:cTn id="88" dur="500"/>
                                        <p:tgtEl>
                                          <p:spTgt spid="10">
                                            <p:txEl>
                                              <p:pRg st="7" end="7"/>
                                            </p:txEl>
                                          </p:spTgt>
                                        </p:tgtEl>
                                      </p:cBhvr>
                                    </p:animEffect>
                                  </p:childTnLst>
                                </p:cTn>
                              </p:par>
                              <p:par>
                                <p:cTn id="89" presetID="10" presetClass="entr" presetSubtype="0" fill="hold" nodeType="withEffect">
                                  <p:stCondLst>
                                    <p:cond delay="0"/>
                                  </p:stCondLst>
                                  <p:childTnLst>
                                    <p:set>
                                      <p:cBhvr>
                                        <p:cTn id="90" dur="1" fill="hold">
                                          <p:stCondLst>
                                            <p:cond delay="0"/>
                                          </p:stCondLst>
                                        </p:cTn>
                                        <p:tgtEl>
                                          <p:spTgt spid="10">
                                            <p:txEl>
                                              <p:pRg st="8" end="8"/>
                                            </p:txEl>
                                          </p:spTgt>
                                        </p:tgtEl>
                                        <p:attrNameLst>
                                          <p:attrName>style.visibility</p:attrName>
                                        </p:attrNameLst>
                                      </p:cBhvr>
                                      <p:to>
                                        <p:strVal val="visible"/>
                                      </p:to>
                                    </p:set>
                                    <p:animEffect transition="in" filter="fade">
                                      <p:cBhvr>
                                        <p:cTn id="91" dur="500"/>
                                        <p:tgtEl>
                                          <p:spTgt spid="10">
                                            <p:txEl>
                                              <p:pRg st="8" end="8"/>
                                            </p:txEl>
                                          </p:spTgt>
                                        </p:tgtEl>
                                      </p:cBhvr>
                                    </p:animEffect>
                                  </p:childTnLst>
                                </p:cTn>
                              </p:par>
                              <p:par>
                                <p:cTn id="92" presetID="10" presetClass="entr" presetSubtype="0" fill="hold" nodeType="withEffect">
                                  <p:stCondLst>
                                    <p:cond delay="0"/>
                                  </p:stCondLst>
                                  <p:childTnLst>
                                    <p:set>
                                      <p:cBhvr>
                                        <p:cTn id="93" dur="1" fill="hold">
                                          <p:stCondLst>
                                            <p:cond delay="0"/>
                                          </p:stCondLst>
                                        </p:cTn>
                                        <p:tgtEl>
                                          <p:spTgt spid="10">
                                            <p:txEl>
                                              <p:pRg st="9" end="9"/>
                                            </p:txEl>
                                          </p:spTgt>
                                        </p:tgtEl>
                                        <p:attrNameLst>
                                          <p:attrName>style.visibility</p:attrName>
                                        </p:attrNameLst>
                                      </p:cBhvr>
                                      <p:to>
                                        <p:strVal val="visible"/>
                                      </p:to>
                                    </p:set>
                                    <p:animEffect transition="in" filter="fade">
                                      <p:cBhvr>
                                        <p:cTn id="94" dur="500"/>
                                        <p:tgtEl>
                                          <p:spTgt spid="10">
                                            <p:txEl>
                                              <p:pRg st="9" end="9"/>
                                            </p:txEl>
                                          </p:spTgt>
                                        </p:tgtEl>
                                      </p:cBhvr>
                                    </p:animEffect>
                                  </p:childTnLst>
                                </p:cTn>
                              </p:par>
                              <p:par>
                                <p:cTn id="95" presetID="10" presetClass="entr" presetSubtype="0" fill="hold" nodeType="withEffect">
                                  <p:stCondLst>
                                    <p:cond delay="0"/>
                                  </p:stCondLst>
                                  <p:childTnLst>
                                    <p:set>
                                      <p:cBhvr>
                                        <p:cTn id="96" dur="1" fill="hold">
                                          <p:stCondLst>
                                            <p:cond delay="0"/>
                                          </p:stCondLst>
                                        </p:cTn>
                                        <p:tgtEl>
                                          <p:spTgt spid="10">
                                            <p:txEl>
                                              <p:pRg st="10" end="10"/>
                                            </p:txEl>
                                          </p:spTgt>
                                        </p:tgtEl>
                                        <p:attrNameLst>
                                          <p:attrName>style.visibility</p:attrName>
                                        </p:attrNameLst>
                                      </p:cBhvr>
                                      <p:to>
                                        <p:strVal val="visible"/>
                                      </p:to>
                                    </p:set>
                                    <p:animEffect transition="in" filter="fade">
                                      <p:cBhvr>
                                        <p:cTn id="97" dur="500"/>
                                        <p:tgtEl>
                                          <p:spTgt spid="10">
                                            <p:txEl>
                                              <p:pRg st="10" end="10"/>
                                            </p:txEl>
                                          </p:spTgt>
                                        </p:tgtEl>
                                      </p:cBhvr>
                                    </p:animEffect>
                                  </p:childTnLst>
                                </p:cTn>
                              </p:par>
                              <p:par>
                                <p:cTn id="98" presetID="10" presetClass="entr" presetSubtype="0" fill="hold" nodeType="withEffect">
                                  <p:stCondLst>
                                    <p:cond delay="0"/>
                                  </p:stCondLst>
                                  <p:childTnLst>
                                    <p:set>
                                      <p:cBhvr>
                                        <p:cTn id="99" dur="1" fill="hold">
                                          <p:stCondLst>
                                            <p:cond delay="0"/>
                                          </p:stCondLst>
                                        </p:cTn>
                                        <p:tgtEl>
                                          <p:spTgt spid="10">
                                            <p:txEl>
                                              <p:pRg st="12" end="12"/>
                                            </p:txEl>
                                          </p:spTgt>
                                        </p:tgtEl>
                                        <p:attrNameLst>
                                          <p:attrName>style.visibility</p:attrName>
                                        </p:attrNameLst>
                                      </p:cBhvr>
                                      <p:to>
                                        <p:strVal val="visible"/>
                                      </p:to>
                                    </p:set>
                                    <p:animEffect transition="in" filter="fade">
                                      <p:cBhvr>
                                        <p:cTn id="100" dur="500"/>
                                        <p:tgtEl>
                                          <p:spTgt spid="10">
                                            <p:txEl>
                                              <p:pRg st="12" end="12"/>
                                            </p:txEl>
                                          </p:spTgt>
                                        </p:tgtEl>
                                      </p:cBhvr>
                                    </p:animEffect>
                                  </p:childTnLst>
                                </p:cTn>
                              </p:par>
                              <p:par>
                                <p:cTn id="101" presetID="10" presetClass="entr" presetSubtype="0" fill="hold" nodeType="withEffect">
                                  <p:stCondLst>
                                    <p:cond delay="0"/>
                                  </p:stCondLst>
                                  <p:childTnLst>
                                    <p:set>
                                      <p:cBhvr>
                                        <p:cTn id="102" dur="1" fill="hold">
                                          <p:stCondLst>
                                            <p:cond delay="0"/>
                                          </p:stCondLst>
                                        </p:cTn>
                                        <p:tgtEl>
                                          <p:spTgt spid="10">
                                            <p:txEl>
                                              <p:pRg st="13" end="13"/>
                                            </p:txEl>
                                          </p:spTgt>
                                        </p:tgtEl>
                                        <p:attrNameLst>
                                          <p:attrName>style.visibility</p:attrName>
                                        </p:attrNameLst>
                                      </p:cBhvr>
                                      <p:to>
                                        <p:strVal val="visible"/>
                                      </p:to>
                                    </p:set>
                                    <p:animEffect transition="in" filter="fade">
                                      <p:cBhvr>
                                        <p:cTn id="103" dur="500"/>
                                        <p:tgtEl>
                                          <p:spTgt spid="10">
                                            <p:txEl>
                                              <p:pRg st="13" end="13"/>
                                            </p:txEl>
                                          </p:spTgt>
                                        </p:tgtEl>
                                      </p:cBhvr>
                                    </p:animEffect>
                                  </p:childTnLst>
                                </p:cTn>
                              </p:par>
                              <p:par>
                                <p:cTn id="104" presetID="10" presetClass="entr" presetSubtype="0" fill="hold" nodeType="withEffect">
                                  <p:stCondLst>
                                    <p:cond delay="0"/>
                                  </p:stCondLst>
                                  <p:childTnLst>
                                    <p:set>
                                      <p:cBhvr>
                                        <p:cTn id="105" dur="1" fill="hold">
                                          <p:stCondLst>
                                            <p:cond delay="0"/>
                                          </p:stCondLst>
                                        </p:cTn>
                                        <p:tgtEl>
                                          <p:spTgt spid="10">
                                            <p:txEl>
                                              <p:pRg st="14" end="14"/>
                                            </p:txEl>
                                          </p:spTgt>
                                        </p:tgtEl>
                                        <p:attrNameLst>
                                          <p:attrName>style.visibility</p:attrName>
                                        </p:attrNameLst>
                                      </p:cBhvr>
                                      <p:to>
                                        <p:strVal val="visible"/>
                                      </p:to>
                                    </p:set>
                                    <p:animEffect transition="in" filter="fade">
                                      <p:cBhvr>
                                        <p:cTn id="106" dur="500"/>
                                        <p:tgtEl>
                                          <p:spTgt spid="10">
                                            <p:txEl>
                                              <p:pRg st="14" end="14"/>
                                            </p:txEl>
                                          </p:spTgt>
                                        </p:tgtEl>
                                      </p:cBhvr>
                                    </p:animEffect>
                                  </p:childTnLst>
                                </p:cTn>
                              </p:par>
                              <p:par>
                                <p:cTn id="107" presetID="10" presetClass="entr" presetSubtype="0" fill="hold" nodeType="withEffect">
                                  <p:stCondLst>
                                    <p:cond delay="0"/>
                                  </p:stCondLst>
                                  <p:childTnLst>
                                    <p:set>
                                      <p:cBhvr>
                                        <p:cTn id="108" dur="1" fill="hold">
                                          <p:stCondLst>
                                            <p:cond delay="0"/>
                                          </p:stCondLst>
                                        </p:cTn>
                                        <p:tgtEl>
                                          <p:spTgt spid="10">
                                            <p:txEl>
                                              <p:pRg st="15" end="15"/>
                                            </p:txEl>
                                          </p:spTgt>
                                        </p:tgtEl>
                                        <p:attrNameLst>
                                          <p:attrName>style.visibility</p:attrName>
                                        </p:attrNameLst>
                                      </p:cBhvr>
                                      <p:to>
                                        <p:strVal val="visible"/>
                                      </p:to>
                                    </p:set>
                                    <p:animEffect transition="in" filter="fade">
                                      <p:cBhvr>
                                        <p:cTn id="109" dur="500"/>
                                        <p:tgtEl>
                                          <p:spTgt spid="10">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A9661-FAF4-1113-3897-B62630DFF9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E43B7C0-ED96-EA9D-FD87-4473F51E8CF3}"/>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Another type of enterprise application is the </a:t>
            </a:r>
            <a:r>
              <a:rPr lang="en-US" sz="2400" b="1" dirty="0"/>
              <a:t>Supply Chain Management</a:t>
            </a:r>
            <a:r>
              <a:rPr lang="en-US" sz="2400" dirty="0"/>
              <a:t> (SCM) system.</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SCM systems coordinate and optimize the </a:t>
            </a:r>
            <a:r>
              <a:rPr lang="en-US" sz="2400" b="1" dirty="0"/>
              <a:t>flow of information, materials, and goods </a:t>
            </a:r>
            <a:r>
              <a:rPr lang="en-US" sz="2400" dirty="0"/>
              <a:t>between a firm and its external partners.</a:t>
            </a:r>
          </a:p>
          <a:p>
            <a:pPr lvl="1">
              <a:defRPr sz="2000">
                <a:solidFill>
                  <a:srgbClr val="000000"/>
                </a:solidFill>
                <a:latin typeface="Garamond"/>
              </a:defRPr>
            </a:pPr>
            <a:r>
              <a:rPr lang="en-US" sz="2000" dirty="0"/>
              <a:t>Planning, Sourcing, Manufacturing, Distribution, and Delivery</a:t>
            </a:r>
          </a:p>
          <a:p>
            <a:pPr lvl="3">
              <a:defRPr sz="2000">
                <a:solidFill>
                  <a:srgbClr val="000000"/>
                </a:solidFill>
                <a:latin typeface="Garamond"/>
              </a:defRPr>
            </a:pPr>
            <a:endParaRPr lang="en-US" sz="800" dirty="0"/>
          </a:p>
          <a:p>
            <a:pPr>
              <a:defRPr sz="2000">
                <a:solidFill>
                  <a:srgbClr val="000000"/>
                </a:solidFill>
                <a:latin typeface="Garamond"/>
              </a:defRPr>
            </a:pPr>
            <a:r>
              <a:rPr lang="en-US" sz="2400" dirty="0"/>
              <a:t>These are </a:t>
            </a:r>
            <a:r>
              <a:rPr lang="en-US" sz="2400" b="1" dirty="0"/>
              <a:t>interorganizational</a:t>
            </a:r>
            <a:r>
              <a:rPr lang="en-US" sz="2400" dirty="0"/>
              <a:t> systems, designed to integrate the processes of suppliers, distributors, and logistics partners.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The goal of SCM is to deliver the </a:t>
            </a:r>
            <a:r>
              <a:rPr lang="en-US" sz="2400" b="1" dirty="0"/>
              <a:t>right product</a:t>
            </a:r>
            <a:r>
              <a:rPr lang="en-US" sz="2400" dirty="0"/>
              <a:t>, to the </a:t>
            </a:r>
            <a:r>
              <a:rPr lang="en-US" sz="2400" b="1" dirty="0"/>
              <a:t>right place</a:t>
            </a:r>
            <a:r>
              <a:rPr lang="en-US" sz="2400" dirty="0"/>
              <a:t>, at the </a:t>
            </a:r>
            <a:r>
              <a:rPr lang="en-US" sz="2400" b="1" dirty="0"/>
              <a:t>right time</a:t>
            </a:r>
            <a:r>
              <a:rPr lang="en-US" sz="2400" dirty="0"/>
              <a:t>, and at the </a:t>
            </a:r>
            <a:r>
              <a:rPr lang="en-US" sz="2400" b="1" dirty="0"/>
              <a:t>lowest cost</a:t>
            </a:r>
            <a:r>
              <a:rPr lang="en-US" sz="2400" dirty="0"/>
              <a:t>.</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Examples of SCM software include SAP SCM, Oracle SCM Cloud, and Infor Supply Chain.</a:t>
            </a:r>
          </a:p>
        </p:txBody>
      </p:sp>
      <p:sp>
        <p:nvSpPr>
          <p:cNvPr id="4" name="Rectangle 3">
            <a:extLst>
              <a:ext uri="{FF2B5EF4-FFF2-40B4-BE49-F238E27FC236}">
                <a16:creationId xmlns:a16="http://schemas.microsoft.com/office/drawing/2014/main" id="{E47CA7B2-9520-E596-C22C-51F1C27D658F}"/>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BFDFE9D-0B3A-5AC8-33A1-79C53E655FBE}"/>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Supply Chain Management (SCM) Systems</a:t>
            </a:r>
          </a:p>
        </p:txBody>
      </p:sp>
      <p:sp>
        <p:nvSpPr>
          <p:cNvPr id="5" name="Rectangle 4">
            <a:extLst>
              <a:ext uri="{FF2B5EF4-FFF2-40B4-BE49-F238E27FC236}">
                <a16:creationId xmlns:a16="http://schemas.microsoft.com/office/drawing/2014/main" id="{DAA0A014-7876-0B0E-1E4E-484A14EA21DC}"/>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EAA8324D-4BE2-6BCB-0B7B-3FAF614FEC03}"/>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79246AD8-E5ED-63A3-E371-52384E45CC77}"/>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28</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170584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5" end="5"/>
                                            </p:txEl>
                                          </p:spTgt>
                                        </p:tgtEl>
                                        <p:attrNameLst>
                                          <p:attrName>style.visibility</p:attrName>
                                        </p:attrNameLst>
                                      </p:cBhvr>
                                      <p:to>
                                        <p:strVal val="visible"/>
                                      </p:to>
                                    </p:set>
                                    <p:animEffect transition="in" filter="fade">
                                      <p:cBhvr>
                                        <p:cTn id="20" dur="500"/>
                                        <p:tgtEl>
                                          <p:spTgt spid="3">
                                            <p:txEl>
                                              <p:pRg st="5" end="5"/>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animEffect transition="in" filter="fade">
                                      <p:cBhvr>
                                        <p:cTn id="25" dur="500"/>
                                        <p:tgtEl>
                                          <p:spTgt spid="3">
                                            <p:txEl>
                                              <p:pRg st="7" end="7"/>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9" end="9"/>
                                            </p:txEl>
                                          </p:spTgt>
                                        </p:tgtEl>
                                        <p:attrNameLst>
                                          <p:attrName>style.visibility</p:attrName>
                                        </p:attrNameLst>
                                      </p:cBhvr>
                                      <p:to>
                                        <p:strVal val="visible"/>
                                      </p:to>
                                    </p:set>
                                    <p:animEffect transition="in" filter="fade">
                                      <p:cBhvr>
                                        <p:cTn id="30"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336F1-CFDF-CC89-BD0E-F100D082D62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096CDE-669A-A212-2473-F02E395A83DC}"/>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Traditional PC makers guessed what customers wanted months in advance (and usually guessed wrong).</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The Dell Solution: Sell first, build second.</a:t>
            </a:r>
            <a:endParaRPr lang="en-US" sz="1200" dirty="0"/>
          </a:p>
          <a:p>
            <a:pPr lvl="1">
              <a:defRPr sz="2000">
                <a:solidFill>
                  <a:srgbClr val="000000"/>
                </a:solidFill>
                <a:latin typeface="Garamond"/>
              </a:defRPr>
            </a:pPr>
            <a:r>
              <a:rPr lang="en-US" sz="2000" dirty="0"/>
              <a:t>Traditional Model: Manufacturer → Distributor → Retailer → Customer (The “Long &amp; Blind” Chain)</a:t>
            </a:r>
            <a:endParaRPr lang="en-US" sz="1200" dirty="0"/>
          </a:p>
          <a:p>
            <a:pPr lvl="1">
              <a:defRPr sz="2000">
                <a:solidFill>
                  <a:srgbClr val="000000"/>
                </a:solidFill>
                <a:latin typeface="Garamond"/>
              </a:defRPr>
            </a:pPr>
            <a:r>
              <a:rPr lang="en-US" sz="2000" dirty="0"/>
              <a:t>The Dell Model: Customer → Dell → Supplier (The “Short &amp; Data-Driven” Chain)</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Dell achieved cost efficiency, reduced waste, and offered consumers personalized products at scale.</a:t>
            </a:r>
          </a:p>
          <a:p>
            <a:pPr lvl="1">
              <a:defRPr sz="2000">
                <a:solidFill>
                  <a:srgbClr val="000000"/>
                </a:solidFill>
                <a:latin typeface="Garamond"/>
              </a:defRPr>
            </a:pPr>
            <a:r>
              <a:rPr lang="en-US" sz="2000" dirty="0"/>
              <a:t>Components drop in price every week, and holding less “stuff” can save millions.</a:t>
            </a:r>
          </a:p>
          <a:p>
            <a:pPr lvl="1">
              <a:defRPr sz="2000">
                <a:solidFill>
                  <a:srgbClr val="000000"/>
                </a:solidFill>
                <a:latin typeface="Garamond"/>
              </a:defRPr>
            </a:pPr>
            <a:r>
              <a:rPr lang="en-US" sz="2000" dirty="0"/>
              <a:t>Dell’s Inventory Days: 4 Days vs. Industry Average: 30+ Days.</a:t>
            </a:r>
          </a:p>
          <a:p>
            <a:pPr lvl="1">
              <a:defRPr sz="2000">
                <a:solidFill>
                  <a:srgbClr val="000000"/>
                </a:solidFill>
                <a:latin typeface="Garamond"/>
              </a:defRPr>
            </a:pPr>
            <a:r>
              <a:rPr lang="en-US" sz="2000" dirty="0"/>
              <a:t>Dell gets paid by the customer before they pay the supplier, improving the cash flow of the firm.</a:t>
            </a:r>
          </a:p>
        </p:txBody>
      </p:sp>
      <p:sp>
        <p:nvSpPr>
          <p:cNvPr id="4" name="Rectangle 3">
            <a:extLst>
              <a:ext uri="{FF2B5EF4-FFF2-40B4-BE49-F238E27FC236}">
                <a16:creationId xmlns:a16="http://schemas.microsoft.com/office/drawing/2014/main" id="{7391CC61-C780-567D-6DD6-BB83DD805852}"/>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27ED619-CABE-FF73-003B-068F9558F01C}"/>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SCM Showcase: The Dell “Direct” Revolution</a:t>
            </a:r>
          </a:p>
        </p:txBody>
      </p:sp>
      <p:sp>
        <p:nvSpPr>
          <p:cNvPr id="5" name="Rectangle 4">
            <a:extLst>
              <a:ext uri="{FF2B5EF4-FFF2-40B4-BE49-F238E27FC236}">
                <a16:creationId xmlns:a16="http://schemas.microsoft.com/office/drawing/2014/main" id="{6874719D-5608-5134-C50A-C2C68D63018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0A014A9F-994D-8F26-74DE-02C7C2C0CB57}"/>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8F8FFF00-5033-718E-EA41-81EFA8A8CE05}"/>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29</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498198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0D9E1-4DD2-07BC-9705-E3C506FC35A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398F538-9FF8-0948-FCB6-C52AD797C423}"/>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5ED21A8-942D-E5B1-D44B-C9476C899547}"/>
              </a:ext>
            </a:extLst>
          </p:cNvPr>
          <p:cNvSpPr>
            <a:spLocks noGrp="1"/>
          </p:cNvSpPr>
          <p:nvPr>
            <p:ph type="title"/>
          </p:nvPr>
        </p:nvSpPr>
        <p:spPr>
          <a:xfrm>
            <a:off x="0" y="0"/>
            <a:ext cx="12188825" cy="923636"/>
          </a:xfrm>
        </p:spPr>
        <p:txBody>
          <a:bodyPr>
            <a:noAutofit/>
          </a:bodyPr>
          <a:lstStyle/>
          <a:p>
            <a:pPr algn="l">
              <a:defRPr sz="4000" b="1">
                <a:solidFill>
                  <a:srgbClr val="FDB913"/>
                </a:solidFill>
                <a:latin typeface="Garamond"/>
              </a:defRPr>
            </a:pPr>
            <a:r>
              <a:rPr lang="en-US" sz="2400" dirty="0">
                <a:solidFill>
                  <a:schemeClr val="bg1"/>
                </a:solidFill>
              </a:rPr>
              <a:t>  SITMI Academy! (2025, June 12). </a:t>
            </a:r>
            <a:r>
              <a:rPr lang="en-US" sz="2400" i="1" dirty="0">
                <a:solidFill>
                  <a:schemeClr val="bg1"/>
                </a:solidFill>
              </a:rPr>
              <a:t>How Dell Reinvented Its Supply Chain </a:t>
            </a:r>
            <a:r>
              <a:rPr lang="en-US" sz="2400" dirty="0">
                <a:solidFill>
                  <a:schemeClr val="bg1"/>
                </a:solidFill>
              </a:rPr>
              <a:t>[Video]. </a:t>
            </a:r>
            <a:br>
              <a:rPr lang="en-US" sz="2400" dirty="0">
                <a:solidFill>
                  <a:schemeClr val="bg1"/>
                </a:solidFill>
              </a:rPr>
            </a:br>
            <a:r>
              <a:rPr lang="en-US" sz="2400" dirty="0">
                <a:solidFill>
                  <a:schemeClr val="bg1"/>
                </a:solidFill>
              </a:rPr>
              <a:t>  YouTube. https://youtu.be/oR9JgZ8JVN0?si=C6v3Lrs4i4qJNYaM</a:t>
            </a:r>
          </a:p>
        </p:txBody>
      </p:sp>
      <p:sp>
        <p:nvSpPr>
          <p:cNvPr id="5" name="Rectangle 4">
            <a:extLst>
              <a:ext uri="{FF2B5EF4-FFF2-40B4-BE49-F238E27FC236}">
                <a16:creationId xmlns:a16="http://schemas.microsoft.com/office/drawing/2014/main" id="{DF673250-AC03-937B-98BA-019FD9BAE6B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79D321BA-1422-3563-8C99-A967DE160387}"/>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8FA36A4B-F534-F2C6-E418-0FD54E7D11A3}"/>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30</a:t>
            </a:fld>
            <a:r>
              <a:rPr lang="en-US" b="1" dirty="0">
                <a:solidFill>
                  <a:schemeClr val="bg1"/>
                </a:solidFill>
                <a:latin typeface="Garamond" panose="02020404030301010803" pitchFamily="18" charset="0"/>
              </a:rPr>
              <a:t> </a:t>
            </a:r>
          </a:p>
        </p:txBody>
      </p:sp>
      <p:pic>
        <p:nvPicPr>
          <p:cNvPr id="8" name="Online Media 7" title="How Dell Reinvented Its Supply Chain | Direct Model to Retail Strategy Case Study">
            <a:hlinkClick r:id="" action="ppaction://media"/>
            <a:extLst>
              <a:ext uri="{FF2B5EF4-FFF2-40B4-BE49-F238E27FC236}">
                <a16:creationId xmlns:a16="http://schemas.microsoft.com/office/drawing/2014/main" id="{B6672B42-05FD-AAF0-FDAC-626F05D1CF6E}"/>
              </a:ext>
            </a:extLst>
          </p:cNvPr>
          <p:cNvPicPr>
            <a:picLocks noRot="1" noChangeAspect="1"/>
          </p:cNvPicPr>
          <p:nvPr>
            <a:videoFile r:link="rId1"/>
          </p:nvPr>
        </p:nvPicPr>
        <p:blipFill>
          <a:blip r:embed="rId4"/>
          <a:stretch>
            <a:fillRect/>
          </a:stretch>
        </p:blipFill>
        <p:spPr>
          <a:xfrm>
            <a:off x="1239201" y="970332"/>
            <a:ext cx="9710420" cy="5486400"/>
          </a:xfrm>
          <a:prstGeom prst="rect">
            <a:avLst/>
          </a:prstGeom>
        </p:spPr>
      </p:pic>
    </p:spTree>
    <p:extLst>
      <p:ext uri="{BB962C8B-B14F-4D97-AF65-F5344CB8AC3E}">
        <p14:creationId xmlns:p14="http://schemas.microsoft.com/office/powerpoint/2010/main" val="676545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D1FE00-8692-DAF3-68A2-59590A9BA99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E30B05-B01F-6130-9729-0FC9439B9281}"/>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The next major type of enterprise application is the </a:t>
            </a:r>
            <a:r>
              <a:rPr lang="en-US" sz="2400" b="1" dirty="0"/>
              <a:t>Customer Relationship Management</a:t>
            </a:r>
            <a:r>
              <a:rPr lang="en-US" sz="2400" dirty="0"/>
              <a:t> (CRM) system.</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CRM systems are information systems that enable firms to coordinate and manage all business processes that involve customers.</a:t>
            </a:r>
          </a:p>
          <a:p>
            <a:pPr marL="1371600" lvl="3" indent="0">
              <a:buNone/>
              <a:defRPr sz="2000">
                <a:solidFill>
                  <a:srgbClr val="000000"/>
                </a:solidFill>
                <a:latin typeface="Garamond"/>
              </a:defRPr>
            </a:pPr>
            <a:endParaRPr lang="en-US" sz="1200" dirty="0"/>
          </a:p>
          <a:p>
            <a:pPr>
              <a:defRPr sz="2000">
                <a:solidFill>
                  <a:srgbClr val="000000"/>
                </a:solidFill>
                <a:latin typeface="Garamond"/>
              </a:defRPr>
            </a:pPr>
            <a:r>
              <a:rPr lang="en-US" sz="2400" dirty="0"/>
              <a:t>CRM integrates customer data across functions such as sales, marketing, customer service.</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Salesforce is the global leader in CRM software, with major competitors including SAP, Oracle, and Microsoft.</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Example: Coca-Cola</a:t>
            </a:r>
          </a:p>
          <a:p>
            <a:pPr lvl="1">
              <a:defRPr sz="2000">
                <a:solidFill>
                  <a:srgbClr val="000000"/>
                </a:solidFill>
                <a:latin typeface="Garamond"/>
              </a:defRPr>
            </a:pPr>
            <a:r>
              <a:rPr lang="en-US" sz="2000" dirty="0"/>
              <a:t>Coca-Cola integrated customer data fragmented across 200+ countries using Salesforce CRM.</a:t>
            </a:r>
          </a:p>
          <a:p>
            <a:pPr lvl="1">
              <a:defRPr sz="2000">
                <a:solidFill>
                  <a:srgbClr val="000000"/>
                </a:solidFill>
                <a:latin typeface="Garamond"/>
              </a:defRPr>
            </a:pPr>
            <a:r>
              <a:rPr lang="en-US" sz="2000" dirty="0"/>
              <a:t>Created a centralized, unified view of customers worldwide.</a:t>
            </a:r>
          </a:p>
        </p:txBody>
      </p:sp>
      <p:sp>
        <p:nvSpPr>
          <p:cNvPr id="4" name="Rectangle 3">
            <a:extLst>
              <a:ext uri="{FF2B5EF4-FFF2-40B4-BE49-F238E27FC236}">
                <a16:creationId xmlns:a16="http://schemas.microsoft.com/office/drawing/2014/main" id="{CA8DC78E-A681-46C9-95D0-135F2F5B67F7}"/>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FC43217-18CD-64C4-B5D6-F5A910E36059}"/>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Customer Relationship Management (CRM) Systems</a:t>
            </a:r>
          </a:p>
        </p:txBody>
      </p:sp>
      <p:sp>
        <p:nvSpPr>
          <p:cNvPr id="5" name="Rectangle 4">
            <a:extLst>
              <a:ext uri="{FF2B5EF4-FFF2-40B4-BE49-F238E27FC236}">
                <a16:creationId xmlns:a16="http://schemas.microsoft.com/office/drawing/2014/main" id="{6BDA4C07-4384-0992-A42C-F3D95402312E}"/>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8189C96F-1F07-421F-2DDD-C5BD1D6881F9}"/>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61075244-DE68-71B7-3BC6-38549D9FB8D6}"/>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31</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4057253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500"/>
                                        <p:tgtEl>
                                          <p:spTgt spid="3">
                                            <p:txEl>
                                              <p:pRg st="8" end="8"/>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3">
                                            <p:txEl>
                                              <p:pRg st="9" end="9"/>
                                            </p:txEl>
                                          </p:spTgt>
                                        </p:tgtEl>
                                        <p:attrNameLst>
                                          <p:attrName>style.visibility</p:attrName>
                                        </p:attrNameLst>
                                      </p:cBhvr>
                                      <p:to>
                                        <p:strVal val="visible"/>
                                      </p:to>
                                    </p:set>
                                    <p:animEffect transition="in" filter="fade">
                                      <p:cBhvr>
                                        <p:cTn id="30" dur="500"/>
                                        <p:tgtEl>
                                          <p:spTgt spid="3">
                                            <p:txEl>
                                              <p:pRg st="9" end="9"/>
                                            </p:txEl>
                                          </p:spTgt>
                                        </p:tgtEl>
                                      </p:cBhvr>
                                    </p:animEffect>
                                  </p:childTnLst>
                                </p:cTn>
                              </p:par>
                              <p:par>
                                <p:cTn id="31" presetID="10" presetClass="entr" presetSubtype="0" fill="hold" nodeType="with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animEffect transition="in" filter="fade">
                                      <p:cBhvr>
                                        <p:cTn id="33"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62B7A-D3C2-1A22-7027-0D84305A918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F2D96C-33CB-DC6B-9939-34CFA516539E}"/>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A4256A0-920A-2F57-05B4-B45B686D759B}"/>
              </a:ext>
            </a:extLst>
          </p:cNvPr>
          <p:cNvSpPr>
            <a:spLocks noGrp="1"/>
          </p:cNvSpPr>
          <p:nvPr>
            <p:ph type="title"/>
          </p:nvPr>
        </p:nvSpPr>
        <p:spPr>
          <a:xfrm>
            <a:off x="0" y="0"/>
            <a:ext cx="12188825" cy="923636"/>
          </a:xfrm>
        </p:spPr>
        <p:txBody>
          <a:bodyPr>
            <a:noAutofit/>
          </a:bodyPr>
          <a:lstStyle/>
          <a:p>
            <a:pPr algn="l">
              <a:defRPr sz="4000" b="1">
                <a:solidFill>
                  <a:srgbClr val="FDB913"/>
                </a:solidFill>
                <a:latin typeface="Garamond"/>
              </a:defRPr>
            </a:pPr>
            <a:r>
              <a:rPr lang="en-US" sz="2300" dirty="0">
                <a:solidFill>
                  <a:schemeClr val="bg1"/>
                </a:solidFill>
              </a:rPr>
              <a:t>  Imagineer Customer Experience (2015, October 23). </a:t>
            </a:r>
            <a:r>
              <a:rPr lang="en-US" sz="2300" i="1" dirty="0">
                <a:solidFill>
                  <a:schemeClr val="bg1"/>
                </a:solidFill>
              </a:rPr>
              <a:t>Coca Cola Customer Experience </a:t>
            </a:r>
            <a:br>
              <a:rPr lang="en-US" sz="2300" i="1" dirty="0">
                <a:solidFill>
                  <a:schemeClr val="bg1"/>
                </a:solidFill>
              </a:rPr>
            </a:br>
            <a:r>
              <a:rPr lang="en-US" sz="2300" i="1" dirty="0">
                <a:solidFill>
                  <a:schemeClr val="bg1"/>
                </a:solidFill>
              </a:rPr>
              <a:t>  Salesforce CRM </a:t>
            </a:r>
            <a:r>
              <a:rPr lang="en-US" sz="2300" dirty="0">
                <a:solidFill>
                  <a:schemeClr val="bg1"/>
                </a:solidFill>
              </a:rPr>
              <a:t>[Video]. YouTube. https://youtu.be/CIkKCZfrnfI?si=NOVL7Lieg2eQjHqj</a:t>
            </a:r>
          </a:p>
        </p:txBody>
      </p:sp>
      <p:sp>
        <p:nvSpPr>
          <p:cNvPr id="5" name="Rectangle 4">
            <a:extLst>
              <a:ext uri="{FF2B5EF4-FFF2-40B4-BE49-F238E27FC236}">
                <a16:creationId xmlns:a16="http://schemas.microsoft.com/office/drawing/2014/main" id="{9F732616-9E8F-7D0F-A086-6ABE3543F8B0}"/>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708535DD-CE05-A23C-4A59-6BDE5179022B}"/>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E9088BBC-D186-4F12-1BB8-BC2518363330}"/>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32</a:t>
            </a:fld>
            <a:r>
              <a:rPr lang="en-US" b="1" dirty="0">
                <a:solidFill>
                  <a:schemeClr val="bg1"/>
                </a:solidFill>
                <a:latin typeface="Garamond" panose="02020404030301010803" pitchFamily="18" charset="0"/>
              </a:rPr>
              <a:t> </a:t>
            </a:r>
          </a:p>
        </p:txBody>
      </p:sp>
      <p:pic>
        <p:nvPicPr>
          <p:cNvPr id="3" name="Online Media 2" title="Coca Cola Customer Experience Salesforce CRM">
            <a:hlinkClick r:id="" action="ppaction://media"/>
            <a:extLst>
              <a:ext uri="{FF2B5EF4-FFF2-40B4-BE49-F238E27FC236}">
                <a16:creationId xmlns:a16="http://schemas.microsoft.com/office/drawing/2014/main" id="{F769806E-8784-950D-D426-B25FF564E65B}"/>
              </a:ext>
            </a:extLst>
          </p:cNvPr>
          <p:cNvPicPr>
            <a:picLocks noRot="1" noChangeAspect="1"/>
          </p:cNvPicPr>
          <p:nvPr>
            <a:videoFile r:link="rId1"/>
          </p:nvPr>
        </p:nvPicPr>
        <p:blipFill>
          <a:blip r:embed="rId4"/>
          <a:stretch>
            <a:fillRect/>
          </a:stretch>
        </p:blipFill>
        <p:spPr>
          <a:xfrm>
            <a:off x="1239190" y="970332"/>
            <a:ext cx="9710442" cy="5486400"/>
          </a:xfrm>
          <a:prstGeom prst="rect">
            <a:avLst/>
          </a:prstGeom>
        </p:spPr>
      </p:pic>
    </p:spTree>
    <p:extLst>
      <p:ext uri="{BB962C8B-B14F-4D97-AF65-F5344CB8AC3E}">
        <p14:creationId xmlns:p14="http://schemas.microsoft.com/office/powerpoint/2010/main" val="3682835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E111A-D0A8-3F7D-3340-2C0DC677961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719B4F-5B81-9A45-EDF9-96D409D93488}"/>
              </a:ext>
            </a:extLst>
          </p:cNvPr>
          <p:cNvSpPr>
            <a:spLocks noGrp="1"/>
          </p:cNvSpPr>
          <p:nvPr>
            <p:ph idx="1"/>
          </p:nvPr>
        </p:nvSpPr>
        <p:spPr>
          <a:xfrm>
            <a:off x="457200" y="1300900"/>
            <a:ext cx="2936450" cy="5099900"/>
          </a:xfrm>
        </p:spPr>
        <p:txBody>
          <a:bodyPr>
            <a:normAutofit/>
          </a:bodyPr>
          <a:lstStyle/>
          <a:p>
            <a:pPr>
              <a:defRPr sz="2000">
                <a:solidFill>
                  <a:srgbClr val="000000"/>
                </a:solidFill>
                <a:latin typeface="Garamond"/>
              </a:defRPr>
            </a:pPr>
            <a:r>
              <a:rPr lang="en-US" sz="2200" dirty="0"/>
              <a:t>Group #1</a:t>
            </a:r>
          </a:p>
          <a:p>
            <a:pPr lvl="1">
              <a:defRPr sz="2000">
                <a:solidFill>
                  <a:srgbClr val="000000"/>
                </a:solidFill>
                <a:latin typeface="Garamond"/>
              </a:defRPr>
            </a:pPr>
            <a:r>
              <a:rPr lang="en-US" sz="1800" dirty="0"/>
              <a:t>Jonah Dahlstrom</a:t>
            </a:r>
          </a:p>
          <a:p>
            <a:pPr lvl="1">
              <a:defRPr sz="2000">
                <a:solidFill>
                  <a:srgbClr val="000000"/>
                </a:solidFill>
                <a:latin typeface="Garamond"/>
              </a:defRPr>
            </a:pPr>
            <a:r>
              <a:rPr lang="en-US" sz="1800" dirty="0"/>
              <a:t>Tyler Evans</a:t>
            </a:r>
          </a:p>
          <a:p>
            <a:pPr lvl="1">
              <a:defRPr sz="2000">
                <a:solidFill>
                  <a:srgbClr val="000000"/>
                </a:solidFill>
                <a:latin typeface="Garamond"/>
              </a:defRPr>
            </a:pPr>
            <a:r>
              <a:rPr lang="en-US" sz="1800" dirty="0"/>
              <a:t>Colin Baumgartner</a:t>
            </a:r>
          </a:p>
          <a:p>
            <a:pPr lvl="1">
              <a:defRPr sz="2000">
                <a:solidFill>
                  <a:srgbClr val="000000"/>
                </a:solidFill>
                <a:latin typeface="Garamond"/>
              </a:defRPr>
            </a:pPr>
            <a:r>
              <a:rPr lang="en-US" sz="1800" dirty="0"/>
              <a:t>Erik Marchesano</a:t>
            </a:r>
          </a:p>
          <a:p>
            <a:pPr lvl="4">
              <a:defRPr sz="2000">
                <a:solidFill>
                  <a:srgbClr val="000000"/>
                </a:solidFill>
                <a:latin typeface="Garamond"/>
              </a:defRPr>
            </a:pPr>
            <a:endParaRPr lang="en-US" sz="1200" dirty="0"/>
          </a:p>
          <a:p>
            <a:pPr>
              <a:defRPr sz="2000">
                <a:solidFill>
                  <a:srgbClr val="000000"/>
                </a:solidFill>
                <a:latin typeface="Garamond"/>
              </a:defRPr>
            </a:pPr>
            <a:r>
              <a:rPr lang="en-US" sz="2200" dirty="0"/>
              <a:t>Group #2</a:t>
            </a:r>
          </a:p>
          <a:p>
            <a:pPr lvl="1">
              <a:defRPr sz="2000">
                <a:solidFill>
                  <a:srgbClr val="000000"/>
                </a:solidFill>
                <a:latin typeface="Garamond"/>
              </a:defRPr>
            </a:pPr>
            <a:r>
              <a:rPr lang="en-US" sz="1800" dirty="0"/>
              <a:t>Maeva Kuehl</a:t>
            </a:r>
          </a:p>
          <a:p>
            <a:pPr lvl="1">
              <a:defRPr sz="2000">
                <a:solidFill>
                  <a:srgbClr val="000000"/>
                </a:solidFill>
                <a:latin typeface="Garamond"/>
              </a:defRPr>
            </a:pPr>
            <a:r>
              <a:rPr lang="en-US" sz="1800" dirty="0"/>
              <a:t>Claire Kimman</a:t>
            </a:r>
          </a:p>
          <a:p>
            <a:pPr lvl="1">
              <a:defRPr sz="2000">
                <a:solidFill>
                  <a:srgbClr val="000000"/>
                </a:solidFill>
                <a:latin typeface="Garamond"/>
              </a:defRPr>
            </a:pPr>
            <a:r>
              <a:rPr lang="en-US" sz="1800" dirty="0"/>
              <a:t>Danica Rath</a:t>
            </a:r>
          </a:p>
          <a:p>
            <a:pPr lvl="1">
              <a:defRPr sz="2000">
                <a:solidFill>
                  <a:srgbClr val="000000"/>
                </a:solidFill>
                <a:latin typeface="Garamond"/>
              </a:defRPr>
            </a:pPr>
            <a:r>
              <a:rPr lang="en-US" sz="1800" dirty="0"/>
              <a:t>Caroline Stumbo</a:t>
            </a:r>
          </a:p>
          <a:p>
            <a:pPr lvl="1">
              <a:defRPr sz="2000">
                <a:solidFill>
                  <a:srgbClr val="000000"/>
                </a:solidFill>
                <a:latin typeface="Garamond"/>
              </a:defRPr>
            </a:pPr>
            <a:r>
              <a:rPr lang="en-US" sz="1800" dirty="0"/>
              <a:t>Lucy Halverson</a:t>
            </a:r>
          </a:p>
          <a:p>
            <a:pPr lvl="4">
              <a:defRPr sz="2000">
                <a:solidFill>
                  <a:srgbClr val="000000"/>
                </a:solidFill>
                <a:latin typeface="Garamond"/>
              </a:defRPr>
            </a:pPr>
            <a:endParaRPr lang="en-US" sz="1200" dirty="0"/>
          </a:p>
        </p:txBody>
      </p:sp>
      <p:sp>
        <p:nvSpPr>
          <p:cNvPr id="4" name="Rectangle 3">
            <a:extLst>
              <a:ext uri="{FF2B5EF4-FFF2-40B4-BE49-F238E27FC236}">
                <a16:creationId xmlns:a16="http://schemas.microsoft.com/office/drawing/2014/main" id="{5828B7D2-4DC4-1D06-BA7E-9ED9A7B8FDEB}"/>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F52F1CD-5996-D797-75DC-0B6438E37463}"/>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Final &amp; Homework Groups</a:t>
            </a:r>
          </a:p>
        </p:txBody>
      </p:sp>
      <p:sp>
        <p:nvSpPr>
          <p:cNvPr id="5" name="Rectangle 4">
            <a:extLst>
              <a:ext uri="{FF2B5EF4-FFF2-40B4-BE49-F238E27FC236}">
                <a16:creationId xmlns:a16="http://schemas.microsoft.com/office/drawing/2014/main" id="{93F773E3-401E-5814-F392-9637AD36CE78}"/>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0EAA495E-448C-7AEE-0BDE-2C0F16522A9E}"/>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B756E86D-06A6-CC04-AAAB-7A7B7BDF6CF5}"/>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33</a:t>
            </a:fld>
            <a:r>
              <a:rPr lang="en-US" b="1" dirty="0">
                <a:solidFill>
                  <a:schemeClr val="bg1"/>
                </a:solidFill>
                <a:latin typeface="Garamond" panose="02020404030301010803" pitchFamily="18" charset="0"/>
              </a:rPr>
              <a:t> </a:t>
            </a:r>
          </a:p>
        </p:txBody>
      </p:sp>
      <p:sp>
        <p:nvSpPr>
          <p:cNvPr id="8" name="Content Placeholder 2">
            <a:extLst>
              <a:ext uri="{FF2B5EF4-FFF2-40B4-BE49-F238E27FC236}">
                <a16:creationId xmlns:a16="http://schemas.microsoft.com/office/drawing/2014/main" id="{75CA4365-B98B-259E-23F7-8457203884D5}"/>
              </a:ext>
            </a:extLst>
          </p:cNvPr>
          <p:cNvSpPr txBox="1">
            <a:spLocks/>
          </p:cNvSpPr>
          <p:nvPr/>
        </p:nvSpPr>
        <p:spPr>
          <a:xfrm>
            <a:off x="4065293" y="1300900"/>
            <a:ext cx="3497344" cy="5099900"/>
          </a:xfrm>
          <a:prstGeom prst="rect">
            <a:avLst/>
          </a:prstGeom>
        </p:spPr>
        <p:txBody>
          <a:bodyPr vert="horz" lIns="91440" tIns="45720" rIns="91440" bIns="45720" rtlCol="0">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sz="2400" dirty="0"/>
              <a:t>Group #3</a:t>
            </a:r>
          </a:p>
          <a:p>
            <a:pPr lvl="1">
              <a:defRPr sz="2000">
                <a:solidFill>
                  <a:srgbClr val="000000"/>
                </a:solidFill>
                <a:latin typeface="Garamond"/>
              </a:defRPr>
            </a:pPr>
            <a:r>
              <a:rPr lang="en-US" sz="1900" dirty="0"/>
              <a:t>Grant Anderson</a:t>
            </a:r>
          </a:p>
          <a:p>
            <a:pPr lvl="1">
              <a:defRPr sz="2000">
                <a:solidFill>
                  <a:srgbClr val="000000"/>
                </a:solidFill>
                <a:latin typeface="Garamond"/>
              </a:defRPr>
            </a:pPr>
            <a:r>
              <a:rPr lang="en-US" sz="1900" dirty="0"/>
              <a:t>Thad Lieser</a:t>
            </a:r>
          </a:p>
          <a:p>
            <a:pPr lvl="1">
              <a:defRPr sz="2000">
                <a:solidFill>
                  <a:srgbClr val="000000"/>
                </a:solidFill>
                <a:latin typeface="Garamond"/>
              </a:defRPr>
            </a:pPr>
            <a:r>
              <a:rPr lang="en-US" sz="1900" dirty="0"/>
              <a:t>Brett Schlangen</a:t>
            </a:r>
          </a:p>
          <a:p>
            <a:pPr lvl="1">
              <a:defRPr sz="2000">
                <a:solidFill>
                  <a:srgbClr val="000000"/>
                </a:solidFill>
                <a:latin typeface="Garamond"/>
              </a:defRPr>
            </a:pPr>
            <a:r>
              <a:rPr lang="en-US" sz="1900" dirty="0"/>
              <a:t>Victor Sosa Krabbenhoft</a:t>
            </a:r>
          </a:p>
          <a:p>
            <a:pPr lvl="1">
              <a:defRPr sz="2000">
                <a:solidFill>
                  <a:srgbClr val="000000"/>
                </a:solidFill>
                <a:latin typeface="Garamond"/>
              </a:defRPr>
            </a:pPr>
            <a:r>
              <a:rPr lang="en-US" sz="1900" dirty="0"/>
              <a:t>Wrigley Gunderson</a:t>
            </a:r>
          </a:p>
          <a:p>
            <a:pPr lvl="4">
              <a:defRPr sz="2000">
                <a:solidFill>
                  <a:srgbClr val="000000"/>
                </a:solidFill>
                <a:latin typeface="Garamond"/>
              </a:defRPr>
            </a:pPr>
            <a:endParaRPr lang="en-US" sz="1200" dirty="0"/>
          </a:p>
          <a:p>
            <a:pPr>
              <a:defRPr sz="2000">
                <a:solidFill>
                  <a:srgbClr val="000000"/>
                </a:solidFill>
                <a:latin typeface="Garamond"/>
              </a:defRPr>
            </a:pPr>
            <a:r>
              <a:rPr lang="en-US" sz="2400" dirty="0">
                <a:solidFill>
                  <a:srgbClr val="000000"/>
                </a:solidFill>
                <a:latin typeface="Garamond"/>
              </a:rPr>
              <a:t>Group #4</a:t>
            </a:r>
          </a:p>
          <a:p>
            <a:pPr lvl="1">
              <a:defRPr sz="2000">
                <a:solidFill>
                  <a:srgbClr val="000000"/>
                </a:solidFill>
                <a:latin typeface="Garamond"/>
              </a:defRPr>
            </a:pPr>
            <a:r>
              <a:rPr lang="en-US" sz="1900" dirty="0">
                <a:solidFill>
                  <a:srgbClr val="000000"/>
                </a:solidFill>
                <a:latin typeface="Garamond"/>
              </a:rPr>
              <a:t>Kaia Gack</a:t>
            </a:r>
          </a:p>
          <a:p>
            <a:pPr lvl="1">
              <a:defRPr sz="2000">
                <a:solidFill>
                  <a:srgbClr val="000000"/>
                </a:solidFill>
                <a:latin typeface="Garamond"/>
              </a:defRPr>
            </a:pPr>
            <a:r>
              <a:rPr lang="en-US" sz="1900" dirty="0">
                <a:solidFill>
                  <a:srgbClr val="000000"/>
                </a:solidFill>
                <a:latin typeface="Garamond"/>
              </a:rPr>
              <a:t>Grady Guida</a:t>
            </a:r>
          </a:p>
          <a:p>
            <a:pPr lvl="1">
              <a:defRPr sz="2000">
                <a:solidFill>
                  <a:srgbClr val="000000"/>
                </a:solidFill>
                <a:latin typeface="Garamond"/>
              </a:defRPr>
            </a:pPr>
            <a:r>
              <a:rPr lang="en-US" sz="1900" dirty="0">
                <a:solidFill>
                  <a:srgbClr val="000000"/>
                </a:solidFill>
                <a:latin typeface="Garamond"/>
              </a:rPr>
              <a:t>Layne Polen</a:t>
            </a:r>
          </a:p>
          <a:p>
            <a:pPr lvl="4">
              <a:defRPr sz="2000">
                <a:solidFill>
                  <a:srgbClr val="000000"/>
                </a:solidFill>
                <a:latin typeface="Garamond"/>
              </a:defRPr>
            </a:pPr>
            <a:endParaRPr lang="en-US" sz="1000" dirty="0">
              <a:solidFill>
                <a:srgbClr val="000000"/>
              </a:solidFill>
              <a:latin typeface="Garamond"/>
            </a:endParaRPr>
          </a:p>
          <a:p>
            <a:pPr>
              <a:defRPr sz="2000">
                <a:solidFill>
                  <a:srgbClr val="000000"/>
                </a:solidFill>
                <a:latin typeface="Garamond"/>
              </a:defRPr>
            </a:pPr>
            <a:r>
              <a:rPr lang="en-US" sz="2400" dirty="0">
                <a:solidFill>
                  <a:srgbClr val="000000"/>
                </a:solidFill>
                <a:latin typeface="Garamond"/>
              </a:rPr>
              <a:t>Group #5</a:t>
            </a:r>
          </a:p>
          <a:p>
            <a:pPr lvl="1">
              <a:defRPr sz="2000">
                <a:solidFill>
                  <a:srgbClr val="000000"/>
                </a:solidFill>
                <a:latin typeface="Garamond"/>
              </a:defRPr>
            </a:pPr>
            <a:r>
              <a:rPr lang="en-US" sz="1900" dirty="0">
                <a:solidFill>
                  <a:srgbClr val="000000"/>
                </a:solidFill>
                <a:latin typeface="Garamond"/>
              </a:rPr>
              <a:t>Austin Helgeson</a:t>
            </a:r>
          </a:p>
          <a:p>
            <a:pPr lvl="1">
              <a:defRPr sz="2000">
                <a:solidFill>
                  <a:srgbClr val="000000"/>
                </a:solidFill>
                <a:latin typeface="Garamond"/>
              </a:defRPr>
            </a:pPr>
            <a:r>
              <a:rPr lang="en-US" sz="1900" dirty="0">
                <a:solidFill>
                  <a:srgbClr val="000000"/>
                </a:solidFill>
                <a:latin typeface="Garamond"/>
              </a:rPr>
              <a:t>James Coady</a:t>
            </a:r>
          </a:p>
          <a:p>
            <a:pPr lvl="1">
              <a:defRPr sz="2000">
                <a:solidFill>
                  <a:srgbClr val="000000"/>
                </a:solidFill>
                <a:latin typeface="Garamond"/>
              </a:defRPr>
            </a:pPr>
            <a:r>
              <a:rPr lang="en-US" sz="1900" dirty="0">
                <a:solidFill>
                  <a:srgbClr val="000000"/>
                </a:solidFill>
                <a:latin typeface="Garamond"/>
              </a:rPr>
              <a:t>Dylan Knecht</a:t>
            </a:r>
          </a:p>
          <a:p>
            <a:pPr>
              <a:defRPr sz="2000">
                <a:solidFill>
                  <a:srgbClr val="000000"/>
                </a:solidFill>
                <a:latin typeface="Garamond"/>
              </a:defRPr>
            </a:pPr>
            <a:endParaRPr lang="en-US" sz="1800" dirty="0">
              <a:solidFill>
                <a:srgbClr val="000000"/>
              </a:solidFill>
              <a:latin typeface="Garamond"/>
            </a:endParaRPr>
          </a:p>
          <a:p>
            <a:pPr>
              <a:defRPr sz="2000">
                <a:solidFill>
                  <a:srgbClr val="000000"/>
                </a:solidFill>
                <a:latin typeface="Garamond"/>
              </a:defRPr>
            </a:pPr>
            <a:endParaRPr lang="en-US" sz="1700" dirty="0">
              <a:solidFill>
                <a:srgbClr val="000000"/>
              </a:solidFill>
              <a:latin typeface="Garamond"/>
            </a:endParaRPr>
          </a:p>
        </p:txBody>
      </p:sp>
      <p:sp>
        <p:nvSpPr>
          <p:cNvPr id="10" name="Content Placeholder 2">
            <a:extLst>
              <a:ext uri="{FF2B5EF4-FFF2-40B4-BE49-F238E27FC236}">
                <a16:creationId xmlns:a16="http://schemas.microsoft.com/office/drawing/2014/main" id="{883B9214-4DAE-5AAC-6788-C2FF92FE2F09}"/>
              </a:ext>
            </a:extLst>
          </p:cNvPr>
          <p:cNvSpPr txBox="1">
            <a:spLocks/>
          </p:cNvSpPr>
          <p:nvPr/>
        </p:nvSpPr>
        <p:spPr>
          <a:xfrm>
            <a:off x="8234281" y="1300900"/>
            <a:ext cx="3497344" cy="5099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sz="2200" dirty="0"/>
              <a:t>Group #6</a:t>
            </a:r>
          </a:p>
          <a:p>
            <a:pPr lvl="1">
              <a:defRPr sz="2000">
                <a:solidFill>
                  <a:srgbClr val="000000"/>
                </a:solidFill>
                <a:latin typeface="Garamond"/>
              </a:defRPr>
            </a:pPr>
            <a:r>
              <a:rPr lang="en-US" sz="1800" dirty="0"/>
              <a:t>Sam Carlson</a:t>
            </a:r>
          </a:p>
          <a:p>
            <a:pPr lvl="1">
              <a:defRPr sz="2000">
                <a:solidFill>
                  <a:srgbClr val="000000"/>
                </a:solidFill>
                <a:latin typeface="Garamond"/>
              </a:defRPr>
            </a:pPr>
            <a:r>
              <a:rPr lang="en-US" sz="1800" dirty="0"/>
              <a:t>Alex Kriesel</a:t>
            </a:r>
          </a:p>
          <a:p>
            <a:pPr lvl="1">
              <a:defRPr sz="2000">
                <a:solidFill>
                  <a:srgbClr val="000000"/>
                </a:solidFill>
                <a:latin typeface="Garamond"/>
              </a:defRPr>
            </a:pPr>
            <a:r>
              <a:rPr lang="en-US" sz="1800" dirty="0"/>
              <a:t>Marek </a:t>
            </a:r>
            <a:r>
              <a:rPr lang="en-US" sz="1800" dirty="0" err="1"/>
              <a:t>Doussard</a:t>
            </a:r>
            <a:endParaRPr lang="en-US" sz="1800" dirty="0"/>
          </a:p>
          <a:p>
            <a:pPr lvl="3">
              <a:defRPr sz="2000">
                <a:solidFill>
                  <a:srgbClr val="000000"/>
                </a:solidFill>
                <a:latin typeface="Garamond"/>
              </a:defRPr>
            </a:pPr>
            <a:endParaRPr lang="en-US" sz="1200" dirty="0"/>
          </a:p>
          <a:p>
            <a:pPr>
              <a:defRPr sz="2000">
                <a:solidFill>
                  <a:srgbClr val="000000"/>
                </a:solidFill>
                <a:latin typeface="Garamond"/>
              </a:defRPr>
            </a:pPr>
            <a:r>
              <a:rPr lang="en-US" sz="2200" dirty="0"/>
              <a:t>Group #7</a:t>
            </a:r>
          </a:p>
          <a:p>
            <a:pPr lvl="1">
              <a:defRPr sz="2000">
                <a:solidFill>
                  <a:srgbClr val="000000"/>
                </a:solidFill>
                <a:latin typeface="Garamond"/>
              </a:defRPr>
            </a:pPr>
            <a:r>
              <a:rPr lang="en-US" sz="1800" dirty="0"/>
              <a:t>John Blake</a:t>
            </a:r>
          </a:p>
          <a:p>
            <a:pPr lvl="1">
              <a:defRPr sz="2000">
                <a:solidFill>
                  <a:srgbClr val="000000"/>
                </a:solidFill>
                <a:latin typeface="Garamond"/>
              </a:defRPr>
            </a:pPr>
            <a:r>
              <a:rPr lang="en-US" sz="1800" dirty="0"/>
              <a:t>Kylie Huseth</a:t>
            </a:r>
          </a:p>
          <a:p>
            <a:pPr lvl="1">
              <a:defRPr sz="2000">
                <a:solidFill>
                  <a:srgbClr val="000000"/>
                </a:solidFill>
                <a:latin typeface="Garamond"/>
              </a:defRPr>
            </a:pPr>
            <a:r>
              <a:rPr lang="en-US" sz="1800" dirty="0"/>
              <a:t>Camryn Iverson</a:t>
            </a:r>
          </a:p>
          <a:p>
            <a:pPr lvl="3">
              <a:defRPr sz="2000">
                <a:solidFill>
                  <a:srgbClr val="000000"/>
                </a:solidFill>
                <a:latin typeface="Garamond"/>
              </a:defRPr>
            </a:pPr>
            <a:endParaRPr lang="en-US" sz="1200" dirty="0"/>
          </a:p>
          <a:p>
            <a:pPr>
              <a:defRPr sz="2000">
                <a:solidFill>
                  <a:srgbClr val="000000"/>
                </a:solidFill>
                <a:latin typeface="Garamond"/>
              </a:defRPr>
            </a:pPr>
            <a:r>
              <a:rPr lang="en-US" sz="2200" dirty="0"/>
              <a:t>Group #8</a:t>
            </a:r>
          </a:p>
          <a:p>
            <a:pPr lvl="1">
              <a:defRPr sz="2000">
                <a:solidFill>
                  <a:srgbClr val="000000"/>
                </a:solidFill>
                <a:latin typeface="Garamond"/>
              </a:defRPr>
            </a:pPr>
            <a:r>
              <a:rPr lang="en-US" sz="1800" dirty="0"/>
              <a:t>Mark Noah</a:t>
            </a:r>
          </a:p>
          <a:p>
            <a:pPr lvl="1">
              <a:defRPr sz="2000">
                <a:solidFill>
                  <a:srgbClr val="000000"/>
                </a:solidFill>
                <a:latin typeface="Garamond"/>
              </a:defRPr>
            </a:pPr>
            <a:r>
              <a:rPr lang="en-US" sz="1800" dirty="0"/>
              <a:t>Jonas Hagemeister</a:t>
            </a:r>
          </a:p>
          <a:p>
            <a:pPr lvl="1">
              <a:defRPr sz="2000">
                <a:solidFill>
                  <a:srgbClr val="000000"/>
                </a:solidFill>
                <a:latin typeface="Garamond"/>
              </a:defRPr>
            </a:pPr>
            <a:r>
              <a:rPr lang="en-US" sz="1800" dirty="0"/>
              <a:t>Carter Ferber</a:t>
            </a:r>
            <a:endParaRPr lang="en-US" sz="1800" dirty="0">
              <a:solidFill>
                <a:srgbClr val="000000"/>
              </a:solidFill>
              <a:latin typeface="Garamond"/>
            </a:endParaRPr>
          </a:p>
        </p:txBody>
      </p:sp>
    </p:spTree>
    <p:extLst>
      <p:ext uri="{BB962C8B-B14F-4D97-AF65-F5344CB8AC3E}">
        <p14:creationId xmlns:p14="http://schemas.microsoft.com/office/powerpoint/2010/main" val="2456281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animEffect transition="in" filter="fade">
                                      <p:cBhvr>
                                        <p:cTn id="25" dur="500"/>
                                        <p:tgtEl>
                                          <p:spTgt spid="3">
                                            <p:txEl>
                                              <p:pRg st="7" end="7"/>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8" end="8"/>
                                            </p:txEl>
                                          </p:spTgt>
                                        </p:tgtEl>
                                        <p:attrNameLst>
                                          <p:attrName>style.visibility</p:attrName>
                                        </p:attrNameLst>
                                      </p:cBhvr>
                                      <p:to>
                                        <p:strVal val="visible"/>
                                      </p:to>
                                    </p:set>
                                    <p:animEffect transition="in" filter="fade">
                                      <p:cBhvr>
                                        <p:cTn id="28" dur="500"/>
                                        <p:tgtEl>
                                          <p:spTgt spid="3">
                                            <p:txEl>
                                              <p:pRg st="8" end="8"/>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animEffect transition="in" filter="fade">
                                      <p:cBhvr>
                                        <p:cTn id="31" dur="500"/>
                                        <p:tgtEl>
                                          <p:spTgt spid="3">
                                            <p:txEl>
                                              <p:pRg st="9" end="9"/>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3">
                                            <p:txEl>
                                              <p:pRg st="10" end="10"/>
                                            </p:txEl>
                                          </p:spTgt>
                                        </p:tgtEl>
                                        <p:attrNameLst>
                                          <p:attrName>style.visibility</p:attrName>
                                        </p:attrNameLst>
                                      </p:cBhvr>
                                      <p:to>
                                        <p:strVal val="visible"/>
                                      </p:to>
                                    </p:set>
                                    <p:animEffect transition="in" filter="fade">
                                      <p:cBhvr>
                                        <p:cTn id="34" dur="500"/>
                                        <p:tgtEl>
                                          <p:spTgt spid="3">
                                            <p:txEl>
                                              <p:pRg st="10" end="10"/>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3">
                                            <p:txEl>
                                              <p:pRg st="11" end="11"/>
                                            </p:txEl>
                                          </p:spTgt>
                                        </p:tgtEl>
                                        <p:attrNameLst>
                                          <p:attrName>style.visibility</p:attrName>
                                        </p:attrNameLst>
                                      </p:cBhvr>
                                      <p:to>
                                        <p:strVal val="visible"/>
                                      </p:to>
                                    </p:set>
                                    <p:animEffect transition="in" filter="fade">
                                      <p:cBhvr>
                                        <p:cTn id="37" dur="500"/>
                                        <p:tgtEl>
                                          <p:spTgt spid="3">
                                            <p:txEl>
                                              <p:pRg st="11" end="11"/>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8">
                                            <p:txEl>
                                              <p:pRg st="0" end="0"/>
                                            </p:txEl>
                                          </p:spTgt>
                                        </p:tgtEl>
                                        <p:attrNameLst>
                                          <p:attrName>style.visibility</p:attrName>
                                        </p:attrNameLst>
                                      </p:cBhvr>
                                      <p:to>
                                        <p:strVal val="visible"/>
                                      </p:to>
                                    </p:set>
                                    <p:animEffect transition="in" filter="fade">
                                      <p:cBhvr>
                                        <p:cTn id="40" dur="500"/>
                                        <p:tgtEl>
                                          <p:spTgt spid="8">
                                            <p:txEl>
                                              <p:pRg st="0" end="0"/>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8">
                                            <p:txEl>
                                              <p:pRg st="1" end="1"/>
                                            </p:txEl>
                                          </p:spTgt>
                                        </p:tgtEl>
                                        <p:attrNameLst>
                                          <p:attrName>style.visibility</p:attrName>
                                        </p:attrNameLst>
                                      </p:cBhvr>
                                      <p:to>
                                        <p:strVal val="visible"/>
                                      </p:to>
                                    </p:set>
                                    <p:animEffect transition="in" filter="fade">
                                      <p:cBhvr>
                                        <p:cTn id="43" dur="500"/>
                                        <p:tgtEl>
                                          <p:spTgt spid="8">
                                            <p:txEl>
                                              <p:pRg st="1" end="1"/>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8">
                                            <p:txEl>
                                              <p:pRg st="2" end="2"/>
                                            </p:txEl>
                                          </p:spTgt>
                                        </p:tgtEl>
                                        <p:attrNameLst>
                                          <p:attrName>style.visibility</p:attrName>
                                        </p:attrNameLst>
                                      </p:cBhvr>
                                      <p:to>
                                        <p:strVal val="visible"/>
                                      </p:to>
                                    </p:set>
                                    <p:animEffect transition="in" filter="fade">
                                      <p:cBhvr>
                                        <p:cTn id="46" dur="500"/>
                                        <p:tgtEl>
                                          <p:spTgt spid="8">
                                            <p:txEl>
                                              <p:pRg st="2" end="2"/>
                                            </p:txEl>
                                          </p:spTgt>
                                        </p:tgtEl>
                                      </p:cBhvr>
                                    </p:animEffect>
                                  </p:childTnLst>
                                </p:cTn>
                              </p:par>
                              <p:par>
                                <p:cTn id="47" presetID="10" presetClass="entr" presetSubtype="0" fill="hold" nodeType="withEffect">
                                  <p:stCondLst>
                                    <p:cond delay="0"/>
                                  </p:stCondLst>
                                  <p:childTnLst>
                                    <p:set>
                                      <p:cBhvr>
                                        <p:cTn id="48" dur="1" fill="hold">
                                          <p:stCondLst>
                                            <p:cond delay="0"/>
                                          </p:stCondLst>
                                        </p:cTn>
                                        <p:tgtEl>
                                          <p:spTgt spid="8">
                                            <p:txEl>
                                              <p:pRg st="3" end="3"/>
                                            </p:txEl>
                                          </p:spTgt>
                                        </p:tgtEl>
                                        <p:attrNameLst>
                                          <p:attrName>style.visibility</p:attrName>
                                        </p:attrNameLst>
                                      </p:cBhvr>
                                      <p:to>
                                        <p:strVal val="visible"/>
                                      </p:to>
                                    </p:set>
                                    <p:animEffect transition="in" filter="fade">
                                      <p:cBhvr>
                                        <p:cTn id="49" dur="500"/>
                                        <p:tgtEl>
                                          <p:spTgt spid="8">
                                            <p:txEl>
                                              <p:pRg st="3" end="3"/>
                                            </p:txEl>
                                          </p:spTgt>
                                        </p:tgtEl>
                                      </p:cBhvr>
                                    </p:animEffect>
                                  </p:childTnLst>
                                </p:cTn>
                              </p:par>
                              <p:par>
                                <p:cTn id="50" presetID="10" presetClass="entr" presetSubtype="0" fill="hold" nodeType="withEffect">
                                  <p:stCondLst>
                                    <p:cond delay="0"/>
                                  </p:stCondLst>
                                  <p:childTnLst>
                                    <p:set>
                                      <p:cBhvr>
                                        <p:cTn id="51" dur="1" fill="hold">
                                          <p:stCondLst>
                                            <p:cond delay="0"/>
                                          </p:stCondLst>
                                        </p:cTn>
                                        <p:tgtEl>
                                          <p:spTgt spid="8">
                                            <p:txEl>
                                              <p:pRg st="4" end="4"/>
                                            </p:txEl>
                                          </p:spTgt>
                                        </p:tgtEl>
                                        <p:attrNameLst>
                                          <p:attrName>style.visibility</p:attrName>
                                        </p:attrNameLst>
                                      </p:cBhvr>
                                      <p:to>
                                        <p:strVal val="visible"/>
                                      </p:to>
                                    </p:set>
                                    <p:animEffect transition="in" filter="fade">
                                      <p:cBhvr>
                                        <p:cTn id="52" dur="500"/>
                                        <p:tgtEl>
                                          <p:spTgt spid="8">
                                            <p:txEl>
                                              <p:pRg st="4" end="4"/>
                                            </p:txEl>
                                          </p:spTgt>
                                        </p:tgtEl>
                                      </p:cBhvr>
                                    </p:animEffect>
                                  </p:childTnLst>
                                </p:cTn>
                              </p:par>
                              <p:par>
                                <p:cTn id="53" presetID="10" presetClass="entr" presetSubtype="0" fill="hold" nodeType="withEffect">
                                  <p:stCondLst>
                                    <p:cond delay="0"/>
                                  </p:stCondLst>
                                  <p:childTnLst>
                                    <p:set>
                                      <p:cBhvr>
                                        <p:cTn id="54" dur="1" fill="hold">
                                          <p:stCondLst>
                                            <p:cond delay="0"/>
                                          </p:stCondLst>
                                        </p:cTn>
                                        <p:tgtEl>
                                          <p:spTgt spid="8">
                                            <p:txEl>
                                              <p:pRg st="5" end="5"/>
                                            </p:txEl>
                                          </p:spTgt>
                                        </p:tgtEl>
                                        <p:attrNameLst>
                                          <p:attrName>style.visibility</p:attrName>
                                        </p:attrNameLst>
                                      </p:cBhvr>
                                      <p:to>
                                        <p:strVal val="visible"/>
                                      </p:to>
                                    </p:set>
                                    <p:animEffect transition="in" filter="fade">
                                      <p:cBhvr>
                                        <p:cTn id="55" dur="500"/>
                                        <p:tgtEl>
                                          <p:spTgt spid="8">
                                            <p:txEl>
                                              <p:pRg st="5" end="5"/>
                                            </p:txEl>
                                          </p:spTgt>
                                        </p:tgtEl>
                                      </p:cBhvr>
                                    </p:animEffect>
                                  </p:childTnLst>
                                </p:cTn>
                              </p:par>
                              <p:par>
                                <p:cTn id="56" presetID="10" presetClass="entr" presetSubtype="0" fill="hold" nodeType="withEffect">
                                  <p:stCondLst>
                                    <p:cond delay="0"/>
                                  </p:stCondLst>
                                  <p:childTnLst>
                                    <p:set>
                                      <p:cBhvr>
                                        <p:cTn id="57" dur="1" fill="hold">
                                          <p:stCondLst>
                                            <p:cond delay="0"/>
                                          </p:stCondLst>
                                        </p:cTn>
                                        <p:tgtEl>
                                          <p:spTgt spid="8">
                                            <p:txEl>
                                              <p:pRg st="7" end="7"/>
                                            </p:txEl>
                                          </p:spTgt>
                                        </p:tgtEl>
                                        <p:attrNameLst>
                                          <p:attrName>style.visibility</p:attrName>
                                        </p:attrNameLst>
                                      </p:cBhvr>
                                      <p:to>
                                        <p:strVal val="visible"/>
                                      </p:to>
                                    </p:set>
                                    <p:animEffect transition="in" filter="fade">
                                      <p:cBhvr>
                                        <p:cTn id="58" dur="500"/>
                                        <p:tgtEl>
                                          <p:spTgt spid="8">
                                            <p:txEl>
                                              <p:pRg st="7" end="7"/>
                                            </p:txEl>
                                          </p:spTgt>
                                        </p:tgtEl>
                                      </p:cBhvr>
                                    </p:animEffect>
                                  </p:childTnLst>
                                </p:cTn>
                              </p:par>
                              <p:par>
                                <p:cTn id="59" presetID="10" presetClass="entr" presetSubtype="0" fill="hold" nodeType="withEffect">
                                  <p:stCondLst>
                                    <p:cond delay="0"/>
                                  </p:stCondLst>
                                  <p:childTnLst>
                                    <p:set>
                                      <p:cBhvr>
                                        <p:cTn id="60" dur="1" fill="hold">
                                          <p:stCondLst>
                                            <p:cond delay="0"/>
                                          </p:stCondLst>
                                        </p:cTn>
                                        <p:tgtEl>
                                          <p:spTgt spid="8">
                                            <p:txEl>
                                              <p:pRg st="8" end="8"/>
                                            </p:txEl>
                                          </p:spTgt>
                                        </p:tgtEl>
                                        <p:attrNameLst>
                                          <p:attrName>style.visibility</p:attrName>
                                        </p:attrNameLst>
                                      </p:cBhvr>
                                      <p:to>
                                        <p:strVal val="visible"/>
                                      </p:to>
                                    </p:set>
                                    <p:animEffect transition="in" filter="fade">
                                      <p:cBhvr>
                                        <p:cTn id="61" dur="500"/>
                                        <p:tgtEl>
                                          <p:spTgt spid="8">
                                            <p:txEl>
                                              <p:pRg st="8" end="8"/>
                                            </p:txEl>
                                          </p:spTgt>
                                        </p:tgtEl>
                                      </p:cBhvr>
                                    </p:animEffect>
                                  </p:childTnLst>
                                </p:cTn>
                              </p:par>
                              <p:par>
                                <p:cTn id="62" presetID="10" presetClass="entr" presetSubtype="0" fill="hold" nodeType="withEffect">
                                  <p:stCondLst>
                                    <p:cond delay="0"/>
                                  </p:stCondLst>
                                  <p:childTnLst>
                                    <p:set>
                                      <p:cBhvr>
                                        <p:cTn id="63" dur="1" fill="hold">
                                          <p:stCondLst>
                                            <p:cond delay="0"/>
                                          </p:stCondLst>
                                        </p:cTn>
                                        <p:tgtEl>
                                          <p:spTgt spid="8">
                                            <p:txEl>
                                              <p:pRg st="9" end="9"/>
                                            </p:txEl>
                                          </p:spTgt>
                                        </p:tgtEl>
                                        <p:attrNameLst>
                                          <p:attrName>style.visibility</p:attrName>
                                        </p:attrNameLst>
                                      </p:cBhvr>
                                      <p:to>
                                        <p:strVal val="visible"/>
                                      </p:to>
                                    </p:set>
                                    <p:animEffect transition="in" filter="fade">
                                      <p:cBhvr>
                                        <p:cTn id="64" dur="500"/>
                                        <p:tgtEl>
                                          <p:spTgt spid="8">
                                            <p:txEl>
                                              <p:pRg st="9" end="9"/>
                                            </p:txEl>
                                          </p:spTgt>
                                        </p:tgtEl>
                                      </p:cBhvr>
                                    </p:animEffect>
                                  </p:childTnLst>
                                </p:cTn>
                              </p:par>
                              <p:par>
                                <p:cTn id="65" presetID="10" presetClass="entr" presetSubtype="0" fill="hold" nodeType="withEffect">
                                  <p:stCondLst>
                                    <p:cond delay="0"/>
                                  </p:stCondLst>
                                  <p:childTnLst>
                                    <p:set>
                                      <p:cBhvr>
                                        <p:cTn id="66" dur="1" fill="hold">
                                          <p:stCondLst>
                                            <p:cond delay="0"/>
                                          </p:stCondLst>
                                        </p:cTn>
                                        <p:tgtEl>
                                          <p:spTgt spid="8">
                                            <p:txEl>
                                              <p:pRg st="10" end="10"/>
                                            </p:txEl>
                                          </p:spTgt>
                                        </p:tgtEl>
                                        <p:attrNameLst>
                                          <p:attrName>style.visibility</p:attrName>
                                        </p:attrNameLst>
                                      </p:cBhvr>
                                      <p:to>
                                        <p:strVal val="visible"/>
                                      </p:to>
                                    </p:set>
                                    <p:animEffect transition="in" filter="fade">
                                      <p:cBhvr>
                                        <p:cTn id="67" dur="500"/>
                                        <p:tgtEl>
                                          <p:spTgt spid="8">
                                            <p:txEl>
                                              <p:pRg st="10" end="10"/>
                                            </p:txEl>
                                          </p:spTgt>
                                        </p:tgtEl>
                                      </p:cBhvr>
                                    </p:animEffect>
                                  </p:childTnLst>
                                </p:cTn>
                              </p:par>
                              <p:par>
                                <p:cTn id="68" presetID="10" presetClass="entr" presetSubtype="0" fill="hold" nodeType="withEffect">
                                  <p:stCondLst>
                                    <p:cond delay="0"/>
                                  </p:stCondLst>
                                  <p:childTnLst>
                                    <p:set>
                                      <p:cBhvr>
                                        <p:cTn id="69" dur="1" fill="hold">
                                          <p:stCondLst>
                                            <p:cond delay="0"/>
                                          </p:stCondLst>
                                        </p:cTn>
                                        <p:tgtEl>
                                          <p:spTgt spid="8">
                                            <p:txEl>
                                              <p:pRg st="12" end="12"/>
                                            </p:txEl>
                                          </p:spTgt>
                                        </p:tgtEl>
                                        <p:attrNameLst>
                                          <p:attrName>style.visibility</p:attrName>
                                        </p:attrNameLst>
                                      </p:cBhvr>
                                      <p:to>
                                        <p:strVal val="visible"/>
                                      </p:to>
                                    </p:set>
                                    <p:animEffect transition="in" filter="fade">
                                      <p:cBhvr>
                                        <p:cTn id="70" dur="500"/>
                                        <p:tgtEl>
                                          <p:spTgt spid="8">
                                            <p:txEl>
                                              <p:pRg st="12" end="12"/>
                                            </p:txEl>
                                          </p:spTgt>
                                        </p:tgtEl>
                                      </p:cBhvr>
                                    </p:animEffect>
                                  </p:childTnLst>
                                </p:cTn>
                              </p:par>
                              <p:par>
                                <p:cTn id="71" presetID="10" presetClass="entr" presetSubtype="0" fill="hold" nodeType="withEffect">
                                  <p:stCondLst>
                                    <p:cond delay="0"/>
                                  </p:stCondLst>
                                  <p:childTnLst>
                                    <p:set>
                                      <p:cBhvr>
                                        <p:cTn id="72" dur="1" fill="hold">
                                          <p:stCondLst>
                                            <p:cond delay="0"/>
                                          </p:stCondLst>
                                        </p:cTn>
                                        <p:tgtEl>
                                          <p:spTgt spid="8">
                                            <p:txEl>
                                              <p:pRg st="13" end="13"/>
                                            </p:txEl>
                                          </p:spTgt>
                                        </p:tgtEl>
                                        <p:attrNameLst>
                                          <p:attrName>style.visibility</p:attrName>
                                        </p:attrNameLst>
                                      </p:cBhvr>
                                      <p:to>
                                        <p:strVal val="visible"/>
                                      </p:to>
                                    </p:set>
                                    <p:animEffect transition="in" filter="fade">
                                      <p:cBhvr>
                                        <p:cTn id="73" dur="500"/>
                                        <p:tgtEl>
                                          <p:spTgt spid="8">
                                            <p:txEl>
                                              <p:pRg st="13" end="13"/>
                                            </p:txEl>
                                          </p:spTgt>
                                        </p:tgtEl>
                                      </p:cBhvr>
                                    </p:animEffect>
                                  </p:childTnLst>
                                </p:cTn>
                              </p:par>
                              <p:par>
                                <p:cTn id="74" presetID="10" presetClass="entr" presetSubtype="0" fill="hold" nodeType="withEffect">
                                  <p:stCondLst>
                                    <p:cond delay="0"/>
                                  </p:stCondLst>
                                  <p:childTnLst>
                                    <p:set>
                                      <p:cBhvr>
                                        <p:cTn id="75" dur="1" fill="hold">
                                          <p:stCondLst>
                                            <p:cond delay="0"/>
                                          </p:stCondLst>
                                        </p:cTn>
                                        <p:tgtEl>
                                          <p:spTgt spid="8">
                                            <p:txEl>
                                              <p:pRg st="14" end="14"/>
                                            </p:txEl>
                                          </p:spTgt>
                                        </p:tgtEl>
                                        <p:attrNameLst>
                                          <p:attrName>style.visibility</p:attrName>
                                        </p:attrNameLst>
                                      </p:cBhvr>
                                      <p:to>
                                        <p:strVal val="visible"/>
                                      </p:to>
                                    </p:set>
                                    <p:animEffect transition="in" filter="fade">
                                      <p:cBhvr>
                                        <p:cTn id="76" dur="500"/>
                                        <p:tgtEl>
                                          <p:spTgt spid="8">
                                            <p:txEl>
                                              <p:pRg st="14" end="14"/>
                                            </p:txEl>
                                          </p:spTgt>
                                        </p:tgtEl>
                                      </p:cBhvr>
                                    </p:animEffect>
                                  </p:childTnLst>
                                </p:cTn>
                              </p:par>
                              <p:par>
                                <p:cTn id="77" presetID="10" presetClass="entr" presetSubtype="0" fill="hold" nodeType="withEffect">
                                  <p:stCondLst>
                                    <p:cond delay="0"/>
                                  </p:stCondLst>
                                  <p:childTnLst>
                                    <p:set>
                                      <p:cBhvr>
                                        <p:cTn id="78" dur="1" fill="hold">
                                          <p:stCondLst>
                                            <p:cond delay="0"/>
                                          </p:stCondLst>
                                        </p:cTn>
                                        <p:tgtEl>
                                          <p:spTgt spid="8">
                                            <p:txEl>
                                              <p:pRg st="15" end="15"/>
                                            </p:txEl>
                                          </p:spTgt>
                                        </p:tgtEl>
                                        <p:attrNameLst>
                                          <p:attrName>style.visibility</p:attrName>
                                        </p:attrNameLst>
                                      </p:cBhvr>
                                      <p:to>
                                        <p:strVal val="visible"/>
                                      </p:to>
                                    </p:set>
                                    <p:animEffect transition="in" filter="fade">
                                      <p:cBhvr>
                                        <p:cTn id="79" dur="500"/>
                                        <p:tgtEl>
                                          <p:spTgt spid="8">
                                            <p:txEl>
                                              <p:pRg st="15" end="15"/>
                                            </p:txEl>
                                          </p:spTgt>
                                        </p:tgtEl>
                                      </p:cBhvr>
                                    </p:animEffect>
                                  </p:childTnLst>
                                </p:cTn>
                              </p:par>
                              <p:par>
                                <p:cTn id="80" presetID="10" presetClass="entr" presetSubtype="0" fill="hold" nodeType="withEffect">
                                  <p:stCondLst>
                                    <p:cond delay="0"/>
                                  </p:stCondLst>
                                  <p:childTnLst>
                                    <p:set>
                                      <p:cBhvr>
                                        <p:cTn id="81" dur="1" fill="hold">
                                          <p:stCondLst>
                                            <p:cond delay="0"/>
                                          </p:stCondLst>
                                        </p:cTn>
                                        <p:tgtEl>
                                          <p:spTgt spid="10">
                                            <p:txEl>
                                              <p:pRg st="0" end="0"/>
                                            </p:txEl>
                                          </p:spTgt>
                                        </p:tgtEl>
                                        <p:attrNameLst>
                                          <p:attrName>style.visibility</p:attrName>
                                        </p:attrNameLst>
                                      </p:cBhvr>
                                      <p:to>
                                        <p:strVal val="visible"/>
                                      </p:to>
                                    </p:set>
                                    <p:animEffect transition="in" filter="fade">
                                      <p:cBhvr>
                                        <p:cTn id="82" dur="500"/>
                                        <p:tgtEl>
                                          <p:spTgt spid="10">
                                            <p:txEl>
                                              <p:pRg st="0" end="0"/>
                                            </p:txEl>
                                          </p:spTgt>
                                        </p:tgtEl>
                                      </p:cBhvr>
                                    </p:animEffect>
                                  </p:childTnLst>
                                </p:cTn>
                              </p:par>
                              <p:par>
                                <p:cTn id="83" presetID="10" presetClass="entr" presetSubtype="0" fill="hold" nodeType="withEffect">
                                  <p:stCondLst>
                                    <p:cond delay="0"/>
                                  </p:stCondLst>
                                  <p:childTnLst>
                                    <p:set>
                                      <p:cBhvr>
                                        <p:cTn id="84" dur="1" fill="hold">
                                          <p:stCondLst>
                                            <p:cond delay="0"/>
                                          </p:stCondLst>
                                        </p:cTn>
                                        <p:tgtEl>
                                          <p:spTgt spid="10">
                                            <p:txEl>
                                              <p:pRg st="1" end="1"/>
                                            </p:txEl>
                                          </p:spTgt>
                                        </p:tgtEl>
                                        <p:attrNameLst>
                                          <p:attrName>style.visibility</p:attrName>
                                        </p:attrNameLst>
                                      </p:cBhvr>
                                      <p:to>
                                        <p:strVal val="visible"/>
                                      </p:to>
                                    </p:set>
                                    <p:animEffect transition="in" filter="fade">
                                      <p:cBhvr>
                                        <p:cTn id="85" dur="500"/>
                                        <p:tgtEl>
                                          <p:spTgt spid="10">
                                            <p:txEl>
                                              <p:pRg st="1" end="1"/>
                                            </p:txEl>
                                          </p:spTgt>
                                        </p:tgtEl>
                                      </p:cBhvr>
                                    </p:animEffect>
                                  </p:childTnLst>
                                </p:cTn>
                              </p:par>
                              <p:par>
                                <p:cTn id="86" presetID="10" presetClass="entr" presetSubtype="0" fill="hold" nodeType="withEffect">
                                  <p:stCondLst>
                                    <p:cond delay="0"/>
                                  </p:stCondLst>
                                  <p:childTnLst>
                                    <p:set>
                                      <p:cBhvr>
                                        <p:cTn id="87" dur="1" fill="hold">
                                          <p:stCondLst>
                                            <p:cond delay="0"/>
                                          </p:stCondLst>
                                        </p:cTn>
                                        <p:tgtEl>
                                          <p:spTgt spid="10">
                                            <p:txEl>
                                              <p:pRg st="2" end="2"/>
                                            </p:txEl>
                                          </p:spTgt>
                                        </p:tgtEl>
                                        <p:attrNameLst>
                                          <p:attrName>style.visibility</p:attrName>
                                        </p:attrNameLst>
                                      </p:cBhvr>
                                      <p:to>
                                        <p:strVal val="visible"/>
                                      </p:to>
                                    </p:set>
                                    <p:animEffect transition="in" filter="fade">
                                      <p:cBhvr>
                                        <p:cTn id="88" dur="500"/>
                                        <p:tgtEl>
                                          <p:spTgt spid="10">
                                            <p:txEl>
                                              <p:pRg st="2" end="2"/>
                                            </p:txEl>
                                          </p:spTgt>
                                        </p:tgtEl>
                                      </p:cBhvr>
                                    </p:animEffect>
                                  </p:childTnLst>
                                </p:cTn>
                              </p:par>
                              <p:par>
                                <p:cTn id="89" presetID="10" presetClass="entr" presetSubtype="0" fill="hold" nodeType="withEffect">
                                  <p:stCondLst>
                                    <p:cond delay="0"/>
                                  </p:stCondLst>
                                  <p:childTnLst>
                                    <p:set>
                                      <p:cBhvr>
                                        <p:cTn id="90" dur="1" fill="hold">
                                          <p:stCondLst>
                                            <p:cond delay="0"/>
                                          </p:stCondLst>
                                        </p:cTn>
                                        <p:tgtEl>
                                          <p:spTgt spid="10">
                                            <p:txEl>
                                              <p:pRg st="3" end="3"/>
                                            </p:txEl>
                                          </p:spTgt>
                                        </p:tgtEl>
                                        <p:attrNameLst>
                                          <p:attrName>style.visibility</p:attrName>
                                        </p:attrNameLst>
                                      </p:cBhvr>
                                      <p:to>
                                        <p:strVal val="visible"/>
                                      </p:to>
                                    </p:set>
                                    <p:animEffect transition="in" filter="fade">
                                      <p:cBhvr>
                                        <p:cTn id="91" dur="500"/>
                                        <p:tgtEl>
                                          <p:spTgt spid="10">
                                            <p:txEl>
                                              <p:pRg st="3" end="3"/>
                                            </p:txEl>
                                          </p:spTgt>
                                        </p:tgtEl>
                                      </p:cBhvr>
                                    </p:animEffect>
                                  </p:childTnLst>
                                </p:cTn>
                              </p:par>
                              <p:par>
                                <p:cTn id="92" presetID="10" presetClass="entr" presetSubtype="0" fill="hold" nodeType="withEffect">
                                  <p:stCondLst>
                                    <p:cond delay="0"/>
                                  </p:stCondLst>
                                  <p:childTnLst>
                                    <p:set>
                                      <p:cBhvr>
                                        <p:cTn id="93" dur="1" fill="hold">
                                          <p:stCondLst>
                                            <p:cond delay="0"/>
                                          </p:stCondLst>
                                        </p:cTn>
                                        <p:tgtEl>
                                          <p:spTgt spid="10">
                                            <p:txEl>
                                              <p:pRg st="5" end="5"/>
                                            </p:txEl>
                                          </p:spTgt>
                                        </p:tgtEl>
                                        <p:attrNameLst>
                                          <p:attrName>style.visibility</p:attrName>
                                        </p:attrNameLst>
                                      </p:cBhvr>
                                      <p:to>
                                        <p:strVal val="visible"/>
                                      </p:to>
                                    </p:set>
                                    <p:animEffect transition="in" filter="fade">
                                      <p:cBhvr>
                                        <p:cTn id="94" dur="500"/>
                                        <p:tgtEl>
                                          <p:spTgt spid="10">
                                            <p:txEl>
                                              <p:pRg st="5" end="5"/>
                                            </p:txEl>
                                          </p:spTgt>
                                        </p:tgtEl>
                                      </p:cBhvr>
                                    </p:animEffect>
                                  </p:childTnLst>
                                </p:cTn>
                              </p:par>
                              <p:par>
                                <p:cTn id="95" presetID="10" presetClass="entr" presetSubtype="0" fill="hold" nodeType="withEffect">
                                  <p:stCondLst>
                                    <p:cond delay="0"/>
                                  </p:stCondLst>
                                  <p:childTnLst>
                                    <p:set>
                                      <p:cBhvr>
                                        <p:cTn id="96" dur="1" fill="hold">
                                          <p:stCondLst>
                                            <p:cond delay="0"/>
                                          </p:stCondLst>
                                        </p:cTn>
                                        <p:tgtEl>
                                          <p:spTgt spid="10">
                                            <p:txEl>
                                              <p:pRg st="6" end="6"/>
                                            </p:txEl>
                                          </p:spTgt>
                                        </p:tgtEl>
                                        <p:attrNameLst>
                                          <p:attrName>style.visibility</p:attrName>
                                        </p:attrNameLst>
                                      </p:cBhvr>
                                      <p:to>
                                        <p:strVal val="visible"/>
                                      </p:to>
                                    </p:set>
                                    <p:animEffect transition="in" filter="fade">
                                      <p:cBhvr>
                                        <p:cTn id="97" dur="500"/>
                                        <p:tgtEl>
                                          <p:spTgt spid="10">
                                            <p:txEl>
                                              <p:pRg st="6" end="6"/>
                                            </p:txEl>
                                          </p:spTgt>
                                        </p:tgtEl>
                                      </p:cBhvr>
                                    </p:animEffect>
                                  </p:childTnLst>
                                </p:cTn>
                              </p:par>
                              <p:par>
                                <p:cTn id="98" presetID="10" presetClass="entr" presetSubtype="0" fill="hold" nodeType="withEffect">
                                  <p:stCondLst>
                                    <p:cond delay="0"/>
                                  </p:stCondLst>
                                  <p:childTnLst>
                                    <p:set>
                                      <p:cBhvr>
                                        <p:cTn id="99" dur="1" fill="hold">
                                          <p:stCondLst>
                                            <p:cond delay="0"/>
                                          </p:stCondLst>
                                        </p:cTn>
                                        <p:tgtEl>
                                          <p:spTgt spid="10">
                                            <p:txEl>
                                              <p:pRg st="7" end="7"/>
                                            </p:txEl>
                                          </p:spTgt>
                                        </p:tgtEl>
                                        <p:attrNameLst>
                                          <p:attrName>style.visibility</p:attrName>
                                        </p:attrNameLst>
                                      </p:cBhvr>
                                      <p:to>
                                        <p:strVal val="visible"/>
                                      </p:to>
                                    </p:set>
                                    <p:animEffect transition="in" filter="fade">
                                      <p:cBhvr>
                                        <p:cTn id="100" dur="500"/>
                                        <p:tgtEl>
                                          <p:spTgt spid="10">
                                            <p:txEl>
                                              <p:pRg st="7" end="7"/>
                                            </p:txEl>
                                          </p:spTgt>
                                        </p:tgtEl>
                                      </p:cBhvr>
                                    </p:animEffect>
                                  </p:childTnLst>
                                </p:cTn>
                              </p:par>
                              <p:par>
                                <p:cTn id="101" presetID="10" presetClass="entr" presetSubtype="0" fill="hold" nodeType="withEffect">
                                  <p:stCondLst>
                                    <p:cond delay="0"/>
                                  </p:stCondLst>
                                  <p:childTnLst>
                                    <p:set>
                                      <p:cBhvr>
                                        <p:cTn id="102" dur="1" fill="hold">
                                          <p:stCondLst>
                                            <p:cond delay="0"/>
                                          </p:stCondLst>
                                        </p:cTn>
                                        <p:tgtEl>
                                          <p:spTgt spid="10">
                                            <p:txEl>
                                              <p:pRg st="8" end="8"/>
                                            </p:txEl>
                                          </p:spTgt>
                                        </p:tgtEl>
                                        <p:attrNameLst>
                                          <p:attrName>style.visibility</p:attrName>
                                        </p:attrNameLst>
                                      </p:cBhvr>
                                      <p:to>
                                        <p:strVal val="visible"/>
                                      </p:to>
                                    </p:set>
                                    <p:animEffect transition="in" filter="fade">
                                      <p:cBhvr>
                                        <p:cTn id="103" dur="500"/>
                                        <p:tgtEl>
                                          <p:spTgt spid="10">
                                            <p:txEl>
                                              <p:pRg st="8" end="8"/>
                                            </p:txEl>
                                          </p:spTgt>
                                        </p:tgtEl>
                                      </p:cBhvr>
                                    </p:animEffect>
                                  </p:childTnLst>
                                </p:cTn>
                              </p:par>
                              <p:par>
                                <p:cTn id="104" presetID="10" presetClass="entr" presetSubtype="0" fill="hold" nodeType="withEffect">
                                  <p:stCondLst>
                                    <p:cond delay="0"/>
                                  </p:stCondLst>
                                  <p:childTnLst>
                                    <p:set>
                                      <p:cBhvr>
                                        <p:cTn id="105" dur="1" fill="hold">
                                          <p:stCondLst>
                                            <p:cond delay="0"/>
                                          </p:stCondLst>
                                        </p:cTn>
                                        <p:tgtEl>
                                          <p:spTgt spid="10">
                                            <p:txEl>
                                              <p:pRg st="10" end="10"/>
                                            </p:txEl>
                                          </p:spTgt>
                                        </p:tgtEl>
                                        <p:attrNameLst>
                                          <p:attrName>style.visibility</p:attrName>
                                        </p:attrNameLst>
                                      </p:cBhvr>
                                      <p:to>
                                        <p:strVal val="visible"/>
                                      </p:to>
                                    </p:set>
                                    <p:animEffect transition="in" filter="fade">
                                      <p:cBhvr>
                                        <p:cTn id="106" dur="500"/>
                                        <p:tgtEl>
                                          <p:spTgt spid="10">
                                            <p:txEl>
                                              <p:pRg st="10" end="10"/>
                                            </p:txEl>
                                          </p:spTgt>
                                        </p:tgtEl>
                                      </p:cBhvr>
                                    </p:animEffect>
                                  </p:childTnLst>
                                </p:cTn>
                              </p:par>
                              <p:par>
                                <p:cTn id="107" presetID="10" presetClass="entr" presetSubtype="0" fill="hold" nodeType="withEffect">
                                  <p:stCondLst>
                                    <p:cond delay="0"/>
                                  </p:stCondLst>
                                  <p:childTnLst>
                                    <p:set>
                                      <p:cBhvr>
                                        <p:cTn id="108" dur="1" fill="hold">
                                          <p:stCondLst>
                                            <p:cond delay="0"/>
                                          </p:stCondLst>
                                        </p:cTn>
                                        <p:tgtEl>
                                          <p:spTgt spid="10">
                                            <p:txEl>
                                              <p:pRg st="11" end="11"/>
                                            </p:txEl>
                                          </p:spTgt>
                                        </p:tgtEl>
                                        <p:attrNameLst>
                                          <p:attrName>style.visibility</p:attrName>
                                        </p:attrNameLst>
                                      </p:cBhvr>
                                      <p:to>
                                        <p:strVal val="visible"/>
                                      </p:to>
                                    </p:set>
                                    <p:animEffect transition="in" filter="fade">
                                      <p:cBhvr>
                                        <p:cTn id="109" dur="500"/>
                                        <p:tgtEl>
                                          <p:spTgt spid="10">
                                            <p:txEl>
                                              <p:pRg st="11" end="11"/>
                                            </p:txEl>
                                          </p:spTgt>
                                        </p:tgtEl>
                                      </p:cBhvr>
                                    </p:animEffect>
                                  </p:childTnLst>
                                </p:cTn>
                              </p:par>
                              <p:par>
                                <p:cTn id="110" presetID="10" presetClass="entr" presetSubtype="0" fill="hold" nodeType="withEffect">
                                  <p:stCondLst>
                                    <p:cond delay="0"/>
                                  </p:stCondLst>
                                  <p:childTnLst>
                                    <p:set>
                                      <p:cBhvr>
                                        <p:cTn id="111" dur="1" fill="hold">
                                          <p:stCondLst>
                                            <p:cond delay="0"/>
                                          </p:stCondLst>
                                        </p:cTn>
                                        <p:tgtEl>
                                          <p:spTgt spid="10">
                                            <p:txEl>
                                              <p:pRg st="12" end="12"/>
                                            </p:txEl>
                                          </p:spTgt>
                                        </p:tgtEl>
                                        <p:attrNameLst>
                                          <p:attrName>style.visibility</p:attrName>
                                        </p:attrNameLst>
                                      </p:cBhvr>
                                      <p:to>
                                        <p:strVal val="visible"/>
                                      </p:to>
                                    </p:set>
                                    <p:animEffect transition="in" filter="fade">
                                      <p:cBhvr>
                                        <p:cTn id="112" dur="500"/>
                                        <p:tgtEl>
                                          <p:spTgt spid="10">
                                            <p:txEl>
                                              <p:pRg st="12" end="12"/>
                                            </p:txEl>
                                          </p:spTgt>
                                        </p:tgtEl>
                                      </p:cBhvr>
                                    </p:animEffect>
                                  </p:childTnLst>
                                </p:cTn>
                              </p:par>
                              <p:par>
                                <p:cTn id="113" presetID="10" presetClass="entr" presetSubtype="0" fill="hold" nodeType="withEffect">
                                  <p:stCondLst>
                                    <p:cond delay="0"/>
                                  </p:stCondLst>
                                  <p:childTnLst>
                                    <p:set>
                                      <p:cBhvr>
                                        <p:cTn id="114" dur="1" fill="hold">
                                          <p:stCondLst>
                                            <p:cond delay="0"/>
                                          </p:stCondLst>
                                        </p:cTn>
                                        <p:tgtEl>
                                          <p:spTgt spid="10">
                                            <p:txEl>
                                              <p:pRg st="13" end="13"/>
                                            </p:txEl>
                                          </p:spTgt>
                                        </p:tgtEl>
                                        <p:attrNameLst>
                                          <p:attrName>style.visibility</p:attrName>
                                        </p:attrNameLst>
                                      </p:cBhvr>
                                      <p:to>
                                        <p:strVal val="visible"/>
                                      </p:to>
                                    </p:set>
                                    <p:animEffect transition="in" filter="fade">
                                      <p:cBhvr>
                                        <p:cTn id="115" dur="500"/>
                                        <p:tgtEl>
                                          <p:spTgt spid="10">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C0F43-D89C-E7EB-1AE1-8C5A132BC79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6103078-7239-00F0-C873-7F39636E98FD}"/>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The final type of enterprise application we will discuss is </a:t>
            </a:r>
            <a:r>
              <a:rPr lang="en-US" sz="2400" b="1" dirty="0"/>
              <a:t>Knowledge Management Systems</a:t>
            </a:r>
            <a:r>
              <a:rPr lang="en-US" sz="2400" dirty="0"/>
              <a:t> (KMS).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KMS are information systems that support the creation, capture, storage, and dissemination of organizational knowledge and expertise.</a:t>
            </a:r>
          </a:p>
          <a:p>
            <a:pPr lvl="1">
              <a:defRPr sz="2000">
                <a:solidFill>
                  <a:srgbClr val="000000"/>
                </a:solidFill>
                <a:latin typeface="Garamond"/>
              </a:defRPr>
            </a:pPr>
            <a:r>
              <a:rPr lang="en-US" sz="2000" dirty="0"/>
              <a:t>Collect relevant knowledge and experience within the firm.</a:t>
            </a:r>
          </a:p>
          <a:p>
            <a:pPr lvl="1">
              <a:defRPr sz="2000">
                <a:solidFill>
                  <a:srgbClr val="000000"/>
                </a:solidFill>
                <a:latin typeface="Garamond"/>
              </a:defRPr>
            </a:pPr>
            <a:r>
              <a:rPr lang="en-US" sz="2000" dirty="0"/>
              <a:t>Provide links to external sources of knowledge.</a:t>
            </a:r>
          </a:p>
          <a:p>
            <a:pPr lvl="1">
              <a:defRPr sz="2000">
                <a:solidFill>
                  <a:srgbClr val="000000"/>
                </a:solidFill>
                <a:latin typeface="Garamond"/>
              </a:defRPr>
            </a:pPr>
            <a:r>
              <a:rPr lang="en-US" sz="2000" dirty="0"/>
              <a:t>Make knowledge available wherever and whenever it is needed to improve business processes and managerial decision-making.</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Examples may include:</a:t>
            </a:r>
          </a:p>
          <a:p>
            <a:pPr lvl="1">
              <a:defRPr sz="2000">
                <a:solidFill>
                  <a:srgbClr val="000000"/>
                </a:solidFill>
                <a:latin typeface="Garamond"/>
              </a:defRPr>
            </a:pPr>
            <a:r>
              <a:rPr lang="en-US" sz="2000" dirty="0"/>
              <a:t>Microsoft SharePoint: Document management and team collaboration.</a:t>
            </a:r>
          </a:p>
          <a:p>
            <a:pPr lvl="1">
              <a:defRPr sz="2000">
                <a:solidFill>
                  <a:srgbClr val="000000"/>
                </a:solidFill>
                <a:latin typeface="Garamond"/>
              </a:defRPr>
            </a:pPr>
            <a:r>
              <a:rPr lang="en-US" sz="2000" dirty="0"/>
              <a:t>Google Workspace (G Suite): Cloud-based suite for collaborative knowledge sharing.</a:t>
            </a:r>
          </a:p>
          <a:p>
            <a:pPr lvl="1">
              <a:defRPr sz="2000">
                <a:solidFill>
                  <a:srgbClr val="000000"/>
                </a:solidFill>
                <a:latin typeface="Garamond"/>
              </a:defRPr>
            </a:pPr>
            <a:r>
              <a:rPr lang="en-US" sz="2000" dirty="0"/>
              <a:t>Notion: Flexible, team-oriented knowledge management platform.</a:t>
            </a:r>
          </a:p>
        </p:txBody>
      </p:sp>
      <p:sp>
        <p:nvSpPr>
          <p:cNvPr id="4" name="Rectangle 3">
            <a:extLst>
              <a:ext uri="{FF2B5EF4-FFF2-40B4-BE49-F238E27FC236}">
                <a16:creationId xmlns:a16="http://schemas.microsoft.com/office/drawing/2014/main" id="{B551D621-A85F-64B5-D321-68739A306701}"/>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19ADBB4-6EFC-ED3E-F965-58645D171BAB}"/>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Knowledge Management Systems (KMS)</a:t>
            </a:r>
          </a:p>
        </p:txBody>
      </p:sp>
      <p:sp>
        <p:nvSpPr>
          <p:cNvPr id="5" name="Rectangle 4">
            <a:extLst>
              <a:ext uri="{FF2B5EF4-FFF2-40B4-BE49-F238E27FC236}">
                <a16:creationId xmlns:a16="http://schemas.microsoft.com/office/drawing/2014/main" id="{71C26537-50EF-FB02-2726-6B830E4E0D24}"/>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627CFF33-4B22-491E-9C5A-AB62C1BF3C8F}"/>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E60E8712-4766-0F57-9A1B-AE26AA3B0289}"/>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34</a:t>
            </a:fld>
            <a:r>
              <a:rPr lang="en-US" b="1" dirty="0">
                <a:solidFill>
                  <a:schemeClr val="bg1"/>
                </a:solidFill>
                <a:latin typeface="Garamond" panose="02020404030301010803" pitchFamily="18" charset="0"/>
              </a:rPr>
              <a:t> </a:t>
            </a:r>
          </a:p>
        </p:txBody>
      </p:sp>
    </p:spTree>
    <p:extLst>
      <p:ext uri="{BB962C8B-B14F-4D97-AF65-F5344CB8AC3E}">
        <p14:creationId xmlns:p14="http://schemas.microsoft.com/office/powerpoint/2010/main" val="602262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500"/>
                                        <p:tgtEl>
                                          <p:spTgt spid="3">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Effect transition="in" filter="fade">
                                      <p:cBhvr>
                                        <p:cTn id="47"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943F4-8BF9-9E21-6C0A-69511C1A1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BBA04FD-D3EC-595F-4624-749F5EDDDBDD}"/>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27E8711-4BA1-5394-8CB0-99E7BEBC2F8D}"/>
              </a:ext>
            </a:extLst>
          </p:cNvPr>
          <p:cNvSpPr>
            <a:spLocks noGrp="1"/>
          </p:cNvSpPr>
          <p:nvPr>
            <p:ph type="title"/>
          </p:nvPr>
        </p:nvSpPr>
        <p:spPr>
          <a:xfrm>
            <a:off x="0" y="0"/>
            <a:ext cx="12188825" cy="923636"/>
          </a:xfrm>
        </p:spPr>
        <p:txBody>
          <a:bodyPr>
            <a:noAutofit/>
          </a:bodyPr>
          <a:lstStyle/>
          <a:p>
            <a:pPr algn="l">
              <a:defRPr sz="4000" b="1">
                <a:solidFill>
                  <a:srgbClr val="FDB913"/>
                </a:solidFill>
                <a:latin typeface="Garamond"/>
              </a:defRPr>
            </a:pPr>
            <a:r>
              <a:rPr lang="en-US" sz="2400" dirty="0">
                <a:solidFill>
                  <a:schemeClr val="bg1"/>
                </a:solidFill>
              </a:rPr>
              <a:t>  NASA APPEL (2021, September 8). </a:t>
            </a:r>
            <a:r>
              <a:rPr lang="en-US" sz="2400" i="1" dirty="0">
                <a:solidFill>
                  <a:schemeClr val="bg1"/>
                </a:solidFill>
              </a:rPr>
              <a:t>Podcast Episode 68: Lessons Learned Information</a:t>
            </a:r>
            <a:br>
              <a:rPr lang="en-US" sz="2400" i="1" dirty="0">
                <a:solidFill>
                  <a:schemeClr val="bg1"/>
                </a:solidFill>
              </a:rPr>
            </a:br>
            <a:r>
              <a:rPr lang="en-US" sz="2400" i="1" dirty="0">
                <a:solidFill>
                  <a:schemeClr val="bg1"/>
                </a:solidFill>
              </a:rPr>
              <a:t>  System </a:t>
            </a:r>
            <a:r>
              <a:rPr lang="en-US" sz="2400" dirty="0">
                <a:solidFill>
                  <a:schemeClr val="bg1"/>
                </a:solidFill>
              </a:rPr>
              <a:t>[Video]. YouTube. https://youtu.be/VKg-NYEqyPo?si=tanhh_4yFykxToln</a:t>
            </a:r>
          </a:p>
        </p:txBody>
      </p:sp>
      <p:sp>
        <p:nvSpPr>
          <p:cNvPr id="5" name="Rectangle 4">
            <a:extLst>
              <a:ext uri="{FF2B5EF4-FFF2-40B4-BE49-F238E27FC236}">
                <a16:creationId xmlns:a16="http://schemas.microsoft.com/office/drawing/2014/main" id="{36A9DBBC-A52D-3A3B-8048-4E88185DDBC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B39B3FFB-B259-CF94-FA5C-40989F72013C}"/>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C4C4628E-A4D5-97D8-663F-CA353F161CCA}"/>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35</a:t>
            </a:fld>
            <a:r>
              <a:rPr lang="en-US" b="1" dirty="0">
                <a:solidFill>
                  <a:schemeClr val="bg1"/>
                </a:solidFill>
                <a:latin typeface="Garamond" panose="02020404030301010803" pitchFamily="18" charset="0"/>
              </a:rPr>
              <a:t> </a:t>
            </a:r>
          </a:p>
        </p:txBody>
      </p:sp>
      <p:pic>
        <p:nvPicPr>
          <p:cNvPr id="8" name="Online Media 7" title="Podcast Episode 68: Lessons Learned Information System">
            <a:hlinkClick r:id="" action="ppaction://media"/>
            <a:extLst>
              <a:ext uri="{FF2B5EF4-FFF2-40B4-BE49-F238E27FC236}">
                <a16:creationId xmlns:a16="http://schemas.microsoft.com/office/drawing/2014/main" id="{1DF75D67-A1BD-2B5B-EC1D-8E4639AE5E44}"/>
              </a:ext>
            </a:extLst>
          </p:cNvPr>
          <p:cNvPicPr>
            <a:picLocks noRot="1" noChangeAspect="1"/>
          </p:cNvPicPr>
          <p:nvPr>
            <a:videoFile r:link="rId1"/>
          </p:nvPr>
        </p:nvPicPr>
        <p:blipFill>
          <a:blip r:embed="rId4"/>
          <a:stretch>
            <a:fillRect/>
          </a:stretch>
        </p:blipFill>
        <p:spPr>
          <a:xfrm>
            <a:off x="1239190" y="970332"/>
            <a:ext cx="9710442" cy="5486400"/>
          </a:xfrm>
          <a:prstGeom prst="rect">
            <a:avLst/>
          </a:prstGeom>
        </p:spPr>
      </p:pic>
    </p:spTree>
    <p:extLst>
      <p:ext uri="{BB962C8B-B14F-4D97-AF65-F5344CB8AC3E}">
        <p14:creationId xmlns:p14="http://schemas.microsoft.com/office/powerpoint/2010/main" val="3424172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27CCD-99F5-650E-C199-0FF8644C540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E664A9-05F0-F0DF-E31F-340060019C07}"/>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EBFE7A-BE87-E4F8-6883-1ECA3EC58440}"/>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Enterprise Applications Overview</a:t>
            </a:r>
          </a:p>
        </p:txBody>
      </p:sp>
      <p:sp>
        <p:nvSpPr>
          <p:cNvPr id="5" name="Rectangle 4">
            <a:extLst>
              <a:ext uri="{FF2B5EF4-FFF2-40B4-BE49-F238E27FC236}">
                <a16:creationId xmlns:a16="http://schemas.microsoft.com/office/drawing/2014/main" id="{69D7FBE5-9099-1F6E-9638-02C39ADD59CD}"/>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FAD1DBE0-0F6F-989B-7FD9-CA91798D57B7}"/>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163A95AA-6847-1C23-9DEF-9CF040D0DE08}"/>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36</a:t>
            </a:fld>
            <a:r>
              <a:rPr lang="en-US" b="1" dirty="0">
                <a:solidFill>
                  <a:schemeClr val="bg1"/>
                </a:solidFill>
                <a:latin typeface="Garamond" panose="02020404030301010803" pitchFamily="18" charset="0"/>
              </a:rPr>
              <a:t> </a:t>
            </a:r>
          </a:p>
        </p:txBody>
      </p:sp>
      <p:sp>
        <p:nvSpPr>
          <p:cNvPr id="9" name="Content Placeholder 2">
            <a:extLst>
              <a:ext uri="{FF2B5EF4-FFF2-40B4-BE49-F238E27FC236}">
                <a16:creationId xmlns:a16="http://schemas.microsoft.com/office/drawing/2014/main" id="{70EB4158-BBB7-6D93-4E69-57627AF72D73}"/>
              </a:ext>
            </a:extLst>
          </p:cNvPr>
          <p:cNvSpPr txBox="1">
            <a:spLocks/>
          </p:cNvSpPr>
          <p:nvPr/>
        </p:nvSpPr>
        <p:spPr>
          <a:xfrm>
            <a:off x="6160654" y="1300900"/>
            <a:ext cx="5486400" cy="5081046"/>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altLang="zh-TW" sz="2000" dirty="0">
                <a:solidFill>
                  <a:srgbClr val="000000"/>
                </a:solidFill>
                <a:latin typeface="Garamond"/>
              </a:rPr>
              <a:t>Enterprise Applications: Systems that coordinate activities, processes, and information across functions and levels of a firm.</a:t>
            </a:r>
          </a:p>
          <a:p>
            <a:pPr lvl="4">
              <a:defRPr sz="2000">
                <a:solidFill>
                  <a:srgbClr val="000000"/>
                </a:solidFill>
                <a:latin typeface="Garamond"/>
              </a:defRPr>
            </a:pPr>
            <a:endParaRPr lang="en-US" altLang="zh-TW" sz="1000" dirty="0">
              <a:solidFill>
                <a:srgbClr val="000000"/>
              </a:solidFill>
              <a:latin typeface="Garamond"/>
            </a:endParaRPr>
          </a:p>
          <a:p>
            <a:pPr>
              <a:defRPr sz="2000">
                <a:solidFill>
                  <a:srgbClr val="000000"/>
                </a:solidFill>
                <a:latin typeface="Garamond"/>
              </a:defRPr>
            </a:pPr>
            <a:r>
              <a:rPr lang="en-US" altLang="zh-TW" sz="2000" dirty="0">
                <a:solidFill>
                  <a:srgbClr val="000000"/>
                </a:solidFill>
                <a:latin typeface="Garamond"/>
              </a:rPr>
              <a:t>ERP: Integrates internal business processes across functions into a single system. </a:t>
            </a:r>
          </a:p>
          <a:p>
            <a:pPr lvl="3">
              <a:defRPr sz="2000">
                <a:solidFill>
                  <a:srgbClr val="000000"/>
                </a:solidFill>
                <a:latin typeface="Garamond"/>
              </a:defRPr>
            </a:pPr>
            <a:endParaRPr lang="en-US" altLang="zh-TW" sz="1000" dirty="0">
              <a:solidFill>
                <a:srgbClr val="000000"/>
              </a:solidFill>
              <a:latin typeface="Garamond"/>
            </a:endParaRPr>
          </a:p>
          <a:p>
            <a:pPr>
              <a:defRPr sz="2000">
                <a:solidFill>
                  <a:srgbClr val="000000"/>
                </a:solidFill>
                <a:latin typeface="Garamond"/>
              </a:defRPr>
            </a:pPr>
            <a:r>
              <a:rPr lang="en-US" altLang="zh-TW" sz="2000" dirty="0">
                <a:solidFill>
                  <a:srgbClr val="000000"/>
                </a:solidFill>
                <a:latin typeface="Garamond"/>
              </a:rPr>
              <a:t>SCM: Manages the flow of goods, information, and relationships with suppliers and partners.</a:t>
            </a:r>
          </a:p>
          <a:p>
            <a:pPr lvl="3">
              <a:defRPr sz="2000">
                <a:solidFill>
                  <a:srgbClr val="000000"/>
                </a:solidFill>
                <a:latin typeface="Garamond"/>
              </a:defRPr>
            </a:pPr>
            <a:endParaRPr lang="en-US" altLang="zh-TW" sz="1000" dirty="0">
              <a:solidFill>
                <a:srgbClr val="000000"/>
              </a:solidFill>
              <a:latin typeface="Garamond"/>
            </a:endParaRPr>
          </a:p>
          <a:p>
            <a:pPr>
              <a:defRPr sz="2000">
                <a:solidFill>
                  <a:srgbClr val="000000"/>
                </a:solidFill>
                <a:latin typeface="Garamond"/>
              </a:defRPr>
            </a:pPr>
            <a:r>
              <a:rPr lang="en-US" altLang="zh-TW" sz="2000" dirty="0">
                <a:solidFill>
                  <a:srgbClr val="000000"/>
                </a:solidFill>
                <a:latin typeface="Garamond"/>
              </a:rPr>
              <a:t>CRM: Focuses on managing a firm’s interactions with current and potential customers.</a:t>
            </a:r>
          </a:p>
          <a:p>
            <a:pPr lvl="3">
              <a:defRPr sz="2000">
                <a:solidFill>
                  <a:srgbClr val="000000"/>
                </a:solidFill>
                <a:latin typeface="Garamond"/>
              </a:defRPr>
            </a:pPr>
            <a:endParaRPr lang="en-US" altLang="zh-TW" sz="1000" dirty="0">
              <a:solidFill>
                <a:srgbClr val="000000"/>
              </a:solidFill>
              <a:latin typeface="Garamond"/>
            </a:endParaRPr>
          </a:p>
          <a:p>
            <a:pPr>
              <a:defRPr sz="2000">
                <a:solidFill>
                  <a:srgbClr val="000000"/>
                </a:solidFill>
                <a:latin typeface="Garamond"/>
              </a:defRPr>
            </a:pPr>
            <a:r>
              <a:rPr lang="en-US" altLang="zh-TW" sz="2000" dirty="0">
                <a:solidFill>
                  <a:srgbClr val="000000"/>
                </a:solidFill>
                <a:latin typeface="Garamond"/>
              </a:rPr>
              <a:t>KMS: Captures, organizes, and shares an organization’s knowledge and expertise.</a:t>
            </a:r>
          </a:p>
        </p:txBody>
      </p:sp>
      <p:pic>
        <p:nvPicPr>
          <p:cNvPr id="8" name="Picture 7" descr="A pyramid diagram shows the classification scheme of architectures and their important functional areas. Long description available in notes, press f6.">
            <a:extLst>
              <a:ext uri="{FF2B5EF4-FFF2-40B4-BE49-F238E27FC236}">
                <a16:creationId xmlns:a16="http://schemas.microsoft.com/office/drawing/2014/main" id="{E204693F-B5E2-77C0-8195-84B2BB993430}"/>
              </a:ext>
            </a:extLst>
          </p:cNvPr>
          <p:cNvPicPr>
            <a:picLocks noChangeAspect="1"/>
          </p:cNvPicPr>
          <p:nvPr/>
        </p:nvPicPr>
        <p:blipFill>
          <a:blip r:embed="rId3"/>
          <a:stretch>
            <a:fillRect/>
          </a:stretch>
        </p:blipFill>
        <p:spPr>
          <a:xfrm>
            <a:off x="541771" y="1300900"/>
            <a:ext cx="4849091" cy="4572000"/>
          </a:xfrm>
          <a:prstGeom prst="rect">
            <a:avLst/>
          </a:prstGeom>
        </p:spPr>
      </p:pic>
    </p:spTree>
    <p:extLst>
      <p:ext uri="{BB962C8B-B14F-4D97-AF65-F5344CB8AC3E}">
        <p14:creationId xmlns:p14="http://schemas.microsoft.com/office/powerpoint/2010/main" val="2446669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fade">
                                      <p:cBhvr>
                                        <p:cTn id="15" dur="500"/>
                                        <p:tgtEl>
                                          <p:spTgt spid="9">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
                                            <p:txEl>
                                              <p:pRg st="4" end="4"/>
                                            </p:txEl>
                                          </p:spTgt>
                                        </p:tgtEl>
                                        <p:attrNameLst>
                                          <p:attrName>style.visibility</p:attrName>
                                        </p:attrNameLst>
                                      </p:cBhvr>
                                      <p:to>
                                        <p:strVal val="visible"/>
                                      </p:to>
                                    </p:set>
                                    <p:animEffect transition="in" filter="fade">
                                      <p:cBhvr>
                                        <p:cTn id="20" dur="500"/>
                                        <p:tgtEl>
                                          <p:spTgt spid="9">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9">
                                            <p:txEl>
                                              <p:pRg st="6" end="6"/>
                                            </p:txEl>
                                          </p:spTgt>
                                        </p:tgtEl>
                                        <p:attrNameLst>
                                          <p:attrName>style.visibility</p:attrName>
                                        </p:attrNameLst>
                                      </p:cBhvr>
                                      <p:to>
                                        <p:strVal val="visible"/>
                                      </p:to>
                                    </p:set>
                                    <p:animEffect transition="in" filter="fade">
                                      <p:cBhvr>
                                        <p:cTn id="25" dur="500"/>
                                        <p:tgtEl>
                                          <p:spTgt spid="9">
                                            <p:txEl>
                                              <p:pRg st="6" end="6"/>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9">
                                            <p:txEl>
                                              <p:pRg st="8" end="8"/>
                                            </p:txEl>
                                          </p:spTgt>
                                        </p:tgtEl>
                                        <p:attrNameLst>
                                          <p:attrName>style.visibility</p:attrName>
                                        </p:attrNameLst>
                                      </p:cBhvr>
                                      <p:to>
                                        <p:strVal val="visible"/>
                                      </p:to>
                                    </p:set>
                                    <p:animEffect transition="in" filter="fade">
                                      <p:cBhvr>
                                        <p:cTn id="30"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F93F8-1F93-BF5F-081F-7A5523E1ED5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7FF7D72-2894-34B3-1F6E-DBB3C11831B3}"/>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1BCC319-5A61-4543-9ED0-5A1CDF5A7757}"/>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How Information Systems Fit Together</a:t>
            </a:r>
          </a:p>
        </p:txBody>
      </p:sp>
      <p:sp>
        <p:nvSpPr>
          <p:cNvPr id="5" name="Rectangle 4">
            <a:extLst>
              <a:ext uri="{FF2B5EF4-FFF2-40B4-BE49-F238E27FC236}">
                <a16:creationId xmlns:a16="http://schemas.microsoft.com/office/drawing/2014/main" id="{A742833A-D2B9-C8C1-9BC7-D5C2CB6CBE4E}"/>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EA558172-A0CC-ADB9-E589-D4CD7F1A7C4B}"/>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952D9022-CEC2-E84F-26AD-63CE2D0EA7F6}"/>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37</a:t>
            </a:fld>
            <a:r>
              <a:rPr lang="en-US" b="1" dirty="0">
                <a:solidFill>
                  <a:schemeClr val="bg1"/>
                </a:solidFill>
                <a:latin typeface="Garamond" panose="02020404030301010803" pitchFamily="18" charset="0"/>
              </a:rPr>
              <a:t> </a:t>
            </a:r>
          </a:p>
        </p:txBody>
      </p:sp>
      <p:sp>
        <p:nvSpPr>
          <p:cNvPr id="9" name="Content Placeholder 2">
            <a:extLst>
              <a:ext uri="{FF2B5EF4-FFF2-40B4-BE49-F238E27FC236}">
                <a16:creationId xmlns:a16="http://schemas.microsoft.com/office/drawing/2014/main" id="{7C984562-6344-83DB-9D3E-5D9E593FAC75}"/>
              </a:ext>
            </a:extLst>
          </p:cNvPr>
          <p:cNvSpPr txBox="1">
            <a:spLocks/>
          </p:cNvSpPr>
          <p:nvPr/>
        </p:nvSpPr>
        <p:spPr>
          <a:xfrm>
            <a:off x="541771" y="1300900"/>
            <a:ext cx="11105283" cy="5081046"/>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altLang="zh-TW" sz="2400" dirty="0">
                <a:solidFill>
                  <a:srgbClr val="000000"/>
                </a:solidFill>
                <a:latin typeface="Garamond"/>
              </a:rPr>
              <a:t>Foundational: </a:t>
            </a:r>
          </a:p>
          <a:p>
            <a:pPr lvl="1">
              <a:defRPr sz="2000">
                <a:solidFill>
                  <a:srgbClr val="000000"/>
                </a:solidFill>
                <a:latin typeface="Garamond"/>
              </a:defRPr>
            </a:pPr>
            <a:r>
              <a:rPr lang="en-US" altLang="zh-TW" sz="2000" dirty="0">
                <a:solidFill>
                  <a:srgbClr val="000000"/>
                </a:solidFill>
                <a:latin typeface="Garamond"/>
              </a:rPr>
              <a:t>Transaction Processing Systems (TPS): Record and process day-to-day business transactions.</a:t>
            </a:r>
          </a:p>
          <a:p>
            <a:pPr lvl="3">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r>
              <a:rPr lang="en-US" altLang="zh-TW" sz="2400" dirty="0">
                <a:solidFill>
                  <a:srgbClr val="000000"/>
                </a:solidFill>
                <a:latin typeface="Garamond"/>
              </a:rPr>
              <a:t>Managerial Systems for Decision-making:</a:t>
            </a:r>
          </a:p>
          <a:p>
            <a:pPr lvl="1">
              <a:defRPr sz="2000">
                <a:solidFill>
                  <a:srgbClr val="000000"/>
                </a:solidFill>
                <a:latin typeface="Garamond"/>
              </a:defRPr>
            </a:pPr>
            <a:r>
              <a:rPr lang="en-US" altLang="zh-TW" sz="2000" dirty="0">
                <a:solidFill>
                  <a:srgbClr val="000000"/>
                </a:solidFill>
                <a:latin typeface="Garamond"/>
              </a:rPr>
              <a:t>Management Information Systems (MIS): Provide routine reports for middle management.</a:t>
            </a:r>
          </a:p>
          <a:p>
            <a:pPr lvl="1">
              <a:defRPr sz="2000">
                <a:solidFill>
                  <a:srgbClr val="000000"/>
                </a:solidFill>
                <a:latin typeface="Garamond"/>
              </a:defRPr>
            </a:pPr>
            <a:r>
              <a:rPr lang="en-US" altLang="zh-TW" sz="2000" dirty="0">
                <a:solidFill>
                  <a:srgbClr val="000000"/>
                </a:solidFill>
                <a:latin typeface="Garamond"/>
              </a:rPr>
              <a:t>Decision Support Systems (DSS): Support analysis for semi-structured decisions.</a:t>
            </a:r>
          </a:p>
          <a:p>
            <a:pPr lvl="1">
              <a:defRPr sz="2000">
                <a:solidFill>
                  <a:srgbClr val="000000"/>
                </a:solidFill>
                <a:latin typeface="Garamond"/>
              </a:defRPr>
            </a:pPr>
            <a:r>
              <a:rPr lang="en-US" altLang="zh-TW" sz="2000" dirty="0">
                <a:solidFill>
                  <a:srgbClr val="000000"/>
                </a:solidFill>
                <a:latin typeface="Garamond"/>
              </a:rPr>
              <a:t>Executive Support Systems (ESS): Provide high-level information for senior management.</a:t>
            </a:r>
          </a:p>
          <a:p>
            <a:pPr lvl="4">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r>
              <a:rPr lang="en-US" altLang="zh-TW" sz="2400" dirty="0">
                <a:solidFill>
                  <a:srgbClr val="000000"/>
                </a:solidFill>
                <a:latin typeface="Garamond"/>
              </a:rPr>
              <a:t>Enterprise Applications:</a:t>
            </a:r>
          </a:p>
          <a:p>
            <a:pPr lvl="1">
              <a:defRPr sz="2000">
                <a:solidFill>
                  <a:srgbClr val="000000"/>
                </a:solidFill>
                <a:latin typeface="Garamond"/>
              </a:defRPr>
            </a:pPr>
            <a:r>
              <a:rPr lang="en-US" altLang="zh-TW" sz="2000" dirty="0">
                <a:solidFill>
                  <a:srgbClr val="000000"/>
                </a:solidFill>
                <a:latin typeface="Garamond"/>
              </a:rPr>
              <a:t>Enterprise Resource Planning (ERP): Integrate core internal business processes.</a:t>
            </a:r>
          </a:p>
          <a:p>
            <a:pPr lvl="1">
              <a:defRPr sz="2000">
                <a:solidFill>
                  <a:srgbClr val="000000"/>
                </a:solidFill>
                <a:latin typeface="Garamond"/>
              </a:defRPr>
            </a:pPr>
            <a:r>
              <a:rPr lang="en-US" altLang="zh-TW" sz="2000" dirty="0">
                <a:solidFill>
                  <a:srgbClr val="000000"/>
                </a:solidFill>
                <a:latin typeface="Garamond"/>
              </a:rPr>
              <a:t>Supply Chain Management (SCM): Coordinate activities with suppliers and partners.</a:t>
            </a:r>
          </a:p>
          <a:p>
            <a:pPr lvl="1">
              <a:defRPr sz="2000">
                <a:solidFill>
                  <a:srgbClr val="000000"/>
                </a:solidFill>
                <a:latin typeface="Garamond"/>
              </a:defRPr>
            </a:pPr>
            <a:r>
              <a:rPr lang="en-US" altLang="zh-TW" sz="2000" dirty="0">
                <a:solidFill>
                  <a:srgbClr val="000000"/>
                </a:solidFill>
                <a:latin typeface="Garamond"/>
              </a:rPr>
              <a:t>Customer Relationship Management (CRM): Manage interactions with customers.</a:t>
            </a:r>
          </a:p>
          <a:p>
            <a:pPr lvl="1">
              <a:defRPr sz="2000">
                <a:solidFill>
                  <a:srgbClr val="000000"/>
                </a:solidFill>
                <a:latin typeface="Garamond"/>
              </a:defRPr>
            </a:pPr>
            <a:r>
              <a:rPr lang="en-US" altLang="zh-TW" sz="2000" dirty="0">
                <a:solidFill>
                  <a:srgbClr val="000000"/>
                </a:solidFill>
                <a:latin typeface="Garamond"/>
              </a:rPr>
              <a:t>Knowledge Management Systems (KMS): Capture and share organizational knowledge.</a:t>
            </a:r>
          </a:p>
          <a:p>
            <a:pPr lvl="4">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endParaRPr lang="en-US" altLang="zh-TW" sz="2400" dirty="0">
              <a:solidFill>
                <a:srgbClr val="000000"/>
              </a:solidFill>
              <a:latin typeface="Garamond"/>
            </a:endParaRPr>
          </a:p>
        </p:txBody>
      </p:sp>
    </p:spTree>
    <p:extLst>
      <p:ext uri="{BB962C8B-B14F-4D97-AF65-F5344CB8AC3E}">
        <p14:creationId xmlns:p14="http://schemas.microsoft.com/office/powerpoint/2010/main" val="167228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fade">
                                      <p:cBhvr>
                                        <p:cTn id="10" dur="500"/>
                                        <p:tgtEl>
                                          <p:spTgt spid="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animEffect transition="in" filter="fade">
                                      <p:cBhvr>
                                        <p:cTn id="15" dur="500"/>
                                        <p:tgtEl>
                                          <p:spTgt spid="9">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9">
                                            <p:txEl>
                                              <p:pRg st="4" end="4"/>
                                            </p:txEl>
                                          </p:spTgt>
                                        </p:tgtEl>
                                        <p:attrNameLst>
                                          <p:attrName>style.visibility</p:attrName>
                                        </p:attrNameLst>
                                      </p:cBhvr>
                                      <p:to>
                                        <p:strVal val="visible"/>
                                      </p:to>
                                    </p:set>
                                    <p:animEffect transition="in" filter="fade">
                                      <p:cBhvr>
                                        <p:cTn id="18" dur="500"/>
                                        <p:tgtEl>
                                          <p:spTgt spid="9">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animEffect transition="in" filter="fade">
                                      <p:cBhvr>
                                        <p:cTn id="21" dur="500"/>
                                        <p:tgtEl>
                                          <p:spTgt spid="9">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9">
                                            <p:txEl>
                                              <p:pRg st="6" end="6"/>
                                            </p:txEl>
                                          </p:spTgt>
                                        </p:tgtEl>
                                        <p:attrNameLst>
                                          <p:attrName>style.visibility</p:attrName>
                                        </p:attrNameLst>
                                      </p:cBhvr>
                                      <p:to>
                                        <p:strVal val="visible"/>
                                      </p:to>
                                    </p:set>
                                    <p:animEffect transition="in" filter="fade">
                                      <p:cBhvr>
                                        <p:cTn id="24" dur="500"/>
                                        <p:tgtEl>
                                          <p:spTgt spid="9">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
                                            <p:txEl>
                                              <p:pRg st="8" end="8"/>
                                            </p:txEl>
                                          </p:spTgt>
                                        </p:tgtEl>
                                        <p:attrNameLst>
                                          <p:attrName>style.visibility</p:attrName>
                                        </p:attrNameLst>
                                      </p:cBhvr>
                                      <p:to>
                                        <p:strVal val="visible"/>
                                      </p:to>
                                    </p:set>
                                    <p:animEffect transition="in" filter="fade">
                                      <p:cBhvr>
                                        <p:cTn id="29" dur="500"/>
                                        <p:tgtEl>
                                          <p:spTgt spid="9">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9">
                                            <p:txEl>
                                              <p:pRg st="9" end="9"/>
                                            </p:txEl>
                                          </p:spTgt>
                                        </p:tgtEl>
                                        <p:attrNameLst>
                                          <p:attrName>style.visibility</p:attrName>
                                        </p:attrNameLst>
                                      </p:cBhvr>
                                      <p:to>
                                        <p:strVal val="visible"/>
                                      </p:to>
                                    </p:set>
                                    <p:animEffect transition="in" filter="fade">
                                      <p:cBhvr>
                                        <p:cTn id="32" dur="500"/>
                                        <p:tgtEl>
                                          <p:spTgt spid="9">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9">
                                            <p:txEl>
                                              <p:pRg st="10" end="10"/>
                                            </p:txEl>
                                          </p:spTgt>
                                        </p:tgtEl>
                                        <p:attrNameLst>
                                          <p:attrName>style.visibility</p:attrName>
                                        </p:attrNameLst>
                                      </p:cBhvr>
                                      <p:to>
                                        <p:strVal val="visible"/>
                                      </p:to>
                                    </p:set>
                                    <p:animEffect transition="in" filter="fade">
                                      <p:cBhvr>
                                        <p:cTn id="35" dur="500"/>
                                        <p:tgtEl>
                                          <p:spTgt spid="9">
                                            <p:txEl>
                                              <p:pRg st="10" end="10"/>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9">
                                            <p:txEl>
                                              <p:pRg st="11" end="11"/>
                                            </p:txEl>
                                          </p:spTgt>
                                        </p:tgtEl>
                                        <p:attrNameLst>
                                          <p:attrName>style.visibility</p:attrName>
                                        </p:attrNameLst>
                                      </p:cBhvr>
                                      <p:to>
                                        <p:strVal val="visible"/>
                                      </p:to>
                                    </p:set>
                                    <p:animEffect transition="in" filter="fade">
                                      <p:cBhvr>
                                        <p:cTn id="38" dur="500"/>
                                        <p:tgtEl>
                                          <p:spTgt spid="9">
                                            <p:txEl>
                                              <p:pRg st="11" end="11"/>
                                            </p:txEl>
                                          </p:spTgt>
                                        </p:tgtEl>
                                      </p:cBhvr>
                                    </p:animEffect>
                                  </p:childTnLst>
                                </p:cTn>
                              </p:par>
                              <p:par>
                                <p:cTn id="39" presetID="10" presetClass="entr" presetSubtype="0" fill="hold" nodeType="withEffect">
                                  <p:stCondLst>
                                    <p:cond delay="0"/>
                                  </p:stCondLst>
                                  <p:childTnLst>
                                    <p:set>
                                      <p:cBhvr>
                                        <p:cTn id="40" dur="1" fill="hold">
                                          <p:stCondLst>
                                            <p:cond delay="0"/>
                                          </p:stCondLst>
                                        </p:cTn>
                                        <p:tgtEl>
                                          <p:spTgt spid="9">
                                            <p:txEl>
                                              <p:pRg st="12" end="12"/>
                                            </p:txEl>
                                          </p:spTgt>
                                        </p:tgtEl>
                                        <p:attrNameLst>
                                          <p:attrName>style.visibility</p:attrName>
                                        </p:attrNameLst>
                                      </p:cBhvr>
                                      <p:to>
                                        <p:strVal val="visible"/>
                                      </p:to>
                                    </p:set>
                                    <p:animEffect transition="in" filter="fade">
                                      <p:cBhvr>
                                        <p:cTn id="41" dur="500"/>
                                        <p:tgtEl>
                                          <p:spTgt spid="9">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666A2-408E-CBB1-C925-C3D7C69DBCE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67B047C-9E4F-37C0-4FE8-0811CDE69522}"/>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0DA4B6-2462-1E2A-961A-D9BC058F9052}"/>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Enterprise Systems and Collaboration</a:t>
            </a:r>
          </a:p>
        </p:txBody>
      </p:sp>
      <p:sp>
        <p:nvSpPr>
          <p:cNvPr id="5" name="Rectangle 4">
            <a:extLst>
              <a:ext uri="{FF2B5EF4-FFF2-40B4-BE49-F238E27FC236}">
                <a16:creationId xmlns:a16="http://schemas.microsoft.com/office/drawing/2014/main" id="{E49F6831-E967-476D-143F-133D2914519C}"/>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A29299F3-D5E1-3461-514A-3F8F01468627}"/>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93113B3F-1866-FD52-C0DF-C8D0D121D3CC}"/>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38</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8B6EC2A0-AEFD-7779-5BE6-B41A5F676958}"/>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Enterprise applications integrate processes and data across the firm.</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But getting work done also requires people to coordinate and communicate.</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Many tasks are informal, unstructured, and cross organizational boundaries.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Collaboration systems focus on how people work together, not just how data flows.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Effective firms need systems that organize both operations and interaction.</a:t>
            </a:r>
          </a:p>
        </p:txBody>
      </p:sp>
    </p:spTree>
    <p:extLst>
      <p:ext uri="{BB962C8B-B14F-4D97-AF65-F5344CB8AC3E}">
        <p14:creationId xmlns:p14="http://schemas.microsoft.com/office/powerpoint/2010/main" val="2664639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71C78449-6BB1-3825-78FE-9117CC7FA38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2D69236-01AE-C7F1-27B1-22EABFF372E0}"/>
              </a:ext>
            </a:extLst>
          </p:cNvPr>
          <p:cNvSpPr txBox="1"/>
          <p:nvPr/>
        </p:nvSpPr>
        <p:spPr>
          <a:xfrm>
            <a:off x="-1" y="2705725"/>
            <a:ext cx="12188825" cy="1446550"/>
          </a:xfrm>
          <a:prstGeom prst="rect">
            <a:avLst/>
          </a:prstGeom>
          <a:noFill/>
        </p:spPr>
        <p:txBody>
          <a:bodyPr wrap="square">
            <a:spAutoFit/>
          </a:bodyPr>
          <a:lstStyle/>
          <a:p>
            <a:pPr algn="ctr">
              <a:defRPr sz="4000" b="1">
                <a:solidFill>
                  <a:srgbClr val="FDB913"/>
                </a:solidFill>
                <a:latin typeface="Garamond"/>
              </a:defRPr>
            </a:pPr>
            <a:r>
              <a:rPr lang="en-US" sz="4400" dirty="0">
                <a:solidFill>
                  <a:schemeClr val="bg1"/>
                </a:solidFill>
              </a:rPr>
              <a:t>Collaboration and</a:t>
            </a:r>
          </a:p>
          <a:p>
            <a:pPr algn="ctr">
              <a:defRPr sz="4000" b="1">
                <a:solidFill>
                  <a:srgbClr val="FDB913"/>
                </a:solidFill>
                <a:latin typeface="Garamond"/>
              </a:defRPr>
            </a:pPr>
            <a:r>
              <a:rPr lang="en-US" sz="4400" dirty="0">
                <a:solidFill>
                  <a:schemeClr val="bg1"/>
                </a:solidFill>
              </a:rPr>
              <a:t>Social Business Systems</a:t>
            </a:r>
            <a:endParaRPr sz="4400" dirty="0">
              <a:solidFill>
                <a:schemeClr val="bg1"/>
              </a:solidFill>
            </a:endParaRPr>
          </a:p>
        </p:txBody>
      </p:sp>
    </p:spTree>
    <p:extLst>
      <p:ext uri="{BB962C8B-B14F-4D97-AF65-F5344CB8AC3E}">
        <p14:creationId xmlns:p14="http://schemas.microsoft.com/office/powerpoint/2010/main" val="2827472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5A971-63D2-2FFC-8A4D-82A643A68FE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6EAE3F7-A83D-80BE-493F-DD7C5223E829}"/>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93820A-90BC-2A72-9116-9ABCF9FF52F7}"/>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Collaboration</a:t>
            </a:r>
          </a:p>
        </p:txBody>
      </p:sp>
      <p:sp>
        <p:nvSpPr>
          <p:cNvPr id="5" name="Rectangle 4">
            <a:extLst>
              <a:ext uri="{FF2B5EF4-FFF2-40B4-BE49-F238E27FC236}">
                <a16:creationId xmlns:a16="http://schemas.microsoft.com/office/drawing/2014/main" id="{B84BD9A5-D7BE-7C58-BEAE-433D3ADC895A}"/>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8A40B5F8-2306-385E-974A-FCD6429BCCAF}"/>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F1C17C58-A0E2-2CD0-7518-9ED05C733C84}"/>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40</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0AD95634-1E2A-A80B-9922-68524588A0E7}"/>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b="1" dirty="0"/>
              <a:t>Collaboration: </a:t>
            </a:r>
            <a:r>
              <a:rPr lang="en-US" sz="2400" dirty="0"/>
              <a:t>Working with others to achieve shared goals.</a:t>
            </a:r>
          </a:p>
          <a:p>
            <a:pPr lvl="1">
              <a:defRPr sz="2000">
                <a:solidFill>
                  <a:srgbClr val="000000"/>
                </a:solidFill>
                <a:latin typeface="Garamond"/>
              </a:defRPr>
            </a:pPr>
            <a:r>
              <a:rPr lang="en-US" sz="2000" dirty="0"/>
              <a:t>Occurs both within and between organizations.</a:t>
            </a:r>
          </a:p>
          <a:p>
            <a:pPr lvl="1">
              <a:defRPr sz="2000">
                <a:solidFill>
                  <a:srgbClr val="000000"/>
                </a:solidFill>
                <a:latin typeface="Garamond"/>
              </a:defRPr>
            </a:pPr>
            <a:r>
              <a:rPr lang="en-US" sz="2000" dirty="0"/>
              <a:t>Can be short-term or long-term, and bilateral or multilateral.</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The importance of collaboration continues to grow as the business environment becomes more complex.</a:t>
            </a:r>
          </a:p>
          <a:p>
            <a:pPr lvl="3">
              <a:defRPr sz="2000">
                <a:solidFill>
                  <a:srgbClr val="000000"/>
                </a:solidFill>
                <a:latin typeface="Garamond"/>
              </a:defRPr>
            </a:pPr>
            <a:endParaRPr lang="en-US" sz="800" dirty="0"/>
          </a:p>
          <a:p>
            <a:pPr>
              <a:defRPr sz="2000">
                <a:solidFill>
                  <a:srgbClr val="000000"/>
                </a:solidFill>
                <a:latin typeface="Garamond"/>
              </a:defRPr>
            </a:pPr>
            <a:r>
              <a:rPr lang="en-US" sz="2400" dirty="0"/>
              <a:t>Changing Nature of Work</a:t>
            </a:r>
          </a:p>
          <a:p>
            <a:pPr lvl="1">
              <a:defRPr sz="2000">
                <a:solidFill>
                  <a:srgbClr val="000000"/>
                </a:solidFill>
                <a:latin typeface="Garamond"/>
              </a:defRPr>
            </a:pPr>
            <a:r>
              <a:rPr lang="en-US" sz="2000" dirty="0"/>
              <a:t>Past: Work stages were largely independent.</a:t>
            </a:r>
          </a:p>
          <a:p>
            <a:pPr lvl="1">
              <a:defRPr sz="2000">
                <a:solidFill>
                  <a:srgbClr val="000000"/>
                </a:solidFill>
                <a:latin typeface="Garamond"/>
              </a:defRPr>
            </a:pPr>
            <a:r>
              <a:rPr lang="en-US" sz="2000" dirty="0"/>
              <a:t>Now: Most jobs require close coordination across roles.</a:t>
            </a:r>
          </a:p>
          <a:p>
            <a:pPr lvl="3">
              <a:defRPr sz="2000">
                <a:solidFill>
                  <a:srgbClr val="000000"/>
                </a:solidFill>
                <a:latin typeface="Garamond"/>
              </a:defRPr>
            </a:pPr>
            <a:endParaRPr lang="en-US" sz="800" dirty="0"/>
          </a:p>
          <a:p>
            <a:pPr>
              <a:defRPr sz="2000">
                <a:solidFill>
                  <a:srgbClr val="000000"/>
                </a:solidFill>
                <a:latin typeface="Garamond"/>
              </a:defRPr>
            </a:pPr>
            <a:r>
              <a:rPr lang="en-US" sz="2400" dirty="0"/>
              <a:t>Growth of Professional Work</a:t>
            </a:r>
          </a:p>
          <a:p>
            <a:pPr lvl="1">
              <a:defRPr sz="2000">
                <a:solidFill>
                  <a:srgbClr val="000000"/>
                </a:solidFill>
                <a:latin typeface="Garamond"/>
              </a:defRPr>
            </a:pPr>
            <a:r>
              <a:rPr lang="en-US" sz="2000" dirty="0"/>
              <a:t>Many modern jobs are interaction-based and require collaboration.</a:t>
            </a:r>
          </a:p>
          <a:p>
            <a:pPr lvl="1">
              <a:defRPr sz="2000">
                <a:solidFill>
                  <a:srgbClr val="000000"/>
                </a:solidFill>
                <a:latin typeface="Garamond"/>
              </a:defRPr>
            </a:pPr>
            <a:r>
              <a:rPr lang="en-US" sz="2000" dirty="0"/>
              <a:t>Specialized expertise must be combined to solve problems.</a:t>
            </a:r>
          </a:p>
          <a:p>
            <a:pPr>
              <a:defRPr sz="2000">
                <a:solidFill>
                  <a:srgbClr val="000000"/>
                </a:solidFill>
                <a:latin typeface="Garamond"/>
              </a:defRPr>
            </a:pPr>
            <a:endParaRPr lang="en-US" sz="2000" dirty="0"/>
          </a:p>
        </p:txBody>
      </p:sp>
    </p:spTree>
    <p:extLst>
      <p:ext uri="{BB962C8B-B14F-4D97-AF65-F5344CB8AC3E}">
        <p14:creationId xmlns:p14="http://schemas.microsoft.com/office/powerpoint/2010/main" val="3969347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
                                            <p:txEl>
                                              <p:pRg st="10" end="10"/>
                                            </p:txEl>
                                          </p:spTgt>
                                        </p:tgtEl>
                                        <p:attrNameLst>
                                          <p:attrName>style.visibility</p:attrName>
                                        </p:attrNameLst>
                                      </p:cBhvr>
                                      <p:to>
                                        <p:strVal val="visible"/>
                                      </p:to>
                                    </p:set>
                                    <p:animEffect transition="in" filter="fade">
                                      <p:cBhvr>
                                        <p:cTn id="34" dur="500"/>
                                        <p:tgtEl>
                                          <p:spTgt spid="3">
                                            <p:txEl>
                                              <p:pRg st="10" end="10"/>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3">
                                            <p:txEl>
                                              <p:pRg st="11" end="11"/>
                                            </p:txEl>
                                          </p:spTgt>
                                        </p:tgtEl>
                                        <p:attrNameLst>
                                          <p:attrName>style.visibility</p:attrName>
                                        </p:attrNameLst>
                                      </p:cBhvr>
                                      <p:to>
                                        <p:strVal val="visible"/>
                                      </p:to>
                                    </p:set>
                                    <p:animEffect transition="in" filter="fade">
                                      <p:cBhvr>
                                        <p:cTn id="37" dur="500"/>
                                        <p:tgtEl>
                                          <p:spTgt spid="3">
                                            <p:txEl>
                                              <p:pRg st="11" end="11"/>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3">
                                            <p:txEl>
                                              <p:pRg st="12" end="12"/>
                                            </p:txEl>
                                          </p:spTgt>
                                        </p:tgtEl>
                                        <p:attrNameLst>
                                          <p:attrName>style.visibility</p:attrName>
                                        </p:attrNameLst>
                                      </p:cBhvr>
                                      <p:to>
                                        <p:strVal val="visible"/>
                                      </p:to>
                                    </p:set>
                                    <p:animEffect transition="in" filter="fade">
                                      <p:cBhvr>
                                        <p:cTn id="4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1E3E1-D4E6-24FE-F2D5-E43E21ED9A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DFA9980-F5EC-AC81-7C89-10FAD1EFD6B4}"/>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AEF29F4-83E3-CE93-7D18-709CEAE8483B}"/>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Collaboration</a:t>
            </a:r>
          </a:p>
        </p:txBody>
      </p:sp>
      <p:sp>
        <p:nvSpPr>
          <p:cNvPr id="5" name="Rectangle 4">
            <a:extLst>
              <a:ext uri="{FF2B5EF4-FFF2-40B4-BE49-F238E27FC236}">
                <a16:creationId xmlns:a16="http://schemas.microsoft.com/office/drawing/2014/main" id="{6BD8C226-7AC4-06CE-208D-8823D9684D71}"/>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CCABF2B0-5232-4B05-9FA7-BAD567029F8F}"/>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F6249808-D12A-D613-B021-FC1504B025F9}"/>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41</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E998881D-BD63-B28C-3CCE-AFAE084AF9C3}"/>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Changing Organization of the Firm</a:t>
            </a:r>
          </a:p>
          <a:p>
            <a:pPr lvl="1">
              <a:defRPr sz="2000">
                <a:solidFill>
                  <a:srgbClr val="000000"/>
                </a:solidFill>
                <a:latin typeface="Garamond"/>
              </a:defRPr>
            </a:pPr>
            <a:r>
              <a:rPr lang="en-US" sz="2000" dirty="0"/>
              <a:t>Past: Hierarchical structures with limited worker flexibility.</a:t>
            </a:r>
          </a:p>
          <a:p>
            <a:pPr lvl="1">
              <a:defRPr sz="2000">
                <a:solidFill>
                  <a:srgbClr val="000000"/>
                </a:solidFill>
                <a:latin typeface="Garamond"/>
              </a:defRPr>
            </a:pPr>
            <a:r>
              <a:rPr lang="en-US" sz="2000" dirty="0"/>
              <a:t>Now: Team-based structures with greater individual autonomy.</a:t>
            </a:r>
          </a:p>
          <a:p>
            <a:pPr lvl="4">
              <a:defRPr sz="2000">
                <a:solidFill>
                  <a:srgbClr val="000000"/>
                </a:solidFill>
                <a:latin typeface="Garamond"/>
              </a:defRPr>
            </a:pPr>
            <a:endParaRPr lang="en-US" sz="1200" dirty="0"/>
          </a:p>
          <a:p>
            <a:pPr>
              <a:defRPr sz="2000">
                <a:solidFill>
                  <a:srgbClr val="000000"/>
                </a:solidFill>
                <a:latin typeface="Garamond"/>
              </a:defRPr>
            </a:pPr>
            <a:r>
              <a:rPr lang="en-US" sz="2400" dirty="0"/>
              <a:t>Changing Scopes of the Firm</a:t>
            </a:r>
          </a:p>
          <a:p>
            <a:pPr lvl="1">
              <a:defRPr sz="2000">
                <a:solidFill>
                  <a:srgbClr val="000000"/>
                </a:solidFill>
                <a:latin typeface="Garamond"/>
              </a:defRPr>
            </a:pPr>
            <a:r>
              <a:rPr lang="en-US" sz="2000" dirty="0"/>
              <a:t>Past: Firms focused on local or national markets.</a:t>
            </a:r>
          </a:p>
          <a:p>
            <a:pPr lvl="1">
              <a:defRPr sz="2000">
                <a:solidFill>
                  <a:srgbClr val="000000"/>
                </a:solidFill>
                <a:latin typeface="Garamond"/>
              </a:defRPr>
            </a:pPr>
            <a:r>
              <a:rPr lang="en-US" sz="2000" dirty="0"/>
              <a:t>Now: Firms coordinate activities on a global scale.</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Growing Emphasis on Innovation</a:t>
            </a:r>
          </a:p>
          <a:p>
            <a:pPr lvl="1">
              <a:defRPr sz="2000">
                <a:solidFill>
                  <a:srgbClr val="000000"/>
                </a:solidFill>
                <a:latin typeface="Garamond"/>
              </a:defRPr>
            </a:pPr>
            <a:r>
              <a:rPr lang="en-US" sz="2000" dirty="0"/>
              <a:t>Myth: Innovation comes from lone geniuses.</a:t>
            </a:r>
          </a:p>
          <a:p>
            <a:pPr lvl="1">
              <a:defRPr sz="2000">
                <a:solidFill>
                  <a:srgbClr val="000000"/>
                </a:solidFill>
                <a:latin typeface="Garamond"/>
              </a:defRPr>
            </a:pPr>
            <a:r>
              <a:rPr lang="en-US" sz="2000" dirty="0"/>
              <a:t>Reality: Innovation typically emerges from collaborative teams.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Changing Culture of Work and Business</a:t>
            </a:r>
          </a:p>
          <a:p>
            <a:pPr lvl="1">
              <a:defRPr sz="2000">
                <a:solidFill>
                  <a:srgbClr val="000000"/>
                </a:solidFill>
                <a:latin typeface="Garamond"/>
              </a:defRPr>
            </a:pPr>
            <a:r>
              <a:rPr lang="en-US" sz="2000" dirty="0"/>
              <a:t>Diverse teams tend to outperform individuals working alone.</a:t>
            </a:r>
          </a:p>
          <a:p>
            <a:pPr>
              <a:defRPr sz="2000">
                <a:solidFill>
                  <a:srgbClr val="000000"/>
                </a:solidFill>
                <a:latin typeface="Garamond"/>
              </a:defRPr>
            </a:pPr>
            <a:endParaRPr lang="en-US" sz="2400" dirty="0"/>
          </a:p>
        </p:txBody>
      </p:sp>
    </p:spTree>
    <p:extLst>
      <p:ext uri="{BB962C8B-B14F-4D97-AF65-F5344CB8AC3E}">
        <p14:creationId xmlns:p14="http://schemas.microsoft.com/office/powerpoint/2010/main" val="2029981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500"/>
                                        <p:tgtEl>
                                          <p:spTgt spid="3">
                                            <p:txEl>
                                              <p:pRg st="10" end="10"/>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12" end="12"/>
                                            </p:txEl>
                                          </p:spTgt>
                                        </p:tgtEl>
                                        <p:attrNameLst>
                                          <p:attrName>style.visibility</p:attrName>
                                        </p:attrNameLst>
                                      </p:cBhvr>
                                      <p:to>
                                        <p:strVal val="visible"/>
                                      </p:to>
                                    </p:set>
                                    <p:animEffect transition="in" filter="fade">
                                      <p:cBhvr>
                                        <p:cTn id="40" dur="500"/>
                                        <p:tgtEl>
                                          <p:spTgt spid="3">
                                            <p:txEl>
                                              <p:pRg st="12" end="12"/>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animEffect transition="in" filter="fade">
                                      <p:cBhvr>
                                        <p:cTn id="43" dur="500"/>
                                        <p:tgtEl>
                                          <p:spTgt spid="3">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EA932-10E4-2C10-5745-CA15DCE65CD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3555787-730A-A248-9E14-574BB84D3D7C}"/>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F18F42-6602-153D-189E-28B0A597C6D8}"/>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Social Business</a:t>
            </a:r>
          </a:p>
        </p:txBody>
      </p:sp>
      <p:sp>
        <p:nvSpPr>
          <p:cNvPr id="5" name="Rectangle 4">
            <a:extLst>
              <a:ext uri="{FF2B5EF4-FFF2-40B4-BE49-F238E27FC236}">
                <a16:creationId xmlns:a16="http://schemas.microsoft.com/office/drawing/2014/main" id="{5D4647D3-919B-EEFD-0965-22F12BFAF43E}"/>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0140DCBE-3161-998C-8E2B-8BF57AA535D2}"/>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B5B61EDF-A40B-7D02-3766-095A28997601}"/>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42</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45F9CD35-7CBA-D2AC-3D5F-F7C0F3B545F9}"/>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Many firms today enhance and encourage collaboration by embracing </a:t>
            </a:r>
            <a:r>
              <a:rPr lang="en-US" sz="2400" b="1" dirty="0"/>
              <a:t>Social Business</a:t>
            </a:r>
            <a:r>
              <a:rPr lang="en-US" sz="2400" dirty="0"/>
              <a:t>.</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Social business refers to the use of social networking platforms, as well as internal corporate tools, to engage employees, customers, and suppliers.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The goal is to deepen interactions and improve information sharing and decision-making.</a:t>
            </a:r>
          </a:p>
          <a:p>
            <a:pPr lvl="1">
              <a:defRPr sz="2000">
                <a:solidFill>
                  <a:srgbClr val="000000"/>
                </a:solidFill>
                <a:latin typeface="Garamond"/>
              </a:defRPr>
            </a:pPr>
            <a:r>
              <a:rPr lang="en-US" sz="2000" dirty="0"/>
              <a:t>Social business fosters continued conversations between customers, suppliers, employees, management, and other stakeholders, strengthening relationships and increasing emotional involvement with the firm.</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Effective social business requires a high degree of information transparency for conversations and feedback to be useful.</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When implemented well, social business can drive operational efficiency, spark innovation, and accelerate decision-making.</a:t>
            </a:r>
          </a:p>
        </p:txBody>
      </p:sp>
    </p:spTree>
    <p:extLst>
      <p:ext uri="{BB962C8B-B14F-4D97-AF65-F5344CB8AC3E}">
        <p14:creationId xmlns:p14="http://schemas.microsoft.com/office/powerpoint/2010/main" val="3821652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5" end="5"/>
                                            </p:txEl>
                                          </p:spTgt>
                                        </p:tgtEl>
                                        <p:attrNameLst>
                                          <p:attrName>style.visibility</p:attrName>
                                        </p:attrNameLst>
                                      </p:cBhvr>
                                      <p:to>
                                        <p:strVal val="visible"/>
                                      </p:to>
                                    </p:set>
                                    <p:animEffect transition="in" filter="fade">
                                      <p:cBhvr>
                                        <p:cTn id="20" dur="500"/>
                                        <p:tgtEl>
                                          <p:spTgt spid="3">
                                            <p:txEl>
                                              <p:pRg st="5" end="5"/>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animEffect transition="in" filter="fade">
                                      <p:cBhvr>
                                        <p:cTn id="25" dur="500"/>
                                        <p:tgtEl>
                                          <p:spTgt spid="3">
                                            <p:txEl>
                                              <p:pRg st="7" end="7"/>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9" end="9"/>
                                            </p:txEl>
                                          </p:spTgt>
                                        </p:tgtEl>
                                        <p:attrNameLst>
                                          <p:attrName>style.visibility</p:attrName>
                                        </p:attrNameLst>
                                      </p:cBhvr>
                                      <p:to>
                                        <p:strVal val="visible"/>
                                      </p:to>
                                    </p:set>
                                    <p:animEffect transition="in" filter="fade">
                                      <p:cBhvr>
                                        <p:cTn id="30"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C0424-6A53-5C52-8AC8-9E8875B65A8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EAD75D-8D94-D3FA-E32D-AF96114FA946}"/>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6DCBAE-1AF4-B31F-6FCE-9C2E27C8C24E}"/>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Social Business Showcase: “My Starbucks Idea”</a:t>
            </a:r>
          </a:p>
        </p:txBody>
      </p:sp>
      <p:sp>
        <p:nvSpPr>
          <p:cNvPr id="5" name="Rectangle 4">
            <a:extLst>
              <a:ext uri="{FF2B5EF4-FFF2-40B4-BE49-F238E27FC236}">
                <a16:creationId xmlns:a16="http://schemas.microsoft.com/office/drawing/2014/main" id="{E16CCE5E-FB09-E61F-16D1-978379F021F1}"/>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2D8511D0-4214-2A5C-F673-E5C2A1CC80B8}"/>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233E1C12-D59B-4983-2020-05140AF06F39}"/>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43</a:t>
            </a:fld>
            <a:r>
              <a:rPr lang="en-US" b="1" dirty="0">
                <a:solidFill>
                  <a:schemeClr val="bg1"/>
                </a:solidFill>
                <a:latin typeface="Garamond" panose="02020404030301010803" pitchFamily="18" charset="0"/>
              </a:rPr>
              <a:t> </a:t>
            </a:r>
          </a:p>
        </p:txBody>
      </p:sp>
      <p:sp>
        <p:nvSpPr>
          <p:cNvPr id="9" name="Content Placeholder 2">
            <a:extLst>
              <a:ext uri="{FF2B5EF4-FFF2-40B4-BE49-F238E27FC236}">
                <a16:creationId xmlns:a16="http://schemas.microsoft.com/office/drawing/2014/main" id="{2330DA99-2D98-9C49-EA85-D4E023B4C203}"/>
              </a:ext>
            </a:extLst>
          </p:cNvPr>
          <p:cNvSpPr txBox="1">
            <a:spLocks/>
          </p:cNvSpPr>
          <p:nvPr/>
        </p:nvSpPr>
        <p:spPr>
          <a:xfrm>
            <a:off x="6165754" y="1300900"/>
            <a:ext cx="5481300" cy="5081046"/>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altLang="zh-TW" sz="2400" dirty="0">
                <a:solidFill>
                  <a:srgbClr val="000000"/>
                </a:solidFill>
                <a:latin typeface="Garamond"/>
              </a:rPr>
              <a:t>Launched in 2008 and operated for five years.</a:t>
            </a:r>
          </a:p>
          <a:p>
            <a:pPr>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r>
              <a:rPr lang="en-US" altLang="zh-TW" sz="2400" dirty="0">
                <a:solidFill>
                  <a:srgbClr val="000000"/>
                </a:solidFill>
                <a:latin typeface="Garamond"/>
              </a:rPr>
              <a:t>Gathered more than 150,000 customer ideas and over 2 million votes on submitted ideas.</a:t>
            </a:r>
          </a:p>
          <a:p>
            <a:pPr lvl="3">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r>
              <a:rPr lang="en-US" altLang="zh-TW" sz="2400" dirty="0">
                <a:solidFill>
                  <a:srgbClr val="000000"/>
                </a:solidFill>
                <a:latin typeface="Garamond"/>
              </a:rPr>
              <a:t>Implemented 277 ideas, including:</a:t>
            </a:r>
          </a:p>
          <a:p>
            <a:pPr lvl="1">
              <a:defRPr sz="2000">
                <a:solidFill>
                  <a:srgbClr val="000000"/>
                </a:solidFill>
                <a:latin typeface="Garamond"/>
              </a:defRPr>
            </a:pPr>
            <a:r>
              <a:rPr lang="en-US" altLang="zh-TW" sz="2000" dirty="0">
                <a:solidFill>
                  <a:srgbClr val="000000"/>
                </a:solidFill>
                <a:latin typeface="Garamond"/>
              </a:rPr>
              <a:t>Free in-store Wi-Fi</a:t>
            </a:r>
          </a:p>
          <a:p>
            <a:pPr lvl="1">
              <a:defRPr sz="2000">
                <a:solidFill>
                  <a:srgbClr val="000000"/>
                </a:solidFill>
                <a:latin typeface="Garamond"/>
              </a:defRPr>
            </a:pPr>
            <a:r>
              <a:rPr lang="en-US" altLang="zh-TW" sz="2000" dirty="0">
                <a:solidFill>
                  <a:srgbClr val="000000"/>
                </a:solidFill>
                <a:latin typeface="Garamond"/>
              </a:rPr>
              <a:t>New drink flavors</a:t>
            </a:r>
          </a:p>
          <a:p>
            <a:pPr lvl="1">
              <a:defRPr sz="2000">
                <a:solidFill>
                  <a:srgbClr val="000000"/>
                </a:solidFill>
                <a:latin typeface="Garamond"/>
              </a:defRPr>
            </a:pPr>
            <a:r>
              <a:rPr lang="en-US" altLang="zh-TW" sz="2000" dirty="0">
                <a:solidFill>
                  <a:srgbClr val="000000"/>
                </a:solidFill>
                <a:latin typeface="Garamond"/>
              </a:rPr>
              <a:t>Cake pops</a:t>
            </a:r>
          </a:p>
          <a:p>
            <a:pPr lvl="1">
              <a:defRPr sz="2000">
                <a:solidFill>
                  <a:srgbClr val="000000"/>
                </a:solidFill>
                <a:latin typeface="Garamond"/>
              </a:defRPr>
            </a:pPr>
            <a:r>
              <a:rPr lang="en-US" altLang="zh-TW" sz="2000" dirty="0">
                <a:solidFill>
                  <a:srgbClr val="000000"/>
                </a:solidFill>
                <a:latin typeface="Garamond"/>
              </a:rPr>
              <a:t>…and more</a:t>
            </a:r>
          </a:p>
        </p:txBody>
      </p:sp>
      <p:pic>
        <p:nvPicPr>
          <p:cNvPr id="1026" name="Picture 2">
            <a:extLst>
              <a:ext uri="{FF2B5EF4-FFF2-40B4-BE49-F238E27FC236}">
                <a16:creationId xmlns:a16="http://schemas.microsoft.com/office/drawing/2014/main" id="{715EB180-89E0-A5E1-E010-6FE8FEE6BBD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4948"/>
          <a:stretch/>
        </p:blipFill>
        <p:spPr bwMode="auto">
          <a:xfrm>
            <a:off x="541771" y="1540654"/>
            <a:ext cx="5623983" cy="4345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4833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500"/>
                                        <p:tgtEl>
                                          <p:spTgt spid="9">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animEffect transition="in" filter="fade">
                                      <p:cBhvr>
                                        <p:cTn id="17" dur="500"/>
                                        <p:tgtEl>
                                          <p:spTgt spid="9">
                                            <p:txEl>
                                              <p:pRg st="4" end="4"/>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9">
                                            <p:txEl>
                                              <p:pRg st="5" end="5"/>
                                            </p:txEl>
                                          </p:spTgt>
                                        </p:tgtEl>
                                        <p:attrNameLst>
                                          <p:attrName>style.visibility</p:attrName>
                                        </p:attrNameLst>
                                      </p:cBhvr>
                                      <p:to>
                                        <p:strVal val="visible"/>
                                      </p:to>
                                    </p:set>
                                    <p:animEffect transition="in" filter="fade">
                                      <p:cBhvr>
                                        <p:cTn id="20" dur="500"/>
                                        <p:tgtEl>
                                          <p:spTgt spid="9">
                                            <p:txEl>
                                              <p:pRg st="5" end="5"/>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9">
                                            <p:txEl>
                                              <p:pRg st="6" end="6"/>
                                            </p:txEl>
                                          </p:spTgt>
                                        </p:tgtEl>
                                        <p:attrNameLst>
                                          <p:attrName>style.visibility</p:attrName>
                                        </p:attrNameLst>
                                      </p:cBhvr>
                                      <p:to>
                                        <p:strVal val="visible"/>
                                      </p:to>
                                    </p:set>
                                    <p:animEffect transition="in" filter="fade">
                                      <p:cBhvr>
                                        <p:cTn id="23" dur="500"/>
                                        <p:tgtEl>
                                          <p:spTgt spid="9">
                                            <p:txEl>
                                              <p:pRg st="6" end="6"/>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9">
                                            <p:txEl>
                                              <p:pRg st="7" end="7"/>
                                            </p:txEl>
                                          </p:spTgt>
                                        </p:tgtEl>
                                        <p:attrNameLst>
                                          <p:attrName>style.visibility</p:attrName>
                                        </p:attrNameLst>
                                      </p:cBhvr>
                                      <p:to>
                                        <p:strVal val="visible"/>
                                      </p:to>
                                    </p:set>
                                    <p:animEffect transition="in" filter="fade">
                                      <p:cBhvr>
                                        <p:cTn id="26" dur="500"/>
                                        <p:tgtEl>
                                          <p:spTgt spid="9">
                                            <p:txEl>
                                              <p:pRg st="7" end="7"/>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9">
                                            <p:txEl>
                                              <p:pRg st="8" end="8"/>
                                            </p:txEl>
                                          </p:spTgt>
                                        </p:tgtEl>
                                        <p:attrNameLst>
                                          <p:attrName>style.visibility</p:attrName>
                                        </p:attrNameLst>
                                      </p:cBhvr>
                                      <p:to>
                                        <p:strVal val="visible"/>
                                      </p:to>
                                    </p:set>
                                    <p:animEffect transition="in" filter="fade">
                                      <p:cBhvr>
                                        <p:cTn id="29"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60F3B-3E68-BBEF-0B2D-B70B4EB7450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E66608-2FDE-460A-885A-99699B6C650A}"/>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DEDB68-BE98-C8E3-EC4E-97F698E469CD}"/>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Social Business Showcase: “My Starbucks Idea”</a:t>
            </a:r>
          </a:p>
        </p:txBody>
      </p:sp>
      <p:sp>
        <p:nvSpPr>
          <p:cNvPr id="5" name="Rectangle 4">
            <a:extLst>
              <a:ext uri="{FF2B5EF4-FFF2-40B4-BE49-F238E27FC236}">
                <a16:creationId xmlns:a16="http://schemas.microsoft.com/office/drawing/2014/main" id="{7B16A8F0-3870-E7D1-6897-FD017A384FD7}"/>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D5DFDD72-3304-82F5-8579-BFE5EC7DD8C7}"/>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60EBC966-C0BB-61FE-3201-4FABC6859BD7}"/>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44</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5E1611FB-23BE-986E-0C46-2F65A33DCAFD}"/>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Customer Engagement</a:t>
            </a:r>
          </a:p>
          <a:p>
            <a:pPr lvl="1">
              <a:defRPr sz="2000">
                <a:solidFill>
                  <a:srgbClr val="000000"/>
                </a:solidFill>
                <a:latin typeface="Garamond"/>
              </a:defRPr>
            </a:pPr>
            <a:r>
              <a:rPr lang="en-US" sz="2000" dirty="0"/>
              <a:t>Millions of users participated, making it one of the largest brand–customer collaborations of its time.</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Implemented Ideas</a:t>
            </a:r>
          </a:p>
          <a:p>
            <a:pPr lvl="1">
              <a:defRPr sz="2000">
                <a:solidFill>
                  <a:srgbClr val="000000"/>
                </a:solidFill>
                <a:latin typeface="Garamond"/>
              </a:defRPr>
            </a:pPr>
            <a:r>
              <a:rPr lang="en-US" sz="2000" dirty="0"/>
              <a:t>Examples included free Wi-Fi in stores, new drink flavors (such as Pumpkin Spice Latte refinements), and eco-friendly practices (for example, reusable cup discounts).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Brand Loyalty</a:t>
            </a:r>
          </a:p>
          <a:p>
            <a:pPr lvl="1">
              <a:defRPr sz="2000">
                <a:solidFill>
                  <a:srgbClr val="000000"/>
                </a:solidFill>
                <a:latin typeface="Garamond"/>
              </a:defRPr>
            </a:pPr>
            <a:r>
              <a:rPr lang="en-US" sz="2000" dirty="0"/>
              <a:t>Customers felt their voices mattered, deepening trust and emotional attachment to Starbucks.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However, engaging the public at scale exposes firms to the risk of opening decision-making too widely without adequate guardrails.</a:t>
            </a:r>
          </a:p>
          <a:p>
            <a:pPr lvl="3">
              <a:defRPr sz="2000">
                <a:solidFill>
                  <a:srgbClr val="000000"/>
                </a:solidFill>
                <a:latin typeface="Garamond"/>
              </a:defRPr>
            </a:pPr>
            <a:endParaRPr lang="en-US" sz="1200" dirty="0"/>
          </a:p>
        </p:txBody>
      </p:sp>
    </p:spTree>
    <p:extLst>
      <p:ext uri="{BB962C8B-B14F-4D97-AF65-F5344CB8AC3E}">
        <p14:creationId xmlns:p14="http://schemas.microsoft.com/office/powerpoint/2010/main" val="393267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animEffect transition="in" filter="fade">
                                      <p:cBhvr>
                                        <p:cTn id="31"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6CB64-EC6B-2EB6-BF2A-3FD02F8D7060}"/>
              </a:ext>
            </a:extLst>
          </p:cNvPr>
          <p:cNvSpPr>
            <a:spLocks noGrp="1"/>
          </p:cNvSpPr>
          <p:nvPr>
            <p:ph type="title"/>
          </p:nvPr>
        </p:nvSpPr>
        <p:spPr/>
        <p:txBody>
          <a:bodyPr>
            <a:normAutofit fontScale="90000"/>
          </a:bodyPr>
          <a:lstStyle/>
          <a:p>
            <a:r>
              <a:rPr lang="en-US">
                <a:solidFill>
                  <a:srgbClr val="000000">
                    <a:alpha val="0"/>
                  </a:srgbClr>
                </a:solidFill>
              </a:rPr>
              <a:t>Poll Everywhere multiple choice poll instructions screen
Activity Title: Vote for the most inspirational name for the new polar research ship.
Slide 44</a:t>
            </a:r>
          </a:p>
        </p:txBody>
      </p:sp>
      <p:sp>
        <p:nvSpPr>
          <p:cNvPr id="3" name="Footer Placeholder 2" descr="Poll Everywhere multiple choice poll instructions screen&#10;Activity Title: Vote for the most inspirational name for the new polar research ship.">
            <a:extLst>
              <a:ext uri="{FF2B5EF4-FFF2-40B4-BE49-F238E27FC236}">
                <a16:creationId xmlns:a16="http://schemas.microsoft.com/office/drawing/2014/main" id="{A5599C33-4E88-12C0-CC6E-8AA730F24687}"/>
              </a:ext>
            </a:extLst>
          </p:cNvPr>
          <p:cNvSpPr>
            <a:spLocks noGrp="1"/>
          </p:cNvSpPr>
          <p:nvPr>
            <p:ph type="ftr" sz="quarter" idx="11"/>
          </p:nvPr>
        </p:nvSpPr>
        <p:spPr/>
        <p:txBody>
          <a:bodyPr/>
          <a:lstStyle/>
          <a:p>
            <a:r>
              <a:rPr lang="en-US"/>
              <a:t> Management Information Systems</a:t>
            </a:r>
          </a:p>
        </p:txBody>
      </p:sp>
      <p:sp>
        <p:nvSpPr>
          <p:cNvPr id="4" name="Slide Number Placeholder 3">
            <a:extLst>
              <a:ext uri="{FF2B5EF4-FFF2-40B4-BE49-F238E27FC236}">
                <a16:creationId xmlns:a16="http://schemas.microsoft.com/office/drawing/2014/main" id="{49523489-FD2A-D40D-6A30-40AEC9C58437}"/>
              </a:ext>
            </a:extLst>
          </p:cNvPr>
          <p:cNvSpPr>
            <a:spLocks noGrp="1"/>
          </p:cNvSpPr>
          <p:nvPr>
            <p:ph type="sldNum" sz="quarter" idx="12"/>
          </p:nvPr>
        </p:nvSpPr>
        <p:spPr/>
        <p:txBody>
          <a:bodyPr/>
          <a:lstStyle/>
          <a:p>
            <a:fld id="{C1FF6DA9-008F-8B48-92A6-B652298478BF}" type="slidenum">
              <a:rPr lang="en-US" smtClean="0"/>
              <a:t>45</a:t>
            </a:fld>
            <a:endParaRPr lang="en-US"/>
          </a:p>
        </p:txBody>
      </p:sp>
      <p:pic>
        <p:nvPicPr>
          <p:cNvPr id="6" name="Picture 5">
            <a:extLst>
              <a:ext uri="{FF2B5EF4-FFF2-40B4-BE49-F238E27FC236}">
                <a16:creationId xmlns:a16="http://schemas.microsoft.com/office/drawing/2014/main" id="{1DC7E67F-59E5-78CB-7EA6-A2F6EADB0F54}"/>
              </a:ext>
            </a:extLst>
          </p:cNvPr>
          <p:cNvPicPr>
            <a:picLocks/>
          </p:cNvPicPr>
          <p:nvPr>
            <p:custDataLst>
              <p:tags r:id="rId1"/>
            </p:custDataLst>
          </p:nvPr>
        </p:nvPicPr>
        <p:blipFill>
          <a:blip r:embed="rId4"/>
          <a:stretch>
            <a:fillRect/>
          </a:stretch>
        </p:blipFill>
        <p:spPr>
          <a:xfrm>
            <a:off x="190500" y="190500"/>
            <a:ext cx="11807825" cy="6477000"/>
          </a:xfrm>
          <a:prstGeom prst="rect">
            <a:avLst/>
          </a:prstGeom>
        </p:spPr>
      </p:pic>
    </p:spTree>
    <p:extLst>
      <p:ext uri="{BB962C8B-B14F-4D97-AF65-F5344CB8AC3E}">
        <p14:creationId xmlns:p14="http://schemas.microsoft.com/office/powerpoint/2010/main" val="22474153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7F845A-40FF-44F2-5712-C04E5B951CF9}"/>
              </a:ext>
            </a:extLst>
          </p:cNvPr>
          <p:cNvSpPr>
            <a:spLocks noGrp="1"/>
          </p:cNvSpPr>
          <p:nvPr>
            <p:ph type="title"/>
          </p:nvPr>
        </p:nvSpPr>
        <p:spPr/>
        <p:txBody>
          <a:bodyPr>
            <a:normAutofit fontScale="90000"/>
          </a:bodyPr>
          <a:lstStyle/>
          <a:p>
            <a:r>
              <a:rPr lang="en-US">
                <a:solidFill>
                  <a:srgbClr val="000000">
                    <a:alpha val="0"/>
                  </a:srgbClr>
                </a:solidFill>
              </a:rPr>
              <a:t>Poll Everywhere multiple choice poll chart screen
Activity Title: Vote for the most inspirational name for the new polar research ship.
Slide 46</a:t>
            </a:r>
          </a:p>
        </p:txBody>
      </p:sp>
      <p:sp>
        <p:nvSpPr>
          <p:cNvPr id="3" name="Footer Placeholder 2" descr="Poll Everywhere multiple choice poll chart screen&#10;Activity Title: Vote for the most inspirational name for the new polar research ship.">
            <a:extLst>
              <a:ext uri="{FF2B5EF4-FFF2-40B4-BE49-F238E27FC236}">
                <a16:creationId xmlns:a16="http://schemas.microsoft.com/office/drawing/2014/main" id="{140CE68D-9FBA-63F1-4A7A-F9076AA11B93}"/>
              </a:ext>
            </a:extLst>
          </p:cNvPr>
          <p:cNvSpPr>
            <a:spLocks noGrp="1"/>
          </p:cNvSpPr>
          <p:nvPr>
            <p:ph type="ftr" sz="quarter" idx="11"/>
          </p:nvPr>
        </p:nvSpPr>
        <p:spPr/>
        <p:txBody>
          <a:bodyPr/>
          <a:lstStyle/>
          <a:p>
            <a:r>
              <a:rPr lang="en-US"/>
              <a:t> Management Information Systems</a:t>
            </a:r>
          </a:p>
        </p:txBody>
      </p:sp>
      <p:sp>
        <p:nvSpPr>
          <p:cNvPr id="4" name="Slide Number Placeholder 3">
            <a:extLst>
              <a:ext uri="{FF2B5EF4-FFF2-40B4-BE49-F238E27FC236}">
                <a16:creationId xmlns:a16="http://schemas.microsoft.com/office/drawing/2014/main" id="{C6B9ABF1-9966-E779-6E9C-7F234A0F93D1}"/>
              </a:ext>
            </a:extLst>
          </p:cNvPr>
          <p:cNvSpPr>
            <a:spLocks noGrp="1"/>
          </p:cNvSpPr>
          <p:nvPr>
            <p:ph type="sldNum" sz="quarter" idx="12"/>
          </p:nvPr>
        </p:nvSpPr>
        <p:spPr/>
        <p:txBody>
          <a:bodyPr/>
          <a:lstStyle/>
          <a:p>
            <a:fld id="{C1FF6DA9-008F-8B48-92A6-B652298478BF}" type="slidenum">
              <a:rPr lang="en-US" smtClean="0"/>
              <a:t>46</a:t>
            </a:fld>
            <a:endParaRPr lang="en-US"/>
          </a:p>
        </p:txBody>
      </p:sp>
      <p:pic>
        <p:nvPicPr>
          <p:cNvPr id="6" name="Picture 5">
            <a:extLst>
              <a:ext uri="{FF2B5EF4-FFF2-40B4-BE49-F238E27FC236}">
                <a16:creationId xmlns:a16="http://schemas.microsoft.com/office/drawing/2014/main" id="{DF553325-7B50-64F7-CEAD-C2006DB923FE}"/>
              </a:ext>
            </a:extLst>
          </p:cNvPr>
          <p:cNvPicPr>
            <a:picLocks/>
          </p:cNvPicPr>
          <p:nvPr>
            <p:custDataLst>
              <p:tags r:id="rId1"/>
            </p:custDataLst>
          </p:nvPr>
        </p:nvPicPr>
        <p:blipFill>
          <a:blip r:embed="rId4"/>
          <a:stretch>
            <a:fillRect/>
          </a:stretch>
        </p:blipFill>
        <p:spPr>
          <a:xfrm>
            <a:off x="190500" y="190500"/>
            <a:ext cx="11807825" cy="6477000"/>
          </a:xfrm>
          <a:prstGeom prst="rect">
            <a:avLst/>
          </a:prstGeom>
        </p:spPr>
      </p:pic>
    </p:spTree>
    <p:extLst>
      <p:ext uri="{BB962C8B-B14F-4D97-AF65-F5344CB8AC3E}">
        <p14:creationId xmlns:p14="http://schemas.microsoft.com/office/powerpoint/2010/main" val="15339260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211AA-D41F-0F6C-73E8-BEB86D9ADE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7B22BA5-3E75-DDA5-3981-66B63A2D436F}"/>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F6BD73-F80C-5D88-5D6A-BDCBA689D2C5}"/>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RRS Boaty </a:t>
            </a:r>
            <a:r>
              <a:rPr lang="en-US" sz="4000" dirty="0" err="1">
                <a:solidFill>
                  <a:schemeClr val="bg1"/>
                </a:solidFill>
              </a:rPr>
              <a:t>McBoatface</a:t>
            </a:r>
            <a:r>
              <a:rPr lang="en-US" sz="4000" dirty="0">
                <a:solidFill>
                  <a:schemeClr val="bg1"/>
                </a:solidFill>
              </a:rPr>
              <a:t>?</a:t>
            </a:r>
          </a:p>
        </p:txBody>
      </p:sp>
      <p:sp>
        <p:nvSpPr>
          <p:cNvPr id="5" name="Rectangle 4">
            <a:extLst>
              <a:ext uri="{FF2B5EF4-FFF2-40B4-BE49-F238E27FC236}">
                <a16:creationId xmlns:a16="http://schemas.microsoft.com/office/drawing/2014/main" id="{60BD5229-BF10-FE09-DB66-82BB106AF077}"/>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873F6405-7DBA-B12A-7F4E-014B977EB546}"/>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CD583874-74BF-3A21-AB66-6774EF4695F4}"/>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47</a:t>
            </a:fld>
            <a:r>
              <a:rPr lang="en-US" b="1" dirty="0">
                <a:solidFill>
                  <a:schemeClr val="bg1"/>
                </a:solidFill>
                <a:latin typeface="Garamond" panose="02020404030301010803" pitchFamily="18" charset="0"/>
              </a:rPr>
              <a:t> </a:t>
            </a:r>
          </a:p>
        </p:txBody>
      </p:sp>
      <p:pic>
        <p:nvPicPr>
          <p:cNvPr id="2052" name="Picture 4" descr="50 Pence - Elizabeth II (Boaty McBoatface) - British Antarctic Territory –  Numista">
            <a:extLst>
              <a:ext uri="{FF2B5EF4-FFF2-40B4-BE49-F238E27FC236}">
                <a16:creationId xmlns:a16="http://schemas.microsoft.com/office/drawing/2014/main" id="{1742B2B0-CDAE-E89F-9F48-001D7AE24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39694" b="8771"/>
          <a:stretch>
            <a:fillRect/>
          </a:stretch>
        </p:blipFill>
        <p:spPr bwMode="auto">
          <a:xfrm>
            <a:off x="541771" y="1210949"/>
            <a:ext cx="5090125" cy="5005166"/>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B06594EC-27A6-A9C9-B2F2-8BE8A2A4AE92}"/>
              </a:ext>
            </a:extLst>
          </p:cNvPr>
          <p:cNvSpPr txBox="1">
            <a:spLocks/>
          </p:cNvSpPr>
          <p:nvPr/>
        </p:nvSpPr>
        <p:spPr>
          <a:xfrm>
            <a:off x="5932967" y="1300900"/>
            <a:ext cx="5714087" cy="5081046"/>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altLang="zh-TW" sz="2400" dirty="0">
                <a:solidFill>
                  <a:srgbClr val="000000"/>
                </a:solidFill>
                <a:latin typeface="Garamond"/>
              </a:rPr>
              <a:t>31% of all votes went to </a:t>
            </a:r>
            <a:r>
              <a:rPr lang="en-US" altLang="zh-TW" sz="2400" i="1" dirty="0">
                <a:solidFill>
                  <a:srgbClr val="000000"/>
                </a:solidFill>
                <a:latin typeface="Garamond"/>
              </a:rPr>
              <a:t>Boaty </a:t>
            </a:r>
            <a:r>
              <a:rPr lang="en-US" altLang="zh-TW" sz="2400" i="1" dirty="0" err="1">
                <a:solidFill>
                  <a:srgbClr val="000000"/>
                </a:solidFill>
                <a:latin typeface="Garamond"/>
              </a:rPr>
              <a:t>McBoatface</a:t>
            </a:r>
            <a:r>
              <a:rPr lang="en-US" altLang="zh-TW" sz="2400" dirty="0">
                <a:solidFill>
                  <a:srgbClr val="000000"/>
                </a:solidFill>
                <a:latin typeface="Garamond"/>
              </a:rPr>
              <a:t>.</a:t>
            </a:r>
          </a:p>
          <a:p>
            <a:pPr lvl="3">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r>
              <a:rPr lang="en-US" altLang="zh-TW" sz="2400" dirty="0">
                <a:solidFill>
                  <a:srgbClr val="000000"/>
                </a:solidFill>
                <a:latin typeface="Garamond"/>
              </a:rPr>
              <a:t>Other options that garnered many votes:</a:t>
            </a:r>
          </a:p>
          <a:p>
            <a:pPr lvl="1">
              <a:defRPr sz="2000">
                <a:solidFill>
                  <a:srgbClr val="000000"/>
                </a:solidFill>
                <a:latin typeface="Garamond"/>
              </a:defRPr>
            </a:pPr>
            <a:r>
              <a:rPr lang="en-US" altLang="zh-TW" sz="2000" dirty="0">
                <a:solidFill>
                  <a:srgbClr val="000000"/>
                </a:solidFill>
                <a:latin typeface="Garamond"/>
              </a:rPr>
              <a:t>RRS It’s Bloody Cold Here</a:t>
            </a:r>
          </a:p>
          <a:p>
            <a:pPr lvl="1">
              <a:defRPr sz="2000">
                <a:solidFill>
                  <a:srgbClr val="000000"/>
                </a:solidFill>
                <a:latin typeface="Garamond"/>
              </a:defRPr>
            </a:pPr>
            <a:r>
              <a:rPr lang="en-US" altLang="zh-TW" sz="2000" dirty="0">
                <a:solidFill>
                  <a:srgbClr val="000000"/>
                </a:solidFill>
                <a:latin typeface="Garamond"/>
              </a:rPr>
              <a:t>RRS Usain Boat</a:t>
            </a:r>
          </a:p>
          <a:p>
            <a:pPr lvl="1">
              <a:defRPr sz="2000">
                <a:solidFill>
                  <a:srgbClr val="000000"/>
                </a:solidFill>
                <a:latin typeface="Garamond"/>
              </a:defRPr>
            </a:pPr>
            <a:r>
              <a:rPr lang="en-US" altLang="zh-TW" sz="2000" dirty="0">
                <a:solidFill>
                  <a:srgbClr val="000000"/>
                </a:solidFill>
                <a:latin typeface="Garamond"/>
              </a:rPr>
              <a:t>RRS </a:t>
            </a:r>
            <a:r>
              <a:rPr lang="en-US" altLang="zh-TW" sz="2000" dirty="0" err="1">
                <a:solidFill>
                  <a:srgbClr val="000000"/>
                </a:solidFill>
                <a:latin typeface="Garamond"/>
              </a:rPr>
              <a:t>Boatimus</a:t>
            </a:r>
            <a:r>
              <a:rPr lang="en-US" altLang="zh-TW" sz="2000" dirty="0">
                <a:solidFill>
                  <a:srgbClr val="000000"/>
                </a:solidFill>
                <a:latin typeface="Garamond"/>
              </a:rPr>
              <a:t> Prime</a:t>
            </a:r>
          </a:p>
          <a:p>
            <a:pPr lvl="1">
              <a:defRPr sz="2000">
                <a:solidFill>
                  <a:srgbClr val="000000"/>
                </a:solidFill>
                <a:latin typeface="Garamond"/>
              </a:defRPr>
            </a:pPr>
            <a:r>
              <a:rPr lang="en-US" altLang="zh-TW" sz="2000" dirty="0">
                <a:solidFill>
                  <a:srgbClr val="000000"/>
                </a:solidFill>
                <a:latin typeface="Garamond"/>
              </a:rPr>
              <a:t>…and many more silly suggestions</a:t>
            </a:r>
          </a:p>
          <a:p>
            <a:pPr lvl="3">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r>
              <a:rPr lang="en-US" altLang="zh-TW" sz="2400" dirty="0">
                <a:solidFill>
                  <a:srgbClr val="000000"/>
                </a:solidFill>
                <a:latin typeface="Garamond"/>
              </a:rPr>
              <a:t>But the NERC decided to name the vessel RRS Sir David Attenborough.</a:t>
            </a:r>
          </a:p>
          <a:p>
            <a:pPr lvl="3">
              <a:defRPr sz="2000">
                <a:solidFill>
                  <a:srgbClr val="000000"/>
                </a:solidFill>
                <a:latin typeface="Garamond"/>
              </a:defRPr>
            </a:pPr>
            <a:endParaRPr lang="en-US" altLang="zh-TW" sz="1200" dirty="0">
              <a:solidFill>
                <a:srgbClr val="000000"/>
              </a:solidFill>
              <a:latin typeface="Garamond"/>
            </a:endParaRPr>
          </a:p>
          <a:p>
            <a:pPr>
              <a:defRPr sz="2000">
                <a:solidFill>
                  <a:srgbClr val="000000"/>
                </a:solidFill>
                <a:latin typeface="Garamond"/>
              </a:defRPr>
            </a:pPr>
            <a:r>
              <a:rPr lang="en-US" altLang="zh-TW" sz="2400" dirty="0">
                <a:solidFill>
                  <a:srgbClr val="000000"/>
                </a:solidFill>
                <a:latin typeface="Garamond"/>
              </a:rPr>
              <a:t>Public engagement without clear constraints can lead to outcomes firms do not intend.</a:t>
            </a:r>
          </a:p>
        </p:txBody>
      </p:sp>
    </p:spTree>
    <p:extLst>
      <p:ext uri="{BB962C8B-B14F-4D97-AF65-F5344CB8AC3E}">
        <p14:creationId xmlns:p14="http://schemas.microsoft.com/office/powerpoint/2010/main" val="3972103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052"/>
                                        </p:tgtEl>
                                        <p:attrNameLst>
                                          <p:attrName>style.visibility</p:attrName>
                                        </p:attrNameLst>
                                      </p:cBhvr>
                                      <p:to>
                                        <p:strVal val="visible"/>
                                      </p:to>
                                    </p:set>
                                    <p:animEffect transition="in" filter="fade">
                                      <p:cBhvr>
                                        <p:cTn id="7" dur="500"/>
                                        <p:tgtEl>
                                          <p:spTgt spid="2052"/>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fade">
                                      <p:cBhvr>
                                        <p:cTn id="30" dur="5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animEffect transition="in" filter="fade">
                                      <p:cBhvr>
                                        <p:cTn id="40" dur="500"/>
                                        <p:tgtEl>
                                          <p:spTgt spid="3">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B6BC7-FC55-648E-F714-E26F97400E1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552D2DE-1009-840F-9395-D7F642248B64}"/>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0524737-2D37-9654-4CFC-BC255CC441AA}"/>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Björn Borg’s “Weapons of Mass Seduction”</a:t>
            </a:r>
          </a:p>
        </p:txBody>
      </p:sp>
      <p:sp>
        <p:nvSpPr>
          <p:cNvPr id="5" name="Rectangle 4">
            <a:extLst>
              <a:ext uri="{FF2B5EF4-FFF2-40B4-BE49-F238E27FC236}">
                <a16:creationId xmlns:a16="http://schemas.microsoft.com/office/drawing/2014/main" id="{95CD094E-9170-FE5A-172C-193B66DA69B8}"/>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B24311C1-66C5-C830-2B21-1A94C8213AEF}"/>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12CA5641-22F5-49BE-F7A7-9DFB52F9044C}"/>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48</a:t>
            </a:fld>
            <a:r>
              <a:rPr lang="en-US" b="1" dirty="0">
                <a:solidFill>
                  <a:schemeClr val="bg1"/>
                </a:solidFill>
                <a:latin typeface="Garamond" panose="02020404030301010803" pitchFamily="18" charset="0"/>
              </a:rPr>
              <a:t> </a:t>
            </a:r>
          </a:p>
        </p:txBody>
      </p:sp>
      <p:pic>
        <p:nvPicPr>
          <p:cNvPr id="5122" name="Picture 2" descr="The fashion label with sex appeal! - OriginalSteps.com">
            <a:extLst>
              <a:ext uri="{FF2B5EF4-FFF2-40B4-BE49-F238E27FC236}">
                <a16:creationId xmlns:a16="http://schemas.microsoft.com/office/drawing/2014/main" id="{A9E0AC7B-C488-A28B-084A-D15FC35A5E0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84224" y="970332"/>
            <a:ext cx="8420374" cy="5486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39756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122"/>
                                        </p:tgtEl>
                                        <p:attrNameLst>
                                          <p:attrName>style.visibility</p:attrName>
                                        </p:attrNameLst>
                                      </p:cBhvr>
                                      <p:to>
                                        <p:strVal val="visible"/>
                                      </p:to>
                                    </p:set>
                                    <p:animEffect transition="in" filter="fade">
                                      <p:cBhvr>
                                        <p:cTn id="7" dur="500"/>
                                        <p:tgtEl>
                                          <p:spTgt spid="5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AAEEF1-FC3E-E199-5446-7F48575F368D}"/>
              </a:ext>
            </a:extLst>
          </p:cNvPr>
          <p:cNvSpPr>
            <a:spLocks noGrp="1"/>
          </p:cNvSpPr>
          <p:nvPr>
            <p:ph type="title"/>
          </p:nvPr>
        </p:nvSpPr>
        <p:spPr/>
        <p:txBody>
          <a:bodyPr>
            <a:normAutofit fontScale="90000"/>
          </a:bodyPr>
          <a:lstStyle/>
          <a:p>
            <a:r>
              <a:rPr lang="en-US">
                <a:solidFill>
                  <a:srgbClr val="000000">
                    <a:alpha val="0"/>
                  </a:srgbClr>
                </a:solidFill>
              </a:rPr>
              <a:t>Poll Everywhere clickable image activity
Activity Title: Vote for the city/region in need of weapons of mass seduction!
Slide 48</a:t>
            </a:r>
          </a:p>
        </p:txBody>
      </p:sp>
      <p:sp>
        <p:nvSpPr>
          <p:cNvPr id="3" name="Footer Placeholder 2" descr="Poll Everywhere clickable image activity&#10;Activity Title: Vote for the city/region in need of weapons of mass seduction!">
            <a:extLst>
              <a:ext uri="{FF2B5EF4-FFF2-40B4-BE49-F238E27FC236}">
                <a16:creationId xmlns:a16="http://schemas.microsoft.com/office/drawing/2014/main" id="{BEF2F3B9-CAE2-329C-19FC-A22AF6255477}"/>
              </a:ext>
            </a:extLst>
          </p:cNvPr>
          <p:cNvSpPr>
            <a:spLocks noGrp="1"/>
          </p:cNvSpPr>
          <p:nvPr>
            <p:ph type="ftr" sz="quarter" idx="11"/>
          </p:nvPr>
        </p:nvSpPr>
        <p:spPr/>
        <p:txBody>
          <a:bodyPr/>
          <a:lstStyle/>
          <a:p>
            <a:r>
              <a:rPr lang="en-US"/>
              <a:t> Management Information Systems</a:t>
            </a:r>
          </a:p>
        </p:txBody>
      </p:sp>
      <p:sp>
        <p:nvSpPr>
          <p:cNvPr id="4" name="Slide Number Placeholder 3">
            <a:extLst>
              <a:ext uri="{FF2B5EF4-FFF2-40B4-BE49-F238E27FC236}">
                <a16:creationId xmlns:a16="http://schemas.microsoft.com/office/drawing/2014/main" id="{E02422D2-F7F8-4A95-F153-604292E15381}"/>
              </a:ext>
            </a:extLst>
          </p:cNvPr>
          <p:cNvSpPr>
            <a:spLocks noGrp="1"/>
          </p:cNvSpPr>
          <p:nvPr>
            <p:ph type="sldNum" sz="quarter" idx="12"/>
          </p:nvPr>
        </p:nvSpPr>
        <p:spPr/>
        <p:txBody>
          <a:bodyPr/>
          <a:lstStyle/>
          <a:p>
            <a:fld id="{C1FF6DA9-008F-8B48-92A6-B652298478BF}" type="slidenum">
              <a:rPr lang="en-US" smtClean="0"/>
              <a:t>49</a:t>
            </a:fld>
            <a:endParaRPr lang="en-US"/>
          </a:p>
        </p:txBody>
      </p:sp>
      <p:pic>
        <p:nvPicPr>
          <p:cNvPr id="7" name="Picture 6">
            <a:extLst>
              <a:ext uri="{FF2B5EF4-FFF2-40B4-BE49-F238E27FC236}">
                <a16:creationId xmlns:a16="http://schemas.microsoft.com/office/drawing/2014/main" id="{AAA8C7DF-9727-4E27-D8B8-C35D07DCC3F3}"/>
              </a:ext>
            </a:extLst>
          </p:cNvPr>
          <p:cNvPicPr>
            <a:picLocks/>
          </p:cNvPicPr>
          <p:nvPr>
            <p:custDataLst>
              <p:tags r:id="rId1"/>
            </p:custDataLst>
          </p:nvPr>
        </p:nvPicPr>
        <p:blipFill>
          <a:blip r:embed="rId4"/>
          <a:stretch>
            <a:fillRect/>
          </a:stretch>
        </p:blipFill>
        <p:spPr>
          <a:xfrm>
            <a:off x="190500" y="190500"/>
            <a:ext cx="11798300" cy="6477000"/>
          </a:xfrm>
          <a:prstGeom prst="rect">
            <a:avLst/>
          </a:prstGeom>
        </p:spPr>
      </p:pic>
    </p:spTree>
    <p:extLst>
      <p:ext uri="{BB962C8B-B14F-4D97-AF65-F5344CB8AC3E}">
        <p14:creationId xmlns:p14="http://schemas.microsoft.com/office/powerpoint/2010/main" val="38206836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BC775-9921-1620-3DE7-2A0819D088A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ED2A58B-D02F-45CD-11D0-311A73444FD7}"/>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9DA4A76-AE62-4489-BE13-F5D2A6047D18}"/>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Björn Borg’s “Weapons of Mass Seduction”</a:t>
            </a:r>
          </a:p>
        </p:txBody>
      </p:sp>
      <p:sp>
        <p:nvSpPr>
          <p:cNvPr id="5" name="Rectangle 4">
            <a:extLst>
              <a:ext uri="{FF2B5EF4-FFF2-40B4-BE49-F238E27FC236}">
                <a16:creationId xmlns:a16="http://schemas.microsoft.com/office/drawing/2014/main" id="{8290D695-D076-8643-DB77-B31C73E30522}"/>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9E2164A6-AC94-BE59-A3B7-A88282A1D08F}"/>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4A229994-61F0-59A2-6781-6E5F181092E8}"/>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50</a:t>
            </a:fld>
            <a:r>
              <a:rPr lang="en-US" b="1" dirty="0">
                <a:solidFill>
                  <a:schemeClr val="bg1"/>
                </a:solidFill>
                <a:latin typeface="Garamond" panose="02020404030301010803" pitchFamily="18" charset="0"/>
              </a:rPr>
              <a:t> </a:t>
            </a:r>
          </a:p>
        </p:txBody>
      </p:sp>
      <p:pic>
        <p:nvPicPr>
          <p:cNvPr id="4098" name="Picture 2" descr="SOUTH KOREA LOVE BOMBS NORTHERN NEIGHBOUR - Björn Borg">
            <a:extLst>
              <a:ext uri="{FF2B5EF4-FFF2-40B4-BE49-F238E27FC236}">
                <a16:creationId xmlns:a16="http://schemas.microsoft.com/office/drawing/2014/main" id="{27C26492-8D9F-8360-06D5-7FD043A653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4255" y="970332"/>
            <a:ext cx="11400312" cy="5486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959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098"/>
                                        </p:tgtEl>
                                        <p:attrNameLst>
                                          <p:attrName>style.visibility</p:attrName>
                                        </p:attrNameLst>
                                      </p:cBhvr>
                                      <p:to>
                                        <p:strVal val="visible"/>
                                      </p:to>
                                    </p:set>
                                    <p:animEffect transition="in" filter="fade">
                                      <p:cBhvr>
                                        <p:cTn id="7" dur="500"/>
                                        <p:tgtEl>
                                          <p:spTgt spid="40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45C3A-9266-4B59-038B-09E4FD0CD39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9FCC63D-A87F-5293-8816-F0198052051A}"/>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00FDCB-98D5-C4E1-6833-E776679EBC65}"/>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Björn Borg’s “Weapons of Mass Seduction”</a:t>
            </a:r>
          </a:p>
        </p:txBody>
      </p:sp>
      <p:sp>
        <p:nvSpPr>
          <p:cNvPr id="5" name="Rectangle 4">
            <a:extLst>
              <a:ext uri="{FF2B5EF4-FFF2-40B4-BE49-F238E27FC236}">
                <a16:creationId xmlns:a16="http://schemas.microsoft.com/office/drawing/2014/main" id="{925C87EC-DCCC-28D4-A1A1-D37F0DA6534B}"/>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695A6097-DC9E-2A1A-EC6B-759891843495}"/>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8ADEB927-AE85-634F-650C-A4B0ED46C194}"/>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51</a:t>
            </a:fld>
            <a:r>
              <a:rPr lang="en-US" b="1" dirty="0">
                <a:solidFill>
                  <a:schemeClr val="bg1"/>
                </a:solidFill>
                <a:latin typeface="Garamond" panose="02020404030301010803" pitchFamily="18" charset="0"/>
              </a:rPr>
              <a:t> </a:t>
            </a:r>
          </a:p>
        </p:txBody>
      </p:sp>
      <p:pic>
        <p:nvPicPr>
          <p:cNvPr id="6150" name="Picture 6" descr="Så smusslade Björn Borg in underkläder i Nordkorea - Resumé">
            <a:extLst>
              <a:ext uri="{FF2B5EF4-FFF2-40B4-BE49-F238E27FC236}">
                <a16:creationId xmlns:a16="http://schemas.microsoft.com/office/drawing/2014/main" id="{1DDD49E3-3F19-9EB4-F7D2-333F6FFC11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8373" y="970332"/>
            <a:ext cx="9752076" cy="5486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8221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6150"/>
                                        </p:tgtEl>
                                        <p:attrNameLst>
                                          <p:attrName>style.visibility</p:attrName>
                                        </p:attrNameLst>
                                      </p:cBhvr>
                                      <p:to>
                                        <p:strVal val="visible"/>
                                      </p:to>
                                    </p:set>
                                    <p:animEffect transition="in" filter="fade">
                                      <p:cBhvr>
                                        <p:cTn id="7" dur="500"/>
                                        <p:tgtEl>
                                          <p:spTgt spid="6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0533A-BD80-90C6-723E-8F2B7248549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213C171-0709-D25A-FDB1-8F50E66628B9}"/>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FD942E2-3BF0-5F17-213F-C3DAFAB8EF1E}"/>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Social Business</a:t>
            </a:r>
          </a:p>
        </p:txBody>
      </p:sp>
      <p:sp>
        <p:nvSpPr>
          <p:cNvPr id="5" name="Rectangle 4">
            <a:extLst>
              <a:ext uri="{FF2B5EF4-FFF2-40B4-BE49-F238E27FC236}">
                <a16:creationId xmlns:a16="http://schemas.microsoft.com/office/drawing/2014/main" id="{251173F2-DDCE-3C72-8F1E-A155544B2673}"/>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0E35E056-329E-547F-6D49-2522C674A491}"/>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E05A1297-25BF-DABC-8135-07B04ACD5B60}"/>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52</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06262F87-1D5D-412A-E03F-8531A0CA87E1}"/>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Common applications of social business include:</a:t>
            </a:r>
          </a:p>
          <a:p>
            <a:pPr lvl="1">
              <a:defRPr sz="2000">
                <a:solidFill>
                  <a:srgbClr val="000000"/>
                </a:solidFill>
                <a:latin typeface="Garamond"/>
              </a:defRPr>
            </a:pPr>
            <a:r>
              <a:rPr lang="en-US" sz="2000" dirty="0"/>
              <a:t>Social networks: LinkedIn, Facebook</a:t>
            </a:r>
          </a:p>
          <a:p>
            <a:pPr lvl="1">
              <a:defRPr sz="2000">
                <a:solidFill>
                  <a:srgbClr val="000000"/>
                </a:solidFill>
                <a:latin typeface="Garamond"/>
              </a:defRPr>
            </a:pPr>
            <a:r>
              <a:rPr lang="en-US" sz="2000" dirty="0"/>
              <a:t>Crowdsourcing: Starbucks’ </a:t>
            </a:r>
            <a:r>
              <a:rPr lang="en-US" sz="2000" i="1" dirty="0"/>
              <a:t>My Starbucks Idea</a:t>
            </a:r>
            <a:r>
              <a:rPr lang="en-US" sz="2000" dirty="0"/>
              <a:t>, Dell’s </a:t>
            </a:r>
            <a:r>
              <a:rPr lang="en-US" sz="2000" i="1" dirty="0" err="1"/>
              <a:t>IdeaStorm</a:t>
            </a:r>
            <a:endParaRPr lang="en-US" sz="2000" i="1" dirty="0"/>
          </a:p>
          <a:p>
            <a:pPr lvl="1">
              <a:defRPr sz="2000">
                <a:solidFill>
                  <a:srgbClr val="000000"/>
                </a:solidFill>
                <a:latin typeface="Garamond"/>
              </a:defRPr>
            </a:pPr>
            <a:r>
              <a:rPr lang="en-US" sz="2000" dirty="0"/>
              <a:t>Shared workplaces: Slack, Microsoft Teams</a:t>
            </a:r>
          </a:p>
          <a:p>
            <a:pPr lvl="1">
              <a:defRPr sz="2000">
                <a:solidFill>
                  <a:srgbClr val="000000"/>
                </a:solidFill>
                <a:latin typeface="Garamond"/>
              </a:defRPr>
            </a:pPr>
            <a:r>
              <a:rPr lang="en-US" sz="2000" dirty="0"/>
              <a:t>Blogs and wikis: WordPress, Wikipedia</a:t>
            </a:r>
          </a:p>
          <a:p>
            <a:pPr lvl="1">
              <a:defRPr sz="2000">
                <a:solidFill>
                  <a:srgbClr val="000000"/>
                </a:solidFill>
                <a:latin typeface="Garamond"/>
              </a:defRPr>
            </a:pPr>
            <a:r>
              <a:rPr lang="en-US" sz="2000" dirty="0"/>
              <a:t>Social commerce: Facebook Marketplace, Etsy</a:t>
            </a:r>
          </a:p>
          <a:p>
            <a:pPr lvl="1">
              <a:defRPr sz="2000">
                <a:solidFill>
                  <a:srgbClr val="000000"/>
                </a:solidFill>
                <a:latin typeface="Garamond"/>
              </a:defRPr>
            </a:pPr>
            <a:r>
              <a:rPr lang="en-US" sz="2000" dirty="0"/>
              <a:t>File sharing: Dropbox, Google Drive</a:t>
            </a:r>
          </a:p>
          <a:p>
            <a:pPr lvl="1">
              <a:defRPr sz="2000">
                <a:solidFill>
                  <a:srgbClr val="000000"/>
                </a:solidFill>
                <a:latin typeface="Garamond"/>
              </a:defRPr>
            </a:pPr>
            <a:r>
              <a:rPr lang="en-US" sz="2000" dirty="0"/>
              <a:t>Social marketing: Nike’s </a:t>
            </a:r>
            <a:r>
              <a:rPr lang="en-US" sz="2000" i="1" dirty="0"/>
              <a:t>#JustDoIt</a:t>
            </a:r>
            <a:r>
              <a:rPr lang="en-US" sz="2000" dirty="0"/>
              <a:t>, Coca-Cola’s </a:t>
            </a:r>
            <a:r>
              <a:rPr lang="en-US" sz="2000" i="1" dirty="0"/>
              <a:t>Share a Coke</a:t>
            </a:r>
          </a:p>
          <a:p>
            <a:pPr lvl="1">
              <a:defRPr sz="2000">
                <a:solidFill>
                  <a:srgbClr val="000000"/>
                </a:solidFill>
                <a:latin typeface="Garamond"/>
              </a:defRPr>
            </a:pPr>
            <a:r>
              <a:rPr lang="en-US" sz="2000" dirty="0"/>
              <a:t>Communities: Reddit forums, SAP Community Network</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The general consensus, supported by academic research, is that firms that are more collaborative tend to be more successful.</a:t>
            </a:r>
          </a:p>
          <a:p>
            <a:pPr>
              <a:defRPr sz="2000">
                <a:solidFill>
                  <a:srgbClr val="000000"/>
                </a:solidFill>
                <a:latin typeface="Garamond"/>
              </a:defRPr>
            </a:pPr>
            <a:endParaRPr lang="en-US" sz="2400" dirty="0"/>
          </a:p>
        </p:txBody>
      </p:sp>
    </p:spTree>
    <p:extLst>
      <p:ext uri="{BB962C8B-B14F-4D97-AF65-F5344CB8AC3E}">
        <p14:creationId xmlns:p14="http://schemas.microsoft.com/office/powerpoint/2010/main" val="3884167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Effect transition="in" filter="fade">
                                      <p:cBhvr>
                                        <p:cTn id="31" dur="500"/>
                                        <p:tgtEl>
                                          <p:spTgt spid="3">
                                            <p:txEl>
                                              <p:pRg st="8" end="8"/>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3">
                                            <p:txEl>
                                              <p:pRg st="10" end="10"/>
                                            </p:txEl>
                                          </p:spTgt>
                                        </p:tgtEl>
                                        <p:attrNameLst>
                                          <p:attrName>style.visibility</p:attrName>
                                        </p:attrNameLst>
                                      </p:cBhvr>
                                      <p:to>
                                        <p:strVal val="visible"/>
                                      </p:to>
                                    </p:set>
                                    <p:animEffect transition="in" filter="fade">
                                      <p:cBhvr>
                                        <p:cTn id="36"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5BE13-74F0-86D8-CB86-0BD9BAF568F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9AB60B-6E16-FC8C-5AFD-41A76E4E3901}"/>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C7726F-CC0F-27F5-70F8-B53C7CD980E2}"/>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Caveats of Collaboration</a:t>
            </a:r>
          </a:p>
        </p:txBody>
      </p:sp>
      <p:sp>
        <p:nvSpPr>
          <p:cNvPr id="5" name="Rectangle 4">
            <a:extLst>
              <a:ext uri="{FF2B5EF4-FFF2-40B4-BE49-F238E27FC236}">
                <a16:creationId xmlns:a16="http://schemas.microsoft.com/office/drawing/2014/main" id="{64157957-6E35-6DA0-9029-FA4A48300069}"/>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AD2B9814-09DA-AC42-0E09-B2F0A388E8AF}"/>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11D0D3D9-018E-F578-BB95-9375AD950775}"/>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53</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E149797F-3829-CA84-4F34-718A2313BD34}"/>
              </a:ext>
            </a:extLst>
          </p:cNvPr>
          <p:cNvSpPr>
            <a:spLocks noGrp="1"/>
          </p:cNvSpPr>
          <p:nvPr>
            <p:ph idx="1"/>
          </p:nvPr>
        </p:nvSpPr>
        <p:spPr>
          <a:xfrm>
            <a:off x="6772940" y="1300900"/>
            <a:ext cx="4874114" cy="5099900"/>
          </a:xfrm>
        </p:spPr>
        <p:txBody>
          <a:bodyPr>
            <a:normAutofit/>
          </a:bodyPr>
          <a:lstStyle/>
          <a:p>
            <a:pPr>
              <a:defRPr sz="2000">
                <a:solidFill>
                  <a:srgbClr val="000000"/>
                </a:solidFill>
                <a:latin typeface="Garamond"/>
              </a:defRPr>
            </a:pPr>
            <a:r>
              <a:rPr lang="en-US" sz="2400" dirty="0"/>
              <a:t>Yet, many firms that claim to be collaboration-oriented fail to achieve meaningful performance gains.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True collaboration requires both:</a:t>
            </a:r>
          </a:p>
          <a:p>
            <a:pPr lvl="1">
              <a:defRPr sz="2000">
                <a:solidFill>
                  <a:srgbClr val="000000"/>
                </a:solidFill>
                <a:latin typeface="Garamond"/>
              </a:defRPr>
            </a:pPr>
            <a:r>
              <a:rPr lang="en-US" sz="2000" dirty="0"/>
              <a:t>Technology: Tools that enable coordination and information sharing.</a:t>
            </a:r>
          </a:p>
          <a:p>
            <a:pPr lvl="1">
              <a:defRPr sz="2000">
                <a:solidFill>
                  <a:srgbClr val="000000"/>
                </a:solidFill>
                <a:latin typeface="Garamond"/>
              </a:defRPr>
            </a:pPr>
            <a:r>
              <a:rPr lang="en-US" sz="2000" dirty="0"/>
              <a:t>Capability: The values, practices, and structures that support openness and teamwork.</a:t>
            </a:r>
          </a:p>
        </p:txBody>
      </p:sp>
      <p:pic>
        <p:nvPicPr>
          <p:cNvPr id="8" name="Picture 7" descr="A flow diagram explains how collaboration capability and technology affect the firm’s performance. Long description available in notes, press f6.">
            <a:extLst>
              <a:ext uri="{FF2B5EF4-FFF2-40B4-BE49-F238E27FC236}">
                <a16:creationId xmlns:a16="http://schemas.microsoft.com/office/drawing/2014/main" id="{E4DAEDB2-D6C8-FB25-45A6-D1DD04B52365}"/>
              </a:ext>
            </a:extLst>
          </p:cNvPr>
          <p:cNvPicPr>
            <a:picLocks noChangeAspect="1"/>
          </p:cNvPicPr>
          <p:nvPr/>
        </p:nvPicPr>
        <p:blipFill>
          <a:blip r:embed="rId3"/>
          <a:stretch>
            <a:fillRect/>
          </a:stretch>
        </p:blipFill>
        <p:spPr>
          <a:xfrm>
            <a:off x="541771" y="1356094"/>
            <a:ext cx="5809673" cy="4572000"/>
          </a:xfrm>
          <a:prstGeom prst="rect">
            <a:avLst/>
          </a:prstGeom>
        </p:spPr>
      </p:pic>
    </p:spTree>
    <p:extLst>
      <p:ext uri="{BB962C8B-B14F-4D97-AF65-F5344CB8AC3E}">
        <p14:creationId xmlns:p14="http://schemas.microsoft.com/office/powerpoint/2010/main" val="4194809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B27AD-A6D5-8C88-5F6E-CF325A77726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8F0475E-65DF-C2CF-8AAB-CC8902331134}"/>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C978863-F50A-0EAB-7A27-2F0CBB945DD9}"/>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Collaboration Tools</a:t>
            </a:r>
          </a:p>
        </p:txBody>
      </p:sp>
      <p:sp>
        <p:nvSpPr>
          <p:cNvPr id="5" name="Rectangle 4">
            <a:extLst>
              <a:ext uri="{FF2B5EF4-FFF2-40B4-BE49-F238E27FC236}">
                <a16:creationId xmlns:a16="http://schemas.microsoft.com/office/drawing/2014/main" id="{DFA43B8C-A787-214E-28D4-12B2F453653F}"/>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EE7A378F-90AA-6C48-42A6-F7DDDFA3DFDB}"/>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8E815AB0-BB9C-0591-C2A7-D33A47F66C6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54</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D3F3FDFF-11C5-87B5-97AA-2CF845706EDF}"/>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Collaboration tools enable coordination and information sharing. Some are costly, many are freely available online.</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Email and Instant Messaging</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Collaboration Platforms</a:t>
            </a:r>
          </a:p>
          <a:p>
            <a:pPr lvl="1">
              <a:defRPr sz="2000">
                <a:solidFill>
                  <a:srgbClr val="000000"/>
                </a:solidFill>
                <a:latin typeface="Garamond"/>
              </a:defRPr>
            </a:pPr>
            <a:r>
              <a:rPr lang="en-US" sz="2000" dirty="0"/>
              <a:t>Virtual Meeting Systems.</a:t>
            </a:r>
          </a:p>
          <a:p>
            <a:pPr lvl="1">
              <a:defRPr sz="2000">
                <a:solidFill>
                  <a:srgbClr val="000000"/>
                </a:solidFill>
                <a:latin typeface="Garamond"/>
              </a:defRPr>
            </a:pPr>
            <a:r>
              <a:rPr lang="en-US" sz="2000" dirty="0"/>
              <a:t>Cloud Collaboration Services.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Human-AI Collaboration</a:t>
            </a:r>
          </a:p>
          <a:p>
            <a:pPr lvl="1">
              <a:defRPr sz="2000">
                <a:solidFill>
                  <a:srgbClr val="000000"/>
                </a:solidFill>
                <a:latin typeface="Garamond"/>
              </a:defRPr>
            </a:pPr>
            <a:r>
              <a:rPr lang="en-US" sz="2000" dirty="0"/>
              <a:t>Humans and AI systems work together.</a:t>
            </a:r>
          </a:p>
          <a:p>
            <a:pPr lvl="1">
              <a:defRPr sz="2000">
                <a:solidFill>
                  <a:srgbClr val="000000"/>
                </a:solidFill>
                <a:latin typeface="Garamond"/>
              </a:defRPr>
            </a:pPr>
            <a:r>
              <a:rPr lang="en-US" sz="2000" dirty="0"/>
              <a:t>Complementary strengths are combined to achieve goals.</a:t>
            </a:r>
          </a:p>
        </p:txBody>
      </p:sp>
    </p:spTree>
    <p:extLst>
      <p:ext uri="{BB962C8B-B14F-4D97-AF65-F5344CB8AC3E}">
        <p14:creationId xmlns:p14="http://schemas.microsoft.com/office/powerpoint/2010/main" val="2110150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5" end="5"/>
                                            </p:txEl>
                                          </p:spTgt>
                                        </p:tgtEl>
                                        <p:attrNameLst>
                                          <p:attrName>style.visibility</p:attrName>
                                        </p:attrNameLst>
                                      </p:cBhvr>
                                      <p:to>
                                        <p:strVal val="visible"/>
                                      </p:to>
                                    </p:set>
                                    <p:animEffect transition="in" filter="fade">
                                      <p:cBhvr>
                                        <p:cTn id="20" dur="500"/>
                                        <p:tgtEl>
                                          <p:spTgt spid="3">
                                            <p:txEl>
                                              <p:pRg st="5" end="5"/>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8" end="8"/>
                                            </p:txEl>
                                          </p:spTgt>
                                        </p:tgtEl>
                                        <p:attrNameLst>
                                          <p:attrName>style.visibility</p:attrName>
                                        </p:attrNameLst>
                                      </p:cBhvr>
                                      <p:to>
                                        <p:strVal val="visible"/>
                                      </p:to>
                                    </p:set>
                                    <p:animEffect transition="in" filter="fade">
                                      <p:cBhvr>
                                        <p:cTn id="28" dur="500"/>
                                        <p:tgtEl>
                                          <p:spTgt spid="3">
                                            <p:txEl>
                                              <p:pRg st="8" end="8"/>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animEffect transition="in" filter="fade">
                                      <p:cBhvr>
                                        <p:cTn id="31" dur="500"/>
                                        <p:tgtEl>
                                          <p:spTgt spid="3">
                                            <p:txEl>
                                              <p:pRg st="9" end="9"/>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3">
                                            <p:txEl>
                                              <p:pRg st="10" end="10"/>
                                            </p:txEl>
                                          </p:spTgt>
                                        </p:tgtEl>
                                        <p:attrNameLst>
                                          <p:attrName>style.visibility</p:attrName>
                                        </p:attrNameLst>
                                      </p:cBhvr>
                                      <p:to>
                                        <p:strVal val="visible"/>
                                      </p:to>
                                    </p:set>
                                    <p:animEffect transition="in" filter="fade">
                                      <p:cBhvr>
                                        <p:cTn id="34"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B4636-1CC0-5A36-7AA8-D1580A22E3F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ADF5469-998F-1B47-02F2-E3C28C2AF2DB}"/>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E533701-06BD-8937-2EE1-140B16128966}"/>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Social Business Tools</a:t>
            </a:r>
          </a:p>
        </p:txBody>
      </p:sp>
      <p:sp>
        <p:nvSpPr>
          <p:cNvPr id="5" name="Rectangle 4">
            <a:extLst>
              <a:ext uri="{FF2B5EF4-FFF2-40B4-BE49-F238E27FC236}">
                <a16:creationId xmlns:a16="http://schemas.microsoft.com/office/drawing/2014/main" id="{10A85A6E-239A-C8F9-5120-F0E41C49830E}"/>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33308BEF-4EE9-E01B-8F40-8B798160C77A}"/>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63C8519F-888A-9765-2CCB-7DA756CEABBF}"/>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55</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B877B595-5497-6E15-92EA-57CD71BB797E}"/>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General collaboration tools can support social business, but some tools are purpose-built for it.</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Enterprise Social Networking Tools</a:t>
            </a:r>
          </a:p>
          <a:p>
            <a:pPr lvl="1">
              <a:defRPr sz="2000">
                <a:solidFill>
                  <a:srgbClr val="000000"/>
                </a:solidFill>
                <a:latin typeface="Garamond"/>
              </a:defRPr>
            </a:pPr>
            <a:r>
              <a:rPr lang="en-US" sz="2000" dirty="0"/>
              <a:t>Connect members of an organization to create business value through:</a:t>
            </a:r>
          </a:p>
          <a:p>
            <a:pPr lvl="2">
              <a:defRPr sz="2000">
                <a:solidFill>
                  <a:srgbClr val="000000"/>
                </a:solidFill>
                <a:latin typeface="Garamond"/>
              </a:defRPr>
            </a:pPr>
            <a:r>
              <a:rPr lang="en-US" sz="1600" dirty="0"/>
              <a:t>Profiles: Share member information, interests, and specialties.</a:t>
            </a:r>
          </a:p>
          <a:p>
            <a:pPr lvl="2">
              <a:defRPr sz="2000">
                <a:solidFill>
                  <a:srgbClr val="000000"/>
                </a:solidFill>
                <a:latin typeface="Garamond"/>
              </a:defRPr>
            </a:pPr>
            <a:r>
              <a:rPr lang="en-US" sz="1600" dirty="0"/>
              <a:t>Content Sharing: Store, manage, and distribute content.</a:t>
            </a:r>
          </a:p>
          <a:p>
            <a:pPr lvl="2">
              <a:defRPr sz="2000">
                <a:solidFill>
                  <a:srgbClr val="000000"/>
                </a:solidFill>
                <a:latin typeface="Garamond"/>
              </a:defRPr>
            </a:pPr>
            <a:r>
              <a:rPr lang="en-US" sz="1600" dirty="0"/>
              <a:t>Feeds and Notifications: Provide real-time updates and announcements.</a:t>
            </a:r>
          </a:p>
          <a:p>
            <a:pPr lvl="2">
              <a:defRPr sz="2000">
                <a:solidFill>
                  <a:srgbClr val="000000"/>
                </a:solidFill>
                <a:latin typeface="Garamond"/>
              </a:defRPr>
            </a:pPr>
            <a:r>
              <a:rPr lang="en-US" sz="1600" dirty="0"/>
              <a:t>Groups and Team Workspaces: Collaborate and coordinate on projects.</a:t>
            </a:r>
          </a:p>
          <a:p>
            <a:pPr lvl="2">
              <a:defRPr sz="2000">
                <a:solidFill>
                  <a:srgbClr val="000000"/>
                </a:solidFill>
                <a:latin typeface="Garamond"/>
              </a:defRPr>
            </a:pPr>
            <a:r>
              <a:rPr lang="en-US" sz="1600" dirty="0"/>
              <a:t>Tagging and Social Bookmarking: Organize, classify, and indicate preferences.</a:t>
            </a:r>
          </a:p>
          <a:p>
            <a:pPr lvl="2">
              <a:defRPr sz="2000">
                <a:solidFill>
                  <a:srgbClr val="000000"/>
                </a:solidFill>
                <a:latin typeface="Garamond"/>
              </a:defRPr>
            </a:pPr>
            <a:r>
              <a:rPr lang="en-US" sz="1600" dirty="0"/>
              <a:t>Permissions and Privacy: Secure sensitive information within the right circles.</a:t>
            </a:r>
          </a:p>
          <a:p>
            <a:pPr lvl="1">
              <a:defRPr sz="2000">
                <a:solidFill>
                  <a:srgbClr val="000000"/>
                </a:solidFill>
                <a:latin typeface="Garamond"/>
              </a:defRPr>
            </a:pPr>
            <a:r>
              <a:rPr lang="en-US" sz="2000" i="1" dirty="0"/>
              <a:t>e.g. Salesforce Chatter, Microsoft Viva Engage, etc.</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Virtual Worlds</a:t>
            </a:r>
          </a:p>
          <a:p>
            <a:pPr lvl="1">
              <a:defRPr sz="2000">
                <a:solidFill>
                  <a:srgbClr val="000000"/>
                </a:solidFill>
                <a:latin typeface="Garamond"/>
              </a:defRPr>
            </a:pPr>
            <a:r>
              <a:rPr lang="en-US" sz="2000" dirty="0"/>
              <a:t>Online 3D environments populated by avatars that allow interaction, training, and simulation.</a:t>
            </a:r>
          </a:p>
        </p:txBody>
      </p:sp>
    </p:spTree>
    <p:extLst>
      <p:ext uri="{BB962C8B-B14F-4D97-AF65-F5344CB8AC3E}">
        <p14:creationId xmlns:p14="http://schemas.microsoft.com/office/powerpoint/2010/main" val="1490314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par>
                                <p:cTn id="25" presetID="10"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fade">
                                      <p:cBhvr>
                                        <p:cTn id="27" dur="500"/>
                                        <p:tgtEl>
                                          <p:spTgt spid="3">
                                            <p:txEl>
                                              <p:pRg st="7" end="7"/>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3">
                                            <p:txEl>
                                              <p:pRg st="8" end="8"/>
                                            </p:txEl>
                                          </p:spTgt>
                                        </p:tgtEl>
                                        <p:attrNameLst>
                                          <p:attrName>style.visibility</p:attrName>
                                        </p:attrNameLst>
                                      </p:cBhvr>
                                      <p:to>
                                        <p:strVal val="visible"/>
                                      </p:to>
                                    </p:set>
                                    <p:animEffect transition="in" filter="fade">
                                      <p:cBhvr>
                                        <p:cTn id="30" dur="500"/>
                                        <p:tgtEl>
                                          <p:spTgt spid="3">
                                            <p:txEl>
                                              <p:pRg st="8" end="8"/>
                                            </p:txEl>
                                          </p:spTgt>
                                        </p:tgtEl>
                                      </p:cBhvr>
                                    </p:animEffect>
                                  </p:childTnLst>
                                </p:cTn>
                              </p:par>
                              <p:par>
                                <p:cTn id="31" presetID="10" presetClass="entr" presetSubtype="0" fill="hold" nodeType="with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animEffect transition="in" filter="fade">
                                      <p:cBhvr>
                                        <p:cTn id="33" dur="500"/>
                                        <p:tgtEl>
                                          <p:spTgt spid="3">
                                            <p:txEl>
                                              <p:pRg st="9" end="9"/>
                                            </p:txEl>
                                          </p:spTgt>
                                        </p:tgtEl>
                                      </p:cBhvr>
                                    </p:animEffect>
                                  </p:childTnLst>
                                </p:cTn>
                              </p:par>
                              <p:par>
                                <p:cTn id="34" presetID="10" presetClass="entr" presetSubtype="0" fill="hold" nodeType="withEffect">
                                  <p:stCondLst>
                                    <p:cond delay="0"/>
                                  </p:stCondLst>
                                  <p:childTnLst>
                                    <p:set>
                                      <p:cBhvr>
                                        <p:cTn id="35" dur="1" fill="hold">
                                          <p:stCondLst>
                                            <p:cond delay="0"/>
                                          </p:stCondLst>
                                        </p:cTn>
                                        <p:tgtEl>
                                          <p:spTgt spid="3">
                                            <p:txEl>
                                              <p:pRg st="10" end="10"/>
                                            </p:txEl>
                                          </p:spTgt>
                                        </p:tgtEl>
                                        <p:attrNameLst>
                                          <p:attrName>style.visibility</p:attrName>
                                        </p:attrNameLst>
                                      </p:cBhvr>
                                      <p:to>
                                        <p:strVal val="visible"/>
                                      </p:to>
                                    </p:set>
                                    <p:animEffect transition="in" filter="fade">
                                      <p:cBhvr>
                                        <p:cTn id="36" dur="500"/>
                                        <p:tgtEl>
                                          <p:spTgt spid="3">
                                            <p:txEl>
                                              <p:pRg st="10" end="1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3">
                                            <p:txEl>
                                              <p:pRg st="12" end="12"/>
                                            </p:txEl>
                                          </p:spTgt>
                                        </p:tgtEl>
                                        <p:attrNameLst>
                                          <p:attrName>style.visibility</p:attrName>
                                        </p:attrNameLst>
                                      </p:cBhvr>
                                      <p:to>
                                        <p:strVal val="visible"/>
                                      </p:to>
                                    </p:set>
                                    <p:animEffect transition="in" filter="fade">
                                      <p:cBhvr>
                                        <p:cTn id="41" dur="500"/>
                                        <p:tgtEl>
                                          <p:spTgt spid="3">
                                            <p:txEl>
                                              <p:pRg st="12" end="12"/>
                                            </p:txEl>
                                          </p:spTgt>
                                        </p:tgtEl>
                                      </p:cBhvr>
                                    </p:animEffect>
                                  </p:childTnLst>
                                </p:cTn>
                              </p:par>
                              <p:par>
                                <p:cTn id="42" presetID="10" presetClass="entr" presetSubtype="0" fill="hold" nodeType="withEffect">
                                  <p:stCondLst>
                                    <p:cond delay="0"/>
                                  </p:stCondLst>
                                  <p:childTnLst>
                                    <p:set>
                                      <p:cBhvr>
                                        <p:cTn id="43" dur="1" fill="hold">
                                          <p:stCondLst>
                                            <p:cond delay="0"/>
                                          </p:stCondLst>
                                        </p:cTn>
                                        <p:tgtEl>
                                          <p:spTgt spid="3">
                                            <p:txEl>
                                              <p:pRg st="13" end="13"/>
                                            </p:txEl>
                                          </p:spTgt>
                                        </p:tgtEl>
                                        <p:attrNameLst>
                                          <p:attrName>style.visibility</p:attrName>
                                        </p:attrNameLst>
                                      </p:cBhvr>
                                      <p:to>
                                        <p:strVal val="visible"/>
                                      </p:to>
                                    </p:set>
                                    <p:animEffect transition="in" filter="fade">
                                      <p:cBhvr>
                                        <p:cTn id="44" dur="500"/>
                                        <p:tgtEl>
                                          <p:spTgt spid="3">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3DEDA-8E14-C674-9367-BCFA23E87A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2A8BC45-1F3A-C366-9655-A55DCCB25DD5}"/>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0AA158-E8A3-4879-119B-527E65422BAC}"/>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Social Business Tools: Accenture’s Virtual Offices</a:t>
            </a:r>
          </a:p>
        </p:txBody>
      </p:sp>
      <p:sp>
        <p:nvSpPr>
          <p:cNvPr id="5" name="Rectangle 4">
            <a:extLst>
              <a:ext uri="{FF2B5EF4-FFF2-40B4-BE49-F238E27FC236}">
                <a16:creationId xmlns:a16="http://schemas.microsoft.com/office/drawing/2014/main" id="{E35D8826-B64A-FB21-4588-81E1F02251A9}"/>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B83DB521-BF02-8DDB-9EF8-CD7A7214A137}"/>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6DCA5537-9081-BAD9-0B2D-DDEB84BC334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56</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B7354932-795C-6D0F-DA1E-55B2ABFAB689}"/>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To support onboarding, Accenture created a virtual campus called </a:t>
            </a:r>
            <a:r>
              <a:rPr lang="en-US" sz="2400" i="1" dirty="0"/>
              <a:t>the Nth Floor</a:t>
            </a:r>
            <a:r>
              <a:rPr lang="en-US" sz="2400" dirty="0"/>
              <a:t>.</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Employees, represented by avatars, can move through virtual offices, attend training, meet colleagues, and collaborate.</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By 2022, Accenture had distributed tens of thousands of VR headsets globally.</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The platform helped onboard over 150,000 employees, reducing isolation and supporting shared culture across offices.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Firms are experimenting with immersive technologies to extend collaboration beyond traditional digital tools.</a:t>
            </a:r>
          </a:p>
        </p:txBody>
      </p:sp>
    </p:spTree>
    <p:extLst>
      <p:ext uri="{BB962C8B-B14F-4D97-AF65-F5344CB8AC3E}">
        <p14:creationId xmlns:p14="http://schemas.microsoft.com/office/powerpoint/2010/main" val="869059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E3C79-79A1-9AFA-C64C-79862819F1C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F446ABE-41D0-48A1-B3A5-E5170420009D}"/>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F5DF9E-44A8-030A-B082-A81EEB88812F}"/>
              </a:ext>
            </a:extLst>
          </p:cNvPr>
          <p:cNvSpPr>
            <a:spLocks noGrp="1"/>
          </p:cNvSpPr>
          <p:nvPr>
            <p:ph type="title"/>
          </p:nvPr>
        </p:nvSpPr>
        <p:spPr>
          <a:xfrm>
            <a:off x="0" y="0"/>
            <a:ext cx="12188825" cy="923636"/>
          </a:xfrm>
        </p:spPr>
        <p:txBody>
          <a:bodyPr>
            <a:noAutofit/>
          </a:bodyPr>
          <a:lstStyle/>
          <a:p>
            <a:pPr algn="l">
              <a:defRPr sz="4000" b="1">
                <a:solidFill>
                  <a:srgbClr val="FDB913"/>
                </a:solidFill>
                <a:latin typeface="Garamond"/>
              </a:defRPr>
            </a:pPr>
            <a:r>
              <a:rPr lang="en-US" sz="2400" dirty="0">
                <a:solidFill>
                  <a:schemeClr val="bg1"/>
                </a:solidFill>
              </a:rPr>
              <a:t>  Accenture (2022, April 19). </a:t>
            </a:r>
            <a:r>
              <a:rPr lang="en-US" sz="2400" i="1" dirty="0">
                <a:solidFill>
                  <a:schemeClr val="bg1"/>
                </a:solidFill>
              </a:rPr>
              <a:t>Get a glimpse of the metaverse capabilities at Accenture </a:t>
            </a:r>
            <a:br>
              <a:rPr lang="en-US" sz="2400" i="1" dirty="0">
                <a:solidFill>
                  <a:schemeClr val="bg1"/>
                </a:solidFill>
              </a:rPr>
            </a:br>
            <a:r>
              <a:rPr lang="en-US" sz="2400" i="1" dirty="0">
                <a:solidFill>
                  <a:schemeClr val="bg1"/>
                </a:solidFill>
              </a:rPr>
              <a:t>  </a:t>
            </a:r>
            <a:r>
              <a:rPr lang="en-US" sz="2400" dirty="0">
                <a:solidFill>
                  <a:schemeClr val="bg1"/>
                </a:solidFill>
              </a:rPr>
              <a:t>[Video]. YouTube. https://youtu.be/taRdfhRO9lY?si=uU_WBsuhSGcNV5ol</a:t>
            </a:r>
          </a:p>
        </p:txBody>
      </p:sp>
      <p:sp>
        <p:nvSpPr>
          <p:cNvPr id="5" name="Rectangle 4">
            <a:extLst>
              <a:ext uri="{FF2B5EF4-FFF2-40B4-BE49-F238E27FC236}">
                <a16:creationId xmlns:a16="http://schemas.microsoft.com/office/drawing/2014/main" id="{5BB7D18C-3125-F061-D5CA-1340C4CF1AA6}"/>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A5CE2FC4-7698-8ECB-5593-417EC9029368}"/>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FB7BFF3E-8C85-1ABE-0980-D9710EA65C47}"/>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57</a:t>
            </a:fld>
            <a:r>
              <a:rPr lang="en-US" b="1" dirty="0">
                <a:solidFill>
                  <a:schemeClr val="bg1"/>
                </a:solidFill>
                <a:latin typeface="Garamond" panose="02020404030301010803" pitchFamily="18" charset="0"/>
              </a:rPr>
              <a:t> </a:t>
            </a:r>
          </a:p>
        </p:txBody>
      </p:sp>
      <p:pic>
        <p:nvPicPr>
          <p:cNvPr id="10" name="Online Media 9" title="Get a glimpse of the metaverse capabilities at Accenture">
            <a:hlinkClick r:id="" action="ppaction://media"/>
            <a:extLst>
              <a:ext uri="{FF2B5EF4-FFF2-40B4-BE49-F238E27FC236}">
                <a16:creationId xmlns:a16="http://schemas.microsoft.com/office/drawing/2014/main" id="{DFC9FC67-0D4C-A4FF-1BC6-1A0522776582}"/>
              </a:ext>
            </a:extLst>
          </p:cNvPr>
          <p:cNvPicPr>
            <a:picLocks noRot="1" noChangeAspect="1"/>
          </p:cNvPicPr>
          <p:nvPr>
            <a:videoFile r:link="rId1"/>
          </p:nvPr>
        </p:nvPicPr>
        <p:blipFill>
          <a:blip r:embed="rId4"/>
          <a:stretch>
            <a:fillRect/>
          </a:stretch>
        </p:blipFill>
        <p:spPr>
          <a:xfrm>
            <a:off x="1239190" y="970332"/>
            <a:ext cx="9710442" cy="5486400"/>
          </a:xfrm>
          <a:prstGeom prst="rect">
            <a:avLst/>
          </a:prstGeom>
        </p:spPr>
      </p:pic>
    </p:spTree>
    <p:extLst>
      <p:ext uri="{BB962C8B-B14F-4D97-AF65-F5344CB8AC3E}">
        <p14:creationId xmlns:p14="http://schemas.microsoft.com/office/powerpoint/2010/main" val="832056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0"/>
                </p:tgtEl>
              </p:cMediaNode>
            </p:video>
            <p:seq concurrent="1" nextAc="seek">
              <p:cTn id="8" restart="whenNotActive" fill="hold" evtFilter="cancelBubble" nodeType="interactiveSeq">
                <p:stCondLst>
                  <p:cond evt="onClick" delay="0">
                    <p:tgtEl>
                      <p:spTgt spid="10"/>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C7FAC9-9C73-F19D-7590-1B3BC563E68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4F30DF3-F544-355F-DD5B-7C7BAFBAE32D}"/>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59ED710-8C2B-6AB7-AEB5-568F390C7B69}"/>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Evaluating Collaboration and Social Business Tools</a:t>
            </a:r>
          </a:p>
        </p:txBody>
      </p:sp>
      <p:sp>
        <p:nvSpPr>
          <p:cNvPr id="5" name="Rectangle 4">
            <a:extLst>
              <a:ext uri="{FF2B5EF4-FFF2-40B4-BE49-F238E27FC236}">
                <a16:creationId xmlns:a16="http://schemas.microsoft.com/office/drawing/2014/main" id="{A9A06A1C-0B7A-51D5-22A5-B94332EA434B}"/>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704AC2E2-B72B-784F-BC02-0D614A6B1E73}"/>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E9AF0E58-D4DB-E924-67B8-87987D61753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58</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60F85AD0-69C6-6472-F17A-50B160218DB4}"/>
              </a:ext>
            </a:extLst>
          </p:cNvPr>
          <p:cNvSpPr>
            <a:spLocks noGrp="1"/>
          </p:cNvSpPr>
          <p:nvPr>
            <p:ph idx="1"/>
          </p:nvPr>
        </p:nvSpPr>
        <p:spPr>
          <a:xfrm>
            <a:off x="6674177" y="1300900"/>
            <a:ext cx="4972877" cy="5099900"/>
          </a:xfrm>
        </p:spPr>
        <p:txBody>
          <a:bodyPr>
            <a:normAutofit/>
          </a:bodyPr>
          <a:lstStyle/>
          <a:p>
            <a:pPr>
              <a:defRPr sz="2000">
                <a:solidFill>
                  <a:srgbClr val="000000"/>
                </a:solidFill>
                <a:latin typeface="Garamond"/>
              </a:defRPr>
            </a:pPr>
            <a:r>
              <a:rPr lang="en-US" sz="2400" dirty="0"/>
              <a:t>Managers face many collaboration tools. The challenge is choosing the right one for the task.</a:t>
            </a:r>
          </a:p>
          <a:p>
            <a:pPr>
              <a:defRPr sz="2000">
                <a:solidFill>
                  <a:srgbClr val="000000"/>
                </a:solidFill>
                <a:latin typeface="Garamond"/>
              </a:defRPr>
            </a:pPr>
            <a:endParaRPr lang="en-US" sz="1200" dirty="0"/>
          </a:p>
          <a:p>
            <a:pPr>
              <a:defRPr sz="2000">
                <a:solidFill>
                  <a:srgbClr val="000000"/>
                </a:solidFill>
                <a:latin typeface="Garamond"/>
              </a:defRPr>
            </a:pPr>
            <a:r>
              <a:rPr lang="en-US" sz="2400" dirty="0"/>
              <a:t>The Time/Space Collaboration Tool Matrix provides a framework to begin evaluating which tools best fit the firm’s needs.</a:t>
            </a:r>
            <a:endParaRPr lang="en-US" sz="1200" dirty="0"/>
          </a:p>
          <a:p>
            <a:pPr lvl="1">
              <a:defRPr sz="2000">
                <a:solidFill>
                  <a:srgbClr val="000000"/>
                </a:solidFill>
                <a:latin typeface="Garamond"/>
              </a:defRPr>
            </a:pPr>
            <a:r>
              <a:rPr lang="en-US" sz="2000" dirty="0"/>
              <a:t>A firm with offices in Chicago and Singapore may find videoconferencing difficult, suggesting the need for asynchronous collaboration tools in the different place / different time quadrant.</a:t>
            </a:r>
          </a:p>
        </p:txBody>
      </p:sp>
      <p:pic>
        <p:nvPicPr>
          <p:cNvPr id="8" name="Picture 7" descr="A 2 by 2 matrix explains the time-space collaboration and social tool. Long description available in notes, press f6.">
            <a:extLst>
              <a:ext uri="{FF2B5EF4-FFF2-40B4-BE49-F238E27FC236}">
                <a16:creationId xmlns:a16="http://schemas.microsoft.com/office/drawing/2014/main" id="{B99875AA-4503-1A7C-C364-569D51B673AF}"/>
              </a:ext>
            </a:extLst>
          </p:cNvPr>
          <p:cNvPicPr>
            <a:picLocks noChangeAspect="1"/>
          </p:cNvPicPr>
          <p:nvPr/>
        </p:nvPicPr>
        <p:blipFill>
          <a:blip r:embed="rId3"/>
          <a:stretch>
            <a:fillRect/>
          </a:stretch>
        </p:blipFill>
        <p:spPr>
          <a:xfrm>
            <a:off x="541771" y="1356094"/>
            <a:ext cx="6029325" cy="4714875"/>
          </a:xfrm>
          <a:prstGeom prst="rect">
            <a:avLst/>
          </a:prstGeom>
        </p:spPr>
      </p:pic>
    </p:spTree>
    <p:extLst>
      <p:ext uri="{BB962C8B-B14F-4D97-AF65-F5344CB8AC3E}">
        <p14:creationId xmlns:p14="http://schemas.microsoft.com/office/powerpoint/2010/main" val="3456484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EEB90-B3DE-42AE-F8FA-FA7D80BCC77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E44CBDB-073A-7C06-2AE2-32814B749E2E}"/>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5120215-6F22-85CE-FAAA-9B0FFB39FF90}"/>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Evaluating Collaboration and Social Business Tools</a:t>
            </a:r>
          </a:p>
        </p:txBody>
      </p:sp>
      <p:sp>
        <p:nvSpPr>
          <p:cNvPr id="5" name="Rectangle 4">
            <a:extLst>
              <a:ext uri="{FF2B5EF4-FFF2-40B4-BE49-F238E27FC236}">
                <a16:creationId xmlns:a16="http://schemas.microsoft.com/office/drawing/2014/main" id="{BC5B6B9C-4FBD-1AD1-9D12-089E4ADF0651}"/>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1CACAC33-4166-6D83-6E1A-6935834C1ED1}"/>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D34E8973-DC41-1978-656E-364481AFF0C4}"/>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59</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959F88F4-D670-C033-4BE9-36C6A91134F6}"/>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Six steps in evaluating software tools:</a:t>
            </a:r>
          </a:p>
          <a:p>
            <a:pPr marL="857250" lvl="1" indent="-457200">
              <a:buFont typeface="+mj-lt"/>
              <a:buAutoNum type="arabicPeriod"/>
              <a:defRPr sz="2000">
                <a:solidFill>
                  <a:srgbClr val="000000"/>
                </a:solidFill>
                <a:latin typeface="Garamond"/>
              </a:defRPr>
            </a:pPr>
            <a:r>
              <a:rPr lang="en-US" sz="2000" dirty="0"/>
              <a:t>Identify your firm’s collaboration challenges (Define the problem)</a:t>
            </a:r>
            <a:endParaRPr lang="en-US" sz="800" dirty="0"/>
          </a:p>
          <a:p>
            <a:pPr marL="857250" lvl="1" indent="-457200">
              <a:buFont typeface="+mj-lt"/>
              <a:buAutoNum type="arabicPeriod"/>
              <a:defRPr sz="2000">
                <a:solidFill>
                  <a:srgbClr val="000000"/>
                </a:solidFill>
                <a:latin typeface="Garamond"/>
              </a:defRPr>
            </a:pPr>
            <a:r>
              <a:rPr lang="en-US" sz="2000" dirty="0"/>
              <a:t>Identify what kinds of solutions are available (Identify potential solutions)</a:t>
            </a:r>
            <a:endParaRPr lang="en-US" sz="800" dirty="0"/>
          </a:p>
          <a:p>
            <a:pPr marL="857250" lvl="1" indent="-457200">
              <a:buFont typeface="+mj-lt"/>
              <a:buAutoNum type="arabicPeriod"/>
              <a:defRPr sz="2000">
                <a:solidFill>
                  <a:srgbClr val="000000"/>
                </a:solidFill>
                <a:latin typeface="Garamond"/>
              </a:defRPr>
            </a:pPr>
            <a:r>
              <a:rPr lang="en-US" sz="2000" dirty="0"/>
              <a:t>Analyze available products’ costs and benefits (Economic evaluation)</a:t>
            </a:r>
            <a:endParaRPr lang="en-US" sz="800" dirty="0"/>
          </a:p>
          <a:p>
            <a:pPr marL="857250" lvl="1" indent="-457200">
              <a:buFont typeface="+mj-lt"/>
              <a:buAutoNum type="arabicPeriod"/>
              <a:defRPr sz="2000">
                <a:solidFill>
                  <a:srgbClr val="000000"/>
                </a:solidFill>
                <a:latin typeface="Garamond"/>
              </a:defRPr>
            </a:pPr>
            <a:r>
              <a:rPr lang="en-US" sz="2000" dirty="0"/>
              <a:t>Evaluate security risks (Risk assessment)</a:t>
            </a:r>
            <a:endParaRPr lang="en-US" sz="800" dirty="0"/>
          </a:p>
          <a:p>
            <a:pPr marL="857250" lvl="1" indent="-457200">
              <a:buFont typeface="+mj-lt"/>
              <a:buAutoNum type="arabicPeriod"/>
              <a:defRPr sz="2000">
                <a:solidFill>
                  <a:srgbClr val="000000"/>
                </a:solidFill>
                <a:latin typeface="Garamond"/>
              </a:defRPr>
            </a:pPr>
            <a:r>
              <a:rPr lang="en-US" sz="2000" dirty="0"/>
              <a:t>Consult users for implementation and training issues (Organizational fit)</a:t>
            </a:r>
            <a:endParaRPr lang="en-US" sz="800" dirty="0"/>
          </a:p>
          <a:p>
            <a:pPr marL="857250" lvl="1" indent="-457200">
              <a:buFont typeface="+mj-lt"/>
              <a:buAutoNum type="arabicPeriod"/>
              <a:defRPr sz="2000">
                <a:solidFill>
                  <a:srgbClr val="000000"/>
                </a:solidFill>
                <a:latin typeface="Garamond"/>
              </a:defRPr>
            </a:pPr>
            <a:r>
              <a:rPr lang="en-US" sz="2000" dirty="0"/>
              <a:t>Evaluate product vendors (Vendor reliability)</a:t>
            </a:r>
          </a:p>
          <a:p>
            <a:pPr marL="1714500" lvl="3" indent="-457200">
              <a:buFont typeface="+mj-lt"/>
              <a:buAutoNum type="arabicPeriod"/>
              <a:defRPr sz="2000">
                <a:solidFill>
                  <a:srgbClr val="000000"/>
                </a:solidFill>
                <a:latin typeface="Garamond"/>
              </a:defRPr>
            </a:pPr>
            <a:endParaRPr lang="en-US" sz="1200" dirty="0"/>
          </a:p>
          <a:p>
            <a:pPr>
              <a:defRPr sz="2000">
                <a:solidFill>
                  <a:srgbClr val="000000"/>
                </a:solidFill>
                <a:latin typeface="Garamond"/>
              </a:defRPr>
            </a:pPr>
            <a:r>
              <a:rPr lang="en-US" sz="2400" dirty="0"/>
              <a:t>In addition to selecting the right tools for collaboration, organizations must also ensure that knowledge needed for collaboration, decision-making, and ongoing operations is readily available.</a:t>
            </a:r>
          </a:p>
        </p:txBody>
      </p:sp>
    </p:spTree>
    <p:extLst>
      <p:ext uri="{BB962C8B-B14F-4D97-AF65-F5344CB8AC3E}">
        <p14:creationId xmlns:p14="http://schemas.microsoft.com/office/powerpoint/2010/main" val="1808838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500"/>
                                        <p:tgtEl>
                                          <p:spTgt spid="3">
                                            <p:txEl>
                                              <p:pRg st="3" end="3"/>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par>
                          <p:cTn id="28" fill="hold">
                            <p:stCondLst>
                              <p:cond delay="3000"/>
                            </p:stCondLst>
                            <p:childTnLst>
                              <p:par>
                                <p:cTn id="29" presetID="10" presetClass="entr" presetSubtype="0" fill="hold" nodeType="after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animEffect transition="in" filter="fade">
                                      <p:cBhvr>
                                        <p:cTn id="31" dur="500"/>
                                        <p:tgtEl>
                                          <p:spTgt spid="3">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3">
                                            <p:txEl>
                                              <p:pRg st="8" end="8"/>
                                            </p:txEl>
                                          </p:spTgt>
                                        </p:tgtEl>
                                        <p:attrNameLst>
                                          <p:attrName>style.visibility</p:attrName>
                                        </p:attrNameLst>
                                      </p:cBhvr>
                                      <p:to>
                                        <p:strVal val="visible"/>
                                      </p:to>
                                    </p:set>
                                    <p:animEffect transition="in" filter="fade">
                                      <p:cBhvr>
                                        <p:cTn id="36"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EAD4-666B-1B73-97DD-875D1E011B0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464A6AB-336A-2F7F-3E4B-1F2EED284CE0}"/>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FC4089-EAAA-F5A5-67CA-30681BED9A40}"/>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Social Interaction to Organizational Knowledge</a:t>
            </a:r>
          </a:p>
        </p:txBody>
      </p:sp>
      <p:sp>
        <p:nvSpPr>
          <p:cNvPr id="5" name="Rectangle 4">
            <a:extLst>
              <a:ext uri="{FF2B5EF4-FFF2-40B4-BE49-F238E27FC236}">
                <a16:creationId xmlns:a16="http://schemas.microsoft.com/office/drawing/2014/main" id="{676FFB12-B7E6-5948-E361-B16233343969}"/>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33AF0DFF-D0CA-6467-4711-E8D10C56574B}"/>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F84BC98C-217E-1F80-BA04-0B9AC7A33A09}"/>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60</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9D8DC622-4CE7-316D-1296-BDBC78321BA4}"/>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Social business tools encourage conversation, feedback, and participation.</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But conversations are often temporary and easily lost.</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Firms also need to capture, organize, and preserve what they learn.</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Knowledge management systems turn experience into organizational memory.</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The goal is not just to connect people, but to retain what the organization knows</a:t>
            </a:r>
          </a:p>
        </p:txBody>
      </p:sp>
    </p:spTree>
    <p:extLst>
      <p:ext uri="{BB962C8B-B14F-4D97-AF65-F5344CB8AC3E}">
        <p14:creationId xmlns:p14="http://schemas.microsoft.com/office/powerpoint/2010/main" val="42490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DBB67E5A-BE4F-FC9F-7FBE-655B16E81EB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E2AC02E-7E96-BDAD-9152-5AFAE86372EF}"/>
              </a:ext>
            </a:extLst>
          </p:cNvPr>
          <p:cNvSpPr txBox="1"/>
          <p:nvPr/>
        </p:nvSpPr>
        <p:spPr>
          <a:xfrm>
            <a:off x="-1" y="3044279"/>
            <a:ext cx="12188825" cy="769441"/>
          </a:xfrm>
          <a:prstGeom prst="rect">
            <a:avLst/>
          </a:prstGeom>
          <a:noFill/>
        </p:spPr>
        <p:txBody>
          <a:bodyPr wrap="square">
            <a:spAutoFit/>
          </a:bodyPr>
          <a:lstStyle/>
          <a:p>
            <a:pPr algn="ctr">
              <a:defRPr sz="4000" b="1">
                <a:solidFill>
                  <a:srgbClr val="FDB913"/>
                </a:solidFill>
                <a:latin typeface="Garamond"/>
              </a:defRPr>
            </a:pPr>
            <a:r>
              <a:rPr lang="en-US" sz="4400" dirty="0">
                <a:solidFill>
                  <a:schemeClr val="bg1"/>
                </a:solidFill>
              </a:rPr>
              <a:t>Knowledge Management Systems</a:t>
            </a:r>
            <a:endParaRPr sz="4400" dirty="0">
              <a:solidFill>
                <a:schemeClr val="bg1"/>
              </a:solidFill>
            </a:endParaRPr>
          </a:p>
        </p:txBody>
      </p:sp>
    </p:spTree>
    <p:extLst>
      <p:ext uri="{BB962C8B-B14F-4D97-AF65-F5344CB8AC3E}">
        <p14:creationId xmlns:p14="http://schemas.microsoft.com/office/powerpoint/2010/main" val="12169093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940EA-C7EA-BAFD-F4D4-035D9B4F18B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2B87AA4-948C-A72E-9769-86A2618972BD}"/>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9B54BE-69C6-A04C-F1FA-D978CFB9DA76}"/>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Knowledge Management</a:t>
            </a:r>
          </a:p>
        </p:txBody>
      </p:sp>
      <p:sp>
        <p:nvSpPr>
          <p:cNvPr id="5" name="Rectangle 4">
            <a:extLst>
              <a:ext uri="{FF2B5EF4-FFF2-40B4-BE49-F238E27FC236}">
                <a16:creationId xmlns:a16="http://schemas.microsoft.com/office/drawing/2014/main" id="{DD35C6DE-7ED8-4C5F-9644-59432DF5B1E0}"/>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19D4DBDD-09D8-1179-FF50-21F1FCD21309}"/>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2A0E8B08-0F6C-FF7B-9E56-EE71D8B69D89}"/>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62</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666CC277-ECE4-DC8D-3C08-10FB41564538}"/>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b="1" dirty="0"/>
              <a:t>Knowledge Management</a:t>
            </a:r>
            <a:r>
              <a:rPr lang="en-US" sz="2400" dirty="0"/>
              <a:t> refers to the processes used to create, store, share, and apply an organization’s knowledge.</a:t>
            </a:r>
          </a:p>
          <a:p>
            <a:pPr lvl="3">
              <a:defRPr sz="2000">
                <a:solidFill>
                  <a:srgbClr val="000000"/>
                </a:solidFill>
                <a:latin typeface="Garamond"/>
              </a:defRPr>
            </a:pPr>
            <a:endParaRPr lang="en-US" sz="800" dirty="0"/>
          </a:p>
          <a:p>
            <a:pPr>
              <a:defRPr sz="2000">
                <a:solidFill>
                  <a:srgbClr val="000000"/>
                </a:solidFill>
                <a:latin typeface="Garamond"/>
              </a:defRPr>
            </a:pPr>
            <a:r>
              <a:rPr lang="en-US" sz="2400" b="1" dirty="0"/>
              <a:t>Knowledge-based Core Competencies </a:t>
            </a:r>
            <a:r>
              <a:rPr lang="en-US" sz="2400" dirty="0"/>
              <a:t>are the few things that an organization does exceptionally well, giving it a competitive advantage.</a:t>
            </a:r>
          </a:p>
          <a:p>
            <a:pPr lvl="1">
              <a:defRPr sz="2000">
                <a:solidFill>
                  <a:srgbClr val="000000"/>
                </a:solidFill>
                <a:latin typeface="Garamond"/>
              </a:defRPr>
            </a:pPr>
            <a:r>
              <a:rPr lang="en-US" sz="2000" dirty="0"/>
              <a:t>A unique build-to-order production system (Dell’s direct-to-consumer model)</a:t>
            </a:r>
          </a:p>
          <a:p>
            <a:pPr lvl="1">
              <a:defRPr sz="2000">
                <a:solidFill>
                  <a:srgbClr val="000000"/>
                </a:solidFill>
                <a:latin typeface="Garamond"/>
              </a:defRPr>
            </a:pPr>
            <a:r>
              <a:rPr lang="en-US" sz="2000" dirty="0"/>
              <a:t>Proprietary algorithms (Netflix’s viewing data analytics and recommendations)</a:t>
            </a:r>
          </a:p>
          <a:p>
            <a:pPr lvl="1">
              <a:defRPr sz="2000">
                <a:solidFill>
                  <a:srgbClr val="000000"/>
                </a:solidFill>
                <a:latin typeface="Garamond"/>
              </a:defRPr>
            </a:pPr>
            <a:r>
              <a:rPr lang="en-US" sz="2000" dirty="0"/>
              <a:t>World-class logistics and supply chain system (Amazon’s fulfillment network)</a:t>
            </a:r>
          </a:p>
          <a:p>
            <a:pPr lvl="1">
              <a:defRPr sz="2000">
                <a:solidFill>
                  <a:srgbClr val="000000"/>
                </a:solidFill>
                <a:latin typeface="Garamond"/>
              </a:defRPr>
            </a:pPr>
            <a:r>
              <a:rPr lang="en-US" sz="2000" dirty="0"/>
              <a:t>Highly efficient manufacturing process (Toyota’s lean production system)</a:t>
            </a:r>
          </a:p>
          <a:p>
            <a:pPr lvl="3">
              <a:defRPr sz="2000">
                <a:solidFill>
                  <a:srgbClr val="000000"/>
                </a:solidFill>
                <a:latin typeface="Garamond"/>
              </a:defRPr>
            </a:pPr>
            <a:endParaRPr lang="en-US" sz="800" dirty="0"/>
          </a:p>
          <a:p>
            <a:pPr>
              <a:defRPr sz="2000">
                <a:solidFill>
                  <a:srgbClr val="000000"/>
                </a:solidFill>
                <a:latin typeface="Garamond"/>
              </a:defRPr>
            </a:pPr>
            <a:r>
              <a:rPr lang="en-US" sz="2400" dirty="0"/>
              <a:t>Types of Knowledge</a:t>
            </a:r>
          </a:p>
          <a:p>
            <a:pPr lvl="1">
              <a:defRPr sz="2000">
                <a:solidFill>
                  <a:srgbClr val="000000"/>
                </a:solidFill>
                <a:latin typeface="Garamond"/>
              </a:defRPr>
            </a:pPr>
            <a:r>
              <a:rPr lang="en-US" sz="2000" dirty="0"/>
              <a:t>Structured Knowledge: Formal documents and reports.</a:t>
            </a:r>
          </a:p>
          <a:p>
            <a:pPr lvl="1">
              <a:defRPr sz="2000">
                <a:solidFill>
                  <a:srgbClr val="000000"/>
                </a:solidFill>
                <a:latin typeface="Garamond"/>
              </a:defRPr>
            </a:pPr>
            <a:r>
              <a:rPr lang="en-US" sz="2000" dirty="0"/>
              <a:t>Tacit Knowledge: Undocumented experience and expertise.</a:t>
            </a:r>
          </a:p>
          <a:p>
            <a:pPr lvl="1">
              <a:defRPr sz="2000">
                <a:solidFill>
                  <a:srgbClr val="000000"/>
                </a:solidFill>
                <a:latin typeface="Garamond"/>
              </a:defRPr>
            </a:pPr>
            <a:r>
              <a:rPr lang="en-US" sz="2000" dirty="0"/>
              <a:t>Explicit Knowledge: Documented and codified knowledge.</a:t>
            </a:r>
            <a:endParaRPr lang="en-US" sz="2400" dirty="0"/>
          </a:p>
          <a:p>
            <a:pPr>
              <a:defRPr sz="2000">
                <a:solidFill>
                  <a:srgbClr val="000000"/>
                </a:solidFill>
                <a:latin typeface="Garamond"/>
              </a:defRPr>
            </a:pPr>
            <a:endParaRPr lang="en-US" sz="2400" dirty="0"/>
          </a:p>
        </p:txBody>
      </p:sp>
    </p:spTree>
    <p:extLst>
      <p:ext uri="{BB962C8B-B14F-4D97-AF65-F5344CB8AC3E}">
        <p14:creationId xmlns:p14="http://schemas.microsoft.com/office/powerpoint/2010/main" val="1267078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500"/>
                                        <p:tgtEl>
                                          <p:spTgt spid="3">
                                            <p:txEl>
                                              <p:pRg st="10" end="10"/>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3">
                                            <p:txEl>
                                              <p:pRg st="11" end="11"/>
                                            </p:txEl>
                                          </p:spTgt>
                                        </p:tgtEl>
                                        <p:attrNameLst>
                                          <p:attrName>style.visibility</p:attrName>
                                        </p:attrNameLst>
                                      </p:cBhvr>
                                      <p:to>
                                        <p:strVal val="visible"/>
                                      </p:to>
                                    </p:set>
                                    <p:animEffect transition="in" filter="fade">
                                      <p:cBhvr>
                                        <p:cTn id="38"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89C4E-AABB-390A-BE84-80FFBD752A2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3B13101-7A19-BB32-B6CE-7C8EBF7D9E94}"/>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E196DC-A1A2-EA2D-3A2A-20562D6C6F78}"/>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Knowledge Management Systems</a:t>
            </a:r>
          </a:p>
        </p:txBody>
      </p:sp>
      <p:sp>
        <p:nvSpPr>
          <p:cNvPr id="5" name="Rectangle 4">
            <a:extLst>
              <a:ext uri="{FF2B5EF4-FFF2-40B4-BE49-F238E27FC236}">
                <a16:creationId xmlns:a16="http://schemas.microsoft.com/office/drawing/2014/main" id="{46D2FD33-AD9F-55D9-E151-2DC39FD25A50}"/>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130856D2-8C05-DADF-1EBD-D913F62A6A09}"/>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A5ABAB1C-0736-0EF2-7EB2-627ADBB1EE81}"/>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63</a:t>
            </a:fld>
            <a:r>
              <a:rPr lang="en-US" b="1" dirty="0">
                <a:solidFill>
                  <a:schemeClr val="bg1"/>
                </a:solidFill>
                <a:latin typeface="Garamond" panose="02020404030301010803" pitchFamily="18" charset="0"/>
              </a:rPr>
              <a:t> </a:t>
            </a:r>
          </a:p>
        </p:txBody>
      </p:sp>
      <p:pic>
        <p:nvPicPr>
          <p:cNvPr id="8" name="Picture 7" descr="An infographic outlines three main categories related to knowledge management systems. Long description available in notes, press f6.">
            <a:extLst>
              <a:ext uri="{FF2B5EF4-FFF2-40B4-BE49-F238E27FC236}">
                <a16:creationId xmlns:a16="http://schemas.microsoft.com/office/drawing/2014/main" id="{2C343A71-4B32-1DE4-3179-4AD334A352D6}"/>
              </a:ext>
            </a:extLst>
          </p:cNvPr>
          <p:cNvPicPr>
            <a:picLocks noChangeAspect="1"/>
          </p:cNvPicPr>
          <p:nvPr/>
        </p:nvPicPr>
        <p:blipFill>
          <a:blip r:embed="rId3"/>
          <a:stretch>
            <a:fillRect/>
          </a:stretch>
        </p:blipFill>
        <p:spPr>
          <a:xfrm>
            <a:off x="1839748" y="2276475"/>
            <a:ext cx="8229600" cy="4124325"/>
          </a:xfrm>
          <a:prstGeom prst="rect">
            <a:avLst/>
          </a:prstGeom>
        </p:spPr>
      </p:pic>
      <p:sp>
        <p:nvSpPr>
          <p:cNvPr id="9" name="Content Placeholder 2">
            <a:extLst>
              <a:ext uri="{FF2B5EF4-FFF2-40B4-BE49-F238E27FC236}">
                <a16:creationId xmlns:a16="http://schemas.microsoft.com/office/drawing/2014/main" id="{2459A522-7126-F053-92E1-D7D72DA79751}"/>
              </a:ext>
            </a:extLst>
          </p:cNvPr>
          <p:cNvSpPr txBox="1">
            <a:spLocks/>
          </p:cNvSpPr>
          <p:nvPr/>
        </p:nvSpPr>
        <p:spPr>
          <a:xfrm>
            <a:off x="457199" y="1300900"/>
            <a:ext cx="11189855" cy="5099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defRPr sz="2000">
                <a:solidFill>
                  <a:srgbClr val="000000"/>
                </a:solidFill>
                <a:latin typeface="Garamond"/>
              </a:defRPr>
            </a:pPr>
            <a:r>
              <a:rPr lang="en-US" sz="2400" dirty="0">
                <a:solidFill>
                  <a:srgbClr val="000000"/>
                </a:solidFill>
                <a:latin typeface="Garamond"/>
              </a:rPr>
              <a:t>KMS are systems that store, search, and organize knowledge, and help locate expertise within the firm.</a:t>
            </a:r>
          </a:p>
          <a:p>
            <a:pPr lvl="3">
              <a:defRPr sz="2000">
                <a:solidFill>
                  <a:srgbClr val="000000"/>
                </a:solidFill>
                <a:latin typeface="Garamond"/>
              </a:defRPr>
            </a:pPr>
            <a:endParaRPr lang="en-US" sz="1200" dirty="0">
              <a:solidFill>
                <a:srgbClr val="000000"/>
              </a:solidFill>
              <a:latin typeface="Garamond"/>
            </a:endParaRPr>
          </a:p>
        </p:txBody>
      </p:sp>
    </p:spTree>
    <p:extLst>
      <p:ext uri="{BB962C8B-B14F-4D97-AF65-F5344CB8AC3E}">
        <p14:creationId xmlns:p14="http://schemas.microsoft.com/office/powerpoint/2010/main" val="383585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74AFAB-FF32-D336-49AC-55EDE4124A2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C5EC9D-3C11-B062-645F-0D9F58637E92}"/>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B141A4-462D-B5C3-D4B2-CB3D18C06A4D}"/>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Enterprise-wide KMS</a:t>
            </a:r>
          </a:p>
        </p:txBody>
      </p:sp>
      <p:sp>
        <p:nvSpPr>
          <p:cNvPr id="5" name="Rectangle 4">
            <a:extLst>
              <a:ext uri="{FF2B5EF4-FFF2-40B4-BE49-F238E27FC236}">
                <a16:creationId xmlns:a16="http://schemas.microsoft.com/office/drawing/2014/main" id="{16B09349-C253-7E03-7F92-A4F6E3540911}"/>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74686494-6231-3DE2-3D4D-5B6B6740F6FC}"/>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9374FDD8-BE18-C722-790B-3CAC7C304BDA}"/>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64</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A859A302-CD5F-13F9-52F8-F4BCD7AE01EC}"/>
              </a:ext>
            </a:extLst>
          </p:cNvPr>
          <p:cNvSpPr>
            <a:spLocks noGrp="1"/>
          </p:cNvSpPr>
          <p:nvPr>
            <p:ph idx="1"/>
          </p:nvPr>
        </p:nvSpPr>
        <p:spPr>
          <a:xfrm>
            <a:off x="7456602" y="1300900"/>
            <a:ext cx="4190452" cy="5099900"/>
          </a:xfrm>
        </p:spPr>
        <p:txBody>
          <a:bodyPr>
            <a:normAutofit/>
          </a:bodyPr>
          <a:lstStyle/>
          <a:p>
            <a:pPr>
              <a:defRPr sz="2000">
                <a:solidFill>
                  <a:srgbClr val="000000"/>
                </a:solidFill>
                <a:latin typeface="Garamond"/>
              </a:defRPr>
            </a:pPr>
            <a:r>
              <a:rPr lang="en-US" sz="2400" b="1" dirty="0"/>
              <a:t>Enterprise Content Management </a:t>
            </a:r>
            <a:r>
              <a:rPr lang="en-US" sz="2400" dirty="0"/>
              <a:t>(ECM) Systems</a:t>
            </a:r>
          </a:p>
          <a:p>
            <a:pPr lvl="1">
              <a:defRPr sz="2000">
                <a:solidFill>
                  <a:srgbClr val="000000"/>
                </a:solidFill>
                <a:latin typeface="Garamond"/>
              </a:defRPr>
            </a:pPr>
            <a:r>
              <a:rPr lang="en-US" sz="2000" dirty="0"/>
              <a:t>Manage structured, semi-structured, and unstructured information.</a:t>
            </a:r>
          </a:p>
          <a:p>
            <a:pPr lvl="1">
              <a:defRPr sz="2000">
                <a:solidFill>
                  <a:srgbClr val="000000"/>
                </a:solidFill>
                <a:latin typeface="Garamond"/>
              </a:defRPr>
            </a:pPr>
            <a:r>
              <a:rPr lang="en-US" sz="2000" dirty="0"/>
              <a:t>Provide a unified repository for organizational content.</a:t>
            </a:r>
          </a:p>
          <a:p>
            <a:pPr lvl="1">
              <a:defRPr sz="2000">
                <a:solidFill>
                  <a:srgbClr val="000000"/>
                </a:solidFill>
                <a:latin typeface="Garamond"/>
              </a:defRPr>
            </a:pPr>
            <a:r>
              <a:rPr lang="en-US" sz="2000" dirty="0"/>
              <a:t>Use taxonomy and tagging to organize and retrieve knowledge efficiently.</a:t>
            </a:r>
          </a:p>
          <a:p>
            <a:pPr lvl="1">
              <a:defRPr sz="2000">
                <a:solidFill>
                  <a:srgbClr val="000000"/>
                </a:solidFill>
                <a:latin typeface="Garamond"/>
              </a:defRPr>
            </a:pPr>
            <a:endParaRPr lang="en-US" sz="2000" dirty="0"/>
          </a:p>
          <a:p>
            <a:pPr lvl="3">
              <a:defRPr sz="2000">
                <a:solidFill>
                  <a:srgbClr val="000000"/>
                </a:solidFill>
                <a:latin typeface="Garamond"/>
              </a:defRPr>
            </a:pPr>
            <a:endParaRPr lang="en-US" sz="1200" dirty="0"/>
          </a:p>
          <a:p>
            <a:pPr>
              <a:defRPr sz="2000">
                <a:solidFill>
                  <a:srgbClr val="000000"/>
                </a:solidFill>
                <a:latin typeface="Garamond"/>
              </a:defRPr>
            </a:pPr>
            <a:endParaRPr lang="en-US" sz="2400" dirty="0"/>
          </a:p>
        </p:txBody>
      </p:sp>
      <p:pic>
        <p:nvPicPr>
          <p:cNvPr id="8" name="Picture 7" descr="A linear flow diagram explains the concept of an enterprise content management system. Long description available in notes, press f6.">
            <a:extLst>
              <a:ext uri="{FF2B5EF4-FFF2-40B4-BE49-F238E27FC236}">
                <a16:creationId xmlns:a16="http://schemas.microsoft.com/office/drawing/2014/main" id="{3798BD0E-A930-EBC6-4C07-16197139BB97}"/>
              </a:ext>
            </a:extLst>
          </p:cNvPr>
          <p:cNvPicPr>
            <a:picLocks noChangeAspect="1"/>
          </p:cNvPicPr>
          <p:nvPr/>
        </p:nvPicPr>
        <p:blipFill>
          <a:blip r:embed="rId3"/>
          <a:stretch>
            <a:fillRect/>
          </a:stretch>
        </p:blipFill>
        <p:spPr>
          <a:xfrm>
            <a:off x="541771" y="1370818"/>
            <a:ext cx="6770255" cy="4572000"/>
          </a:xfrm>
          <a:prstGeom prst="rect">
            <a:avLst/>
          </a:prstGeom>
        </p:spPr>
      </p:pic>
    </p:spTree>
    <p:extLst>
      <p:ext uri="{BB962C8B-B14F-4D97-AF65-F5344CB8AC3E}">
        <p14:creationId xmlns:p14="http://schemas.microsoft.com/office/powerpoint/2010/main" val="1302323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Effect transition="in" filter="fade">
                                      <p:cBhvr>
                                        <p:cTn id="13" dur="500"/>
                                        <p:tgtEl>
                                          <p:spTgt spid="3">
                                            <p:txEl>
                                              <p:pRg st="1" end="1"/>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fade">
                                      <p:cBhvr>
                                        <p:cTn id="16" dur="500"/>
                                        <p:tgtEl>
                                          <p:spTgt spid="3">
                                            <p:txEl>
                                              <p:pRg st="2" end="2"/>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8B098-44D0-1215-AEB0-C3AFCDB0FA7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70990C5-9DCC-D7B2-CBE0-B0E816D78A1B}"/>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087E6D-A643-5C26-BD66-F7F4D5836618}"/>
              </a:ext>
            </a:extLst>
          </p:cNvPr>
          <p:cNvSpPr>
            <a:spLocks noGrp="1"/>
          </p:cNvSpPr>
          <p:nvPr>
            <p:ph type="title"/>
          </p:nvPr>
        </p:nvSpPr>
        <p:spPr>
          <a:xfrm>
            <a:off x="0" y="0"/>
            <a:ext cx="12188825" cy="923636"/>
          </a:xfrm>
        </p:spPr>
        <p:txBody>
          <a:bodyPr>
            <a:noAutofit/>
          </a:bodyPr>
          <a:lstStyle/>
          <a:p>
            <a:pPr algn="l">
              <a:defRPr sz="4000" b="1">
                <a:solidFill>
                  <a:srgbClr val="FDB913"/>
                </a:solidFill>
                <a:latin typeface="Garamond"/>
              </a:defRPr>
            </a:pPr>
            <a:r>
              <a:rPr lang="en-US" sz="2400" dirty="0">
                <a:solidFill>
                  <a:schemeClr val="bg1"/>
                </a:solidFill>
              </a:rPr>
              <a:t>  OpenText (2018, April 18). </a:t>
            </a:r>
            <a:r>
              <a:rPr lang="en-US" sz="2400" i="1" dirty="0">
                <a:solidFill>
                  <a:schemeClr val="bg1"/>
                </a:solidFill>
              </a:rPr>
              <a:t>Enterprise Content Management Systems | OpenText Extended </a:t>
            </a:r>
            <a:br>
              <a:rPr lang="en-US" sz="2400" i="1" dirty="0">
                <a:solidFill>
                  <a:schemeClr val="bg1"/>
                </a:solidFill>
              </a:rPr>
            </a:br>
            <a:r>
              <a:rPr lang="en-US" sz="2400" i="1" dirty="0">
                <a:solidFill>
                  <a:schemeClr val="bg1"/>
                </a:solidFill>
              </a:rPr>
              <a:t>  ECM Platform </a:t>
            </a:r>
            <a:r>
              <a:rPr lang="en-US" sz="2400" dirty="0">
                <a:solidFill>
                  <a:schemeClr val="bg1"/>
                </a:solidFill>
              </a:rPr>
              <a:t>[Video]. YouTube. https://youtu.be/mDPbrvbAves?si=h03Q4JjuaFMhTtGi</a:t>
            </a:r>
          </a:p>
        </p:txBody>
      </p:sp>
      <p:sp>
        <p:nvSpPr>
          <p:cNvPr id="5" name="Rectangle 4">
            <a:extLst>
              <a:ext uri="{FF2B5EF4-FFF2-40B4-BE49-F238E27FC236}">
                <a16:creationId xmlns:a16="http://schemas.microsoft.com/office/drawing/2014/main" id="{BAD80442-2787-4FC0-BD81-5BAE5F501298}"/>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88660D75-8AE7-8DA5-F5B6-FF914193B187}"/>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7D114B15-12BD-CA8B-8C14-8A071D6FF22F}"/>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65</a:t>
            </a:fld>
            <a:r>
              <a:rPr lang="en-US" b="1" dirty="0">
                <a:solidFill>
                  <a:schemeClr val="bg1"/>
                </a:solidFill>
                <a:latin typeface="Garamond" panose="02020404030301010803" pitchFamily="18" charset="0"/>
              </a:rPr>
              <a:t> </a:t>
            </a:r>
          </a:p>
        </p:txBody>
      </p:sp>
      <p:pic>
        <p:nvPicPr>
          <p:cNvPr id="11" name="Online Media 10" title="Enterprise Content Management Systems | OpenText Extended ECM Platform">
            <a:hlinkClick r:id="" action="ppaction://media"/>
            <a:extLst>
              <a:ext uri="{FF2B5EF4-FFF2-40B4-BE49-F238E27FC236}">
                <a16:creationId xmlns:a16="http://schemas.microsoft.com/office/drawing/2014/main" id="{531F42FC-EB2F-FFF3-7A2E-39D274ADBCB4}"/>
              </a:ext>
            </a:extLst>
          </p:cNvPr>
          <p:cNvPicPr>
            <a:picLocks noRot="1" noChangeAspect="1"/>
          </p:cNvPicPr>
          <p:nvPr>
            <a:videoFile r:link="rId1"/>
          </p:nvPr>
        </p:nvPicPr>
        <p:blipFill>
          <a:blip r:embed="rId4"/>
          <a:stretch>
            <a:fillRect/>
          </a:stretch>
        </p:blipFill>
        <p:spPr>
          <a:xfrm>
            <a:off x="1239190" y="970332"/>
            <a:ext cx="9710442" cy="5486400"/>
          </a:xfrm>
          <a:prstGeom prst="rect">
            <a:avLst/>
          </a:prstGeom>
        </p:spPr>
      </p:pic>
    </p:spTree>
    <p:extLst>
      <p:ext uri="{BB962C8B-B14F-4D97-AF65-F5344CB8AC3E}">
        <p14:creationId xmlns:p14="http://schemas.microsoft.com/office/powerpoint/2010/main" val="191175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1"/>
                </p:tgtEl>
              </p:cMediaNode>
            </p:video>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69E5E-A792-DD5B-CA2B-4D04E380A88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625207F-9DF9-C726-4A5F-8DED671F6D62}"/>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5C048F-4D9D-0669-A9D4-5C71C78F4C25}"/>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Knowledge Work Systems</a:t>
            </a:r>
          </a:p>
        </p:txBody>
      </p:sp>
      <p:sp>
        <p:nvSpPr>
          <p:cNvPr id="5" name="Rectangle 4">
            <a:extLst>
              <a:ext uri="{FF2B5EF4-FFF2-40B4-BE49-F238E27FC236}">
                <a16:creationId xmlns:a16="http://schemas.microsoft.com/office/drawing/2014/main" id="{0857057B-6620-D9C3-41C3-EEDBF2DB21DE}"/>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49454F4B-73D5-C1F5-6031-275CE0CC72DC}"/>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1204E755-613E-B63A-0E59-F49B7E72074B}"/>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66</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03A0BA9D-134E-0BF5-2821-DEA2FF62268C}"/>
              </a:ext>
            </a:extLst>
          </p:cNvPr>
          <p:cNvSpPr>
            <a:spLocks noGrp="1"/>
          </p:cNvSpPr>
          <p:nvPr>
            <p:ph idx="1"/>
          </p:nvPr>
        </p:nvSpPr>
        <p:spPr>
          <a:xfrm>
            <a:off x="6815578" y="1300900"/>
            <a:ext cx="4831475" cy="5099900"/>
          </a:xfrm>
        </p:spPr>
        <p:txBody>
          <a:bodyPr>
            <a:normAutofit/>
          </a:bodyPr>
          <a:lstStyle/>
          <a:p>
            <a:pPr>
              <a:defRPr sz="2000">
                <a:solidFill>
                  <a:srgbClr val="000000"/>
                </a:solidFill>
                <a:latin typeface="Garamond"/>
              </a:defRPr>
            </a:pPr>
            <a:r>
              <a:rPr lang="en-US" sz="2400" b="1" dirty="0"/>
              <a:t>Knowledge Work Systems </a:t>
            </a:r>
            <a:r>
              <a:rPr lang="en-US" sz="2400" dirty="0"/>
              <a:t>(KWS) are systems that support knowledge workers in creating and integrating new knowledge.</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Software is the core component of the workstation.</a:t>
            </a:r>
          </a:p>
          <a:p>
            <a:pPr>
              <a:defRPr sz="2000">
                <a:solidFill>
                  <a:srgbClr val="000000"/>
                </a:solidFill>
                <a:latin typeface="Garamond"/>
              </a:defRPr>
            </a:pPr>
            <a:endParaRPr lang="en-US" sz="1200" dirty="0"/>
          </a:p>
          <a:p>
            <a:pPr>
              <a:defRPr sz="2000">
                <a:solidFill>
                  <a:srgbClr val="000000"/>
                </a:solidFill>
                <a:latin typeface="Garamond"/>
              </a:defRPr>
            </a:pPr>
            <a:r>
              <a:rPr lang="en-US" sz="2400" dirty="0"/>
              <a:t>Highly specialized to the task:</a:t>
            </a:r>
          </a:p>
          <a:p>
            <a:pPr lvl="1">
              <a:defRPr sz="2000">
                <a:solidFill>
                  <a:srgbClr val="000000"/>
                </a:solidFill>
                <a:latin typeface="Garamond"/>
              </a:defRPr>
            </a:pPr>
            <a:r>
              <a:rPr lang="en-US" sz="2000" dirty="0"/>
              <a:t>CAD for engineers and architects.</a:t>
            </a:r>
          </a:p>
          <a:p>
            <a:pPr lvl="1">
              <a:defRPr sz="2000">
                <a:solidFill>
                  <a:srgbClr val="000000"/>
                </a:solidFill>
                <a:latin typeface="Garamond"/>
              </a:defRPr>
            </a:pPr>
            <a:r>
              <a:rPr lang="en-US" sz="2000" dirty="0"/>
              <a:t>Tableau for BI specialists.</a:t>
            </a:r>
          </a:p>
          <a:p>
            <a:pPr lvl="1">
              <a:defRPr sz="2000">
                <a:solidFill>
                  <a:srgbClr val="000000"/>
                </a:solidFill>
                <a:latin typeface="Garamond"/>
              </a:defRPr>
            </a:pPr>
            <a:r>
              <a:rPr lang="en-US" sz="2000" dirty="0"/>
              <a:t>…and many more.</a:t>
            </a:r>
          </a:p>
        </p:txBody>
      </p:sp>
      <p:pic>
        <p:nvPicPr>
          <p:cNvPr id="8" name="Picture 7" descr="A diagram representing requirements of Knowledge Work Systems. Long description available in notes, press f6.">
            <a:extLst>
              <a:ext uri="{FF2B5EF4-FFF2-40B4-BE49-F238E27FC236}">
                <a16:creationId xmlns:a16="http://schemas.microsoft.com/office/drawing/2014/main" id="{EC9C2946-2C3B-C9E7-96B8-71DD53D8D359}"/>
              </a:ext>
            </a:extLst>
          </p:cNvPr>
          <p:cNvPicPr>
            <a:picLocks noChangeAspect="1"/>
          </p:cNvPicPr>
          <p:nvPr/>
        </p:nvPicPr>
        <p:blipFill>
          <a:blip r:embed="rId3"/>
          <a:stretch>
            <a:fillRect/>
          </a:stretch>
        </p:blipFill>
        <p:spPr>
          <a:xfrm>
            <a:off x="541771" y="1425175"/>
            <a:ext cx="6068291" cy="4572000"/>
          </a:xfrm>
          <a:prstGeom prst="rect">
            <a:avLst/>
          </a:prstGeom>
        </p:spPr>
      </p:pic>
    </p:spTree>
    <p:extLst>
      <p:ext uri="{BB962C8B-B14F-4D97-AF65-F5344CB8AC3E}">
        <p14:creationId xmlns:p14="http://schemas.microsoft.com/office/powerpoint/2010/main" val="352682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animEffect transition="in" filter="fade">
                                      <p:cBhvr>
                                        <p:cTn id="23" dur="500"/>
                                        <p:tgtEl>
                                          <p:spTgt spid="3">
                                            <p:txEl>
                                              <p:pRg st="5" end="5"/>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animEffect transition="in" filter="fade">
                                      <p:cBhvr>
                                        <p:cTn id="26" dur="500"/>
                                        <p:tgtEl>
                                          <p:spTgt spid="3">
                                            <p:txEl>
                                              <p:pRg st="6" end="6"/>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animEffect transition="in" filter="fade">
                                      <p:cBhvr>
                                        <p:cTn id="29"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F1FE2-D97C-7151-33F5-B9C77D4660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39C7D1D-FD79-56EF-4FE2-BA4D4998241B}"/>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412123-22FE-AF94-5723-71064C62301B}"/>
              </a:ext>
            </a:extLst>
          </p:cNvPr>
          <p:cNvSpPr>
            <a:spLocks noGrp="1"/>
          </p:cNvSpPr>
          <p:nvPr>
            <p:ph type="title"/>
          </p:nvPr>
        </p:nvSpPr>
        <p:spPr>
          <a:xfrm>
            <a:off x="0" y="0"/>
            <a:ext cx="12188825" cy="923636"/>
          </a:xfrm>
        </p:spPr>
        <p:txBody>
          <a:bodyPr>
            <a:normAutofit/>
          </a:bodyPr>
          <a:lstStyle/>
          <a:p>
            <a:pPr algn="l">
              <a:defRPr sz="4000" b="1">
                <a:solidFill>
                  <a:srgbClr val="FDB913"/>
                </a:solidFill>
                <a:latin typeface="Garamond"/>
              </a:defRPr>
            </a:pPr>
            <a:r>
              <a:rPr lang="en-US" sz="4000" dirty="0">
                <a:solidFill>
                  <a:schemeClr val="bg1"/>
                </a:solidFill>
              </a:rPr>
              <a:t>  Information Systems Function</a:t>
            </a:r>
          </a:p>
        </p:txBody>
      </p:sp>
      <p:sp>
        <p:nvSpPr>
          <p:cNvPr id="5" name="Rectangle 4">
            <a:extLst>
              <a:ext uri="{FF2B5EF4-FFF2-40B4-BE49-F238E27FC236}">
                <a16:creationId xmlns:a16="http://schemas.microsoft.com/office/drawing/2014/main" id="{D3CE3313-62FC-F7CA-DAE3-C645B64227AB}"/>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Footer Placeholder 5">
            <a:extLst>
              <a:ext uri="{FF2B5EF4-FFF2-40B4-BE49-F238E27FC236}">
                <a16:creationId xmlns:a16="http://schemas.microsoft.com/office/drawing/2014/main" id="{DAF51C21-0311-BDB6-0E80-3B30DE5FD6CC}"/>
              </a:ext>
            </a:extLst>
          </p:cNvPr>
          <p:cNvSpPr>
            <a:spLocks noGrp="1"/>
          </p:cNvSpPr>
          <p:nvPr>
            <p:ph type="ftr" sz="quarter" idx="11"/>
          </p:nvPr>
        </p:nvSpPr>
        <p:spPr>
          <a:xfrm>
            <a:off x="-1" y="6503428"/>
            <a:ext cx="2895600" cy="354572"/>
          </a:xfrm>
        </p:spPr>
        <p:txBody>
          <a:bodyPr/>
          <a:lstStyle/>
          <a:p>
            <a:pPr algn="l"/>
            <a:r>
              <a:rPr lang="en-US">
                <a:solidFill>
                  <a:schemeClr val="bg1"/>
                </a:solidFill>
                <a:latin typeface="Garamond" panose="02020404030301010803" pitchFamily="18" charset="0"/>
              </a:rPr>
              <a:t> Management Information Systems</a:t>
            </a:r>
            <a:endParaRPr lang="en-US" dirty="0">
              <a:solidFill>
                <a:schemeClr val="bg1"/>
              </a:solidFill>
              <a:latin typeface="Garamond" panose="02020404030301010803" pitchFamily="18" charset="0"/>
            </a:endParaRPr>
          </a:p>
        </p:txBody>
      </p:sp>
      <p:sp>
        <p:nvSpPr>
          <p:cNvPr id="7" name="Slide Number Placeholder 6">
            <a:extLst>
              <a:ext uri="{FF2B5EF4-FFF2-40B4-BE49-F238E27FC236}">
                <a16:creationId xmlns:a16="http://schemas.microsoft.com/office/drawing/2014/main" id="{4426D2A0-6DEA-CCD1-AEA2-06B28AD9695E}"/>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67</a:t>
            </a:fld>
            <a:r>
              <a:rPr lang="en-US" b="1" dirty="0">
                <a:solidFill>
                  <a:schemeClr val="bg1"/>
                </a:solidFill>
                <a:latin typeface="Garamond" panose="02020404030301010803" pitchFamily="18" charset="0"/>
              </a:rPr>
              <a:t> </a:t>
            </a:r>
          </a:p>
        </p:txBody>
      </p:sp>
      <p:sp>
        <p:nvSpPr>
          <p:cNvPr id="3" name="Content Placeholder 2">
            <a:extLst>
              <a:ext uri="{FF2B5EF4-FFF2-40B4-BE49-F238E27FC236}">
                <a16:creationId xmlns:a16="http://schemas.microsoft.com/office/drawing/2014/main" id="{720117C2-8D67-5F20-7C32-99F0D14E85B3}"/>
              </a:ext>
            </a:extLst>
          </p:cNvPr>
          <p:cNvSpPr>
            <a:spLocks noGrp="1"/>
          </p:cNvSpPr>
          <p:nvPr>
            <p:ph idx="1"/>
          </p:nvPr>
        </p:nvSpPr>
        <p:spPr>
          <a:xfrm>
            <a:off x="457199" y="1300900"/>
            <a:ext cx="11189855" cy="5099900"/>
          </a:xfrm>
        </p:spPr>
        <p:txBody>
          <a:bodyPr>
            <a:normAutofit/>
          </a:bodyPr>
          <a:lstStyle/>
          <a:p>
            <a:pPr>
              <a:defRPr sz="2000">
                <a:solidFill>
                  <a:srgbClr val="000000"/>
                </a:solidFill>
                <a:latin typeface="Garamond"/>
              </a:defRPr>
            </a:pPr>
            <a:r>
              <a:rPr lang="en-US" sz="2400" dirty="0"/>
              <a:t>Firms require specialized staff to manage, maintain, and support information systems.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Information Systems (IS) Department:</a:t>
            </a:r>
          </a:p>
          <a:p>
            <a:pPr lvl="1">
              <a:defRPr sz="2000">
                <a:solidFill>
                  <a:srgbClr val="000000"/>
                </a:solidFill>
                <a:latin typeface="Garamond"/>
              </a:defRPr>
            </a:pPr>
            <a:r>
              <a:rPr lang="en-US" sz="2000" dirty="0"/>
              <a:t>Formal unit responsible for IT services and infrastructure.</a:t>
            </a:r>
          </a:p>
          <a:p>
            <a:pPr lvl="1">
              <a:defRPr sz="2000">
                <a:solidFill>
                  <a:srgbClr val="000000"/>
                </a:solidFill>
                <a:latin typeface="Garamond"/>
              </a:defRPr>
            </a:pPr>
            <a:r>
              <a:rPr lang="en-US" sz="2000" dirty="0"/>
              <a:t>Maintains the hardware, software, data storage, and networks.</a:t>
            </a:r>
          </a:p>
          <a:p>
            <a:pPr lvl="1">
              <a:defRPr sz="2000">
                <a:solidFill>
                  <a:srgbClr val="000000"/>
                </a:solidFill>
                <a:latin typeface="Garamond"/>
              </a:defRPr>
            </a:pPr>
            <a:r>
              <a:rPr lang="en-US" sz="2000" dirty="0"/>
              <a:t>Ensures system reliability, security, and scalability.</a:t>
            </a:r>
          </a:p>
          <a:p>
            <a:pPr lvl="1">
              <a:defRPr sz="2000">
                <a:solidFill>
                  <a:srgbClr val="000000"/>
                </a:solidFill>
                <a:latin typeface="Garamond"/>
              </a:defRPr>
            </a:pPr>
            <a:r>
              <a:rPr lang="en-US" sz="2000" dirty="0"/>
              <a:t>Partners with business units to align IT with organizational goals.</a:t>
            </a:r>
          </a:p>
          <a:p>
            <a:pPr lvl="3">
              <a:defRPr sz="2000">
                <a:solidFill>
                  <a:srgbClr val="000000"/>
                </a:solidFill>
                <a:latin typeface="Garamond"/>
              </a:defRPr>
            </a:pPr>
            <a:endParaRPr lang="en-US" sz="1200" dirty="0"/>
          </a:p>
          <a:p>
            <a:pPr>
              <a:defRPr sz="2000">
                <a:solidFill>
                  <a:srgbClr val="000000"/>
                </a:solidFill>
                <a:latin typeface="Garamond"/>
              </a:defRPr>
            </a:pPr>
            <a:r>
              <a:rPr lang="en-US" sz="2400" dirty="0"/>
              <a:t>IT Governance</a:t>
            </a:r>
          </a:p>
          <a:p>
            <a:pPr lvl="1">
              <a:defRPr sz="2000">
                <a:solidFill>
                  <a:srgbClr val="000000"/>
                </a:solidFill>
                <a:latin typeface="Garamond"/>
              </a:defRPr>
            </a:pPr>
            <a:r>
              <a:rPr lang="en-US" sz="2000" dirty="0"/>
              <a:t>Framework for how IT decisions are made.</a:t>
            </a:r>
          </a:p>
          <a:p>
            <a:pPr lvl="1">
              <a:defRPr sz="2000">
                <a:solidFill>
                  <a:srgbClr val="000000"/>
                </a:solidFill>
                <a:latin typeface="Garamond"/>
              </a:defRPr>
            </a:pPr>
            <a:r>
              <a:rPr lang="en-US" sz="2000" dirty="0"/>
              <a:t>Defines decision rights and accountability.</a:t>
            </a:r>
          </a:p>
          <a:p>
            <a:pPr lvl="1">
              <a:defRPr sz="2000">
                <a:solidFill>
                  <a:srgbClr val="000000"/>
                </a:solidFill>
                <a:latin typeface="Garamond"/>
              </a:defRPr>
            </a:pPr>
            <a:r>
              <a:rPr lang="en-US" sz="2000" dirty="0"/>
              <a:t>Ensures IT investments support business objectives and balance innovation, efficiency, risk, compliance, and security</a:t>
            </a:r>
          </a:p>
        </p:txBody>
      </p:sp>
    </p:spTree>
    <p:extLst>
      <p:ext uri="{BB962C8B-B14F-4D97-AF65-F5344CB8AC3E}">
        <p14:creationId xmlns:p14="http://schemas.microsoft.com/office/powerpoint/2010/main" val="2692411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50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500"/>
                                        <p:tgtEl>
                                          <p:spTgt spid="3">
                                            <p:txEl>
                                              <p:pRg st="10" end="10"/>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3">
                                            <p:txEl>
                                              <p:pRg st="11" end="11"/>
                                            </p:txEl>
                                          </p:spTgt>
                                        </p:tgtEl>
                                        <p:attrNameLst>
                                          <p:attrName>style.visibility</p:attrName>
                                        </p:attrNameLst>
                                      </p:cBhvr>
                                      <p:to>
                                        <p:strVal val="visible"/>
                                      </p:to>
                                    </p:set>
                                    <p:animEffect transition="in" filter="fade">
                                      <p:cBhvr>
                                        <p:cTn id="38"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77122C"/>
        </a:solidFill>
        <a:effectLst/>
      </p:bgPr>
    </p:bg>
    <p:spTree>
      <p:nvGrpSpPr>
        <p:cNvPr id="1" name="">
          <a:extLst>
            <a:ext uri="{FF2B5EF4-FFF2-40B4-BE49-F238E27FC236}">
              <a16:creationId xmlns:a16="http://schemas.microsoft.com/office/drawing/2014/main" id="{0745403A-E60B-1C3D-EA37-F6178DE6E2C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F92F55A-B17D-D4BF-6AF2-C4FBC4C7DCA1}"/>
              </a:ext>
            </a:extLst>
          </p:cNvPr>
          <p:cNvSpPr txBox="1"/>
          <p:nvPr/>
        </p:nvSpPr>
        <p:spPr>
          <a:xfrm>
            <a:off x="-1" y="3044279"/>
            <a:ext cx="12188825" cy="769441"/>
          </a:xfrm>
          <a:prstGeom prst="rect">
            <a:avLst/>
          </a:prstGeom>
          <a:noFill/>
        </p:spPr>
        <p:txBody>
          <a:bodyPr wrap="square">
            <a:spAutoFit/>
          </a:bodyPr>
          <a:lstStyle/>
          <a:p>
            <a:pPr algn="ctr">
              <a:defRPr sz="4000" b="1">
                <a:solidFill>
                  <a:srgbClr val="FDB913"/>
                </a:solidFill>
                <a:latin typeface="Garamond"/>
              </a:defRPr>
            </a:pPr>
            <a:r>
              <a:rPr lang="en-US" sz="4400" dirty="0">
                <a:solidFill>
                  <a:schemeClr val="bg1"/>
                </a:solidFill>
              </a:rPr>
              <a:t>Recap of Chapter 2</a:t>
            </a:r>
            <a:endParaRPr sz="4400" dirty="0">
              <a:solidFill>
                <a:schemeClr val="bg1"/>
              </a:solidFill>
            </a:endParaRPr>
          </a:p>
        </p:txBody>
      </p:sp>
    </p:spTree>
    <p:extLst>
      <p:ext uri="{BB962C8B-B14F-4D97-AF65-F5344CB8AC3E}">
        <p14:creationId xmlns:p14="http://schemas.microsoft.com/office/powerpoint/2010/main" val="494541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CF07C-5A39-46FA-19B5-0CB9743E6BC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AB19EA9-F780-DAF7-1EBC-822EF2EDDD7C}"/>
              </a:ext>
            </a:extLst>
          </p:cNvPr>
          <p:cNvSpPr/>
          <p:nvPr/>
        </p:nvSpPr>
        <p:spPr>
          <a:xfrm>
            <a:off x="0" y="0"/>
            <a:ext cx="12188825" cy="923636"/>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B3619056-BFF7-5653-691C-4489199AA603}"/>
              </a:ext>
            </a:extLst>
          </p:cNvPr>
          <p:cNvSpPr txBox="1">
            <a:spLocks/>
          </p:cNvSpPr>
          <p:nvPr/>
        </p:nvSpPr>
        <p:spPr>
          <a:xfrm>
            <a:off x="0" y="0"/>
            <a:ext cx="12188825" cy="92363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000" b="1">
                <a:solidFill>
                  <a:srgbClr val="FDB913"/>
                </a:solidFill>
                <a:latin typeface="Garamond"/>
              </a:defRPr>
            </a:pPr>
            <a:r>
              <a:rPr lang="en-US" sz="4000" b="1" dirty="0">
                <a:solidFill>
                  <a:schemeClr val="bg1"/>
                </a:solidFill>
                <a:latin typeface="Garamond"/>
              </a:rPr>
              <a:t>  Recap of Chapter 2</a:t>
            </a:r>
          </a:p>
        </p:txBody>
      </p:sp>
      <p:sp>
        <p:nvSpPr>
          <p:cNvPr id="7" name="Rectangle 6">
            <a:extLst>
              <a:ext uri="{FF2B5EF4-FFF2-40B4-BE49-F238E27FC236}">
                <a16:creationId xmlns:a16="http://schemas.microsoft.com/office/drawing/2014/main" id="{44F8D645-33AB-D7BC-1B81-8CCF597648B0}"/>
              </a:ext>
            </a:extLst>
          </p:cNvPr>
          <p:cNvSpPr/>
          <p:nvPr/>
        </p:nvSpPr>
        <p:spPr>
          <a:xfrm>
            <a:off x="-1" y="6503428"/>
            <a:ext cx="12188825" cy="354572"/>
          </a:xfrm>
          <a:prstGeom prst="rect">
            <a:avLst/>
          </a:prstGeom>
          <a:solidFill>
            <a:srgbClr val="77122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Footer Placeholder 5">
            <a:extLst>
              <a:ext uri="{FF2B5EF4-FFF2-40B4-BE49-F238E27FC236}">
                <a16:creationId xmlns:a16="http://schemas.microsoft.com/office/drawing/2014/main" id="{C1011C51-5B4E-8C02-C890-0AE3A669CBCD}"/>
              </a:ext>
            </a:extLst>
          </p:cNvPr>
          <p:cNvSpPr>
            <a:spLocks noGrp="1"/>
          </p:cNvSpPr>
          <p:nvPr>
            <p:ph type="ftr" sz="quarter" idx="11"/>
          </p:nvPr>
        </p:nvSpPr>
        <p:spPr>
          <a:xfrm>
            <a:off x="-1" y="6503428"/>
            <a:ext cx="2895600" cy="354572"/>
          </a:xfrm>
        </p:spPr>
        <p:txBody>
          <a:bodyPr/>
          <a:lstStyle/>
          <a:p>
            <a:pPr algn="l"/>
            <a:r>
              <a:rPr lang="en-US" dirty="0">
                <a:solidFill>
                  <a:schemeClr val="bg1"/>
                </a:solidFill>
                <a:latin typeface="Garamond" panose="02020404030301010803" pitchFamily="18" charset="0"/>
              </a:rPr>
              <a:t> Management Information Systems</a:t>
            </a:r>
          </a:p>
        </p:txBody>
      </p:sp>
      <p:sp>
        <p:nvSpPr>
          <p:cNvPr id="9" name="Slide Number Placeholder 6">
            <a:extLst>
              <a:ext uri="{FF2B5EF4-FFF2-40B4-BE49-F238E27FC236}">
                <a16:creationId xmlns:a16="http://schemas.microsoft.com/office/drawing/2014/main" id="{0C78CE8A-9AF8-53CE-1E0D-2DC2238B4D11}"/>
              </a:ext>
            </a:extLst>
          </p:cNvPr>
          <p:cNvSpPr>
            <a:spLocks noGrp="1"/>
          </p:cNvSpPr>
          <p:nvPr>
            <p:ph type="sldNum" sz="quarter" idx="12"/>
          </p:nvPr>
        </p:nvSpPr>
        <p:spPr>
          <a:xfrm>
            <a:off x="10055225" y="6503428"/>
            <a:ext cx="2133600" cy="354572"/>
          </a:xfrm>
        </p:spPr>
        <p:txBody>
          <a:bodyPr/>
          <a:lstStyle/>
          <a:p>
            <a:fld id="{C1FF6DA9-008F-8B48-92A6-B652298478BF}" type="slidenum">
              <a:rPr lang="en-US" b="1" smtClean="0">
                <a:solidFill>
                  <a:schemeClr val="bg1"/>
                </a:solidFill>
                <a:latin typeface="Garamond" panose="02020404030301010803" pitchFamily="18" charset="0"/>
              </a:rPr>
              <a:t>69</a:t>
            </a:fld>
            <a:r>
              <a:rPr lang="en-US" b="1" dirty="0">
                <a:solidFill>
                  <a:schemeClr val="bg1"/>
                </a:solidFill>
                <a:latin typeface="Garamond" panose="02020404030301010803" pitchFamily="18" charset="0"/>
              </a:rPr>
              <a:t> </a:t>
            </a:r>
          </a:p>
        </p:txBody>
      </p:sp>
      <p:sp>
        <p:nvSpPr>
          <p:cNvPr id="14" name="Content Placeholder 2">
            <a:extLst>
              <a:ext uri="{FF2B5EF4-FFF2-40B4-BE49-F238E27FC236}">
                <a16:creationId xmlns:a16="http://schemas.microsoft.com/office/drawing/2014/main" id="{E4596D15-346E-FEAB-2529-E273E357F27F}"/>
              </a:ext>
            </a:extLst>
          </p:cNvPr>
          <p:cNvSpPr>
            <a:spLocks noGrp="1"/>
          </p:cNvSpPr>
          <p:nvPr>
            <p:ph idx="1"/>
          </p:nvPr>
        </p:nvSpPr>
        <p:spPr>
          <a:xfrm>
            <a:off x="457199" y="1300900"/>
            <a:ext cx="11189855" cy="5081046"/>
          </a:xfrm>
        </p:spPr>
        <p:txBody>
          <a:bodyPr>
            <a:normAutofit/>
          </a:bodyPr>
          <a:lstStyle/>
          <a:p>
            <a:pPr>
              <a:defRPr sz="2000">
                <a:solidFill>
                  <a:srgbClr val="000000"/>
                </a:solidFill>
                <a:latin typeface="Garamond"/>
              </a:defRPr>
            </a:pPr>
            <a:r>
              <a:rPr lang="en-US" altLang="zh-TW" sz="2400" dirty="0"/>
              <a:t>How do business processes relate to information systems?</a:t>
            </a:r>
          </a:p>
          <a:p>
            <a:pPr>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How does information systems serve different management groups?</a:t>
            </a:r>
          </a:p>
          <a:p>
            <a:pPr>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How do enterprise applications improve firm performance?</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What are collaboration tools?</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What are social business tools?</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How can managers evaluate collaboration and social business tools?</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What are knowledge management systems?</a:t>
            </a:r>
          </a:p>
          <a:p>
            <a:pPr lvl="3">
              <a:defRPr sz="2000">
                <a:solidFill>
                  <a:srgbClr val="000000"/>
                </a:solidFill>
                <a:latin typeface="Garamond"/>
              </a:defRPr>
            </a:pPr>
            <a:endParaRPr lang="en-US" altLang="zh-TW" sz="800" dirty="0"/>
          </a:p>
          <a:p>
            <a:pPr>
              <a:defRPr sz="2000">
                <a:solidFill>
                  <a:srgbClr val="000000"/>
                </a:solidFill>
                <a:latin typeface="Garamond"/>
              </a:defRPr>
            </a:pPr>
            <a:r>
              <a:rPr lang="en-US" altLang="zh-TW" sz="2400" dirty="0"/>
              <a:t>What is the role of the information systems function?</a:t>
            </a:r>
          </a:p>
        </p:txBody>
      </p:sp>
    </p:spTree>
    <p:extLst>
      <p:ext uri="{BB962C8B-B14F-4D97-AF65-F5344CB8AC3E}">
        <p14:creationId xmlns:p14="http://schemas.microsoft.com/office/powerpoint/2010/main" val="3441963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500"/>
                                        <p:tgtEl>
                                          <p:spTgt spid="14">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animEffect transition="in" filter="fade">
                                      <p:cBhvr>
                                        <p:cTn id="11" dur="500"/>
                                        <p:tgtEl>
                                          <p:spTgt spid="14">
                                            <p:txEl>
                                              <p:pRg st="2" end="2"/>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animEffect transition="in" filter="fade">
                                      <p:cBhvr>
                                        <p:cTn id="15" dur="500"/>
                                        <p:tgtEl>
                                          <p:spTgt spid="14">
                                            <p:txEl>
                                              <p:pRg st="4" end="4"/>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14">
                                            <p:txEl>
                                              <p:pRg st="6" end="6"/>
                                            </p:txEl>
                                          </p:spTgt>
                                        </p:tgtEl>
                                        <p:attrNameLst>
                                          <p:attrName>style.visibility</p:attrName>
                                        </p:attrNameLst>
                                      </p:cBhvr>
                                      <p:to>
                                        <p:strVal val="visible"/>
                                      </p:to>
                                    </p:set>
                                    <p:animEffect transition="in" filter="fade">
                                      <p:cBhvr>
                                        <p:cTn id="19" dur="500"/>
                                        <p:tgtEl>
                                          <p:spTgt spid="14">
                                            <p:txEl>
                                              <p:pRg st="6" end="6"/>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14">
                                            <p:txEl>
                                              <p:pRg st="8" end="8"/>
                                            </p:txEl>
                                          </p:spTgt>
                                        </p:tgtEl>
                                        <p:attrNameLst>
                                          <p:attrName>style.visibility</p:attrName>
                                        </p:attrNameLst>
                                      </p:cBhvr>
                                      <p:to>
                                        <p:strVal val="visible"/>
                                      </p:to>
                                    </p:set>
                                    <p:animEffect transition="in" filter="fade">
                                      <p:cBhvr>
                                        <p:cTn id="23" dur="500"/>
                                        <p:tgtEl>
                                          <p:spTgt spid="14">
                                            <p:txEl>
                                              <p:pRg st="8" end="8"/>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14">
                                            <p:txEl>
                                              <p:pRg st="10" end="10"/>
                                            </p:txEl>
                                          </p:spTgt>
                                        </p:tgtEl>
                                        <p:attrNameLst>
                                          <p:attrName>style.visibility</p:attrName>
                                        </p:attrNameLst>
                                      </p:cBhvr>
                                      <p:to>
                                        <p:strVal val="visible"/>
                                      </p:to>
                                    </p:set>
                                    <p:animEffect transition="in" filter="fade">
                                      <p:cBhvr>
                                        <p:cTn id="27" dur="500"/>
                                        <p:tgtEl>
                                          <p:spTgt spid="14">
                                            <p:txEl>
                                              <p:pRg st="10" end="10"/>
                                            </p:txEl>
                                          </p:spTgt>
                                        </p:tgtEl>
                                      </p:cBhvr>
                                    </p:animEffect>
                                  </p:childTnLst>
                                </p:cTn>
                              </p:par>
                            </p:childTnLst>
                          </p:cTn>
                        </p:par>
                        <p:par>
                          <p:cTn id="28" fill="hold">
                            <p:stCondLst>
                              <p:cond delay="3000"/>
                            </p:stCondLst>
                            <p:childTnLst>
                              <p:par>
                                <p:cTn id="29" presetID="10" presetClass="entr" presetSubtype="0" fill="hold" nodeType="afterEffect">
                                  <p:stCondLst>
                                    <p:cond delay="0"/>
                                  </p:stCondLst>
                                  <p:childTnLst>
                                    <p:set>
                                      <p:cBhvr>
                                        <p:cTn id="30" dur="1" fill="hold">
                                          <p:stCondLst>
                                            <p:cond delay="0"/>
                                          </p:stCondLst>
                                        </p:cTn>
                                        <p:tgtEl>
                                          <p:spTgt spid="14">
                                            <p:txEl>
                                              <p:pRg st="12" end="12"/>
                                            </p:txEl>
                                          </p:spTgt>
                                        </p:tgtEl>
                                        <p:attrNameLst>
                                          <p:attrName>style.visibility</p:attrName>
                                        </p:attrNameLst>
                                      </p:cBhvr>
                                      <p:to>
                                        <p:strVal val="visible"/>
                                      </p:to>
                                    </p:set>
                                    <p:animEffect transition="in" filter="fade">
                                      <p:cBhvr>
                                        <p:cTn id="31" dur="500"/>
                                        <p:tgtEl>
                                          <p:spTgt spid="14">
                                            <p:txEl>
                                              <p:pRg st="12" end="12"/>
                                            </p:txEl>
                                          </p:spTgt>
                                        </p:tgtEl>
                                      </p:cBhvr>
                                    </p:animEffect>
                                  </p:childTnLst>
                                </p:cTn>
                              </p:par>
                            </p:childTnLst>
                          </p:cTn>
                        </p:par>
                        <p:par>
                          <p:cTn id="32" fill="hold">
                            <p:stCondLst>
                              <p:cond delay="3500"/>
                            </p:stCondLst>
                            <p:childTnLst>
                              <p:par>
                                <p:cTn id="33" presetID="10" presetClass="entr" presetSubtype="0" fill="hold" nodeType="afterEffect">
                                  <p:stCondLst>
                                    <p:cond delay="0"/>
                                  </p:stCondLst>
                                  <p:childTnLst>
                                    <p:set>
                                      <p:cBhvr>
                                        <p:cTn id="34" dur="1" fill="hold">
                                          <p:stCondLst>
                                            <p:cond delay="0"/>
                                          </p:stCondLst>
                                        </p:cTn>
                                        <p:tgtEl>
                                          <p:spTgt spid="14">
                                            <p:txEl>
                                              <p:pRg st="14" end="14"/>
                                            </p:txEl>
                                          </p:spTgt>
                                        </p:tgtEl>
                                        <p:attrNameLst>
                                          <p:attrName>style.visibility</p:attrName>
                                        </p:attrNameLst>
                                      </p:cBhvr>
                                      <p:to>
                                        <p:strVal val="visible"/>
                                      </p:to>
                                    </p:set>
                                    <p:animEffect transition="in" filter="fade">
                                      <p:cBhvr>
                                        <p:cTn id="35" dur="500"/>
                                        <p:tgtEl>
                                          <p:spTgt spid="14">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ags/tag1.xml><?xml version="1.0" encoding="utf-8"?>
<p:tagLst xmlns:a="http://schemas.openxmlformats.org/drawingml/2006/main" xmlns:r="http://schemas.openxmlformats.org/officeDocument/2006/relationships" xmlns:p="http://schemas.openxmlformats.org/presentationml/2006/main">
  <p:tag name="__PE_POLL_EMBED_ID" val="482f1e51-256f-4d65-ad29-e66276d20bf0"/>
</p:tagLst>
</file>

<file path=ppt/tags/tag2.xml><?xml version="1.0" encoding="utf-8"?>
<p:tagLst xmlns:a="http://schemas.openxmlformats.org/drawingml/2006/main" xmlns:r="http://schemas.openxmlformats.org/officeDocument/2006/relationships" xmlns:p="http://schemas.openxmlformats.org/presentationml/2006/main">
  <p:tag name="__PE_POLL_EMBED_ID" val="07264946-94b8-4808-aed7-4f3071fdbb8d"/>
</p:tagLst>
</file>

<file path=ppt/tags/tag3.xml><?xml version="1.0" encoding="utf-8"?>
<p:tagLst xmlns:a="http://schemas.openxmlformats.org/drawingml/2006/main" xmlns:r="http://schemas.openxmlformats.org/officeDocument/2006/relationships" xmlns:p="http://schemas.openxmlformats.org/presentationml/2006/main">
  <p:tag name="__PE_POLL_EMBED_ID" val="b75a7c08-6ac9-4460-90dc-f5ae50bb4755"/>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5178b066-ece4-42d6-be80-b911ff775fa2}" enabled="1" method="Privileged" siteId="{4881a8fa-b252-4912-b93a-7806c41bbe91}" contentBits="0" removed="0"/>
</clbl:labelList>
</file>

<file path=docProps/app.xml><?xml version="1.0" encoding="utf-8"?>
<Properties xmlns="http://schemas.openxmlformats.org/officeDocument/2006/extended-properties" xmlns:vt="http://schemas.openxmlformats.org/officeDocument/2006/docPropsVTypes">
  <TotalTime>6118</TotalTime>
  <Words>5418</Words>
  <Application>Microsoft Office PowerPoint</Application>
  <PresentationFormat>Custom</PresentationFormat>
  <Paragraphs>824</Paragraphs>
  <Slides>69</Slides>
  <Notes>62</Notes>
  <HiddenSlides>0</HiddenSlides>
  <MMClips>7</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69</vt:i4>
      </vt:variant>
    </vt:vector>
  </HeadingPairs>
  <TitlesOfParts>
    <vt:vector size="74" baseType="lpstr">
      <vt:lpstr>Aptos</vt:lpstr>
      <vt:lpstr>Arial</vt:lpstr>
      <vt:lpstr>Calibri</vt:lpstr>
      <vt:lpstr>Garamond</vt:lpstr>
      <vt:lpstr>Office Theme</vt:lpstr>
      <vt:lpstr>PowerPoint Presentation</vt:lpstr>
      <vt:lpstr>PowerPoint Presentation</vt:lpstr>
      <vt:lpstr>PowerPoint Presentation</vt:lpstr>
      <vt:lpstr>  Understanding the Business Process</vt:lpstr>
      <vt:lpstr>  Understanding the Business Process</vt:lpstr>
      <vt:lpstr>  Understanding the Business Process</vt:lpstr>
      <vt:lpstr>  Understanding the Business Process</vt:lpstr>
      <vt:lpstr>  How IS Enhances Business Processes</vt:lpstr>
      <vt:lpstr>  How IS Enhances Business Processes</vt:lpstr>
      <vt:lpstr>  How IS Enhances Business Processes</vt:lpstr>
      <vt:lpstr>  Business Processes to Management Decisions</vt:lpstr>
      <vt:lpstr>PowerPoint Presentation</vt:lpstr>
      <vt:lpstr>  Systems for Different Management Groups</vt:lpstr>
      <vt:lpstr>  Transaction Processing Systems</vt:lpstr>
      <vt:lpstr>  TPS Examples: Payroll</vt:lpstr>
      <vt:lpstr>  TPS Case Study: Knight Capital (2012)</vt:lpstr>
      <vt:lpstr>  Associated Press (2012, August 2). Analyst: Traders Saw Knight Glitch in Seconds   [Video]. YouTube. https://youtu.be/pjixTeSPjGg?si=c-CLYHW_Mi5Rpqms</vt:lpstr>
      <vt:lpstr>  Systems for Business Intelligence</vt:lpstr>
      <vt:lpstr>  BI Examples: Management Information Systems</vt:lpstr>
      <vt:lpstr>  BI Examples: MIS and TPS</vt:lpstr>
      <vt:lpstr>  BI Examples: Decision Support Systems</vt:lpstr>
      <vt:lpstr>  BI Examples: Executive Support Systems</vt:lpstr>
      <vt:lpstr>PowerPoint Presentation</vt:lpstr>
      <vt:lpstr>  Enterprise Applications</vt:lpstr>
      <vt:lpstr>  Enterprise Resource Planning (ERP) Systems</vt:lpstr>
      <vt:lpstr>  Bloomberg Technology (2025, July 12). How SAP Became the Tech Engine Behind Global    Business [Video]. YouTube. https://youtu.be/o1yw81Z7BOI?si=I7_jebYmgeXwmkD7</vt:lpstr>
      <vt:lpstr>  Final &amp; Homework Groups</vt:lpstr>
      <vt:lpstr>  Supply Chain Management (SCM) Systems</vt:lpstr>
      <vt:lpstr>  SCM Showcase: The Dell “Direct” Revolution</vt:lpstr>
      <vt:lpstr>  SITMI Academy! (2025, June 12). How Dell Reinvented Its Supply Chain [Video].    YouTube. https://youtu.be/oR9JgZ8JVN0?si=C6v3Lrs4i4qJNYaM</vt:lpstr>
      <vt:lpstr>  Customer Relationship Management (CRM) Systems</vt:lpstr>
      <vt:lpstr>  Imagineer Customer Experience (2015, October 23). Coca Cola Customer Experience    Salesforce CRM [Video]. YouTube. https://youtu.be/CIkKCZfrnfI?si=NOVL7Lieg2eQjHqj</vt:lpstr>
      <vt:lpstr>  Final &amp; Homework Groups</vt:lpstr>
      <vt:lpstr>  Knowledge Management Systems (KMS)</vt:lpstr>
      <vt:lpstr>  NASA APPEL (2021, September 8). Podcast Episode 68: Lessons Learned Information   System [Video]. YouTube. https://youtu.be/VKg-NYEqyPo?si=tanhh_4yFykxToln</vt:lpstr>
      <vt:lpstr>  Enterprise Applications Overview</vt:lpstr>
      <vt:lpstr>  How Information Systems Fit Together</vt:lpstr>
      <vt:lpstr>  Enterprise Systems and Collaboration</vt:lpstr>
      <vt:lpstr>PowerPoint Presentation</vt:lpstr>
      <vt:lpstr>  Collaboration</vt:lpstr>
      <vt:lpstr>  Collaboration</vt:lpstr>
      <vt:lpstr>  Social Business</vt:lpstr>
      <vt:lpstr>  Social Business Showcase: “My Starbucks Idea”</vt:lpstr>
      <vt:lpstr>  Social Business Showcase: “My Starbucks Idea”</vt:lpstr>
      <vt:lpstr>Poll Everywhere multiple choice poll instructions screen
Activity Title: Vote for the most inspirational name for the new polar research ship.
Slide 44</vt:lpstr>
      <vt:lpstr>Poll Everywhere multiple choice poll chart screen
Activity Title: Vote for the most inspirational name for the new polar research ship.
Slide 46</vt:lpstr>
      <vt:lpstr>  RRS Boaty McBoatface?</vt:lpstr>
      <vt:lpstr>  Björn Borg’s “Weapons of Mass Seduction”</vt:lpstr>
      <vt:lpstr>Poll Everywhere clickable image activity
Activity Title: Vote for the city/region in need of weapons of mass seduction!
Slide 48</vt:lpstr>
      <vt:lpstr>  Björn Borg’s “Weapons of Mass Seduction”</vt:lpstr>
      <vt:lpstr>  Björn Borg’s “Weapons of Mass Seduction”</vt:lpstr>
      <vt:lpstr>  Social Business</vt:lpstr>
      <vt:lpstr>  Caveats of Collaboration</vt:lpstr>
      <vt:lpstr>  Collaboration Tools</vt:lpstr>
      <vt:lpstr>  Social Business Tools</vt:lpstr>
      <vt:lpstr>  Social Business Tools: Accenture’s Virtual Offices</vt:lpstr>
      <vt:lpstr>  Accenture (2022, April 19). Get a glimpse of the metaverse capabilities at Accenture    [Video]. YouTube. https://youtu.be/taRdfhRO9lY?si=uU_WBsuhSGcNV5ol</vt:lpstr>
      <vt:lpstr>  Evaluating Collaboration and Social Business Tools</vt:lpstr>
      <vt:lpstr>  Evaluating Collaboration and Social Business Tools</vt:lpstr>
      <vt:lpstr>  Social Interaction to Organizational Knowledge</vt:lpstr>
      <vt:lpstr>PowerPoint Presentation</vt:lpstr>
      <vt:lpstr>  Knowledge Management</vt:lpstr>
      <vt:lpstr>  Knowledge Management Systems</vt:lpstr>
      <vt:lpstr>  Enterprise-wide KMS</vt:lpstr>
      <vt:lpstr>  OpenText (2018, April 18). Enterprise Content Management Systems | OpenText Extended    ECM Platform [Video]. YouTube. https://youtu.be/mDPbrvbAves?si=h03Q4JjuaFMhTtGi</vt:lpstr>
      <vt:lpstr>  Knowledge Work Systems</vt:lpstr>
      <vt:lpstr>  Information Systems Function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Brian Park</dc:creator>
  <cp:keywords/>
  <dc:description>generated using python-pptx</dc:description>
  <cp:lastModifiedBy>Brian Park</cp:lastModifiedBy>
  <cp:revision>187</cp:revision>
  <dcterms:created xsi:type="dcterms:W3CDTF">2013-01-27T09:14:16Z</dcterms:created>
  <dcterms:modified xsi:type="dcterms:W3CDTF">2026-01-23T21:13:29Z</dcterms:modified>
  <cp:category/>
</cp:coreProperties>
</file>