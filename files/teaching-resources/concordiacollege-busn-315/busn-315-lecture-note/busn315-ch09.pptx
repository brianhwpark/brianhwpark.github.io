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835" r:id="rId3"/>
    <p:sldId id="257" r:id="rId4"/>
    <p:sldId id="836" r:id="rId5"/>
    <p:sldId id="387" r:id="rId6"/>
    <p:sldId id="839" r:id="rId7"/>
    <p:sldId id="837" r:id="rId8"/>
    <p:sldId id="838" r:id="rId9"/>
    <p:sldId id="840" r:id="rId10"/>
    <p:sldId id="842" r:id="rId11"/>
    <p:sldId id="676" r:id="rId12"/>
    <p:sldId id="769" r:id="rId13"/>
    <p:sldId id="770" r:id="rId14"/>
    <p:sldId id="843" r:id="rId15"/>
    <p:sldId id="844" r:id="rId16"/>
    <p:sldId id="845" r:id="rId17"/>
    <p:sldId id="846" r:id="rId18"/>
    <p:sldId id="847" r:id="rId19"/>
    <p:sldId id="848" r:id="rId20"/>
    <p:sldId id="849" r:id="rId21"/>
    <p:sldId id="853" r:id="rId22"/>
    <p:sldId id="850" r:id="rId23"/>
    <p:sldId id="852" r:id="rId24"/>
    <p:sldId id="854" r:id="rId25"/>
    <p:sldId id="855" r:id="rId26"/>
    <p:sldId id="734" r:id="rId27"/>
    <p:sldId id="781" r:id="rId28"/>
    <p:sldId id="856" r:id="rId29"/>
    <p:sldId id="857" r:id="rId30"/>
    <p:sldId id="858" r:id="rId31"/>
    <p:sldId id="860" r:id="rId32"/>
    <p:sldId id="859" r:id="rId33"/>
    <p:sldId id="861" r:id="rId34"/>
    <p:sldId id="862" r:id="rId35"/>
    <p:sldId id="863" r:id="rId36"/>
    <p:sldId id="864" r:id="rId37"/>
    <p:sldId id="865" r:id="rId38"/>
    <p:sldId id="722" r:id="rId39"/>
    <p:sldId id="793" r:id="rId40"/>
    <p:sldId id="868" r:id="rId41"/>
    <p:sldId id="869" r:id="rId42"/>
    <p:sldId id="866" r:id="rId43"/>
    <p:sldId id="796" r:id="rId44"/>
    <p:sldId id="867" r:id="rId45"/>
    <p:sldId id="827" r:id="rId46"/>
    <p:sldId id="451" r:id="rId4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2252" autoAdjust="0"/>
  </p:normalViewPr>
  <p:slideViewPr>
    <p:cSldViewPr snapToGrid="0" snapToObjects="1">
      <p:cViewPr varScale="1">
        <p:scale>
          <a:sx n="102" d="100"/>
          <a:sy n="102" d="100"/>
        </p:scale>
        <p:origin x="3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ECEAB-60FA-8CB9-3385-6664F8464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50EF8-F481-98F7-34A6-B7C3E4030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49CA-1660-3CDC-C129-AF04D8F88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F1911-BE75-5BBC-6841-33AF335E5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88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9121-3671-65D2-032E-6ABE4CBF7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18F92-9901-5129-DEAF-5F94F5D41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233B0-7B84-1755-9156-FAA203954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6C84A-080B-6367-F20E-F70ADC50F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1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FC3B-566A-F1DA-C914-F5E06D48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470AD-6966-6F0D-7DD4-1B725FC46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1F33A-3B20-1388-6C26-7B6DDDD47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870C0-D86E-0453-D4BE-FF4846BA6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61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0B5DA-3C10-B1FA-779A-4EB30C15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1C683-EDB2-8638-C214-B865AA2B2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DEA8F-B79D-050B-6550-6E7EFCCE1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38C9E-BED0-370D-5116-C6A6C7849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1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3CA44-C63E-7EA2-BBBD-7916E48F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CB880-AA92-1DD7-2214-BE5E00F4D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AD458-062B-7D38-5EF9-232E39A9E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1156A-EDF5-BBAA-11AA-9C9D1EC99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24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F57B-E801-4B18-6D90-011812D9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D9106-012E-AA91-4D88-D58713DDF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F46EE-E14C-5533-8553-75D43A3B1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0D0C0-1DDA-EEA2-3031-55AFF9B9D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92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ACCA-4C1E-52C2-D2CC-3AA8B844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6A915-609B-B8BD-03E9-5AA3B0808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CA5AD-D3A0-E26F-EAD5-10162271A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A7522-1385-3446-9168-3477383AA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69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2490-0C22-6FB6-2A29-77BAD1D3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A658B-EFCE-A800-8F8D-014235134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351B7-71FE-D887-21C6-24D15060D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50CBD-4998-DA4B-B225-F09ED1EE4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33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B0B5F-5AC7-FC86-228F-359B4BB5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E72F3-939D-3DD2-E205-EDCA08C92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770AC-7C38-7986-0AFB-0A951019F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146C7-A0CD-5AA1-C39D-6A3F2F521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686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52D9-8782-27D8-0BFD-34A50760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F5EF5-ACCC-88F2-0BFC-7A2420D28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27990-4A04-398A-CDBD-A4D60505C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D499D-7658-8A37-C6BE-99F1A4959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136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09475-0EAC-8370-B647-6B12D71E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1CDDE-BA5E-C652-1EB4-3781D4BF7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AF83C-8842-2F78-7DC7-63D6CA96F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17CEE-20BB-A5F9-0940-DEBA62F28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508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6395-D833-0DA0-1B86-DA6ED77B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C7E04-FC34-AB04-A11F-F848BF694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E9400-FFBA-1C96-451A-E1F37232F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FFDD5-6C82-4D04-4BF1-078860FB1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219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1CA33-2A39-5966-B162-67C96163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71D5D-5FDB-72B7-0605-24081FFEB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71E56-63A5-4F64-91E5-6C2C77DBD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A20EF-3073-511A-3282-89486D427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234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57A79-E2A7-E088-E9CB-EBCD2DEA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0BDAC-5BD6-1B00-75B1-094E10C09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07BA6-7D6F-F419-EF2C-057F5CD07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FA908-64A2-DF5F-6D06-968A406A1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4202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43C36-40F3-1C87-D8F3-48F5661C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0D21C-E6AA-C921-BC4B-517B0DA5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3B1F6-661A-CA7F-6498-455C3224F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A646-874C-FD8F-6DBC-AAE77B3ED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576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23AA-BEBE-C136-A210-06518C31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CEDEB-E5A1-0DCD-467B-09CF19680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91E44-8AF1-C0E1-AA8F-EB0955E1E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3B4AD-5C09-01BC-681C-E53E14CF2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455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A53D-B180-6ECF-76B4-AA618743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5EEB6-D354-1264-B285-FCD455D70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92458-CD1D-5473-8B9C-65B0737B0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AEA33-D836-F4C6-97A7-2FABC6EFB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9923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225C-7D41-7313-5D6E-66E76BF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8BFF7-6E5E-10A4-E232-BD233AE0D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E6B13-513D-F8D1-915A-6C85F5186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99D94-0E70-4A6E-BB35-76E4FC3AE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165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A438-3BDC-1513-8A64-6BEDB84F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F4755-CC0E-4398-FE77-B53D90604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F3E82-8774-8A30-6BAA-2EBCBA76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3E743-D39D-7357-130A-D43FF1039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87AAC7-CF25-414B-93E7-2A61E431E8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233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983C9-43DE-7358-C301-8942C4F5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CC6F8-CD41-F5CC-F61F-E4C24FA0B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CB842-287E-60BA-FAA5-B4C2BB509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FFB00-7B55-C9A5-2CB6-9E0B62BC2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050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6107B-E8ED-5242-92D5-08453B0F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2E467-B1E6-1832-E863-D9FBD906F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B36FE-BCFB-F2F8-39AB-6F1F45A35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CC2A1-4B99-1076-BE01-97AA11B52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977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718F4-3E0C-2755-F768-0A9D9ABD8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231F2-CAD0-6DF6-B3EB-F9225C397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39225-54DF-C59F-A619-7CA091CF8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43DC8-F3C0-6175-0BE0-3A18CA555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700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B5FC-23E6-CFA9-1086-BED31B2A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0F1F5-B175-0728-2D45-578592E8E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97DB1-2D49-E820-CE83-00995210F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BAE5C-2801-0388-BABE-A5C3B9070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690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D1D7-BB74-BE54-CF63-4D3A71B3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335E0-6623-59E6-44E5-FD14502DE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1FD8B-C152-7FF2-C2EE-BC726D4B1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38AA0-EC4F-6C19-F5B2-941E24A0E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363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C844E-C864-FAFD-333E-40C4D128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679E4-A93D-2B0A-DB0D-6A3878E1B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AF93C-CECF-D548-ED03-BD7AF6366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45EDB-1071-76DD-3E23-3B7453AB1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683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C835B-2AB6-E386-E630-833D5B8D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5CE41-5209-C84F-8E2A-3BD727168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0B6D3-3754-CB34-3458-0BCEBA24D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CE3C6-7988-36D0-BBAF-9A859057B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56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C4E1C-4DC2-9733-0070-D9F4175E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2FBCD-20EC-FBEE-F339-D21E223C6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21C6F-F9E2-AC1A-5C00-0CB111D75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1FF46-530C-A8CF-5EC7-D26BCC8E9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438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0433-4503-4659-7153-57E9F4C41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E5DE6-FC37-32AC-B680-7EB4F4909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CF26B-A18E-A33C-01EA-61BBA853C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126AB-43C4-A5FC-055A-A5F155978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828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88865-04ED-AA3D-4C46-C2935991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53C33-22A5-DFFB-CE3C-FAAE2F39F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D1E2F-6825-8670-541E-E093A92A0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C5BB3-B782-BE99-242C-035A8B314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654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F148-1127-06DE-76E1-A7368471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24343-31B2-7078-A3EB-3D6A3A2A1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C9604-D08C-2FF0-8B21-807C19363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2687C-A560-2E7A-39F7-0833E8DA2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800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9A37-44A6-C7EC-C13E-F4E1CA7A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182A9-B5CC-2A2B-1F8F-BB129BD90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5EAB0-F30E-DB74-DC37-2B12AEB8C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82A9-407A-2C66-AA74-B867C1F23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506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77972-6794-DC21-B9DC-F072A1628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20FD9-3C93-B7BF-3071-FF64FCA0D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9A6E1-08A5-E047-F290-50EA7C6C8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D5E3D-D216-9EC8-D80A-D6218EDB5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743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9973-C87D-4536-D230-448006F2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C73C5-0662-DE68-7661-8652D2F16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5D11F-493C-748D-792E-1906CCAE0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48D28-EAC2-B584-4BFF-1BA200570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57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A579-EA5B-C133-2A53-7541F87E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F9718-BDE7-6A0A-C0A6-DB034A5B6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5A25C-BC56-BCEC-24D8-9C959E574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4C07A-AC00-3DC9-6677-FE07ADAD7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9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FCBEA-3DBA-DEFD-CD8A-147A2B9C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6C266-EB5C-2237-FD54-BFA172C84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90C75-5997-ABEA-1049-69815916C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32845-56D0-DA48-FA15-2B29389E8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577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CBB4-015D-B76E-AFED-4B62CA22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2162B-17F7-F690-EB28-5EDC4B7A1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F2303-9276-F235-72E7-DC8856F8F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D3E35-4D82-E04C-E80B-3FB8CDB6D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748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91DA-1DA8-D83A-B8C7-767D4A4C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4BFA1-023D-4D3D-0AA5-00BFE747A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40112-5052-6D7E-0AEB-082777746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750CF-CD3B-EA64-0AFA-7AC601532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423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A092-227A-3711-377B-88F79428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5F649-7FE4-4061-DB65-422799194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D972A-1222-CED3-5009-1BB440E9F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847B3-AFDC-76F1-CEF5-551EF276D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225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5FC6-1E62-4A42-4F22-8A3479F2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6EC08-6330-EA2E-FE0B-F0494E44C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92EC5-17C5-698E-551B-14937A669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D93A2-5849-FDA7-DD24-3810E9C6A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723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E2E5-15F1-78EC-52A9-CAED42AD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A0DFB-52A7-BA92-C424-9AE17193E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0F12A-60CA-35B1-2EAE-169687C74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8DC12-637D-8F39-2928-BFCFE9F12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4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FB9-A874-4FD1-A824-B4042D61D1ED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9C1E-59CB-458D-A8DF-3DF069B9691A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38F5-1F4F-49BC-AE81-A69593E39F1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9C03-4953-4667-8B38-5F82E8B7824A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53C9-7EE5-4279-90C5-33FD7C6945F2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720FA-FDEE-4E83-A4C7-BC2FB4952465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51516-679C-4D73-B89D-29E30821AF23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3A1F-F54C-4527-A898-553BBCF40EAB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13F6-D87E-4E9E-B027-94AE4C3308CD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0497A-627B-46A8-B138-876D4281251E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9246-640D-41B6-A07B-C0FA43D7FEE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17758-26A5-42DB-960B-17BBCDA98EFC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QK7cgDFIaU?feature=oembed" TargetMode="Externa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41Q9RokhKAM?feature=oembed" TargetMode="External"/><Relationship Id="rId4" Type="http://schemas.openxmlformats.org/officeDocument/2006/relationships/image" Target="../media/image2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/>
              <a:t>M</a:t>
            </a:r>
            <a:r>
              <a:rPr lang="en-US" sz="4000" dirty="0"/>
              <a:t>ANAGEMENT </a:t>
            </a:r>
            <a:r>
              <a:rPr lang="en-US" sz="4800" dirty="0"/>
              <a:t>I</a:t>
            </a:r>
            <a:r>
              <a:rPr lang="en-US" sz="4000" dirty="0"/>
              <a:t>NFORMATION </a:t>
            </a:r>
            <a:r>
              <a:rPr lang="en-US" sz="4800" dirty="0"/>
              <a:t>S</a:t>
            </a:r>
            <a:r>
              <a:rPr lang="en-US" sz="4000" dirty="0"/>
              <a:t>YSTEMS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9: Enterprise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995D0-4C77-2688-C8F6-83B0CA34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4FB377-FBE7-4CB5-E5FA-4DF5EE619DE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9F0C4B-D74C-C890-B54C-A47AE94A989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88825" cy="923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b="1" dirty="0">
                <a:solidFill>
                  <a:schemeClr val="bg1"/>
                </a:solidFill>
                <a:latin typeface="Garamond"/>
              </a:rPr>
              <a:t>  Recap of Chapter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424D09-6195-03F4-138F-C7343168208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D6A9247-1CA7-4D0B-2797-82D8CA03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5578985-7376-A838-E218-1589F1B9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8F52AF-902B-FF90-0CE6-5565039FE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 lnSpcReduction="10000"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Understand why information systems are vulnerable.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the most prevalent and dangerous types of malware.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Understand the dangers posed by threat actors.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the security issues raised by software vulnerabilities.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the security issues raised by artificial intelligence.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the business value of security and control.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an organizational framework for security and control.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technologies for safeguarding information resources.</a:t>
            </a:r>
          </a:p>
        </p:txBody>
      </p:sp>
    </p:spTree>
    <p:extLst>
      <p:ext uri="{BB962C8B-B14F-4D97-AF65-F5344CB8AC3E}">
        <p14:creationId xmlns:p14="http://schemas.microsoft.com/office/powerpoint/2010/main" val="77561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Enterprise Resource Planning</a:t>
            </a:r>
            <a:endParaRPr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743EE-895A-7653-E597-89458238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8C6BC-CDD2-DD7E-A463-843037196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Why Firms Need ERP: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Firms operate across multiple locations, functions, and supply chains.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Managers must respond quickly to orders, delays, and disruptions.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Firms require real-time visibility into sales, inventory, production, financial performance, etc.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Without ERP: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Separate legacy systems do not communicate effectively.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Managers rely on manual or outdated reports.</a:t>
            </a:r>
            <a:endParaRPr lang="en-US" altLang="zh-TW" sz="20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Sales may not know current inventory levels.</a:t>
            </a:r>
            <a:endParaRPr lang="en-US" altLang="zh-TW" sz="20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Production planning is disconnected from demand data.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Decision-makers lack a complete picture of firm performance.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Without integration, data becomes fragmented, inconsistent, and unreliable for decision making.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A9EEE-AD71-811F-EEF7-361A7A281FF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AF4AA-CE1B-E1A3-11FF-CA11DFB6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Why ERP?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C56D9-5D4E-96E5-8F96-D9782759BC7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56963-2886-3941-3E5B-D84417EE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93490-5E25-FF9D-E5AC-75FE96FF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795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CE89-301A-70F1-4260-6BE7F3EC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55BD8-8A9D-C759-E57B-798D3259D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779" y="1300900"/>
            <a:ext cx="666027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ERP systems create a single, unified view of the entire organization.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Built around a centralized database shared across departments.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Data is entered once and automatically updated across all functions.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Integrates key business processes such as sales, production, finance, supply chain, and HR.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Enables real-time coordination and enterprise-wide decision making.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7F8D10-BDB6-A3B1-C66D-3AAD06B37E3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1ED87-11C7-E07A-360C-C69F65EDD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Enterprise Resource Planning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A463A-E4AE-D67D-E769-807CD9E1890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F9F19-8B6A-699A-698A-67E99D9D8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A4FA5-9191-0EBF-702D-330CA4BD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B04577-CE92-0712-901A-C5F085D3D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1555423"/>
            <a:ext cx="421516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1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0297-766F-0EF8-EE78-BA084679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692D6-91EE-C2A1-56F2-B89DB10B2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0854" y="1300900"/>
            <a:ext cx="7056201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Integration → Value creation: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Standardized processes improve efficiency and reduce errors.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Centralized, consistent data improves accuracy and decision quality.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Real-time information enables faster response to customers and disruptions.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Shared data improves coordination across manufacturing, procurement, and sales.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Improves planning, forecasting, and resource allocation.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Strategic Benefits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Enhances reporting accuracy and global visibility.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Supports better long-term planning and competitive advantage.</a:t>
            </a: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01B2AE-6CE1-C23C-8BC5-8D39203D74F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F8A0F-7036-CDD2-949D-59E8C594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Business Value of ERP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3F38AB-C95A-584E-0F2C-FCADF9A7195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74789-26FA-C6DC-F425-8D302096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A4663-AA55-2095-C6DA-CEDC408B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4098" name="Picture 2" descr="What is ERP? Comprehensive Overview | GO-ERP">
            <a:extLst>
              <a:ext uri="{FF2B5EF4-FFF2-40B4-BE49-F238E27FC236}">
                <a16:creationId xmlns:a16="http://schemas.microsoft.com/office/drawing/2014/main" id="{7498CE30-354B-D353-9BAD-CABA85F458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4" r="17414"/>
          <a:stretch/>
        </p:blipFill>
        <p:spPr bwMode="auto">
          <a:xfrm>
            <a:off x="541770" y="1427532"/>
            <a:ext cx="397290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51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8EAD-480E-0B1B-EA84-1ADDC312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D9A20-B4F8-0F73-47B7-08A4DCEEE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742" y="1300900"/>
            <a:ext cx="6462313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Standardized Processes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ERP software includes predefined processes based on industry best practices.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Firms must adapt or map their processes to fit the ERP system.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Configuration vs Customization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Configuration: Adjust settings without changing code. Lower risk and easier to update.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Customization: Modify code to fit unique needs. Higher risk, more costly, and harder to maintain.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Configuration preserves integration and system stability, but excessive customization can increase costs, reduce performance, and undermine integration benefits.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FB4D9-4297-06B7-B52F-0D257C30F41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D4A7A-7BEA-F5AD-6185-B4B545BF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ERP Software Configuration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EAB0C4-2075-96AC-BC0D-B45D26BAA5B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4752B-276F-5D4C-62F1-0F9DE2B2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355C6-123E-548A-5CF9-50F4104E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076" name="Picture 4" descr="ERP Customization vs. Configuration: Key Differences">
            <a:extLst>
              <a:ext uri="{FF2B5EF4-FFF2-40B4-BE49-F238E27FC236}">
                <a16:creationId xmlns:a16="http://schemas.microsoft.com/office/drawing/2014/main" id="{6482BB95-ED97-642F-DA93-D28570698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69" y="1784023"/>
            <a:ext cx="444683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77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E9EA-809F-D213-FEE1-034B095A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36C73A-E4F0-75D2-DCE9-247BB740473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28B39-BDB0-3DBC-C235-F98FFBF5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en-US" sz="2200" dirty="0">
                <a:solidFill>
                  <a:schemeClr val="bg1"/>
                </a:solidFill>
              </a:rPr>
              <a:t>Software Connect (2025, July 16). </a:t>
            </a:r>
            <a:r>
              <a:rPr lang="en-US" sz="2200" i="1" dirty="0">
                <a:solidFill>
                  <a:schemeClr val="bg1"/>
                </a:solidFill>
              </a:rPr>
              <a:t>Hidden Costs of ERP Customization: Lessons from a $600M</a:t>
            </a:r>
            <a:br>
              <a:rPr lang="en-US" sz="2200" i="1" dirty="0">
                <a:solidFill>
                  <a:schemeClr val="bg1"/>
                </a:solidFill>
              </a:rPr>
            </a:br>
            <a:r>
              <a:rPr lang="en-US" sz="2200" i="1" dirty="0">
                <a:solidFill>
                  <a:schemeClr val="bg1"/>
                </a:solidFill>
              </a:rPr>
              <a:t>  Failure</a:t>
            </a:r>
            <a:r>
              <a:rPr lang="en-US" sz="2200" dirty="0">
                <a:solidFill>
                  <a:schemeClr val="bg1"/>
                </a:solidFill>
              </a:rPr>
              <a:t> [Video]. YouTube. https://youtu.be/-QK7cgDFIaU?si=JDMbhddz_eegkSnc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2C25D-4D45-1848-19BC-145E99704CE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08C48-22BB-A6F7-453E-EB648DEB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E6EE4-7A84-3C3E-4D46-C0C0541A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" name="Online Media 2" title="Hidden Costs of ERP Customization: Lessons from a $600M Failure">
            <a:hlinkClick r:id="" action="ppaction://media"/>
            <a:extLst>
              <a:ext uri="{FF2B5EF4-FFF2-40B4-BE49-F238E27FC236}">
                <a16:creationId xmlns:a16="http://schemas.microsoft.com/office/drawing/2014/main" id="{35CE61C5-4575-9E98-DE3B-1A0E75C0262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2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F1118-C5D5-61F5-DBFB-80DAFC1F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F2390-07E3-BBFC-0DAE-4E6CCE0F9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2380" y="1300900"/>
            <a:ext cx="757467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ERP vendors increasingly integrate AI and natural language processing.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Systems can understand user queries and provide conversational responses.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AI improves performance across accounting, finance, HR, manufacturing, and product development.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AI identifies patterns in large structured and unstructured datasets.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Provides predictive insights for workflow optimization and cost reduction.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F7E7D8-7A3F-08C4-342F-7EF3920FE73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92A16-729A-B75B-27EF-ECE8558DC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AI and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885CE-1459-1EF3-0665-A20E3DA7F66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13AB1-D096-A097-D05C-42E1B611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F6169-64F2-E9B3-6F8F-C72B085F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6146" name="Picture 2" descr="AI in ERP: Smarter Systems, Better Business Decisions">
            <a:extLst>
              <a:ext uri="{FF2B5EF4-FFF2-40B4-BE49-F238E27FC236}">
                <a16:creationId xmlns:a16="http://schemas.microsoft.com/office/drawing/2014/main" id="{24709C7A-2E23-B20D-AB9B-CDCD9FA3F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8" r="24988"/>
          <a:stretch/>
        </p:blipFill>
        <p:spPr bwMode="auto">
          <a:xfrm>
            <a:off x="541770" y="1427532"/>
            <a:ext cx="342794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57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1957-5B3B-C06E-B6AC-A63C4840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DA2DF-6FF1-1637-CCAB-EA4EB6FCD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Digital Assistants: Chatbots respond to employee and customer inquiries.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Predictive Analytics: Predicts equipment failures and recommends preventative maintenance.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Anomaly Detection: Flags irregular financial data and unusual transactions.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Product Development and Innovation: Suggests product improvements and new ideas.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Financial Forecasting: Models financial outcomes under different economic scenarios.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Workflow Optimization: Supports supply chain planning, inventory management, transaction processing, and transportation.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85DAC-8AB3-FD54-A1F3-72914930EFA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70DCE-BD3A-6788-B5AD-25507222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AI Applications in ERP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AD14B6-8A01-173A-278B-41701223919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B2FFA-5E35-1142-A7E7-B7C56488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EFEA3-744A-FD0C-93FB-1D80C4D8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31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783BF-E9DE-E754-B814-BA2C4B9FF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B0F5E-2B7B-897A-53BE-8A897B8001C4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Supply Chain Management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692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F35F0-3FE0-A070-5FD9-90200CD7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994B-73C4-737C-AA96-5005286D4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Supply Chains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network of organizations and processes that procure raw materials, transform them into intermediate and finished goods, and distribute them to customers.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Includes suppliers, manufacturers, distribution centers, retailers, and customers.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Materials, information, and payments flow both upstream and downstream.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Returned items also flow upstream from customers back to sellers.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Why Supply Chain Management Matters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Small firms with simple products can manage suppliers using phone and email.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Large firms producing complex goods work with hundreds or thousands of suppliers.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Each supplier has its own suppliers, creating a vast global network.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SCM systems address challenges of scale, coordination, and information flow.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31BDD-FBD7-D7A5-D70A-F207DAF92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C7421-4CE9-F8E1-BEA3-9695BB922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Supply Chains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DA7E51-F34B-9D7E-E609-E3DAC377369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27175-F932-8DAE-1746-BC969A3B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09894-DE10-1C97-9645-38E29DE4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852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3F1E1-FF95-649E-FAD9-EF90221E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DD09C-BE17-602A-F245-E43929ED9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029" y="1300900"/>
            <a:ext cx="418102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Goods begin as raw materials.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Move into intermediate components.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Become finished products.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Shipped to distribution centers.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Distributed to retailers and customers.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D54B4-2224-304A-DDE3-B5BC7618DEF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C1DBB7-5AA0-8856-26CB-3E4DDA7E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Supply Chain Transformation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C63DEF-C625-AC54-577A-67CB53E819A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712A2-BE7C-C4A1-D8E5-8E2263CF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2DA3D-76E0-7557-3AA8-157F0352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B71AD2-6218-E958-2245-F32139FA9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1427532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5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87ECA-82A8-3414-18FD-F0DEED773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C7C250-BA88-95A2-D34F-1C5C118DF1B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3E48A-9C45-D1CD-1A76-4BC5CA301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Supply Chain Transformation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385139-26A1-C717-BBA3-F98B01B8385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F16A5-2988-AD5D-AD4D-3ECC7DCA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DB907-D83B-4BC3-6E14-BBD0D377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7" descr="A flow diagram shows the major entities in Nike’s supply chain and the flow of information between upstream and downstream. Long description available in notes, press f6.">
            <a:extLst>
              <a:ext uri="{FF2B5EF4-FFF2-40B4-BE49-F238E27FC236}">
                <a16:creationId xmlns:a16="http://schemas.microsoft.com/office/drawing/2014/main" id="{427AA555-8B9A-4615-4AC8-2CD2D37E7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72" y="970332"/>
            <a:ext cx="949867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4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A0D6C-16CC-1A76-6CC3-13F66F2F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539FC-D5B6-BE98-E19B-406E39097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Inefficiencies are often caused by inaccurate or delayed information and can account for up to 25% of operating costs.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Common Problems: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Parts shortages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Excess inventory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Underused production capacity</a:t>
            </a:r>
            <a:endParaRPr lang="en-US" altLang="zh-TW" sz="1200" dirty="0"/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 ideal supply chain would operate under a just-in-time (JIT) strategy, where components arrive as needed and finished goods are shipped as they are produced.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Due to uncertainty, firms maintain safety stock, which acts as a buffer but also contributes to inefficiency.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DFDA15-98A2-CFC2-6D1E-E4775A4A53B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4541E-3D4E-07A4-6A97-8798E54A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Supply Chain Inefficiencies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12CD43-8A60-66F4-F50E-35C34D0ADBB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A2A55-D5AA-F545-7887-F3D315DA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FE7E9-AB0F-5164-AB7B-49A7B07B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377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F5B1-4996-C606-2097-5FF2819F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D0805-602A-DC6C-67AC-0DCF6BDB1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681" y="1300900"/>
            <a:ext cx="613237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Another major source of inefficiency in supply chains is the bullwhip effect.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Small fluctuations in retail demand become amplified as information moves upstream.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Each supply chain participant (retailer, distributor, manufacturer, supplier) tends to overreact to demand changes.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leads to excess inventory, overproduction, and increased warehousing and transportation costs.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F7D267-2388-8F5A-4FBE-4510F89346A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7C21C-E2D7-EFDF-A194-E2616C92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Bullwhip Effect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283D41-DA62-86F5-B68D-F3FA5448086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5895A-E1E8-35A6-A6CC-75105C7C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96D1F-D994-59C0-0EEC-36B533D5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  <p:pic>
        <p:nvPicPr>
          <p:cNvPr id="9218" name="Picture 2" descr="The Bullwhip Effect - Sketchplanations">
            <a:extLst>
              <a:ext uri="{FF2B5EF4-FFF2-40B4-BE49-F238E27FC236}">
                <a16:creationId xmlns:a16="http://schemas.microsoft.com/office/drawing/2014/main" id="{CFA981B5-2926-F18E-9E60-F95C506B4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1" y="1656132"/>
            <a:ext cx="485679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92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F2B8-71EA-FD5E-C774-CC413545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BC11C-20D8-C048-6B0D-A055AF312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These inefficiencies are largely caused by a lack of visibility into real demand and supply conditions.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They can be reduced by sharing accurate, real-time information across all members of the supply chain.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SCM systems provide shared data on: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Inventory levels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Production schedules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Forecasts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Shipments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enables coordinated adjustments across the entire network.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4EF425-8DDD-9AC2-4BD4-B3C52DB50BA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A53C8C-2BB0-B8FC-DC90-6AFE65F56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Solution to Supply Chain Inefficiencies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7DE9D9-11A3-DCAA-76A1-CABA0F1245A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EE024-AC4F-B038-28D0-A28A12DD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D1267-6BFA-1986-ADCD-CEE0DB28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115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6EC18-BCA2-8956-A6B3-9A104AFCB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28F34-7300-ECF6-0C06-BFAC1BFA2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899"/>
            <a:ext cx="11105284" cy="5090473"/>
          </a:xfrm>
        </p:spPr>
        <p:txBody>
          <a:bodyPr>
            <a:normAutofit lnSpcReduction="10000"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There are two major categories of SCM software:</a:t>
            </a: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Planning systems decide what should happen, while execution systems manage what is happening.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B5B4B-104A-9666-905C-5F60E30E3E9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9C9B2-A677-BCAD-C4E8-77610328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Supply Chain Management Software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AF5B0-7C4F-37A3-D805-96C2917689F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80059-FA29-D7C3-DEAC-0CFBC9E9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9EFD7-5A51-6388-1D8B-601AC0D4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376593-3A12-0B87-DA4B-E26AE601E604}"/>
              </a:ext>
            </a:extLst>
          </p:cNvPr>
          <p:cNvSpPr txBox="1">
            <a:spLocks/>
          </p:cNvSpPr>
          <p:nvPr/>
        </p:nvSpPr>
        <p:spPr>
          <a:xfrm>
            <a:off x="6094411" y="1849226"/>
            <a:ext cx="5552643" cy="4231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0000"/>
                </a:solidFill>
                <a:latin typeface="Garamond"/>
              </a:rPr>
              <a:t>Supply Chain Planning Systems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Model the supply chain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Forecast demand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Develop sourcing and production plans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Determine inventory levels and storage locations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Identify transportation methods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Adjust production schedules in response to demand changes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80B9EB-005F-3943-C99B-8FD52394E6E7}"/>
              </a:ext>
            </a:extLst>
          </p:cNvPr>
          <p:cNvSpPr txBox="1">
            <a:spLocks/>
          </p:cNvSpPr>
          <p:nvPr/>
        </p:nvSpPr>
        <p:spPr>
          <a:xfrm>
            <a:off x="541768" y="1849226"/>
            <a:ext cx="5552643" cy="4231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0000"/>
                </a:solidFill>
                <a:latin typeface="Garamond"/>
              </a:rPr>
              <a:t>Supply Chain Execution Systems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Manage the physical movement of goods through warehouses and distribution centers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Track inventory, shipments, and logistics operations.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Coordinate warehouse activities such as picking, packing, and loading.</a:t>
            </a:r>
          </a:p>
        </p:txBody>
      </p:sp>
    </p:spTree>
    <p:extLst>
      <p:ext uri="{BB962C8B-B14F-4D97-AF65-F5344CB8AC3E}">
        <p14:creationId xmlns:p14="http://schemas.microsoft.com/office/powerpoint/2010/main" val="84794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1A4D-C980-97BD-6844-FA6FF56A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70F8B-6582-9D9F-ADE9-A2F6207A9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SCMs can enhance efficiency by enabling more demand-driven systems.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Push-Based Model (Build-to-Stock)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Production based on forecasts.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Inventory levels determined by predicted demand.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Goods are pushed downstream based on planned sales.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Pull-Based Model (Demand-Driven / Build-to-Order)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Actual customer orders trigger production and replenishment.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Information flows upstream immediately from retailers.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Only products needed to satisfy real customer orders move downstream.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Push predicts demand, Pull reacts to demand.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A6F5C1-7C52-D1EB-2B43-C9F908F8F13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BC3F4-81EB-9FB2-22E1-DC83E94B7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Push-Based vs Pull-Based Supply Chains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005354-2873-4D39-C4B3-81EA8B72DC6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0274A-DED7-1835-E3D4-CBC6DE96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B285E-2C1E-97AE-8E97-F17EB44A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309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7A9FB-D00D-96F2-8097-37BD183B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79CC71-9F33-B494-2123-465474DB1AA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E8C85-F0A8-292B-C195-A2D394BC6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Push-Based vs Pull-Based Supply Chains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4CF312-388A-0BAD-80FE-081466AE1B8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98A35-593A-5FBE-D9A9-DFDF87EE5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658FA-229B-9D61-21A7-88665D0B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 descr="A flow diagram shows push based and pull based models. Long description available in notes, press f6.">
            <a:extLst>
              <a:ext uri="{FF2B5EF4-FFF2-40B4-BE49-F238E27FC236}">
                <a16:creationId xmlns:a16="http://schemas.microsoft.com/office/drawing/2014/main" id="{5A4F19FD-441F-DE5B-E4B2-15C8ECDED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42" y="970332"/>
            <a:ext cx="1028253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5FDB-1102-D435-EE14-D4B8EDA6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3B2A0-0BBF-A8B2-01E1-20D047C53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427" y="1300900"/>
            <a:ext cx="7065628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Supply Chain Integration Before the Internet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Internal systems for purchasing, manufacturing, and distribution often could not communicate.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Difficult to share real-time inventory, schedules, and demand information.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Limited visibility led to delays, miscommunication, and higher operating costs.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Internet-Enabled Supply Chain Integration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ERP and SCM systems use Internet technology to share information across partners.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Employees and partners access systems through online platforms to collaborate in real time.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Integration reduces delays and improves coordination across all stages.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0306F4-AE86-3DE2-DFD7-13CADD1AF7C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69C88-5327-E15E-BA31-E4BAAE54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SCM and the 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C6528-67E0-1A21-5464-96B92DF06F6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B4E02-5AF3-3EBE-45C3-0987F7F1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7186B-BF96-91FA-BE1B-446CC11B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  <p:pic>
        <p:nvPicPr>
          <p:cNvPr id="1026" name="Picture 2" descr="Impact of Wi-Fi on Supply Chain Management - Aprecomm.ai">
            <a:extLst>
              <a:ext uri="{FF2B5EF4-FFF2-40B4-BE49-F238E27FC236}">
                <a16:creationId xmlns:a16="http://schemas.microsoft.com/office/drawing/2014/main" id="{BB0CD854-4FE0-7C00-C509-9510EA4934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36" r="9249"/>
          <a:stretch>
            <a:fillRect/>
          </a:stretch>
        </p:blipFill>
        <p:spPr bwMode="auto">
          <a:xfrm>
            <a:off x="541770" y="1884732"/>
            <a:ext cx="396868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58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3F28E-3116-1E65-DC38-62E35883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2D78-0DD8-1F95-896F-1A456E16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1" y="1300900"/>
            <a:ext cx="5670241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internet enables multidirectional information flows among suppliers, manufacturers, logistics providers, retailers, and customers.</a:t>
            </a: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Supply chains become concurrent rather than sequential.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Sequential: step-by-step, one firm at a time.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Concurrent: multiple firms coordinate simultaneously in real time.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Partners can immediately adjust inventories, orders, capacity, and transportation plans.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E0D8E-23F2-54B0-DD14-9BFDAE3F97F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3C26F-C0F5-BE3E-61B2-D5CD1FB8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Internet-Driven Supply Chains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93ACB-C2A1-C64A-A02C-4913FA15157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970FE-D815-51EB-A217-58C76990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Management Information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07200-4695-B944-AED4-CC3D918CA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  <p:pic>
        <p:nvPicPr>
          <p:cNvPr id="9" name="Picture 8" descr="A chain diagram shows the internet driven supply chain. Long description available in notes, press f6.">
            <a:extLst>
              <a:ext uri="{FF2B5EF4-FFF2-40B4-BE49-F238E27FC236}">
                <a16:creationId xmlns:a16="http://schemas.microsoft.com/office/drawing/2014/main" id="{383EDEA6-A11E-925D-9293-9EA45BC17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1" y="1903020"/>
            <a:ext cx="5486400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9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D7231-E033-A0B9-9621-E377D097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8F402-FC54-E534-5EF3-BA09A157F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6710" y="1300900"/>
            <a:ext cx="781034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Match supply with actual demand more accurately.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Reduce excess inventory and storage costs.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Improve product availability and delivery speed.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Speed time to market for new products.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Improve utilization of assets and production capacity.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Reduce supply chain costs, which can be up to 75% of total operating expenses.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Increase sales by ensuring products are available when customers want them.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DD3ED-BA70-C83C-28BF-D8732F184F6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E5FDB-5972-A1BE-A766-D331CFEE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Business Value of SCM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AA2899-46EB-2B79-0598-FAE57346929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3AE40-C460-2BF8-8C1B-9618E335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33E37-B744-A904-DE32-83697442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3314" name="Picture 2" descr="What is SCM?">
            <a:extLst>
              <a:ext uri="{FF2B5EF4-FFF2-40B4-BE49-F238E27FC236}">
                <a16:creationId xmlns:a16="http://schemas.microsoft.com/office/drawing/2014/main" id="{0D166AE4-0B9A-2D9D-038D-EDE6CB6643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72"/>
          <a:stretch/>
        </p:blipFill>
        <p:spPr bwMode="auto">
          <a:xfrm>
            <a:off x="541770" y="1427532"/>
            <a:ext cx="313983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436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4729B-EE8A-AB5B-03F3-9B6A9453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4E207-BFCD-4585-1968-B4CA5A6AA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084" y="1300900"/>
            <a:ext cx="6763971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AI enables real-time, data-driven supply chain decisions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Accurate Inventory Management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AI manages inventory levels with greater precision.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Forecasting adjusts stock levels to match real demand.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Computer vision tracks inventory in warehouses and distribution centers.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Timely Deliveries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Machine learning optimizes delivery routes and schedules.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Models incorporate order volume, deadlines, customer priority, and product availability.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AI improves estimated delivery times across networks.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34BA5-18AC-36AE-66FA-F6DCBE668B3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6DD31-62A3-C33E-9EC3-73E6A68D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AI and SCM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35508D-C83A-EB2F-38A4-135E348CB6C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3B783-B27A-BA05-0085-FA1D0C8B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868AF-102A-900D-BA69-F61DD7E2D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5362" name="Picture 2" descr="AI In Supply Chain Management - Proxzar">
            <a:extLst>
              <a:ext uri="{FF2B5EF4-FFF2-40B4-BE49-F238E27FC236}">
                <a16:creationId xmlns:a16="http://schemas.microsoft.com/office/drawing/2014/main" id="{14FB5E2B-2FA5-4E82-A5D1-1988FACBB3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4" r="23944"/>
          <a:stretch/>
        </p:blipFill>
        <p:spPr bwMode="auto">
          <a:xfrm>
            <a:off x="541770" y="1656132"/>
            <a:ext cx="419121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06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94B2-47EE-55E6-7BDE-D4CE4030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2F7C0-A8D9-6FE2-C93F-B13FF2FFB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Improved Supply Chain Sustainability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AI identifies waste and inefficiencies in fuel use and material consumption.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Helps organizations reduce environmental impact.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Improves forecasts and production planning to avoid overproduction.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Precise Demand Planning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Uses internal signals such as sales trends and marketing data.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Incorporates external signals such as weather, economic conditions, and disruptions.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Produces more accurate forecasts for global markets.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Simulations for Supply Chain Optimization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AI-powered simulations analyze complex logistics networks.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Identify bottlenecks and test alternative routes or facility locations.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Help evaluate impacts of product redesigns, distribution changes, and demand shifts.</a:t>
            </a:r>
            <a:endParaRPr lang="en-US" altLang="zh-TW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A1908C-56E0-4133-46A5-3E96A3FBAE5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CA7403-8CF1-1B60-0DDD-BA87CA4F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AI and SCM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18E85-2ED0-1560-DFE4-E25CC752D98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473BC-5D43-B940-A71D-52D7CA81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54FD5-0ED3-35C0-6865-A21FAF5D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049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9C644-9255-6AD5-72F8-09DF01BD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287D83-FE49-3F46-FBA2-96DE90BB234A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Customer Relationship Management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36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3DFC-23AD-1359-A381-95B32286C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A1240-BA49-31A5-43AD-1DAE4DBC4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What Is Customer Relationship Management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CRM systems capture, consolidate, analyze, and distribute customer data across the organization.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Provide a unified view of each customer by integrating data from all interactions.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Support sales, service, and marketing processes.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Enable firms to personalize communication and tailor offerings.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Why CRM Matters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Product-based advantages are often short-lived.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Firms increasingly compete on customer relationships.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Strong relationships increase retention, loyalty, and lifetime value.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Requires accurate, integrated data across all customer touch points.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29496-1DA4-6615-F576-D13480029CC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DBF584-A834-F417-B3E1-F5779E9D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Customer Relationship Management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5FD2C-89E7-8404-E96F-3AC8AED64B0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73C93-166A-AAA9-17DD-0A20FB8C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3DE11-4B91-2C84-6812-39B35D6F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32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2579-9901-566F-807B-B34080DB4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6C7E8-5AC7-D54C-92A0-0E798EA38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Why CRM?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Large firms cannot personally know every customer.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Customers interact through many channels: web, phone, email, social media, mobile, retail.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Data are often fragmented across departments and systems.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CRM integrates this data into a complete customer profile.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What CRM Systems Help Firms Answer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Who are our most loyal and profitable customers.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What is each customer’s lifetime value.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What products specific customers prefer.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Which customers should receive targeted offers or service.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to acquire new profitable customers and retain existing ones.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67274-1E8B-0EA2-A3E0-59A25438409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974E5-BBA8-D1BA-BF79-15CFC268A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Customer Relationship Management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4891FB-D2EE-4DE7-7513-ABE302FB748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6B2A3-9D12-DB50-DB58-3DE635FE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BA363-D713-9FE2-54BF-F77B25C1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155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16E41-6ADE-7870-3AF5-B84936AB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B846F-9938-E0E7-11BD-83558541F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035" y="1300900"/>
            <a:ext cx="6500020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CRM systems collect data from multiple customer touch points.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Sales Data: Telephone, web, retail store, and field sales.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Service Data: Call centers, web self-service, mobile interactions, field service, social media.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Marketing Data: Campaign data, content interactions, and marketing analytics.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EF61EF-D024-6A4C-F871-C0D48AE3533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FDA15-C13A-4D26-E370-F9D947BE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Customer Touch Points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20FCA0-F53E-5F8D-B7A2-A079E83AE4A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6B19B-A976-1715-1FB0-20BD90A6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6A65C-78A3-EB4C-D2F4-96F9BDD1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 descr="A pie chart shows the three components of customer relationship management. Long description available in notes, press f6.">
            <a:extLst>
              <a:ext uri="{FF2B5EF4-FFF2-40B4-BE49-F238E27FC236}">
                <a16:creationId xmlns:a16="http://schemas.microsoft.com/office/drawing/2014/main" id="{3EC7D47E-4A21-07FB-0EDE-9547153B4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1427532"/>
            <a:ext cx="428567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9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5445F-350E-9E79-3FF7-2BC9F9C6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7D0BB-67B1-9E58-1FA7-3196CE832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300900"/>
            <a:ext cx="70750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Ranges from specialized tools (e.g., website personalization) to enterprise-wide CRM suites.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Major vendors: Oracle, SAP, Salesforce, Microsoft Dynamics.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Often integrated with SCM and ERP systems.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Core CRM functions include: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Sales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Customer Service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Marketing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21244-1312-E33A-83C5-04575B1F7F4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3316A-4590-8984-2B36-E81B75FB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CRM Software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8AF6E6-33A5-3715-FCC9-2B7AC366E81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6472-6E3C-8A91-2384-B0B27977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B38CE-53F6-5A87-D212-EDA5F99D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7410" name="Picture 2" descr="Post image">
            <a:extLst>
              <a:ext uri="{FF2B5EF4-FFF2-40B4-BE49-F238E27FC236}">
                <a16:creationId xmlns:a16="http://schemas.microsoft.com/office/drawing/2014/main" id="{CFD5AD58-8137-3800-B8F0-5D9DEF89F2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853" b="11019"/>
          <a:stretch/>
        </p:blipFill>
        <p:spPr bwMode="auto">
          <a:xfrm>
            <a:off x="541770" y="1427532"/>
            <a:ext cx="394172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53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D9672-E792-E560-B3A1-7C17B184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5F2B7-DBE9-B283-EEF0-0435441E1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225" y="1300900"/>
            <a:ext cx="6417830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SFA modules increase salesperson productivity by identifying profitable customers.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Provide customer data, product information, configuration tools, and quote generation.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Enable personalized recommendations based on purchase history.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Support sales forecasting, territory management, and team selling.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Reduce cost per sale and customer acquisition costs.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0649A-C633-BCAE-4556-F12EACFF749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70CD7-33BA-F5EB-1629-66F65B85D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CRM Software: Sales Force Automation (SFA)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AD85C-C6FB-AC27-360D-7BD55B1BC39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99F65-BDA6-0BA0-B064-4F610F60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F56EF-D488-BFB5-F44A-B33CFBC3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AB9BE8-2C0C-6119-B383-1C5369474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1427532"/>
            <a:ext cx="460032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0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327A-2AEA-1F87-8B14-F11763A0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4581-4705-0B75-75CE-C4FD44388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2925" y="1300900"/>
            <a:ext cx="7294130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Supports call centers, help desks, and service teams.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Captures and shares customer information across support staff.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Routes requests to the appropriate service representative.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Reduces response time and increases cases handled per day.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Enables online self-service through portals and chat.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Improves service quality while reducing costs.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6716B-7741-1710-1F90-8C7CFDC06E8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B1F6E-F03D-3B79-C83B-A83B1E97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CRM Software: Customer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A4CD3D-6825-15C9-A551-2423EA184EB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4CBC1-A70C-7AB9-CC3C-7D3406BB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D50BB-73B6-3173-4A85-76848B01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0484" name="Picture 4" descr="Customer service related icons image | Premium Vector">
            <a:extLst>
              <a:ext uri="{FF2B5EF4-FFF2-40B4-BE49-F238E27FC236}">
                <a16:creationId xmlns:a16="http://schemas.microsoft.com/office/drawing/2014/main" id="{824E97DB-7B32-B4FD-C59E-65125FB96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0" y="1427532"/>
            <a:ext cx="3717489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72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2EA1F-9EBB-AC12-4BD7-0AF3DC39D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8C6C6-DB73-592C-46A5-F894C9687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293" y="1300900"/>
            <a:ext cx="7112762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Supports targeted marketing campaigns and lead qualification.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Captures customer and prospect data.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Tracks and evaluates campaign performance across channels.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Enables segmentation, cross-selling, and product personalization.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Compares channel effectiveness (web, email, social media, direct mail).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5DAA3B-ABA0-34EA-9B03-E0A3E36852D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473E-E766-A015-0CB0-7E006003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CRM Software: Marketing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8D0445-D402-DB7E-6D4B-E75B6A0F397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8978B-D257-A648-C1F1-E0539875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F4F75-4F14-EEB5-978F-D98F93B5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 descr="A pie chart shows the Responses by Channel for January 2024 Promotional Campaign. Long description available in notes, press f6.">
            <a:extLst>
              <a:ext uri="{FF2B5EF4-FFF2-40B4-BE49-F238E27FC236}">
                <a16:creationId xmlns:a16="http://schemas.microsoft.com/office/drawing/2014/main" id="{16BA1851-C784-31AB-F119-5D8C0316E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1" y="1427532"/>
            <a:ext cx="367607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4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6EFC-500C-F2F8-D9BF-65A5241E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A681-E3E5-4AFD-E2EC-0B63F9214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975" y="1300900"/>
            <a:ext cx="6132080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CRM supports key business processes across functions.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Sales: Account management, lead management, order management, sales planning, field sales, analytics.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Marketing: Campaign management, channel promotions, events, market planning, operations, analytics.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Service: Service delivery, customer satisfaction management, returns management, service planning, call center operations, analytics.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DE10D-8558-F023-BBAF-48298DE167C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334BB-921C-7497-4154-F2405FE99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CRM System Capabilities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F6D95-B515-AA43-8044-C2957B6051C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CB82E-8034-613D-D22A-9C5B2BE2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B9D21-4AEF-2CC6-231D-87346B1B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 descr="A chart shows the capabilities of customer data in sales, marketing, and service processes found in major C R M software products. Long description available in notes, press f6.">
            <a:extLst>
              <a:ext uri="{FF2B5EF4-FFF2-40B4-BE49-F238E27FC236}">
                <a16:creationId xmlns:a16="http://schemas.microsoft.com/office/drawing/2014/main" id="{A8CD1AE5-D568-FF98-C850-CE24FD3FE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1427532"/>
            <a:ext cx="4876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5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BCCC-153F-1372-2740-98C6B0DF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E7533-9A3B-8E8C-DC48-3510B6802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262" y="1300900"/>
            <a:ext cx="4661793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Operational CRM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Customer-facing tools.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Includes SFA, customer service, and marketing automation.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Analytical CRM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Analyzes customer data to improve decision-making.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Identifies profitable customers, segments, and buying patterns.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Supports customer profiling and behavior prediction.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FD3F8-12C6-E1B1-A310-67FC9E04A5B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EAA0D-E830-BBDD-F031-8CBEBC3CF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Operational CRM vs Analytical CRM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73A086-EF63-2E1D-AB39-E5FD06B975E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B351B-E580-7D2C-4107-D002B5B2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07EE5-A413-013B-BEBD-9CED3FB8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 descr="A chart shows an analytical C R M with customer data and a customer data warehouse or analytic platform. Long description available in notes, press f6.">
            <a:extLst>
              <a:ext uri="{FF2B5EF4-FFF2-40B4-BE49-F238E27FC236}">
                <a16:creationId xmlns:a16="http://schemas.microsoft.com/office/drawing/2014/main" id="{023B0BB3-1C59-AF94-552D-55B0BAD1D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1656132"/>
            <a:ext cx="633429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8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E70F-372B-9A65-C3E6-C19F18CC6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E40FC-AF76-54CF-A708-D51BC7062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124" y="1300900"/>
            <a:ext cx="6836931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Increase customer satisfaction and loyalty.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Reduce marketing costs through better targeting.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Lower customer acquisition and retention costs.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Increase revenue through cross-selling and upselling.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Reduce customer churn.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Improve efficiency in sales, service, and marketing operations.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3C573C-0715-E598-19F0-564DE197A12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8B539-5C07-D63E-9D0A-41B3D473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Business Value of CRM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D1118C-B794-9C0B-98B5-5BDFF9C0E1C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A6476-E862-4ABB-BEF8-35028BD0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EF52C-5DC1-1708-C695-B95B0E99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1506" name="Picture 2" descr="What are the Advantages of CRM for your Business?">
            <a:extLst>
              <a:ext uri="{FF2B5EF4-FFF2-40B4-BE49-F238E27FC236}">
                <a16:creationId xmlns:a16="http://schemas.microsoft.com/office/drawing/2014/main" id="{D0CD6FFA-4B65-856D-E681-63B86A712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" t="19167" r="8478" b="5695"/>
          <a:stretch/>
        </p:blipFill>
        <p:spPr bwMode="auto">
          <a:xfrm>
            <a:off x="541770" y="1427532"/>
            <a:ext cx="4081842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62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CA13-9B5E-2BD9-9AFC-D8E27569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8F1E8-300C-026D-8C04-BF7E148AA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Digital Assistants: Chatbots handle inquiries and capture customer data automatically.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Field Service Optimization: Predictive AI improves scheduling and resource allocation.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Lead Scoring and Conversion: Identifies high-probability prospects and prioritizes opportunities.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Pricing Optimization: Recommends prices and discounts to maximize revenue.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Predictive Scoring: Identifies customers most likely to engage or purchase.</a:t>
            </a: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D8E0E1-145A-1F51-217B-D368D649ADE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F2E3D-EB7B-13DB-06D8-8E6CEAD0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AI and CRM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DFC2AF-299E-0C32-BCDC-C37CCA0A1B2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32A32-E80B-49E2-F84A-5128AEFB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29CF0-B051-CCC3-E1C3-CFD3A690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834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67C44-2719-043B-A406-F63BE58F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E99859-BC13-3BCF-1250-7C487258003C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Challenges to Enterprise Application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748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8223-2963-A10B-D588-754EB3E7F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D7E7C-5AE5-B873-1DF1-2CC721245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ERP, SCM, and CRM systems promise benefits such as lower inventory, faster order-to-delivery times, improved customer response, and higher profitability.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These benefits require firms to redesign business processes to fit the system, and enterprise applications are costly to purchase and implement.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Survey (Panorama Consulting Group, 2024):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27.5% of projects experienced cost overruns.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5.3% had significant overruns.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Almost one-third were completed late.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Causes of Overrun: organizational issues, scope creep, excessive customization, underestimating training and change management needs, etc.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C1530-9DBE-E830-7509-2DD9C338E26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587AF-80DB-36A6-B795-6BF8C894C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Challenge: Implementation Costs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7E3D81-AE9C-8C41-115A-3912115BCBC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861E5-512B-2031-88A0-484B4EF4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3C062-9F6E-BF15-9162-90745616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370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3FC3-0C4A-58C6-3BE0-14A71922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8416-0D5A-8BCD-D0D2-6CBA7B69F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Despite high costs and risks, firms adopt enterprise systems.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11EA11-8C2B-F0E8-3CC2-53E027E096F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FF7E4-D36B-4610-FED1-093E1093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Why Firms Still Adopt Enterprise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83C2B-7251-E970-7D8E-12E549A4339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02F6C-79FF-0D22-04AA-C20ED3FB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383FD-C8EC-5B35-BEEF-AC1C4D18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1B5C44-AF8D-BA45-FF54-37BC965B89CF}"/>
              </a:ext>
            </a:extLst>
          </p:cNvPr>
          <p:cNvSpPr txBox="1">
            <a:spLocks/>
          </p:cNvSpPr>
          <p:nvPr/>
        </p:nvSpPr>
        <p:spPr>
          <a:xfrm>
            <a:off x="541770" y="1910500"/>
            <a:ext cx="6627585" cy="4471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>
                <a:solidFill>
                  <a:srgbClr val="000000"/>
                </a:solidFill>
                <a:latin typeface="Garamond"/>
              </a:rPr>
              <a:t>Short-run pain vs long-run efficiency: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High upfront costs, but lower operating costs over time.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Automation reduces duplication and manual errors.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>
              <a:solidFill>
                <a:srgbClr val="000000"/>
              </a:solidFill>
              <a:latin typeface="Garamond"/>
            </a:endParaRP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>
                <a:solidFill>
                  <a:srgbClr val="000000"/>
                </a:solidFill>
                <a:latin typeface="Garamond"/>
              </a:rPr>
              <a:t>Standardization vs flexibility tradeoff: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Standard processes improve coordination and data consistency.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But reduce ability to customize to specific needs.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>
              <a:solidFill>
                <a:srgbClr val="000000"/>
              </a:solidFill>
              <a:latin typeface="Garamond"/>
            </a:endParaRP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>
                <a:solidFill>
                  <a:srgbClr val="000000"/>
                </a:solidFill>
                <a:latin typeface="Garamond"/>
              </a:rPr>
              <a:t>Improved information and decision-making: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Real-time data across departments.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Enables faster and more informed decisions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0E1BB7-922A-3D8B-34AE-8164AC8D8F30}"/>
              </a:ext>
            </a:extLst>
          </p:cNvPr>
          <p:cNvSpPr txBox="1">
            <a:spLocks/>
          </p:cNvSpPr>
          <p:nvPr/>
        </p:nvSpPr>
        <p:spPr>
          <a:xfrm>
            <a:off x="7169355" y="1910500"/>
            <a:ext cx="4477699" cy="4623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>
                <a:solidFill>
                  <a:srgbClr val="000000"/>
                </a:solidFill>
                <a:latin typeface="Garamond"/>
              </a:rPr>
              <a:t>Coordination: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Integrates suppliers, production, and customers.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Reduces delays, bottlenecks, and miscommunication.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>
              <a:solidFill>
                <a:srgbClr val="000000"/>
              </a:solidFill>
              <a:latin typeface="Garamond"/>
            </a:endParaRP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>
                <a:solidFill>
                  <a:srgbClr val="000000"/>
                </a:solidFill>
                <a:latin typeface="Garamond"/>
              </a:rPr>
              <a:t>Competitive pressure: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Firms adopt systems because competitors do.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Falling behind can be costly.</a:t>
            </a:r>
          </a:p>
          <a:p>
            <a:pPr marL="1828800" lvl="4" indent="0">
              <a:buFont typeface="Arial"/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>
              <a:solidFill>
                <a:srgbClr val="000000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428043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D335-C76A-79DF-A13F-A341E2AEA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911A56-A339-E195-ABB7-C5CF00AE94C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33145-39D9-6B08-E621-3103F5435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en-US" sz="2200" dirty="0">
                <a:solidFill>
                  <a:schemeClr val="bg1"/>
                </a:solidFill>
              </a:rPr>
              <a:t>Third Stage Consulting Group (2020, September 9). </a:t>
            </a:r>
            <a:r>
              <a:rPr lang="en-US" sz="2200" i="1" dirty="0">
                <a:solidFill>
                  <a:schemeClr val="bg1"/>
                </a:solidFill>
              </a:rPr>
              <a:t>ERP Failure Case Study - Hershey’s</a:t>
            </a:r>
            <a:r>
              <a:rPr lang="en-US" sz="2200" dirty="0">
                <a:solidFill>
                  <a:schemeClr val="bg1"/>
                </a:solidFill>
              </a:rPr>
              <a:t> [Video].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  YouTube. https://youtu.be/41Q9RokhKAM?si=hmUa06kZxn1mc_No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5CE546-06F9-2580-05AF-3607959EC6F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C5E71-A56D-7BE1-C635-F5FA597A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E8D98-23F9-21C2-7A16-C196DF70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Online Media 7" title="ERP Failure Case Study - Hershey’s">
            <a:hlinkClick r:id="" action="ppaction://media"/>
            <a:extLst>
              <a:ext uri="{FF2B5EF4-FFF2-40B4-BE49-F238E27FC236}">
                <a16:creationId xmlns:a16="http://schemas.microsoft.com/office/drawing/2014/main" id="{D6AF266E-BDE4-EF03-08B4-235A490EF40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20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31DA-D022-9D25-7F75-85132EBB3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CB87C-8C5D-05F6-17BE-1DDE40DB2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554" y="1300900"/>
            <a:ext cx="718344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ERP and CRM require process reengineering: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Employees must learn new workflows and responsibilities.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Data entered by one user affects multiple functions, requiring coordination and training.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Implementation involves significant organizational learning costs.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Additional challenges for SCM: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Requires multiple independent organizations to share data and processes.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Partners must align workflows for effective integration.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Difficult to coordinate changes across firms with different systems and priorities.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40781-51EA-6546-3454-9D61C82E940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9BFF7-90D4-07CD-5644-7807EE24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Challenge: Need for Major Organizational Change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EB948-60FD-6C61-DF73-76BDC5EB1E4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165AC-68B4-57F5-8597-0BFBD926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05E5E-0D1B-1BBA-BE1F-EF7ED993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5602" name="Picture 2" descr="Organizational Change Management | IT@Cornell">
            <a:extLst>
              <a:ext uri="{FF2B5EF4-FFF2-40B4-BE49-F238E27FC236}">
                <a16:creationId xmlns:a16="http://schemas.microsoft.com/office/drawing/2014/main" id="{F2B18E79-1CAA-196C-AA85-64052DAB3B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0" r="18970"/>
          <a:stretch/>
        </p:blipFill>
        <p:spPr bwMode="auto">
          <a:xfrm>
            <a:off x="541770" y="1784023"/>
            <a:ext cx="408578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99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73790-846A-BB9B-9A66-DB0773A0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E33BC-CD14-142A-E21D-34E63184E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Switching Costs: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Moving from one vendor (e.g., SAP, Oracle) to another is costly and disruptive.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Firms become dependent on vendors for updates, maintenance, and extensions.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Increases long-term costs and strategic dependence.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Data Standardization and Cleansing: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Enterprise systems require company-wide data definitions.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Firms must align definitions of customers, products, accounts, and processes.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Poor data quality reduces system value and can cause disruptions.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Customization: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Customizing ERP or CRM systems makes upgrades more difficult and costly.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Heavy customization can create fragile systems and delay implementation.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32C12-9677-7F0E-3590-5B2E4B4F00E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FBF30-120E-A8D0-036D-B1F8F524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Challenge: Other Issues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0857F-0C28-A1C7-6D0F-2F6FBDC2D95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300B2-E632-6D5C-4081-D7F1C2FA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3A17E-F26A-03CF-6CCF-34AB38D4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896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E3C3-3787-A314-EE45-819F6291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7649A-9F11-A184-2AC9-6B97C11C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More Flexible Enterprise Applications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Stand-alone ERP, SCM, and CRM systems are being replaced by integrated suites.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Vendors offer more web-enabled, mobile, and user-friendly interfaces.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Cloud-based solutions reduce installation costs and improve scalability.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Composable ERP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Growing use of hybrid systems combining best-of-breed components.</a:t>
            </a:r>
          </a:p>
          <a:p>
            <a:pPr lvl="2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1600" dirty="0"/>
              <a:t>e.g., Use SAP S/4HANA for core ERP, SAP SuccessFactors for HR, and SAP Ariba plus a third-party CRM tool such as Salesforce for procurement and customer management.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Provides flexibility, scalability, and customization without heavy vendor lock-in.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AI in Enterprise Applications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Vendors increasingly embed AI into ERP, SCM, and CRM systems.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Supports forecasting, anomaly detection, content generation, and decision support.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EFE9C0-A54E-FC7E-04C3-671B85BE96F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11F88-8ADC-CA69-66DF-8F837549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Trends in Enterprise Applications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8546D5-2406-C38E-8B35-BA85109DA27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D1492-C451-F0AA-3A0C-41384E81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039D3-5B75-DB42-C299-53F5263D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319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ABA00-D723-DF5C-8BAF-DBF3CA88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CAAD1-524A-5F48-C08D-4E703CD26872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of Chapter 9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08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F07C-5A39-46FA-19B5-0CB9743E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B19EA9-F780-DAF7-1EBC-822EF2EDDD7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3619056-BFF7-5653-691C-4489199AA6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88825" cy="923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b="1" dirty="0">
                <a:solidFill>
                  <a:schemeClr val="bg1"/>
                </a:solidFill>
                <a:latin typeface="Garamond"/>
              </a:rPr>
              <a:t>  Recap of Chapter 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F8D645-33AB-D7BC-1B81-8CCF597648B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1011C51-5B4E-8C02-C890-0AE3A669C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C78CE8A-9AF8-53CE-1E0D-2DC2238B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596D15-346E-FEAB-2529-E273E357F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Understand ERP systems.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Understand SCM systems.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Understand CRM systems.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enterprise application challenges.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how enterprise applications are using AI.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344196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78b066-ece4-42d6-be80-b911ff775fa2}" enabled="1" method="Privilege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10016</TotalTime>
  <Words>3129</Words>
  <Application>Microsoft Office PowerPoint</Application>
  <PresentationFormat>Custom</PresentationFormat>
  <Paragraphs>556</Paragraphs>
  <Slides>46</Slides>
  <Notes>40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Garamond</vt:lpstr>
      <vt:lpstr>Office Theme</vt:lpstr>
      <vt:lpstr>PowerPoint Presentation</vt:lpstr>
      <vt:lpstr>PowerPoint Presentation</vt:lpstr>
      <vt:lpstr>PowerPoint Presentation</vt:lpstr>
      <vt:lpstr>  Why ERP?</vt:lpstr>
      <vt:lpstr>  Enterprise Resource Planning Systems</vt:lpstr>
      <vt:lpstr>  Business Value of ERP Systems</vt:lpstr>
      <vt:lpstr>  ERP Software Configuration</vt:lpstr>
      <vt:lpstr>  Software Connect (2025, July 16). Hidden Costs of ERP Customization: Lessons from a $600M   Failure [Video]. YouTube. https://youtu.be/-QK7cgDFIaU?si=JDMbhddz_eegkSnc</vt:lpstr>
      <vt:lpstr>  AI and ERP</vt:lpstr>
      <vt:lpstr>  AI Applications in ERP</vt:lpstr>
      <vt:lpstr>PowerPoint Presentation</vt:lpstr>
      <vt:lpstr>  Supply Chains</vt:lpstr>
      <vt:lpstr>  Supply Chain Transformation Process</vt:lpstr>
      <vt:lpstr>  Supply Chain Transformation Process</vt:lpstr>
      <vt:lpstr>  Supply Chain Inefficiencies</vt:lpstr>
      <vt:lpstr>  The Bullwhip Effect</vt:lpstr>
      <vt:lpstr>  Solution to Supply Chain Inefficiencies</vt:lpstr>
      <vt:lpstr>  Supply Chain Management Software</vt:lpstr>
      <vt:lpstr>  Push-Based vs Pull-Based Supply Chains</vt:lpstr>
      <vt:lpstr>  Push-Based vs Pull-Based Supply Chains</vt:lpstr>
      <vt:lpstr>  SCM and the Internet</vt:lpstr>
      <vt:lpstr>  Internet-Driven Supply Chains</vt:lpstr>
      <vt:lpstr>  Business Value of SCM Systems</vt:lpstr>
      <vt:lpstr>  AI and SCM</vt:lpstr>
      <vt:lpstr>  AI and SCM</vt:lpstr>
      <vt:lpstr>PowerPoint Presentation</vt:lpstr>
      <vt:lpstr>  Customer Relationship Management</vt:lpstr>
      <vt:lpstr>  Customer Relationship Management</vt:lpstr>
      <vt:lpstr>  Customer Touch Points</vt:lpstr>
      <vt:lpstr>  CRM Software</vt:lpstr>
      <vt:lpstr>  CRM Software: Sales Force Automation (SFA)</vt:lpstr>
      <vt:lpstr>  CRM Software: Customer Service</vt:lpstr>
      <vt:lpstr>  CRM Software: Marketing</vt:lpstr>
      <vt:lpstr>  CRM System Capabilities</vt:lpstr>
      <vt:lpstr>  Operational CRM vs Analytical CRM</vt:lpstr>
      <vt:lpstr>  Business Value of CRM Systems</vt:lpstr>
      <vt:lpstr>  AI and CRM</vt:lpstr>
      <vt:lpstr>PowerPoint Presentation</vt:lpstr>
      <vt:lpstr>  Challenge: Implementation Costs</vt:lpstr>
      <vt:lpstr>  Why Firms Still Adopt Enterprise Systems</vt:lpstr>
      <vt:lpstr>  Third Stage Consulting Group (2020, September 9). ERP Failure Case Study - Hershey’s [Video].   YouTube. https://youtu.be/41Q9RokhKAM?si=hmUa06kZxn1mc_No</vt:lpstr>
      <vt:lpstr>  Challenge: Need for Major Organizational Change</vt:lpstr>
      <vt:lpstr>  Challenge: Other Issues</vt:lpstr>
      <vt:lpstr>  Trends in Enterprise Applications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480</cp:revision>
  <dcterms:created xsi:type="dcterms:W3CDTF">2013-01-27T09:14:16Z</dcterms:created>
  <dcterms:modified xsi:type="dcterms:W3CDTF">2026-03-23T15:03:36Z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78b066-ece4-42d6-be80-b911ff775fa2_Enabled">
    <vt:lpwstr>true</vt:lpwstr>
  </property>
  <property fmtid="{D5CDD505-2E9C-101B-9397-08002B2CF9AE}" pid="3" name="MSIP_Label_5178b066-ece4-42d6-be80-b911ff775fa2_SetDate">
    <vt:lpwstr>2025-09-24T21:16:43Z</vt:lpwstr>
  </property>
  <property fmtid="{D5CDD505-2E9C-101B-9397-08002B2CF9AE}" pid="4" name="MSIP_Label_5178b066-ece4-42d6-be80-b911ff775fa2_Method">
    <vt:lpwstr>Privileged</vt:lpwstr>
  </property>
  <property fmtid="{D5CDD505-2E9C-101B-9397-08002B2CF9AE}" pid="5" name="MSIP_Label_5178b066-ece4-42d6-be80-b911ff775fa2_Name">
    <vt:lpwstr>Public</vt:lpwstr>
  </property>
  <property fmtid="{D5CDD505-2E9C-101B-9397-08002B2CF9AE}" pid="6" name="MSIP_Label_5178b066-ece4-42d6-be80-b911ff775fa2_SiteId">
    <vt:lpwstr>4881a8fa-b252-4912-b93a-7806c41bbe91</vt:lpwstr>
  </property>
  <property fmtid="{D5CDD505-2E9C-101B-9397-08002B2CF9AE}" pid="7" name="MSIP_Label_5178b066-ece4-42d6-be80-b911ff775fa2_ActionId">
    <vt:lpwstr>481a848f-947e-4531-a1b3-13071af9a132</vt:lpwstr>
  </property>
  <property fmtid="{D5CDD505-2E9C-101B-9397-08002B2CF9AE}" pid="8" name="MSIP_Label_5178b066-ece4-42d6-be80-b911ff775fa2_ContentBits">
    <vt:lpwstr>0</vt:lpwstr>
  </property>
  <property fmtid="{D5CDD505-2E9C-101B-9397-08002B2CF9AE}" pid="9" name="MSIP_Label_5178b066-ece4-42d6-be80-b911ff775fa2_Tag">
    <vt:lpwstr>10, 0, 1, 1</vt:lpwstr>
  </property>
</Properties>
</file>