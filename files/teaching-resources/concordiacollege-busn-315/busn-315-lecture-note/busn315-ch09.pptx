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835" r:id="rId3"/>
    <p:sldId id="257" r:id="rId4"/>
    <p:sldId id="836" r:id="rId5"/>
    <p:sldId id="387" r:id="rId6"/>
    <p:sldId id="837" r:id="rId7"/>
    <p:sldId id="838" r:id="rId8"/>
    <p:sldId id="839" r:id="rId9"/>
    <p:sldId id="841" r:id="rId10"/>
    <p:sldId id="840" r:id="rId11"/>
    <p:sldId id="842" r:id="rId12"/>
    <p:sldId id="676" r:id="rId13"/>
    <p:sldId id="769" r:id="rId14"/>
    <p:sldId id="770" r:id="rId15"/>
    <p:sldId id="843" r:id="rId16"/>
    <p:sldId id="844" r:id="rId17"/>
    <p:sldId id="845" r:id="rId18"/>
    <p:sldId id="846" r:id="rId19"/>
    <p:sldId id="847" r:id="rId20"/>
    <p:sldId id="848" r:id="rId21"/>
    <p:sldId id="849" r:id="rId22"/>
    <p:sldId id="853" r:id="rId23"/>
    <p:sldId id="850" r:id="rId24"/>
    <p:sldId id="851" r:id="rId25"/>
    <p:sldId id="852" r:id="rId26"/>
    <p:sldId id="854" r:id="rId27"/>
    <p:sldId id="855" r:id="rId28"/>
    <p:sldId id="734" r:id="rId29"/>
    <p:sldId id="781" r:id="rId30"/>
    <p:sldId id="856" r:id="rId31"/>
    <p:sldId id="857" r:id="rId32"/>
    <p:sldId id="858" r:id="rId33"/>
    <p:sldId id="860" r:id="rId34"/>
    <p:sldId id="859" r:id="rId35"/>
    <p:sldId id="861" r:id="rId36"/>
    <p:sldId id="862" r:id="rId37"/>
    <p:sldId id="863" r:id="rId38"/>
    <p:sldId id="864" r:id="rId39"/>
    <p:sldId id="865" r:id="rId40"/>
    <p:sldId id="722" r:id="rId41"/>
    <p:sldId id="793" r:id="rId42"/>
    <p:sldId id="866" r:id="rId43"/>
    <p:sldId id="796" r:id="rId44"/>
    <p:sldId id="867" r:id="rId45"/>
    <p:sldId id="827" r:id="rId46"/>
    <p:sldId id="451" r:id="rId4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85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ECEAB-60FA-8CB9-3385-6664F8464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50EF8-F481-98F7-34A6-B7C3E4030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349CA-1660-3CDC-C129-AF04D8F88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F1911-BE75-5BBC-6841-33AF335E5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3880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59121-3671-65D2-032E-6ABE4CBF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B18F92-9901-5129-DEAF-5F94F5D41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233B0-7B84-1755-9156-FAA2039546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6C84A-080B-6367-F20E-F70ADC50F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61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3CA44-C63E-7EA2-BBBD-7916E48F7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CB880-AA92-1DD7-2214-BE5E00F4D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AD458-062B-7D38-5EF9-232E39A9E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1156A-EDF5-BBAA-11AA-9C9D1EC99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24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1F57B-E801-4B18-6D90-011812D9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D9106-012E-AA91-4D88-D58713DDF0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F46EE-E14C-5533-8553-75D43A3B1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0D0C0-1DDA-EEA2-3031-55AFF9B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5921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B5DA-3C10-B1FA-779A-4EB30C15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41C683-EDB2-8638-C214-B865AA2B2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8DEA8F-B79D-050B-6550-6E7EFCCE1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38C9E-BED0-370D-5116-C6A6C7849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16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5C373-40E0-BCC0-623C-04C3D1CCA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46B8B-B4CE-EBB4-2889-24C7B20D81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2369C-A960-42BF-7709-F6B150B9D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EBFD9-FFD4-6DFA-D0A5-30466C256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447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ACCA-4C1E-52C2-D2CC-3AA8B844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6A915-609B-B8BD-03E9-5AA3B0808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1CA5AD-D3A0-E26F-EAD5-10162271A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A7522-1385-3446-9168-3477383AA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692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12490-0C22-6FB6-2A29-77BAD1D3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A658B-EFCE-A800-8F8D-014235134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351B7-71FE-D887-21C6-24D15060D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50CBD-4998-DA4B-B225-F09ED1EE4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4338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B0B5F-5AC7-FC86-228F-359B4BB5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E72F3-939D-3DD2-E205-EDCA08C92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4770AC-7C38-7986-0AFB-0A951019F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146C7-A0CD-5AA1-C39D-6A3F2F521E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06860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52D9-8782-27D8-0BFD-34A50760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F5EF5-ACCC-88F2-0BFC-7A2420D28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527990-4A04-398A-CDBD-A4D60505C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D499D-7658-8A37-C6BE-99F1A4959C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1136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09475-0EAC-8370-B647-6B12D71EB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1CDDE-BA5E-C652-1EB4-3781D4BF7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AF83C-8842-2F78-7DC7-63D6CA96F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17CEE-20BB-A5F9-0940-DEBA62F28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7508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86395-D833-0DA0-1B86-DA6ED77BF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C7E04-FC34-AB04-A11F-F848BF694D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6E9400-FFBA-1C96-451A-E1F37232F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FFDD5-6C82-4D04-4BF1-078860FB1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22195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1CA33-2A39-5966-B162-67C96163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71D5D-5FDB-72B7-0605-24081FFEB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871E56-63A5-4F64-91E5-6C2C77DBD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A20EF-3073-511A-3282-89486D427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42342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57A79-E2A7-E088-E9CB-EBCD2DEA6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D0BDAC-5BD6-1B00-75B1-094E10C09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007BA6-7D6F-F419-EF2C-057F5CD07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FA908-64A2-DF5F-6D06-968A406A1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42027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43C36-40F3-1C87-D8F3-48F5661C3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A0D21C-E6AA-C921-BC4B-517B0DA57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3B1F6-661A-CA7F-6498-455C3224F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A646-874C-FD8F-6DBC-AAE77B3ED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05763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423AA-BEBE-C136-A210-06518C31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4CEDEB-E5A1-0DCD-467B-09CF19680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91E44-8AF1-C0E1-AA8F-EB0955E1E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3B4AD-5C09-01BC-681C-E53E14CF2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6455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DA53D-B180-6ECF-76B4-AA6187436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25EEB6-D354-1264-B285-FCD455D70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E92458-CD1D-5473-8B9C-65B0737B0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AEA33-D836-F4C6-97A7-2FABC6EFB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99236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225C-7D41-7313-5D6E-66E76BF8E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8BFF7-6E5E-10A4-E232-BD233AE0D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E6B13-513D-F8D1-915A-6C85F5186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99D94-0E70-4A6E-BB35-76E4FC3AEE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91654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A438-3BDC-1513-8A64-6BEDB84F7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AF4755-CC0E-4398-FE77-B53D906042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F3E82-8774-8A30-6BAA-2EBCBA764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3E743-D39D-7357-130A-D43FF1039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72338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6968F-F7D8-861C-F296-4AA783D6E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E1598-711D-FC16-D9CA-DDD496C8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272B4-7868-2B30-5F66-D1BD1A5D0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EC5F4-B553-5EB7-2B2C-62394BEB25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2327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983C9-43DE-7358-C301-8942C4F53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BCC6F8-CD41-F5CC-F61F-E4C24FA0B5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B842-287E-60BA-FAA5-B4C2BB509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FFB00-7B55-C9A5-2CB6-9E0B62BC2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9050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6107B-E8ED-5242-92D5-08453B0FE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2E467-B1E6-1832-E863-D9FBD906F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B36FE-BCFB-F2F8-39AB-6F1F45A35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CC2A1-4B99-1076-BE01-97AA11B52A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3977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718F4-3E0C-2755-F768-0A9D9ABD8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231F2-CAD0-6DF6-B3EB-F9225C397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39225-54DF-C59F-A619-7CA091CF85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43DC8-F3C0-6175-0BE0-3A18CA555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170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1B5FC-23E6-CFA9-1086-BED31B2A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0F1F5-B175-0728-2D45-578592E8E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97DB1-2D49-E820-CE83-00995210F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BAE5C-2801-0388-BABE-A5C3B9070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0690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D1D7-BB74-BE54-CF63-4D3A71B3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335E0-6623-59E6-44E5-FD14502DE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01FD8B-C152-7FF2-C2EE-BC726D4B1C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38AA0-EC4F-6C19-F5B2-941E24A0EB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9363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C844E-C864-FAFD-333E-40C4D1284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679E4-A93D-2B0A-DB0D-6A3878E1B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AF93C-CECF-D548-ED03-BD7AF63669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45EDB-1071-76DD-3E23-3B7453AB1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5683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835B-2AB6-E386-E630-833D5B8D4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5CE41-5209-C84F-8E2A-3BD727168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0B6D3-3754-CB34-3458-0BCEBA24D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CE3C6-7988-36D0-BBAF-9A859057BA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256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C4E1C-4DC2-9733-0070-D9F4175E5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42FBCD-20EC-FBEE-F339-D21E223C6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821C6F-F9E2-AC1A-5C00-0CB111D75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1FF46-530C-A8CF-5EC7-D26BCC8E9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438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0433-4503-4659-7153-57E9F4C41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E5DE6-FC37-32AC-B680-7EB4F4909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4CF26B-A18E-A33C-01EA-61BBA853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126AB-43C4-A5FC-055A-A5F155978C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828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88865-04ED-AA3D-4C46-C2935991A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53C33-22A5-DFFB-CE3C-FAAE2F39FB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5D1E2F-6825-8670-541E-E093A92A0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C5BB3-B782-BE99-242C-035A8B314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6654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4F148-1127-06DE-76E1-A73684713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724343-31B2-7078-A3EB-3D6A3A2A1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C9604-D08C-2FF0-8B21-807C19363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B2687C-A560-2E7A-39F7-0833E8DA20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800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9A37-44A6-C7EC-C13E-F4E1CA7A9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182A9-B5CC-2A2B-1F8F-BB129BD90E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5EAB0-F30E-DB74-DC37-2B12AEB8C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682A9-407A-2C66-AA74-B867C1F23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506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77972-6794-DC21-B9DC-F072A1628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20FD9-3C93-B7BF-3071-FF64FCA0D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99A6E1-08A5-E047-F290-50EA7C6C8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D5E3D-D216-9EC8-D80A-D6218EDB5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7743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9973-C87D-4536-D230-448006F22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2C73C5-0662-DE68-7661-8652D2F16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5D11F-493C-748D-792E-1906CCAE0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48D28-EAC2-B584-4BFF-1BA200570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557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2A579-EA5B-C133-2A53-7541F87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F9718-BDE7-6A0A-C0A6-DB034A5B6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5A25C-BC56-BCEC-24D8-9C959E574E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4C07A-AC00-3DC9-6677-FE07ADAD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9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91DA-1DA8-D83A-B8C7-767D4A4C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B4BFA1-023D-4D3D-0AA5-00BFE747A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40112-5052-6D7E-0AEB-082777746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750CF-CD3B-EA64-0AFA-7AC601532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94236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FA092-227A-3711-377B-88F794282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5F649-7FE4-4061-DB65-422799194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D972A-1222-CED3-5009-1BB440E9FA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847B3-AFDC-76F1-CEF5-551EF276D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8225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45FC6-1E62-4A42-4F22-8A3479F2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6EC08-6330-EA2E-FE0B-F0494E44C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092EC5-17C5-698E-551B-14937A669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93A2-5849-FDA7-DD24-3810E9C6AE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723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-QK7cgDFIaU?feature=oembed" TargetMode="Externa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9: Enterprise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995D0-4C77-2688-C8F6-83B0CA348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74FB377-FBE7-4CB5-E5FA-4DF5EE619DE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9F0C4B-D74C-C890-B54C-A47AE94A989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424D09-6195-03F4-138F-C7343168208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D6A9247-1CA7-4D0B-2797-82D8CA033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5578985-7376-A838-E218-1589F1B9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8F52AF-902B-FF90-0CE6-5565039FE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why information systems are vulnerable.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most prevalent and dangerous types of malware.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the dangers posed by threat actors.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security issues raised by software vulnerabilities.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security issues raised by artificial intelligence.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business value of security and control.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an organizational framework for security and control.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technologies for safeguarding information resources.</a:t>
            </a:r>
          </a:p>
        </p:txBody>
      </p:sp>
    </p:spTree>
    <p:extLst>
      <p:ext uri="{BB962C8B-B14F-4D97-AF65-F5344CB8AC3E}">
        <p14:creationId xmlns:p14="http://schemas.microsoft.com/office/powerpoint/2010/main" val="775611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Enterprise Resource Planning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743EE-895A-7653-E597-89458238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8C6BC-CDD2-DD7E-A463-843037196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Modern Firms Need ERP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Modern companies operate across multiple locations, supply chains, and markets.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react immediately when orders arrive, or shipments are delayed.</a:t>
            </a:r>
            <a:endParaRPr lang="en-US" altLang="zh-TW" sz="8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need real-time visibility into sales, inventory, production, and financials.</a:t>
            </a:r>
            <a:endParaRPr lang="en-US" altLang="zh-TW" sz="8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Without integration, information sits in separate systems and becomes outdated.</a:t>
            </a:r>
            <a:endParaRPr lang="en-US" altLang="zh-TW" sz="8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ERP systems solve these problems by creating a unified view of the entire firm.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Without ERP: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Separate legacy systems cannot communicate with each other.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Managers must rely on manual, hard-copy reports that may be outdated.</a:t>
            </a: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Sales staff may not know current inventory levels when placing orders.</a:t>
            </a: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Manufacturing cannot easily plan production using sales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Decision makers cannot see how the business is performing as a whole.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A9EEE-AD71-811F-EEF7-361A7A281FF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AF4AA-CE1B-E1A3-11FF-CA11DFB6D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Why ERP?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EC56D9-5D4E-96E5-8F96-D9782759BC7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556963-2886-3941-3E5B-D84417EE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693490-5E25-FF9D-E5AC-75FE96FF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795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6779" y="1300900"/>
            <a:ext cx="66602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Enterprise Resource Planning systems integrate all major business processes into a single system.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Built around a central database shared across departments.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Eliminates isolated systems such as separate production, warehouse, and sales databases.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Enables real-time updates so that information entered once is available everywhere.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enterprise-wide decision making with consistent, up-to-date data.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Enterprise Resource Planning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B04577-CE92-0712-901A-C5F085D3D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555423"/>
            <a:ext cx="421516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8EAD-480E-0B1B-EA84-1ADDC312C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D9A20-B4F8-0F73-47B7-08A4DCEEE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4742" y="1300900"/>
            <a:ext cx="646231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ERP software contains thousands of predefined business processes based on best practice, and each firm selects the specific functions to implement.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Implementation requires mapping company processes onto the ERP’s predefined processes.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Configuration tables allow limited tailoring of features such as revenue tracking.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Too much customization can reduce performance and weaken integration benefits.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8FB4D9-4297-06B7-B52F-0D257C30F4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8D4A7A-7BEA-F5AD-6185-B4B545BF7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ERP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EAB0C4-2075-96AC-BC0D-B45D26BAA5B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4752B-276F-5D4C-62F1-0F9DE2B22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B355C6-123E-548A-5CF9-50F4104E9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076" name="Picture 4" descr="ERP Customization vs. Configuration: Key Differences">
            <a:extLst>
              <a:ext uri="{FF2B5EF4-FFF2-40B4-BE49-F238E27FC236}">
                <a16:creationId xmlns:a16="http://schemas.microsoft.com/office/drawing/2014/main" id="{6482BB95-ED97-642F-DA93-D285706985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69" y="1784023"/>
            <a:ext cx="444683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877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E9EA-809F-D213-FEE1-034B095A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36C73A-E4F0-75D2-DCE9-247BB74047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128B39-BDB0-3DBC-C235-F98FFBF56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200" dirty="0">
                <a:solidFill>
                  <a:schemeClr val="bg1"/>
                </a:solidFill>
              </a:rPr>
              <a:t>Software Connect (2025, July 16). </a:t>
            </a:r>
            <a:r>
              <a:rPr lang="en-US" sz="2200" i="1" dirty="0">
                <a:solidFill>
                  <a:schemeClr val="bg1"/>
                </a:solidFill>
              </a:rPr>
              <a:t>Hidden Costs of ERP Customization: Lessons from a $600M</a:t>
            </a:r>
            <a:br>
              <a:rPr lang="en-US" sz="2200" i="1" dirty="0">
                <a:solidFill>
                  <a:schemeClr val="bg1"/>
                </a:solidFill>
              </a:rPr>
            </a:br>
            <a:r>
              <a:rPr lang="en-US" sz="2200" i="1" dirty="0">
                <a:solidFill>
                  <a:schemeClr val="bg1"/>
                </a:solidFill>
              </a:rPr>
              <a:t>  Failure</a:t>
            </a:r>
            <a:r>
              <a:rPr lang="en-US" sz="2200" dirty="0">
                <a:solidFill>
                  <a:schemeClr val="bg1"/>
                </a:solidFill>
              </a:rPr>
              <a:t> [Video]. YouTube. https://youtu.be/-QK7cgDFIaU?si=JDMbhddz_eegkSnc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32C25D-4D45-1848-19BC-145E99704CE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08C48-22BB-A6F7-453E-EB648DEB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E6EE4-7A84-3C3E-4D46-C0C0541A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Hidden Costs of ERP Customization: Lessons from a $600M Failure">
            <a:hlinkClick r:id="" action="ppaction://media"/>
            <a:extLst>
              <a:ext uri="{FF2B5EF4-FFF2-40B4-BE49-F238E27FC236}">
                <a16:creationId xmlns:a16="http://schemas.microsoft.com/office/drawing/2014/main" id="{35CE61C5-4575-9E98-DE3B-1A0E75C0262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2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0297-766F-0EF8-EE78-BA084679B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692D6-91EE-C2A1-56F2-B89DB10B2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0854" y="1300900"/>
            <a:ext cx="705620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Standardizes business processes across the entire firm.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Ensures that consistent data and definitions.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fast responses to customer requests.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Improves coordination between manufacturing, procurement, and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accurate forecasting and strategic planning.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Enhances reporting accuracy and provides global visibility.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01B2AE-6CE1-C23C-8BC5-8D39203D74F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0F8A0F-7036-CDD2-949D-59E8C594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ERP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3F38AB-C95A-584E-0F2C-FCADF9A7195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74789-26FA-C6DC-F425-8D3020965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4663-AA55-2095-C6DA-CEDC408B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4098" name="Picture 2" descr="What is ERP? Comprehensive Overview | GO-ERP">
            <a:extLst>
              <a:ext uri="{FF2B5EF4-FFF2-40B4-BE49-F238E27FC236}">
                <a16:creationId xmlns:a16="http://schemas.microsoft.com/office/drawing/2014/main" id="{7498CE30-354B-D353-9BAD-CABA85F458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14" r="17414"/>
          <a:stretch/>
        </p:blipFill>
        <p:spPr bwMode="auto">
          <a:xfrm>
            <a:off x="541770" y="1427532"/>
            <a:ext cx="3972908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251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A7984-F568-CCC5-4930-C06A918E4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EF57C-FCBD-8EE2-8193-1BA57859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7291" y="1300900"/>
            <a:ext cx="633976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Previously used more than 50 legacy systems across 100 worldwide locations.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Replaced them with a single global SAP ERP system.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Provided uniform metrics for vendors, payments, order fulfillment, and customer creation.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Dashboards support rapid problem detection and corrective action.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Improved accuracy of global reporting.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5A08F0-B00E-D294-8865-F4227A1E9E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F261E7-30F4-881B-D0A9-67C090D97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AbbVie and SAP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A38508-3F35-4DDA-588E-AE74B45B928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CB2666-82B4-1C16-9940-63096439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0C7F44-CBC1-1DC6-F0F3-0B480EF79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5124" name="Picture 4" descr="AbbVie increases 2025 revenue projection again, now at $60.9B">
            <a:extLst>
              <a:ext uri="{FF2B5EF4-FFF2-40B4-BE49-F238E27FC236}">
                <a16:creationId xmlns:a16="http://schemas.microsoft.com/office/drawing/2014/main" id="{D5957257-DF18-64EC-3BF8-CFEFE465A7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6" r="15806"/>
          <a:stretch/>
        </p:blipFill>
        <p:spPr bwMode="auto">
          <a:xfrm>
            <a:off x="541770" y="1427532"/>
            <a:ext cx="4687364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522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F1118-C5D5-61F5-DBFB-80DAFC1F7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F2390-07E3-BBFC-0DAE-4E6CCE0F97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2380" y="1300900"/>
            <a:ext cx="75746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ERP vendors increasingly integrate AI and natural language processing.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Systems can understand user queries and provide conversational responses.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improves performance across accounting, finance, HR, manufacturing, and product development.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identifies patterns in large structured and unstructured datasets.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predictive insights for workflow optimization and cost reduction.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F7E7D8-7A3F-08C4-342F-7EF3920FE73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D92A16-729A-B75B-27EF-ECE8558DC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7885CE-1459-1EF3-0665-A20E3DA7F66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13AB1-D096-A097-D05C-42E1B6110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F6169-64F2-E9B3-6F8F-C72B085F7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6146" name="Picture 2" descr="AI in ERP: Smarter Systems, Better Business Decisions">
            <a:extLst>
              <a:ext uri="{FF2B5EF4-FFF2-40B4-BE49-F238E27FC236}">
                <a16:creationId xmlns:a16="http://schemas.microsoft.com/office/drawing/2014/main" id="{24709C7A-2E23-B20D-AB9B-CDCD9FA3F5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88" r="24988"/>
          <a:stretch/>
        </p:blipFill>
        <p:spPr bwMode="auto">
          <a:xfrm>
            <a:off x="541770" y="1427532"/>
            <a:ext cx="342794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1572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11957-5B3B-C06E-B6AC-A63C48400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DA2DF-6FF1-1637-CCAB-EA4EB6FCD9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Assistant: Chatbots respond to employee and customer inquiries.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Predictive Analytics: Predicts equipment failures and recommends preventative maintenance.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Anomaly Detection: Flags irregular financial data and unusual transactions.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Product Development and Innovation: Suggests product improvements and new ideas.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Financial Forecasting: Models financial outcomes under different economic scenarios.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Workflow Optimization: Supports supply chain planning, inventory management, transaction processing, transportation, and inspection.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385DAC-8AB3-FD54-A1F3-72914930EFA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770DCE-BD3A-6788-B5AD-255072224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AD14B6-8A01-173A-278B-41701223919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8B2FFA-5E35-1142-A7E7-B7C56488A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EFEA3-744A-FD0C-93FB-1D80C4D8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15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783BF-E9DE-E754-B814-BA2C4B9F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3B0F5E-2B7B-897A-53BE-8A897B8001C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Supply Chain Management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692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F35F0-3FE0-A070-5FD9-90200CD78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B994B-73C4-737C-AA96-5005286D4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Network of organizations and processes that procure raw materials, transform them into intermediate and finished goods, and distribute the goods to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Includes suppliers, manufacturers, distribution centers, retailers, and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Materials, information, and payments move forward and backward in the chain.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Returned items also flow upstream from customers back to sellers.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Supply Chain Management Matters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Small firms with simple products can manage suppliers using phone and email.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firms producing complex goods work with hundreds or thousands of suppliers.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Each supplier has its own suppliers, creating a vast global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SCM systems address the challenges of scale, coordination, and information flow.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31BDD-FBD7-D7A5-D70A-F207DAF92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BC7421-4CE9-F8E1-BEA3-9695BB922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DA7E51-F34B-9D7E-E609-E3DAC377369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27175-F932-8DAE-1746-BC969A3B2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609894-DE10-1C97-9645-38E29DE4D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4852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3F1E1-FF95-649E-FAD9-EF90221E1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DD09C-BE17-602A-F245-E43929ED9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6029" y="1300900"/>
            <a:ext cx="418102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Goods begin as raw materials.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Move to intermediate components.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Become finished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Shipped to distribution centers.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Distributed to retailers and customers.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D54B4-2224-304A-DDE3-B5BC7618DEF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1DBB7-5AA0-8856-26CB-3E4DDA7E3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Transformation Process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C63DEF-C625-AC54-577A-67CB53E819A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9712A2-BE7C-C4A1-D8E5-8E2263CF8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2DA3D-76E0-7557-3AA8-157F0352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B71AD2-6218-E958-2245-F32139FA9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685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557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7ECA-82A8-3414-18FD-F0DEED773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C7C250-BA88-95A2-D34F-1C5C118DF1B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3E48A-9C45-D1CD-1A76-4BC5CA301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Transformation Process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385139-26A1-C717-BBA3-F98B01B8385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F16A5-2988-AD5D-AD4D-3ECC7DCA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ADB907-D83B-4BC3-6E14-BBD0D3777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 descr="A flow diagram shows the major entities in Nike’s supply chain and the flow of information between upstream and downstream. Long description available in notes, press f6.">
            <a:extLst>
              <a:ext uri="{FF2B5EF4-FFF2-40B4-BE49-F238E27FC236}">
                <a16:creationId xmlns:a16="http://schemas.microsoft.com/office/drawing/2014/main" id="{427AA555-8B9A-4615-4AC8-2CD2D37E7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072" y="970332"/>
            <a:ext cx="949867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847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A0D6C-16CC-1A76-6CC3-13F66F2F7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539FC-D5B6-BE98-E19B-406E39097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Inefficiencies are often caused by inaccurate or late information, which can consume up to 25% of operating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Problems: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Parts Shortages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Excess Inventory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Underused Production Capacity</a:t>
            </a: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 ideal supply chain free of inefficiencies would run a “just-in-time strategy,” where components arrive as needed, and finished goods are shipped as they are produced.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Due to uncertainty, firms tend to keep “safety stock,” more material than needed as a buffer which is a source of inefficiency.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DFDA15-98A2-CFC2-6D1E-E4775A4A53B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541E-3D4E-07A4-6A97-8798E54A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Inefficiencies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12CD43-8A60-66F4-F50E-35C34D0ADBB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7A2A55-D5AA-F545-7887-F3D315DAD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2FE7E9-AB0F-5164-AB7B-49A7B07B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377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BF5B1-4996-C606-2097-5FF2819F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D0805-602A-DC6C-67AC-0DCF6BDB1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4301" y="1300900"/>
            <a:ext cx="563275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Another source of inefficiency in supply chains is the bullwhip effect.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Small fluctuations in retail demand become amplified as signals travel upstream.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supply chain member (retailer, distributor, manufacturer, supplier) overestimates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Result is excess inventory, inflated production, and higher warehousing and shipping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F7D267-2388-8F5A-4FBE-4510F89346A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37C21C-E2D7-EFDF-A194-E2616C92D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Bullwhip Effect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283D41-DA62-86F5-B68D-F3FA5448086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5895A-E1E8-35A6-A6CC-75105C7CE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96D1F-D994-59C0-0EEC-36B533D5F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9218" name="Picture 2" descr="The Bullwhip Effect - Sketchplanations">
            <a:extLst>
              <a:ext uri="{FF2B5EF4-FFF2-40B4-BE49-F238E27FC236}">
                <a16:creationId xmlns:a16="http://schemas.microsoft.com/office/drawing/2014/main" id="{CFA981B5-2926-F18E-9E60-F95C506B4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1" y="1427532"/>
            <a:ext cx="5396441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92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9F2B8-71EA-FD5E-C774-CC413545C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BC11C-20D8-C048-6B0D-A055AF312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inefficiencies are caused by lack of visibility into real demand and supply conditions.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Reduced by sharing accurate, real-time information across all members.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SCM systems provide shared data 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Inventory levels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schedules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Forecasts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Shipments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allows coordinated adjustments across the entire network.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EF425-8DDD-9AC2-4BD4-B3C52DB50BA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A53C8C-2BB0-B8FC-DC90-6AFE65F56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Solution to Supply Chain Inefficiencies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7DE9D9-11A3-DCAA-76A1-CABA0F1245A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7EE024-AC4F-B038-28D0-A28A12DD2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BD1267-6BFA-1986-ADCD-CEE0DB28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1157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6EC18-BCA2-8956-A6B3-9A104AFCB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28F34-7300-ECF6-0C06-BFAC1BFA2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 are two major categories of SCM software: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Planning Systems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Model the supply chain, Forecast demand, Develop sourcing and production plans, Determine inventory levels and storage locations, Identify transportation methods, Adjust production schedules when large or last-minute customer orders occur, Demand planning.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Execution Systems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 the physical movement of goods through warehouses and distribution centers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Track inventory, shipments, and logistics operations.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Coordinate warehouse activities such as picking, packing, and loading.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CB5B4B-104A-9666-905C-5F60E30E3E9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9C9B2-A677-BCAD-C4E8-776103288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Management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AF5B0-7C4F-37A3-D805-96C2917689F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80059-FA29-D7C3-DEAC-0CFBC9E9B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9EFD7-5A51-6388-1D8B-601AC0D44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47949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C1A4D-C980-97BD-6844-FA6FF56A4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70F8B-6582-9D9F-ADE9-A2F6207A9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SCMs can also enhance efficiency by facilitating a more demand-based system: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Push-Based Model (Build-to-Stock)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based on forecasts.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Inventory levels determined by predicted demand.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Goods pushed downstream based on what manufacturers and distributors plan to sell.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Pull-Based Model (Demand-Driven or Build-to-Order)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Actual customer orders trigger production and replenishment.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flows upstream immediately from retailers.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Only products needed to satisfy real customer orders move downstream.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6F5C1-7C52-D1EB-2B43-C9F908F8F1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BC3F4-81EB-9FB2-22E1-DC83E94B7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Push-Based vs Pull-Based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005354-2873-4D39-C4B3-81EA8B72DC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0274A-DED7-1835-E3D4-CBC6DE967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B285E-2C1E-97AE-8E97-F17EB44A0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3094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7A9FB-D00D-96F2-8097-37BD183BF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C79CC71-9F33-B494-2123-465474DB1AA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9E8C85-F0A8-292B-C195-A2D394BC6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Push-Based vs Pull-Based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4CF312-388A-0BAD-80FE-081466AE1B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98A35-593A-5FBE-D9A9-DFDF87EE5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2658FA-229B-9D61-21A7-88665D0B7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 descr="A flow diagram shows push based and pull based models. Long description available in notes, press f6.">
            <a:extLst>
              <a:ext uri="{FF2B5EF4-FFF2-40B4-BE49-F238E27FC236}">
                <a16:creationId xmlns:a16="http://schemas.microsoft.com/office/drawing/2014/main" id="{5A4F19FD-441F-DE5B-E4B2-15C8ECDED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142" y="970332"/>
            <a:ext cx="1028253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4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75FDB-1102-D435-EE14-D4B8EDA63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3B2A0-0BBF-A8B2-01E1-20D047C53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Integration Before the Internet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Internal supply chain systems for purchasing, materials management, manufacturing, and distribution often could not communicate with one another.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Difficult to share real-time inventory, schedules, and demand information.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Limited visibility across the supply chain led to delays, miscommunication, and higher operating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Internet-Enabled Supply Chain Integration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ERP and SCM systems now use Internet technology to share information across partners.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Employees and business partners can access systems through online portals to collaborate in real-time, check inventory, production capacity, and lead times.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Integration reduces delays and improves coordination across all supply chain stages.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0306F4-AE86-3DE2-DFD7-13CADD1AF7C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969C88-5327-E15E-BA31-E4BAAE54E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SCM and the 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4C6528-67E0-1A21-5464-96B92DF06F6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0B4E02-5AF3-3EBE-45C3-0987F7F1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D7186B-BF96-91FA-BE1B-446CC11B1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6584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3F28E-3116-1E65-DC38-62E358838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92D78-0DD8-1F95-896F-1A456E16F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internet enables multidirectional information flows among suppliers, manufacturers, logistics providers, retailers, and customers.</a:t>
            </a: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 for online collaboration through private B2B networks and e-marketplaces.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becomes concurrent rather than sequential.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Sequential: Information and materials flow sequentially from company to company.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Concurrent: Information flows in many directions simultaneously among members of a supply chain network.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Partners can immediately adjust inventories, orders, capacity, and transportation plans.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1E0D8E-23F2-54B0-DD14-9BFDAE3F97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E3C26F-C0F5-BE3E-61B2-D5CD1FB86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Internet-Driven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93ACB-C2A1-C64A-A02C-4913FA15157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1970FE-D815-51EB-A217-58C769906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07200-4695-B944-AED4-CC3D918CA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06892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FAE51-2C21-C6E5-2EE8-2FC0A1430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5CE268-6FEA-DC7B-20A0-F24CDE500FC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B752-7BF9-F7E6-9FAA-6B71DF73D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Internet-Driven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92EDD4-ACE3-AD6A-CA0D-701DD7B3094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1AD41-F05E-1BF1-BA40-1E7506FA3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6ECC8-9EC7-0EF6-90B2-A76B081AE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9" name="Picture 8" descr="A chain diagram shows the internet driven supply chain. Long description available in notes, press f6.">
            <a:extLst>
              <a:ext uri="{FF2B5EF4-FFF2-40B4-BE49-F238E27FC236}">
                <a16:creationId xmlns:a16="http://schemas.microsoft.com/office/drawing/2014/main" id="{4D92F773-1619-CE90-1F0D-DACAB6181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047" y="970332"/>
            <a:ext cx="831272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490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D7231-E033-A0B9-9621-E377D0970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8F402-FC54-E534-5EF3-BA09A157FA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6710" y="1300900"/>
            <a:ext cx="781034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Match supply with actual demand more accurately.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excess inventory and storage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 product availability and delivery speed.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Speed time to market for new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 utilization of assets and production capacity.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supply chain costs, which can be up to 75% of total operating expenses.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 sales by ensuring products are available when customers want them.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ADD3ED-BA70-C83C-28BF-D8732F184F6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DE5FDB-5972-A1BE-A766-D331CFEEA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SCM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A2899-46EB-2B79-0598-FAE57346929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E3AE40-C460-2BF8-8C1B-9618E3359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133E37-B744-A904-DE32-836974425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3314" name="Picture 2" descr="What is SCM?">
            <a:extLst>
              <a:ext uri="{FF2B5EF4-FFF2-40B4-BE49-F238E27FC236}">
                <a16:creationId xmlns:a16="http://schemas.microsoft.com/office/drawing/2014/main" id="{0D166AE4-0B9A-2D9D-038D-EDE6CB6643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72"/>
          <a:stretch/>
        </p:blipFill>
        <p:spPr bwMode="auto">
          <a:xfrm>
            <a:off x="541770" y="1427532"/>
            <a:ext cx="3139838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4367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4729B-EE8A-AB5B-03F3-9B6A94537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4E207-BFCD-4585-1968-B4CA5A6AA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3084" y="1300900"/>
            <a:ext cx="676397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Accurate Inventory Management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manages inventory levels with greater precision.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forecasting adjusts product stocking to match real customer demand.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Computer vision tools detect real-time inventory levels in warehouses, vehicles, and distribution centers.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Timely Deliveries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Machine learning optimizes delivery routes and schedules.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Models consider order volume, contractual deadlines, customer importance, and product availability.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improves estimated times of arrival across distribution networks.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34BA5-18AC-36AE-66FA-F6DCBE668B3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6DD31-62A3-C33E-9EC3-73E6A68D6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SCM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35508D-C83A-EB2F-38A4-135E348CB6C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3B783-B27A-BA05-0085-FA1D0C8B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868AF-102A-900D-BA69-F61DD7E2D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5362" name="Picture 2" descr="AI In Supply Chain Management - Proxzar">
            <a:extLst>
              <a:ext uri="{FF2B5EF4-FFF2-40B4-BE49-F238E27FC236}">
                <a16:creationId xmlns:a16="http://schemas.microsoft.com/office/drawing/2014/main" id="{14FB5E2B-2FA5-4E82-A5D1-1988FACBB3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4" r="23944"/>
          <a:stretch/>
        </p:blipFill>
        <p:spPr bwMode="auto">
          <a:xfrm>
            <a:off x="541770" y="1656132"/>
            <a:ext cx="41912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8060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794B2-47EE-55E6-7BDE-D4CE4030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2F7C0-A8D9-6FE2-C93F-B13FF2FFB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Improved Supply Chain Sustainability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detects waste and inefficiencies that increase fuel use or material consumption.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Helps organizations reduce environmental impact.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Improves demand forecasts and production plans to avoid overproduction.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Precise Demand Planning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uses internal signals such as sales trends and marketing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Also incorporates external signals such as weather events, economic changes, and political disruptions.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Produces more accurate forecasts for global markets.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Simulations for Supply Chain Optimization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AI-powered simulations analyze complex global logistics networks.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Identify bottlenecks, redesign supply chains, and test alternative routes or facility locations.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 planners evaluate impacts of product redesigns, distribution changes, and demand shifts.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A1908C-56E0-4133-46A5-3E96A3FBAE5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CA7403-8CF1-1B60-0DDD-BA87CA4F1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SCM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18E85-2ED0-1560-DFE4-E25CC752D9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473BC-5D43-B940-A71D-52D7CA81F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54FD5-0ED3-35C0-6865-A21FAF5DD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0498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9C644-9255-6AD5-72F8-09DF01BD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87D83-FE49-3F46-FBA2-96DE90BB234A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Customer Relationship Management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936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63DFC-23AD-1359-A381-95B32286C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A1240-BA49-31A5-43AD-1DAE4DBC4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Is Customer Relationship Management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CRM systems capture, consolidate, analyze, and distribute customer data across the organization.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Provide a unified view of each customer by integrating data from every customer interaction.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 sales, service, and marketing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 firms personalize communication and tailor offerings to customers.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CRM Matters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Competitive advantage based on products is short-lived.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Companies now compete based on customer relationships.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Strong customer relationships lead to higher retention, loyalty, and lifetime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need accurate, integrated information about customers across all touch points.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29496-1DA4-6615-F576-D13480029CC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DBF584-A834-F417-B3E1-F5779E9D5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Relationship Management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35FD2C-89E7-8404-E96F-3AC8AED64B0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673C93-166A-AAA9-17DD-0A20FB8C5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3DE11-4B91-2C84-6812-39B35D6F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32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2579-9901-566F-807B-B34080DB4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6C7E8-5AC7-D54C-92A0-0E798EA38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CRM?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firms cannot personally know every customer.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Customers interact through many channels: web, phone, email, social media, mobile, and retail.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Data are often fragmented across different departments and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CRM systems integrate this data to form a complete customer profile.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CRM Systems Help Firms Answer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Who are our most loyal and profitable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is the lifetime value of each customer.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products specific customers prefer.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Which customers should receive customized offers or service.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to acquire new profitable customers and retain existing ones.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667274-1E8B-0EA2-A3E0-59A25438409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5974E5-BBA8-D1BA-BF79-15CFC268A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Relationship Management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4891FB-D2EE-4DE7-7513-ABE302FB74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A6B2A3-9D12-DB50-DB58-3DE635FE7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BA363-D713-9FE2-54BF-F77B25C19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155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6E41-6ADE-7870-3AF5-B84936AB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B846F-9938-E0E7-11BD-83558541F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7926" y="1300900"/>
            <a:ext cx="6679129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systems collect data from various touch points (contact points).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Sales Data: Telephone sales, web sales, retail store sales, field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Service Data: Call center interactions, web self-service, mobile service data, field service data, social network activity.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Marketing Data: Campaign data, content interactions, marketing analytics.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EF61EF-D024-6A4C-F871-C0D48AE3533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1FDA15-C13A-4D26-E370-F9D947BEF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Touch Points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20FCA0-F53E-5F8D-B7A2-A079E83AE4A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E6B19B-A976-1715-1FB0-20BD90A61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16A65C-78A3-EB4C-D2F4-96F9BDD1A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pie chart shows the three components of customer relationship management. Long description available in notes, press f6.">
            <a:extLst>
              <a:ext uri="{FF2B5EF4-FFF2-40B4-BE49-F238E27FC236}">
                <a16:creationId xmlns:a16="http://schemas.microsoft.com/office/drawing/2014/main" id="{3EC7D47E-4A21-07FB-0EDE-9547153B4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2856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79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5445F-350E-9E79-3FF7-2BC9F9C6F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7D0BB-67B1-9E58-1FA7-3196CE832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300900"/>
            <a:ext cx="70750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Range from narrow tools (e.g., website personalization) to enterprise-wide CRM suites.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Major Vendors: Oracle, SAP, Salesforce, Microsoft Dynamics.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Often linked with SCM and ERP systems for full integration.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systems include tools for: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Sales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 Service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Marketing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21244-1312-E33A-83C5-04575B1F7F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B3316A-4590-8984-2B36-E81B75FBD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8AF6E6-33A5-3715-FCC9-2B7AC366E81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B6472-6E3C-8A91-2384-B0B27977B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9B38CE-53F6-5A87-D212-EDA5F99D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7410" name="Picture 2" descr="Post image">
            <a:extLst>
              <a:ext uri="{FF2B5EF4-FFF2-40B4-BE49-F238E27FC236}">
                <a16:creationId xmlns:a16="http://schemas.microsoft.com/office/drawing/2014/main" id="{CFD5AD58-8137-3800-B8F0-5D9DEF89F2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853" b="11019"/>
          <a:stretch/>
        </p:blipFill>
        <p:spPr bwMode="auto">
          <a:xfrm>
            <a:off x="541770" y="1427532"/>
            <a:ext cx="3941727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53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D9672-E792-E560-B3A1-7C17B184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F2B7-DBE9-B283-EEF0-0435441E1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9225" y="1300900"/>
            <a:ext cx="64178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SFA Modules increases salesperson productivity by identifying profitable customers.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customer contact data, product data, configuration tools, and quote generation.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Helps sales staff make personalized recommendations based on purchase history.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sales forecasting, territory management, and team selling.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Helps reduce the cost per sale and cost of customer acquisition.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B0649A-C633-BCAE-4556-F12EACFF749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770CD7-33BA-F5EB-1629-66F65B85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Sales Force Automation (SFA)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CAD85C-C6FB-AC27-360D-7BD55B1BC39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99F65-BDA6-0BA0-B064-4F610F60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F56EF-D488-BFB5-F44A-B33CFBC3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AB9BE8-2C0C-6119-B383-1C536947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60032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02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327A-2AEA-1F87-8B14-F11763A0C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54581-4705-0B75-75CE-C4FD44388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925" y="1300900"/>
            <a:ext cx="72941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call centers, help desks, and service teams.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tools to capture and share customer information across support staff.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Routes calls to the correct service representative.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Reduces call times and increases the number of calls handled per day.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online self-service through web portals and chat options.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Improves service quality and reduces costs.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16716B-7741-1710-1F90-8C7CFDC06E8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B1F6E-F03D-3B79-C83B-A83B1E978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Customer 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A4CD3D-6825-15C9-A551-2423EA184EB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34CBC1-A70C-7AB9-CC3C-7D3406BB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D50BB-73B6-3173-4A85-76848B013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0484" name="Picture 4" descr="Customer service related icons image | Premium Vector">
            <a:extLst>
              <a:ext uri="{FF2B5EF4-FFF2-40B4-BE49-F238E27FC236}">
                <a16:creationId xmlns:a16="http://schemas.microsoft.com/office/drawing/2014/main" id="{824E97DB-7B32-B4FD-C59E-65125FB96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427532"/>
            <a:ext cx="3717489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472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2EA1F-9EBB-AC12-4BD7-0AF3DC39D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8C6C6-DB73-592C-46A5-F894C9687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925" y="1300900"/>
            <a:ext cx="72941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targeted marketing campaigns and lead qualification.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Captures customer and prospect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Tracks and evaluates campaign performance across channels.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data for segmentation, cross-selling, and product tailoring.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Analysis can show how different channels perform across platforms: Web, email, social media, and direct mail.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5DAA3B-ABA0-34EA-9B03-E0A3E36852D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17473E-E766-A015-0CB0-7E0060030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Marketing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8D0445-D402-DB7E-6D4B-E75B6A0F397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8978B-D257-A648-C1F1-E0539875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F4F75-4F14-EEB5-978F-D98F93B54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pie chart shows the Responses by Channel for January 2024 Promotional Campaign. Long description available in notes, press f6.">
            <a:extLst>
              <a:ext uri="{FF2B5EF4-FFF2-40B4-BE49-F238E27FC236}">
                <a16:creationId xmlns:a16="http://schemas.microsoft.com/office/drawing/2014/main" id="{16BA1851-C784-31AB-F119-5D8C0316E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427532"/>
            <a:ext cx="36760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74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C6EFC-500C-F2F8-D9BF-65A5241E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5A681-E3E5-4AFD-E2EC-0B63F9214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975" y="1300900"/>
            <a:ext cx="613208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supports key business processes: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Sales: Account management, lead management, order management, sales planning, field sales, sales analytics.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Marketing: Campaign management, channel promotions, events, market planning, marketing operations, marketing analytics.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Service: Service delivery, customer satisfaction management, returns management, service planning, call center operations, service analytics.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ADE10D-8558-F023-BBAF-48298DE167C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8334BB-921C-7497-4154-F2405FE99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System Capabilities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8F6D95-B515-AA43-8044-C2957B6051C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CB82E-8034-613D-D22A-9C5B2BE2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B9D21-4AEF-2CC6-231D-87346B1B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chart shows the capabilities of customer data in sales, marketing, and service processes found in major C R M software products. Long description available in notes, press f6.">
            <a:extLst>
              <a:ext uri="{FF2B5EF4-FFF2-40B4-BE49-F238E27FC236}">
                <a16:creationId xmlns:a16="http://schemas.microsoft.com/office/drawing/2014/main" id="{A8CD1AE5-D568-FF98-C850-CE24FD3FE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876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650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0BCCC-153F-1372-2740-98C6B0DF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E7533-9A3B-8E8C-DC48-3510B680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9879" y="1300900"/>
            <a:ext cx="40671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Operational CRM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Customer-facing tools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SFA, Customer Service support, Marketing automation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Analytical CRM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Analyzes customer data to improve performance.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Identifies profitable customers, segments, and buying patterns.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Helps develop customer profiles and predict behavior.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FD3F8-12C6-E1B1-A310-67FC9E04A5B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EAA0D-E830-BBDD-F031-8CBEBC3CF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Operational CRM vs Analytical CRM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73A086-EF63-2E1D-AB39-E5FD06B975E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0B351B-E580-7D2C-4107-D002B5B2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07EE5-A413-013B-BEBD-9CED3FB82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chart shows an analytical C R M with customer data and a customer data warehouse or analytic platform. Long description available in notes, press f6.">
            <a:extLst>
              <a:ext uri="{FF2B5EF4-FFF2-40B4-BE49-F238E27FC236}">
                <a16:creationId xmlns:a16="http://schemas.microsoft.com/office/drawing/2014/main" id="{023B0BB3-1C59-AF94-552D-55B0BAD1D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703810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18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E70F-372B-9A65-C3E6-C19F18CC6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E40FC-AF76-54CF-A708-D51BC7062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124" y="1300900"/>
            <a:ext cx="683693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Increased customer satisfaction and loyalty.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Reduced marketing costs through targeted campaigns.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Lower cost of customer acquisition and retention.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Increased sales revenue from cross-selling and upselling.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Reduced customer churn.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Improved efficiency in sales, service, and marketing operations.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3C573C-0715-E598-19F0-564DE197A12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78B539-5C07-D63E-9D0A-41B3D473D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CRM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D1118C-B794-9C0B-98B5-5BDFF9C0E1C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7A6476-E862-4ABB-BEF8-35028BD00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EF52C-5DC1-1708-C695-B95B0E99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1506" name="Picture 2" descr="What are the Advantages of CRM for your Business?">
            <a:extLst>
              <a:ext uri="{FF2B5EF4-FFF2-40B4-BE49-F238E27FC236}">
                <a16:creationId xmlns:a16="http://schemas.microsoft.com/office/drawing/2014/main" id="{D0CD6FFA-4B65-856D-E681-63B86A712A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8" t="19167" r="8478" b="5695"/>
          <a:stretch/>
        </p:blipFill>
        <p:spPr bwMode="auto">
          <a:xfrm>
            <a:off x="541770" y="1427532"/>
            <a:ext cx="4081842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662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CA13-9B5E-2BD9-9AFC-D8E275696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8F1E8-300C-026D-8C04-BF7E148AA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Assistants: AI chatbots respond to customer inquiries and capture details automatically.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Field Service Routing Optimization: Predictive AI improves scheduling and resource allocation for service teams.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Lead Conversion and Opportunity Scoring: Predicts which prospects are likely to convert and identifies deals needing attention.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Pricing Optimization: AI recommends prices and discounts to maximize revenue and close rates.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Predictive Scoring: Identifies which customers or leads are most likely to engage or buy.</a:t>
            </a: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D8E0E1-145A-1F51-217B-D368D649ADE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AF2E3D-EB7B-13DB-06D8-8E6CEAD06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CRM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DFC2AF-299E-0C32-BCDC-C37CCA0A1B2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B32A32-E80B-49E2-F84A-5128AEFB1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29CF0-B051-CCC3-E1C3-CFD3A6904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8348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67C44-2719-043B-A406-F63BE58F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E99859-BC13-3BCF-1250-7C487258003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Challenges to Enterprise Application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74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B8223-2963-A10B-D588-754EB3E7F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D7E7C-5AE5-B873-1DF1-2CC721245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ERP, SCM, and CRM systems promise major gains such as lower inventory, faster order-to-delivery times, improved customer response, and higher profitability.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These benefits only occur when firms are willing to change business processes to fit the system, and enterprise applications are expensive to purchase and implement.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Survey (Panorama Consulting Group, 2024):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27.5% of projects experienced cost overruns.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5.3% had significant overruns.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Almost one-third were completed late.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Causes of Overrun: Organizational issues, scope creep, excessive customization, underestimating training and change management needs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4C1530-9DBE-E830-7509-2DD9C338E26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F587AF-80DB-36A6-B795-6BF8C894C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Implementation Costs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7E3D81-AE9C-8C41-115A-3912115BCBC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861E5-512B-2031-88A0-484B4EF45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3C062-9F6E-BF15-9162-90745616C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7370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E31DA-D022-9D25-7F75-85132EBB3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CB87C-8C5D-05F6-17BE-1DDE40DB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7554" y="1300900"/>
            <a:ext cx="718344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ERP and CRM require reengineering existing processes: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Employees must learn new workflows and accept new responsibilities.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Data entered by one user affects other parts of the company, requiring new awareness and training.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Implementation includes high organizational learning costs.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Additionally, for SCM: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SCM requires multiple independent organizations to share data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All partners may need to adjust their workflows for the system to function effectively.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Difficult to coordinate process changes across firms with different systems and priorities.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340781-51EA-6546-3454-9D61C82E940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9BFF7-90D4-07CD-5644-7807EE245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Need for Major Organizational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EB948-60FD-6C61-DF73-76BDC5EB1E4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D165AC-68B4-57F5-8597-0BFBD9269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05E5E-0D1B-1BBA-BE1F-EF7ED9938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5602" name="Picture 2" descr="Organizational Change Management | IT@Cornell">
            <a:extLst>
              <a:ext uri="{FF2B5EF4-FFF2-40B4-BE49-F238E27FC236}">
                <a16:creationId xmlns:a16="http://schemas.microsoft.com/office/drawing/2014/main" id="{F2B18E79-1CAA-196C-AA85-64052DAB3B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70" r="18970"/>
          <a:stretch/>
        </p:blipFill>
        <p:spPr bwMode="auto">
          <a:xfrm>
            <a:off x="541770" y="1784023"/>
            <a:ext cx="408578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7992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73790-846A-BB9B-9A66-DB0773A0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E33BC-CD14-142A-E21D-34E63184E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Switching Costs: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Switching from one vendor (SAP, Oracle, etc.) to another is costly and disruptive.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Firms become dependent on the vendor for updates, maintenance, and extensions.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Increases long-term cost and strategic dependence.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Data Standardization and Cleansing: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Enterprise systems rely on company-wide definitions of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Firms must align how they define customers, products, accounts,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Poor data quality reduces system value and can cause operational disruptions.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Customization: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Customizing ERP or CRM software makes future upgrades more difficult and expensive.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Heavy customization often leads to fragile systems and implementation delays.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232C12-9677-7F0E-3590-5B2E4B4F00E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BFBF30-120E-A8D0-036D-B1F8F5249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Other Issues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B0857F-0C28-A1C7-6D0F-2F6FBDC2D95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8300B2-E632-6D5C-4081-D7F1C2FA6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3A17E-F26A-03CF-6CCF-34AB38D4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6896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BE3C3-3787-A314-EE45-819F6291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7649A-9F11-A184-2AC9-6B97C11C3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More Flexible Enterprise Applications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Stand-alone ERP, SCM, and CRM systems are being replaced with integrated suites.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Vendors offer more web-enabled, mobile, and user-friendly interfaces.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Cloud-based versions reduce installation costs and improve scalability.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Composable ERP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Growing demand for hybrid enterprise systems that combine best-of-breed components.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1600" dirty="0"/>
              <a:t>e.g., Use SAP S/4HANA for core ERP, SAP SuccessFactors for HR, and SAP Ariba plus a third-party CRM tool such as Salesforce for procurement and customer management.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Offers flexibility, scalability, and customization without heavy vendor lock-in.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AI in Enterprise Applications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Enterprise vendors have embedded AI into ERP, SCM, and CRM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AI supports tasks such as forecasting, anomaly detection, content creation, and decision support.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EFE9C0-A54E-FC7E-04C3-671B85BE96F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A11F88-8ADC-CA69-66DF-8F837549E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Trends in Enterprise Applications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8546D5-2406-C38E-8B35-BA85109DA27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D1492-C451-F0AA-3A0C-41384E813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7039D3-5B75-DB42-C299-53F5263D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23191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ABA00-D723-DF5C-8BAF-DBF3CA88A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9CAAD1-524A-5F48-C08D-4E703CD26872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9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08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ERP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SCM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CRM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enterprise application challenges.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how enterprise applications are using AI.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178b066-ece4-42d6-be80-b911ff775fa2}" enabled="1" method="Privilege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9933</TotalTime>
  <Words>3167</Words>
  <Application>Microsoft Office PowerPoint</Application>
  <PresentationFormat>Custom</PresentationFormat>
  <Paragraphs>531</Paragraphs>
  <Slides>46</Slides>
  <Notes>40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Why ERP?</vt:lpstr>
      <vt:lpstr>  Enterprise Resource Planning Systems</vt:lpstr>
      <vt:lpstr>  ERP Software</vt:lpstr>
      <vt:lpstr>  Software Connect (2025, July 16). Hidden Costs of ERP Customization: Lessons from a $600M   Failure [Video]. YouTube. https://youtu.be/-QK7cgDFIaU?si=JDMbhddz_eegkSnc</vt:lpstr>
      <vt:lpstr>  Business Value of ERP Systems</vt:lpstr>
      <vt:lpstr>  AbbVie and SAP ERP</vt:lpstr>
      <vt:lpstr>  AI and ERP</vt:lpstr>
      <vt:lpstr>  AI and ERP</vt:lpstr>
      <vt:lpstr>PowerPoint Presentation</vt:lpstr>
      <vt:lpstr>  Supply Chains</vt:lpstr>
      <vt:lpstr>  Supply Chain Transformation Process</vt:lpstr>
      <vt:lpstr>  Supply Chain Transformation Process</vt:lpstr>
      <vt:lpstr>  Supply Chain Inefficiencies</vt:lpstr>
      <vt:lpstr>  The Bullwhip Effect</vt:lpstr>
      <vt:lpstr>  Solution to Supply Chain Inefficiencies</vt:lpstr>
      <vt:lpstr>  Supply Chain Management Software</vt:lpstr>
      <vt:lpstr>  Push-Based vs Pull-Based Supply Chains</vt:lpstr>
      <vt:lpstr>  Push-Based vs Pull-Based Supply Chains</vt:lpstr>
      <vt:lpstr>  SCM and the Internet</vt:lpstr>
      <vt:lpstr>  Internet-Driven Supply Chains</vt:lpstr>
      <vt:lpstr>  Internet-Driven Supply Chains</vt:lpstr>
      <vt:lpstr>  Business Value of SCM Systems</vt:lpstr>
      <vt:lpstr>  AI and SCM</vt:lpstr>
      <vt:lpstr>  AI and SCM</vt:lpstr>
      <vt:lpstr>PowerPoint Presentation</vt:lpstr>
      <vt:lpstr>  Customer Relationship Management</vt:lpstr>
      <vt:lpstr>  Customer Relationship Management</vt:lpstr>
      <vt:lpstr>  Customer Touch Points</vt:lpstr>
      <vt:lpstr>  CRM Software</vt:lpstr>
      <vt:lpstr>  CRM Software: Sales Force Automation (SFA)</vt:lpstr>
      <vt:lpstr>  CRM Software: Customer Service</vt:lpstr>
      <vt:lpstr>  CRM Software: Marketing</vt:lpstr>
      <vt:lpstr>  CRM System Capabilities</vt:lpstr>
      <vt:lpstr>  Operational CRM vs Analytical CRM</vt:lpstr>
      <vt:lpstr>  Business Value of CRM Systems</vt:lpstr>
      <vt:lpstr>  AI and CRM</vt:lpstr>
      <vt:lpstr>PowerPoint Presentation</vt:lpstr>
      <vt:lpstr>  Challenge: Implementation Costs</vt:lpstr>
      <vt:lpstr>  Challenge: Need for Major Organizational Change</vt:lpstr>
      <vt:lpstr>  Challenge: Other Issues</vt:lpstr>
      <vt:lpstr>  Trends in Enterprise Applications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454</cp:revision>
  <dcterms:created xsi:type="dcterms:W3CDTF">2013-01-27T09:14:16Z</dcterms:created>
  <dcterms:modified xsi:type="dcterms:W3CDTF">2025-12-03T14:48:25Z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178b066-ece4-42d6-be80-b911ff775fa2_Enabled">
    <vt:lpwstr>true</vt:lpwstr>
  </property>
  <property fmtid="{D5CDD505-2E9C-101B-9397-08002B2CF9AE}" pid="3" name="MSIP_Label_5178b066-ece4-42d6-be80-b911ff775fa2_SetDate">
    <vt:lpwstr>2025-09-24T21:16:43Z</vt:lpwstr>
  </property>
  <property fmtid="{D5CDD505-2E9C-101B-9397-08002B2CF9AE}" pid="4" name="MSIP_Label_5178b066-ece4-42d6-be80-b911ff775fa2_Method">
    <vt:lpwstr>Privileged</vt:lpwstr>
  </property>
  <property fmtid="{D5CDD505-2E9C-101B-9397-08002B2CF9AE}" pid="5" name="MSIP_Label_5178b066-ece4-42d6-be80-b911ff775fa2_Name">
    <vt:lpwstr>Public</vt:lpwstr>
  </property>
  <property fmtid="{D5CDD505-2E9C-101B-9397-08002B2CF9AE}" pid="6" name="MSIP_Label_5178b066-ece4-42d6-be80-b911ff775fa2_SiteId">
    <vt:lpwstr>4881a8fa-b252-4912-b93a-7806c41bbe91</vt:lpwstr>
  </property>
  <property fmtid="{D5CDD505-2E9C-101B-9397-08002B2CF9AE}" pid="7" name="MSIP_Label_5178b066-ece4-42d6-be80-b911ff775fa2_ActionId">
    <vt:lpwstr>481a848f-947e-4531-a1b3-13071af9a132</vt:lpwstr>
  </property>
  <property fmtid="{D5CDD505-2E9C-101B-9397-08002B2CF9AE}" pid="8" name="MSIP_Label_5178b066-ece4-42d6-be80-b911ff775fa2_ContentBits">
    <vt:lpwstr>0</vt:lpwstr>
  </property>
  <property fmtid="{D5CDD505-2E9C-101B-9397-08002B2CF9AE}" pid="9" name="MSIP_Label_5178b066-ece4-42d6-be80-b911ff775fa2_Tag">
    <vt:lpwstr>10, 0, 1, 1</vt:lpwstr>
  </property>
</Properties>
</file>