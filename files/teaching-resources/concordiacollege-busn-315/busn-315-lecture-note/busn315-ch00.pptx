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notesSlides/notesSlide5.xml" ContentType="application/vnd.openxmlformats-officedocument.presentationml.notesSlide+xml"/>
  <Override PartName="/ppt/tags/tag2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375" r:id="rId3"/>
    <p:sldId id="379" r:id="rId4"/>
    <p:sldId id="378" r:id="rId5"/>
    <p:sldId id="321" r:id="rId6"/>
    <p:sldId id="391" r:id="rId7"/>
    <p:sldId id="393" r:id="rId8"/>
    <p:sldId id="380" r:id="rId9"/>
    <p:sldId id="382" r:id="rId10"/>
    <p:sldId id="394" r:id="rId11"/>
    <p:sldId id="383" r:id="rId12"/>
    <p:sldId id="384" r:id="rId13"/>
    <p:sldId id="395" r:id="rId14"/>
    <p:sldId id="396" r:id="rId15"/>
    <p:sldId id="385" r:id="rId16"/>
    <p:sldId id="389" r:id="rId17"/>
    <p:sldId id="390" r:id="rId18"/>
    <p:sldId id="386" r:id="rId19"/>
    <p:sldId id="397" r:id="rId20"/>
    <p:sldId id="398" r:id="rId21"/>
    <p:sldId id="399" r:id="rId22"/>
    <p:sldId id="400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4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3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4D5A5-740A-3964-972E-FBC1FE622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26C447-5554-CCFE-9718-12621F9965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A8A752-6EC8-852A-8A67-60179F21C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B5112-65BA-AEED-B577-CBA4B7C2C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583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080B1-12D1-BA28-08E6-8F2B8280D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221EE-06BF-365D-E9AF-C0C4509F5B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1CA4E9-A2F5-D8E0-B650-622BCEAF5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31515-26AC-5591-C6D5-635A0A108D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5984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645A0-2000-B39E-97C5-8DC9A3EA6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54EACF-6AB2-52BF-FA61-3EC0CA721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A0CC07-38CB-9AF9-4B2A-D50FF2F909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B16B2-1F52-B33E-0957-F6A42DB7E4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4716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CC270-F3E1-B644-69EE-08D402C27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464A89-0963-9550-34D2-8F70B47E0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A52664-D851-F16E-1140-BB77A6575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A783-BC56-D677-AF3B-54311EEE4B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0233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Which of the following do you think is NOT true about the instructor?
https://www.polleverywhere.com/multiple_choice_polls/9dCAEjDoSTcrselUyEGYu?display_state=instructions&amp;activity_state=opened&amp;state=opened&amp;flow=Engagement&amp;onscreen=persist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AA7B77-230D-CD28-048D-72D216B561C5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962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Which of the following do you think is NOT true about the instructor?
https://www.polleverywhere.com/multiple_choice_polls/9dCAEjDoSTcrselUyEGYu?display_state=chart&amp;activity_state=closed&amp;state=closed&amp;flow=Engagement&amp;onscreen=persist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CF06F3-9D1A-D68E-9901-11072E4A56BC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691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C06EB-60BF-FB10-AED4-06F651AEA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145F3D-4D43-5CEE-F1F9-738049F09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6DC0B7-1DD1-8DE0-D952-18FD6AFD3C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BBC69-5399-CBA0-622A-1637A24006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1492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B0394-E5C4-6569-9000-A64A44EBA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2C0823-31F3-9D0B-FCA7-0EF4F4FAD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AF84BF-994F-E96E-A165-297952736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57F7C-824B-0983-C6CC-41D1AF925F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957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3E0A8-8B2D-756C-E511-FB29F094B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ACB2C5-DC47-FFF8-42D5-17D06C1D1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D0CD1A-6664-48BA-AA93-C7CA56633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2B7091-B1FB-467F-6B2C-F2A41CA2F8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5406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80D28-79B8-418B-F1F4-E1428036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0FAAC-4BED-9E0E-AC52-75C014FDBE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482F5-1FDC-4CF8-F617-A8A7D9D2A8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048D17-9B78-B725-DAED-590A044606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1113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F950E-B60B-F6A6-5D33-8967F670E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8B88B-689E-F6E4-E6F4-F70FAE00F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78128-CB42-43D0-19CF-D9EC210091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DDF75C-C6A6-2A60-3452-C8D5B933B0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76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750E4-488C-1CC2-D5EA-2AA345BA7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D94C7-454A-68B0-BD95-5543B5450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BC00E-C2EF-3C01-7D03-CEBB75BFB2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8F5A2-2D28-DFDE-8125-6F8359E3E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4776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0FDC9-E46F-F1E2-3ACA-2570236D3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F4BC78-3087-DFC7-0484-9D7390E974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BC5873-1C28-1CCA-77F5-741D212F5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22EF7-8338-9A03-7996-A30260C68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519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6970F-E740-7E37-21C8-9B142EECE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23A6F3-CD4B-E144-6BA3-3E5B9CAA1B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53C05-7CDC-C2F8-EEDF-5FB1D4882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BBE6FD-2A52-0E11-1112-6F4B5C5DF3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7696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4B8BB-8DD5-535F-870E-9CE45A50A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A1CCB1-1420-299B-C3BB-DDC4B242C0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6F844-CF36-22B1-7078-F6FE9A4576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495FF6-AB5A-4524-34B7-32157FC89B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5832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06943-73A1-3A15-450A-ECCD69352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02FDF3-27F8-5896-7735-363C7E5118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1F97F9-7FCC-BD6B-8F93-1404FE103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F4253-E6D6-6F7E-71ED-6736AE3533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5373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5B064-32AD-1C6A-68DC-02E3C1B36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E285A-ABF1-AF7D-5B5E-5F2D3A3F33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16E75-91E3-555B-81AE-DD8E97C1C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BF30C-B940-A1E7-A907-5F65B25242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4839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DFAA3-57F3-BBB1-1D64-71FEAA1A4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D0C2F-718A-74AB-6B02-AB5870B29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23E94-1D2A-4C1F-6555-E2A5E10082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69050-BD96-BD3E-45F6-7F2004A71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8365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4B47B-6F63-957E-1E08-8AE29183D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F2D6D-5EAD-B2DE-2C94-5BB384645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3852F-F885-A18C-C292-8AF01CDA5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FAF041-56D1-336E-DBD0-AC01E70B2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8627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60776-0020-0EAB-A2F7-8B616505E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250BC3-471B-5E79-5A0A-F7D3948FD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F81E01-088C-19EA-8E72-9ACADAECE6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B70CE-F97A-5ACD-0935-DA8506EEB4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13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F953D-1CC9-7EB0-3805-6A63A86F8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ED3268-23A9-7F0F-34BF-60100579B2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4818C8-529B-FCC8-8AD8-EEF8330A17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E8497-BAC5-5A6A-4B49-BF327CAB3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726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C5FB3-92A5-4011-91DB-2D8EC67B9CC5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A2D91-4E20-4CE8-90C6-1D5A5A265686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CCB0C-E9C2-40A1-82C0-22BF838AEE6D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781613-F109-4968-A63A-014353BD702E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2BE1-4D7A-4DA0-B212-A3E71135162C}" type="datetime1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965-6777-461C-B16D-ADBC672E1171}" type="datetime1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A7426-F6AF-4D95-A054-FEBD865CC241}" type="datetime1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8540-4333-4F59-AE9A-34173A2A47EB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867B15-C34B-47FF-B66F-379461E991D4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0E18C-F5EB-47BD-94B8-4BB3CCD62BB0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A1693-C60B-4579-985C-D87FA481B218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5BAFEF-4920-4650-A4CA-B355440B4F1D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/>
              <a:t>M</a:t>
            </a:r>
            <a:r>
              <a:rPr lang="en-US" sz="4000" dirty="0"/>
              <a:t>ANAGEMENT </a:t>
            </a:r>
            <a:r>
              <a:rPr lang="en-US" sz="4800" dirty="0"/>
              <a:t>I</a:t>
            </a:r>
            <a:r>
              <a:rPr lang="en-US" sz="4000" dirty="0"/>
              <a:t>NFORMATION </a:t>
            </a:r>
            <a:r>
              <a:rPr lang="en-US" sz="4800" dirty="0"/>
              <a:t>S</a:t>
            </a:r>
            <a:r>
              <a:rPr lang="en-US" sz="4000" dirty="0"/>
              <a:t>YSTEMS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0: Introduction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92F46-7324-5DC2-C536-34F2659E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B44DE-A456-12A4-B96B-E4BE33264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Brian H. Park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First year at Concordia College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Ph.D. in Applied Economics and Management, Cornell University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B.A. in Economics, Korea University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Research Interests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Environmental Economics and Demographic Economics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Climate Change and Migration Pattern of Agricultural Workers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Interactions of Border Enforcement Policies and International Migration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Influence of Pop Culture on Fertility Intent of Married Couples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947755-0160-7AFA-72C8-EA9832C61D9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A4D45E-EFDC-F629-A59E-1F8B029C0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Announcements: About Me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AD084E-F597-B3D0-EDF0-F5E0D864CD7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BCF0F4-DC2C-FBEC-E091-37E89842A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0629E-7DCA-0D66-0ECB-20510A84B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7599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1AD7B-0BC6-34DD-1E8E-FB03E4CF6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39D6C-FB19-2DD6-6EC6-0EE32A1A6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Email: HPARK3@cord.edu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Please include BUSN315 in the subject line, and my target response is within 1 business day.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Office: Grant Center 101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Regular Office Hours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Mondays &amp; Wednesdays 12:30 PM to 2:00 PM, and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By appointment via Calendly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Calendly: calendly.com/brianhwpark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Book on-demand office hours in 15-minute increments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Calendar opens 10 days in advance, with a minimum of 90 minutes notice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For longer sessions, you may book 2~3 sessions in a row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e.g. Book a session at 2:00 PM, and another at 2:15 PM for a meeting from 2:00 PM through 2:30 PM.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656699-D054-692A-B8C5-222C3D41D0A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37B4A-FF4D-FB6A-AF3C-13B30764A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Announcements: Contact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9AB883-1694-75EC-39F0-5F0532C38F7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AC99B2-5A4C-8BD7-7BE1-F1C1646FA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585682-7749-AA1B-49FE-11DAC3F76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8618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32C3-2508-6B39-ECE9-F1DC64113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1A6601-6353-3352-CE9E-80DDBD15B4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90288" y="1190856"/>
            <a:ext cx="7269353" cy="5045352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Management Information Systems: Managing the Digital Firm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400" dirty="0">
              <a:solidFill>
                <a:srgbClr val="000000"/>
              </a:solidFill>
              <a:latin typeface="Garamond"/>
            </a:endParaRP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18</a:t>
            </a:r>
            <a:r>
              <a:rPr lang="en-US" sz="2400" baseline="30000" dirty="0">
                <a:solidFill>
                  <a:srgbClr val="000000"/>
                </a:solidFill>
                <a:latin typeface="Garamond"/>
              </a:rPr>
              <a:t>th</a:t>
            </a:r>
            <a:r>
              <a:rPr lang="en-US" sz="2400" dirty="0">
                <a:solidFill>
                  <a:srgbClr val="000000"/>
                </a:solidFill>
                <a:latin typeface="Garamond"/>
              </a:rPr>
              <a:t> Edition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400" dirty="0">
              <a:solidFill>
                <a:srgbClr val="000000"/>
              </a:solidFill>
              <a:latin typeface="Garamond"/>
            </a:endParaRP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Laudon, Laudon, Traver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400" dirty="0">
              <a:solidFill>
                <a:srgbClr val="000000"/>
              </a:solidFill>
              <a:latin typeface="Garamond"/>
            </a:endParaRP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Pearson</a:t>
            </a:r>
            <a:endParaRPr lang="en-US" sz="1400" dirty="0">
              <a:solidFill>
                <a:srgbClr val="000000"/>
              </a:solidFill>
              <a:latin typeface="Garamond"/>
            </a:endParaRP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400" dirty="0">
              <a:solidFill>
                <a:srgbClr val="000000"/>
              </a:solidFill>
              <a:latin typeface="Garamond"/>
            </a:endParaRP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Lecture notes to be distributed over Moodle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400" dirty="0">
              <a:solidFill>
                <a:srgbClr val="000000"/>
              </a:solidFill>
              <a:latin typeface="Garamond"/>
            </a:endParaRP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Previous editions are acceptable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8C6408-049E-9139-96E8-EF4359483F7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59077B6-E55E-618B-D0E5-86C1AF34313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Announcements: Textbook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C65DCF-2401-759E-64BA-AC22665AD43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5B9FAA8C-43F5-436A-5BC5-9FC9B1AA6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C55670E5-35DB-326A-A224-F88D39537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6000D5C-E561-F51C-0B95-3F19C8399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170" y="1148139"/>
            <a:ext cx="4013510" cy="5130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1384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4F076-2C7E-8475-9A16-5DFC7D286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6C1B827-41A5-349E-C5A8-25084B444C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rcRect/>
          <a:stretch/>
        </p:blipFill>
        <p:spPr>
          <a:xfrm>
            <a:off x="523081" y="1165225"/>
            <a:ext cx="5070475" cy="5070475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458FEA-F4EB-2199-B83F-8CCA1EC25E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674" y="1190856"/>
            <a:ext cx="5458967" cy="5045352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This is a QR code to </a:t>
            </a:r>
            <a:r>
              <a:rPr lang="en-US" sz="2400" dirty="0" err="1">
                <a:solidFill>
                  <a:srgbClr val="000000"/>
                </a:solidFill>
                <a:latin typeface="Garamond"/>
              </a:rPr>
              <a:t>PollEverywhere</a:t>
            </a:r>
            <a:r>
              <a:rPr lang="en-US" sz="2400" dirty="0">
                <a:solidFill>
                  <a:srgbClr val="000000"/>
                </a:solidFill>
                <a:latin typeface="Garamond"/>
              </a:rPr>
              <a:t>, an online polling system.</a:t>
            </a:r>
            <a:endParaRPr lang="en-US" sz="1600" dirty="0">
              <a:solidFill>
                <a:srgbClr val="000000"/>
              </a:solidFill>
              <a:latin typeface="Garamond"/>
            </a:endParaRP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Please scan the QR code and have your device ready as there will be a few in-class exercises.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If you do not have access to your mobile device, log in using the URL below: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800" dirty="0">
              <a:solidFill>
                <a:srgbClr val="000000"/>
              </a:solidFill>
              <a:latin typeface="Garamond"/>
            </a:endParaRP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600" dirty="0">
              <a:solidFill>
                <a:srgbClr val="000000"/>
              </a:solidFill>
              <a:latin typeface="Garamond"/>
            </a:endParaRP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Your responses are anonymous and not be used in grading.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600" dirty="0">
              <a:solidFill>
                <a:srgbClr val="000000"/>
              </a:solidFill>
              <a:latin typeface="Garamond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5C067C-F36D-04DE-D26D-87746FF9054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DD8779A-FF6B-0622-B6D9-36766F1C1C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Announcements: </a:t>
            </a:r>
            <a:r>
              <a:rPr lang="en-US" sz="4000" b="1" dirty="0" err="1">
                <a:solidFill>
                  <a:schemeClr val="bg1"/>
                </a:solidFill>
                <a:latin typeface="Garamond"/>
              </a:rPr>
              <a:t>PollEverywhere</a:t>
            </a:r>
            <a:endParaRPr lang="en-US" sz="4000" b="1" dirty="0">
              <a:solidFill>
                <a:schemeClr val="bg1"/>
              </a:solidFill>
              <a:latin typeface="Garamond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19FE8D-AFEF-BF0F-3553-9629AD3775C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C903066-1EF1-FE4F-782B-5B86E95E7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FF1122B6-D8A5-1BC4-CFBA-5D58FC51A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2B97891-9EB5-A539-4A0B-5421005AAE3D}"/>
              </a:ext>
            </a:extLst>
          </p:cNvPr>
          <p:cNvSpPr/>
          <p:nvPr/>
        </p:nvSpPr>
        <p:spPr>
          <a:xfrm>
            <a:off x="7325011" y="3685794"/>
            <a:ext cx="3809714" cy="374904"/>
          </a:xfrm>
          <a:prstGeom prst="roundRect">
            <a:avLst/>
          </a:prstGeom>
          <a:solidFill>
            <a:srgbClr val="77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Garamond" panose="02020404030301010803" pitchFamily="18" charset="0"/>
              </a:rPr>
              <a:t>https://pollev.com/brianpark046</a:t>
            </a:r>
          </a:p>
        </p:txBody>
      </p:sp>
    </p:spTree>
    <p:extLst>
      <p:ext uri="{BB962C8B-B14F-4D97-AF65-F5344CB8AC3E}">
        <p14:creationId xmlns:p14="http://schemas.microsoft.com/office/powerpoint/2010/main" val="3533270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74B87-ED55-4FC3-F2BA-481CF6B07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Which of the following do you think is NOT true about the instructor?
Slide 6</a:t>
            </a:r>
          </a:p>
        </p:txBody>
      </p:sp>
      <p:sp>
        <p:nvSpPr>
          <p:cNvPr id="3" name="Footer Placeholder 2" descr="Poll Everywhere multiple choice poll instructions screen&#10;Activity Title: Which of the following do you think is NOT true about the instructor?">
            <a:extLst>
              <a:ext uri="{FF2B5EF4-FFF2-40B4-BE49-F238E27FC236}">
                <a16:creationId xmlns:a16="http://schemas.microsoft.com/office/drawing/2014/main" id="{EA602645-8D77-4664-B860-92E9018BB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AED40-3920-4037-685D-8FC4EE7E3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CFF654-B6A0-0286-09E0-0E1B34456C26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89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BC4BA-168D-22C0-66D0-F6E98C08A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Which of the following do you think is NOT true about the instructor?
Slide 8</a:t>
            </a:r>
          </a:p>
        </p:txBody>
      </p:sp>
      <p:sp>
        <p:nvSpPr>
          <p:cNvPr id="3" name="Footer Placeholder 2" descr="Poll Everywhere multiple choice poll chart screen&#10;Activity Title: Which of the following do you think is NOT true about the instructor?">
            <a:extLst>
              <a:ext uri="{FF2B5EF4-FFF2-40B4-BE49-F238E27FC236}">
                <a16:creationId xmlns:a16="http://schemas.microsoft.com/office/drawing/2014/main" id="{F33C3100-DA02-D227-D706-4F4B944FB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253565-7B4B-6879-36E8-E157D52F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320E0-A998-64A2-B520-E6CDFD086B79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679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A3235-BA29-0B59-9251-31E7747DD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0C154A4-E18D-A4AB-3E44-4BBB697785A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BBD7F54-46B0-4AFB-D306-3CD1A705956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Grading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341872-A8B5-9270-944D-1AA771E26D9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D7FEB5CA-C0F0-C65D-0590-3C8FA065F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8444793C-D42E-EA78-404C-3ECA33BC2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889659-6172-629C-CEA2-890F7C20A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final letter grade to be calculated using your end of semester Grand Total score.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Summary: 10%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Homework: 10%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Quizzes: 45%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Final: 35%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 marL="57150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3515938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F3F00-8C8C-AB23-4FD8-758A3E0D5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AF5F0B-9E91-9CF7-E31B-7C1B0EDEBB8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EEC65DE-BF71-E500-DCF0-F48432A79EB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Attendance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1BF0C7-29D7-FA6A-0C72-BBCEB414879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F0948B46-C0CE-0488-151C-A0FAFB924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6A19B34A-26DA-74D5-A37E-F125C6421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731B94F-5E90-B616-E3A8-FB65F57B1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Attendance may be checked at the beginning of each class session.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student is permitted one unexcused absence per calendar month without penalty.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Attendance does not directly factor into a student’s Grand Total score; however, it will be used to determine recovery rates following each quiz.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Five or more unexcused absences (excluding the monthly no-penalty absences) over the duration of the term may result in a failing grade. 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criteria for determining whether an absence is excused or unexcused will follow Concordia College policy, with final discretion resting with the instructor.</a:t>
            </a:r>
          </a:p>
        </p:txBody>
      </p:sp>
    </p:spTree>
    <p:extLst>
      <p:ext uri="{BB962C8B-B14F-4D97-AF65-F5344CB8AC3E}">
        <p14:creationId xmlns:p14="http://schemas.microsoft.com/office/powerpoint/2010/main" val="4167212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CCCF-F4C2-6305-3DED-7ACB24EF8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3241F-6D15-BCC0-4105-9CFEB87F93A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4BAFAA6-4448-DD2C-F0EA-009FE5BDA3D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Summaries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57738B-07B7-08DB-364D-CD01A9AC516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574AB9ED-CC65-924A-E8D3-F243E3513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3F1F8306-1B8B-28BE-B755-FFEEBADE4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3E8153D-6FF8-4209-C24B-D57E435E6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On the second day of the term, students will be randomly sorted into 5 groups of roughly equal size.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group will then be randomly assigned two of the first 10 chapters covered during the term.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After the final lecture covering their assigned chapter, each group will create a summary note for that chapter.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group will meet with the instructor no later than 2 days after the final lecture covering the assigned chapter to evaluate, discuss, and revise the summary notes. 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Approved summary notes will be made available to all students in preparation for the quiz.</a:t>
            </a:r>
          </a:p>
        </p:txBody>
      </p:sp>
    </p:spTree>
    <p:extLst>
      <p:ext uri="{BB962C8B-B14F-4D97-AF65-F5344CB8AC3E}">
        <p14:creationId xmlns:p14="http://schemas.microsoft.com/office/powerpoint/2010/main" val="1185583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B1FE6-9990-B9CE-8A65-E00757965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74C9FF0-5E2B-CE89-8286-C65D159783D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F192AF0-5F6A-3BE9-432A-89E25B5672A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Homework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3C0B1F-37B7-78E5-84C0-F46A97365B5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64883B86-572F-079C-ED4E-FD094B735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329697C3-61BF-CDEC-707F-22716158B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925C032-9E8C-C2D2-3F54-616A55EB1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Homework assignments are designed to support progress toward the final project.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All homework assignments must be completed as a group (your final presentation group).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For each homework assignment, students or groups will identify a real-world event relevant to the course material and write a short essay (approximately 500-1,000 words) explaining the event using theories and concepts discussed in class.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Groups will select one of the three homework assignments and present their findings to the class, accompanied by handouts and presentation slides.</a:t>
            </a:r>
          </a:p>
        </p:txBody>
      </p:sp>
    </p:spTree>
    <p:extLst>
      <p:ext uri="{BB962C8B-B14F-4D97-AF65-F5344CB8AC3E}">
        <p14:creationId xmlns:p14="http://schemas.microsoft.com/office/powerpoint/2010/main" val="3240425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9DC0A-A89D-2405-905F-5A908F297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7F11715-A7A9-EB3B-5732-69D9CE1F540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9BCBAB6-33CD-26B5-967F-532C5176D43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Quizzes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CFD859-9858-204C-7E35-1627AA2C29E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F16D2246-2E68-2A15-5084-6F85344E5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217FFDFE-52F6-EBB2-71C4-4E18619C6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E30D656-3633-E930-C902-B05D55EA5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Up to 6 closed-book, in-class quizzes will be administered throughout the semester.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Quizzes will include a mix of definition, true or false, and short-answer questions.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Because quizzes are designed to be low-stakes and frequent check-ins, students will have opportunities to recover deducted points.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participate in grade recovery, students must review their graded material, demonstrate a clear understanding of the error, and present the correct answer to the instructor in person during office hours.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Grade recovery deadlines will be one week after the distribution of graded material.</a:t>
            </a:r>
          </a:p>
        </p:txBody>
      </p:sp>
    </p:spTree>
    <p:extLst>
      <p:ext uri="{BB962C8B-B14F-4D97-AF65-F5344CB8AC3E}">
        <p14:creationId xmlns:p14="http://schemas.microsoft.com/office/powerpoint/2010/main" val="234770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EEA2D-C771-9AC3-509C-6B8A52407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AE0E7C-BDCC-4E75-EDC2-AB34649F5BB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7489DD5-FA9E-CAE9-B1B2-094A2F9B0A5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Quizzes (continued)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3D0267-8FCB-B009-6ED9-CA0739ED131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3FB339C4-1E92-7C54-213E-962602A4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D078C47F-73BA-5E5B-19FD-FA91ECD4C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B35D976D-70EB-4532-26CD-1E5BE2F842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proportion of points that a student can recover is directly tied to their attendance rate. Assuming a maximum recovery rate of R%, the recovery rate is calculated as: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400" dirty="0"/>
              </a:p>
              <a:p>
                <a:pPr marL="0" indent="0"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𝑅𝑒𝑐𝑜𝑣𝑒𝑟𝑦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𝑅𝑎𝑡𝑒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(# 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𝐴𝑡𝑡𝑒𝑛𝑑𝑒𝑑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+#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𝐸𝑥𝑐𝑢𝑠𝑒𝑑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𝐴𝑏𝑠𝑒𝑛𝑐𝑒𝑠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𝑇𝑜𝑡𝑎𝑙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𝐴𝑡𝑡𝑒𝑛𝑑𝑎𝑛𝑐𝑒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𝐶h𝑒𝑐𝑘𝑠</m:t>
                          </m:r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4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Regardless of the recovery rate, the maximum number of points a student may recover shall not exceed 20% of the total score for each quiz.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4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It is the student’s responsibility to initiate grade recovery within the stated deadline.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4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 quizzes will be dropped, as the grade recovery policy is designed to provide flexibility.</a:t>
                </a: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B35D976D-70EB-4532-26CD-1E5BE2F842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3"/>
                <a:stretch>
                  <a:fillRect l="-708" t="-959" r="-2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3856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2988F-8237-E8E0-A51F-A2E67E2FE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5647AB-5980-4B8A-407D-BD30731E5E6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1842AAE-DC91-197E-F2C0-3C7AB0D912D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Quizzes (continued)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34B4F4-9548-E70D-B26A-6932CCD3230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D315F9FB-82AC-E15F-6C07-143640D31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42EDE3D7-ECE5-B80A-FC07-CCCD1EAC6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55F8828-086A-1790-C3E8-4F492FCAA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missed quiz without an approved reason will result in a grade of zero.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Make-up quizzes must be approved by the instructor and are granted only for documented or unavoidable conflicts.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Examples of commonly approved reasons include illness, medical appointments that cannot be rescheduled, family emergencies, and College-sponsored activities.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Personal scheduling conflicts, non-emergency commitments, having other exams or deadlines in other courses are generally not considered valid reasons for a make-up quiz.</a:t>
            </a:r>
          </a:p>
        </p:txBody>
      </p:sp>
    </p:spTree>
    <p:extLst>
      <p:ext uri="{BB962C8B-B14F-4D97-AF65-F5344CB8AC3E}">
        <p14:creationId xmlns:p14="http://schemas.microsoft.com/office/powerpoint/2010/main" val="193927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9686-E12D-B8B6-83CC-6CC4E7369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46553C6-0935-BBE2-FA4C-DAAB459DBE7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C29543A-FF74-B869-FBE0-281D9FF6644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Final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3852DF-5AA2-700E-7BCB-0827E4F7335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A3975E23-A7D6-FCD2-7C6B-6079BDFC3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DED5773D-871A-1FFB-EADD-89D3BDDD4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7CB12D4-19B8-A472-F8A1-787D84DFD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final assignment consists of a written research paper and a presentation, which may be completed in groups of 3 to 5 students.</a:t>
            </a:r>
            <a:endParaRPr lang="en-US" altLang="zh-TW" sz="2000" dirty="0"/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group will present their paper to the class, using presentation software and handouts, on the scheduled date of the final exam.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group will select a topic, conduct in-depth research, and write a paper that summarizes and analyzes their findings.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research paper should be of sufficient length to develop, explain, and integrate the chosen theme into a cohesive document with complete references.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topic (relevant to the course content) must be approved by the instructor. </a:t>
            </a:r>
          </a:p>
        </p:txBody>
      </p:sp>
    </p:spTree>
    <p:extLst>
      <p:ext uri="{BB962C8B-B14F-4D97-AF65-F5344CB8AC3E}">
        <p14:creationId xmlns:p14="http://schemas.microsoft.com/office/powerpoint/2010/main" val="72382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3BA5-AB87-6212-558A-178F75E4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1F555D2-9784-98B6-2088-EBE997E7F28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A1CDA85-FA6B-6748-E6E9-2C4D724FC5D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Final (continued)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1C9AEA-7B67-D06A-7637-026D11B0078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D88727D-B552-B209-0D17-785E64B2E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B4808D61-6758-F682-B641-89607483B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4C2A3DAD-EAEA-DD61-491E-35E52554F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All group members are expected to contribute meaningfully to the project. The instructor reserves the right to adjust individual grades based on documented participation.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peer evaluation may be administered, and individual grades may be adjusted based on peer feedback.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breakdown of the scores is as follows: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Final Paper Check-ins: 5% of the Grand Total Score (each)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Final Paper: 10% of the Grand Total Score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Final Presentation: 10% of the Grand Total Score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rubric for the final paper and presentation will be made available to students no later than the day the second check-in is due.</a:t>
            </a:r>
          </a:p>
        </p:txBody>
      </p:sp>
    </p:spTree>
    <p:extLst>
      <p:ext uri="{BB962C8B-B14F-4D97-AF65-F5344CB8AC3E}">
        <p14:creationId xmlns:p14="http://schemas.microsoft.com/office/powerpoint/2010/main" val="2910712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A1B18-F0BE-621D-C248-5A6D2A671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A4D855B-2677-78D1-C55D-EE411D4205A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AE0924C-1AE1-A340-1290-E2E3CD509CA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Final (continued)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CA5830-83CC-C22C-2A59-3F102905209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D7C6A2A6-9663-6F47-0924-8A29CAC3E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56717C64-3B53-5739-1087-E4822D8A2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5FB09FB-25C4-A2DB-4A94-2086E25E2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Students may use generative AI tools to assist in writing the final paper. Any group that chooses to use AI must meet all of the requirements listed below.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group must submit three documents in PDF format: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initial output produced by the AI tool.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complete prompt history between the group and the AI tool, including all messages exchanged.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final paper that the group submits for grading.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All presentation materials, including slides, handouts, and speaking notes, must be created by the students without the use of AI-generated text.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Students may not read directly from an AI-generated script during the presentation. Brief glances at short keynotes are permitted.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3789617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118EC-9257-446D-F358-002542BF6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82BA8CA-6490-02E5-3D25-F73DC6E690C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381C2F5-7ED8-5987-3B6A-6E88305B17C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General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E00CB9-5911-EF4F-94F6-65F70BF656D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48D59449-7849-DBBA-D994-E9F6B17D4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23792FA5-26C3-8682-9184-2292F7860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A63D190-8E7B-8BCB-55B1-249EA1945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Late submissions will incur a deduction of 10% of the graded result for the first 12-hour delay, with an additional 10% deduction for every subsequent 12-hour period.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Any portion of a 12-hour period counts as a full 12-hour delay for the purposes of penalty calculation.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Late submissions more than 72 hours past the deadline will not be accepted and will receive a grade of zero.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For group assignments, the penalty applies to the entire group regardless of which member submits the assignment.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Students or groups with approved documentation or cause may be granted a deduction-free extension at the instructor’s discretion.</a:t>
            </a:r>
          </a:p>
        </p:txBody>
      </p:sp>
    </p:spTree>
    <p:extLst>
      <p:ext uri="{BB962C8B-B14F-4D97-AF65-F5344CB8AC3E}">
        <p14:creationId xmlns:p14="http://schemas.microsoft.com/office/powerpoint/2010/main" val="2769746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899FA-1B14-336D-4CE4-E2D7C843B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50740AE-B5DE-1038-48CB-A43CF6D7139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C31BC2E-089B-0960-F64B-DC1DCA953AD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Policies: General (continued)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702B41-8D07-85EB-6F28-3151E0D119A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F71EC53E-205C-93CB-64F6-2D3151C8B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DABEE8A5-AA6A-5BDA-E426-7F9C4356B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0001F4D-33D2-A619-4CAC-AAA1342C2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Extra credit opportunities may be offered on rare occasions at the instructor’s discretion.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Examples of extra credit may include attending approved events, completing surveys, or completing ungraded problem sets.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maximum number of extra credit points that may be applied to a student’s Grand Total score will not exceed 4 points.</a:t>
            </a:r>
          </a:p>
        </p:txBody>
      </p:sp>
    </p:spTree>
    <p:extLst>
      <p:ext uri="{BB962C8B-B14F-4D97-AF65-F5344CB8AC3E}">
        <p14:creationId xmlns:p14="http://schemas.microsoft.com/office/powerpoint/2010/main" val="3026272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2D506-73C9-7C2C-B3BE-0FBC4A28D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5CF0B28-32C3-15E3-1B01-AC3A766F9BD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EF4F2DB-D8CB-CB24-FB67-792F69CE975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Course Schedule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78692E-B10F-4302-643C-EDA78A98194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45CA4F70-BAE6-CF1E-965F-2085D3FAD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8082535F-FDAB-7072-F6FC-D01E952B3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44802EC-B226-464C-263F-70E580EF0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425" y="970332"/>
            <a:ext cx="8043971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6839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03CE5-6CD5-059B-7B46-1BAF9C4C9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576AD5B-6509-5D25-597F-2FD9D3015AF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B0248C-07BA-C2E6-D9FB-6BF431ABB55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Course Schedule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F77CF8-781E-137E-823A-0A2486E1FD3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396BD849-6642-65AB-5054-CF2D2F1F1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2D433776-D06A-83F6-ED50-065B3E3FA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4F1E9A-47F3-1837-A3B8-2E53D57F9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425" y="970332"/>
            <a:ext cx="8043971" cy="5486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68B5B9-0C59-FA2F-86E4-68CF25867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7519" y="1725200"/>
            <a:ext cx="7897706" cy="475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378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49DA1-A6F9-C859-15EF-D581FA06C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F960B9E-63BA-8436-6E25-8C64B29D6A1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67EC511-D8E8-F104-BFD5-889A01AC736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Course Schedule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EF535C-AC9E-54E6-D6E4-B0B07D7D2C4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9CE2B9D2-4922-43F6-FAFA-055E90F48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2DC72ADE-F80B-871E-6903-CCB964D9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962FB7-BB71-16C1-8324-6CAE35ECC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916" y="970332"/>
            <a:ext cx="6026989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9448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acfbebb-a30f-4977-a61c-0086ec28bef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4009458-e96a-43ad-8c6b-000c2be1be5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356cb1e-6d86-4dae-a983-fa46a00b040a}" enabled="1" method="Standar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4169</TotalTime>
  <Words>1835</Words>
  <Application>Microsoft Office PowerPoint</Application>
  <PresentationFormat>Custom</PresentationFormat>
  <Paragraphs>236</Paragraphs>
  <Slides>22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Cambria Math</vt:lpstr>
      <vt:lpstr>Garamond</vt:lpstr>
      <vt:lpstr>Office Theme</vt:lpstr>
      <vt:lpstr>PowerPoint Presentation</vt:lpstr>
      <vt:lpstr>  Announcements: About Me</vt:lpstr>
      <vt:lpstr>  Announcements: Contact</vt:lpstr>
      <vt:lpstr>PowerPoint Presentation</vt:lpstr>
      <vt:lpstr>PowerPoint Presentation</vt:lpstr>
      <vt:lpstr>Poll Everywhere multiple choice poll instructions screen
Activity Title: Which of the following do you think is NOT true about the instructor?
Slide 6</vt:lpstr>
      <vt:lpstr>Poll Everywhere multiple choice poll chart screen
Activity Title: Which of the following do you think is NOT true about the instructor?
Slide 8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82</cp:revision>
  <dcterms:created xsi:type="dcterms:W3CDTF">2013-01-27T09:14:16Z</dcterms:created>
  <dcterms:modified xsi:type="dcterms:W3CDTF">2026-01-08T20:35:24Z</dcterms:modified>
  <cp:category/>
</cp:coreProperties>
</file>