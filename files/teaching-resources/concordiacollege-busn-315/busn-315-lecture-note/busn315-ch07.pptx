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731" r:id="rId3"/>
    <p:sldId id="257" r:id="rId4"/>
    <p:sldId id="387" r:id="rId5"/>
    <p:sldId id="516" r:id="rId6"/>
    <p:sldId id="759" r:id="rId7"/>
    <p:sldId id="677" r:id="rId8"/>
    <p:sldId id="732" r:id="rId9"/>
    <p:sldId id="733" r:id="rId10"/>
    <p:sldId id="676" r:id="rId11"/>
    <p:sldId id="756" r:id="rId12"/>
    <p:sldId id="735" r:id="rId13"/>
    <p:sldId id="738" r:id="rId14"/>
    <p:sldId id="739" r:id="rId15"/>
    <p:sldId id="734" r:id="rId16"/>
    <p:sldId id="741" r:id="rId17"/>
    <p:sldId id="742" r:id="rId18"/>
    <p:sldId id="743" r:id="rId19"/>
    <p:sldId id="744" r:id="rId20"/>
    <p:sldId id="745" r:id="rId21"/>
    <p:sldId id="746" r:id="rId22"/>
    <p:sldId id="740" r:id="rId23"/>
    <p:sldId id="748" r:id="rId24"/>
    <p:sldId id="749" r:id="rId25"/>
    <p:sldId id="750" r:id="rId26"/>
    <p:sldId id="751" r:id="rId27"/>
    <p:sldId id="752" r:id="rId28"/>
    <p:sldId id="753" r:id="rId29"/>
    <p:sldId id="754" r:id="rId30"/>
    <p:sldId id="755" r:id="rId31"/>
    <p:sldId id="722" r:id="rId32"/>
    <p:sldId id="451" r:id="rId3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122C"/>
    <a:srgbClr val="FDB913"/>
    <a:srgbClr val="B896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04" autoAdjust="0"/>
    <p:restoredTop sz="92252" autoAdjust="0"/>
  </p:normalViewPr>
  <p:slideViewPr>
    <p:cSldViewPr snapToGrid="0" snapToObjects="1">
      <p:cViewPr varScale="1">
        <p:scale>
          <a:sx n="102" d="100"/>
          <a:sy n="102" d="100"/>
        </p:scale>
        <p:origin x="85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359EC7-19C7-4638-A61A-0E2B5986157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87AAC7-CF25-414B-93E7-2A61E431E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41B4C-734C-8D12-3284-354C90655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E72BD-3C61-02C9-BE56-6F2785CCF4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BF0DD7-8A33-5873-EE58-3870FC741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21FC1-036D-FC2E-0ADC-A0894F3AFC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60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3FC3B-566A-F1DA-C914-F5E06D483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470AD-6966-6F0D-7DD4-1B725FC466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D1F33A-3B20-1388-6C26-7B6DDDD47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870C0-D86E-0453-D4BE-FF4846BA6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061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BBDA8-B471-775E-2659-00BB5203F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81B419-0280-121A-269D-C20714261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293BE4-40E1-27AF-0C5B-D1E756B22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A1690-1A57-E4C2-D437-AF44453D8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524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939B8-4B66-64D0-05D9-2795D38B2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999A93-156B-A6AB-8C9B-62F66E70A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D589D8-0B9D-2EEA-25FD-5AADEBE4F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826C6-FEBC-00AF-E787-EFCCA2ADD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868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6B498-F787-5346-E775-9F8F95550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010081-4DA2-0929-9CE3-C80CEF115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A0351A-385B-DDFE-DE95-2EEACCAB1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61082-E58B-B638-4E10-540F34ACF3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493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9F4AD-AB75-E9FA-F554-4DDEAD2A7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806625-D4BD-480C-A040-DBDBDB3CC7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E54213-C33A-EEA7-B693-8B70CACD6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4036E-B7DA-DEBB-CCED-AF9138BFF5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027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A963B-3608-48BB-281D-F266C7645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D9DCFA-D4C4-0E97-8F60-A494293A4E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BEC6D6-0144-BE4C-B427-D8B6A0DE6D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19E36-0938-27A2-C3AD-F154335DBE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149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49EA8-2674-624A-CDD4-FD044C397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0917AD-883B-9E64-DC9A-D1E20FA6B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DD7087-5523-2B83-B462-5B6EB921A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9A934-F3FE-6BDB-3F19-1F647DF7D2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628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D5CF0-E3F1-DAFA-9B8B-A77FD3286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50344-7808-BE90-6C99-BADBDC8DAF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786749-EFCF-003D-6311-9241C0E394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A5453-D7E8-A2FE-EE81-B81007F29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077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9A14A-185A-D31F-2A6B-08C275659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1E4249-CBEE-5AF9-D915-FDF9C83680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A4AAF6-413E-3313-A30D-6ADF2C1886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371DA-220B-09BB-7DD3-1A54E9F0A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2551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CB116-63B0-E8E7-16E1-1CDFEC91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FB5096-5ACC-7125-8D7B-4C10ACD89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29AFE9-440B-FC4C-D05D-EE1E1C5F1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0D4F4-3CA8-01FE-D85A-49430BEB98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2610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5161D-9801-418F-E19C-E43B5B19C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3CF283-A8B1-03E2-8753-C71C092AB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F80CF4-6D3F-CE35-78BB-B7D4BE73F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9ADBA-BF4E-23EE-91DB-555625A37E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2320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85BD5-20DD-1EED-9C94-A3345068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C4FF8A-4FB8-15B6-0105-E7631AB8C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84694E-8D1E-A96A-93BE-A034809F8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52DC0-E785-9BD2-D1D6-2B687E3544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910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AF39A-9921-B61E-67D4-0F4710971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16F1D4-10FE-4904-409F-E5A9F8B4C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08EF07-F255-D7D6-5E34-BEBA0096E8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A15A3-A316-6432-AF7C-5F7B372AD0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419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58F64-82B1-6A72-27DA-5D51F50D3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A81B55-FF2E-622B-C2A0-B2698DB77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333A52-2FEA-2281-72D8-D040442CD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8008B-E436-6315-CC51-2B74C115D4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6549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4574C-9C00-4ACF-2BEB-7C863C559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B17A06-3B33-ECEE-C912-A33D22763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A275BC-76BD-A5C0-810B-E62975556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D9467-B29F-A727-A9E4-840DAE5811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1261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C354F-803B-F551-572A-70607CEC4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3A587C-0859-8DC5-57B9-AAE3532D0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074836-77C7-A8CE-3FE4-9F96B95EC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8CABD-5733-876F-30D9-BFC770BD0B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5449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CD7C1-6C28-6DF3-F346-6AD69519E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677A6C-EB04-56CA-5A89-51DABA37D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310AEE-1090-FDF9-6559-B22F1DBF5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69453-A3A7-0830-DD81-5BBF385C52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6319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F5F64-DD63-807B-BD9B-FB0A6DE8B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200377-0C68-F86C-4C22-0FB00BA75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2303BF-E99A-4707-CB00-48CAAFB0C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21D2C-B9FE-A00D-4197-D618D2A8FB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011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9CF49-8BA9-C022-2AD0-3AA0CA5D3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ABBFC4-1CA7-1F3B-78C5-DE639B68B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D2FA8B-C62D-126A-38F8-3C3E940C7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C22BB-A331-5A0A-5CCB-DE96EA281B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8596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D46F4-5E80-73D7-0CD1-13293080F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126DC0-C7D0-A1F2-CACC-D7E980BB7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74D2BC-4679-8B92-5541-FB7008BFB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FD0A4-E99F-488D-01AC-E98166211B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460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04A25-29B4-AC1E-7759-F214F827C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902C13-4179-2AEB-7DD3-40D06119E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400C95-F33A-4619-A267-2CD7330B8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E4E18-7D8B-7911-1C2C-87F038E82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357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2E6E1-573C-4760-2562-4C6B410B8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EF4412-F855-F0DF-BC2F-F049799B75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E87A42-2222-1A45-662C-2980BB9DA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D859D-8345-5D6B-C9AE-5F6B212BF5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8044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C4E57-EDB5-307F-0D0E-E4C4D7329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4B8433-49FF-03B0-59AB-CA2F76FE04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EA73C6-6848-354D-B78F-84A07DE9E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0F677-4E93-8953-BD19-7FF9915CAE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2224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462D2-824B-74E1-E9C2-0E22C3BED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220EEB-0A68-9E61-36F1-9C5B3F729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405DF8-0987-D9CF-CC94-15687AD5A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2880E-429E-2BA7-FD6B-14488B9D40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861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2E2E5-15F1-78EC-52A9-CAED42AD7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7A0DFB-52A7-BA92-C424-9AE17193E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D0F12A-60CA-35B1-2EAE-169687C74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8DC12-637D-8F39-2928-BFCFE9F127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743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FFB9-A874-4FD1-A824-B4042D61D1ED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79C1E-59CB-458D-A8DF-3DF069B9691A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038F5-1F4F-49BC-AE81-A69593E39F17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B9C03-4953-4667-8B38-5F82E8B7824A}" type="datetime1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53C9-7EE5-4279-90C5-33FD7C6945F2}" type="datetime1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720FA-FDEE-4E83-A4C7-BC2FB4952465}" type="datetime1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51516-679C-4D73-B89D-29E30821AF23}" type="datetime1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03A1F-F54C-4527-A898-553BBCF40EAB}" type="datetime1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D13F6-D87E-4E9E-B027-94AE4C3308CD}" type="datetime1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0497A-627B-46A8-B138-876D4281251E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49246-640D-41B6-A07B-C0FA43D7FEE2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E17758-26A5-42DB-960B-17BBCDA98EFC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 Management Information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eHp1l73ztB8?feature=oembed" TargetMode="Externa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lKsm0bfO4bM?feature=oembed" TargetMode="External"/><Relationship Id="rId4" Type="http://schemas.openxmlformats.org/officeDocument/2006/relationships/image" Target="../media/image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bjD-wGVrFCg?feature=oembed" TargetMode="External"/><Relationship Id="rId4" Type="http://schemas.openxmlformats.org/officeDocument/2006/relationships/image" Target="../media/image8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6jOdC8vCA_g?feature=oembed" TargetMode="External"/><Relationship Id="rId4" Type="http://schemas.openxmlformats.org/officeDocument/2006/relationships/image" Target="../media/image1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F45bQrV1ix0?feature=oembed" TargetMode="External"/><Relationship Id="rId4" Type="http://schemas.openxmlformats.org/officeDocument/2006/relationships/image" Target="../media/image13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650659"/>
            <a:ext cx="121888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DB913"/>
                </a:solidFill>
                <a:latin typeface="Garamond"/>
              </a:defRPr>
            </a:pPr>
            <a:r>
              <a:rPr lang="en-US" sz="4800" dirty="0"/>
              <a:t>M</a:t>
            </a:r>
            <a:r>
              <a:rPr lang="en-US" sz="4000" dirty="0"/>
              <a:t>ANAGEMENT </a:t>
            </a:r>
            <a:r>
              <a:rPr lang="en-US" sz="4800" dirty="0"/>
              <a:t>I</a:t>
            </a:r>
            <a:r>
              <a:rPr lang="en-US" sz="4000" dirty="0"/>
              <a:t>NFORMATION </a:t>
            </a:r>
            <a:r>
              <a:rPr lang="en-US" sz="4800" dirty="0"/>
              <a:t>S</a:t>
            </a:r>
            <a:r>
              <a:rPr lang="en-US" sz="4000" dirty="0"/>
              <a:t>YSTEMS</a:t>
            </a:r>
            <a:endParaRPr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-1" y="3657600"/>
            <a:ext cx="12188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Garamond"/>
              </a:defRPr>
            </a:pPr>
            <a:r>
              <a:rPr lang="en-US" dirty="0"/>
              <a:t>Chapter 7: Telecommunications, the Internet, and Wireless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74347-02BF-80F9-F6AA-4E2CF0CCB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3474394-CAE1-8171-8053-41417BA6AFD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6FCC6B6-00BE-DD29-452E-D066A1FA5CB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88825" cy="923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b="1" dirty="0">
                <a:solidFill>
                  <a:schemeClr val="bg1"/>
                </a:solidFill>
                <a:latin typeface="Garamond"/>
              </a:rPr>
              <a:t>  Recap of Chapter 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240751-C931-75F8-A58D-0ED6B24B2CC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621E051A-B5D2-202A-70D9-5E99132FF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CDD3A9B1-A50D-DD15-404D-DC8A76E3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1569036-6998-1488-D110-0AFCF6609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Describe traditional file environment data management problems. 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﻿Describe DBMS and relational DBMS capabilities.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﻿Discuss relational database design principles.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﻿Describe non-relational, cloud, and blockchain database capabilities.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﻿Describe tools used to analyze data in databases.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﻿Discuss data governance, data quality assurance, and data management.</a:t>
            </a:r>
          </a:p>
        </p:txBody>
      </p:sp>
    </p:spTree>
    <p:extLst>
      <p:ext uri="{BB962C8B-B14F-4D97-AF65-F5344CB8AC3E}">
        <p14:creationId xmlns:p14="http://schemas.microsoft.com/office/powerpoint/2010/main" val="3140935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7.1: Telecommunications Networks</a:t>
            </a:r>
            <a:endParaRPr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7CE89-301A-70F1-4260-6BE7F3ECF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55BD8-8A9D-C759-E57B-798D3259D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1" y="1300900"/>
            <a:ext cx="11105284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All modern organizations rely on digital networks for communication, collaboration, and data sharing.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 digital network is a collection of connected devices that can communicate and exchange data.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Voice, video, and data now travel through the same Internet-based infrastructure.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Network literacy helps managers evaluate trade-offs in cost, reliability, security, and strategic capability.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Learning Goals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Identify the components of a business network.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Explain how the Internet connects global organizations.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Describe the main Internet services businesses use.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Understand how the web supports marketing and e-commerce.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7F8D10-BDB6-A3B1-C66D-3AAD06B37E30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11ED87-11C7-E07A-360C-C69F65EDD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Digital Networks in Business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DA463A-E4AE-D67D-E769-807CD9E1890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2F9F19-8B6A-699A-698A-67E99D9D8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A4FA5-9191-0EBF-702D-330CA4BD6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78314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7F437-C048-B92A-A93C-5E018325B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FAD83-3F2A-1CB5-57C8-F2BBAF333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1" y="1300900"/>
            <a:ext cx="11105284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Networks connect employees, suppliers, partners, and customers, enabling faster coordination and decision making.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Technological convergence has merged telephone, television, and computer networks into a single digital platform.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Network improvements lower costs and expand reach. Typical consumer speeds have increased from about 56 Kbps dial-up in 2000 to 100 Mbps or more with modern broadband.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Wireless broadband enables work from almost anywhere. Over 90% of U.S. Internet users access the web through mobile devices.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Network quality directly affects productivity, customer experience, and innovation.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C4D37F-A35C-1AF1-511F-9D6D787A4C59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5DDC8D-0DBA-FF05-F1DC-2A90940B3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Why Networks Matter for Managers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A86022-C0F7-5810-238E-DFD27DFCC6D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7D4CFE-4796-0E1C-0E24-18243A145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C05023-FEB7-8926-D458-BFF7306B4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0016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D4DF9-E0D7-A3C4-1663-7F19821CF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55023-9C43-D283-30CA-B0361FDC8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1" y="1300900"/>
            <a:ext cx="11105284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Clients</a:t>
            </a:r>
            <a:r>
              <a:rPr lang="en-US" altLang="zh-TW" sz="2400" dirty="0"/>
              <a:t>: 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Devices that request network resources or services.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Clients initiate communication with servers on the network.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e.g., Laptops, desktops, tablets, or smartphones.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Servers</a:t>
            </a:r>
            <a:r>
              <a:rPr lang="en-US" altLang="zh-TW" sz="2400" dirty="0"/>
              <a:t>: 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Computers that provide services or resources to other devices on the network.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Servers may store data, run applications, manage databases, or host websites.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 single server may support many client devices at the same time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Network Interface Controllers (NICs)</a:t>
            </a:r>
            <a:r>
              <a:rPr lang="en-US" altLang="zh-TW" sz="2400" dirty="0"/>
              <a:t>: 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Hardware components that allow a device to connect to a network.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NICs enable communication through wired connections or wireless signals.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Every networked device must have a NIC to send and receive data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5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63182A-6BC4-B696-FC36-0C8EEF8F317D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254BD1-EBF0-2CD8-6A81-850BF231F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Anatomy of a Simple Network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00B886-9AF7-6658-FB97-AD1DE1BDD645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F8666-B50A-7D35-40DC-D2FBDB132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5B6C2-CE0F-9FEC-1B53-D453B95EE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9304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DFCE5-F439-EA47-9B55-99B0A81D8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374E6-4DBC-F3B5-19C9-861D5284C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1" y="1300900"/>
            <a:ext cx="11105284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Switches and Routers</a:t>
            </a:r>
            <a:r>
              <a:rPr lang="en-US" altLang="zh-TW" sz="2400" dirty="0"/>
              <a:t>: 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Switches: Devices that connect multiple devices within a local network.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Routers: Devices that connect different networks together.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Switches move data within a local network, while routers connect different networks together.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Transmission Media</a:t>
            </a:r>
            <a:r>
              <a:rPr lang="en-US" altLang="zh-TW" sz="2400" dirty="0"/>
              <a:t>: 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channels through which data travels across a network.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Common media include copper cables, fiber optic cables, and wireless radio signals.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choice of transmission media affects network speed, reliability, and cost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Network Operating System</a:t>
            </a:r>
            <a:r>
              <a:rPr lang="en-US" altLang="zh-TW" sz="2400" dirty="0"/>
              <a:t>: 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Software that manages communication and shared resources on a network.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NOS controls user access, security permissions, and network services.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7C330C-8108-F1C8-A615-FB926970261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0445B1-9FF1-7889-FD3A-14EC36820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Anatomy of a Simple Network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671A7A-8EDB-2846-5DCB-B400FAF1EE0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254223-30B6-B136-9536-0D753F001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099CF-D5B1-2D03-723E-F354967F4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0811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385C1-C496-DD76-A455-E867F471B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945339-D8E4-711D-2737-E8AD2AB6502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575E0B-F6BA-B6A0-7B8D-229089193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Anatomy of a Simple Network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42924D-3855-2FFE-6345-ED2090FA1B6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9A923-16D1-AED4-40E5-BADA7DD55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76122A-D291-3598-5072-01E8B30FB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0" name="Picture 9" descr="A network diagram shows two personal computers connected to switches, a server, a router, and the internet. Long description available in notes, press f6.">
            <a:extLst>
              <a:ext uri="{FF2B5EF4-FFF2-40B4-BE49-F238E27FC236}">
                <a16:creationId xmlns:a16="http://schemas.microsoft.com/office/drawing/2014/main" id="{4A173899-0965-DEF5-F13A-D891579AD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120" y="970332"/>
            <a:ext cx="908858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266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D7FF1-B7B8-96E7-FB50-55741370D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8DEE6-BC55-59E1-0BA6-9A8D4B212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1" y="1300900"/>
            <a:ext cx="11105284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small office might use one Local Area Network (LAN).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As firms grow, several LANs connect into a corporate network linking offices across multiple locations.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These networks support company websites, intranets for internal use, and extranets that provide limited access to partners.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Many companies now use Internet telephony (Voice over Internet Protocol, VoIP) instead of traditional phone systems.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Key Challenge: Integrating voice, data, wireless, and cloud systems into one reliable network infrastructure.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49C700-FE7D-39CF-0590-123B18AD7E6D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4B458A-BFE3-4923-6B22-A5C009783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From Local to Corporate Networks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996B0B-FD05-27A4-E762-AB460BF8A8F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D843FE-6D01-B75D-5EAD-0C76BD5C4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AE212-AC12-BB7F-7B30-CF503ED69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3109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B783BF-E9DE-E754-B814-BA2C4B9FF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3B0F5E-2B7B-897A-53BE-8A897B8001C4}"/>
              </a:ext>
            </a:extLst>
          </p:cNvPr>
          <p:cNvSpPr txBox="1"/>
          <p:nvPr/>
        </p:nvSpPr>
        <p:spPr>
          <a:xfrm>
            <a:off x="0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7.4: The Internet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692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0AC21-D3D5-B099-0309-45AEFD9B6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3C2A22-07BF-874C-A050-638D43C6B95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191ADD-E910-EB83-8C06-F842426A8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2400" dirty="0">
                <a:solidFill>
                  <a:schemeClr val="bg1"/>
                </a:solidFill>
              </a:rPr>
              <a:t>  BBC Click (2019, Oct 30). </a:t>
            </a:r>
            <a:r>
              <a:rPr lang="en-US" sz="2400" i="1" dirty="0">
                <a:solidFill>
                  <a:schemeClr val="bg1"/>
                </a:solidFill>
              </a:rPr>
              <a:t>How Does The Internet Work? - BBC Click</a:t>
            </a:r>
            <a:r>
              <a:rPr lang="en-US" sz="2400" dirty="0">
                <a:solidFill>
                  <a:schemeClr val="bg1"/>
                </a:solidFill>
              </a:rPr>
              <a:t> [Video]. YouTube.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  https://youtu.be/eHp1l73ztB8?si=gmE8uruxJQqc_oWH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D617D6-F9D8-63C6-9FCD-2C4A8A4F2FF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5F767-8B99-5E54-F4B4-ABF1EDE25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1EAC5-A3A9-6F29-7977-DD2D099E7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3" name="Online Media 2" title="How Does The Internet Work? - BBC Click">
            <a:hlinkClick r:id="" action="ppaction://media"/>
            <a:extLst>
              <a:ext uri="{FF2B5EF4-FFF2-40B4-BE49-F238E27FC236}">
                <a16:creationId xmlns:a16="http://schemas.microsoft.com/office/drawing/2014/main" id="{ECAB4DDB-117F-34CE-66E3-5F0059441D7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239201" y="970332"/>
            <a:ext cx="971042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138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52DF0-0E38-E8BB-0EDD-B90FF3C25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29246-ED97-BC41-D869-F380986C0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1" y="1300900"/>
            <a:ext cx="11105284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Internet connects millions of private and public networks around the world</a:t>
            </a:r>
            <a:r>
              <a:rPr lang="en-US" altLang="zh-TW" sz="2000" dirty="0"/>
              <a:t>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Communication on the Internet relies on the </a:t>
            </a:r>
            <a:r>
              <a:rPr lang="en-US" altLang="zh-TW" sz="2400" b="1" dirty="0"/>
              <a:t>TCP/IP protocol suite</a:t>
            </a:r>
            <a:r>
              <a:rPr lang="en-US" altLang="zh-TW" sz="2400" dirty="0"/>
              <a:t>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TCP/IP stands for Transmission Control Protocol / Internet Protocol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These protocols define how data is packaged, addressed, transmitted, and received.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IP address</a:t>
            </a:r>
            <a:r>
              <a:rPr lang="en-US" altLang="zh-TW" sz="2400" dirty="0"/>
              <a:t>: A unique numeric identifier assigned to each device on the network.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IPv4: 32-bit addresses, about four billion possible addresses, now largely exhausted.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IPv6: 128-bit addresses, providing a vastly larger address space.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Domain Name System (DNS)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Functions as the Internet’s directory service.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Translates human-readable domain names (such as Amazon.com) into IP addresses.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A2D0B1-CCAB-56C9-5255-9FA6662EA48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0E41F1-38E8-4C61-B0A2-940B214A7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Internet as a Global Network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729185-B7BA-779D-2462-AFE4820759BD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79217B-3E03-9953-A2F1-A3E0FFF8B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833D4-733A-5BB2-AA28-57BF75E5B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9780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A0223-12DD-BA28-E39C-845030C9B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72A02-7128-70FD-2BD9-CF1EC0F8D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049" y="1300900"/>
            <a:ext cx="7339006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Businesses connect to the Internet through broadband, leased fiber, or satellite links.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Bandwidth: The maximum capacity of a connection to transmit data.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Common options: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Cable or fiber connections for most offices.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Digital Subscriber Line (DSL) for smaller or legacy sites.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Cellular broadband for mobile employees and remote locations.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Managers should evaluate speed, reliability, cost, and service guarantees before selecting an Internet provider.</a:t>
            </a:r>
            <a:endParaRPr lang="en-US" altLang="zh-TW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DB6DEB-888E-2953-1CB3-DFB89A46507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3A2416-7434-D2BF-421E-8F6926C5D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Internet Access for Businesses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72CD83-D10C-A11D-F2F3-D5B6D6348EA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5D3EC5-2449-7C68-05C5-657CE1836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17B5FB-0750-F0CF-E199-AD472AB35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5122" name="Picture 2" descr="Download Speed vs Bandwidth: What's the difference? | Long Lines">
            <a:extLst>
              <a:ext uri="{FF2B5EF4-FFF2-40B4-BE49-F238E27FC236}">
                <a16:creationId xmlns:a16="http://schemas.microsoft.com/office/drawing/2014/main" id="{D8859D9C-B539-94FF-8529-27CEFBF90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70" y="2012623"/>
            <a:ext cx="36576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2464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1D1D6-D6C6-6545-C9C8-C08C16B46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FCF61-D96A-DB54-7B1D-C31935E17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1" y="1300900"/>
            <a:ext cx="11105284" cy="5081046"/>
          </a:xfrm>
        </p:spPr>
        <p:txBody>
          <a:bodyPr>
            <a:normAutofit lnSpcReduction="10000"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Lower Costs</a:t>
            </a:r>
            <a:endParaRPr lang="en-US" altLang="zh-TW" sz="2400" dirty="0"/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 single digital infrastructure supports data, voice, and video communication.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Organizations no longer need separate systems for telephone, video, and data networks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9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Faster Communication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Internet enables near-instant communication across geographic distances.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9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Greater Reach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Businesses can connect directly with customers, suppliers, and partners around the world.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9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Real-time Data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Cloud services allow employees to access information and applications from anywhere.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9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Dependence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Modern organizations rely heavily on Internet connectivity for daily operations.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Network outages or disruptions can halt communication, transactions, and access to systems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4AF999-DF41-9D4A-6398-219B80D1567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2CCEF7-4F9F-D40F-8866-5C1199961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What the Internet Enables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1968AC-7E32-F313-C83E-5E8191D2AF64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5A5A3-9AE9-E51D-271F-2ADE0AAD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F65CE-D6C6-5171-6B73-1C43CAFDC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6403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E9C644-9255-6AD5-72F8-09DF01BDA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287D83-FE49-3F46-FBA2-96DE90BB234A}"/>
              </a:ext>
            </a:extLst>
          </p:cNvPr>
          <p:cNvSpPr txBox="1"/>
          <p:nvPr/>
        </p:nvSpPr>
        <p:spPr>
          <a:xfrm>
            <a:off x="0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7.5: Internet Services for Business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936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D77A5-099D-D93B-7C01-29859FFE7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F9775-AAE6-C20A-BF1B-2547B12C5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1" y="1300900"/>
            <a:ext cx="11105284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Email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Sends and receives messages globally at almost no cost.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Instant Messaging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Tools such as Microsoft Teams and Slack enable real-time chat and file sharing.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Often integrated with calendars, document collaboration, and video meetings.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Benefits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Fast communication and easy accessibility across devices.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Creates a written record of interactions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Risks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Message overload or </a:t>
            </a:r>
            <a:r>
              <a:rPr lang="en-US" sz="2000" dirty="0"/>
              <a:t>security risks such as phishing or data leaks</a:t>
            </a:r>
            <a:endParaRPr lang="en-US" altLang="zh-TW" sz="2000" dirty="0"/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Organizations should establish clear policies for usage, data retention, and privacy.</a:t>
            </a:r>
            <a:endParaRPr lang="en-US" altLang="zh-TW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BC023E-29BA-7FE3-03DC-0230ADD09B6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564B56-35C7-692B-7FEE-DD7EC8F73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Core Internet Services: Email and Instant Messaging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E58FBF-785F-B0E2-C83B-CB50C07E952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2ED5B-F98C-FF95-1A9F-5B6AC48E4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15894B-FA53-2377-C93F-019C94A13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2984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0030F-7B6F-B7B6-EFB3-2FF5F9C59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19C69-6867-2609-5F07-40B7805C8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1489" y="1300900"/>
            <a:ext cx="739556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VoIP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Converts voice signals into digital data packets that travel across IP networks.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Allows voice calls to use the same infrastructure as Internet data.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Can operate on computers, smartphones, or dedicated IP phones.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Cost Advantages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Reduces or eliminates local and long-distance telephone charges.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Uses existing Internet connections instead of separate phone networks.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Business Capabilities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Cloud platforms such as RingCentral or Nextiva provide call routing, call analytics, and integration with CRM systems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1D8DB0-57B6-5DCB-EDCF-DEF1F58A1794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D3269A-3F87-B1D9-79A3-AED9C5E46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Core Internet Services: Voice over IP (VoIP)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000DF1-D0C6-D860-F729-3D5ADA03705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AB7DB-7BF4-E0D6-110B-32EF842D5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377CE4-4E3B-A576-3628-B129E3AED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29C6CDE9-9D70-9764-6126-BEA3F0ED4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71" y="1884732"/>
            <a:ext cx="3633378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4600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3D29D-8C89-33EF-AEC2-F7BEF745F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38171A-A226-6658-3AB4-496913E725D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DA7EB-71BE-1AF7-E142-E14097785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2400" dirty="0">
                <a:solidFill>
                  <a:schemeClr val="bg1"/>
                </a:solidFill>
              </a:rPr>
              <a:t>  Nextiva (2022, April 4). </a:t>
            </a:r>
            <a:r>
              <a:rPr lang="en-US" sz="2400" i="1" dirty="0">
                <a:solidFill>
                  <a:schemeClr val="bg1"/>
                </a:solidFill>
              </a:rPr>
              <a:t>Scaling Communication: Titan Solar Power + Nextiva</a:t>
            </a:r>
            <a:r>
              <a:rPr lang="en-US" sz="2400" dirty="0">
                <a:solidFill>
                  <a:schemeClr val="bg1"/>
                </a:solidFill>
              </a:rPr>
              <a:t> [Video].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  YouTube. https://youtu.be/lKsm0bfO4bM?si=YDrzoHD8I-hiH-XG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29B4D2-A9DB-C0BE-CA08-7A4FA5DD5BF4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A004F-36D2-4C3F-C6FF-B25792FD8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27262-F2F6-5290-C800-2C8D5881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3" name="Online Media 2" title="Scaling Communication: Titan Solar Power + Nextiva">
            <a:hlinkClick r:id="" action="ppaction://media"/>
            <a:extLst>
              <a:ext uri="{FF2B5EF4-FFF2-40B4-BE49-F238E27FC236}">
                <a16:creationId xmlns:a16="http://schemas.microsoft.com/office/drawing/2014/main" id="{7FACA4F7-95A9-6BC8-FA0E-F0317CEC2E1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239201" y="970332"/>
            <a:ext cx="971042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441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72F6A-E44F-E7DE-9DC4-BD29A7E56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6D131-0D29-E48C-AABC-C016B448D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6461" y="1300900"/>
            <a:ext cx="6490593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Integrates voice, video, messaging, and email into a single communication platform.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Unified Communications as a Service</a:t>
            </a:r>
            <a:r>
              <a:rPr lang="en-US" altLang="zh-TW" sz="2400" dirty="0"/>
              <a:t> (</a:t>
            </a:r>
            <a:r>
              <a:rPr lang="en-US" altLang="zh-TW" sz="2400" dirty="0" err="1"/>
              <a:t>UCaaS</a:t>
            </a:r>
            <a:r>
              <a:rPr lang="en-US" altLang="zh-TW" sz="2400" dirty="0"/>
              <a:t>): Cloud-based version that reduces hardware needs.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Presence indicators show if a person is available to receive messages.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AI tools add transcription, translation, and meeting summaries.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Value: Improves responsiveness and coordination across distributed or hybrid teams.</a:t>
            </a:r>
            <a:endParaRPr lang="en-US" altLang="zh-TW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1205C6-01E0-09DF-4FAF-0715BD08120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887195-1613-73C1-561D-E74B05FED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Core Internet Services: Unified Communications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2EDBF5-B59D-39A0-4E01-CD4A7301534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C511B-06B6-0D43-1732-D5E7B1116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B9E03-EB3B-5083-8BC0-1D0340A7B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6146" name="Picture 2" descr="Understanding Unified Communications">
            <a:extLst>
              <a:ext uri="{FF2B5EF4-FFF2-40B4-BE49-F238E27FC236}">
                <a16:creationId xmlns:a16="http://schemas.microsoft.com/office/drawing/2014/main" id="{78AFB950-8953-946A-3B65-C53A95117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70" y="1300900"/>
            <a:ext cx="4494741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4566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7C9AB-FEF6-1951-53CC-A7F79833F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61E7B-2DA9-43AC-0038-D43FC2AC2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427" y="1300900"/>
            <a:ext cx="7065628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</a:t>
            </a:r>
            <a:r>
              <a:rPr lang="en-US" altLang="zh-TW" sz="2400" b="1" dirty="0"/>
              <a:t>Virtual Private Network (VPN)</a:t>
            </a:r>
            <a:r>
              <a:rPr lang="en-US" altLang="zh-TW" sz="2400" dirty="0"/>
              <a:t> creates an encrypted tunnel across the Internet to protect data transmission.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Allows remote employees to safely access internal corporate systems.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Provides encryption, authentication, and privacy for network traffic.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Essential for remote work environments and for protecting sensitive organizational information.</a:t>
            </a:r>
            <a:endParaRPr lang="en-US" altLang="zh-TW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C6595A-92EE-4F72-9E79-872C166656B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0FB8AD-28FA-6221-C299-0B1898F06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Core Internet Services: Virtual Private Networks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8117F9-6FC3-5771-95D1-56267BAB9682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B3B792-1218-B7C6-BF92-D46CE9748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23029-5D6C-CC6E-F684-518DBB0C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079DA5-E59A-55AF-2812-7492FBD0C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70" y="1427532"/>
            <a:ext cx="3936854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251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00B5D-ABF0-E4D3-1E0D-590B2C703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A81625-44A3-482B-ED65-DD821888C300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1A5F2B-D3D8-F262-10D9-294C91729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2400" dirty="0">
                <a:solidFill>
                  <a:schemeClr val="bg1"/>
                </a:solidFill>
              </a:rPr>
              <a:t>  </a:t>
            </a:r>
            <a:r>
              <a:rPr lang="en-US" sz="2400" dirty="0" err="1">
                <a:solidFill>
                  <a:schemeClr val="bg1"/>
                </a:solidFill>
              </a:rPr>
              <a:t>NordVPN</a:t>
            </a:r>
            <a:r>
              <a:rPr lang="en-US" sz="2400" dirty="0">
                <a:solidFill>
                  <a:schemeClr val="bg1"/>
                </a:solidFill>
              </a:rPr>
              <a:t> (2022, June 29). </a:t>
            </a:r>
            <a:r>
              <a:rPr lang="en-US" sz="2400" i="1" dirty="0">
                <a:solidFill>
                  <a:schemeClr val="bg1"/>
                </a:solidFill>
              </a:rPr>
              <a:t>What is a VPN? Explained in 4 levels of difficulty | </a:t>
            </a:r>
            <a:r>
              <a:rPr lang="en-US" sz="2400" i="1" dirty="0" err="1">
                <a:solidFill>
                  <a:schemeClr val="bg1"/>
                </a:solidFill>
              </a:rPr>
              <a:t>NordVPN</a:t>
            </a:r>
            <a:r>
              <a:rPr lang="en-US" sz="2400" i="1" dirty="0">
                <a:solidFill>
                  <a:schemeClr val="bg1"/>
                </a:solidFill>
              </a:rPr>
              <a:t> </a:t>
            </a:r>
            <a:br>
              <a:rPr lang="en-US" sz="2400" i="1" dirty="0">
                <a:solidFill>
                  <a:schemeClr val="bg1"/>
                </a:solidFill>
              </a:rPr>
            </a:br>
            <a:r>
              <a:rPr lang="en-US" sz="2400" i="1" dirty="0">
                <a:solidFill>
                  <a:schemeClr val="bg1"/>
                </a:solidFill>
              </a:rPr>
              <a:t>  </a:t>
            </a:r>
            <a:r>
              <a:rPr lang="en-US" sz="2400" dirty="0">
                <a:solidFill>
                  <a:schemeClr val="bg1"/>
                </a:solidFill>
              </a:rPr>
              <a:t>[Video]. YouTube. https://youtu.be/bjD-wGVrFCg?si=ZjKEzj956p80kpRa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1F4FDE-21CE-E0CF-5633-523E1897037B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53BA8-B727-E668-5996-F5AA70989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72F98-077F-4B07-AA70-8B42BCEA5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8" name="Online Media 7" title="What is a VPN? Explained in 4 levels of difficulty | NordVPN">
            <a:hlinkClick r:id="" action="ppaction://media"/>
            <a:extLst>
              <a:ext uri="{FF2B5EF4-FFF2-40B4-BE49-F238E27FC236}">
                <a16:creationId xmlns:a16="http://schemas.microsoft.com/office/drawing/2014/main" id="{A2EA6DB3-6F3C-B464-7E23-56F3D4B95BC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239201" y="970332"/>
            <a:ext cx="971042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795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396BFD-D9C3-82DF-F03B-DA28F9A15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256BF9-4F03-D83D-47D5-62D09C78CA35}"/>
              </a:ext>
            </a:extLst>
          </p:cNvPr>
          <p:cNvSpPr txBox="1"/>
          <p:nvPr/>
        </p:nvSpPr>
        <p:spPr>
          <a:xfrm>
            <a:off x="0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7.6: The Web and Business Use</a:t>
            </a:r>
          </a:p>
        </p:txBody>
      </p:sp>
    </p:spTree>
    <p:extLst>
      <p:ext uri="{BB962C8B-B14F-4D97-AF65-F5344CB8AC3E}">
        <p14:creationId xmlns:p14="http://schemas.microsoft.com/office/powerpoint/2010/main" val="3622941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BC36A-F0E1-38DC-E0CC-1055C5E72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BCE54-CD3D-E523-3D81-FC8DD1367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7795" y="1300900"/>
            <a:ext cx="7499260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World Wide Web uses HTTP or HTTPS to transfer linked documents between servers and browsers.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HTTP(S): Hypertext Transfer Protocol (Secure)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HTTPS encrypts data and is required for secure transactions.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Web pages written in HTML (</a:t>
            </a:r>
            <a:r>
              <a:rPr lang="en-US" altLang="zh-TW" sz="2400" dirty="0" err="1"/>
              <a:t>HyperText</a:t>
            </a:r>
            <a:r>
              <a:rPr lang="en-US" altLang="zh-TW" sz="2400" dirty="0"/>
              <a:t> Markup Language) can include text, images, video, and hyperlinks.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website is a company’s public face and often its main customer portal.</a:t>
            </a:r>
            <a:endParaRPr lang="en-US" altLang="zh-TW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378366-CE7D-8DEE-83FB-8A363D26A737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CF34A8-CB94-663D-178D-88715DCEE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Web as a Business Platform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3E68FC-2CC3-A68D-C9C6-4ED3655AE78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A272D-197B-6058-8969-45AF065A3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51DA10-9672-0FD5-0060-283319558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7172" name="Picture 4" descr="The Impact of the World Wide Web on Business and Commerce">
            <a:extLst>
              <a:ext uri="{FF2B5EF4-FFF2-40B4-BE49-F238E27FC236}">
                <a16:creationId xmlns:a16="http://schemas.microsoft.com/office/drawing/2014/main" id="{50C31F7F-8EB1-BC17-20E8-4E81B3FC5E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53" r="42166"/>
          <a:stretch/>
        </p:blipFill>
        <p:spPr bwMode="auto">
          <a:xfrm>
            <a:off x="541770" y="1458169"/>
            <a:ext cx="3486974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4364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E55C5-B3FF-DF89-AD8A-A31B77AB0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1E05B-4602-D849-13D8-491B8FF15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1" y="2215299"/>
            <a:ext cx="11105284" cy="4166647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https</a:t>
            </a:r>
            <a:r>
              <a:rPr lang="en-US" altLang="zh-TW" sz="2400" dirty="0"/>
              <a:t>: Secure protocol used to transfer web data.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www.megacorp.com</a:t>
            </a:r>
            <a:r>
              <a:rPr lang="en-US" altLang="zh-TW" sz="2400" dirty="0"/>
              <a:t>: Domain name identifying the host.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/content/features</a:t>
            </a:r>
            <a:r>
              <a:rPr lang="en-US" altLang="zh-TW" sz="2400" dirty="0"/>
              <a:t>: Directory path.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082610.html</a:t>
            </a:r>
            <a:r>
              <a:rPr lang="en-US" altLang="zh-TW" sz="2400" dirty="0"/>
              <a:t>: Specific page name and format.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URLs provide precise addresses so browsers can locate information quickly.</a:t>
            </a:r>
            <a:endParaRPr lang="en-US" altLang="zh-TW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B9D8AF-8458-571C-31E4-A323C3934297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AA5E71-AF00-EF46-C5B2-EFDBE1C6D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Uniform Resource Locator (URL)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0E9248-95D9-B6F7-011D-55A0225658C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A2E48-3767-185B-9746-95714C73C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3A783-D4F2-5B96-C3B5-68B78E36E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6E2BB1E-8040-FFAC-1FD8-05C53937CE1F}"/>
              </a:ext>
            </a:extLst>
          </p:cNvPr>
          <p:cNvSpPr/>
          <p:nvPr/>
        </p:nvSpPr>
        <p:spPr>
          <a:xfrm>
            <a:off x="447505" y="1300901"/>
            <a:ext cx="11430268" cy="697582"/>
          </a:xfrm>
          <a:prstGeom prst="roundRect">
            <a:avLst/>
          </a:prstGeom>
          <a:solidFill>
            <a:srgbClr val="771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3200" b="1" dirty="0">
                <a:solidFill>
                  <a:schemeClr val="bg1"/>
                </a:solidFill>
              </a:rPr>
              <a:t>https://www.megacorp.com/content/features/082610.html</a:t>
            </a:r>
          </a:p>
        </p:txBody>
      </p:sp>
    </p:spTree>
    <p:extLst>
      <p:ext uri="{BB962C8B-B14F-4D97-AF65-F5344CB8AC3E}">
        <p14:creationId xmlns:p14="http://schemas.microsoft.com/office/powerpoint/2010/main" val="1421489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F5B4C-158F-765A-773A-A50F0B2AF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27D0E-B3C4-208E-2E3F-81048A608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9197" y="1300900"/>
            <a:ext cx="7357858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Search engines index billions of pages with automated programs called crawlers.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Web crawlers automatically scan the web, follow hyperlinks, and add new pages to the search index.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Google controls almost 90% of global search activity.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Ranking depends on relevance, reliability, and the number of inbound links.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Semantic search uses AI to interpret user intent and meaning rather than individual keywords.</a:t>
            </a:r>
          </a:p>
          <a:p>
            <a:pPr marL="1371600" lvl="3" indent="0">
              <a:buNone/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Mobile optimization improves ranking and accessibility.</a:t>
            </a:r>
            <a:endParaRPr lang="en-US" altLang="zh-TW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10E806-6AB1-C593-A89B-A3B515810B2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00C23D-8821-1EAC-54C1-F94213794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Search Engines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B7821E-DF4E-9F68-8D0A-E9959DBDD3FC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5AFAC-AA9E-833F-FF15-3FB9B2F39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B3BCC-D169-C70D-D5FA-DC744E4AF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F2F5BE-B3DC-0F99-5511-F3F5E23FF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70" y="1300900"/>
            <a:ext cx="3680951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091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D0CBA-F869-03F6-50C7-A4C3F5C7E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CAA3F-0199-318C-885F-0F2905B4E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0" y="1300900"/>
            <a:ext cx="1110528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Search Engine Marketing (SEM)</a:t>
            </a:r>
            <a:r>
              <a:rPr lang="en-US" altLang="zh-TW" sz="2400" dirty="0"/>
              <a:t>: Paid ads that appear when users search chosen keywords.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Search Engine Optimization (SEO)</a:t>
            </a:r>
            <a:r>
              <a:rPr lang="en-US" altLang="zh-TW" sz="2400" dirty="0"/>
              <a:t>: Improving site structure and content for organic visibility.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Both depend on relevance, credibility, and technical performance.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Digital advertising through search accounts for more than 40% of global digital marketing spending.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Managers track impressions, clicks, and conversions to measure ROI.</a:t>
            </a:r>
            <a:endParaRPr lang="en-US" altLang="zh-TW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85BF2D-B1B8-5562-1933-04C4644BD0AD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428883-FCE1-9ED8-AE70-0850C8353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Search Engine Marketing and Optimization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790D15-7D33-23B1-DB52-DCF9293D1982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F2B24-9E24-1622-4DAB-2C0AA37F7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44BB8-F463-52C5-561A-BA6EC51D5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19071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C7DF2-965E-CE98-DB06-D5E046208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B409F1-1758-8AF5-54A0-5000BEB345D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5C6DCA-2017-2E7F-A7E1-E9E234B06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2400" dirty="0">
                <a:solidFill>
                  <a:schemeClr val="bg1"/>
                </a:solidFill>
              </a:rPr>
              <a:t>  </a:t>
            </a:r>
            <a:r>
              <a:rPr lang="en-US" sz="2400" dirty="0" err="1">
                <a:solidFill>
                  <a:schemeClr val="bg1"/>
                </a:solidFill>
              </a:rPr>
              <a:t>WebFX</a:t>
            </a:r>
            <a:r>
              <a:rPr lang="en-US" sz="2400" dirty="0">
                <a:solidFill>
                  <a:schemeClr val="bg1"/>
                </a:solidFill>
              </a:rPr>
              <a:t> (2022, January 24). </a:t>
            </a:r>
            <a:r>
              <a:rPr lang="en-US" sz="2400" i="1" dirty="0">
                <a:solidFill>
                  <a:schemeClr val="bg1"/>
                </a:solidFill>
              </a:rPr>
              <a:t>SEO vs. SEM: What's the difference? Do you need both?</a:t>
            </a:r>
            <a:br>
              <a:rPr lang="en-US" sz="2400" i="1" dirty="0">
                <a:solidFill>
                  <a:schemeClr val="bg1"/>
                </a:solidFill>
              </a:rPr>
            </a:br>
            <a:r>
              <a:rPr lang="en-US" sz="2400" i="1" dirty="0">
                <a:solidFill>
                  <a:schemeClr val="bg1"/>
                </a:solidFill>
              </a:rPr>
              <a:t>  </a:t>
            </a:r>
            <a:r>
              <a:rPr lang="en-US" sz="2400" dirty="0">
                <a:solidFill>
                  <a:schemeClr val="bg1"/>
                </a:solidFill>
              </a:rPr>
              <a:t>[Video]. YouTube. https://youtu.be/6jOdC8vCA_g?si=H87Uh5tZfDNA3jwY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A3E5C9-F370-C71F-3D2F-8F269994E892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B9409-13FA-1168-EF62-0532DF13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DCE46-65F3-8635-5063-24761003F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3" name="Online Media 2" title="SEO vs. SEM: What's the difference? Do you need both?">
            <a:hlinkClick r:id="" action="ppaction://media"/>
            <a:extLst>
              <a:ext uri="{FF2B5EF4-FFF2-40B4-BE49-F238E27FC236}">
                <a16:creationId xmlns:a16="http://schemas.microsoft.com/office/drawing/2014/main" id="{44DA2455-9698-9075-2526-668D7D0BD3B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239201" y="970332"/>
            <a:ext cx="971042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629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BF429-3AD5-8377-90F1-0559B022D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6A949-8955-F9BF-1F5D-69328F309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9901" y="1300900"/>
            <a:ext cx="6547154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Blogs: Regular posts for ideas, updates, and engagement.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RSS Feeds: Automatically deliver new content to subscribers.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Wikis: Editable pages that support collaborative knowledge creation and management.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Social Networks: LinkedIn, Facebook, and TikTok allow direct interaction with customers.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Managers use these tools for branding, reputation management, and feedback collection.</a:t>
            </a:r>
            <a:endParaRPr lang="en-US" altLang="zh-TW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BF965E-BB22-73E9-864E-E97895C1E94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278EA9-7669-DE0F-1635-1DE60A436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Sharing and Collaboration Online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DDF183-B923-FF04-91F4-A1A77133FC7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3A93AD-4E91-4713-6D41-F8AC06E5B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9EA77-CACB-1513-2A56-BDFDEDE37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218" name="Picture 2" descr="online collaboration | Redbooth">
            <a:extLst>
              <a:ext uri="{FF2B5EF4-FFF2-40B4-BE49-F238E27FC236}">
                <a16:creationId xmlns:a16="http://schemas.microsoft.com/office/drawing/2014/main" id="{4544EF14-24AD-8C2D-9245-5CEE05CF4C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19" r="22892"/>
          <a:stretch/>
        </p:blipFill>
        <p:spPr bwMode="auto">
          <a:xfrm>
            <a:off x="541770" y="1427532"/>
            <a:ext cx="446934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7792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FE54C-C18E-355B-0308-8817D09C7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CA0BE-04B1-D75F-9084-09E8CC451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0" y="1300900"/>
            <a:ext cx="1110528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Internet2: High-capacity research network testing new technologies.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Metaverse and Web3: Immersive and decentralized digital environments.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Internet of Things (IoT): Billions of connected sensors collecting data.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Cloud and SaaS models: Shift computing power from local servers to remote platforms.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Generative AI: Automates content creation but raises concerns about accuracy, reliability, and authenticity.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Managers must balance innovation, privacy, and security.</a:t>
            </a:r>
            <a:endParaRPr lang="en-US" altLang="zh-TW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D4F1F9-6813-4E39-C45F-1BD95B1F1B40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D962EA-DE4C-2735-15F4-E3E76C69D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Future Internet and Web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4004D8-354C-46CC-74FF-0B04B71F6DB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3CA8F-8A1F-030D-00C2-2C0D6126B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4577F-9D4C-6A63-7162-2772F27E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76762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F63A7-5083-FADE-E89E-DC26DEA43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F716B1-A212-931D-A163-058C682D047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7D2FC5-C79F-2D89-2527-5C73AEDB7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2400" dirty="0">
                <a:solidFill>
                  <a:schemeClr val="bg1"/>
                </a:solidFill>
              </a:rPr>
              <a:t>  PBS NewsHour (2024, January 3). </a:t>
            </a:r>
            <a:r>
              <a:rPr lang="en-US" sz="2400" i="1" dirty="0">
                <a:solidFill>
                  <a:schemeClr val="bg1"/>
                </a:solidFill>
              </a:rPr>
              <a:t>A Brief But Spectacular take on the future of the internet</a:t>
            </a:r>
            <a:br>
              <a:rPr lang="en-US" sz="2400" i="1" dirty="0">
                <a:solidFill>
                  <a:schemeClr val="bg1"/>
                </a:solidFill>
              </a:rPr>
            </a:br>
            <a:r>
              <a:rPr lang="en-US" sz="2400" i="1" dirty="0">
                <a:solidFill>
                  <a:schemeClr val="bg1"/>
                </a:solidFill>
              </a:rPr>
              <a:t>  </a:t>
            </a:r>
            <a:r>
              <a:rPr lang="en-US" sz="2400" dirty="0">
                <a:solidFill>
                  <a:schemeClr val="bg1"/>
                </a:solidFill>
              </a:rPr>
              <a:t>[Video]. YouTube. https://youtu.be/F45bQrV1ix0?si=e2z9EDNtRmm-G94o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F701D0-039E-4308-3907-550A26BDFC17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A4E870-4D8A-2EDF-C4DB-EBDE5A76F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756EE-2296-6001-233F-D178D056B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8" name="Online Media 7" title="A Brief But Spectacular take on the future of the internet">
            <a:hlinkClick r:id="" action="ppaction://media"/>
            <a:extLst>
              <a:ext uri="{FF2B5EF4-FFF2-40B4-BE49-F238E27FC236}">
                <a16:creationId xmlns:a16="http://schemas.microsoft.com/office/drawing/2014/main" id="{B0DB7AA9-C6C7-110A-C85E-C9624A8B2A5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239201" y="970332"/>
            <a:ext cx="971042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594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067C44-2719-043B-A406-F63BE58F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E99859-BC13-3BCF-1250-7C487258003C}"/>
              </a:ext>
            </a:extLst>
          </p:cNvPr>
          <p:cNvSpPr txBox="1"/>
          <p:nvPr/>
        </p:nvSpPr>
        <p:spPr>
          <a:xfrm>
            <a:off x="-1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Recap of Chapter 7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748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F07C-5A39-46FA-19B5-0CB9743E6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AB19EA9-F780-DAF7-1EBC-822EF2EDDD7C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3619056-BFF7-5653-691C-4489199AA60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88825" cy="923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b="1" dirty="0">
                <a:solidFill>
                  <a:schemeClr val="bg1"/>
                </a:solidFill>
                <a:latin typeface="Garamond"/>
              </a:rPr>
              <a:t>  Recap of Chapter 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F8D645-33AB-D7BC-1B81-8CCF597648B0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C1011C51-5B4E-8C02-C890-0AE3A669C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0C78CE8A-9AF8-53CE-1E0D-2DC2238B4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4596D15-346E-FEAB-2529-E273E357F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Describe key components of telecommunications networks.</a:t>
            </a:r>
          </a:p>
          <a:p>
            <a:pPr marL="1371600" lvl="3" indent="0">
              <a:buNone/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Identify major Internet services that support business communication.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Discuss how the web operates and how firms use it for marketing and collaboration.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Examine how emerging Internet and web technologies influence business strategy.</a:t>
            </a:r>
          </a:p>
        </p:txBody>
      </p:sp>
    </p:spTree>
    <p:extLst>
      <p:ext uri="{BB962C8B-B14F-4D97-AF65-F5344CB8AC3E}">
        <p14:creationId xmlns:p14="http://schemas.microsoft.com/office/powerpoint/2010/main" val="3441963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178b066-ece4-42d6-be80-b911ff775fa2}" enabled="1" method="Privileged" siteId="{4881a8fa-b252-4912-b93a-7806c41bbe9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10210</TotalTime>
  <Words>2121</Words>
  <Application>Microsoft Office PowerPoint</Application>
  <PresentationFormat>Custom</PresentationFormat>
  <Paragraphs>324</Paragraphs>
  <Slides>32</Slides>
  <Notes>26</Notes>
  <HiddenSlides>0</HiddenSlides>
  <MMClips>5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Arial</vt:lpstr>
      <vt:lpstr>Calibri</vt:lpstr>
      <vt:lpstr>Garamond</vt:lpstr>
      <vt:lpstr>Office Theme</vt:lpstr>
      <vt:lpstr>PowerPoint Presentation</vt:lpstr>
      <vt:lpstr>PowerPoint Presentation</vt:lpstr>
      <vt:lpstr>PowerPoint Presentation</vt:lpstr>
      <vt:lpstr>  Digital Networks in Business</vt:lpstr>
      <vt:lpstr>  Why Networks Matter for Managers</vt:lpstr>
      <vt:lpstr>  Anatomy of a Simple Network</vt:lpstr>
      <vt:lpstr>  Anatomy of a Simple Network</vt:lpstr>
      <vt:lpstr>  Anatomy of a Simple Network</vt:lpstr>
      <vt:lpstr>  From Local to Corporate Networks</vt:lpstr>
      <vt:lpstr>PowerPoint Presentation</vt:lpstr>
      <vt:lpstr>  BBC Click (2019, Oct 30). How Does The Internet Work? - BBC Click [Video]. YouTube.   https://youtu.be/eHp1l73ztB8?si=gmE8uruxJQqc_oWH</vt:lpstr>
      <vt:lpstr>  The Internet as a Global Network</vt:lpstr>
      <vt:lpstr>  Internet Access for Businesses</vt:lpstr>
      <vt:lpstr>  What the Internet Enables</vt:lpstr>
      <vt:lpstr>PowerPoint Presentation</vt:lpstr>
      <vt:lpstr>  Core Internet Services: Email and Instant Messaging</vt:lpstr>
      <vt:lpstr>  Core Internet Services: Voice over IP (VoIP)</vt:lpstr>
      <vt:lpstr>  Nextiva (2022, April 4). Scaling Communication: Titan Solar Power + Nextiva [Video].   YouTube. https://youtu.be/lKsm0bfO4bM?si=YDrzoHD8I-hiH-XG</vt:lpstr>
      <vt:lpstr>  Core Internet Services: Unified Communications</vt:lpstr>
      <vt:lpstr>  Core Internet Services: Virtual Private Networks</vt:lpstr>
      <vt:lpstr>  NordVPN (2022, June 29). What is a VPN? Explained in 4 levels of difficulty | NordVPN    [Video]. YouTube. https://youtu.be/bjD-wGVrFCg?si=ZjKEzj956p80kpRa</vt:lpstr>
      <vt:lpstr>PowerPoint Presentation</vt:lpstr>
      <vt:lpstr>  The Web as a Business Platform</vt:lpstr>
      <vt:lpstr>  Uniform Resource Locator (URL)</vt:lpstr>
      <vt:lpstr>  Search Engines</vt:lpstr>
      <vt:lpstr>  Search Engine Marketing and Optimization</vt:lpstr>
      <vt:lpstr>  WebFX (2022, January 24). SEO vs. SEM: What's the difference? Do you need both?   [Video]. YouTube. https://youtu.be/6jOdC8vCA_g?si=H87Uh5tZfDNA3jwY</vt:lpstr>
      <vt:lpstr>  Sharing and Collaboration Online</vt:lpstr>
      <vt:lpstr>  The Future Internet and Web</vt:lpstr>
      <vt:lpstr>  PBS NewsHour (2024, January 3). A Brief But Spectacular take on the future of the internet   [Video]. YouTube. https://youtu.be/F45bQrV1ix0?si=e2z9EDNtRmm-G94o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Brian Park</dc:creator>
  <cp:keywords/>
  <dc:description>generated using python-pptx</dc:description>
  <cp:lastModifiedBy>Brian Park</cp:lastModifiedBy>
  <cp:revision>345</cp:revision>
  <dcterms:created xsi:type="dcterms:W3CDTF">2013-01-27T09:14:16Z</dcterms:created>
  <dcterms:modified xsi:type="dcterms:W3CDTF">2026-03-19T17:14:16Z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178b066-ece4-42d6-be80-b911ff775fa2_Enabled">
    <vt:lpwstr>true</vt:lpwstr>
  </property>
  <property fmtid="{D5CDD505-2E9C-101B-9397-08002B2CF9AE}" pid="3" name="MSIP_Label_5178b066-ece4-42d6-be80-b911ff775fa2_SetDate">
    <vt:lpwstr>2025-09-24T21:16:43Z</vt:lpwstr>
  </property>
  <property fmtid="{D5CDD505-2E9C-101B-9397-08002B2CF9AE}" pid="4" name="MSIP_Label_5178b066-ece4-42d6-be80-b911ff775fa2_Method">
    <vt:lpwstr>Privileged</vt:lpwstr>
  </property>
  <property fmtid="{D5CDD505-2E9C-101B-9397-08002B2CF9AE}" pid="5" name="MSIP_Label_5178b066-ece4-42d6-be80-b911ff775fa2_Name">
    <vt:lpwstr>Public</vt:lpwstr>
  </property>
  <property fmtid="{D5CDD505-2E9C-101B-9397-08002B2CF9AE}" pid="6" name="MSIP_Label_5178b066-ece4-42d6-be80-b911ff775fa2_SiteId">
    <vt:lpwstr>4881a8fa-b252-4912-b93a-7806c41bbe91</vt:lpwstr>
  </property>
  <property fmtid="{D5CDD505-2E9C-101B-9397-08002B2CF9AE}" pid="7" name="MSIP_Label_5178b066-ece4-42d6-be80-b911ff775fa2_ActionId">
    <vt:lpwstr>481a848f-947e-4531-a1b3-13071af9a132</vt:lpwstr>
  </property>
  <property fmtid="{D5CDD505-2E9C-101B-9397-08002B2CF9AE}" pid="8" name="MSIP_Label_5178b066-ece4-42d6-be80-b911ff775fa2_ContentBits">
    <vt:lpwstr>0</vt:lpwstr>
  </property>
  <property fmtid="{D5CDD505-2E9C-101B-9397-08002B2CF9AE}" pid="9" name="MSIP_Label_5178b066-ece4-42d6-be80-b911ff775fa2_Tag">
    <vt:lpwstr>10, 0, 1, 1</vt:lpwstr>
  </property>
</Properties>
</file>