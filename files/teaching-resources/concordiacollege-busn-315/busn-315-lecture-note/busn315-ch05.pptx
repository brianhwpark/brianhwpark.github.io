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61"/>
  </p:notesMasterIdLst>
  <p:sldIdLst>
    <p:sldId id="256" r:id="rId2"/>
    <p:sldId id="587" r:id="rId3"/>
    <p:sldId id="257" r:id="rId4"/>
    <p:sldId id="387" r:id="rId5"/>
    <p:sldId id="516" r:id="rId6"/>
    <p:sldId id="519" r:id="rId7"/>
    <p:sldId id="590" r:id="rId8"/>
    <p:sldId id="596" r:id="rId9"/>
    <p:sldId id="591" r:id="rId10"/>
    <p:sldId id="592" r:id="rId11"/>
    <p:sldId id="597" r:id="rId12"/>
    <p:sldId id="598" r:id="rId13"/>
    <p:sldId id="593" r:id="rId14"/>
    <p:sldId id="594" r:id="rId15"/>
    <p:sldId id="595" r:id="rId16"/>
    <p:sldId id="600" r:id="rId17"/>
    <p:sldId id="614" r:id="rId18"/>
    <p:sldId id="615" r:id="rId19"/>
    <p:sldId id="616" r:id="rId20"/>
    <p:sldId id="618" r:id="rId21"/>
    <p:sldId id="620" r:id="rId22"/>
    <p:sldId id="622" r:id="rId23"/>
    <p:sldId id="623" r:id="rId24"/>
    <p:sldId id="624" r:id="rId25"/>
    <p:sldId id="629" r:id="rId26"/>
    <p:sldId id="612" r:id="rId27"/>
    <p:sldId id="632" r:id="rId28"/>
    <p:sldId id="633" r:id="rId29"/>
    <p:sldId id="635" r:id="rId30"/>
    <p:sldId id="637" r:id="rId31"/>
    <p:sldId id="636" r:id="rId32"/>
    <p:sldId id="638" r:id="rId33"/>
    <p:sldId id="639" r:id="rId34"/>
    <p:sldId id="640" r:id="rId35"/>
    <p:sldId id="641" r:id="rId36"/>
    <p:sldId id="642" r:id="rId37"/>
    <p:sldId id="631" r:id="rId38"/>
    <p:sldId id="644" r:id="rId39"/>
    <p:sldId id="645" r:id="rId40"/>
    <p:sldId id="646" r:id="rId41"/>
    <p:sldId id="647" r:id="rId42"/>
    <p:sldId id="648" r:id="rId43"/>
    <p:sldId id="649" r:id="rId44"/>
    <p:sldId id="650" r:id="rId45"/>
    <p:sldId id="651" r:id="rId46"/>
    <p:sldId id="653" r:id="rId47"/>
    <p:sldId id="669" r:id="rId48"/>
    <p:sldId id="655" r:id="rId49"/>
    <p:sldId id="643" r:id="rId50"/>
    <p:sldId id="657" r:id="rId51"/>
    <p:sldId id="670" r:id="rId52"/>
    <p:sldId id="671" r:id="rId53"/>
    <p:sldId id="660" r:id="rId54"/>
    <p:sldId id="662" r:id="rId55"/>
    <p:sldId id="663" r:id="rId56"/>
    <p:sldId id="665" r:id="rId57"/>
    <p:sldId id="666" r:id="rId58"/>
    <p:sldId id="656" r:id="rId59"/>
    <p:sldId id="451" r:id="rId6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122C"/>
    <a:srgbClr val="FDB913"/>
    <a:srgbClr val="B896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04" autoAdjust="0"/>
    <p:restoredTop sz="92252" autoAdjust="0"/>
  </p:normalViewPr>
  <p:slideViewPr>
    <p:cSldViewPr snapToGrid="0" snapToObjects="1">
      <p:cViewPr varScale="1">
        <p:scale>
          <a:sx n="102" d="100"/>
          <a:sy n="102" d="100"/>
        </p:scale>
        <p:origin x="31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359EC7-19C7-4638-A61A-0E2B59861576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87AAC7-CF25-414B-93E7-2A61E431E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82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0C24B-6D22-1F5C-BFF2-FE1510762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1135D2-B7A0-8A0D-A9CA-A470222890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CC65D2-88EF-565D-94B5-2A578104B8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EBC2DF-A3CC-81FA-A0E9-B0AD243CF1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7367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3FC3B-566A-F1DA-C914-F5E06D483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0470AD-6966-6F0D-7DD4-1B725FC466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D1F33A-3B20-1388-6C26-7B6DDDD477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2870C0-D86E-0453-D4BE-FF4846BA61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0614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BBDA8-B471-775E-2659-00BB5203F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81B419-0280-121A-269D-C20714261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293BE4-40E1-27AF-0C5B-D1E756B221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AA1690-1A57-E4C2-D437-AF44453D80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5246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8452F-CB1B-F754-74BA-C4B3E33F9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9C28C7-5B49-E711-7700-2B7D37A5EF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78CFF7-27A2-296D-2060-A112CF18F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63547-EBCB-DF7B-9DAD-5116B91542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4386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ABF9C-9F4B-82D3-1E5F-CE5B50838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D5802F-C5BD-699F-60A2-86C7D2B318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F8A208-4B75-1596-0B1B-7717F5A2FF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6C0A89-C6B2-4922-1AB7-203C10DDA5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0272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31497-9FA5-D0C2-B7BD-C1C0AD193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D02653-A7DE-423B-6054-0FD208FEDF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4D0382-0545-6CAE-780D-7C8BB548FF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A12CAD-9EB0-3C65-F90C-7A9ABE37A8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6180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A2049-01BE-4369-7348-7346558C0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1D72B4-C08A-C65A-09AB-7599671FD5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E1BB78-4EAE-8119-1B22-5E221D8D73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ED988-ADDF-6151-9BA4-05CBC8440C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3363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65664-9B98-BBA5-18B9-8ED01E243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BD9A3F-3DC2-9ACC-B584-6F738B2FE1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A1EF1C-2A7E-EDF7-86EE-1EDC47CB4C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E20E0D-6395-C0A9-DF8D-0FE7119D10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9593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B23E4-B9FE-C714-6D3C-A76323FA4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667E4D-14E5-5609-5D04-CA03A6E4C5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7AB85C-E91A-949F-1E33-8678FD12C4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01A18A-422F-6418-241E-0F0EA171D5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2770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91137-D26B-6A7D-F05E-38707B0C7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94EFAD-20AC-F955-2110-5F5456E42F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2AA511-1338-EFCD-70AF-B6FD19F6B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7E5116-8730-DFC4-B7D5-192FD3D6CC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4449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44817-58AC-BF66-4B57-B5206E0AA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495F96-5A08-E4DA-F010-378924A045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931C3C-2BD2-BCF8-E9F1-246A1840CA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F8990A-A09C-08D8-90BD-5D6BBB592E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7311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918FB-7CBA-614B-94BD-524C9D425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56BE05-FE12-2013-AAB2-4BCF57FCDE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FAADDE-8B1F-68B5-2ED7-47675A0D69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DA9705-A0AA-5037-7666-04D72E3B3A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1924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E282A-3545-B61B-4D28-FB5AB4266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176E55-B225-2959-474A-E8F4384E20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8E7260-46DD-B3BA-0783-F6A869B28C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2195E0-F2BC-260C-B886-F702E68251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6897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583E2-47CC-4F64-B3F5-C9AFAFE55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E2F177-6678-5514-54A2-5309623A64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54D9DE-9C38-9667-A01F-4259F0A4C0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4AAB3F-7DF9-39C9-4A13-4BA0F76F68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0103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1FB59-59DA-D157-EF47-98E3DAD29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E63FAD-68D2-BA11-FA8F-B638D79BF2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CDCFF0-EE85-1D6F-C82B-9FAE0A5CF7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1D9B4E-4EC9-EB02-DBD6-5EF9B88735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9154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9B1A9-A1AA-0FB8-4646-361FC08F3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CEC6CF-16AC-4E7C-A1E1-7438374E7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084569-012D-FAD2-E83D-B503CC904F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1A62F5-9A87-A090-7321-10F137CC78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6499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83106-4BE7-1E5E-0562-2A33C47F9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0E8205-A7E1-2C1C-88E3-739A0033F1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16BAF3-904B-BB75-4E85-F19DBFE7D9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05F40-F2BC-AF51-1CB2-12E37E637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2195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C1152-E6B4-449E-4C42-029E8FAE3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83F16A-4ED0-FAEB-19F2-F99E854468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6DF350-145B-8E74-666D-C4B760DFB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4A2B4A-F642-6FF9-FB3E-51B3296AB8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9612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4242A-A5CC-3B07-6100-6E6AD0D37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D8A1CA-6BF9-AC43-B127-11A09BFD9E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F26EC3-20C3-31D6-1AB8-669F652277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B144C3-1F84-34F5-9017-47CD5A4B04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6305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786D9-81FB-C428-6FC5-781BAF3F6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EDEC60-4942-4CA9-6413-5241109582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E680AC-124D-B530-2B6F-56A45DD2CF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A46DCB-97F5-5B9A-74FA-81DA7F3043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3655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93EE6-78EA-58D1-AC7E-54A4B3608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8F7371-72DF-DBF9-F56D-10B2A0BDF7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EF54B0-AD45-5202-A91E-967C852EC6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61C0AE-A0BC-2D4A-0140-62C42B5ED4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7046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C212B-044D-8AB1-9A5F-952CC21BA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8E367C-974C-D2D4-A13B-9ABDDBD2A7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A08596-D743-38AA-05E5-5EC8C1DB4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CD1C8-0443-B8BF-1B51-8B839691B6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2178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60895-5EDF-A4B9-A6D4-442F8E457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162680-F311-B42D-6050-78FDD0D797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41F14A-194A-C588-EDC0-E65DF446BD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EC97F4-190A-0D41-1D9B-BB287F54E8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7573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D77C9-19A1-F882-83F1-4D5A5F910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0DD609-CC85-032C-144B-2FE4BD939F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440BBC-2901-54A2-6139-2AE0A801A2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7BFB0-9B2A-DD5F-48EB-BF862AF199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5644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3FB8E-FAE8-3136-7721-C55E639F4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D94742-209A-49AD-72E4-B577FA71C5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B4649D-FB04-5E25-5E52-08B4CB772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19CD23-C19E-98DF-9FDF-475647106E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0189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24A20-87CA-8EC3-9C8F-0DF595FE2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F2BFF4-1AF2-28B6-8B09-CF296A633A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5EA370-5B77-FF41-ABC9-643E39182F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1E8A7B-3B16-3142-C4CC-7C7AB40192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4859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BF11F-114E-D1B9-7086-82BBD4EC1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4ECB8F-6242-6AB0-E6E4-A9A4393CAE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AD0A7F-2C85-1BF7-2185-A0BC6067B7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E18C2B-7E3E-31B5-4290-D0AC35AC75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012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139BA-3D3E-D7C8-A8C4-3258D6EFB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644801-3A8D-1E91-E086-0B6636AE9C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560C09-DE44-258E-1CE9-49D2B98BED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4B0F4A-0194-0F75-4DF9-267676EE01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02405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61803-FA42-7ED7-8B5A-4C844AE4C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C6793A-018C-D200-EC17-8F64F252BB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9C83B9-CE52-3FA9-6DFF-EB42D83438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0D0019-F7B6-5AE6-A27B-78E3488678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18151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86AE9-E1EE-FEA8-C244-FF13B19D9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75B6FA-BB17-18C6-0929-FC9F6D5E3C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531BDA-B4B7-EEFD-728F-231E2B6793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348F75-5DA2-6BC8-4DFF-C354A8BACA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98337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5FA79-DDEC-D94A-3358-113C64AB6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E483A6-EACC-76F3-B216-0FD56292F9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B1ABEA-023B-9D10-6C9F-CD77D12431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AD9ED4-2D40-7D2B-6C41-41FFC317E9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16190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9E0F1-693A-4C2B-C3D5-B0D4C18DA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2E14E9-5D53-7318-C1FC-C32D9B1C48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2A383B-4A34-FE4B-C971-71AD6CAF19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328A52-9368-9773-360E-5A1A105410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29282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65B79-06F7-67F0-0D28-5A5D775D4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522948-1AA4-B414-825F-CF29830C82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7C9E2D-B126-AE93-B7F3-26015D2665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87389-26D8-6932-E71C-7E5E21F572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58223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22595-AED1-A4FC-3486-3E5FA20B4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8BAEBA-9E5F-C2AF-408B-B83EAE4807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3F9124-A156-E8A8-8823-289670C924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8D0CF6-0473-9B99-488E-2B0C50AB55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53543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5CD34-E5D5-DF6D-6503-7EDE1B155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D29F65-AD57-7AD3-A102-836E51499C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B84CC1-63C9-25E6-878D-BFF3F5729F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27AA36-3CFD-D0F5-76F1-6E07B23105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68777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AF39D-CCFC-DBCF-D5D0-29666BC78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5C68D3-6E5C-5B35-28A7-3C1259B96A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958ED2-2127-B931-9011-AD87EEB9AC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C73DC5-0C80-236C-6802-D37CC64281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14720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FB312-81B8-A1D8-3927-2BF38C32A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D3E013-16EF-2B4C-26E4-FA049C81AF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C0C21E-82C6-50C5-E156-A1B7AB20FD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341A8F-A928-8F20-5B00-3B4661D4CA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99329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B1D07-F0C5-D801-AA4B-97FAD5510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6980E5-8CB6-AA11-BA33-EB10FC5D23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16B9CD-1EFC-2D25-753D-CC8946D12B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97DA38-F701-C0DB-FA66-9EC68497EF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68081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3D949-F3C0-088F-5B22-A3F3E68B4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5679E4-EF7C-7A8A-0224-82F5B7EF95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D389A1-2EB6-CEA3-875B-67EB61915B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726CFC-AE62-2DAF-AA60-2A2F0C93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91811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C2D21-D36B-1CB2-E92E-1F723A62D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3118EE-0C76-DDA0-86C3-F96E3C7B87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33557B-A7E7-825A-8F99-ABECEC8ABC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148839-642D-FF04-5411-A958BEC3C4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0094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EC33F-3A78-16B3-56E3-B412B3B91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E5A379-A8B3-8CFD-B1FA-CA3E86FB5C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7C77E8-CF57-94D6-672B-0B04B38880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72D14-C68C-16BA-B238-90D3594F7E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72573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1E421-29D5-EA4F-F151-0F1B797F2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6F195A-6CD7-8257-F961-8934B99DC4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04D565-1544-D406-2AAA-277E5254ED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63EF6C-DB20-3962-1104-11C09658BD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20929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C82BC-8136-3908-780C-28FD59C1E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F92B38-EC58-AB5F-3CB0-64A7F476AB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38BD71-4B3C-06DA-52B8-9DDF644FEE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A6925-3909-B4F2-7133-E4E4035D77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98817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374A2-1E2D-011A-F3B0-204DD3F1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361EAF-9E31-9523-8AF9-191C03AAF4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C72331-7B7B-E1FF-633D-2BD33D0152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FC227-AF14-E19D-C524-6897006B8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55922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C63E2-471B-F5F3-6AED-593F0D699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3DFDD2-2518-F01D-26B3-CA06AF226D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D82948-A0C4-DE1F-B3CF-B44556CB08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430AC2-F5E2-3E6F-A92D-B13A71E1F0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70582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B2A89-68FF-CA03-3433-980019CEF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AB4E4F-8D17-B0C7-14F6-B1FBE61C48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54ACFF-4873-5CFA-1C7E-964E06128E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916722-D155-46E8-BD22-B9A5F1C286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49075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79579-90EE-F107-C7B5-B8D60A328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509729-046F-19DB-7B05-88A524A0B0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3D3065-8B65-6294-9BFA-F343FDBC70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9BBEB2-C9DD-4A6A-3BFF-CC349C1F9E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805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3EC82-8E58-5E6B-E294-8096E2419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39D345-4669-E889-8087-5565105DEF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6E2E0F-1FDC-D4EB-C3BB-810B0D2527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CB77CC-03D9-0B1D-6B3F-99C92E5BDC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40216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0E1FC-8876-7F82-0127-8448EB081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9F1264-4720-201A-FA81-F1D934B977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F6E86C-1349-D6BD-7C57-FEC256D429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9B6070-A2B3-CD3A-5F75-9BEA35C538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3959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5F17A-EB73-732B-CC32-6FA24D26F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D8E27F-3F11-99BA-7BA6-94FEE66055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DACB5E-FD8D-7620-7686-6A4EA02016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6D451-B16F-1289-9004-9458A15916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3598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A12B2-FB92-CBB1-3A30-277C17B1A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B5BEF8-7F89-4857-FC7A-2A9121673E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3B7414-89C3-CDE4-383C-DDB4BE1C25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49CA0E-F004-AE46-7BB1-C1BE178529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07794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2E2E5-15F1-78EC-52A9-CAED42AD7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7A0DFB-52A7-BA92-C424-9AE17193EB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D0F12A-60CA-35B1-2EAE-169687C74A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58DC12-637D-8F39-2928-BFCFE9F127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743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AFFB9-A874-4FD1-A824-B4042D61D1ED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Management Information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79C1E-59CB-458D-A8DF-3DF069B9691A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Management Information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038F5-1F4F-49BC-AE81-A69593E39F17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Management Information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B9C03-4953-4667-8B38-5F82E8B7824A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Management Information Systems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F53C9-7EE5-4279-90C5-33FD7C6945F2}" type="datetime1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Management Information Systems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720FA-FDEE-4E83-A4C7-BC2FB4952465}" type="datetime1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Management Information Systems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51516-679C-4D73-B89D-29E30821AF23}" type="datetime1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Management Information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03A1F-F54C-4527-A898-553BBCF40EAB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Management Information Systems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D13F6-D87E-4E9E-B027-94AE4C3308CD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Management Information Systems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0497A-627B-46A8-B138-876D4281251E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Management Information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49246-640D-41B6-A07B-C0FA43D7FEE2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Management Information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E17758-26A5-42DB-960B-17BBCDA98EFC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 Management Information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C7BCCrCoU3A?feature=oembed" TargetMode="External"/><Relationship Id="rId4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JhHMJCUmq28?feature=oembed" TargetMode="External"/><Relationship Id="rId4" Type="http://schemas.openxmlformats.org/officeDocument/2006/relationships/image" Target="../media/image16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WMvb9LLXzUs?feature=oembed" TargetMode="External"/><Relationship Id="rId4" Type="http://schemas.openxmlformats.org/officeDocument/2006/relationships/image" Target="../media/image27.jpe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650659"/>
            <a:ext cx="121888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DB913"/>
                </a:solidFill>
                <a:latin typeface="Garamond"/>
              </a:defRPr>
            </a:pPr>
            <a:r>
              <a:rPr lang="en-US" sz="4800" dirty="0"/>
              <a:t>M</a:t>
            </a:r>
            <a:r>
              <a:rPr lang="en-US" sz="4000" dirty="0"/>
              <a:t>ANAGEMENT </a:t>
            </a:r>
            <a:r>
              <a:rPr lang="en-US" sz="4800" dirty="0"/>
              <a:t>I</a:t>
            </a:r>
            <a:r>
              <a:rPr lang="en-US" sz="4000" dirty="0"/>
              <a:t>NFORMATION </a:t>
            </a:r>
            <a:r>
              <a:rPr lang="en-US" sz="4800" dirty="0"/>
              <a:t>S</a:t>
            </a:r>
            <a:r>
              <a:rPr lang="en-US" sz="4000" dirty="0"/>
              <a:t>YSTEMS</a:t>
            </a:r>
            <a:endParaRPr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-1" y="3657600"/>
            <a:ext cx="121888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Garamond"/>
              </a:defRPr>
            </a:pPr>
            <a:r>
              <a:rPr lang="en-US" dirty="0"/>
              <a:t>Chapter 5: IT Infrastructure and Emerging Technologies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98303-0872-E3B3-67A0-227BFB7EC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1E7D294-8F89-749B-7137-1E6BF236CB2B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0B89AAE-D4DE-57A9-B710-501D1E0B0EB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88825" cy="923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b="1" dirty="0">
                <a:solidFill>
                  <a:schemeClr val="bg1"/>
                </a:solidFill>
                <a:latin typeface="Garamond"/>
              </a:rPr>
              <a:t>  Recap of Chapter 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1BDD15-CC06-4E3D-B311-B084BB89FACA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356B2625-9BFB-435B-93C6-7D92AA485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53DFA24D-8745-C6DE-97C6-6242A2479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459D59-2723-9C10-7C69-6875937E9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Describe IT/IS-related ethical, social, and political issues.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Describe principles for ethical conduct.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Discuss information rights and privacy issues.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Discuss intellectual property issues.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Discuss system quality issues.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Discuss accountability and control issues.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Discuss quality of life issues.</a:t>
            </a:r>
          </a:p>
        </p:txBody>
      </p:sp>
    </p:spTree>
    <p:extLst>
      <p:ext uri="{BB962C8B-B14F-4D97-AF65-F5344CB8AC3E}">
        <p14:creationId xmlns:p14="http://schemas.microsoft.com/office/powerpoint/2010/main" val="3857111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705725"/>
            <a:ext cx="1218882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IT Infrastructure and </a:t>
            </a:r>
          </a:p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Emerging Technologies</a:t>
            </a:r>
            <a:endParaRPr sz="4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7CE89-301A-70F1-4260-6BE7F3ECF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55BD8-8A9D-C759-E57B-798D3259D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771" y="1300900"/>
            <a:ext cx="11105284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IT infrastructure decisions are long-term, costly, and difficult to reverse.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000" dirty="0"/>
              <a:t>Global IT infrastructure spending exceeded $5 trillion in 2024</a:t>
            </a:r>
            <a:endParaRPr lang="en-US" altLang="zh-TW" sz="2400" dirty="0"/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Mistakes are difficult and expensive to reverse.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Infrastructure determines what a firm can and cannot do.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IT infrastructure refers to the shared technology resources that provide the platform for all information systems within a firm.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It includes hardware, software, and firmwide services used across business units.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These shared resources form the operational backbone of the organization, supporting customers, suppliers, internal processes, and business strategy.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7F8D10-BDB6-A3B1-C66D-3AAD06B37E30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11ED87-11C7-E07A-360C-C69F65EDD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IT Infrastructure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DA463A-E4AE-D67D-E769-807CD9E18906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2F9F19-8B6A-699A-698A-67E99D9D8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2A4FA5-9191-0EBF-702D-330CA4BD6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4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78314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7F437-C048-B92A-A93C-5E018325B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FAD83-3F2A-1CB5-57C8-F2BBAF333B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771" y="1300900"/>
            <a:ext cx="11105284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Core Infrastructure Services of a firm consist of: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Computing platforms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Telecommunications services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Data management services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Physical facilities management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Application software services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IT management and standards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IT education and research</a:t>
            </a:r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Together, these services determine how scalable, secure, and flexible a firm’s information systems can be.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C4D37F-A35C-1AF1-511F-9D6D787A4C59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5DDC8D-0DBA-FF05-F1DC-2A90940B3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Core Infrastructure Services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A86022-C0F7-5810-238E-DFD27DFCC6D9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7D4CFE-4796-0E1C-0E24-18243A145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C05023-FEB7-8926-D458-BFF7306B4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5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50016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839FE-AF52-1D8B-ECFE-0C08B7B37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EA0E4F-ECCC-E8C0-7A25-7EA26B00CFE8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9E7AEB-AC67-46DA-B7CF-BBADCA4F4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2400" dirty="0">
                <a:solidFill>
                  <a:schemeClr val="bg1"/>
                </a:solidFill>
              </a:rPr>
              <a:t>  ASML (2024, December 19). </a:t>
            </a:r>
            <a:r>
              <a:rPr lang="en-US" sz="2400" i="1" dirty="0">
                <a:solidFill>
                  <a:schemeClr val="bg1"/>
                </a:solidFill>
              </a:rPr>
              <a:t>What is Moore’s Law? Is it still relevant? Episode 3 | ASML</a:t>
            </a:r>
            <a:br>
              <a:rPr lang="en-US" sz="2400" i="1" dirty="0">
                <a:solidFill>
                  <a:schemeClr val="bg1"/>
                </a:solidFill>
              </a:rPr>
            </a:br>
            <a:r>
              <a:rPr lang="en-US" sz="2400" i="1" dirty="0">
                <a:solidFill>
                  <a:schemeClr val="bg1"/>
                </a:solidFill>
              </a:rPr>
              <a:t>  </a:t>
            </a:r>
            <a:r>
              <a:rPr lang="en-US" sz="2400" i="1" dirty="0" err="1">
                <a:solidFill>
                  <a:schemeClr val="bg1"/>
                </a:solidFill>
              </a:rPr>
              <a:t>Nanoland</a:t>
            </a:r>
            <a:r>
              <a:rPr lang="en-US" sz="2400" i="1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[Video]. YouTube. https://youtu.be/C7BCCrCoU3A?si=drqVDN87wMa2L7Vs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C143D6-5EB4-BB64-2BB8-7C0925B9AFBC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5D5CCC-1291-9C0A-7793-AE0E27966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7C0E77-0568-9617-312D-3D572B1B8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6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3" name="Online Media 2" title="What is Moore’s Law? Is it still relevant? Episode 3 | ASML Nanoland">
            <a:hlinkClick r:id="" action="ppaction://media"/>
            <a:extLst>
              <a:ext uri="{FF2B5EF4-FFF2-40B4-BE49-F238E27FC236}">
                <a16:creationId xmlns:a16="http://schemas.microsoft.com/office/drawing/2014/main" id="{4F561B92-E145-2AFB-146E-ABD289F8950B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239190" y="970332"/>
            <a:ext cx="9710442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436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616AB-92C4-1558-3486-6A148310B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EE7B2-E0BF-4D14-EE9A-F3A1FBC04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439" y="1300900"/>
            <a:ext cx="8040616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Today’s IT infrastructure is the result of more than 70 years of technological evolution in computing and communication.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Each stage expanded computing power and reduced costs, reshaping how organizations process and share information.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evolution of computing can be divided into five major eras, each reflecting a distinct organizational logic:</a:t>
            </a:r>
          </a:p>
          <a:p>
            <a:pPr marL="914400" lvl="1" indent="-457200">
              <a:buFont typeface="+mj-lt"/>
              <a:buAutoNum type="arabicPeriod"/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General-Purpose Mainframe and Minicomputer Computing</a:t>
            </a:r>
          </a:p>
          <a:p>
            <a:pPr marL="914400" lvl="1" indent="-457200">
              <a:buFont typeface="+mj-lt"/>
              <a:buAutoNum type="arabicPeriod"/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Personal Computer</a:t>
            </a:r>
          </a:p>
          <a:p>
            <a:pPr marL="914400" lvl="1" indent="-457200">
              <a:buFont typeface="+mj-lt"/>
              <a:buAutoNum type="arabicPeriod"/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Client/Server Computing</a:t>
            </a:r>
          </a:p>
          <a:p>
            <a:pPr marL="914400" lvl="1" indent="-457200">
              <a:buFont typeface="+mj-lt"/>
              <a:buAutoNum type="arabicPeriod"/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Enterprise Computing</a:t>
            </a:r>
          </a:p>
          <a:p>
            <a:pPr marL="914400" lvl="1" indent="-457200">
              <a:buFont typeface="+mj-lt"/>
              <a:buAutoNum type="arabicPeriod"/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Cloud and Mobile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7BE6F3-1F44-3D97-BC20-10FE7BE28E70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A60C4A-50B3-D29E-BF98-DBE01F3F1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Evolution of IT Infrastructure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499986-620A-FF7D-1208-C7D279A98A00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757263-3CCD-DB3D-1DF0-B0B801CD3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E4329D-913D-2E54-E27E-427B676E5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7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9" name="Picture 8" descr="A network diagram illustrates the various stages in the evolution of the I T infrastructure. Long description available in notes, press f6.">
            <a:extLst>
              <a:ext uri="{FF2B5EF4-FFF2-40B4-BE49-F238E27FC236}">
                <a16:creationId xmlns:a16="http://schemas.microsoft.com/office/drawing/2014/main" id="{E12672FC-FC90-BF8A-F21A-0866170C50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70" y="970332"/>
            <a:ext cx="3064669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630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ECA22-277B-CD6E-7ABA-3C04D9F8E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3F622-5050-412F-B9CD-3D4254558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9667" y="1300900"/>
            <a:ext cx="6277387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mainframe era featured centralized computing managed by professional operators: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High reliability and strong control,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But limited flexibility.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Minicomputers later introduced departmental computing, increasing flexibility for smaller units within firms.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Mainframes remain essential in industries such as finance and healthcare for mission-critical, high-volume transaction processing and secure data handling.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6C9BA2-4505-C7D8-1161-86FDF389BCD8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595665-D339-9F8D-2DCC-08134A5A3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Mainframe and Minicomputer Era (1959–Present)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09CB64-F8DC-4D31-1760-C7AA4B148419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44A9FE-A2B9-0CD5-B76B-472268C6A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B9CB49-187D-D71E-0D1E-8B6323183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8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2050" name="Picture 2" descr="Iconic consoles of the IBM System/360 mainframes, 55 years old">
            <a:extLst>
              <a:ext uri="{FF2B5EF4-FFF2-40B4-BE49-F238E27FC236}">
                <a16:creationId xmlns:a16="http://schemas.microsoft.com/office/drawing/2014/main" id="{EF1515BB-5E9C-EB8D-8990-099DF9A9C0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70" y="1427532"/>
            <a:ext cx="4542367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6758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977BB-8B34-524E-6BD1-1BDBF3697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7EC2A-3F18-04B0-9A5B-92C8CF64C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8869" y="1300900"/>
            <a:ext cx="6358186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PC era decentralized computing by providing affordable access to data processing.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PCs became standard tools for productivity applications, such as spreadsheets and word processing.</a:t>
            </a:r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PC era empowered employees and departments to manage data independently of central IT departments, often outside formal governance structures.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2C59BC-13DC-BDE4-D6D6-435D5675FDDC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836931-7D64-366D-AA58-8D47D9DE0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</a:t>
            </a:r>
            <a:r>
              <a:rPr lang="it-IT" sz="4000" dirty="0">
                <a:solidFill>
                  <a:schemeClr val="bg1"/>
                </a:solidFill>
              </a:rPr>
              <a:t>Personal Computer Era (1981–Present)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4D8E20-F71E-9AE6-E2A4-A216BDCB94B6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C6D22A-9A9D-D068-29E0-A81E5EBAF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D5000A-465E-7E2C-B128-899C69BCC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9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3074" name="Picture 2" descr="The true story behind the IBM Personal Computer | IT Pro">
            <a:extLst>
              <a:ext uri="{FF2B5EF4-FFF2-40B4-BE49-F238E27FC236}">
                <a16:creationId xmlns:a16="http://schemas.microsoft.com/office/drawing/2014/main" id="{85C25934-8B6E-AB38-EBA2-E8D5480FE1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87" r="21609"/>
          <a:stretch>
            <a:fillRect/>
          </a:stretch>
        </p:blipFill>
        <p:spPr bwMode="auto">
          <a:xfrm>
            <a:off x="541771" y="1427532"/>
            <a:ext cx="4747098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3817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23471-6945-CEDD-21E2-C38D6F612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DBA9B-FB6F-9375-8C47-9708DC5DA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4804" y="1300900"/>
            <a:ext cx="6792250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client/server model connected PCs (clients) to more powerful server computers through networks.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Client: Devices that request access to services or resources.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Server: computers dedicated to performing common functions needed by clients on the network.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Servers typically carried out tasks such as: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File storage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Software applications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Printing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Internet Access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9F17BB-1172-0AEE-BDA3-27008463C5C8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818598-4C07-E06D-E956-72F5CEEE9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Client/Server Era (1983–Present)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D4960A-0F2A-0A1D-900D-FCB70C485B8A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97FCF-9460-8808-D328-B00BEEFA9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4CD070-8ADD-D891-963C-5C9B5D1F3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10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5122" name="Picture 2" descr="Client Server Network">
            <a:extLst>
              <a:ext uri="{FF2B5EF4-FFF2-40B4-BE49-F238E27FC236}">
                <a16:creationId xmlns:a16="http://schemas.microsoft.com/office/drawing/2014/main" id="{D90E1279-6994-B1C0-6A41-82979255E6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341" y="1861872"/>
            <a:ext cx="4114800" cy="3703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0755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9B860-AEC1-1B53-7C01-1DE5FD4FB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EBB0C-9E21-8770-0339-F48E4CC77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771" y="1300900"/>
            <a:ext cx="11105284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Processing tasks are divided between clients and servers, allowing workloads to be distributed efficiently across multiple, relatively inexpensive machines.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This model enabled firms to expand computing capacity without relying on costly centralized systems.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Client/server computing also laid the foundation for the development of the Internet.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This architecture allowed firms to scale computing incrementally rather than through large, centralized investments.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simplest model, a two-tier client/server architecture, consists of a single client computer and a single server computer.</a:t>
            </a:r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1F7775-8C30-719C-5542-34D06CA8AF46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08A41F-AF6F-9A32-116E-8EE0861C5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Client/Server Era: Distributed Processing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7D9296-5B1B-587C-4C61-14067386F855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0A3AEF-EFCC-14E7-33F5-BC2AAEFD0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FB4DD8-601E-430F-683D-AED1C609C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11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6651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630BF-5A62-B21F-BC69-864DBDE60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0E41B-742D-0E2B-64F0-AC23D0BDA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771" y="1300900"/>
            <a:ext cx="11105284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Modern businesses employ a multitiered (N-tier) client/server architecture that distributes computing and network workloads across multiple servers.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Web servers are responsible for locating and managing stored web pages and delivering them to clients in response to service requests.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Application servers handle application operations between browser-based clients and an organization’s back-end business applications or databases.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C29A9F-8851-82FD-F6B4-8CD68440E94E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9E682A-13F0-A1C7-FFE4-0946A5877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Client/Server Era: Multitier Architecture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AE9E68-DB92-99F1-2F44-A2FCFD16176C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D85314-64C0-7C52-63D6-34B52FFCE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67EF5A-564C-989F-6884-5D9A5A4DB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12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10" name="Picture 9" descr="A sequential flow diagram explains a multitiered (N-TIER) client or server network. Long description available in notes, press f6.">
            <a:extLst>
              <a:ext uri="{FF2B5EF4-FFF2-40B4-BE49-F238E27FC236}">
                <a16:creationId xmlns:a16="http://schemas.microsoft.com/office/drawing/2014/main" id="{44A0AEC2-700A-CDB5-5BCB-B4251D71D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561" y="3557990"/>
            <a:ext cx="60617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625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6F273-8DE1-FF49-5C0D-4FEE71A1D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DDFD9-EF03-DE64-F3BD-4A25ED656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2828" y="1300900"/>
            <a:ext cx="7057367" cy="5202528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Introduced network standards and protocols that allowed different hardware and networks to communicate seamlessly.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Organizations began integrating previously separate systems into enterprise-wide networks, enabling information to move freely across the firm.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This connectivity extended beyond the firm, linking organizations with suppliers, partners, and customers.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Emphasized integration and scalability, enabling firms to coordinate complex operations on a global scale.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C72064-A3A5-B580-D636-E35E4B0294FD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F1C20D-FA57-63AD-E880-EE4BE52B1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Enterprise Computing Era (1992–Present)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EE43A5-B9B6-34F3-2C31-E62AE9CCFB27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3E361A-47A9-B656-D3F2-033DF38D9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9D2747-54DF-99AD-72ED-18DA57F9C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13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6146" name="Picture 2" descr="What is TCP/IP? - Check Point Software">
            <a:extLst>
              <a:ext uri="{FF2B5EF4-FFF2-40B4-BE49-F238E27FC236}">
                <a16:creationId xmlns:a16="http://schemas.microsoft.com/office/drawing/2014/main" id="{59BE8BBA-253B-3EDF-5462-3ED16D6CA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71" y="1656132"/>
            <a:ext cx="41148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0627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79188-B7CE-8443-A57A-89237BBFA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A1A87-11A7-860F-9FB9-FF2208940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6455" y="1300900"/>
            <a:ext cx="7970600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In the cloud and mobile computing era, data and applications are stored in remote cloud data centers accessible through the Internet.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Users access resources from a wide range of devices, including computers, smartphones, and tablets, without maintaining local infrastructure.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Computing, storage, and application development take place in the cloud, while firms subscribe to services on demand.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This model allows organizations to scale resources flexibly, reduce costs, and support a mobile workforce operating from anywhere.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10D552-A676-9D59-949B-FD2DAA6D6A54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29D651-5D4F-4F33-D38B-939A9A073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Cloud and Mobile Computing Era (2000–Present)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3EF3F0-A484-502B-BAD9-09F0CF548569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B75839-568D-FA84-E61B-B29F1599B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FAC0F7-6D33-282C-AF8D-B7D9CA251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14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8194" name="Picture 2" descr="Free Cloud Data Center Icon - Free Download Network &amp; Communication Icons |  IconScout">
            <a:extLst>
              <a:ext uri="{FF2B5EF4-FFF2-40B4-BE49-F238E27FC236}">
                <a16:creationId xmlns:a16="http://schemas.microsoft.com/office/drawing/2014/main" id="{7A17CECB-8608-1831-1A3C-81E6BA4F57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81" r="13228"/>
          <a:stretch>
            <a:fillRect/>
          </a:stretch>
        </p:blipFill>
        <p:spPr bwMode="auto">
          <a:xfrm>
            <a:off x="541771" y="1656132"/>
            <a:ext cx="3011684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1200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63182-56A3-DE80-7A5B-D1AD064A4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AADC7-D548-17C0-5844-D15E5C078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771" y="1300900"/>
            <a:ext cx="11105284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Each new era builds upon the previous one rather than completely replacing it.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Mainframes continue to handle mission-critical operations, while cloud systems provide agility and global connectivity.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Understanding these eras helps explain how firms adapt infrastructure to changing technological and business needs.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Together, these successive technological eras have introduced components that form the backbone of today’s digital firms.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In the next section, we examine these infrastructure components in detail.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12679E-46B1-64F4-73C1-65FE7F188126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4F5394-56A8-DB3C-143C-F887B6216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IT Infrastructure Evolution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3B2CCB-9D9F-1DAD-8E4E-C95DE834B3DD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1CBEB6-7281-2848-B8D6-ADFC8531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73B8BA-E6F4-C832-4073-CA65673CC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15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17023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3D8842-7C21-8A0C-E2AE-34EF1A101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55F06D-6A54-48B8-DBE1-723A83404F36}"/>
              </a:ext>
            </a:extLst>
          </p:cNvPr>
          <p:cNvSpPr txBox="1"/>
          <p:nvPr/>
        </p:nvSpPr>
        <p:spPr>
          <a:xfrm>
            <a:off x="-1" y="3044279"/>
            <a:ext cx="121888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Mobile Platform, Apps, and BYOD</a:t>
            </a:r>
            <a:endParaRPr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7223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9CE10-7C4C-EAB4-623E-679E4E906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A84F4E7-9C10-E17A-9755-17FEC79539F3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2347EE-13BB-0B50-E587-60E861C2E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The Rise of Mobile Computing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D8DC87-03BC-D6A3-B448-94B598C92444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5AA105-1310-1445-FEEA-4596020C2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A635EC-5E15-488B-21DF-F2B1BE682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17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D318321-FBE7-AFBE-61DA-9F352B4EA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1648" y="970332"/>
            <a:ext cx="7765525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64536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88AF7-B77B-9CD2-E3C7-308ECEAF8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A6515-159F-FF58-A83B-A3C926603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328" y="1300900"/>
            <a:ext cx="6537727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Mobile computing has shifted computing from centralized infrastructure to distributed, user-level access.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Mobile devices now integrate directly with enterprise systems, extending corporate IT beyond physical office boundaries.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mobile platform includes a growing ecosystem of devices, operating systems, and applications.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For many users, mobile devices are now the primary means of accessing the Internet.</a:t>
            </a:r>
            <a:endParaRPr lang="en-US" altLang="zh-TW" sz="1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0DB148-3AD7-AAA1-DD2F-D248522F5ED8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42F6B1-BCC2-E360-10F5-D8922E4C9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The Mobile Platform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FDB570-E163-12F5-03D4-D8F91591529E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940A52-42C0-BA4F-6991-0C7993F88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D850F4-A495-E065-F73E-ED25B941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18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18434" name="Picture 2" descr="I Replaced My Computer With The M2 iPad Pro For A Week">
            <a:extLst>
              <a:ext uri="{FF2B5EF4-FFF2-40B4-BE49-F238E27FC236}">
                <a16:creationId xmlns:a16="http://schemas.microsoft.com/office/drawing/2014/main" id="{EDC16DAA-C144-3E80-290B-3F8AAE80BC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68" r="6835"/>
          <a:stretch>
            <a:fillRect/>
          </a:stretch>
        </p:blipFill>
        <p:spPr bwMode="auto">
          <a:xfrm>
            <a:off x="541770" y="1784023"/>
            <a:ext cx="4464996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6955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297DA-3F8D-140B-C71C-7BCDB76BA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4EAE9-4602-6263-E52C-431899C2D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770" y="1300900"/>
            <a:ext cx="11105285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Mobile devices have become operational tools embedded directly in core business processes.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Firms integrate mobile devices into enterprise workflows to enable real-time data access, coordination, and execution.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For example, sales managers use customized mobile dashboards to track performance, manage pricing, and coordinate logistics in real time.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Mobile computing enables faster decision-making, greater responsiveness, and improved field productivity.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2BCEEC-E916-A261-0CFB-6CD3157E6923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B2ECE8-E599-11AC-85DF-72CBFC97F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Business Uses of Mobile Devices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7675DC-660F-79FF-81E4-AA2CEA50EB13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ECD1EE-F43D-AA19-077E-C26A244A2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FE6B9-AF7F-56F3-F72A-6EA303DB1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19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3986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A4713-C0B1-ADDE-650A-67B6E7DAD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84CAB-16C0-32D5-8F2B-074EFA539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5315" y="1300900"/>
            <a:ext cx="6471739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Wearables extend the mobile platform from handheld interaction to continuous, embedded computing.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Devices include smartwatches, smart glasses, smart badges, and industrial sensors.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Wearables deliver real-time data and alerts at the point of activity, reducing coordination lag and decision delays.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As adoption increases, wearables are reshaping field operations, healthcare monitoring, logistics tracking, and industrial safety systems.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9CEB36-66EF-42C6-C54F-8D637632C418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6E6DB8-A3EA-6F49-7A21-F938EF4E8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Wearable Computing Devices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6225DC-C0A9-0FE5-6E82-2B66C7001B2A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0A3235-FAD8-D0D1-BD6D-A7F107771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E7A70F-1B90-FDB7-704A-DC179D151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20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19460" name="Picture 4">
            <a:extLst>
              <a:ext uri="{FF2B5EF4-FFF2-40B4-BE49-F238E27FC236}">
                <a16:creationId xmlns:a16="http://schemas.microsoft.com/office/drawing/2014/main" id="{180C516B-76BD-169C-8713-69C3231BE9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90" r="13357"/>
          <a:stretch>
            <a:fillRect/>
          </a:stretch>
        </p:blipFill>
        <p:spPr bwMode="auto">
          <a:xfrm>
            <a:off x="541771" y="1784023"/>
            <a:ext cx="4558381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1578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04BF3-ED38-2AB8-6092-D82DC8742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8103A-8A7B-DB00-9389-BAD28E1E2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3123" y="1300900"/>
            <a:ext cx="8543932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Apps are software interfaces that connect users to digital services and enterprise systems.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Apps transform mobile devices into gateways for commerce, communication, analytics, and operational control.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App ecosystems create platform-based competition, where operating systems compete on developer networks, user adoption, and integrated services.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U.S. adults now spend an average of 4.5 hours per day on mobile phones (Volz, 2024).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Companies increasingly redesign digital services to mirror the simplicity and usability of mobile apps.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1F3877-A864-6D32-FA5A-5B99CA4D8C9B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4B756F-6863-CD80-952C-665C387DB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Understanding Apps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4D230C-2E3C-194C-2AB3-09A879E76C61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196ADE-A1BC-5A75-91DF-246B82D24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0310A5-A4D1-8C13-01AD-4B5F54053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21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21508" name="Picture 4" descr="App Store vs. Google Play Store | Uxcel">
            <a:extLst>
              <a:ext uri="{FF2B5EF4-FFF2-40B4-BE49-F238E27FC236}">
                <a16:creationId xmlns:a16="http://schemas.microsoft.com/office/drawing/2014/main" id="{6F44B9E1-EE2D-13F7-6D94-8D66E33370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07" t="23972" r="52880" b="23830"/>
          <a:stretch>
            <a:fillRect/>
          </a:stretch>
        </p:blipFill>
        <p:spPr bwMode="auto">
          <a:xfrm>
            <a:off x="541770" y="3713532"/>
            <a:ext cx="2292212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App Store vs. Google Play Store | Uxcel">
            <a:extLst>
              <a:ext uri="{FF2B5EF4-FFF2-40B4-BE49-F238E27FC236}">
                <a16:creationId xmlns:a16="http://schemas.microsoft.com/office/drawing/2014/main" id="{25492B6C-C9D1-C38E-E86B-C11C68A2F3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867" t="23839" r="14420" b="23963"/>
          <a:stretch>
            <a:fillRect/>
          </a:stretch>
        </p:blipFill>
        <p:spPr bwMode="auto">
          <a:xfrm>
            <a:off x="541770" y="1427532"/>
            <a:ext cx="2292212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3818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C9EC2-1880-922E-0394-9708EE73C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6C633-ED99-2623-9D6C-58C955608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5464" y="1300900"/>
            <a:ext cx="6841591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success of a mobile platform depends on the breadth and quality of its app ecosystem.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Apps tie users to specific platforms, since iOS and Android applications are not fully cross-compatible.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As users invest in apps, data, and platform-specific services, switching costs increase, fostering long-term brand loyalty.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This interdependence between hardware and software ecosystems drives competition among mobile providers.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0D5A1F-234F-07A8-17FF-BBD67B4E164A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F3939B-8412-7893-709D-B58171DAF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Apps and Platform Dependence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CD7B36-0BA9-E87E-4D19-C40B998D04E3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C37AE5-98D0-A08C-7EF4-6901DF457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6D3ADE-2AC3-76A8-ADA4-DDC3BE459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22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23554" name="Picture 2" descr="I'm Trapped In Apple's Ecosystem, And I Kinda Like It - iLLGaming">
            <a:extLst>
              <a:ext uri="{FF2B5EF4-FFF2-40B4-BE49-F238E27FC236}">
                <a16:creationId xmlns:a16="http://schemas.microsoft.com/office/drawing/2014/main" id="{CA6C1C8A-4C2D-8CDB-582E-88CE4ED3D7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85" r="17816"/>
          <a:stretch>
            <a:fillRect/>
          </a:stretch>
        </p:blipFill>
        <p:spPr bwMode="auto">
          <a:xfrm>
            <a:off x="541770" y="1427532"/>
            <a:ext cx="417916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7732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FE332-993E-74DD-78A5-346A4EE03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FDFF4-4134-7DB3-EAB8-91829DEE4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770" y="1300900"/>
            <a:ext cx="11105285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</a:t>
            </a:r>
            <a:r>
              <a:rPr lang="en-US" altLang="zh-TW" sz="2400" b="1" dirty="0"/>
              <a:t>Consumerization of Information Technology </a:t>
            </a:r>
            <a:r>
              <a:rPr lang="en-US" altLang="zh-TW" sz="2400" dirty="0"/>
              <a:t>refers to the adoption of consumer technologies within business environments.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Employees are bringing consumer devices and applications, such as Gmail, Google Maps, Dropbox, Facebook, and TikTok, into the workplace.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This trend challenges the traditional model in which corporate IT departments selected and controlled all hardware and software.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Decision-making authority over technology is shifting from centralized IT departments to business units and individual users.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235019-6C65-82D8-6C7C-710392C74D05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ED71F5-4FC3-7628-44F7-797C005C4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The Consumerization of 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F215C8-5E93-2CCF-2523-4AE30832C0BC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494D8E-7D60-D250-B6DF-61A3D9B1B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6678DA-D1B9-534D-46FC-F07A3538F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23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43523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9DF7E-50FA-E70D-B429-AA1C5F70D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E4702-6475-34CC-B8CB-24775EC61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2272" y="1300900"/>
            <a:ext cx="7084783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BYOD movement encourages employees to use their own personal devices for work-related tasks and network access.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BYOD offers flexibility, convenience, and device familiarity, enabling employees to work seamlessly across personal and professional contexts.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Supporting multiple devices and operating systems increases system complexity.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Thousands of device models and OS versions create fragmentation and management challenges.</a:t>
            </a:r>
          </a:p>
          <a:p>
            <a:pPr marL="0" indent="0">
              <a:buNone/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CE15B5-49C7-A728-ECFF-2B234DBCAD17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13E589-ACE4-4382-30DA-AB6509DB3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Bring Your Own Device (BYOD)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1B5D30-C254-9593-7CD0-3EB4FB6986AF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20B3FE-658C-553A-1F20-B1055D736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09F668-8B0E-E624-0177-4792BFB94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24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24578" name="Picture 2" descr="Pros &amp; Cons of BYOD | EZComputer Solutions in Lancaster, PA">
            <a:extLst>
              <a:ext uri="{FF2B5EF4-FFF2-40B4-BE49-F238E27FC236}">
                <a16:creationId xmlns:a16="http://schemas.microsoft.com/office/drawing/2014/main" id="{F2461C98-0C0E-0A4A-D5E9-26F19BC93F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04" r="28807"/>
          <a:stretch>
            <a:fillRect/>
          </a:stretch>
        </p:blipFill>
        <p:spPr bwMode="auto">
          <a:xfrm>
            <a:off x="541770" y="1427532"/>
            <a:ext cx="3830266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9255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C3969-661E-D25B-340F-4AA462FE1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19417-613C-5375-8FD2-3AFE1FBA7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770" y="1300900"/>
            <a:ext cx="11105285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BYOD can create security vulnerabilities such as data loss, hacking, and unauthorized access to corporate networks.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Lost or stolen devices can expose sensitive data if not properly encrypted or remotely managed.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Companies must track employee devices, access permissions, software versions, and encryption standards to reduce breach risk.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Effective BYOD programs rely on: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Clear usage and security policies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Mobile device management (MDM) tools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Remote-wipe and encryption technologies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Employee training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core trade-off: Employee flexibility and productivity vs. organizational control and security.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4F5D67-F47F-1CEC-EE43-BFCE86F4FEB4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2F5A2C-0DA4-CEA5-339B-1B920A2B5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Risks and Management of BYOD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F7B56A-41C0-E77A-CB50-222D4B20E424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6A9666-275E-1621-025E-EE5D603D0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59B7DD-7AE6-A33C-5F08-1A9EA691E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25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59363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027BAB-0745-AF2D-CCC5-7559B019F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460345-6334-D025-154C-60F4F9E6BDAB}"/>
              </a:ext>
            </a:extLst>
          </p:cNvPr>
          <p:cNvSpPr txBox="1"/>
          <p:nvPr/>
        </p:nvSpPr>
        <p:spPr>
          <a:xfrm>
            <a:off x="0" y="2705725"/>
            <a:ext cx="1218882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Quantum Computing and</a:t>
            </a:r>
            <a:br>
              <a:rPr lang="en-US" sz="4400" dirty="0">
                <a:solidFill>
                  <a:schemeClr val="bg1"/>
                </a:solidFill>
              </a:rPr>
            </a:br>
            <a:r>
              <a:rPr lang="en-US" sz="4400" dirty="0">
                <a:solidFill>
                  <a:schemeClr val="bg1"/>
                </a:solidFill>
              </a:rPr>
              <a:t>Green Computing</a:t>
            </a:r>
            <a:endParaRPr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79504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00B5B-6621-BB96-E33E-EB4DB25A1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96497-167F-FD37-AAED-BF805DA60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770" y="1300900"/>
            <a:ext cx="11105285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Two major trends are reshaping IT infrastructure: Quantum computing and Green computing.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Quantum computing explores how data can be processed at the subatomic level, potentially enabling dramatic increases in computational speed and capacity.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Green computing emphasizes energy efficiency and environmental responsibility in the design and management of hardware, software, and data centers.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Together, these trends reflect the drive toward computing that is both more powerful and more sustainable.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116294-0F0C-1A53-48EC-381F47B9B97B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F40F0B-11E7-8923-49FB-8415F63C6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Emerging Trends in IT Infrastructure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380240-75FB-B615-25D2-DAE7F1649660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F025F4-EFC2-29D3-3C6B-8330F2365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84654D-FBAA-4F8F-F60E-A88170A11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27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69919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B7351-204F-6AF5-BEC0-27B049546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03920-B01C-E398-AB69-FE0FAFE3C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4734" y="1300900"/>
            <a:ext cx="7942320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Quantum computing applies the principles of quantum mechanics, where matter and light behave differently at atomic and subatomic scales.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While classical computers use bits that represent either 0 or 1, quantum computers use qubits, which can exist in 0, 1, or a combination of both states simultaneously.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This property, known as superposition, allows quantum systems to explore many possible solutions at once.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For certain types of problems, quantum computers have the potential to outperform today’s most advanced supercomputers.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F52827-FDCD-0429-2244-0C976E4EA8B5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14951-B211-BB48-4137-89F332262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What Is Quantum Computing?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22179F-B818-7B93-0C57-CFD5E5D47455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9E1515-C8AF-C705-1163-941501B9B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E12CBD-3058-2B3A-69BC-170B85538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28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30724" name="Picture 4" descr="Quantum Computing Advance Begins New Era, IBM Says - The New York Times">
            <a:extLst>
              <a:ext uri="{FF2B5EF4-FFF2-40B4-BE49-F238E27FC236}">
                <a16:creationId xmlns:a16="http://schemas.microsoft.com/office/drawing/2014/main" id="{C3B4F267-0700-50C6-0F2F-3DCE41711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69" y="1427532"/>
            <a:ext cx="3048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767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05E72-E5FF-0B0D-6769-07E9D55E3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F9F2BE-B21C-4B0A-F098-7D6B31F94FF5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A82AF6-83A7-1F68-0268-231E4B653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2200" dirty="0">
                <a:solidFill>
                  <a:schemeClr val="bg1"/>
                </a:solidFill>
              </a:rPr>
              <a:t>  </a:t>
            </a:r>
            <a:r>
              <a:rPr lang="en-US" sz="2200" dirty="0" err="1">
                <a:solidFill>
                  <a:schemeClr val="bg1"/>
                </a:solidFill>
              </a:rPr>
              <a:t>Kurzgesagt</a:t>
            </a:r>
            <a:r>
              <a:rPr lang="en-US" sz="2200" dirty="0">
                <a:solidFill>
                  <a:schemeClr val="bg1"/>
                </a:solidFill>
              </a:rPr>
              <a:t> – In a Nutshell (2015, December 8). </a:t>
            </a:r>
            <a:r>
              <a:rPr lang="en-US" sz="2200" i="1" dirty="0">
                <a:solidFill>
                  <a:schemeClr val="bg1"/>
                </a:solidFill>
              </a:rPr>
              <a:t>Quantum Computers Explained – Limits of  </a:t>
            </a:r>
            <a:br>
              <a:rPr lang="en-US" sz="2200" i="1" dirty="0">
                <a:solidFill>
                  <a:schemeClr val="bg1"/>
                </a:solidFill>
              </a:rPr>
            </a:br>
            <a:r>
              <a:rPr lang="en-US" sz="2200" i="1" dirty="0">
                <a:solidFill>
                  <a:schemeClr val="bg1"/>
                </a:solidFill>
              </a:rPr>
              <a:t>  Human Technology </a:t>
            </a:r>
            <a:r>
              <a:rPr lang="en-US" sz="2200" dirty="0">
                <a:solidFill>
                  <a:schemeClr val="bg1"/>
                </a:solidFill>
              </a:rPr>
              <a:t>[Video]. YouTube. https://youtu.be/JhHMJCUmq28?si=c_xo7R0nTctnqW1u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B0B5FD-77F9-6B4D-9E37-7BBAC319C239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2762A-D6B9-9462-BA1E-BB7CC3FB5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011B06-E085-81EA-49C1-B2BBD45BF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29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9" name="Online Media 8" title="Quantum Computers Explained – Limits of Human Technology">
            <a:hlinkClick r:id="" action="ppaction://media"/>
            <a:extLst>
              <a:ext uri="{FF2B5EF4-FFF2-40B4-BE49-F238E27FC236}">
                <a16:creationId xmlns:a16="http://schemas.microsoft.com/office/drawing/2014/main" id="{0190B38B-A6A3-351D-881B-D9937D0280F7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239190" y="970332"/>
            <a:ext cx="9710442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715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7893F-E98F-3407-41B8-50956C442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8277C-68DE-2BAF-0777-600F2C42C5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3925" y="1300900"/>
            <a:ext cx="6913129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Quantum computers derive their power from: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Superposition, allowing qubits to exist in multiple states simultaneously.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Entanglement, where qubits become correlated in ways that classical bits cannot.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These properties make quantum systems especially promising for problems involving optimization, cryptography, and molecular simulation.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However, most quantum systems remain experimental as researchers work to improve stability, scalability, and error correction.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2A3D4C-F270-E507-B738-1C58BE272EAB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710753-AE0E-5825-7BE6-3C35EFB47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How Quantum Computing Works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2536FF-F88D-641D-BD6E-14B990A02DEA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EC5201-A4C1-7DD7-AAC4-ECF46A7B2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A6AE50-3E10-5261-A777-AD0CBBDF4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30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34818" name="Picture 2" descr="What is Schrodinger's cat? | New Scientist">
            <a:extLst>
              <a:ext uri="{FF2B5EF4-FFF2-40B4-BE49-F238E27FC236}">
                <a16:creationId xmlns:a16="http://schemas.microsoft.com/office/drawing/2014/main" id="{A7986463-8E12-467E-D9B6-9F6E698E87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72" r="20763"/>
          <a:stretch>
            <a:fillRect/>
          </a:stretch>
        </p:blipFill>
        <p:spPr bwMode="auto">
          <a:xfrm>
            <a:off x="541769" y="1784023"/>
            <a:ext cx="4108578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2035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7607D-A1FE-55C3-491D-933F68EE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D19F3-AC56-6904-E615-F8A78CC6A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769" y="1300900"/>
            <a:ext cx="11105285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Benefits: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For certain problems, quantum algorithms may provide exponential or dramatic speedups compared to classical methods.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Particularly promising for optimization, cryptography, material science, and complex simulations.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May accelerate specific AI and machine learning tasks in the future.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Limitations: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Requires extreme cooling and specialized infrastructure, making systems expensive and energy-intensive.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Qubits are fragile and prone to noise, requiring advanced error correction.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Practical, large-scale quantum advantage has not yet been achieved for most business applications.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Could disrupt existing encryption standards, raising long-term cybersecurity concerns.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AC2F26-E5E1-4858-7B6E-D49B3DC9084A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E9F5E8-8098-EBB3-15B3-2DFBD121C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Benefits and Limitations of Quantum Computing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83E5AB-3C2F-2651-430F-A9ED69885FB8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25E7E4-CE17-2F24-C6B1-295080D26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7838EE-A3B5-5BF6-D386-498B87730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31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25917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22679-0130-6118-42AF-CEFEF1A2D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520C9-20F5-4E53-037F-7614EBCF4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6268" y="1300900"/>
            <a:ext cx="6980786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Green computing, or green IT, focuses on minimizing the environmental impact of information technology across its entire lifecycle.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It encompasses the design, operation, and disposal of hardware, software, and data centers to reduce energy consumption, carbon emissions, and electronic waste.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For organizations, sustainability initiatives often align with cost reduction, regulatory compliance, and corporate social responsibility goals.</a:t>
            </a:r>
            <a:endParaRPr lang="en-US" altLang="zh-TW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C1F424-79A6-DB07-9186-5ADDF18E02A2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3B7B93-2646-AD1E-AF26-A2BDD5D5F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Introducing Green Computing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BE63B4-AC9B-E949-6B7C-0006404F24CE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029E8D-A808-A59C-143F-E100C9C24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5DF8C-9FFE-761C-0A6C-05901CBEC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32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37890" name="Picture 2" descr="What is Green Computing? - Webline Services Inc">
            <a:extLst>
              <a:ext uri="{FF2B5EF4-FFF2-40B4-BE49-F238E27FC236}">
                <a16:creationId xmlns:a16="http://schemas.microsoft.com/office/drawing/2014/main" id="{8C3D2D0B-7197-331B-9212-E3DE88BC4B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10" r="19403"/>
          <a:stretch>
            <a:fillRect/>
          </a:stretch>
        </p:blipFill>
        <p:spPr bwMode="auto">
          <a:xfrm>
            <a:off x="541769" y="1427532"/>
            <a:ext cx="3979586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9828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EA7AB-882F-CA2F-804F-4CA8BE033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CCCB6-BA03-92D5-6C3C-075C1BF00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1171" y="1300900"/>
            <a:ext cx="7225883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Modern data centers can consume more than 100 times the electricity of a standard office building, significantly increasing operational costs and carbon emissions.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U.S. residential electricity consumption in 2023 totaled approximately 1,450 TWh.</a:t>
            </a:r>
          </a:p>
          <a:p>
            <a:pPr marL="1371600" lvl="3" indent="0">
              <a:buNone/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Rising demand for AI, cloud services, and streaming is accelerating data center power consumption.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To address these challenges, firms are investing in: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Energy-efficient cooling systems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Renewable energy sources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Low-power and specialized processors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2FCC5D-0A30-6E03-8D0D-A81C5A2C2B50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A7C3B6-44B6-6511-E6D2-704DC0E09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Data Centers and Energy Use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62FC26-D218-24B7-DAC6-EB61AF0E8213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3467BC-773A-9CE6-2E8C-FDFEC5D97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EDB251-D4FE-09FC-04AF-D8F0F66A5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33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0ACBCD6-8628-21C0-AF3D-8BCB5F20A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69" y="1427532"/>
            <a:ext cx="3753556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615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283B2-5E7E-E1D8-942F-475FCDF17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B895D-1D0F-04C3-7349-E5FB35921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5225" y="1300900"/>
            <a:ext cx="7941829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Energy-efficient hardware: 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Use devices and processors that minimize power consumption.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E-waste reduction: 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Recycle and properly dispose of outdated electronics under environmental regulations.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Optimized systems: 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Apply IoT sensors and AI tools to manage energy use in data centers automatically.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Renewable energy: 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Use wind, hydroelectric, or geothermal power to operate computing facilities sustainably.</a:t>
            </a:r>
            <a:endParaRPr lang="en-US" altLang="zh-TW" sz="1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52454E-8A29-05CB-0AAA-138155959719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50688C-6EAA-394F-8EF3-72CC6D271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Green Computing Practices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384FA9-6BB8-B480-921E-8507165A10F5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906C82-68AB-1691-CF85-74ED55B88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08E999-813D-3F60-F2D9-60E2A4600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34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39940" name="Picture 4" descr="Recycle Electronics Go Green: Learn About E-Waste Recycling - The Home Depot  Battery Bucket">
            <a:extLst>
              <a:ext uri="{FF2B5EF4-FFF2-40B4-BE49-F238E27FC236}">
                <a16:creationId xmlns:a16="http://schemas.microsoft.com/office/drawing/2014/main" id="{66C20BAA-81C4-33A1-0118-A296F34C87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34" r="22603"/>
          <a:stretch>
            <a:fillRect/>
          </a:stretch>
        </p:blipFill>
        <p:spPr bwMode="auto">
          <a:xfrm>
            <a:off x="541771" y="1427532"/>
            <a:ext cx="3066372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344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18F08-E651-FBBD-BF36-6F040D3C1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10327-0D2B-1BE6-7C03-4BC58DB2D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893" y="1300900"/>
            <a:ext cx="8027161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Sustainable software tools: 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Use applications that measure digital emissions and promote energy-efficient system design.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8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Green coding practices: 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Optimize algorithms and reduce code complexity to conserve processing power and memory usage.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8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Server virtualization: 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Run multiple virtual machines on a single physical server to improve utilization and reduce CO₂ emissions.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8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Remote and digital work models: 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Lower commuting and building energy consumption through cloud platforms and virtual collaboration tools..</a:t>
            </a:r>
            <a:endParaRPr lang="en-US" altLang="zh-TW" sz="1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C2DC2B-3F2E-CC5D-055E-082EF34787DB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6C0A3-9396-7C8F-F4D8-A40BAA4D0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Sustainable Software and Virtualization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E8FC5B-D5B3-7F5D-0EB1-25718A8A1E02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72E7AD-D5EA-8152-7B89-D3A686006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7CB104-7682-BFD4-A664-CB87E014A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35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40962" name="Picture 2" descr="Use Clean Energy Charging on your iPhone - Apple Support">
            <a:extLst>
              <a:ext uri="{FF2B5EF4-FFF2-40B4-BE49-F238E27FC236}">
                <a16:creationId xmlns:a16="http://schemas.microsoft.com/office/drawing/2014/main" id="{BE6031B4-0CF5-8A44-9266-CB488FC013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69" y="1427532"/>
            <a:ext cx="2861733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986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9CBC6-3F92-7860-5584-BF362C72E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D48A5-DCB0-12A3-3903-00E4EC47D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769" y="1300900"/>
            <a:ext cx="11105285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AI growth and data expansion are accelerating energy consumption and electronic waste challenges.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Firms must balance the pursuit of computing power with responsible stewardship of environmental resources.</a:t>
            </a:r>
          </a:p>
          <a:p>
            <a:pPr marL="1371600" lvl="3" indent="0">
              <a:buNone/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High-performance and sustainable computing increasingly require rethinking how infrastructure is structured and delivered.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next section examines virtualization and cloud computing, which enable scalability, flexibility, and more efficient use of energy and capital.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5E8CA6-74CC-3AB0-96C3-B98ED8139C41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E8F37B-E560-153E-C325-77D046B6F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The Future of Sustainable Computing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8B2D58-4220-7202-4006-C1737909E60C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BE0E3A-62E5-9473-E99D-A6694A643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AA8259-694D-4787-EAFE-1D0F53124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36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36204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D4205C-51DD-6358-9DE5-64BE8AC43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4A5389-BDC4-2CAB-370F-EFCD71884E02}"/>
              </a:ext>
            </a:extLst>
          </p:cNvPr>
          <p:cNvSpPr txBox="1"/>
          <p:nvPr/>
        </p:nvSpPr>
        <p:spPr>
          <a:xfrm>
            <a:off x="-1" y="3044279"/>
            <a:ext cx="121888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Virtualization and Cloud Computing</a:t>
            </a:r>
            <a:endParaRPr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40855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EFDD7-2B55-EDF6-58D3-D882A9E82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C01EC-2A7A-EEC8-B96D-E7115ACAA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769" y="1300900"/>
            <a:ext cx="11105285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Virtualization uses software to create multiple logical systems from a single physical machine.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 single server can run multiple operating systems, each functioning as an independent virtual server.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To users and applications, each virtual machine appears as a separate physical computer.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Why it matters for managers: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Improves hardware utilization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Reduces energy consumption and cost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Enables flexible deployment and rapid scaling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Forms the foundation of cloud computing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349B1F-72BC-8150-A534-AEF0A3C74981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319594-9D91-0D6F-7A41-544AF847F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Virtualization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F2921E-3F45-C954-F745-E77034A8DFF2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B55AE5-C171-B132-0364-6F333B9A2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975D1E-F0E9-959E-98CB-EFF0363D0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38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10145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B16F0-436F-FF1C-4C16-FC59AF449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0B6C0-5A25-EC9A-CE4F-6823D185F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4401" y="1300900"/>
            <a:ext cx="6922654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Cost Reduction: 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Fewer servers are needed as utilization rates rise from 15~20 percent to as high as 70 percent.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8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Space and Energy Savings: 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Consolidating servers reduces data-center footprint and power consumption.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8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Simplified Administration: 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Hardware resources can be centrally managed and allocated dynamically.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8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Scalability: 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New virtual machines can be created quickly to meet changes in demand.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CEC905-B8D7-D006-915F-05F72C4A2207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00748-D671-FE93-2B84-F3716986C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Benefits of Virtualization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E0CB53-CB75-0B35-3A0E-F078C322B892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B5876-8F13-1BD7-64BA-870E27C29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6138AA-C21E-4635-AFBB-4BEC91C8A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39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47106" name="Picture 2" descr="Virtualization – Techpro Global Group | Network Security &amp; IT Solutions  Provider">
            <a:extLst>
              <a:ext uri="{FF2B5EF4-FFF2-40B4-BE49-F238E27FC236}">
                <a16:creationId xmlns:a16="http://schemas.microsoft.com/office/drawing/2014/main" id="{D9A20A62-1437-8AC8-1D14-A11AAF28D0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71" y="1656132"/>
            <a:ext cx="41148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1496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7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A2C47-72F8-CFB9-6A33-4324C62C9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51412-0AF0-65A6-0106-C5F1BAEEB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0871" y="1300900"/>
            <a:ext cx="6876183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Storage Virtualization: 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Physical storage devices are pooled into a single logical resource managed by software.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8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Decoupling Hardware and Control: 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SDS separates storage management software from the underlying physical hardware.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8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Cost and Flexibility Gains: 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Firms can use lower-cost commodity hardware while dynamically allocating storage where it is needed.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8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Strategic Impact: 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SDS extends virtualization principles to data infrastructure, increasing scalability, efficiency, and resilience.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D74D9E-C93F-AAAF-2E7A-83433ACAE274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0E341B-B9D6-F61B-BC7E-C3BCB55CB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Software-Defined Storage (SDS)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2D8306-359B-398A-0FC7-11E9978400DF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87B050-DEFA-DB38-8248-B91D2CBCA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F8475F-697D-0CD4-3A99-BA473F443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40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49154" name="Picture 2" descr="What is software-defined storage?">
            <a:extLst>
              <a:ext uri="{FF2B5EF4-FFF2-40B4-BE49-F238E27FC236}">
                <a16:creationId xmlns:a16="http://schemas.microsoft.com/office/drawing/2014/main" id="{62C35F66-742D-E012-58AE-E8BBDDE6ED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71" y="2126923"/>
            <a:ext cx="42291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6919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9E9DB-3C80-5AB5-150F-E54A86F61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3BA75-FCA2-30C1-997C-A6D9BC7C0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769" y="1300900"/>
            <a:ext cx="11105285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Virtualization abstracts physical hardware into scalable, shareable logical resources.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Cloud computing builds on this abstraction to deliver computing power on demand.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Without virtualization: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Providers would dedicate entire servers to individual clients.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Hardware utilization would remain low.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Scaling would require manual physical reconfiguration.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Result: Virtualization enables the cost efficiency, elasticity, and rapid provisioning that define the cloud model.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8FAAC3-8812-4CF2-2691-8411DF5337B4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D00E95-9C26-D476-A2DE-6E3E967AB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Virtualization and Cloud Computing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91B323-08EB-22C7-E182-C64B3E00E6AE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798EC-23CB-4BAE-9C97-5C80AE02B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3967F7-92C6-AF69-42FF-A6F5C36BC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41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74537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8DCAD-C445-7719-65AF-6CA823025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7F89C-E1F1-187C-4BA5-E7C205C58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2551" y="1300900"/>
            <a:ext cx="6484504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Cloud computing delivers computing power, storage, and software as on-demand virtualized services over the Internet.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Users access a shared pool of scalable resources from any device or location.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For firms, this shifts computing from owning hardware to renting capacity as needed.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Implication: Cloud computing converts fixed IT costs into flexible operating expenses and enables rapid scaling.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A31CAB-16CF-ED98-9E2B-439E1698236B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750629-1FAC-77AA-30B5-E9EA2C508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Cloud Computing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365697-3D56-DE68-9D4D-1E804114F264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114919-94CE-82AF-496B-B9B3D63FE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4F5E3A-91C2-23A4-2F16-440DB1543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42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50178" name="Picture 2" descr="undefined">
            <a:extLst>
              <a:ext uri="{FF2B5EF4-FFF2-40B4-BE49-F238E27FC236}">
                <a16:creationId xmlns:a16="http://schemas.microsoft.com/office/drawing/2014/main" id="{2FD1A0B2-2AD4-F25D-8F9A-388FD3E5E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71" y="1656132"/>
            <a:ext cx="4540568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0491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20981-1DB4-7A3C-F4BF-CD00D7F3A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A3121-DFEB-2997-ADD5-2C5E139FB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769" y="1300900"/>
            <a:ext cx="11105285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U.S. National Institute of Standards and Technology identifies five essential characteristics: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On-demand Self-service: Users can provision computing resources automatically.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Ubiquitous Network Access: Services are accessible via standard Internet-connected devices.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Resource Pooling: Providers dynamically allocate shared resources across multiple users.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Rapid Elasticity: Capacity scales up or down quickly based on demand.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Measured Service: Usage is monitored and billed based on actual consumption.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4340A1-C54E-AA63-6950-8AA33D00D8FD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7FD9DB-9C9B-DC51-BF7C-721137C1A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Characteristics of Cloud Computing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DDF2CB-399F-CF34-D892-BBD029B33028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EB730C-E61F-6328-815F-C7CDD6D18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82D980-C153-F649-9051-B6CDAB122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43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52228" name="Picture 4" descr="National Institute of Standards and Technology | Inclusive Graduate  Education Network">
            <a:extLst>
              <a:ext uri="{FF2B5EF4-FFF2-40B4-BE49-F238E27FC236}">
                <a16:creationId xmlns:a16="http://schemas.microsoft.com/office/drawing/2014/main" id="{5D47FB59-A568-6CD5-5D17-CF3B445C76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6811" y="4736641"/>
            <a:ext cx="7315200" cy="961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604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B4F36-C9F2-80AF-9A8D-33C562E40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D541A-4DB5-0197-3C02-049F8BE91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175" y="1300900"/>
            <a:ext cx="6055879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Infrastructure as a Service (IaaS): 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Firms rent computing infrastructure (servers, storage, networking) instead of owning hardware.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i="1" dirty="0"/>
              <a:t>e.g., Amazon Web Services (AWS).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8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Platform as a Service (PaaS): 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Providers supply infrastructure and development tools for building and testing applications.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i="1" dirty="0"/>
              <a:t>e.g., Microsoft Azure, Salesforce Platform.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8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Software as a Service (SaaS): 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Users access fully managed applications over the Internet.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i="1" dirty="0"/>
              <a:t>e.g., Google Workspace, Microsoft 365, Salesforce CRM.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DEA940-2DA9-0D1C-EFDE-1B9ECA963200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ECDFDD-BF28-1536-B094-FA2060C87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Types of Cloud Services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A2625D-E4A7-F6C3-92B0-D5A5BF49D03C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9048F8-1B6E-DB8A-0424-B94D4C3F5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0B41CD-5357-F78F-1C9E-EAC70F011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44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53256" name="Picture 8" descr="IaaS, PaaS &amp; SaaS: Everything You Need To Know | IR">
            <a:extLst>
              <a:ext uri="{FF2B5EF4-FFF2-40B4-BE49-F238E27FC236}">
                <a16:creationId xmlns:a16="http://schemas.microsoft.com/office/drawing/2014/main" id="{F4278C65-9CD1-3D1E-315F-A62D6D1BC8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384" y="2012623"/>
            <a:ext cx="4936913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6768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5D29A-F673-ED3F-1D7E-09FBFAFAE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4FE2C-C271-C365-CD70-98E8918BF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769" y="1300900"/>
            <a:ext cx="11105285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Advantages: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Elastic scalability: Instantly scale computing resources up or down.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Cost efficiency: Pay-for-use pricing and economies of scale.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 Operational outsourcing: Providers handle infrastructure maintenance.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Accessibility: Enterprise-grade tools available to firms of all sizes.</a:t>
            </a:r>
          </a:p>
          <a:p>
            <a:pPr lvl="4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Challenges: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Data control: Sensitive information resides with external providers.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Security and reliability: Outages or breaches can halt operations.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Cost unpredictability: Usage spikes may create unexpected expenses.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Vendor lock-in: Switching providers can be difficult and costly.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Integration complexity: Legacy systems may require redevelopment.</a:t>
            </a: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2B74BA-2A30-9817-A286-D7E1BC37086D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73EF5C-05CD-47B9-6972-5800D9B67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Advantages and Challenges of Cloud Computing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06AE81-37F2-1C90-22E5-71FE415738D7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81927C-9D6C-BEE7-2B37-7D63F8E03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8C2C29-5C14-81B3-AA0B-AB5B9C259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45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00142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62A58-F229-1059-4C4D-4B4787E9F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5BFBF-A15D-C4DD-AE79-B604BCBB9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769" y="1300900"/>
            <a:ext cx="11105285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Many large firms adopt a hybrid model, keeping sensitive workloads on private servers while using public clouds for less critical tasks.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This approach balances security, performance, and cost.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On-demand computing allows firms to provision resources instantly and pay only for what they use.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Hybrid architectures are increasingly common among mid-sized and large organizations.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Major providers such as AWS, Microsoft Azure, Google Cloud Platform, and Salesforce offer integrated AI services.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These include tools for natural-language processing, image recognition, and predictive analytics delivered through the cloud.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Cloud-based AI lowers the barrier to entry for machine learning by providing scalable computing power and pretrained models.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1BF362-1748-3ABE-6625-4FF90335B5A8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F8C0D6-3BEE-6FF8-9159-6BA96B090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Hybrid Cloud and On-Demand Computing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7E5033-8039-A22D-B1EE-12E5F15D2C7F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3438F0-11F5-926C-D1A5-7877804D2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522B41-211B-58FB-D1A5-75CDA2D6B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46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37653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ABE82-1204-7A60-8A0C-752B9B1D4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E373D9-65A4-B945-1AAB-F5AD70D5A58C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1B3222-C31F-A415-04C6-C17DB4526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2000" dirty="0">
                <a:solidFill>
                  <a:schemeClr val="bg1"/>
                </a:solidFill>
              </a:rPr>
              <a:t>  </a:t>
            </a:r>
            <a:r>
              <a:rPr lang="en-US" sz="2400" dirty="0">
                <a:solidFill>
                  <a:schemeClr val="bg1"/>
                </a:solidFill>
              </a:rPr>
              <a:t>Accenture (2022, October 18).</a:t>
            </a:r>
            <a:r>
              <a:rPr lang="en-US" sz="2400" i="1" dirty="0">
                <a:solidFill>
                  <a:schemeClr val="bg1"/>
                </a:solidFill>
              </a:rPr>
              <a:t> What is Edge Computing? </a:t>
            </a:r>
            <a:r>
              <a:rPr lang="en-US" sz="2400" dirty="0">
                <a:solidFill>
                  <a:schemeClr val="bg1"/>
                </a:solidFill>
              </a:rPr>
              <a:t>[Video]. YouTube.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  https://youtu.be/WMvb9LLXzUs?si=-44kOZLrcatKb_NL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2D1375-2313-FE6D-2E6D-726CEFEC7564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CF6068-A615-27C0-2461-0095010F9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54B891-B47F-3D34-8A15-9129F5B06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47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8" name="Online Media 7" title="What is Edge Computing?">
            <a:hlinkClick r:id="" action="ppaction://media"/>
            <a:extLst>
              <a:ext uri="{FF2B5EF4-FFF2-40B4-BE49-F238E27FC236}">
                <a16:creationId xmlns:a16="http://schemas.microsoft.com/office/drawing/2014/main" id="{80143732-6573-9677-3307-3E7A72F83F9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239201" y="970332"/>
            <a:ext cx="971042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505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E9FC5-1FA2-033B-6CAC-71CB5914B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1A203-F49A-75C5-AD30-EB5F22EFA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769" y="1300900"/>
            <a:ext cx="11105285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Edge computing processes data closer to its source instead of sending everything to distant data centers.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This approach reduces network delays and bandwidth costs.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It is especially valuable for IoT applications, where sensors or devices generate large volumes of data.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Examples include oil rig sensors and autonomous vehicles that require real-time data processing.</a:t>
            </a:r>
          </a:p>
          <a:p>
            <a:pPr lvl="4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Benefits of Edge Computing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Reduced Latency: Processing near the data source speeds response times for time-sensitive applications.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Lower Network Load: Only essential data are transmitted to the central cloud.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Improved Reliability: Local systems can continue operating even if cloud connectivity is interrupted.</a:t>
            </a:r>
          </a:p>
          <a:p>
            <a:pPr lvl="4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After examining how infrastructure technologies evolved, we now shift to the managerial question: How should firms govern and invest in these technologies?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96993A-7661-1DE8-4792-DE27DF42232F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193085-C994-4771-6BB2-51437631E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Edge Computing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FB65ED-658F-28A8-E9B0-F03D96771F76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925583-8474-4653-62B2-A716F1AB1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9943E7-0643-1464-91FF-833F7460D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48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8372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93BEBD-0F9C-00A8-7238-F534562E6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E75226-9575-4DAE-C2A8-A1FF4706C8F4}"/>
              </a:ext>
            </a:extLst>
          </p:cNvPr>
          <p:cNvSpPr txBox="1"/>
          <p:nvPr/>
        </p:nvSpPr>
        <p:spPr>
          <a:xfrm>
            <a:off x="-1" y="3044279"/>
            <a:ext cx="121888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Infrastructure Management</a:t>
            </a:r>
            <a:endParaRPr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13753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CD436-D2F4-8CA1-7CB7-211F618D8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4494F-6594-E46D-EF60-8D2F6C34F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769" y="1300900"/>
            <a:ext cx="11105285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Building and managing a coherent IT infrastructure presents ongoing challenges for every organization.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Firms must navigate technological change, governance and management decisions, and infrastructure investment strategies.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These challenges determine how efficiently and securely a company operates in an increasingly digital environment.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As firms expand, they often outgrow their existing IT infrastructure, and when they contract, they may retain excess capacity.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Key Question: How can firms remain flexible when infrastructure investments are often fixed costs?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79D4B8-19EA-C1C3-65D3-F26592E3A5D1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1893F4-E003-FD39-DBAE-8C1AA6A29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Managing Modern IT Infrastructure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546DE9-DC03-19DD-35EE-63A17CE80F86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5D483D-655F-DA3A-D457-A586D7860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FD9387-E659-D8FD-58CC-D896782F9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50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86817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51BA4-173A-74AC-3430-C468DCA31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DC033-B9D2-6517-0BDE-14C475BB1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8429" y="1300900"/>
            <a:ext cx="7838625" cy="5202528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Scalability refers to the ability to expand systems to accommodate more users or applications.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Designing and maintaining scalable IT infrastructure helps firms manage fluctuations effectively.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It ensures systems can handle growth from new applications, mergers, and increased business volume.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Poor scalability can lead to performance failures or underutilized systems.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Infrastructure planning must anticipate future capacity needs and align them with strategic goals.</a:t>
            </a:r>
          </a:p>
          <a:p>
            <a:pPr lvl="4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Horizontal vs. Vertical Scalability.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9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BE56BF-CE5B-3D89-9723-2232C73ED21F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5BBF8B-5E1F-A82B-592A-6455585BC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Dealing with Platform and Infrastructure Change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B303E4-21D4-5528-B663-A9B92374F096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6BA0BB-49B8-744E-168A-30C1709CD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3C6BA-F6FC-4149-15A3-2BDA162A2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51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1026" name="Picture 2" descr="How to Build a Scalable Website: Planning for Growth | Orbit Media Studios">
            <a:extLst>
              <a:ext uri="{FF2B5EF4-FFF2-40B4-BE49-F238E27FC236}">
                <a16:creationId xmlns:a16="http://schemas.microsoft.com/office/drawing/2014/main" id="{2D8A73EA-5395-9B25-23C3-18D509FF73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81" t="22182" r="51443" b="16787"/>
          <a:stretch/>
        </p:blipFill>
        <p:spPr bwMode="auto">
          <a:xfrm>
            <a:off x="541762" y="1244338"/>
            <a:ext cx="3200400" cy="2722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ow to Build a Scalable Website: Planning for Growth | Orbit Media Studios">
            <a:extLst>
              <a:ext uri="{FF2B5EF4-FFF2-40B4-BE49-F238E27FC236}">
                <a16:creationId xmlns:a16="http://schemas.microsoft.com/office/drawing/2014/main" id="{084C3BF0-0939-7842-0314-D7C725595D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887" t="28900" r="11238" b="14932"/>
          <a:stretch/>
        </p:blipFill>
        <p:spPr bwMode="auto">
          <a:xfrm>
            <a:off x="541762" y="3902164"/>
            <a:ext cx="3200400" cy="2505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1180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06103-CF55-E17C-7179-468C0142A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E3F0C-BA42-DC53-DD0F-8358E7000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770" y="1300900"/>
            <a:ext cx="11105285" cy="5202528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Firms adopting mobile and cloud computing must develop new tools and policies for security, tracking, and performance.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Mobile Device Management (MDM) software helps monitor and secure devices used across multiple operating systems and carriers.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MDM systems can update applications, back up data, and remove information from lost or stolen devices.</a:t>
            </a:r>
          </a:p>
          <a:p>
            <a:pPr lvl="4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Firms using cloud services must establish clear contractual agreements with vendors.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Define availability standards, response times, and security requirements for critical applications.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Business management must determine acceptable performance benchmarks for outsourced infrastructure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9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1F82DB-B44C-D1DB-5D67-715A8892314A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81BDEB-DF80-8811-50A7-08136A3D5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Dealing with Platform and Infrastructure Change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87FB83-1ACD-DABC-C282-69A7697C4C68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AD386E-6BC1-FACE-995B-00EE68EE0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AC8A27-B41A-FA3E-FEB3-13A6C0A13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52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51505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41B94-DF70-8847-2801-0F0D5BBEA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D83F3-B101-6FA8-2A82-D14D57717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769" y="1300900"/>
            <a:ext cx="11105285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Central question in IT management: Who controls and governs the firm’s infrastructure?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IT governance defines how responsibilities are distributed between central IT management and individual business units.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Key governance issues include decision authority, cost allocation, and alignment with business objectives.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Firms must decide whether IT decisions should be centrally managed or distributed among departments.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Centralized governance ensures consistency and standardization but may limit flexibility.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Decentralized governance allows customization but can lead to redundancy and higher costs.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Most firms adopt a hybrid approach, balancing efficiency and local autonomy.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0C3366-99C8-DA4B-94AD-A31F4CFEC88A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FAC979-86AD-3D3D-49C9-8853F1F0A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IT Management and Governance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F3FF86-6D2D-469C-3177-7BD4CB11C208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5A3D2A-20F7-D0CE-738C-B660D09DB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DF47D6-B992-300E-BB6F-0094934E6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53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5346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764E4-DBAF-D747-233E-2E93EBFC4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B9682-1CB9-266A-C9B5-B9889E5F0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769" y="1300900"/>
            <a:ext cx="11105285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IT infrastructure represents a major long-term investment.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Spending too much creates idle capacity and wastes resources, while spending too little leads to service gaps and competitive disadvantage.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Firms must analyze how much to invest and whether to own or rent infrastructure resources.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Firms must choose between purchasing IT assets or renting them from cloud service providers.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Renting through cloud computing can increase flexibility and scalability but requires careful cost analysis.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Over time, subscription and usage fees may exceed the cost of ownership for some systems.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Firms should balance cost, security, and workflow impacts when making this decision.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FD27D4-E3E5-F925-3C4B-5E238EDAB0F6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C7F2FF-C8FB-4915-0208-CECD3DA48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Making Wise Infrastructure Investments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D7C37D-6B84-ED65-CD7E-1BD829FA0C98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3A445D-4714-EE9E-0DE5-B104B8E7C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B02167-38C6-0EB7-297D-24943CFAF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54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85600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F2533-23E3-F0B7-04D0-19CE21D18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9B9AF-2BFB-73F3-6F9A-97BDE4191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769" y="1300900"/>
            <a:ext cx="11105285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Total Cost of Ownership (TCO) analysis helps firms identify hidden costs and evaluate investment alternatives more accurately.</a:t>
            </a:r>
            <a:endParaRPr lang="en-US" altLang="zh-TW" sz="1200" dirty="0"/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Hardware and software acquisition: Purchase or license of technology.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Installation and training: Costs for setup and employee preparation.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Support and maintenance: Help desk services, upgrades, and system upkeep.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Infrastructure and utilities: Network equipment, data centers, space, and power.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Downtime: Lost productivity due to system failures.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Hardware and software purchases account for only about 20 percent of total ownership costs, and the greatest savings come from reducing administrative and support expenses.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Standardizing hardware and software can reduce TCO.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Centralizing IT management can reduce TCO.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Using cloud services for scalable storage and computing can reduce TCO.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33344F-4F57-AB9C-652B-B20A4C9EC471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663138-DB40-9B7D-A7A9-EEF18B354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Understanding Total Cost of Ownership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6F1B12-E12F-6DAA-95F2-EE57E4445544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B3C2D-223E-076C-5783-8A0CC398E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B29E29-9370-EEA2-95FD-FF2BABBFF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55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5359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606CC-47C2-73CB-8B40-2A79D2968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A012C5F-91BB-B9A4-EE4A-D88ABC152575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F33D76-FD0C-CBE8-73F1-B6F62FFC9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Competitive Forces Model for IT Infrastructure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92582A-BA92-2079-1912-E5589A2344D9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00BD34-83F7-22E7-432F-32DF42179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8695F3-DB1C-2E72-DF12-5CD0CA34D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56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8" name="Picture 7" descr="A competitive forces model for I T infrastructure. Long description available in notes, press f6.">
            <a:extLst>
              <a:ext uri="{FF2B5EF4-FFF2-40B4-BE49-F238E27FC236}">
                <a16:creationId xmlns:a16="http://schemas.microsoft.com/office/drawing/2014/main" id="{C37D22A5-F301-9928-9604-3C706DD8C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927" y="970332"/>
            <a:ext cx="7946967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465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CA6E3-2487-62BA-6BB0-D32AEE38F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40095-4307-1C78-9689-E0962F73A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769" y="1300900"/>
            <a:ext cx="11105285" cy="5081046"/>
          </a:xfrm>
        </p:spPr>
        <p:txBody>
          <a:bodyPr>
            <a:normAutofit fontScale="92500"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Your business strategy: Identify future services and capabilities required to achieve strategic goals.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9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Your IT strategy, infrastructure, and cost: Assess alignment with business objectives and evaluate total IT costs.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9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Information technology assessment: Determine whether the firm is technologically outdated or investing too far ahead of standards.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9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Market demand: Evaluate customer, supplier, and employee needs for faster or higher-quality digital services.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9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Competitor firm services: Compare your technology offerings and service levels with those of competitors.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9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Competitor IT investments: Benchmark IT spending and innovation strategies to maintain competitive advantage.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CA9420-F5CB-FFD6-C267-97ECE20946AE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39A1F5-9CF0-EDB5-7D84-14E5FAAFA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Factors in the Model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F6DF71-9DD2-94A3-3F94-60066CF22633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6DA1A0-2AE8-C51C-7681-99A8829D9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B7D022-9F6A-DB7B-C229-CE7EF0050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57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63187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236FBE-5C16-4941-2B41-557A38631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6429C8-C4FC-79B7-5571-D4160E4A128B}"/>
              </a:ext>
            </a:extLst>
          </p:cNvPr>
          <p:cNvSpPr txBox="1"/>
          <p:nvPr/>
        </p:nvSpPr>
        <p:spPr>
          <a:xfrm>
            <a:off x="-1" y="3044279"/>
            <a:ext cx="121888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Recap of Chapter 5</a:t>
            </a:r>
            <a:endParaRPr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83320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F07C-5A39-46FA-19B5-0CB9743E6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AB19EA9-F780-DAF7-1EBC-822EF2EDDD7C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3619056-BFF7-5653-691C-4489199AA60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88825" cy="923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b="1" dirty="0">
                <a:solidFill>
                  <a:schemeClr val="bg1"/>
                </a:solidFill>
                <a:latin typeface="Garamond"/>
              </a:rPr>
              <a:t>  Recap of Chapter 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F8D645-33AB-D7BC-1B81-8CCF597648B0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C1011C51-5B4E-8C02-C890-0AE3A669C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Management Information Systems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0C78CE8A-9AF8-53CE-1E0D-2DC2238B4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59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4596D15-346E-FEAB-2529-E273E357F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Discuss IT infrastructure and its evolution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Discuss the mobile platform, apps, and BYOD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Discuss quantum computing and green computing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Discuss virtualization and cloud computing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400" dirty="0"/>
              <a:t>Discuss IT infrastructure management challenges</a:t>
            </a:r>
            <a:endParaRPr lang="en-US" altLang="zh-TW" sz="2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3441963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178b066-ece4-42d6-be80-b911ff775fa2}" enabled="1" method="Privileged" siteId="{4881a8fa-b252-4912-b93a-7806c41bbe9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8630</TotalTime>
  <Words>4415</Words>
  <Application>Microsoft Office PowerPoint</Application>
  <PresentationFormat>Custom</PresentationFormat>
  <Paragraphs>621</Paragraphs>
  <Slides>59</Slides>
  <Notes>52</Notes>
  <HiddenSlides>0</HiddenSlides>
  <MMClips>3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4" baseType="lpstr">
      <vt:lpstr>Aptos</vt:lpstr>
      <vt:lpstr>Arial</vt:lpstr>
      <vt:lpstr>Calibri</vt:lpstr>
      <vt:lpstr>Garamond</vt:lpstr>
      <vt:lpstr>Office Theme</vt:lpstr>
      <vt:lpstr>PowerPoint Presentation</vt:lpstr>
      <vt:lpstr>PowerPoint Presentation</vt:lpstr>
      <vt:lpstr>PowerPoint Presentation</vt:lpstr>
      <vt:lpstr>  IT Infrastructure</vt:lpstr>
      <vt:lpstr>  Core Infrastructure Services</vt:lpstr>
      <vt:lpstr>  ASML (2024, December 19). What is Moore’s Law? Is it still relevant? Episode 3 | ASML   Nanoland [Video]. YouTube. https://youtu.be/C7BCCrCoU3A?si=drqVDN87wMa2L7Vs</vt:lpstr>
      <vt:lpstr>  Evolution of IT Infrastructure</vt:lpstr>
      <vt:lpstr>  Mainframe and Minicomputer Era (1959–Present)</vt:lpstr>
      <vt:lpstr>  Personal Computer Era (1981–Present)</vt:lpstr>
      <vt:lpstr>  Client/Server Era (1983–Present)</vt:lpstr>
      <vt:lpstr>  Client/Server Era: Distributed Processing</vt:lpstr>
      <vt:lpstr>  Client/Server Era: Multitier Architecture</vt:lpstr>
      <vt:lpstr>  Enterprise Computing Era (1992–Present)</vt:lpstr>
      <vt:lpstr>  Cloud and Mobile Computing Era (2000–Present)</vt:lpstr>
      <vt:lpstr>  IT Infrastructure Evolution</vt:lpstr>
      <vt:lpstr>PowerPoint Presentation</vt:lpstr>
      <vt:lpstr>  The Rise of Mobile Computing</vt:lpstr>
      <vt:lpstr>  The Mobile Platform</vt:lpstr>
      <vt:lpstr>  Business Uses of Mobile Devices</vt:lpstr>
      <vt:lpstr>  Wearable Computing Devices</vt:lpstr>
      <vt:lpstr>  Understanding Apps</vt:lpstr>
      <vt:lpstr>  Apps and Platform Dependence</vt:lpstr>
      <vt:lpstr>  The Consumerization of IT</vt:lpstr>
      <vt:lpstr>  Bring Your Own Device (BYOD)</vt:lpstr>
      <vt:lpstr>  Risks and Management of BYOD</vt:lpstr>
      <vt:lpstr>PowerPoint Presentation</vt:lpstr>
      <vt:lpstr>  Emerging Trends in IT Infrastructure</vt:lpstr>
      <vt:lpstr>  What Is Quantum Computing?</vt:lpstr>
      <vt:lpstr>  Kurzgesagt – In a Nutshell (2015, December 8). Quantum Computers Explained – Limits of     Human Technology [Video]. YouTube. https://youtu.be/JhHMJCUmq28?si=c_xo7R0nTctnqW1u</vt:lpstr>
      <vt:lpstr>  How Quantum Computing Works</vt:lpstr>
      <vt:lpstr>  Benefits and Limitations of Quantum Computing</vt:lpstr>
      <vt:lpstr>  Introducing Green Computing</vt:lpstr>
      <vt:lpstr>  Data Centers and Energy Use</vt:lpstr>
      <vt:lpstr>  Green Computing Practices</vt:lpstr>
      <vt:lpstr>  Sustainable Software and Virtualization</vt:lpstr>
      <vt:lpstr>  The Future of Sustainable Computing</vt:lpstr>
      <vt:lpstr>PowerPoint Presentation</vt:lpstr>
      <vt:lpstr>  Virtualization</vt:lpstr>
      <vt:lpstr>  Benefits of Virtualization</vt:lpstr>
      <vt:lpstr>  Software-Defined Storage (SDS)</vt:lpstr>
      <vt:lpstr>  Virtualization and Cloud Computing</vt:lpstr>
      <vt:lpstr>  Cloud Computing</vt:lpstr>
      <vt:lpstr>  Characteristics of Cloud Computing</vt:lpstr>
      <vt:lpstr>  Types of Cloud Services</vt:lpstr>
      <vt:lpstr>  Advantages and Challenges of Cloud Computing</vt:lpstr>
      <vt:lpstr>  Hybrid Cloud and On-Demand Computing</vt:lpstr>
      <vt:lpstr>  Accenture (2022, October 18). What is Edge Computing? [Video]. YouTube.   https://youtu.be/WMvb9LLXzUs?si=-44kOZLrcatKb_NL</vt:lpstr>
      <vt:lpstr>  Edge Computing</vt:lpstr>
      <vt:lpstr>PowerPoint Presentation</vt:lpstr>
      <vt:lpstr>  Managing Modern IT Infrastructure</vt:lpstr>
      <vt:lpstr>  Dealing with Platform and Infrastructure Change</vt:lpstr>
      <vt:lpstr>  Dealing with Platform and Infrastructure Change</vt:lpstr>
      <vt:lpstr>  IT Management and Governance</vt:lpstr>
      <vt:lpstr>  Making Wise Infrastructure Investments</vt:lpstr>
      <vt:lpstr>  Understanding Total Cost of Ownership</vt:lpstr>
      <vt:lpstr>  Competitive Forces Model for IT Infrastructure</vt:lpstr>
      <vt:lpstr>  Factors in the Model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Brian Park</dc:creator>
  <cp:keywords/>
  <dc:description>generated using python-pptx</dc:description>
  <cp:lastModifiedBy>Brian Park</cp:lastModifiedBy>
  <cp:revision>274</cp:revision>
  <cp:lastPrinted>2026-02-16T02:18:41Z</cp:lastPrinted>
  <dcterms:created xsi:type="dcterms:W3CDTF">2013-01-27T09:14:16Z</dcterms:created>
  <dcterms:modified xsi:type="dcterms:W3CDTF">2026-03-12T16:54:28Z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178b066-ece4-42d6-be80-b911ff775fa2_Enabled">
    <vt:lpwstr>true</vt:lpwstr>
  </property>
  <property fmtid="{D5CDD505-2E9C-101B-9397-08002B2CF9AE}" pid="3" name="MSIP_Label_5178b066-ece4-42d6-be80-b911ff775fa2_SetDate">
    <vt:lpwstr>2025-09-24T21:16:43Z</vt:lpwstr>
  </property>
  <property fmtid="{D5CDD505-2E9C-101B-9397-08002B2CF9AE}" pid="4" name="MSIP_Label_5178b066-ece4-42d6-be80-b911ff775fa2_Method">
    <vt:lpwstr>Privileged</vt:lpwstr>
  </property>
  <property fmtid="{D5CDD505-2E9C-101B-9397-08002B2CF9AE}" pid="5" name="MSIP_Label_5178b066-ece4-42d6-be80-b911ff775fa2_Name">
    <vt:lpwstr>Public</vt:lpwstr>
  </property>
  <property fmtid="{D5CDD505-2E9C-101B-9397-08002B2CF9AE}" pid="6" name="MSIP_Label_5178b066-ece4-42d6-be80-b911ff775fa2_SiteId">
    <vt:lpwstr>4881a8fa-b252-4912-b93a-7806c41bbe91</vt:lpwstr>
  </property>
  <property fmtid="{D5CDD505-2E9C-101B-9397-08002B2CF9AE}" pid="7" name="MSIP_Label_5178b066-ece4-42d6-be80-b911ff775fa2_ActionId">
    <vt:lpwstr>481a848f-947e-4531-a1b3-13071af9a132</vt:lpwstr>
  </property>
  <property fmtid="{D5CDD505-2E9C-101B-9397-08002B2CF9AE}" pid="8" name="MSIP_Label_5178b066-ece4-42d6-be80-b911ff775fa2_ContentBits">
    <vt:lpwstr>0</vt:lpwstr>
  </property>
  <property fmtid="{D5CDD505-2E9C-101B-9397-08002B2CF9AE}" pid="9" name="MSIP_Label_5178b066-ece4-42d6-be80-b911ff775fa2_Tag">
    <vt:lpwstr>10, 0, 1, 1</vt:lpwstr>
  </property>
</Properties>
</file>