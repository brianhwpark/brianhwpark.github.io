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tags/tag1.xml" ContentType="application/vnd.openxmlformats-officedocument.presentationml.tags+xml"/>
  <Override PartName="/ppt/notesSlides/notesSlide15.xml" ContentType="application/vnd.openxmlformats-officedocument.presentationml.notesSlide+xml"/>
  <Override PartName="/ppt/tags/tag2.xml" ContentType="application/vnd.openxmlformats-officedocument.presentationml.tags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3.xml" ContentType="application/vnd.openxmlformats-officedocument.presentationml.tags+xml"/>
  <Override PartName="/ppt/notesSlides/notesSlide24.xml" ContentType="application/vnd.openxmlformats-officedocument.presentationml.notesSlide+xml"/>
  <Override PartName="/ppt/tags/tag4.xml" ContentType="application/vnd.openxmlformats-officedocument.presentationml.tags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7"/>
  </p:notesMasterIdLst>
  <p:sldIdLst>
    <p:sldId id="256" r:id="rId2"/>
    <p:sldId id="382" r:id="rId3"/>
    <p:sldId id="257" r:id="rId4"/>
    <p:sldId id="387" r:id="rId5"/>
    <p:sldId id="454" r:id="rId6"/>
    <p:sldId id="455" r:id="rId7"/>
    <p:sldId id="456" r:id="rId8"/>
    <p:sldId id="459" r:id="rId9"/>
    <p:sldId id="453" r:id="rId10"/>
    <p:sldId id="457" r:id="rId11"/>
    <p:sldId id="460" r:id="rId12"/>
    <p:sldId id="461" r:id="rId13"/>
    <p:sldId id="462" r:id="rId14"/>
    <p:sldId id="463" r:id="rId15"/>
    <p:sldId id="464" r:id="rId16"/>
    <p:sldId id="465" r:id="rId17"/>
    <p:sldId id="468" r:id="rId18"/>
    <p:sldId id="513" r:id="rId19"/>
    <p:sldId id="515" r:id="rId20"/>
    <p:sldId id="466" r:id="rId21"/>
    <p:sldId id="469" r:id="rId22"/>
    <p:sldId id="467" r:id="rId23"/>
    <p:sldId id="471" r:id="rId24"/>
    <p:sldId id="470" r:id="rId25"/>
    <p:sldId id="458" r:id="rId26"/>
    <p:sldId id="475" r:id="rId27"/>
    <p:sldId id="473" r:id="rId28"/>
    <p:sldId id="510" r:id="rId29"/>
    <p:sldId id="512" r:id="rId30"/>
    <p:sldId id="474" r:id="rId31"/>
    <p:sldId id="476" r:id="rId32"/>
    <p:sldId id="478" r:id="rId33"/>
    <p:sldId id="477" r:id="rId34"/>
    <p:sldId id="479" r:id="rId35"/>
    <p:sldId id="472" r:id="rId36"/>
    <p:sldId id="481" r:id="rId37"/>
    <p:sldId id="482" r:id="rId38"/>
    <p:sldId id="483" r:id="rId39"/>
    <p:sldId id="484" r:id="rId40"/>
    <p:sldId id="485" r:id="rId41"/>
    <p:sldId id="486" r:id="rId42"/>
    <p:sldId id="487" r:id="rId43"/>
    <p:sldId id="480" r:id="rId44"/>
    <p:sldId id="490" r:id="rId45"/>
    <p:sldId id="489" r:id="rId46"/>
    <p:sldId id="491" r:id="rId47"/>
    <p:sldId id="492" r:id="rId48"/>
    <p:sldId id="493" r:id="rId49"/>
    <p:sldId id="494" r:id="rId50"/>
    <p:sldId id="488" r:id="rId51"/>
    <p:sldId id="495" r:id="rId52"/>
    <p:sldId id="496" r:id="rId53"/>
    <p:sldId id="497" r:id="rId54"/>
    <p:sldId id="498" r:id="rId55"/>
    <p:sldId id="501" r:id="rId56"/>
    <p:sldId id="449" r:id="rId57"/>
    <p:sldId id="502" r:id="rId58"/>
    <p:sldId id="500" r:id="rId59"/>
    <p:sldId id="503" r:id="rId60"/>
    <p:sldId id="499" r:id="rId61"/>
    <p:sldId id="505" r:id="rId62"/>
    <p:sldId id="506" r:id="rId63"/>
    <p:sldId id="507" r:id="rId64"/>
    <p:sldId id="504" r:id="rId65"/>
    <p:sldId id="451" r:id="rId6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122C"/>
    <a:srgbClr val="FDB913"/>
    <a:srgbClr val="B896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04" autoAdjust="0"/>
    <p:restoredTop sz="92252" autoAdjust="0"/>
  </p:normalViewPr>
  <p:slideViewPr>
    <p:cSldViewPr snapToGrid="0" snapToObjects="1">
      <p:cViewPr varScale="1">
        <p:scale>
          <a:sx n="102" d="100"/>
          <a:sy n="102" d="100"/>
        </p:scale>
        <p:origin x="858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59EC7-19C7-4638-A61A-0E2B59861576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7AAC7-CF25-414B-93E7-2A61E431E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B0394-E5C4-6569-9000-A64A44EBA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2C0823-31F3-9D0B-FCA7-0EF4F4FAD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AF84BF-994F-E96E-A165-297952736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57F7C-824B-0983-C6CC-41D1AF925F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957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3FC3B-566A-F1DA-C914-F5E06D483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0470AD-6966-6F0D-7DD4-1B725FC466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D1F33A-3B20-1388-6C26-7B6DDDD47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2870C0-D86E-0453-D4BE-FF4846BA61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061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194FB-56ED-4B03-14BE-7DD60AAF1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1DEBF9-A222-C8FC-E859-E576F999A9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B7CBDC-C009-A748-1410-1213167F3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CEAA-D0B4-274D-5B53-BF5E9980BA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807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8DC36-D8D8-ED08-C9BF-18F88FA09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9B6B1B-4E7F-5159-5A7F-5A8E4E6464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D52F72-3C15-E3FB-985E-F0CE54D386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778F8-28E4-DDDD-74FB-849BF05F0D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9892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60CF-98A3-0E58-B0C3-99F45BC11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36423A-2AC9-05B2-29E5-6EA8FF9D0D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6C4615-4457-7A93-1EEE-7F5A7A30CA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BBBBD-F31A-126D-F49A-586DA6CA23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5933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C6E7C-D078-5C3F-8F00-720C47736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C2CE2B-8FD0-FFAC-A00D-837356546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CE305F-5E49-1BD8-CD12-DFBD768814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Remote Work Platforms (Zoom, Teams, Slack)</a:t>
            </a:r>
          </a:p>
          <a:p>
            <a:r>
              <a:rPr lang="en-US" b="1" dirty="0"/>
              <a:t>Technical View:</a:t>
            </a:r>
            <a:r>
              <a:rPr lang="en-US" dirty="0"/>
              <a:t> Considers cost savings from reduced office space and gains in productivity from better communication tools.</a:t>
            </a:r>
          </a:p>
          <a:p>
            <a:r>
              <a:rPr lang="en-US" b="1" dirty="0"/>
              <a:t>Behavioral View:</a:t>
            </a:r>
            <a:r>
              <a:rPr lang="en-US" dirty="0"/>
              <a:t> Explores effects on organizational culture, team trust, and employee well-being, recognizing that digital tools reshape work relationships and collaboration norms.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5C4E4-2930-97A4-C1D6-62C85521D1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0958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B6DB1-7756-381E-D8A2-76D150886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45A116-11B4-FC09-41E5-FA19A219F0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DCC5B0-A3DA-D426-77A8-FC8D69A87E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8D3D98-EF04-BDA5-399D-40271CFA74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3905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408FC-ACCC-B7DE-53C4-1A81B76C4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A545E-67F0-4319-B64E-E98A62CF38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1E9EAC-686E-D9BA-68FE-54C211C301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34CC34-0685-906F-E4EC-A52A0A86A2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432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33F29-4BA9-32E2-57A9-81FFB9EC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55C66C-DC93-4D16-1648-DDFFADCAEA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6DA3E1-D930-058A-3BFE-5ABC76FF0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5A590-15E4-5655-BB05-52B60AEE1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108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681B0-0EDF-6797-83BC-20000406C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0B0D98-6369-9675-8510-96279D84F5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95F34-1727-AE51-02DC-48FF9A1F2E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30194-523C-0B82-0F7A-72494A38E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7735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AB306-C42A-E78F-E7D7-C54F65D67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3FBC31-D8DE-F424-E906-2A48B42097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BD0649-5C9B-178C-E215-6BB0EADD5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E137ED-7CE7-D4A4-2721-BF848DAA76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301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BE790-C244-4CBE-1995-BB9823F54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936166-50FF-0AEE-7D94-98919597C1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0DDC7-C27A-31DC-0BEC-B71117624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EA1DD-A25D-3B13-437B-A123760FED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9759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63C27-6FBF-B62F-66E1-2E174133F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3244B0-4187-2475-118B-B3F2EA968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9989ED-F67A-4F33-ACD2-AE3E9C8B19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6ACFD9-7A6A-AFC4-3C46-B24E093231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4206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0446A-2576-8519-DB50-91DC7A02B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32098-14BA-E0BA-8BBD-BD0337C2B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8DF7E-2EB8-3429-F27E-170C4BE304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7C704F-29D2-33B6-017D-6AF73FFA8A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8798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Which of the following best illustrates a disruptive innovation?
https://www.polleverywhere.com/multiple_choice_polls/H0Akx2tZ3NvYZDaYkPriT?display_state=instructions&amp;activity_state=opened&amp;state=opened&amp;flow=Engagement&amp;onscreen=persist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556D8F-2DDA-6236-9F23-86C4FCB20B6B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2436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Which of the following best illustrates a disruptive innovation?
https://www.polleverywhere.com/multiple_choice_polls/H0Akx2tZ3NvYZDaYkPriT?display_state=chart&amp;activity_state=closed&amp;state=closed&amp;flow=Engagement&amp;onscreen=persist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2BA33D-04CE-C635-C4C5-3BBFDDCE93EF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5320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56D2D-E5DE-1264-B57C-15B43031A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077E61-C46E-6423-A22B-97B004E94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CAD098-FA7D-DB54-CD5D-A4646EDCB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6903F-72B7-F2F0-C2AB-941CFD516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036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DC057-5A0B-C91F-7385-A175BAD62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C2AE59-6C96-ACAB-9126-208AB9D3E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9D4CA7-0E0A-0AC3-1F6C-66C59C29B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99776-B9EC-973C-6228-1DA7108183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7042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2834-046B-F736-2E95-2906B575B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1907D0-D053-66EC-F089-E4147A6CC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347DEB-69D4-AA14-F644-D577DB8998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AFF041-6145-4E85-763C-F74932D08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545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60927-5AE2-73A2-4DC4-EA867E75E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B7EED6-4090-6B50-0C00-BF41A0F724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FEDC8-4EE6-8261-47D0-1DA3B7C41B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72D207-B806-F02F-C1EF-5EAD42308C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4599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BBA8B-E28B-9F33-FA15-8860648BA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6F4275-00EB-D7AF-4739-C15E935E2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E276F3-1FB5-E9E6-939F-0EE28F27F8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Coercive</a:t>
            </a:r>
            <a:r>
              <a:rPr lang="en-US" dirty="0"/>
              <a:t> = monitoring and enforcement</a:t>
            </a:r>
          </a:p>
          <a:p>
            <a:r>
              <a:rPr lang="en-US" b="1" dirty="0"/>
              <a:t>Utilitarian</a:t>
            </a:r>
            <a:r>
              <a:rPr lang="en-US" dirty="0"/>
              <a:t> = efficiency and performance</a:t>
            </a:r>
          </a:p>
          <a:p>
            <a:r>
              <a:rPr lang="en-US" b="1" dirty="0"/>
              <a:t>Normative</a:t>
            </a:r>
            <a:r>
              <a:rPr lang="en-US" dirty="0"/>
              <a:t> = communication and community</a:t>
            </a:r>
          </a:p>
          <a:p>
            <a:endParaRPr lang="en-US" dirty="0"/>
          </a:p>
          <a:p>
            <a:r>
              <a:rPr lang="en-US" b="1" dirty="0"/>
              <a:t>Members</a:t>
            </a:r>
            <a:r>
              <a:rPr lang="en-US" dirty="0"/>
              <a:t> → IS for engagement &amp; benefits.</a:t>
            </a:r>
          </a:p>
          <a:p>
            <a:r>
              <a:rPr lang="en-US" b="1" dirty="0"/>
              <a:t>Clients</a:t>
            </a:r>
            <a:r>
              <a:rPr lang="en-US" dirty="0"/>
              <a:t> → IS for service delivery &amp; personalization.</a:t>
            </a:r>
          </a:p>
          <a:p>
            <a:r>
              <a:rPr lang="en-US" b="1" dirty="0"/>
              <a:t>Stockholders</a:t>
            </a:r>
            <a:r>
              <a:rPr lang="en-US" dirty="0"/>
              <a:t> → IS for financials &amp; compliance.</a:t>
            </a:r>
          </a:p>
          <a:p>
            <a:r>
              <a:rPr lang="en-US" b="1" dirty="0"/>
              <a:t>Public</a:t>
            </a:r>
            <a:r>
              <a:rPr lang="en-US" dirty="0"/>
              <a:t> → IS for transparency &amp; accessibility.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CA3A47-50EA-D6FF-88D2-E3CAE0162F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19265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D22A3-C80B-7622-15DC-42FD754D9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395153-6A84-A693-F845-D7926B493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ACAF8-6378-984C-8930-8AA183D473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DE6F3B-9F3A-0B54-B7E1-6966F3086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0036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1A15B-BD79-A727-3AD5-AAB8944C0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F879D2-BEFF-528A-EAF3-835BE780DC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B6FA1B-59DD-4082-C4F1-EBA24952D1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EF622-70EA-BA88-5DF7-40C1B80CC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21291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Which of the following is NOT an example of a transaction cost?
https://www.polleverywhere.com/multiple_choice_polls/Epv2Q8G9ELGF1AtKNjveQ?display_state=instructions&amp;activity_state=opened&amp;state=opened&amp;flow=Engagement&amp;onscreen=persist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3F34E1-0E5F-E0CA-A662-429BEA900DD8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6244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Which of the following is NOT an example of a transaction cost?
https://www.polleverywhere.com/multiple_choice_polls/Epv2Q8G9ELGF1AtKNjveQ?display_state=chart&amp;activity_state=closed&amp;state=closed&amp;flow=Engagement&amp;onscreen=persist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19723D-3470-4F8B-6096-18611EA6B6EB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564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2BF4B-7B68-CE82-2F6E-EFEC09093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07F85E-2151-7473-5482-49F1F5C374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6D769A-3655-F90E-FB1D-FEE29912E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3B549-915D-4812-7C62-F431582C65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68199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689DF-34FC-BC0E-B8A1-089CDFFBF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E7083-9138-47F0-0E9A-B1AE80CE9D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21C78C-D6AA-61E2-E73A-E761257B4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C8B23-E20D-A1CA-F7E9-456D125149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7853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C9042-BE49-7D44-66A8-611A18C0F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BE4025-5DE6-0097-551B-C2BF9EDE09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C192C4-7A4E-572C-2284-6D6FE8CB5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34F99-9556-B555-21CC-A9F46CBD2B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4078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77416-DAB4-51D5-9428-E89757C82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BF8340-A19F-7FA5-7F1D-04B854ADE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CB5950-51BD-E06F-1528-1360B3BAD0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B41E6-EB10-3C2C-10E7-DE47700D3D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22805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6923-F402-5EE0-6841-D8B09726D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EF10C2-6CE2-6C90-6530-D89BE2104E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D62336-8639-1487-592B-302D1138E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E9A8E9-F637-ACD2-DFE1-5C41488733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5338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DBA2D-3996-A1C6-77D7-13E36E121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576892-D187-DA94-012E-6D90172B6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DA040-3B3D-018F-3B21-CC18AC7A6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DD70D2-3B23-2D2D-A549-1B39F0F1D2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46722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CB0B0-8E65-13E0-7C52-3911283A4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3F1A8F-363E-2838-B968-AB38869B4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BCBE1B-1998-52A1-6309-5F949E45A7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4E262A-1F35-FC59-E27D-98DAC2710F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65341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13525-881C-E03C-3A76-E4D8DCD72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681762-4FD0-7578-C4E1-306C4841E2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69A215-2F0A-FC24-5C55-E0DB74A6B2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F38E2-EBF8-3CE2-05E1-231A1E0DE7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45104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4BDA-8E6A-1126-D4D8-B0F771D90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B3A522-0FA4-F39D-4325-6E2F6F733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561E1D-47C0-BC6E-6F66-8FD7EAAC3D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355567-666D-28D6-CBCA-E502564922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92500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2C616-55DD-8A35-52AA-5808A57DA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A82DDB-D883-861E-FA18-AE8091F191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57E49C-2C49-24FB-A1F9-786DE79BB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92E2A6-5AD8-10D6-F756-7E8A63004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37326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058E6-2BA8-9457-0593-72B67D7AD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E12A29-B589-5557-43E6-D2B94C9BA8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58E79-DE11-7A84-278D-06B5CE72FD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2344B-BB88-8EE2-6A4A-90E89F930B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29258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63F6-82D0-5786-2C48-71A01545A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08788-F9AD-B4D4-634F-30FFFF406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4CED42-148C-B407-2D08-E3D861CD87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C45146-8A63-C4F6-1431-E3C6E01783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1125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1B613-CB69-6E9F-3FFD-99611B797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300617-E0D7-315B-CF89-231B99162E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A2B10-91EC-3A3C-360D-65E3D0DF5D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93FF9-A85D-2725-64F2-94A48E6C2D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8678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01BF0-5DCF-325E-A3FE-09BC7070F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5E1DD3-7948-8E71-0F85-761FD5DAC2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9F2718-6D37-3610-8975-C6BA1F49AB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4D5EB7-48FB-C699-987B-D10810AAFE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70407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BE1C2-BACF-3DCC-05F4-AAA86D9C6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3C2C4F-A295-9406-1F61-FF6EF5BB2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9ED267-9309-16D8-2068-BB6615ECBF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3EBC8-3703-AF5B-B8F3-C14681D0FB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7895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3F7CD-B268-81B7-D369-B1621120E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6C89DE-CECF-2139-19C2-E227B5EBF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7C9919-6E89-7904-03CC-3ACC0B4E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41656-E46A-09B9-B679-0266C73468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4046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0ED80-3F90-66FB-E318-9AF7AD631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4E0AC2-E6A6-3250-8D1F-80F987C584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DB9DDC-D66E-BF18-1041-829C30586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B53218-0C5C-F380-1274-4EED3DD8C9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4468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2AE8D-63C3-81E0-38B1-4DB27BB7E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B8E94-492E-CB8A-98EA-2126078FB8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80BD1B-143B-806F-F725-F3FCCAE03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284D7D-36FF-46C9-F21B-DB9A227707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13308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2B373-E4F7-2654-9251-A7545750B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D8BA0-78F1-3924-B4A3-9F1CE3C429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5C1414-759E-FDD5-4819-6D2096F971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86853F-17CA-548A-8F04-5C6724355B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82548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76102-444F-0FF6-B933-A24087A61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E4160-AB66-E3E4-E222-FBF17A116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BDF291-9DD9-E77C-1D4F-3B0E13974F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CF349-588C-2895-89EB-B58D9243AC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82643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71BD5-EDBE-D840-1E7D-D565443F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EF9B76-C0F0-578F-6313-302CCCB750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0CCC07-CE36-F898-714B-D83EAB43F5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2897B5-4096-293C-C861-A51CA45A0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03140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B1C9B-CAC8-7326-273C-E1A6663CD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64409-A716-F0B6-89D3-38A72B9C75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9FBA35-4CFB-C96E-2159-3CEA51E00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865E27-6E80-5648-A538-F4D58774FD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75751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67E13-9BC3-61FF-853E-06E9B81E9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073E31-3361-BD76-70DA-61EC9A954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7BE13A-E4D6-DA11-2C1A-1387C205F3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E1E68-31C3-9E0A-ABDB-1AF9A97729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51177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F8DFA-176B-6F00-E8B0-1F0C8194C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950CBD-53DE-5F0A-5680-D228974106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CF53E8-2414-414F-C77E-C78B5701B3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71CF79-0513-6637-EE35-424B489915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54000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23DE9-1502-46A1-127B-6F0D71C71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99D762-A559-61E9-8106-CAE1B703B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D9508D-5404-4B9F-AB4E-734ACE2C58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8FBB6-F83E-E805-4296-033548C38A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23025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F5562-2218-DE90-ABD3-ED102E6BB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F9CE36-FB85-00B5-6C8F-171D37AC18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ACF4F6-D6D1-EF60-8AA0-4CA8110DA1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C719AA-5AA7-8C9D-9095-BD53327CEE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33428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7C7-3EBD-E630-3D31-583AF7141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F2A79F-FE84-0C18-32E7-0E1143598A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01563-42CE-EA28-D4C2-49D368B51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2609D-AA6B-3CC8-B108-DCA3995E5D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13040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39212-5F0C-F76F-D8DB-85E481252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9847F1-A88A-910F-8FE1-863201790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9B8C30-13DB-1017-EC5A-349EE0823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7F116-A161-A5FD-CFBD-76CC9BB2A4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70983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01EEB-B09C-9EE2-0FD2-EE8AE3318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C5F740-8356-83DE-F068-0DE1BA846C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4FEDB-6627-49F5-4E59-973A4A9340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A4E34-4448-F13F-6DD3-3B95664C56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03572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2E2E5-15F1-78EC-52A9-CAED42AD7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A0DFB-52A7-BA92-C424-9AE17193EB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D0F12A-60CA-35B1-2EAE-169687C74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8DC12-637D-8F39-2928-BFCFE9F127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7431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AFFB9-A874-4FD1-A824-B4042D61D1ED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79C1E-59CB-458D-A8DF-3DF069B9691A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B038F5-1F4F-49BC-AE81-A69593E39F17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B9C03-4953-4667-8B38-5F82E8B7824A}" type="datetime1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FF53C9-7EE5-4279-90C5-33FD7C6945F2}" type="datetime1">
              <a:rPr lang="en-US" smtClean="0"/>
              <a:t>9/23/2025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720FA-FDEE-4E83-A4C7-BC2FB4952465}" type="datetime1">
              <a:rPr lang="en-US" smtClean="0"/>
              <a:t>9/23/2025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51516-679C-4D73-B89D-29E30821AF23}" type="datetime1">
              <a:rPr lang="en-US" smtClean="0"/>
              <a:t>9/23/2025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03A1F-F54C-4527-A898-553BBCF40EAB}" type="datetime1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D13F6-D87E-4E9E-B027-94AE4C3308CD}" type="datetime1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0497A-627B-46A8-B138-876D4281251E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49246-640D-41B6-A07B-C0FA43D7FEE2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E17758-26A5-42DB-960B-17BBCDA98EFC}" type="datetime1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qDrMAzCHFUU?feature=oembed" TargetMode="External"/><Relationship Id="rId4" Type="http://schemas.openxmlformats.org/officeDocument/2006/relationships/image" Target="../media/image7.jpe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.xml"/><Relationship Id="rId4" Type="http://schemas.openxmlformats.org/officeDocument/2006/relationships/image" Target="../media/image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4" Type="http://schemas.openxmlformats.org/officeDocument/2006/relationships/image" Target="../media/image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KSeZXjkYERs?feature=oembed" TargetMode="External"/><Relationship Id="rId4" Type="http://schemas.openxmlformats.org/officeDocument/2006/relationships/image" Target="../media/image15.jpe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650659"/>
            <a:ext cx="121888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800" dirty="0"/>
              <a:t>M</a:t>
            </a:r>
            <a:r>
              <a:rPr lang="en-US" sz="4000" dirty="0"/>
              <a:t>ANAGEMENT </a:t>
            </a:r>
            <a:r>
              <a:rPr lang="en-US" sz="4800" dirty="0"/>
              <a:t>I</a:t>
            </a:r>
            <a:r>
              <a:rPr lang="en-US" sz="4000" dirty="0"/>
              <a:t>NFORMATION </a:t>
            </a:r>
            <a:r>
              <a:rPr lang="en-US" sz="4800" dirty="0"/>
              <a:t>S</a:t>
            </a:r>
            <a:r>
              <a:rPr lang="en-US" sz="4000" dirty="0"/>
              <a:t>YSTEMS</a:t>
            </a:r>
            <a:endParaRPr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-1" y="3657600"/>
            <a:ext cx="121888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Garamond"/>
              </a:defRPr>
            </a:pPr>
            <a:r>
              <a:rPr lang="en-US" dirty="0"/>
              <a:t>Chapter 3: Information Systems, Organizations, and Strategy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F3F00-8C8C-AB23-4FD8-758A3E0D5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AF5F0B-9E91-9CF7-E31B-7C1B0EDEBB8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EEC65DE-BF71-E500-DCF0-F48432A79EB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Recap of Chapter 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1BF0C7-29D7-FA6A-0C72-BBCEB414879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F0948B46-C0CE-0488-151C-A0FAFB924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6A19B34A-26DA-74D5-A37E-F125C6421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731B94F-5E90-B616-E3A8-FB65F57B1F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 lnSpcReduction="10000"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How do business processes relate to information systems?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How does information systems serve different management groups?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How do enterprise applications improve firm performance?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are collaboration tools?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are social business tools?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How can managers evaluate collaboration and social business tools?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are knowledge management systems?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is the role of the information systems function?</a:t>
            </a:r>
          </a:p>
        </p:txBody>
      </p:sp>
    </p:spTree>
    <p:extLst>
      <p:ext uri="{BB962C8B-B14F-4D97-AF65-F5344CB8AC3E}">
        <p14:creationId xmlns:p14="http://schemas.microsoft.com/office/powerpoint/2010/main" val="4167212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The Technical and Behavioral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Views of Organizations</a:t>
            </a:r>
            <a:endParaRPr sz="4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7CE89-301A-70F1-4260-6BE7F3ECF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55BD8-8A9D-C759-E57B-798D3259D9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25007" y="1300900"/>
            <a:ext cx="482204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Information systems and organizations influence one another: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Information systems are designed to serve the interests of organizations.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Organizations, in turn, are shaped by the systems they adopt.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feedback loop is mediated by various factors, making the relationship complex.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Managers must recognize and understand this dynamic interaction between IS and organizations.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F8D10-BDB6-A3B1-C66D-3AAD06B37E3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11ED87-11C7-E07A-360C-C69F65EDD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Organizations and Information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DA463A-E4AE-D67D-E769-807CD9E1890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F9F19-8B6A-699A-698A-67E99D9D8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2A4FA5-9191-0EBF-702D-330CA4BD6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flow diagram explains the mediating factors show the interconnectedness between organizations and information technology. Long description available in notes, press f6.">
            <a:extLst>
              <a:ext uri="{FF2B5EF4-FFF2-40B4-BE49-F238E27FC236}">
                <a16:creationId xmlns:a16="http://schemas.microsoft.com/office/drawing/2014/main" id="{EF4B4003-09B8-699D-F630-5C1DBC6E65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1" y="1427532"/>
            <a:ext cx="6188364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14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4AF6F-1BAE-8FA5-4A8E-9F5A544AB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70037-B053-CFB2-CD34-AC50A0E30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technical microeconomic definition of an organization is that it is: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 stable, formal social structure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That takes resources from the environment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And processes them to produce outputs.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technical definition is clear and powerful, but it can also be less practical.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0ECBD7-D353-657B-39BD-7FE06FB5C01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27D343-BE1D-6408-04FE-155106A77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Technical View of an Organization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48ECF2-7722-7088-B86B-AD39419C6D5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C0D9DA-3416-9BE3-084B-2934728D1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F0BBD1-E2AC-DDE7-8DFE-15A61CA53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 descr="A diagram explains the production process of an organization. Inputs from the environment are sent to the organization which in turn gives out outputs to the environment. This cycle is labeled &quot;Production process.&quot;">
            <a:extLst>
              <a:ext uri="{FF2B5EF4-FFF2-40B4-BE49-F238E27FC236}">
                <a16:creationId xmlns:a16="http://schemas.microsoft.com/office/drawing/2014/main" id="{A11AF9B4-29A1-AF6C-CA7C-C2BD3B83E4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4273" y="2957659"/>
            <a:ext cx="7720276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295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85C59-BF97-C292-FAA2-6337EBA64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7F5C1-A213-0CDD-A4C3-B099185061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78397" y="1300900"/>
            <a:ext cx="416865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Organizations must abide by laws and, as social structures, they must also consider social elements.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behavioral definition of an organization is: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 collection of rights, privileges, obligations, and responsibilities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Delicately balanced over a period of time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Through conflict and conflict resolution.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32B369-D603-F4AF-8208-E2263370145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D9610E-2501-A595-00CD-8F744B42E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Behavioral View of an Organization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DDF9C5-8507-14AA-8A72-74CA7B6E11E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E16B57-12CB-BF93-6672-5EEB8B23C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C0D6D6-C05D-AD21-5766-60788BB6F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diagram explains behavioral view of organizations focuses on structure and process. Long description available in notes, press f6.">
            <a:extLst>
              <a:ext uri="{FF2B5EF4-FFF2-40B4-BE49-F238E27FC236}">
                <a16:creationId xmlns:a16="http://schemas.microsoft.com/office/drawing/2014/main" id="{EE3789B0-4402-583A-FE28-F48EFFC29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656132"/>
            <a:ext cx="6936627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921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C98B3-B7FB-5DC9-4895-1DDE6B840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43668-98CF-94B6-9D00-8BBF8AA376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How we view the role of IS in organizations depends on how we define organizations.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</a:t>
            </a:r>
            <a:r>
              <a:rPr lang="en-US" altLang="zh-TW" sz="2400" b="1" dirty="0"/>
              <a:t>Technical View </a:t>
            </a:r>
            <a:r>
              <a:rPr lang="en-US" altLang="zh-TW" sz="2400" dirty="0"/>
              <a:t>of the organization encourages managers to: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Focus on how inputs are combined to create outputs when new technology is adopted.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Assume firms are infinitely malleable, with easy substitution between inputs and quick adjustments.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</a:t>
            </a:r>
            <a:r>
              <a:rPr lang="en-US" altLang="zh-TW" sz="2400" b="1" dirty="0"/>
              <a:t>Behavioral View </a:t>
            </a:r>
            <a:r>
              <a:rPr lang="en-US" altLang="zh-TW" sz="2400" dirty="0"/>
              <a:t>of the organization is more realistic. It encourages managers to: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Consider how work is designed and the procedures used to achieve outcomes.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Recognize that building or replacing information systems involves much more than reallocating resources.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Understand that changes to information systems can alter the organizational balance of rights, privileges, obligations, responsibilities, and long-standing relationships.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Acknowledge that such changes can be time-consuming, disruptive, and require significant resources for training.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496300-5B40-C203-91C0-B6DEF213236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7AE586-5521-9D40-C120-ACF6F6E05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Viewpoints and Information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78D665-6C9E-8535-D42A-EBAA71B74A3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9F8B8A-8BA8-A011-5C51-473560F57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55B02B-8CDB-2CB8-65A4-0D6056ABF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11829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AD989-118E-6D88-BF47-E6EAF0F4D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465558-CD90-6406-19F3-38EBE25CE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It is important to recognize that the technical and behavioral views are not contradictory but complementary.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Each perspective offers valuable insights into understanding the relationship between information systems and organizations.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Technical: “How can IS improve efficiency and outputs?”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Behavioral: “How will people, culture, and politics respond to IS?”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Before exploring this relationship further, let us first consider how organizational structures and features can influence information systems.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F7CBC6-26E5-A45B-D7CD-6BDCA2CBBEB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86F61F-F895-7565-9566-1374FE189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Viewpoints and Information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9308C7-D115-3491-20D6-BD4F2151D28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F5441D-9FB5-BB70-6734-C3C4E8E63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A821AB-2785-FF86-B9B2-7C636A8F4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30248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66D00C-1D92-D517-E48D-E6BF9AD47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DC03DC-EAFB-C012-A6B1-0834AA4E06F5}"/>
              </a:ext>
            </a:extLst>
          </p:cNvPr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How Features of Organizations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Affect Information Systems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79238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7B4B4-D94B-5C00-0BEF-6AEA7E8F5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43591-4340-4B4B-68E7-BF2A392295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Routines and Business Processes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Organizational Politics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Organizational Culture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Organizational Environments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Organizational Structure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And Some Other Features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7094E8-30EF-6CAE-684C-F6A329C5A9E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75FF7-8B34-08B1-392B-0B375EE16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Features of Organizations Affecting IS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2F12FC-5AE9-9714-4238-77487CC5B00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3D7EDC-183F-12F0-181A-437AC7E9C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7EF103-F4F3-BC7E-6B46-1DD827F1B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12118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0AB7A-46A0-756C-0FF9-0A3172197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69488-9FA0-4FED-91C2-D5ECAF4BC3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Routines are precise rules, procedures, and practices that have been developed to cope with expected situations.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Restaurant: Hosts seat customers, servers take orders, cooks prepare meals, and bussers clean tables. Each role follows well-defined routines.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College: Instructors prepare lectures, students follow class schedules, assignments are collected through a set procedure, and exams follow established rules.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Routines are often called “Standard Operating Procedures.”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Business processes can be understood as a collection of these routines. They are:.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way work is organized, coordinated, and focused to produce a valuable product or service.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collection of activities required to create that product or service.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CC4E8D-752D-4C17-29A4-3558317878D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51FE6A-38A6-281F-76F2-5FC25B61A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Routines and Business Processes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EA4B93-3716-F489-7784-6AF6B732939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941F74-893B-FD6A-1C9B-D7290C37E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308C4D-745B-5FE0-E081-29173F8CC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77188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498A-6F6F-9C9E-C274-6F8865A14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62613-E454-FBBA-F929-59C1B5B62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2705" y="1300899"/>
            <a:ext cx="6264350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To be effective, information systems must affect individual workers’ routines and thus improve the overall business process of the organization.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College classroom example: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Traditional: Paper assignments are distributed, collected, and graded manually.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IS-enhanced: Assignments are submitted and graded through a learning system, providing faster feedback and greater efficiency.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By changing individual routines, the information system improves the overall teaching and learning process.</a:t>
            </a: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6DFA99-EA38-F953-05C7-164FC8637C4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0BE95D-A659-1FB4-06DA-386BE9162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Routines and Business Processes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30360E-5923-6B2B-9BBD-52ECDB7A9A4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B3BCA9-C443-A9F3-74EE-458D67C63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F9EF40-E915-B229-3AC5-D3485716D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diagram explains how individual routines are connected to various individual routines which are interconnected to the business firm. Long description available in notes, press f6.">
            <a:extLst>
              <a:ext uri="{FF2B5EF4-FFF2-40B4-BE49-F238E27FC236}">
                <a16:creationId xmlns:a16="http://schemas.microsoft.com/office/drawing/2014/main" id="{48976DB1-9C8A-5415-8C4C-2D3B639D8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427532"/>
            <a:ext cx="4590473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58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8CE55-8F20-9A64-FD8A-AAAF11EBA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254E3-C18E-30FB-0CE6-68FB415EB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Organizational Politics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People in different positions have unique specialties and perspectives.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Leads to divergent views on resources, rewards, and punishments.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Creates political struggles, competition, and conflict.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Political resistance is a major barrier to organizational change, especially in IS development.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Large IS investments often trigger political conflict.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Managerial Implications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Implementing new IS </a:t>
            </a:r>
            <a:r>
              <a:rPr lang="en-US" altLang="zh-TW" sz="2000" dirty="0" err="1"/>
              <a:t>is</a:t>
            </a:r>
            <a:r>
              <a:rPr lang="en-US" altLang="zh-TW" sz="2000" dirty="0"/>
              <a:t> rarely a neutral, technical decision.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Managers must anticipate political resistance and identify key stakeholders early.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Success requires building coalitions and negotiating interests across divisions.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Skilled managers use organizational politics strategically to implement change.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35B67B-CE93-3A89-D1A9-98F1BE8EC40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4BDE4B-71C1-E4FD-B0A4-51E427840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Politics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503F0B-153B-1DBD-2409-635816BCA66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AA1F97-466C-5C8C-3B58-5A0C01E32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42DD15-A43D-B54B-25AA-F3066BAD2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4648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B61B8-3D1F-B946-DC03-D8064F58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A01F7-FA55-5AD5-D9E4-DE3E576782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 the 1970s and 80s, Kodak controlled 90% of U.S. film sales and 85% of camera sales.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Kodak invented the digital camera and invested heavily in digital technology.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Acquired photo-sharing site </a:t>
            </a:r>
            <a:r>
              <a:rPr lang="en-US" altLang="zh-TW" sz="2400" dirty="0" err="1"/>
              <a:t>Ofoto</a:t>
            </a:r>
            <a:r>
              <a:rPr lang="en-US" altLang="zh-TW" sz="2400" dirty="0"/>
              <a:t> in 2001 but used it mainly to promote printing.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Organizational politics tied digital to the old print business model.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Missed the true disruption, online photo sharing and mobile platforms. (e.g., Instagram)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Politics and incentives can distort how new IS are used, even when a firm recognizes the disruption.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FA2A49-FD20-2D99-C440-15737C8FFF6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50E664-5EE6-C06D-2D3E-08A5BA2B4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Politics: Kodak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B7CA67-5BA9-B6E6-3855-28EA5A587C0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E4B583-E669-7C57-A284-4334AB408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D31DA6-A302-17AC-BD43-286D37BD4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40054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3DFD3-94E5-2A47-CBBD-3530621AC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DE47-7A2F-3387-6029-EDD034681E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Organizational Culture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Bedrock, unquestioned assumptions that define goals &amp; products.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Business processes are rooted in cultural assumptions.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Culture restrains change, especially technological change.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Managerial Implications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Managers must recognize cultural assumptions, as they are often invisible but powerful constraints.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Successful IS implementation requires aligning new technology with existing cultural values or deliberately reshaping those values.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Leaders should communicate how new IS supports core goals (efficiency, service, innovation) to reduce resistance.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Cultural change takes time: managers must invest in training, incentives, and reinforcement mechanisms.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03F2F6-04C3-2EC4-F054-49939BBE5D2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A7B066-58C8-7CBD-2CB7-9B4B189C6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Culture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C7722A-269E-930B-DA19-82F3EB3B7E1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6B3605-1814-1256-E045-CCF8C7416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064B0A-F306-D157-110B-0CE5DEEBC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61693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AF5F-7A0B-015C-E0A4-67A2D8084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DD1ABC-BD2B-E6F4-094D-1AF2B91E20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Organizational Environments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Organizations draw resources from their environments and supply them with goods and services.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This is a reciprocal relationship: organizations depend on their environments but also influence them.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Information systems support environmental scanning, helping firms detect and act on external changes.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Environments change faster than organizations, creating pressure on culture, politics, and people.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Inertia, conflict, and cultural resistance make adaptation difficult; many firms fail to adjust in time.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Managerial Implications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Managers must use IS to monitor external changes: technology, tastes, regulations, competition.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Adapting quickly is essential, as delay creates vulnerability to disruption.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Inertia and resistance inside the organization must be anticipated and managed.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Alliances, partnerships, and lobbying can be tools for influencing the environment.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Long-term survival depends on balancing adaptation with stability in core routines.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8E722C-2DF2-0608-3991-553167BF15D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94434D-AFB1-794B-8913-165FDC03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Environments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00B51A-E918-86C5-2406-B424EA2E8A4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ED5B3-C0E3-6C4F-41FA-98A9D4075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EB463B-5363-551D-0607-B41279305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09666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A3511-307F-F2A6-7B24-027F915EC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80D51-3FED-4EFB-A925-AD62E70B1E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Disruptive Technologies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Radically change the business environment and landscape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Substitute for existing products, services, and models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Horse-drawn Carriages to Cars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CDs to Online Streaming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Film Cameras to Digital cameras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Can destroy entire industries or expand markets at lower cost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Not all innovators profit: first movers often fail, while fast followers succeed (e.g., IBM, Microsoft).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Managerial Implications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Managers must scan the environment for disruptive threats and opportunities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Disruption may require abandoning efficient but obsolete routines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Success depends on adapting culture, politics, and processes before rivals do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Being first is not enough — firms need resources and strategy to capture value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96E583-CA25-E03A-65D1-9C0F92E1ED7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29129E-C539-5520-DBA9-58ABCC663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Environments: Disruptive Innovation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239112-B7D2-A38C-FB82-278147BF996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0123C3-04C8-18AD-6E70-013C5DFFD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EEF34E-CACB-E2B0-B451-53FF52CC3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27747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DEFDF-C9CE-C686-2AC9-4576F9E55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Which of the following best illustrates a disruptive innovation?
Slide 20</a:t>
            </a:r>
          </a:p>
        </p:txBody>
      </p:sp>
      <p:sp>
        <p:nvSpPr>
          <p:cNvPr id="3" name="Footer Placeholder 2" descr="Poll Everywhere multiple choice poll instructions screen&#10;Activity Title: Which of the following best illustrates a disruptive innovation?">
            <a:extLst>
              <a:ext uri="{FF2B5EF4-FFF2-40B4-BE49-F238E27FC236}">
                <a16:creationId xmlns:a16="http://schemas.microsoft.com/office/drawing/2014/main" id="{BC6DCC4F-F31C-175F-C751-76D5019B7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B03E1C-399A-12F8-89DC-08A6F24AD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826CC9-23C3-5226-63AC-B400835F3A3F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6487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5C61D-0337-7BAA-15DA-8B5EF124C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Which of the following best illustrates a disruptive innovation?
Slide 22</a:t>
            </a:r>
          </a:p>
        </p:txBody>
      </p:sp>
      <p:sp>
        <p:nvSpPr>
          <p:cNvPr id="3" name="Footer Placeholder 2" descr="Poll Everywhere multiple choice poll chart screen&#10;Activity Title: Which of the following best illustrates a disruptive innovation?">
            <a:extLst>
              <a:ext uri="{FF2B5EF4-FFF2-40B4-BE49-F238E27FC236}">
                <a16:creationId xmlns:a16="http://schemas.microsoft.com/office/drawing/2014/main" id="{B9A42D34-0835-F1D5-D3CE-2D83C356F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FB59F1-28DA-5B55-CFB0-F2B28EFC2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5E0895-E301-A8EE-4734-B7D353476257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6735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91AB9-5B61-0C1E-39E0-9AD0B5A5D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3930E98-8C3E-A113-DD60-065D15C26DF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6A494D-2E53-C86F-33B5-2BD15E905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Harvard Business Review (2012, March 30). </a:t>
            </a:r>
            <a:r>
              <a:rPr lang="en-US" sz="2400" i="1" dirty="0">
                <a:solidFill>
                  <a:schemeClr val="bg1"/>
                </a:solidFill>
              </a:rPr>
              <a:t>Disruptive Innovation Explained</a:t>
            </a:r>
            <a:r>
              <a:rPr lang="en-US" sz="2400" dirty="0">
                <a:solidFill>
                  <a:schemeClr val="bg1"/>
                </a:solidFill>
              </a:rPr>
              <a:t> [Video]. 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  YouTube. https://youtu.be/qDrMAzCHFUU?si=v1KjSOa9yLEf7_T1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8B98E4-7DBD-ABB3-A2C2-A856D59B815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9BD1AF-C09F-25AD-DC49-29D15955D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1785D5-0E02-9B84-27C6-DD968BD97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Online Media 7" title="Disruptive Innovation Explained">
            <a:hlinkClick r:id="" action="ppaction://media"/>
            <a:extLst>
              <a:ext uri="{FF2B5EF4-FFF2-40B4-BE49-F238E27FC236}">
                <a16:creationId xmlns:a16="http://schemas.microsoft.com/office/drawing/2014/main" id="{C94ED018-E3B7-1054-791A-52ED45960AC2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190" y="970332"/>
            <a:ext cx="9710442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79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05AD2-C884-4277-5110-B728346AB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5E968-7CB3-6B24-7749-9A9FF9BFC4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All organizations have a structure or shape.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Structure influences the type of IS used and the nature of IS problems.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Managerial Implications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IS design must align with organizational structure.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Mismatched systems create inefficiency, duplication, and conflict.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Integration challenges grow with size and complexity.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Managers must assess whether IS reinforces or undermines the existing structure.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D6FADE-03D7-0616-4E57-CC4884205B2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6E67F0-7CBF-238F-BA36-EA2740DD3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Structure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AED9F9-26A9-9D26-5213-B16B2CAA82C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E51FAB-6770-FA7E-C9A6-55DEE657E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5FC750-4CC3-5AD8-18EA-746F326AA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69281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9EC05-33CB-8B80-7349-9398ACAE1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DA2E9-5699-0131-A3BC-16C5A5F17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Entrepreneurial Structure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Young, small firm in a fast-changing environment. It has a simple structure and is managed by an entrepreneur serving as its single chief executive officer. (e.g. Small start-up business)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Machine Bureaucracy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Large bureaucracy existing in a slowly changing environment, producing standard products. It is dominated by a centralized management team and centralized decision making. (e.g. Midsize manufacturing firm)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 err="1"/>
              <a:t>Divisionalized</a:t>
            </a:r>
            <a:r>
              <a:rPr lang="en-US" altLang="zh-TW" sz="2400" b="1" dirty="0"/>
              <a:t> Bureaucracy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Combination of multiple machine bureaucracies, each producing a different product or service, all topped by one central headquarters. (e.g. Fortune 500 firms)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A7BA62-6555-64FE-9510-6A4D92DF42F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3E88ED-8A66-8B8B-0ACD-E8AA38622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Structure: Mintzberg (1971)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FD8B84-B17D-2346-BA4D-EE0C0D7B373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D47BE5-2102-F99A-FA4B-698E29B94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8F3397-1A8B-0A69-BEE2-4167711F8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09758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0AA99-6922-9EB4-EFA2-E2987EA1E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D8223-012E-A5D1-EF41-80EA1796D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Professional Bureaucracy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Knowledge-based organization where goods and services depend on the expertise and knowledge of professionals. Dominated by department heads with weak centralized authority. (e.g. Law firms, school systems, hospitals)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Adhocracy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Task force organization that must respond to rapidly changing environments. Consists of large groups of specialists organized into short-lived multidisciplinary teams and has weak central management. (e.g. Consulting firms or Think tanks)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Ac Hoc (“for this purpose”)+ Bureaucracy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FEEEBC-F549-CB92-5C64-D73DA6ADE38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CCCBE7-4945-78A1-BB91-44D8AAC1C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Structure: Mintzberg (1971)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B36B8E-1F19-E605-0E38-453FA6F1A15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8B5980-0047-7691-8209-993A1D4C1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E21737-C36C-ABD4-9E1D-09FD198CE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06417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3F604-E3CE-79A1-6D7C-F04DB6BC4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78EEC-3DEE-6FB6-9F6A-BDA930D30A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202529"/>
          </a:xfrm>
        </p:spPr>
        <p:txBody>
          <a:bodyPr>
            <a:normAutofit lnSpcReduction="10000"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Other features of the organization would shape how information systems are designed and used.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Goals</a:t>
            </a:r>
            <a:endParaRPr lang="en-US" altLang="zh-TW" sz="24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Coercive: Organizations that compel people to participate or comply. (e.g. Prisons)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Utilitarian: Organizations that provide compensation in exchange for participation. (e.g. Businesses)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Normative: Organizations that people join to pursue shared values or beliefs. (e.g. Religion)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Constituencies</a:t>
            </a:r>
            <a:r>
              <a:rPr lang="en-US" altLang="zh-TW" sz="2400" dirty="0"/>
              <a:t>: Benefit Members, Clients, Stockholders, or the Public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Leadership</a:t>
            </a:r>
            <a:r>
              <a:rPr lang="en-US" altLang="zh-TW" sz="2400" dirty="0"/>
              <a:t>: Democratic vs. Authoritarian Styles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Tasks &amp; Technology</a:t>
            </a:r>
            <a:r>
              <a:rPr lang="en-US" altLang="zh-TW" sz="2400" dirty="0"/>
              <a:t>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Routine tasks: Formal rules, little judgment (e.g., auto parts manufacturing)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Nonroutine tasks: Judgment, expertise (e.g., consulting firms)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421C6D-0FAE-A726-4585-90A795B9ACB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C297A6-B2E9-6400-162E-575DAF7C9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Other Organizational Features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C88C67-A570-512A-14EE-28608CF7A65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AD1B18-5AD2-7173-DA01-F46DAD992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1B556E-A6BB-CA63-EABB-A1B621033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2150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42537B-D993-527F-2C45-E9A9104D3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A17F1B-F81D-A101-43D0-0BF1F304B40A}"/>
              </a:ext>
            </a:extLst>
          </p:cNvPr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How Information Systems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Affect Organizations</a:t>
            </a:r>
          </a:p>
        </p:txBody>
      </p:sp>
    </p:spTree>
    <p:extLst>
      <p:ext uri="{BB962C8B-B14F-4D97-AF65-F5344CB8AC3E}">
        <p14:creationId xmlns:p14="http://schemas.microsoft.com/office/powerpoint/2010/main" val="3724779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91733-44F7-E42A-221A-90C7F92C1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17E5E-FFF1-1DEB-5A13-BE4056423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94600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Over the past decade, information systems have fundamentally altered the economics of organizations.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IT as a factor of production can substitute for both labor and capital, the traditional factors of production.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Declining IT costs shift the balance making IT relatively cheaper than labor or capital.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Labor Substitution: Routine clerical work and middle management tasks are increasingly automated.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Capital Substitution: IT reduces the need for expensive capital by enabling digital processes.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Therefore, firms are increasingly investing more heavily in IT, as it delivers efficiency at a lower relative cost.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EE7A4E-9791-9C51-DD73-858CAD48501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FE1F5B-FC46-0C2C-0732-A69656948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Economic Impact: Shifting Relative Costs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EAB7C7-34CF-F343-7696-F6823C82421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34941-3405-FC91-D848-BAB67CA87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4054E2-63FF-9865-034C-6BD9A8FF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20271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433F6-39E5-E75B-8310-5CF8E58CE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B85277-0DE2-6632-84FD-410AB4C5D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94600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traditional challenge was obtaining, sharing, and verifying information across markets.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Transaction Costs</a:t>
            </a:r>
            <a:r>
              <a:rPr lang="en-US" altLang="zh-TW" sz="2400" dirty="0"/>
              <a:t> are costs incurred when a firm buys on the marketplace what it cannot make itself: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Searching for and evaluating suppliers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Negotiating and monitoring contracts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Managing risk and insurance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Gathering product and market information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Traditionally, firms engaged in vertical integration to mitigate transaction costs.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IT impact: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Lowers transaction costs dramatically (e.g., online sourcing, instant communication, digital monitoring)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Allows firms to contract in size, outsourcing more activities instead of performing everything in-house</a:t>
            </a:r>
            <a:endParaRPr lang="en-US" altLang="zh-TW" sz="1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30EDCB-46E6-BBAA-746E-A5033BE5412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3E485A-7AEF-F79C-0BB2-D21B85ECB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Economic Impact: Economics of Information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C37A68-885A-6533-263D-1D98F7F8837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347273-D058-79F5-1E54-1BE60D1B3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3C99D8-D26F-68D8-3A33-75DED155A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1489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7DB1-4A96-83CF-3BE9-ED71033C5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Which of the following is NOT an example of a transaction cost?
Slide 28</a:t>
            </a:r>
          </a:p>
        </p:txBody>
      </p:sp>
      <p:sp>
        <p:nvSpPr>
          <p:cNvPr id="3" name="Footer Placeholder 2" descr="Poll Everywhere multiple choice poll instructions screen&#10;Activity Title: Which of the following is NOT an example of a transaction cost?">
            <a:extLst>
              <a:ext uri="{FF2B5EF4-FFF2-40B4-BE49-F238E27FC236}">
                <a16:creationId xmlns:a16="http://schemas.microsoft.com/office/drawing/2014/main" id="{3BB709EA-BD80-BE80-E170-A00F3D76D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31D507-4AB5-11B1-35A1-6B90CCC32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74FFD2-6D3C-9B9E-0B39-E9418980E2BC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79697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28091-A97E-FA32-A2F5-BCCD658D2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Which of the following is NOT an example of a transaction cost?
Slide 30</a:t>
            </a:r>
          </a:p>
        </p:txBody>
      </p:sp>
      <p:sp>
        <p:nvSpPr>
          <p:cNvPr id="3" name="Footer Placeholder 2" descr="Poll Everywhere multiple choice poll chart screen&#10;Activity Title: Which of the following is NOT an example of a transaction cost?">
            <a:extLst>
              <a:ext uri="{FF2B5EF4-FFF2-40B4-BE49-F238E27FC236}">
                <a16:creationId xmlns:a16="http://schemas.microsoft.com/office/drawing/2014/main" id="{03570C7E-B35C-D23F-9EE3-4D394FA3C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E19B37-6AD9-D0CD-E19E-2CA99EA13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5B4D3C-4CC1-1409-EF47-C1C71532495B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7022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D54AC-C7CA-B9A2-2902-3B39654B4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0E35B-3E1D-521E-4019-D32B8CF4E3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Agency Theory</a:t>
            </a:r>
            <a:r>
              <a:rPr lang="en-US" altLang="zh-TW" sz="2400" dirty="0"/>
              <a:t> posits that firms are “Nexus of Contracts” among self-interested individuals.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Principals (owners) employ agents (employees), and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Agents require supervision to align their interests with the owners’.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As firms grow, agency costs (coordination &amp; supervision) rise.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IT impact: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Reduces cost of acquiring &amp; analyzing information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Makes it easier to oversee more employees with fewer managers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Shrinks the number of middle managers &amp; clerical staff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As a result, firms can be smaller, more efficient, and still increase revenues.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44808A-4340-BED7-1241-B6A1FE64C1D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FA7265-F820-82E1-E873-EAD84CB90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Economic Impact: Economics of Information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FC03CF-4D77-1F55-C00E-4A1D46BAF78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78C061-5607-D9F7-4A27-7BBD52418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6871BF-666A-BE14-96C8-60CADB0DD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88944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6D4B1-F69A-AA27-6352-08F50A6B6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AC8E3-AB6D-1A62-8E8E-18A3B7092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3277" y="1300899"/>
            <a:ext cx="6273777" cy="489251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IT “Flattens” organizations: Reduces levels in hierarchies and downsizes large bureaucracies.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happens through three main channels:</a:t>
            </a:r>
            <a:endParaRPr lang="en-US" altLang="zh-TW" sz="12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Broader distribution of information empowers lower-level employees to make decisions.</a:t>
            </a:r>
            <a:endParaRPr lang="en-US" altLang="zh-TW" sz="12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Managers gaining efficiency: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Faster, more accurate information leading to quicker decisions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Fewer managers needed; management costs decline</a:t>
            </a:r>
            <a:endParaRPr lang="en-US" altLang="zh-TW" sz="12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Span of control widens, and senior managers oversee more workers across greater distances.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Result: thousands of middle management roles eliminated in many firms</a:t>
            </a:r>
            <a:endParaRPr lang="en-US" altLang="zh-TW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F4CEC0-CFC2-BB1B-F10D-7D771707B98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F4B59A-EB50-904A-812D-CF1F06BB6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&amp; Behavioral Impact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1DDF2D-11A0-6726-6428-6D068AF8937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77A73-1F7C-74A3-47E9-374DEDBB3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40387-76DF-DBD0-ED8D-EC5838E1E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Two organizational charts compare the role of information systems.  Long description available in notes, press f6.">
            <a:extLst>
              <a:ext uri="{FF2B5EF4-FFF2-40B4-BE49-F238E27FC236}">
                <a16:creationId xmlns:a16="http://schemas.microsoft.com/office/drawing/2014/main" id="{3AE134B2-0E4A-5F62-15B9-992918D1C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1" y="1878213"/>
            <a:ext cx="4564400" cy="367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790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B78E0-B144-3D57-FE30-65072B9BB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27DAA-5573-3BD7-CDDF-BCE9A7013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While updating information systems in an organization is often viewed as universally “good,” it isn’t free of internal challenges and politics.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Information Systems…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Affect access to information, a key resource in organizations.</a:t>
            </a:r>
            <a:endParaRPr lang="en-US" altLang="zh-TW" sz="12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Influence who does what, when, where, and how in the organization.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Changes to well-established personal routines.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Often require training or education that isn’t compensated.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Because shifts in information systems alter structure, culture, processes, and strategy, they often face considerable resistance.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Managers’ ability to work with people and organizations can be just as important as their technical awareness and knowledge.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659527-82F3-F989-E413-E9EFDA58BB5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41669B-849C-D91B-02B0-72B16DEBB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Resistance to Change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D590C4-A59C-480E-6817-DFD62ADC3AE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14D625-4D5F-58F6-0CB2-66BA19973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005597-2B9D-4541-3AB0-6F5F494C5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6507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AAD7A-C3F4-77FE-576A-C2E012BD1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7F0264-8EF0-952E-71E5-456C104D2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42469" y="1300899"/>
            <a:ext cx="5504585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Research highlights four key factors of resistance: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Nature of the IT innovation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Organization’s structure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Culture of people in the organization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Tasks affected by the innovation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These factors interact: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Changes are often absorbed, deflected, or defeated unless technology, tasks, structure, and people change together.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“Unfreeze → Change → Refreeze” may be necessary to institutionalize change.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F08CAD-0C10-7F97-AF96-D42D1A7A8EF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E9A784-FB29-D07D-5686-09AF95161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Resistance to Change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416AB3-7E26-06AE-7246-9E1253C9BD5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BC0213-6C06-ACDF-F20D-0A3D9B381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CFC5F6-A694-16F7-8FCF-BD890B75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diagram explains the sources of organizational resistance to change namely, organizational structure, people, job tasks, and information technology.">
            <a:extLst>
              <a:ext uri="{FF2B5EF4-FFF2-40B4-BE49-F238E27FC236}">
                <a16:creationId xmlns:a16="http://schemas.microsoft.com/office/drawing/2014/main" id="{FC52285A-5202-A6EC-2327-A01DED0D03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312650"/>
            <a:ext cx="5600700" cy="4714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75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00707-B25F-9BF8-D00B-4DDDA93D7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25369-EDFF-BBA2-AD3C-F2F400BE5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Genuine benefits require understanding the organization where the system will be used.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Key organizational factors to consider: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external </a:t>
            </a:r>
            <a:r>
              <a:rPr lang="en-US" altLang="zh-TW" sz="2000" b="1" dirty="0"/>
              <a:t>environment</a:t>
            </a:r>
            <a:r>
              <a:rPr lang="en-US" altLang="zh-TW" sz="2000" dirty="0"/>
              <a:t> in which the firm operates.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</a:t>
            </a:r>
            <a:r>
              <a:rPr lang="en-US" altLang="zh-TW" sz="2000" b="1" dirty="0"/>
              <a:t>structure</a:t>
            </a:r>
            <a:r>
              <a:rPr lang="en-US" altLang="zh-TW" sz="2000" dirty="0"/>
              <a:t>: hierarchy, specialization, routines, processes.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</a:t>
            </a:r>
            <a:r>
              <a:rPr lang="en-US" altLang="zh-TW" sz="2000" b="1" dirty="0"/>
              <a:t>culture and politics </a:t>
            </a:r>
            <a:r>
              <a:rPr lang="en-US" altLang="zh-TW" sz="2000" dirty="0"/>
              <a:t>that shape behavior.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</a:t>
            </a:r>
            <a:r>
              <a:rPr lang="en-US" altLang="zh-TW" sz="2000" b="1" dirty="0"/>
              <a:t>type of organization </a:t>
            </a:r>
            <a:r>
              <a:rPr lang="en-US" altLang="zh-TW" sz="2000" dirty="0"/>
              <a:t>and leadership style.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</a:t>
            </a:r>
            <a:r>
              <a:rPr lang="en-US" altLang="zh-TW" sz="2000" b="1" dirty="0"/>
              <a:t>interest groups </a:t>
            </a:r>
            <a:r>
              <a:rPr lang="en-US" altLang="zh-TW" sz="2000" dirty="0"/>
              <a:t>affected and worker attitudes toward the system.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</a:t>
            </a:r>
            <a:r>
              <a:rPr lang="en-US" altLang="zh-TW" sz="2000" b="1" dirty="0"/>
              <a:t>tasks, decisions, and business processes </a:t>
            </a:r>
            <a:r>
              <a:rPr lang="en-US" altLang="zh-TW" sz="2000" dirty="0"/>
              <a:t>the IS </a:t>
            </a:r>
            <a:r>
              <a:rPr lang="en-US" altLang="zh-TW" sz="2000" dirty="0" err="1"/>
              <a:t>is</a:t>
            </a:r>
            <a:r>
              <a:rPr lang="en-US" altLang="zh-TW" sz="2000" dirty="0"/>
              <a:t> meant to support.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Firms also compete in external environments, where IS can create strategic advantages that explain why some firms consistently outperform others.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23702D-CFC8-E599-2923-B552872D8A6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7E8662-9F6A-06E7-33D0-DF9A6D6E1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Factors of Consideration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B8BAD7-ABE4-1FE8-A959-9F8325DDE27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BD4BA-99C1-50FC-F017-401AD4CB3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06284D-A50E-3BBE-5025-5362A60EB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55842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751828-9476-F1A5-1C73-09F8C07D6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B4407C-6160-F4C1-C190-30EE4109726B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The Competitive Forces Model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48409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FCCC8-71AB-DA1C-7E35-150A5454C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351A42-4411-DDEC-398A-5063173B0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 every industry, some firms consistently outperform others: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Toyota (automotive), Amazon (online retail), Walmart (offline retail), Google (web search)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Superior performers have a competitive advantage: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Access to unique resources or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Use common resources more efficiently (knowledge, IS assets)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Those with competitive advantages enjoy greater revenue growth, profitability, productivity, and market valuation.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widely used framework of understanding competitive advantages is Michael Porter’s Competitive Forces Model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Five competitive forces shape the fate of firm!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D2B33A-3CE3-A3BF-DD1D-95F691B5F20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0B7AB6-3181-B919-5D73-B2181DA5C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Competitive Forces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31F8A4-121B-73DE-700C-682D8C8215D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F3986E-D923-6742-13B0-DD30A5148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85C378-FAE6-F584-75D6-AD7A40D63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776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83681-6B7B-E2B0-9B5D-35F58A278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2C3CBA-09AC-130F-C741-4F3E3678DAA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8EA821-E558-EDDD-B143-677742773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Competitive Forces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E245ED-BE96-F197-0D79-AC61984C2EE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DF6C35-2A29-3611-0E48-26921FF1C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97D4D4-7288-6D06-71D3-D0C902FD3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 descr="A diagram illustrates how the Porter’s framework analyzes the competition of a business. Long description available in notes, press f6.">
            <a:extLst>
              <a:ext uri="{FF2B5EF4-FFF2-40B4-BE49-F238E27FC236}">
                <a16:creationId xmlns:a16="http://schemas.microsoft.com/office/drawing/2014/main" id="{9EB94C57-368F-4C33-8C40-08E224D76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110" y="1198932"/>
            <a:ext cx="9880601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813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A437A-7363-5045-FCAB-D30D76B30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6EE39-A019-B7D8-03D7-C162F56E6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Traditional Competitors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Rivals compete by improving efficiency, introducing new products, and building strong brands.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Switching costs, the costs (financial, time, effort, or inconvenience) that customers face when changing from one product or service to another, help firms retain customers.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New Market Entrants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Entry is easier in some industries (e.g., pizza shop) and harder in others (e.g., semiconductors).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Advantages: No legacy costs, younger/cheaper workforce, higher motivation.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Weaknesses: Need financing, little brand recognition, less experience.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Substitute Products and Services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Alternatives reduce pricing power and profit margins.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e.g. electric cars vs. gas cars; solar/wind vs. fossil fuels; streaming vs. cable TV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18A428-2AF7-042C-0702-DFF068A0EBD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74932C-7D30-D315-04CA-EB5462F8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Five Competitive Forces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3E0A10-6BF2-A0B3-921A-4446CAADA48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F9D121-829B-9065-86F6-DD8678FA9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A48CB6-79D9-D214-70F5-FF7E0A64D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1292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7E0CA-0BFE-2AAF-E804-919BBE367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DA6452-9AAA-00BD-0559-402E62791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Customers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customers’ power grows when switching is easy, or competition is price-only.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Transparent markets increase customer power (e.g., online used textbook market)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Firms attempt to create brand loyalty with unique, hard-to-copy products.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Suppliers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Powerful suppliers can erode profits if firms cannot raise prices as quickly.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More supplier options often translate to more control for firms.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e.g. Laptop makers use multiple suppliers for parts like keyboards and screens.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Firms respond to competitive forces by adopting IS-enabled strategies that strengthen their market position.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5360A3-DAA5-FB48-382E-66A88082A96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D50BB8-B21A-6101-8A85-FC67585F5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Five Competitive Forces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9BCE5B-412E-C093-78A6-C2D7FCAA738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F3C810-8AE5-56A9-6833-AAFB5D473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012493-A60C-08DE-9509-8C061213E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5837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31DA9-A6B1-2F8F-87E2-6C0F0B274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271DE8-5030-32A9-D82E-4D5A8F223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Low-cost Leadership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Use IS to achieve lowest operating costs &amp; prices.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Example: Walmart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Continuous replenishment system links checkout to suppliers.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Real-time inventory tracking keeps shelves stocked &amp; reduces warehouse costs.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Efficient customer response system directly ties consumer behavior to supply chain.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Product Differentiation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IS enables new products &amp; services and enhances customer convenience.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Examples: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Amazon’s One-click Shopping: Revolutionized the early-stage e-commerce scene.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Apple’s iTunes Store: First firm to develop a legal online marketplace for digital music.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Beyond differentiating products, but can manage the entire customer experience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D60001-214D-FB35-0AE5-ED9DEBC94AF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6463C8-47C4-71A0-CD4D-98EDE750E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IS Strategies for Competitive Forces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E0C79C-C2C6-8552-73D5-6406876AEB3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E356F9-B2C4-7D73-416F-3875ED954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0EED1A-8C1C-8C97-A622-E5780B22A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00286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453AB-3988-F518-F7DC-3C78DDF31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F9F1C-FBDA-A226-B22D-A9E08C3354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Focusing on Market Niches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IS supports specialized focus, serving narrow markets better than competitors.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Tools: Data mining, AI/ML, CRM systems.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Examples: 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Charlotte Hornets: Real-time fan profiles for personalized marketing.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Credit Cards: Predict profitable cardholders via purchase data analysis.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Enables “one-to-one” marketing tailored to individual preferences.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Strengthening Customer and Supplier Intimacy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Tighten linkages with suppliers and build stronger relationships with customers.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Examples: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Toyota: Suppliers access production schedules, decide shipping.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Amazon: Recommends products based on user history &amp; peer purchases.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Benefits: Higher switching costs, stronger loyalty, competitive advantage.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82ABD5-A8A1-1BBA-B49E-EA829A7AF64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BDDC7-EFAA-E371-15B2-97C96A209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IS Strategies for Competitive Forces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F8F0C4-24C2-8C44-7F85-EF7A583D47B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B1938-C663-6C54-16D6-FC838C4ED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18669A-78BD-95CE-217A-5A644B1AF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90142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26418-17B1-0BCA-9B29-F5D0730DB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DFD02-A3C5-9D74-BEAC-781EA071C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Competitive forces intensified (Porter, 2001)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Universal standards make entry easier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Price competition increases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Customers gain bargaining power (easy to compare prices online)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Profits dampened across many industries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Industries Disrupted: Newspapers, music, books, retail, telecommunication, etc.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Opportunities created: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Entirely new markets &amp; business models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Large customer bases &amp; brand-building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Examples: Amazon, eBay, YouTube, Facebook, Expedia, Google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93E99B-F1CA-EF39-E032-CD6847A6486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5675E6-6ADB-A5EC-3812-76E71A18A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How IT is Changing Competitive Advantages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59AA1E-5746-A204-B4E5-4BEB2BCD3CD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9C3411-A114-D6F1-2627-E879A4384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C0A719-5F8F-561C-653A-90D995388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10985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3E201C-28D5-61B5-E946-E657105CB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1B4C90-CE77-16AD-6BB0-AA0F2F495784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The Value Chain Model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59451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DACF5-8F45-D1C1-D5A9-9257D0997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87F80-B34F-8CBD-2348-A0B16E59A2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5387" y="1300899"/>
            <a:ext cx="5321668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Porter’s Five Forces are helpful for identifying competition, but not specific on </a:t>
            </a:r>
            <a:r>
              <a:rPr lang="en-US" altLang="zh-TW" sz="2400" i="1" dirty="0"/>
              <a:t>what to do</a:t>
            </a:r>
            <a:r>
              <a:rPr lang="en-US" altLang="zh-TW" sz="2400" dirty="0"/>
              <a:t>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Value Chain Model: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Highlights where IS can add the most value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Identifies leverage points to improve efficiency &amp; competitive position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value chain model views the firm as a chain of activities adding margin of value to products/services.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Two Activities: Primary and Support.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A62F0D-B0FA-6164-B10A-884C9FC350E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2D9002-1740-5176-10AA-8375A7AAC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Value Chain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AE29F0-7F65-D4B3-CF01-A7E35912930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C73CF1-AFD7-901D-07D5-5D9B668C3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A0CF1A-6586-C027-6AEC-BD4EAA045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diagram represents an Industry Value Chain, which is a framework used to describe the activities and systems involved in the production and distribution of goods and services. Long description available in notes, press f6.">
            <a:extLst>
              <a:ext uri="{FF2B5EF4-FFF2-40B4-BE49-F238E27FC236}">
                <a16:creationId xmlns:a16="http://schemas.microsoft.com/office/drawing/2014/main" id="{C93CD1AD-295C-7DAA-5F93-0F37830F2B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1" y="1466009"/>
            <a:ext cx="5657850" cy="4714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07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7C344-E2A7-8EDE-4E30-1309B2EDC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D97284-0656-6EE2-05B6-8D02B50C63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0" y="1300899"/>
            <a:ext cx="11302737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Primary Activities</a:t>
            </a:r>
            <a:r>
              <a:rPr lang="en-US" altLang="zh-TW" sz="2400" dirty="0"/>
              <a:t> are directly related to production and distribution.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b="1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Inbound Logistics</a:t>
            </a:r>
            <a:r>
              <a:rPr lang="en-US" altLang="zh-TW" sz="2400" dirty="0"/>
              <a:t>: Receiving &amp; storing materials for production.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400" i="1" dirty="0"/>
              <a:t>e.g. RFID &amp; warehouse management systems optimize inventory flows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Operations</a:t>
            </a:r>
            <a:r>
              <a:rPr lang="en-US" altLang="zh-TW" sz="2400" dirty="0"/>
              <a:t>: Transforming inputs into finished products.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400" i="1" dirty="0"/>
              <a:t>e.g. CAD systems, robotics, process automation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Outbound Logistics</a:t>
            </a:r>
            <a:r>
              <a:rPr lang="en-US" altLang="zh-TW" sz="2400" dirty="0"/>
              <a:t>: Storing &amp; distributing finished goods.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400" i="1" dirty="0"/>
              <a:t>e.g. UPS/FedEx package tracking, logistics optimization software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Sales &amp; Marketing</a:t>
            </a:r>
            <a:r>
              <a:rPr lang="en-US" altLang="zh-TW" sz="2400" dirty="0"/>
              <a:t>: Promoting &amp; selling products.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400" i="1" dirty="0"/>
              <a:t>e.g. CRM systems, AI-driven targeted ads, e-commerce platforms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Service</a:t>
            </a:r>
            <a:r>
              <a:rPr lang="en-US" altLang="zh-TW" sz="2400" dirty="0"/>
              <a:t>: Maintenance &amp; repair after the sale.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400" i="1" dirty="0"/>
              <a:t>e.g. Online service portals, predictive maintenance via IoT sensors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281359-6838-3CF8-605E-4E917CB4891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C8063D-3C83-8F66-F0C2-8ABC86EB2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Value Chain Model: Primary Activities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E48385-B012-377C-01C2-FF1835A92D7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70F797-0644-81F5-70C7-DD3E2F02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C86EEB-77BD-8D9F-54DB-6B7B29777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24173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43A04-FAD7-2CC4-C42E-7BBEC7D36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95F41-049F-A3ED-53D1-947F0ECCF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Support Activities</a:t>
            </a:r>
            <a:r>
              <a:rPr lang="en-US" altLang="zh-TW" sz="2400" dirty="0"/>
              <a:t> make the delivery of the primary activities possible.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b="1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Infrastructure</a:t>
            </a:r>
            <a:r>
              <a:rPr lang="en-US" altLang="zh-TW" sz="2400" dirty="0"/>
              <a:t>: Admin &amp; Management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400" i="1" dirty="0"/>
              <a:t>e.g. ERP systems integrate finance, planning, and operations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Human Resources</a:t>
            </a:r>
            <a:r>
              <a:rPr lang="en-US" altLang="zh-TW" sz="2400" dirty="0"/>
              <a:t>: Recruiting, hiring, training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400" i="1" dirty="0"/>
              <a:t>e.g. LinkedIn, online applicant tracking systems, e-learning platforms</a:t>
            </a:r>
            <a:endParaRPr lang="en-US" altLang="zh-TW" sz="1400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Technology</a:t>
            </a:r>
            <a:r>
              <a:rPr lang="en-US" altLang="zh-TW" sz="2400" dirty="0"/>
              <a:t>: Improving products &amp; processes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400" i="1" dirty="0"/>
              <a:t>e.g. </a:t>
            </a:r>
            <a:r>
              <a:rPr lang="en-US" sz="1400" i="1" dirty="0"/>
              <a:t>R&amp;D databases, AI/ML for product design</a:t>
            </a:r>
            <a:endParaRPr lang="en-US" altLang="zh-TW" sz="1400" i="1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Procurement</a:t>
            </a:r>
            <a:r>
              <a:rPr lang="en-US" altLang="zh-TW" sz="2400" dirty="0"/>
              <a:t>: Purchasing inputs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400" i="1" dirty="0"/>
              <a:t>e.g. </a:t>
            </a:r>
            <a:r>
              <a:rPr lang="en-US" sz="1400" i="1" dirty="0"/>
              <a:t>E-procurement systems, supplier portals, automated bidding tools</a:t>
            </a:r>
            <a:endParaRPr lang="en-US" altLang="zh-TW" sz="1400" i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32EFE2-41A6-7B8A-4ED0-FA6177C8639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00259F-9F02-A410-E8A5-759BD3FFB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Value Chain Model: Support Activities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700293-4188-2662-C1C2-00100B7D941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157B10-A440-FB90-2AEA-508EDB9FD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54FF81-696B-EDE5-5503-59FBA2E23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7584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BBC2E-5C5C-2FC3-5D53-8B687244D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79F058-585F-B1BD-AB1E-9FC6A51BD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0" y="1300899"/>
            <a:ext cx="11302737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adoption of the value chain model leads to benchmarking and the identification of best practices.</a:t>
            </a:r>
            <a:endParaRPr lang="en-US" altLang="zh-TW" sz="2400" i="1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i="1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Benchmarking</a:t>
            </a:r>
            <a:r>
              <a:rPr lang="en-US" altLang="zh-TW" sz="2400" dirty="0"/>
              <a:t>: Compare efficiency &amp; effectiveness of processes against strict standards, then measuring the performance against said standards.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Best Practices</a:t>
            </a:r>
            <a:r>
              <a:rPr lang="en-US" altLang="zh-TW" sz="2400" dirty="0"/>
              <a:t>: Proven solutions identified by consulting firms, research organizations, government agencies, or industry groups.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IS can support both by: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Collecting and analyzing performance data.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Enabling comparisons across units, firms, or industries.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Highlighting areas for process improvement.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F41810-1686-04F9-C32F-3BD52BAA5EB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737978-5EDA-03FB-4820-F4471797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Value Chain Model: Benchmarking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4560FF-BE4C-F675-0A80-51C16D7742F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FA6583-B0A5-977F-423D-5C9630248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EFD1AF-AB4E-293D-7CA2-A6144D711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81243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392F9-E351-8D74-A3AC-E7FC489C4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FBBEA-ECFC-F8B6-883A-5E08CB8D4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firm’s value chain is linked to those of suppliers, distributors, and customers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Performance depends on how well firms coordinate across the chain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IS can provide industry-level strategic advantage by: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Creating standards for electronic information exchange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Building industrywide IT-supported networks/consortia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Raising entry costs and reducing substitution through shared systems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Example: Amazon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Supplier integration (easy product display &amp; store setup)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Customer integration (easy payments, shipment tracking)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Logistics coordination with UPS/FedEx</a:t>
            </a:r>
            <a:endParaRPr lang="en-US" altLang="zh-TW" sz="1000" i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F8F637-3890-F9A0-704E-8C32F353C8E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199F82-3884-F9EB-7510-4876F08E1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Extension: The Value Web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17942A-919E-2108-050D-860EDE81969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DFBB2A-9005-251D-8522-9DED26D97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57B1CD-8B45-E680-BE5A-63FD82F86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98571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546F7-924B-7AA1-7A74-072141432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A57C6-BAE7-025F-3526-33BF22C47A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1047" y="1300899"/>
            <a:ext cx="6566008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</a:t>
            </a:r>
            <a:r>
              <a:rPr lang="en-US" altLang="zh-TW" sz="2400" b="1" dirty="0"/>
              <a:t>Value Web </a:t>
            </a:r>
            <a:r>
              <a:rPr lang="en-US" altLang="zh-TW" sz="2400" dirty="0"/>
              <a:t>is a network of independent firms using IS to coordinate value chains collectively.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More customer-driven, flexible, and adaptive to customer needs, than linear value chains.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Synchronizes business processes across suppliers, customers, and partners</a:t>
            </a:r>
          </a:p>
          <a:p>
            <a:pPr marL="1371600" lvl="3" indent="0">
              <a:buNone/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Benefits: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Faster time-to-market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Rapid response to changes in supply &amp; demand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Ability to choose best partners for price, speed, and location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EECC6E-87E7-DDE1-CE50-F1289A0F51B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AEAC51-2366-A4D0-B246-1A665BDF4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Extension: The Value Web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471C8E-222F-E7A9-2ABC-D0830C5275C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B7453A-A1B8-7E72-B524-E467703CA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796785-FA7E-BBD9-4FFC-10A045A1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 descr="A radial diagram explains how a firm’s value chain is interconnected to the value chains of its suppliers, indirect suppliers, partner firms, and customers. Long description available in notes, press f6.">
            <a:extLst>
              <a:ext uri="{FF2B5EF4-FFF2-40B4-BE49-F238E27FC236}">
                <a16:creationId xmlns:a16="http://schemas.microsoft.com/office/drawing/2014/main" id="{065EF1EF-3CBA-861B-44FE-571B90F88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1" y="1356094"/>
            <a:ext cx="4457700" cy="4714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585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ACF7D6-0D95-7EF7-D2FA-1002936FD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701EB8F-CD5C-F59C-0710-65882BECE660}"/>
              </a:ext>
            </a:extLst>
          </p:cNvPr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Synergies, Core Competencies, 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And Network Economics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12766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1B0BB-BA23-D8A6-074B-CDAAAE9BA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E7637-8723-C2E6-C6E4-DE2F5B7365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IS can achieve additional efficiencies by promoting synergies and core competencies.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i="1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Synergies</a:t>
            </a:r>
            <a:r>
              <a:rPr lang="en-US" altLang="zh-TW" sz="2400" dirty="0"/>
              <a:t> refer to benefits created when combined units generate more value together than alone.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Typically found in a business environment when: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Output of one unit becomes input for another, or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Firms pool markets and expertise to lower costs &amp; increase profits.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Examples: Bank Mergers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JPMorgan Chase + Bank of New York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Bank of America + Countrywide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E8CE88-D8B0-24F5-61B2-069E65793F8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6B3FF2-6D47-9C3F-EE41-863841D39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Synergies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2655BD-0E43-1633-20BF-41B5AF94C68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03A15F-AA07-6107-53FA-65D36C3DE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D6C124-B262-224C-E57E-74019DD20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61257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3D470-EBEE-846A-B76D-FE68441F7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621D3-707A-4950-0891-AAF11F2AB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Core Competencies</a:t>
            </a:r>
            <a:r>
              <a:rPr lang="en-US" altLang="zh-TW" sz="2400" dirty="0"/>
              <a:t> are activities where a firm is an industry leader</a:t>
            </a:r>
            <a:r>
              <a:rPr lang="en-US" altLang="zh-TW" sz="2000" dirty="0"/>
              <a:t>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Built on years of practical experience, research, and committed employees.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Role of IS in enhancing core competencies: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Encourages knowledge sharing across business units.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Makes external knowledge accessible.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Leverages existing competencies into related markets.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Example: Procter &amp; Gamble (P&amp;G)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IS connects R&amp;D, engineering, marketing, legal, and other units worldwide.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Employees share reports, charts, videos, and expertise online.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Links to outside scientists &amp; entrepreneurs to accelerate innovation.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DDFDF2-4DF6-E553-B01D-B10A1599AB4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2FFB1E-8933-6E70-73A5-1567DAF41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Core Competencies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493E22-FF79-2F00-7BFA-C08673764BE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B9A277-C4F5-2D2C-1DA9-BFF885AE4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44EE21-FA84-B231-6644-E123D793A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92023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592DE-8044-5B27-7448-A48670560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73A6C-3A6D-FDFA-9E7E-CE042699F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IS can also create value by connecting firms into larger networks.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Network Economics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Virtual Company Model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Business Ecosystems and Platforms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Network Economics</a:t>
            </a:r>
            <a:endParaRPr lang="en-US" altLang="zh-TW" sz="24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Value grows as more people use a product or network.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Example: A phone, email, or social network is only valuable when millions of others also use it.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Traditional Economics: Production experience diminishing returns.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Network Effects: Marginal cost is close to 0, but marginal gain grows as the userbase grows.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IS applications: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Build communities of users (e.g., Facebook, eBay, Airbnb, Uber).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Larger installed bases increase software &amp; platform value.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Strong customer loyalty through community and shared experience.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DB7226-B823-2EC7-51D8-E306D9250F1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8C6B0C-1105-9E45-28A3-6E54BB3E4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Network-Based Strategies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089D17-1909-8C31-1D04-B4959E0ADB3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E8C154-1EC3-35A2-DD7C-23762F5B3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86CD99-58BA-0625-50A1-B08F2603C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14431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E2280-6793-4258-4A17-238E6AC9E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F632C-D6D0-E4E2-262A-1C92977BE7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Virtual Company Model</a:t>
            </a:r>
            <a:endParaRPr lang="en-US" altLang="zh-TW" sz="24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Uses networks to link people, assets, and ideas across firms.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Flexible alliances without traditional boundaries or physical constraints.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Able to acquire capabilities quickly and cost-effectively and adapt rapidly to market opportunities.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Business Ecosystems &amp; Platforms</a:t>
            </a:r>
            <a:endParaRPr lang="en-US" altLang="zh-TW" sz="24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Interdependent networks of firms in related industries that co-create value.</a:t>
            </a:r>
            <a:endParaRPr lang="en-US" altLang="zh-TW" sz="16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Example: Device makers (Apple, Samsung), Telecommunications (Verizon, AT&amp;T), </a:t>
            </a:r>
            <a:r>
              <a:rPr lang="en-US" altLang="zh-TW" sz="2000" dirty="0" err="1"/>
              <a:t>etc</a:t>
            </a: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Value is created collectively, not individually.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b="1" dirty="0"/>
              <a:t>Keystone Firms</a:t>
            </a:r>
            <a:r>
              <a:rPr lang="en-US" altLang="zh-TW" sz="2000" dirty="0"/>
              <a:t>: Dominate ecosystems and provide platforms for others. (e.g. Facebook, Microsoft)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Strategic options: Become a keystone firm (build platforms others use) or thrive as a profitable niche player within an ecosystem.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92DD74-4AD9-F9B0-4BFB-A2914179F7B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6B09B3-B1CC-F0AB-A8B4-D39B7E7A7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Network-Based Strategies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6C084A-EBC6-A70C-038D-831D0B23516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B0F48E-4CCA-EB16-8246-D5FA1F8B6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588B73-E6AA-2C5B-11F3-1DF1B69FA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71587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221D3-2AF2-2372-19B9-FACE39AB2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25B35D-9037-7A78-E10E-EC32F4C6C9D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4AA3ED-7457-2A7B-B240-9F7782603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Li &amp; Fung (2019, August 20). </a:t>
            </a:r>
            <a:r>
              <a:rPr lang="en-US" sz="2400" i="1" dirty="0">
                <a:solidFill>
                  <a:schemeClr val="bg1"/>
                </a:solidFill>
              </a:rPr>
              <a:t>Li &amp; Fung on a journey to create the supply chain of the </a:t>
            </a:r>
            <a:br>
              <a:rPr lang="en-US" sz="2400" i="1" dirty="0">
                <a:solidFill>
                  <a:schemeClr val="bg1"/>
                </a:solidFill>
              </a:rPr>
            </a:br>
            <a:r>
              <a:rPr lang="en-US" sz="2400" i="1" dirty="0">
                <a:solidFill>
                  <a:schemeClr val="bg1"/>
                </a:solidFill>
              </a:rPr>
              <a:t>  future </a:t>
            </a:r>
            <a:r>
              <a:rPr lang="en-US" sz="2400" dirty="0">
                <a:solidFill>
                  <a:schemeClr val="bg1"/>
                </a:solidFill>
              </a:rPr>
              <a:t>[Video]. YouTube. https://youtu.be/KSeZXjkYERs?si=A2k4HdZMtf__y9jD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36F676-CBFB-99E8-47C5-45C95C7897A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75F0BB-F473-2E9A-5F56-FCDF685ED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8CB4C3-6CF5-721C-D87E-C30D100B9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Online Media 9" title="Li &amp; Fung on a journey to create the supply chain of the future">
            <a:hlinkClick r:id="" action="ppaction://media"/>
            <a:extLst>
              <a:ext uri="{FF2B5EF4-FFF2-40B4-BE49-F238E27FC236}">
                <a16:creationId xmlns:a16="http://schemas.microsoft.com/office/drawing/2014/main" id="{9FC9985A-89F8-6044-03E8-0014BC61C07C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7840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02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45403A-E60B-1C3D-EA37-F6178DE6E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92F55A-B17D-D4BF-6AF2-C4FBC4C7DCA1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The use of AI in Competitive Strategy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4541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73876-BE3C-B3AE-6550-FDB674205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CA8C6-27C2-655E-CA14-E25E6127A6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AI is transforming how information systems operate and deliver value.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Capabilities of AI: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Automates and enhances decision-making (AI in fraudulent transaction detection for banks)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Improves user experience and customer personalization (Netflix and Spotify’s recommendations)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Optimizes resource allocation &amp; business processes (Airlines’ dynamic pricing models)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Enables new products, services, and business models (AI diagnostics in healthcare)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AI is now embedded across information systems in every industry.</a:t>
            </a:r>
            <a:endParaRPr lang="en-US" altLang="zh-TW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27663E-E648-A1E5-223B-2577355198D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D13C3F-6568-8A9D-2B20-FD95097C2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in Competitive Strategy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B74558-5D12-9ACE-74CA-429B59F4E20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9B9E03-2A35-03B5-819D-DC2DEFE6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E55D28-EF01-179C-B8B5-DF9757F06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08614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215F1-446C-D618-2579-B6B7ECF57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516C-2035-9E2B-E15D-3FDBF8DDF7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AI is improving performance within existing business models and creating new business models and reshaping competition.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More data-driven, accurate, and precise decision-making.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 assists executives but does not replace strategic decision-making.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Useful for ideation, problem-solving, and scenario planning.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Examples: See Table 3.6 for a full description.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Inbound logistics: Predictive supply chain management.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Operations: Automated quality checks, process optimization.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Marketing &amp; Sales: AI-driven personalization, dynamic pricing.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Service: Chatbots, predictive maintenance.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…and More!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339EAB-D24B-39B7-F846-60775F02066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0B515F-E5E9-88D8-5071-63F7CFBDA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and the Value Chain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44C262-D228-6253-14E7-4B47FB01BBB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F525AE-ED21-DFA2-37DD-9811ACAD8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C4A881-4283-839E-2D1F-8400B30D1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30438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89398-808E-A07C-7AD0-4B19B2B05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C0830-4D54-659B-6F9A-844A45106F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AI reshapes industry structures and rules of competition.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Challenges: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Requires massive, accurate, and well-organized datasets.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Demands expertise in AI tools, computing power, and change management.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Opportunities: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Can strengthen or weaken customer/supplier power.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Creates entirely new products and services.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Open-source AI platforms enable some new entrants despite high barriers.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Firms with strong AI expertise and resources gain lasting competitive advantage.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See Table 3.7 for a full description.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FE90EE-A5F4-4811-B29A-70BDCDACCC7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5398B2-3626-EAA8-870E-ECD6B32AC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and the Competitive Forces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50C496-4630-17DC-5052-B820C846E2C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AC84D2-174A-0B4F-ED4C-7C6173B32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202A66-6E3B-C946-01B2-624A88045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6190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00CAB8-D8CE-B4FE-4CE2-43B67F6AB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353190-8CEB-9EC3-8E76-073106745C8D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Strategic Information Systems</a:t>
            </a:r>
          </a:p>
        </p:txBody>
      </p:sp>
    </p:spTree>
    <p:extLst>
      <p:ext uri="{BB962C8B-B14F-4D97-AF65-F5344CB8AC3E}">
        <p14:creationId xmlns:p14="http://schemas.microsoft.com/office/powerpoint/2010/main" val="284199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2ABE3-823D-5BDB-2B7F-1A283A113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5EB07-BA06-B6DB-157F-0CF06DCE9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Strategic IS </a:t>
            </a:r>
            <a:r>
              <a:rPr lang="en-US" altLang="zh-TW" sz="2400" dirty="0"/>
              <a:t>refers to information systems that are developed or adopted specifically to give an organization a competitive advantage by supporting or shaping its strategy.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Its purpose is not just efficiency or automation but to change the way the organization competes, operates, or delivers value.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Examples: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American Airlines SABRE: First computerized reservation system that transformed airline competition.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Amazon Recommendation Engine: Uses data and AI to drive sales and customer loyalty.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Walmart’s Inventory Replenishment System: Enabled low-cost leadership by cutting supply chain costs.</a:t>
            </a:r>
            <a:endParaRPr lang="en-US" altLang="zh-TW" sz="1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88A43C-60AE-FB02-DF75-4D19314F774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DB5323-48FC-13A2-60AF-9ED026BAF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Strategic Information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85736A-16A3-1254-EAEC-2C5A8143B74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571376-3482-5908-DE51-38B3B3DA2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C8978D-BD93-056D-EEDB-2BD5632A1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79379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75FBA-EAA2-D6BE-2F01-D0B443273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4C04D9-7C40-6533-12AB-52AE21605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Competitive advantages rarely last long: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Competitors can copy or retaliate quickly.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Markets, technology, and customer expectations evolve rapidly.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IS alone cannot guarantee long-term advantages.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Firms that align IT with business strategy are more profitable.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Common Pitfalls: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IT takes on a life of its own, disconnected from business goals.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Unrealistic expectations of IT capabilities.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Successful Firms: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Actively shape IT to fit strategy.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Measure IT’s impact on revenues, profits, and competitiveness.</a:t>
            </a:r>
            <a:endParaRPr lang="en-US" altLang="zh-TW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89F0AF-6396-B32D-CBA8-8F2E49373A3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48D07A-C4BD-DB27-D70F-852C0DCFE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Strategic Information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3F46DE-7E73-9F9A-D0BA-1993B1996E6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713A35-4200-9293-47BD-D81991CBF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4B8665-5FA5-A9CB-6E1C-E2AF70B44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59544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79FC5-7371-249E-E004-5019A2BDF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C480B-692D-B1F1-C0EC-0D4DDAE99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To identify the types of systems that provide a strategic advantage to their firms, managers should ask the following questions: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What is the structure of the industry in which the firm is located?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What are the business and industry value chains for this particular firm?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Have we aligned IT with our business strategy and goals? Have we correctly articulated our business strategy and goals?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9BC2A8-995A-3999-BB7C-68581CE1DE5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4D4338-440A-EDAA-E365-DBFD3B2CD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Management Checklist: Strategic Systems Analysis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C6C5E6-B885-3608-F769-9CBE546C3A4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A77987-60DF-7B98-F801-7114BA6A5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D76643-84F1-9736-46D4-B7CC1B101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1285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98F44D-A066-D2DF-7AD8-817554F24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8171B1-1F0C-9A3B-85CD-68BC2522F600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Recap of Chapter 3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9491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CF07C-5A39-46FA-19B5-0CB9743E6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AB19EA9-F780-DAF7-1EBC-822EF2EDDD7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3619056-BFF7-5653-691C-4489199AA60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Recap of Chapter 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F8D645-33AB-D7BC-1B81-8CCF597648B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C1011C51-5B4E-8C02-C890-0AE3A669C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0C78CE8A-9AF8-53CE-1E0D-2DC2238B4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4596D15-346E-FEAB-2529-E273E357F2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are the technical and behavioral views of organizations?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How do features of an organization affect information systems, and how do information systems affect organizations?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is Porter’s Competitive Forces Model and the Value Chain Model?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Explain synergies, core competencies, and network economics.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How can AI be used in competitive strategies?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are challenges posed by strategic information systems?</a:t>
            </a:r>
          </a:p>
        </p:txBody>
      </p:sp>
    </p:spTree>
    <p:extLst>
      <p:ext uri="{BB962C8B-B14F-4D97-AF65-F5344CB8AC3E}">
        <p14:creationId xmlns:p14="http://schemas.microsoft.com/office/powerpoint/2010/main" val="3441963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11f31e15-bdf3-4e78-b18b-f24d5378fe9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52483bde-b9a9-4258-9276-ff1c019d60e9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34edb4fe-c1bf-4ae1-83a4-c5f160197d0c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efc2aa6f-1556-4136-b8c4-1e998261fa2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6866</TotalTime>
  <Words>5608</Words>
  <Application>Microsoft Office PowerPoint</Application>
  <PresentationFormat>Custom</PresentationFormat>
  <Paragraphs>772</Paragraphs>
  <Slides>65</Slides>
  <Notes>55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0" baseType="lpstr">
      <vt:lpstr>Aptos</vt:lpstr>
      <vt:lpstr>Arial</vt:lpstr>
      <vt:lpstr>Calibri</vt:lpstr>
      <vt:lpstr>Garamond</vt:lpstr>
      <vt:lpstr>Office Theme</vt:lpstr>
      <vt:lpstr>PowerPoint Presentation</vt:lpstr>
      <vt:lpstr>PowerPoint Presentation</vt:lpstr>
      <vt:lpstr>PowerPoint Presentation</vt:lpstr>
      <vt:lpstr>  Organizations and Information Systems</vt:lpstr>
      <vt:lpstr>  Technical View of an Organization</vt:lpstr>
      <vt:lpstr>  Behavioral View of an Organization</vt:lpstr>
      <vt:lpstr>  Viewpoints and Information Systems</vt:lpstr>
      <vt:lpstr>  Viewpoints and Information Systems</vt:lpstr>
      <vt:lpstr>PowerPoint Presentation</vt:lpstr>
      <vt:lpstr>  Features of Organizations Affecting IS</vt:lpstr>
      <vt:lpstr>  Routines and Business Processes</vt:lpstr>
      <vt:lpstr>  Routines and Business Processes</vt:lpstr>
      <vt:lpstr>  Organizational Politics</vt:lpstr>
      <vt:lpstr>  Organizational Politics: Kodak</vt:lpstr>
      <vt:lpstr>  Organizational Culture</vt:lpstr>
      <vt:lpstr>  Organizational Environments</vt:lpstr>
      <vt:lpstr>  Organizational Environments: Disruptive Innovation</vt:lpstr>
      <vt:lpstr>Poll Everywhere multiple choice poll instructions screen
Activity Title: Which of the following best illustrates a disruptive innovation?
Slide 20</vt:lpstr>
      <vt:lpstr>Poll Everywhere multiple choice poll chart screen
Activity Title: Which of the following best illustrates a disruptive innovation?
Slide 22</vt:lpstr>
      <vt:lpstr>  Harvard Business Review (2012, March 30). Disruptive Innovation Explained [Video].    YouTube. https://youtu.be/qDrMAzCHFUU?si=v1KjSOa9yLEf7_T1</vt:lpstr>
      <vt:lpstr>  Organizational Structure</vt:lpstr>
      <vt:lpstr>  Organizational Structure: Mintzberg (1971)</vt:lpstr>
      <vt:lpstr>  Organizational Structure: Mintzberg (1971)</vt:lpstr>
      <vt:lpstr>  Other Organizational Features</vt:lpstr>
      <vt:lpstr>PowerPoint Presentation</vt:lpstr>
      <vt:lpstr>  Economic Impact: Shifting Relative Costs</vt:lpstr>
      <vt:lpstr>  Economic Impact: Economics of Information</vt:lpstr>
      <vt:lpstr>Poll Everywhere multiple choice poll instructions screen
Activity Title: Which of the following is NOT an example of a transaction cost?
Slide 28</vt:lpstr>
      <vt:lpstr>Poll Everywhere multiple choice poll chart screen
Activity Title: Which of the following is NOT an example of a transaction cost?
Slide 30</vt:lpstr>
      <vt:lpstr>  Economic Impact: Economics of Information</vt:lpstr>
      <vt:lpstr>  Organizational &amp; Behavioral Impact</vt:lpstr>
      <vt:lpstr>  Organizational Resistance to Change</vt:lpstr>
      <vt:lpstr>  Organizational Resistance to Change</vt:lpstr>
      <vt:lpstr>  Organizational Factors of Consideration</vt:lpstr>
      <vt:lpstr>PowerPoint Presentation</vt:lpstr>
      <vt:lpstr>  Competitive Forces Model</vt:lpstr>
      <vt:lpstr>  Competitive Forces Model</vt:lpstr>
      <vt:lpstr>  The Five Competitive Forces</vt:lpstr>
      <vt:lpstr>  The Five Competitive Forces</vt:lpstr>
      <vt:lpstr>  IS Strategies for Competitive Forces</vt:lpstr>
      <vt:lpstr>  IS Strategies for Competitive Forces</vt:lpstr>
      <vt:lpstr>  How IT is Changing Competitive Advantages</vt:lpstr>
      <vt:lpstr>PowerPoint Presentation</vt:lpstr>
      <vt:lpstr>  The Value Chain Model</vt:lpstr>
      <vt:lpstr>  The Value Chain Model: Primary Activities</vt:lpstr>
      <vt:lpstr>  The Value Chain Model: Support Activities</vt:lpstr>
      <vt:lpstr>  The Value Chain Model: Benchmarking</vt:lpstr>
      <vt:lpstr>  Extension: The Value Web</vt:lpstr>
      <vt:lpstr>  Extension: The Value Web</vt:lpstr>
      <vt:lpstr>PowerPoint Presentation</vt:lpstr>
      <vt:lpstr>  Synergies</vt:lpstr>
      <vt:lpstr>  Core Competencies</vt:lpstr>
      <vt:lpstr>  Network-Based Strategies</vt:lpstr>
      <vt:lpstr>  Network-Based Strategies</vt:lpstr>
      <vt:lpstr>  Li &amp; Fung (2019, August 20). Li &amp; Fung on a journey to create the supply chain of the    future [Video]. YouTube. https://youtu.be/KSeZXjkYERs?si=A2k4HdZMtf__y9jD</vt:lpstr>
      <vt:lpstr>PowerPoint Presentation</vt:lpstr>
      <vt:lpstr>  AI in Competitive Strategy</vt:lpstr>
      <vt:lpstr>  AI and the Value Chain</vt:lpstr>
      <vt:lpstr>  AI and the Competitive Forces Model</vt:lpstr>
      <vt:lpstr>PowerPoint Presentation</vt:lpstr>
      <vt:lpstr>  Strategic Information Systems</vt:lpstr>
      <vt:lpstr>  Strategic Information Systems</vt:lpstr>
      <vt:lpstr>  Management Checklist: Strategic Systems Analysis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Brian Park</dc:creator>
  <cp:keywords/>
  <dc:description>generated using python-pptx</dc:description>
  <cp:lastModifiedBy>Brian Park</cp:lastModifiedBy>
  <cp:revision>154</cp:revision>
  <dcterms:created xsi:type="dcterms:W3CDTF">2013-01-27T09:14:16Z</dcterms:created>
  <dcterms:modified xsi:type="dcterms:W3CDTF">2025-09-23T17:14:52Z</dcterms:modified>
  <cp:category/>
</cp:coreProperties>
</file>