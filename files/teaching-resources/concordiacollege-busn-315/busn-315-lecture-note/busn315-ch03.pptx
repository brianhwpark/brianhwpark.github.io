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tags/tag1.xml" ContentType="application/vnd.openxmlformats-officedocument.presentationml.tags+xml"/>
  <Override PartName="/ppt/notesSlides/notesSlide23.xml" ContentType="application/vnd.openxmlformats-officedocument.presentationml.notesSlide+xml"/>
  <Override PartName="/ppt/tags/tag2.xml" ContentType="application/vnd.openxmlformats-officedocument.presentationml.tags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7"/>
  </p:notesMasterIdLst>
  <p:sldIdLst>
    <p:sldId id="256" r:id="rId2"/>
    <p:sldId id="382" r:id="rId3"/>
    <p:sldId id="257" r:id="rId4"/>
    <p:sldId id="387" r:id="rId5"/>
    <p:sldId id="454" r:id="rId6"/>
    <p:sldId id="455" r:id="rId7"/>
    <p:sldId id="456" r:id="rId8"/>
    <p:sldId id="459" r:id="rId9"/>
    <p:sldId id="453" r:id="rId10"/>
    <p:sldId id="460" r:id="rId11"/>
    <p:sldId id="461" r:id="rId12"/>
    <p:sldId id="462" r:id="rId13"/>
    <p:sldId id="463" r:id="rId14"/>
    <p:sldId id="516" r:id="rId15"/>
    <p:sldId id="465" r:id="rId16"/>
    <p:sldId id="469" r:id="rId17"/>
    <p:sldId id="467" r:id="rId18"/>
    <p:sldId id="471" r:id="rId19"/>
    <p:sldId id="470" r:id="rId20"/>
    <p:sldId id="517" r:id="rId21"/>
    <p:sldId id="457" r:id="rId22"/>
    <p:sldId id="458" r:id="rId23"/>
    <p:sldId id="475" r:id="rId24"/>
    <p:sldId id="473" r:id="rId25"/>
    <p:sldId id="474" r:id="rId26"/>
    <p:sldId id="476" r:id="rId27"/>
    <p:sldId id="525" r:id="rId28"/>
    <p:sldId id="527" r:id="rId29"/>
    <p:sldId id="478" r:id="rId30"/>
    <p:sldId id="477" r:id="rId31"/>
    <p:sldId id="518" r:id="rId32"/>
    <p:sldId id="519" r:id="rId33"/>
    <p:sldId id="479" r:id="rId34"/>
    <p:sldId id="472" r:id="rId35"/>
    <p:sldId id="481" r:id="rId36"/>
    <p:sldId id="482" r:id="rId37"/>
    <p:sldId id="483" r:id="rId38"/>
    <p:sldId id="484" r:id="rId39"/>
    <p:sldId id="528" r:id="rId40"/>
    <p:sldId id="485" r:id="rId41"/>
    <p:sldId id="486" r:id="rId42"/>
    <p:sldId id="487" r:id="rId43"/>
    <p:sldId id="480" r:id="rId44"/>
    <p:sldId id="490" r:id="rId45"/>
    <p:sldId id="489" r:id="rId46"/>
    <p:sldId id="491" r:id="rId47"/>
    <p:sldId id="520" r:id="rId48"/>
    <p:sldId id="521" r:id="rId49"/>
    <p:sldId id="493" r:id="rId50"/>
    <p:sldId id="494" r:id="rId51"/>
    <p:sldId id="488" r:id="rId52"/>
    <p:sldId id="495" r:id="rId53"/>
    <p:sldId id="496" r:id="rId54"/>
    <p:sldId id="497" r:id="rId55"/>
    <p:sldId id="498" r:id="rId56"/>
    <p:sldId id="501" r:id="rId57"/>
    <p:sldId id="449" r:id="rId58"/>
    <p:sldId id="502" r:id="rId59"/>
    <p:sldId id="500" r:id="rId60"/>
    <p:sldId id="503" r:id="rId61"/>
    <p:sldId id="499" r:id="rId62"/>
    <p:sldId id="505" r:id="rId63"/>
    <p:sldId id="506" r:id="rId64"/>
    <p:sldId id="504" r:id="rId65"/>
    <p:sldId id="451" r:id="rId6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7122C"/>
    <a:srgbClr val="FDB913"/>
    <a:srgbClr val="B8964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04" autoAdjust="0"/>
    <p:restoredTop sz="92252" autoAdjust="0"/>
  </p:normalViewPr>
  <p:slideViewPr>
    <p:cSldViewPr snapToGrid="0" snapToObjects="1">
      <p:cViewPr varScale="1">
        <p:scale>
          <a:sx n="100" d="100"/>
          <a:sy n="100" d="100"/>
        </p:scale>
        <p:origin x="72" y="12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359EC7-19C7-4638-A61A-0E2B59861576}" type="datetimeFigureOut">
              <a:rPr lang="en-US" smtClean="0"/>
              <a:t>2/3/2026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987AAC7-CF25-414B-93E7-2A61E431E8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82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B0394-E5C4-6569-9000-A64A44EBA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2C0823-31F3-9D0B-FCA7-0EF4F4FAD0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AF84BF-994F-E96E-A165-2979527367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E57F7C-824B-0983-C6CC-41D1AF925F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35957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3FC3B-566A-F1DA-C914-F5E06D483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0470AD-6966-6F0D-7DD4-1B725FC466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D1F33A-3B20-1388-6C26-7B6DDDD477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2870C0-D86E-0453-D4BE-FF4846BA61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90614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194FB-56ED-4B03-14BE-7DD60AAF19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1DEBF9-A222-C8FC-E859-E576F999A9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B7CBDC-C009-A748-1410-1213167F31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D7CEAA-D0B4-274D-5B53-BF5E9980BA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8079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8DC36-D8D8-ED08-C9BF-18F88FA09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9B6B1B-4E7F-5159-5A7F-5A8E4E6464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D52F72-3C15-E3FB-985E-F0CE54D386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778F8-28E4-DDDD-74FB-849BF05F0D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9892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C60CF-98A3-0E58-B0C3-99F45BC11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36423A-2AC9-05B2-29E5-6EA8FF9D0D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6C4615-4457-7A93-1EEE-7F5A7A30CA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1BBBBD-F31A-126D-F49A-586DA6CA23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59331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C6E7C-D078-5C3F-8F00-720C47736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C2CE2B-8FD0-FFAC-A00D-837356546A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CE305F-5E49-1BD8-CD12-DFBD768814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Remote Work Platforms (Zoom, Teams, Slack)</a:t>
            </a:r>
          </a:p>
          <a:p>
            <a:r>
              <a:rPr lang="en-US" b="1" dirty="0"/>
              <a:t>Technical View:</a:t>
            </a:r>
            <a:r>
              <a:rPr lang="en-US" dirty="0"/>
              <a:t> Considers cost savings from reduced office space and gains in productivity from better communication tools.</a:t>
            </a:r>
          </a:p>
          <a:p>
            <a:r>
              <a:rPr lang="en-US" b="1" dirty="0"/>
              <a:t>Behavioral View:</a:t>
            </a:r>
            <a:r>
              <a:rPr lang="en-US" dirty="0"/>
              <a:t> Explores effects on organizational culture, team trust, and employee well-being, recognizing that digital tools reshape work relationships and collaboration norms.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C5C4E4-2930-97A4-C1D6-62C85521D1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0958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408FC-ACCC-B7DE-53C4-1A81B76C4C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DA545E-67F0-4319-B64E-E98A62CF38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1E9EAC-686E-D9BA-68FE-54C211C301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34CC34-0685-906F-E4EC-A52A0A86A2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2432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33F29-4BA9-32E2-57A9-81FFB9ECA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55C66C-DC93-4D16-1648-DDFFADCAEA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6DA3E1-D930-058A-3BFE-5ABC76FF03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65A590-15E4-5655-BB05-52B60AEE10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81108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681B0-0EDF-6797-83BC-20000406C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0B0D98-6369-9675-8510-96279D84F5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695F34-1727-AE51-02DC-48FF9A1F2E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30194-523C-0B82-0F7A-72494A38E3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277354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6AB306-C42A-E78F-E7D7-C54F65D67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3FBC31-D8DE-F424-E906-2A48B42097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BD0649-5C9B-178C-E215-6BB0EADD50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E137ED-7CE7-D4A4-2721-BF848DAA76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030177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1948F-B3CF-E0BB-889B-4ECB4B1E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33325F-8F1C-AF97-CA87-2CCA1A5E75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7E3160-D9AB-14BB-468E-8252042098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E6F243-2706-F4DE-0D4B-9A3D252C10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66108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63C27-6FBF-B62F-66E1-2E174133F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3244B0-4187-2475-118B-B3F2EA968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9989ED-F67A-4F33-ACD2-AE3E9C8B19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6ACFD9-7A6A-AFC4-3C46-B24E093231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042063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DC057-5A0B-C91F-7385-A175BAD62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C2AE59-6C96-ACAB-9126-208AB9D3ED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9D4CA7-0E0A-0AC3-1F6C-66C59C29B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999776-B9EC-973C-6228-1DA7108183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37042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F2834-046B-F736-2E95-2906B575B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1907D0-D053-66EC-F089-E4147A6CC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347DEB-69D4-AA14-F644-D577DB8998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AFF041-6145-4E85-763C-F74932D08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8545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60927-5AE2-73A2-4DC4-EA867E75E4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9B7EED6-4090-6B50-0C00-BF41A0F724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0FEDC8-4EE6-8261-47D0-1DA3B7C41B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72D207-B806-F02F-C1EF-5EAD42308C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4599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BBA8B-E28B-9F33-FA15-8860648BA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6F4275-00EB-D7AF-4739-C15E935E2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E276F3-1FB5-E9E6-939F-0EE28F27F8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Coercive</a:t>
            </a:r>
            <a:r>
              <a:rPr lang="en-US" dirty="0"/>
              <a:t> = monitoring and enforcement</a:t>
            </a:r>
          </a:p>
          <a:p>
            <a:r>
              <a:rPr lang="en-US" b="1" dirty="0"/>
              <a:t>Utilitarian</a:t>
            </a:r>
            <a:r>
              <a:rPr lang="en-US" dirty="0"/>
              <a:t> = efficiency and performance</a:t>
            </a:r>
          </a:p>
          <a:p>
            <a:r>
              <a:rPr lang="en-US" b="1" dirty="0"/>
              <a:t>Normative</a:t>
            </a:r>
            <a:r>
              <a:rPr lang="en-US" dirty="0"/>
              <a:t> = communication and community</a:t>
            </a:r>
          </a:p>
          <a:p>
            <a:endParaRPr lang="en-US" dirty="0"/>
          </a:p>
          <a:p>
            <a:r>
              <a:rPr lang="en-US" b="1" dirty="0"/>
              <a:t>Members</a:t>
            </a:r>
            <a:r>
              <a:rPr lang="en-US" dirty="0"/>
              <a:t> → IS for engagement &amp; benefits.</a:t>
            </a:r>
          </a:p>
          <a:p>
            <a:r>
              <a:rPr lang="en-US" b="1" dirty="0"/>
              <a:t>Clients</a:t>
            </a:r>
            <a:r>
              <a:rPr lang="en-US" dirty="0"/>
              <a:t> → IS for service delivery &amp; personalization.</a:t>
            </a:r>
          </a:p>
          <a:p>
            <a:r>
              <a:rPr lang="en-US" b="1" dirty="0"/>
              <a:t>Stockholders</a:t>
            </a:r>
            <a:r>
              <a:rPr lang="en-US" dirty="0"/>
              <a:t> → IS for financials &amp; compliance.</a:t>
            </a:r>
          </a:p>
          <a:p>
            <a:r>
              <a:rPr lang="en-US" b="1" dirty="0"/>
              <a:t>Public</a:t>
            </a:r>
            <a:r>
              <a:rPr lang="en-US" dirty="0"/>
              <a:t> → IS for transparency &amp; accessibility.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CA3A47-50EA-D6FF-88D2-E3CAE0162F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619265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FDEBA-9C42-109D-7F15-F9A534DFF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67760B-2964-7867-7843-0364BDED7A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0B58AA-6D24-A0B9-3071-CC37C87780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Coercive</a:t>
            </a:r>
            <a:r>
              <a:rPr lang="en-US" dirty="0"/>
              <a:t> = monitoring and enforcement</a:t>
            </a:r>
          </a:p>
          <a:p>
            <a:r>
              <a:rPr lang="en-US" b="1" dirty="0"/>
              <a:t>Utilitarian</a:t>
            </a:r>
            <a:r>
              <a:rPr lang="en-US" dirty="0"/>
              <a:t> = efficiency and performance</a:t>
            </a:r>
          </a:p>
          <a:p>
            <a:r>
              <a:rPr lang="en-US" b="1" dirty="0"/>
              <a:t>Normative</a:t>
            </a:r>
            <a:r>
              <a:rPr lang="en-US" dirty="0"/>
              <a:t> = communication and community</a:t>
            </a:r>
          </a:p>
          <a:p>
            <a:endParaRPr lang="en-US" dirty="0"/>
          </a:p>
          <a:p>
            <a:r>
              <a:rPr lang="en-US" b="1" dirty="0"/>
              <a:t>Members</a:t>
            </a:r>
            <a:r>
              <a:rPr lang="en-US" dirty="0"/>
              <a:t> → IS for engagement &amp; benefits.</a:t>
            </a:r>
          </a:p>
          <a:p>
            <a:r>
              <a:rPr lang="en-US" b="1" dirty="0"/>
              <a:t>Clients</a:t>
            </a:r>
            <a:r>
              <a:rPr lang="en-US" dirty="0"/>
              <a:t> → IS for service delivery &amp; personalization.</a:t>
            </a:r>
          </a:p>
          <a:p>
            <a:r>
              <a:rPr lang="en-US" b="1" dirty="0"/>
              <a:t>Stockholders</a:t>
            </a:r>
            <a:r>
              <a:rPr lang="en-US" dirty="0"/>
              <a:t> → IS for financials &amp; compliance.</a:t>
            </a:r>
          </a:p>
          <a:p>
            <a:r>
              <a:rPr lang="en-US" b="1" dirty="0"/>
              <a:t>Public</a:t>
            </a:r>
            <a:r>
              <a:rPr lang="en-US" dirty="0"/>
              <a:t> → IS for transparency &amp; accessibility.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D6B2D0-EA2A-DC45-DCA9-FA6D508927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07835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B6DB1-7756-381E-D8A2-76D150886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45A116-11B4-FC09-41E5-FA19A219F0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DCC5B0-A3DA-D426-77A8-FC8D69A87E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8D3D98-EF04-BDA5-399D-40271CFA74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1999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D22A3-C80B-7622-15DC-42FD754D9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3395153-6A84-A693-F845-D7926B493A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3ACAF8-6378-984C-8930-8AA183D473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DE6F3B-9F3A-0B54-B7E1-6966F3086A8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00365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1A15B-BD79-A727-3AD5-AAB8944C02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F879D2-BEFF-528A-EAF3-835BE780DC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B6FA1B-59DD-4082-C4F1-EBA24952D1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EF622-70EA-BA88-5DF7-40C1B80CC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2129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2BF4B-7B68-CE82-2F6E-EFEC09093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07F85E-2151-7473-5482-49F1F5C374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6D769A-3655-F90E-FB1D-FEE29912E4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E3B549-915D-4812-7C62-F431582C65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68199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689DF-34FC-BC0E-B8A1-089CDFFBF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AE7083-9138-47F0-0E9A-B1AE80CE9D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21C78C-D6AA-61E2-E73A-E761257B4D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2C8B23-E20D-A1CA-F7E9-456D125149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78535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A company introduces a dashboard that gives frontline employees real-time sales, inventory, and performance data that only managers previously saw. From the firm's perspective, what is the primary organizational effect?
https://www.polleverywhere.com/multiple_choice_polls/KCUJllG8VUD5p27Y8ma9A?display_state=instructions&amp;activity_state=opened&amp;state=opened&amp;flow=Engagement&amp;onscreen=persist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42B980-48F3-AF10-BF73-979F768E6C39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50742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
Do not modify the notes in this section to avoid tampering with the Poll Everywhere activity.
More info at polleverywhere.com/support
A company introduces a dashboard that gives frontline employees real-time sales, inventory, and performance data that only managers previously saw. From the firm's perspective, what is the primary organizational effect?
https://www.polleverywhere.com/multiple_choice_polls/KCUJllG8VUD5p27Y8ma9A?display_state=chart&amp;activity_state=closed&amp;state=closed&amp;flow=Engagement&amp;onscreen=persist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E6971E-0DEE-A34F-16DD-7CF872A9AD59}"/>
              </a:ext>
            </a:extLst>
          </p:cNvPr>
          <p:cNvSpPr txBox="1"/>
          <p:nvPr/>
        </p:nvSpPr>
        <p:spPr>
          <a:xfrm>
            <a:off x="0" y="0"/>
            <a:ext cx="3810000" cy="127000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2342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C9042-BE49-7D44-66A8-611A18C0F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BE4025-5DE6-0097-551B-C2BF9EDE09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C192C4-7A4E-572C-2284-6D6FE8CB5C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34F99-9556-B555-21CC-A9F46CBD2B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840783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77416-DAB4-51D5-9428-E89757C82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BF8340-A19F-7FA5-7F1D-04B854ADE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CB5950-51BD-E06F-1528-1360B3BAD0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EB41E6-EB10-3C2C-10E7-DE47700D3D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2280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88A62-9D9C-3E11-D24C-BC9466763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BFD4F3-5CEA-BFF2-83BF-3717C345EB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385104-24DF-1F39-C155-468C6CEBE8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6B4779-9059-F08A-4BE6-B675523DF5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933263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49345-BEDE-0128-416E-0834342C80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DEE40D-ACFD-6AC6-B47A-ADDE0EC843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51B462-9D19-735E-76EE-EA3E7BDB85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D816A7-DDBD-E1A9-795B-5FB5C8E11B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8793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F6923-F402-5EE0-6841-D8B09726D1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EF10C2-6CE2-6C90-6530-D89BE2104E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D62336-8639-1487-592B-302D1138EF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E9A8E9-F637-ACD2-DFE1-5C41488733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53383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FDBA2D-3996-A1C6-77D7-13E36E121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576892-D187-DA94-012E-6D90172B60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1DA040-3B3D-018F-3B21-CC18AC7A60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DD70D2-3B23-2D2D-A549-1B39F0F1D2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46722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6CB0B0-8E65-13E0-7C52-3911283A4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3F1A8F-363E-2838-B968-AB38869B46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BCBE1B-1998-52A1-6309-5F949E45A7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4E262A-1F35-FC59-E27D-98DAC2710F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65341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413525-881C-E03C-3A76-E4D8DCD72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681762-4FD0-7578-C4E1-306C4841E2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69A215-2F0A-FC24-5C55-E0DB74A6B2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F38E2-EBF8-3CE2-05E1-231A1E0DE7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845104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4BDA-8E6A-1126-D4D8-B0F771D90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B3A522-0FA4-F39D-4325-6E2F6F7338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561E1D-47C0-BC6E-6F66-8FD7EAAC3D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355567-666D-28D6-CBCA-E502564922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392500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B7E9E0-8853-C525-12EF-C14E5F8A35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B87C2-5453-89BF-A587-D26FC76CD8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787B38-4D9F-E108-550E-F03013566D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CE838A-1250-66AC-40E6-DE9F567C9F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80576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2C616-55DD-8A35-52AA-5808A57DA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A82DDB-D883-861E-FA18-AE8091F191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57E49C-2C49-24FB-A1F9-786DE79BBB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92E2A6-5AD8-10D6-F756-7E8A63004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37326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058E6-2BA8-9457-0593-72B67D7AD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E12A29-B589-5557-43E6-D2B94C9BA8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858E79-DE11-7A84-278D-06B5CE72FD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32344B-BB88-8EE2-6A4A-90E89F930B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292580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863F6-82D0-5786-2C48-71A01545A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208788-F9AD-B4D4-634F-30FFFF4062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4CED42-148C-B407-2D08-E3D861CD87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C45146-8A63-C4F6-1431-E3C6E01783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11257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1B613-CB69-6E9F-3FFD-99611B797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300617-E0D7-315B-CF89-231B99162E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A2B10-91EC-3A3C-360D-65E3D0DF5D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93FF9-A85D-2725-64F2-94A48E6C2D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386783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01BF0-5DCF-325E-A3FE-09BC7070F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5E1DD3-7948-8E71-0F85-761FD5DAC2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9F2718-6D37-3610-8975-C6BA1F49AB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4D5EB7-48FB-C699-987B-D10810AAFE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70407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BE1C2-BACF-3DCC-05F4-AAA86D9C6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3C2C4F-A295-9406-1F61-FF6EF5BB2B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9ED267-9309-16D8-2068-BB6615ECBF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3EBC8-3703-AF5B-B8F3-C14681D0FB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578957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97E7B-0711-7CC7-8842-3FFA483D1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C144A4-15C4-BB9A-D729-88DBA1DA5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759666-D2CC-27C7-2B57-66F2C19B3A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CEB64C-64CD-7E8F-8F20-657C59B816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663500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0B356-A95E-2E32-1ED4-441CBEBCAF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8C58F1C-780B-4D59-0CA8-ACE47A5314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126F66-9A8B-DD1E-2F09-D3EC62917D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3D8034-FDB3-CE15-120E-E3A69CF0F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84866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0ED80-3F90-66FB-E318-9AF7AD631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4E0AC2-E6A6-3250-8D1F-80F987C584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DB9DDC-D66E-BF18-1041-829C30586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B53218-0C5C-F380-1274-4EED3DD8C9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4468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D2AE8D-63C3-81E0-38B1-4DB27BB7E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DB8E94-492E-CB8A-98EA-2126078FB8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80BD1B-143B-806F-F725-F3FCCAE036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284D7D-36FF-46C9-F21B-DB9A227707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13308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2B373-E4F7-2654-9251-A7545750B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8D8BA0-78F1-3924-B4A3-9F1CE3C429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5C1414-759E-FDD5-4819-6D2096F971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86853F-17CA-548A-8F04-5C6724355B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82548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D76102-444F-0FF6-B933-A24087A61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DE4160-AB66-E3E4-E222-FBF17A116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BDF291-9DD9-E77C-1D4F-3B0E13974F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1CF349-588C-2895-89EB-B58D9243AC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782643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71BD5-EDBE-D840-1E7D-D565443F7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EF9B76-C0F0-578F-6313-302CCCB750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0CCC07-CE36-F898-714B-D83EAB43F5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2897B5-4096-293C-C861-A51CA45A00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03140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B1C9B-CAC8-7326-273C-E1A6663CDC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B64409-A716-F0B6-89D3-38A72B9C75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9FBA35-4CFB-C96E-2159-3CEA51E006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865E27-6E80-5648-A538-F4D58774FD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075751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67E13-9BC3-61FF-853E-06E9B81E9E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073E31-3361-BD76-70DA-61EC9A954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7BE13A-E4D6-DA11-2C1A-1387C205F3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2E1E68-31C3-9E0A-ABDB-1AF9A97729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951177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EF8DFA-176B-6F00-E8B0-1F0C8194C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950CBD-53DE-5F0A-5680-D228974106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CF53E8-2414-414F-C77E-C78B5701B3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71CF79-0513-6637-EE35-424B489915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54000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923DE9-1502-46A1-127B-6F0D71C71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99D762-A559-61E9-8106-CAE1B703BD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8D9508D-5404-4B9F-AB4E-734ACE2C58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A8FBB6-F83E-E805-4296-033548C38A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23025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F5562-2218-DE90-ABD3-ED102E6BB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F9CE36-FB85-00B5-6C8F-171D37AC18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ACF4F6-D6D1-EF60-8AA0-4CA8110DA1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C719AA-5AA7-8C9D-9095-BD53327CEE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33428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F17C7-3EBD-E630-3D31-583AF7141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F2A79F-FE84-0C18-32E7-0E1143598A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701563-42CE-EA28-D4C2-49D368B51E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2609D-AA6B-3CC8-B108-DCA3995E5D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6130405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39212-5F0C-F76F-D8DB-85E481252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9847F1-A88A-910F-8FE1-8632017902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9B8C30-13DB-1017-EC5A-349EE08230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B7F116-A161-A5FD-CFBD-76CC9BB2A4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70983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72E2E5-15F1-78EC-52A9-CAED42AD7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7A0DFB-52A7-BA92-C424-9AE17193EB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D0F12A-60CA-35B1-2EAE-169687C74A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58DC12-637D-8F39-2928-BFCFE9F127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987AAC7-CF25-414B-93E7-2A61E431E831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7431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CAFFB9-A874-4FD1-A824-B4042D61D1ED}" type="datetime1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F79C1E-59CB-458D-A8DF-3DF069B9691A}" type="datetime1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B038F5-1F4F-49BC-AE81-A69593E39F17}" type="datetime1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2B9C03-4953-4667-8B38-5F82E8B7824A}" type="datetime1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FF53C9-7EE5-4279-90C5-33FD7C6945F2}" type="datetime1">
              <a:rPr lang="en-US" smtClean="0"/>
              <a:t>2/3/2026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4720FA-FDEE-4E83-A4C7-BC2FB4952465}" type="datetime1">
              <a:rPr lang="en-US" smtClean="0"/>
              <a:t>2/3/2026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851516-679C-4D73-B89D-29E30821AF23}" type="datetime1">
              <a:rPr lang="en-US" smtClean="0"/>
              <a:t>2/3/2026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003A1F-F54C-4527-A898-553BBCF40EAB}" type="datetime1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FD13F6-D87E-4E9E-B027-94AE4C3308CD}" type="datetime1">
              <a:rPr lang="en-US" smtClean="0"/>
              <a:t>2/3/2026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90497A-627B-46A8-B138-876D4281251E}" type="datetime1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749246-640D-41B6-A07B-C0FA43D7FEE2}" type="datetime1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E17758-26A5-42DB-960B-17BBCDA98EFC}" type="datetime1">
              <a:rPr lang="en-US" smtClean="0"/>
              <a:t>2/3/2026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 Management Information Systems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BuImbHUy4Uc?feature=oembed" TargetMode="External"/><Relationship Id="rId4" Type="http://schemas.openxmlformats.org/officeDocument/2006/relationships/image" Target="../media/image5.jpe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1.xml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6.xml"/><Relationship Id="rId1" Type="http://schemas.openxmlformats.org/officeDocument/2006/relationships/tags" Target="../tags/tag2.xml"/><Relationship Id="rId4" Type="http://schemas.openxmlformats.org/officeDocument/2006/relationships/image" Target="../media/image8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4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mYF2_FBCvXw?feature=oembed" TargetMode="External"/><Relationship Id="rId4" Type="http://schemas.openxmlformats.org/officeDocument/2006/relationships/image" Target="../media/image11.jpe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9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KSeZXjkYERs?feature=oembed" TargetMode="External"/><Relationship Id="rId4" Type="http://schemas.openxmlformats.org/officeDocument/2006/relationships/image" Target="../media/image14.jpe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650659"/>
            <a:ext cx="1218882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DB913"/>
                </a:solidFill>
                <a:latin typeface="Garamond"/>
              </a:defRPr>
            </a:pPr>
            <a:r>
              <a:rPr lang="en-US" sz="4800" dirty="0"/>
              <a:t>M</a:t>
            </a:r>
            <a:r>
              <a:rPr lang="en-US" sz="4000" dirty="0"/>
              <a:t>ANAGEMENT </a:t>
            </a:r>
            <a:r>
              <a:rPr lang="en-US" sz="4800" dirty="0"/>
              <a:t>I</a:t>
            </a:r>
            <a:r>
              <a:rPr lang="en-US" sz="4000" dirty="0"/>
              <a:t>NFORMATION </a:t>
            </a:r>
            <a:r>
              <a:rPr lang="en-US" sz="4800" dirty="0"/>
              <a:t>S</a:t>
            </a:r>
            <a:r>
              <a:rPr lang="en-US" sz="4000" dirty="0"/>
              <a:t>YSTEMS</a:t>
            </a:r>
            <a:endParaRPr sz="4000" dirty="0"/>
          </a:p>
        </p:txBody>
      </p:sp>
      <p:sp>
        <p:nvSpPr>
          <p:cNvPr id="3" name="TextBox 2"/>
          <p:cNvSpPr txBox="1"/>
          <p:nvPr/>
        </p:nvSpPr>
        <p:spPr>
          <a:xfrm>
            <a:off x="-1" y="3657600"/>
            <a:ext cx="121888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>
                <a:solidFill>
                  <a:srgbClr val="FFFFFF"/>
                </a:solidFill>
                <a:latin typeface="Garamond"/>
              </a:defRPr>
            </a:pPr>
            <a:r>
              <a:rPr lang="en-US" dirty="0"/>
              <a:t>Chapter 3: Information Systems, Organizations, and Strategy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4F3F00-8C8C-AB23-4FD8-758A3E0D55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9AF5F0B-9E91-9CF7-E31B-7C1B0EDEBB8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8EEC65DE-BF71-E500-DCF0-F48432A79EBD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Recap of Chapter 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1BF0C7-29D7-FA6A-0C72-BBCEB414879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F0948B46-C0CE-0488-151C-A0FAFB9248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6A19B34A-26DA-74D5-A37E-F125C6421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9731B94F-5E90-B616-E3A8-FB65F57B1F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 lnSpcReduction="10000"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How do business processes relate to information systems?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How does information systems serve different management groups?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How do enterprise applications improve firm performance?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What are collaboration tools?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What are social business tools?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How can managers evaluate collaboration and social business tools?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What are knowledge management systems?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What is the role of the information systems function?</a:t>
            </a:r>
          </a:p>
        </p:txBody>
      </p:sp>
    </p:spTree>
    <p:extLst>
      <p:ext uri="{BB962C8B-B14F-4D97-AF65-F5344CB8AC3E}">
        <p14:creationId xmlns:p14="http://schemas.microsoft.com/office/powerpoint/2010/main" val="41672128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2705725"/>
            <a:ext cx="1218882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The Technical and Behavioral</a:t>
            </a:r>
          </a:p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Views of Organizations</a:t>
            </a:r>
            <a:endParaRPr sz="44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7CE89-301A-70F1-4260-6BE7F3ECF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155BD8-8A9D-C759-E57B-798D3259D9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25007" y="1300900"/>
            <a:ext cx="4822047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Information systems (IS) and organizations influence one another: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Information systems are designed to serve organizational goals.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Organizations, in turn, are shaped by the systems they adopt.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This feedback loop is mediated by multiple organizational factors, making the relationship complex.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Managers must recognize and understand this dynamic interaction between IS and organizations. 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B7F8D10-BDB6-A3B1-C66D-3AAD06B37E3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11ED87-11C7-E07A-360C-C69F65EDD6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Organizations and Information Systems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DA463A-E4AE-D67D-E769-807CD9E18906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2F9F19-8B6A-699A-698A-67E99D9D88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2A4FA5-9191-0EBF-702D-330CA4BD67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Picture 7" descr="A flow diagram explains the mediating factors show the interconnectedness between organizations and information technology. Long description available in notes, press f6.">
            <a:extLst>
              <a:ext uri="{FF2B5EF4-FFF2-40B4-BE49-F238E27FC236}">
                <a16:creationId xmlns:a16="http://schemas.microsoft.com/office/drawing/2014/main" id="{EF4B4003-09B8-699D-F630-5C1DBC6E65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1" y="1427532"/>
            <a:ext cx="6188364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3148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E4AF6F-1BAE-8FA5-4A8E-9F5A544AB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70037-B053-CFB2-CD34-AC50A0E30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900"/>
            <a:ext cx="11105284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technical (microeconomic) definition of an organization is that it is: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 stable, formal social structure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That takes resources from the environment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And processes them to produce outputs.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0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0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0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0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0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0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0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This technical definition is clear and powerful, but it can also be less practical.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60ECBD7-D353-657B-39BD-7FE06FB5C01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427D343-BE1D-6408-04FE-155106A77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Technical View of an Organization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48ECF2-7722-7088-B86B-AD39419C6D5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C0D9DA-3416-9BE3-084B-2934728D1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F0BBD1-E2AC-DDE7-8DFE-15A61CA53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 descr="A diagram explains the production process of an organization. Inputs from the environment are sent to the organization which in turn gives out outputs to the environment. This cycle is labeled &quot;Production process.&quot;">
            <a:extLst>
              <a:ext uri="{FF2B5EF4-FFF2-40B4-BE49-F238E27FC236}">
                <a16:creationId xmlns:a16="http://schemas.microsoft.com/office/drawing/2014/main" id="{A11AF9B4-29A1-AF6C-CA7C-C2BD3B83E4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4273" y="2957659"/>
            <a:ext cx="7720276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295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85C59-BF97-C292-FAA2-6337EBA64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67F5C1-A213-0CDD-A4C3-B099185061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78397" y="1300900"/>
            <a:ext cx="4168658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Organizations must abide by laws and, as social structures, must also consider social elements.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behavioral definition of an organization is: 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 collection of rights, privileges, obligations, and responsibilities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Delicately balanced over time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Through conflict and conflict resolution.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32B369-D603-F4AF-8208-E22633701451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0D9610E-2501-A595-00CD-8F744B42E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Behavioral View of an Organization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EDDF9C5-8507-14AA-8A72-74CA7B6E11E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E16B57-12CB-BF93-6672-5EEB8B23C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C0D6D6-C05D-AD21-5766-60788BB6F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Picture 7" descr="A diagram explains behavioral view of organizations focuses on structure and process. Long description available in notes, press f6.">
            <a:extLst>
              <a:ext uri="{FF2B5EF4-FFF2-40B4-BE49-F238E27FC236}">
                <a16:creationId xmlns:a16="http://schemas.microsoft.com/office/drawing/2014/main" id="{EE3789B0-4402-583A-FE28-F48EFFC29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656132"/>
            <a:ext cx="6936627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921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AC98B3-B7FB-5DC9-4895-1DDE6B840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C43668-98CF-94B6-9D00-8BBF8AA376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How we view the role of information systems in organizations depends on how we define organizations.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Technical View: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Emphasizes how inputs are combined to produce outputs.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Assumes organizations are highly flexible, with easy substitution and rapid adjustment.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Behavioral View: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Emphasizes how work is designed and how procedures shape outcomes.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Recognizes that implementing or replacing information systems reshapes roles, power, and relationships.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Acknowledges that change is often slow, disruptive, and resource-intensive.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3496300-5B40-C203-91C0-B6DEF213236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87AE586-5521-9D40-C120-ACF6F6E05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Viewpoints and Information Systems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E78D665-6C9E-8535-D42A-EBAA71B74A3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9F8B8A-8BA8-A011-5C51-473560F57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55B02B-8CDB-2CB8-65A4-0D6056ABF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11829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3AD989-118E-6D88-BF47-E6EAF0F4DB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465558-CD90-6406-19F3-38EBE25CE9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technical and behavioral views of organizations are not contradictory, but complementary.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Each perspective highlights a different aspect of how information systems affect organizations: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Technical: How can information systems improve efficiency and outputs?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Behavioral: How will people, culture, and politics respond to information systems?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Before exploring this relationship further, we next consider how organizational structures and features influence information systems.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0F7CBC6-26E5-A45B-D7CD-6BDCA2CBBEB1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86F61F-F895-7565-9566-1374FE1895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Viewpoints and Information Systems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9308C7-D115-3491-20D6-BD4F2151D28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F5441D-9FB5-BB70-6734-C3C4E8E63D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AA821AB-2785-FF86-B9B2-7C636A8F4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302482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66D00C-1D92-D517-E48D-E6BF9AD477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DC03DC-EAFB-C012-A6B1-0834AA4E06F5}"/>
              </a:ext>
            </a:extLst>
          </p:cNvPr>
          <p:cNvSpPr txBox="1"/>
          <p:nvPr/>
        </p:nvSpPr>
        <p:spPr>
          <a:xfrm>
            <a:off x="0" y="2705725"/>
            <a:ext cx="1218882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How Features of Organizations</a:t>
            </a:r>
          </a:p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Affect Information Systems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79238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70AB7A-46A0-756C-0FF9-0A3172197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D69488-9FA0-4FED-91C2-D5ECAF4BC3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Routines are precise rules, procedures, and practices developed to cope with expected situations.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Restaurant: Hosts seat customers, servers take orders, cooks prepare meals, and bussers clean tables. Each role follows well-defined routines.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College: Instructors prepare lectures, students follow class schedules, assignments are collected through set procedures, and exams follow established rules.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Routines are often referred to as standard operating procedures (SOPs).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Business processes are collections of these routines: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way work is organized, coordinated, and focused to produce a valuable product or service.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set of activities required to create that product or service.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CC4E8D-752D-4C17-29A4-3558317878D8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51FE6A-38A6-281F-76F2-5FC25B61A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Routines and Business Processes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CEA4B93-3716-F489-7784-6AF6B732939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941F74-893B-FD6A-1C9B-D7290C37E9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308C4D-745B-5FE0-E081-29173F8CC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771885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7498A-6F6F-9C9E-C274-6F8865A14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862613-E454-FBBA-F929-59C1B5B62A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2704" y="1300899"/>
            <a:ext cx="6391373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To be effective, information systems must change individual workers’ routines and, in turn, improve the organization’s overall business processes.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College classroom example: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Traditional: Paper assignments are distributed, collected, and graded manually.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IS-enhanced: Assignments are submitted and graded through a learning system, providing faster feedback and greater efficiency.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By changing individual routines, the information system improves the overall teaching and learning process.</a:t>
            </a: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A6DFA99-EA38-F953-05C7-164FC8637C4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0BE95D-A659-1FB4-06DA-386BE91620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Routines and Business Processes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30360E-5923-6B2B-9BBD-52ECDB7A9A4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8B3BCA9-C443-A9F3-74EE-458D67C63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F9EF40-E915-B229-3AC5-D3485716DE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Picture 7" descr="A diagram explains how individual routines are connected to various individual routines which are interconnected to the business firm. Long description available in notes, press f6.">
            <a:extLst>
              <a:ext uri="{FF2B5EF4-FFF2-40B4-BE49-F238E27FC236}">
                <a16:creationId xmlns:a16="http://schemas.microsoft.com/office/drawing/2014/main" id="{48976DB1-9C8A-5415-8C4C-2D3B639D8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427532"/>
            <a:ext cx="4590473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8588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8CE55-8F20-9A64-FD8A-AAAF11EBA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4254E3-C18E-30FB-0CE6-68FB415EB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Organizational Politics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Information systems often redistribute power, resources, and decision rights.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Groups that lose influence or autonomy are likely to resist change.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Large IS investments frequently trigger political conflict.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Organizational Culture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Deep, shared assumptions define “how things are done” in an organization.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New systems that conflict with these assumptions face strong inertia.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Culture strongly constrains technological and organizational change.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Managerial Implications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IS implementation is rarely a neutral, technical decision.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Managers must anticipate resistance and actively manage the change process.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Successful change requires communication, training, and incentives.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35B67B-CE93-3A89-D1A9-98F1BE8EC40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24BDE4B-71C1-E4FD-B0A4-51E427840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Organizational Politics &amp; Culture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503F0B-153B-1DBD-2409-635816BCA66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AA1F97-466C-5C8C-3B58-5A0C01E32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42DD15-A43D-B54B-25AA-F3066BAD26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46486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B61B8-3D1F-B946-DC03-D8064F583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0A01F7-FA55-5AD5-D9E4-DE3E576782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03434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By the 1970s and 1980s, Kodak dominated photography, controlling most film and camera sales in the U.S.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Kodak developed early digital camera technology and invested heavily in digital capabilities.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However, internal incentives and power structures tied digital efforts to the legacy print business.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acquisition of </a:t>
            </a:r>
            <a:r>
              <a:rPr lang="en-US" altLang="zh-TW" sz="2000" dirty="0" err="1"/>
              <a:t>Ofoto</a:t>
            </a:r>
            <a:r>
              <a:rPr lang="en-US" altLang="zh-TW" sz="2000" dirty="0"/>
              <a:t> in 2001 reinforced printing rather than enabling online sharing.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As a result, Kodak missed the real disruption: Digital platforms and mobile photo sharing (e.g., Instagram).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Organizational politics and culture can shape how information systems are used, limiting their strategic impact.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FA2A49-FD20-2D99-C440-15737C8FFF6F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50E664-5EE6-C06D-2D3E-08A5BA2B4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Organizational Politics &amp; Culture: Kodak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AB7CA67-5BA9-B6E6-3855-28EA5A587C0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E4B583-E669-7C57-A284-4334AB408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D31DA6-A302-17AC-BD43-286D37BD4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40054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0C9F1-605C-938D-D0EA-2DEB3784D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A264191-2BF0-E850-855F-C6F2C9920FE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F7D8-C5E3-13C9-60E5-84FA15343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Al Jazeera English (2011, November 3). </a:t>
            </a:r>
            <a:r>
              <a:rPr lang="en-US" sz="2400" i="1" dirty="0">
                <a:solidFill>
                  <a:schemeClr val="bg1"/>
                </a:solidFill>
              </a:rPr>
              <a:t>Kodak misses the moment </a:t>
            </a:r>
            <a:r>
              <a:rPr lang="en-US" sz="2400" dirty="0">
                <a:solidFill>
                  <a:schemeClr val="bg1"/>
                </a:solidFill>
              </a:rPr>
              <a:t>[Video]. YouTube.</a:t>
            </a:r>
            <a:br>
              <a:rPr lang="en-US" sz="2400" dirty="0">
                <a:solidFill>
                  <a:schemeClr val="bg1"/>
                </a:solidFill>
              </a:rPr>
            </a:br>
            <a:r>
              <a:rPr lang="en-US" sz="2400" dirty="0">
                <a:solidFill>
                  <a:schemeClr val="bg1"/>
                </a:solidFill>
              </a:rPr>
              <a:t>  https://youtu.be/BuImbHUy4Uc?si=l4_WzpOdo2LqZLCd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AD5A95-C70B-1990-1553-6EA74CBF273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7387BA-2E19-006C-FA43-D068397AF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5680C2-1817-59FD-B214-9766DD773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3" name="Online Media 2" title="Kodak misses the moment">
            <a:hlinkClick r:id="" action="ppaction://media"/>
            <a:extLst>
              <a:ext uri="{FF2B5EF4-FFF2-40B4-BE49-F238E27FC236}">
                <a16:creationId xmlns:a16="http://schemas.microsoft.com/office/drawing/2014/main" id="{A101BE43-2B2E-1927-668C-4EB05DD7EAD9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3184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AF5F-7A0B-015C-E0A4-67A2D8084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DD1ABC-BD2B-E6F4-094D-1AF2B91E20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Organizational Environments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Organizations depend on their environments for resources and must respond to external change.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Environments change faster than organizations.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Information systems help firms scan, interpret, and respond to these changes.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Disruptive Innovation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Disruptive technologies replace existing products, services, or business models.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They often succeed by offering lower cost, greater convenience, or new forms of value rather than incremental improvement.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Managerial Implications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Managers must use IS to monitor environmental change and disruptive threats.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Adaptation may require abandoning efficient but outdated routines.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8E722C-2DF2-0608-3991-553167BF15D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94434D-AFB1-794B-8913-165FDC03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Organizational Environments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00B51A-E918-86C5-2406-B424EA2E8A4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CED5B3-C0E3-6C4F-41FA-98A9D40752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EB463B-5363-551D-0607-B41279305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09666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B05AD2-C884-4277-5110-B728346AB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F5E968-7CB3-6B24-7749-9A9FF9BFC4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All organizations have a structure that defines how tasks, authority, and communication are arranged.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Organizational structure influences the type of information systems used and the kinds of IS problems firms face.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Managerial Implications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Information systems must align with organizational structure to function effectively.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Mismatched systems create inefficiency, duplication, and conflict.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Integration challenges increase with organizational size and complexity.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Managers must assess whether information systems reinforce or reshape the existing structure.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Organizations tend to adopt recurring structural patterns, which can be systematically classified.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4D6FADE-03D7-0616-4E57-CC4884205B23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6E67F0-7CBF-238F-BA36-EA2740DD3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Organizational Structure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AAED9F9-26A9-9D26-5213-B16B2CAA82C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E51FAB-6770-FA7E-C9A6-55DEE657E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5FC750-4CC3-5AD8-18EA-746F326AA4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69281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9EC05-33CB-8B80-7349-9398ACAE1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DA2E9-5699-0131-A3BC-16C5A5F17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Entrepreneurial Structure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Small, young firms operating in fast-changing environments with simple structures.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Highly centralized decision making, typically dominated by a single entrepreneur.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i="1" dirty="0"/>
              <a:t>e.g., small start-ups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Machine Bureaucracy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Large organizations producing standardized products in stable environments.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Centralized authority, formal rules, and highly standardized processes. 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i="1" dirty="0"/>
              <a:t>e.g., midsize manufacturing firms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 err="1"/>
              <a:t>Divisionalized</a:t>
            </a:r>
            <a:r>
              <a:rPr lang="en-US" altLang="zh-TW" sz="2400" b="1" dirty="0"/>
              <a:t> Bureaucracy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Large firms composed of semi-autonomous divisions, each resembling a machine bureaucracy.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Central headquarters sets strategy while divisions are evaluated on performance. 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i="1" dirty="0"/>
              <a:t>e.g., Fortune 500 firms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9A7BA62-6555-64FE-9510-6A4D92DF42F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A3E88ED-8A66-8B8B-0ACD-E8AA38622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Organizational Structure: Mintzberg (1971)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FD8B84-B17D-2346-BA4D-EE0C0D7B373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D47BE5-2102-F99A-FA4B-698E29B940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68F3397-1A8B-0A69-BEE2-4167711F8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097584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0AA99-6922-9EB4-EFA2-E2987EA1E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5D8223-012E-A5D1-EF41-80EA1796D5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Professional Bureaucracy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Knowledge-based organizations where output depends on trained professionals.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Decentralized authority with limited managerial control over daily work.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i="1" dirty="0"/>
              <a:t>e.g., hospitals, law firms, universities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Adhocracy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Organizations operating in highly dynamic environments using temporary, project-based teams.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Flexible structure with weak central management and high coordination demands.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Ac Hoc (“for this purpose”)+ Bureaucracy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i="1" dirty="0"/>
              <a:t>e.g., consulting firms, think tanks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6FEEEBC-F549-CB92-5C64-D73DA6ADE38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CCCBE7-4945-78A1-BB91-44D8AAC1C3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Organizational Structure: Mintzberg (1971)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2B36B8E-1F19-E605-0E38-453FA6F1A15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8B5980-0047-7691-8209-993A1D4C10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E21737-C36C-ABD4-9E1D-09FD198CEF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06417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3F604-E3CE-79A1-6D7C-F04DB6BC4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278EEC-3DEE-6FB6-9F6A-BDA930D30A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202529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Other organizational features shape how IS are designed, implemented, and used.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Organizational Goals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Coercive: Participation enforced by authority (e.g., prisons).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Utilitarian: Participation exchanged for compensation (e.g., businesses).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Normative: Participation driven by shared values or beliefs (e.g., religious or nonprofit organizations).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Constituencies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Organizations may primarily serve members, clients, stockholders, or the public.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Different constituencies create different information and reporting needs.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Leadership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Leadership styles range from democratic to authoritarian.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Leadership style influences decision rights, transparency, and IS acceptance.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421C6D-0FAE-A726-4585-90A795B9ACB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C297A6-B2E9-6400-162E-575DAF7C92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Other Organizational Features: Orientation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5C88C67-A570-512A-14EE-28608CF7A65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AD1B18-5AD2-7173-DA01-F46DAD9925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1B556E-A6BB-CA63-EABB-A1B621033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19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2150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7712D-AAB2-2BA4-6502-8DFCD02F7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0F225D-16AF-3F3F-A820-AEE9ACFE5C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202529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nature of work strongly determines the type of IS that are effective.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Routine Tasks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Formal rules, standardized procedures, little judgment required.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Well suited to automation and transaction processing systems.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i="1" dirty="0"/>
              <a:t>e.g., auto parts manufacturing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Nonroutine Tasks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Require judgment, expertise, and interpretation.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Supported by decision support systems and knowledge-based systems.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i="1" dirty="0"/>
              <a:t>e.g., consulting, research, design work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Effective IS design must align with task complexity and required discretion, not just efficiency.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E254FD-6287-EBB5-414B-399E6CA4AC9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C3F1B1-949D-F0A3-F74B-282D22E917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Other Organizational Features: Tasks &amp; Technology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EBD5EC0-A83E-696E-92EE-35D312F28D0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631C21B-A128-12CE-CE73-BC9A4AE986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4DAB3-3544-AA94-305B-8D4C764DB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93017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67B4B4-D94B-5C00-0BEF-6AEA7E8F5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43591-4340-4B4B-68E7-BF2A392295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4967926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Routines and Business Processes</a:t>
            </a:r>
            <a:r>
              <a:rPr lang="en-US" altLang="zh-TW" sz="2400" dirty="0"/>
              <a:t>: How work is actually performed day to day.</a:t>
            </a:r>
          </a:p>
          <a:p>
            <a:pPr lvl="3">
              <a:lnSpc>
                <a:spcPct val="90000"/>
              </a:lnSpc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lnSpc>
                <a:spcPct val="90000"/>
              </a:lnSpc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Organizational Politics &amp; Culture</a:t>
            </a:r>
            <a:r>
              <a:rPr lang="en-US" altLang="zh-TW" sz="2400" dirty="0"/>
              <a:t>: How power, incentives, and shared norms shape system use.</a:t>
            </a:r>
          </a:p>
          <a:p>
            <a:pPr lvl="3">
              <a:lnSpc>
                <a:spcPct val="90000"/>
              </a:lnSpc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lnSpc>
                <a:spcPct val="90000"/>
              </a:lnSpc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Organizational Environments</a:t>
            </a:r>
            <a:r>
              <a:rPr lang="en-US" altLang="zh-TW" sz="2400" dirty="0"/>
              <a:t>: External pressures from markets, technology, regulation, and competition.</a:t>
            </a:r>
          </a:p>
          <a:p>
            <a:pPr lvl="3">
              <a:lnSpc>
                <a:spcPct val="90000"/>
              </a:lnSpc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lnSpc>
                <a:spcPct val="90000"/>
              </a:lnSpc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Organizational Structure</a:t>
            </a:r>
            <a:r>
              <a:rPr lang="en-US" altLang="zh-TW" sz="2400" dirty="0"/>
              <a:t>: How authority, coordination, and decision making are organized.</a:t>
            </a:r>
          </a:p>
          <a:p>
            <a:pPr lvl="3">
              <a:lnSpc>
                <a:spcPct val="90000"/>
              </a:lnSpc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lnSpc>
                <a:spcPct val="90000"/>
              </a:lnSpc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Other Organizational Features</a:t>
            </a:r>
            <a:r>
              <a:rPr lang="en-US" altLang="zh-TW" sz="2400" dirty="0"/>
              <a:t>: Goals, leadership styles, constituencies, and task characteristics.</a:t>
            </a:r>
          </a:p>
          <a:p>
            <a:pPr lvl="3">
              <a:lnSpc>
                <a:spcPct val="90000"/>
              </a:lnSpc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lnSpc>
                <a:spcPct val="90000"/>
              </a:lnSpc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Technical capability alone is not enough, and IS must align with the organization.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87094E8-30EF-6CAE-684C-F6A329C5A9E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975FF7-8B34-08B1-392B-0B375EE16C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Features of Organizations Affecting IS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22F12FC-5AE9-9714-4238-77487CC5B00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3D7EDC-183F-12F0-181A-437AC7E9CB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7EF103-F4F3-BC7E-6B46-1DD827F1B6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317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B42537B-D993-527F-2C45-E9A9104D3C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A17F1B-F81D-A101-43D0-0BF1F304B40A}"/>
              </a:ext>
            </a:extLst>
          </p:cNvPr>
          <p:cNvSpPr txBox="1"/>
          <p:nvPr/>
        </p:nvSpPr>
        <p:spPr>
          <a:xfrm>
            <a:off x="0" y="2705725"/>
            <a:ext cx="1218882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How Information Systems</a:t>
            </a:r>
          </a:p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Affect Organizations</a:t>
            </a:r>
          </a:p>
        </p:txBody>
      </p:sp>
    </p:spTree>
    <p:extLst>
      <p:ext uri="{BB962C8B-B14F-4D97-AF65-F5344CB8AC3E}">
        <p14:creationId xmlns:p14="http://schemas.microsoft.com/office/powerpoint/2010/main" val="37247796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91733-44F7-E42A-221A-90C7F92C1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17E5E-FFF1-1DEB-5A13-BE4056423E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94600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Over the past decade, information systems have fundamentally altered the economics of organizations.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IT functions as a factor of production that can substitute for both labor and capital.</a:t>
            </a: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Declining IT costs make digital solutions relatively cheaper than traditional labor or capital investments.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Labor substitution: Routine clerical and middle-management tasks are increasingly automated.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Capital substitution: Digital processes reduce reliance on expensive physical capital.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These cost shifts change how work is organized, coordinated, and controlled within firms.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DEE7A4E-9791-9C51-DD73-858CAD48501F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FE1F5B-FC46-0C2C-0732-A696569488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Economic Impact: Shifting Relative Costs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CEAB7C7-34CF-F343-7696-F6823C82421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434941-3405-FC91-D848-BAB67CA87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4054E2-63FF-9865-034C-6BD9A8FFF5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20271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7433F6-39E5-E75B-8310-5CF8E58CE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B85277-0DE2-6632-84FD-410AB4C5D1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94600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One of the main economic challenges for firms was coordinating transactions because information was costly to obtain, share, and verify across markets.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Transaction costs arise when a firm buys what it cannot efficiently produce itself: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Searching for and evaluating suppliers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Negotiating and monitoring contracts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Managing risk and insurance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Gathering product and market information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Historically, firms used vertical integration to reduce transaction costs.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Impact of information systems: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Dramatically lower transaction costs through digital search, communication, and monitoring.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Enable firms to shrink in size by outsourcing activities once done in-house.</a:t>
            </a:r>
            <a:endParaRPr lang="en-US" altLang="zh-TW" sz="1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30EDCB-46E6-BBAA-746E-A5033BE5412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3E485A-7AEF-F79C-0BB2-D21B85ECBE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Economic Impact: Economics of Information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C37A68-885A-6533-263D-1D98F7F8837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347273-D058-79F5-1E54-1BE60D1B3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3C99D8-D26F-68D8-3A33-75DED155A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14892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D54AC-C7CA-B9A2-2902-3B39654B4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B0E35B-3E1D-521E-4019-D32B8CF4E3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One of the main economic challenges inside firms is coordinating and supervising people as organizations grow.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b="1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Agency Theory: Firms are viewed as a </a:t>
            </a:r>
            <a:r>
              <a:rPr lang="en-US" altLang="zh-TW" sz="2400" i="1" dirty="0"/>
              <a:t>nexus of contracts</a:t>
            </a:r>
            <a:r>
              <a:rPr lang="en-US" altLang="zh-TW" sz="2400" dirty="0"/>
              <a:t> among self-interested individuals.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Principals (owners) employ agents (employees).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Agents require monitoring to align their interests with those of owners.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Agency Costs: As firms grow, agency costs increase due to greater coordination and supervision needs.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Impact of information systems: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Reduces the cost of acquiring and analyzing information.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Makes it easier to oversee more employees with fewer managers.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Reduces the need for middle managers and clerical staff.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44808A-4340-BED7-1241-B6A1FE64C1D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FA7265-F820-82E1-E873-EAD84CB903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Economic Impact: Agency Costs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FC03CF-4D77-1F55-C00E-4A1D46BAF78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78C061-5607-D9F7-4A27-7BBD52418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6871BF-666A-BE14-96C8-60CADB0DD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889448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6D4B1-F69A-AA27-6352-08F50A6B6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AC8E3-AB6D-1A62-8E8E-18A3B70924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5695" y="1300899"/>
            <a:ext cx="7041823" cy="489251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IT flattens organizations by reducing hierarchical levels and downsizing large bureaucracies.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This occurs through three main channels:</a:t>
            </a:r>
            <a:endParaRPr lang="en-US" altLang="zh-TW" sz="12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Broader access to information empowers lower-level employees to make decisions.</a:t>
            </a:r>
            <a:endParaRPr lang="en-US" altLang="zh-TW" sz="12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Managers become more efficient: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Faster and more accurate information leads to quicker decisions.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Fewer managers are needed, which lowers management costs.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Span of control widens, allowing senior managers to oversee more workers across greater distances.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As a result, many firms eliminate large numbers of middle management roles.</a:t>
            </a:r>
            <a:endParaRPr lang="en-US" altLang="zh-TW" sz="2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1F4CEC0-CFC2-BB1B-F10D-7D771707B981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FF4B59A-EB50-904A-812D-CF1F06BB6F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Organizational &amp; Behavioral Impact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01DDF2D-11A0-6726-6428-6D068AF8937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577A73-1F7C-74A3-47E9-374DEDBB3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1540387-76DF-DBD0-ED8D-EC5838E1E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Picture 7" descr="Two organizational charts compare the role of information systems.  Long description available in notes, press f6.">
            <a:extLst>
              <a:ext uri="{FF2B5EF4-FFF2-40B4-BE49-F238E27FC236}">
                <a16:creationId xmlns:a16="http://schemas.microsoft.com/office/drawing/2014/main" id="{3AE134B2-0E4A-5F62-15B9-992918D1CA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307" y="2058994"/>
            <a:ext cx="4114800" cy="3309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17906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7B096-33D8-37EE-514A-ACE11E31ED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instructions screen
Activity Title: A company introduces a dashboard that gives frontline employees real-time sales, inventory, and performance data that only managers previously saw. From the firm's perspective, what is the primary organizational effect?
Slide 27</a:t>
            </a:r>
          </a:p>
        </p:txBody>
      </p:sp>
      <p:sp>
        <p:nvSpPr>
          <p:cNvPr id="3" name="Footer Placeholder 2" descr="Poll Everywhere multiple choice poll instructions screen&#10;Activity Title: A company introduces a dashboard that gives frontline employees real-time sales, inventory, and performance data that only managers previously saw. From the firm's perspective, what is the primary organizational effect?">
            <a:extLst>
              <a:ext uri="{FF2B5EF4-FFF2-40B4-BE49-F238E27FC236}">
                <a16:creationId xmlns:a16="http://schemas.microsoft.com/office/drawing/2014/main" id="{40B320F4-757F-E1E0-B6F3-C5BBD0ABB6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36DAD0-01CD-BF14-40A1-8F376A14D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B5D91E7-2DF7-FA57-E9EB-83348007E2C0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35231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891F7-5107-4F18-4E77-24A4ADCBD4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>
                <a:solidFill>
                  <a:srgbClr val="000000">
                    <a:alpha val="0"/>
                  </a:srgbClr>
                </a:solidFill>
              </a:rPr>
              <a:t>Poll Everywhere multiple choice poll chart screen
Activity Title: A company introduces a dashboard that gives frontline employees real-time sales, inventory, and performance data that only managers previously saw. From the firm's perspective, what is the primary organizational effect?
Slide 29</a:t>
            </a:r>
          </a:p>
        </p:txBody>
      </p:sp>
      <p:sp>
        <p:nvSpPr>
          <p:cNvPr id="3" name="Footer Placeholder 2" descr="Poll Everywhere multiple choice poll chart screen&#10;Activity Title: A company introduces a dashboard that gives frontline employees real-time sales, inventory, and performance data that only managers previously saw. From the firm's perspective, what is the primary organizational effect?">
            <a:extLst>
              <a:ext uri="{FF2B5EF4-FFF2-40B4-BE49-F238E27FC236}">
                <a16:creationId xmlns:a16="http://schemas.microsoft.com/office/drawing/2014/main" id="{DCEF11EF-9A04-FC7B-0CA3-C177A8F42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 Management Information Systems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77DC73-9500-56EF-3879-21E8C4F2CD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28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EB46DDD-2C20-14E7-2FE7-C7F20EDC2D04}"/>
              </a:ext>
            </a:extLst>
          </p:cNvPr>
          <p:cNvPicPr>
            <a:picLocks/>
          </p:cNvPicPr>
          <p:nvPr>
            <p:custDataLst>
              <p:tags r:id="rId1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90500" y="190500"/>
            <a:ext cx="11798300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7592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3B78E0-B144-3D57-FE30-65072B9BB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B27DAA-5573-3BD7-CDDF-BCE9A7013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Updating information systems is often viewed as universally good, but it is not free of internal challenges or politics.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Information systems: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Affect access to information, a key organizational resource.</a:t>
            </a:r>
            <a:endParaRPr lang="en-US" altLang="zh-TW" sz="12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Influence who does what, when, where, and how within the organization.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Disrupt well-established personal routines.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Often require training or education that is not directly compensated.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Because changes to information systems alter structure, culture, processes, and strategy, they frequently generate resistance.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Managers’ ability to work effectively with people and organizations can be just as important as their technical knowledge.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6659527-82F3-F989-E413-E9EFDA58BB5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441669B-849C-D91B-02B0-72B16DEBBA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Organizational Resistance to Change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D590C4-A59C-480E-6817-DFD62ADC3AE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14D625-4D5F-58F6-0CB2-66BA199735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2005597-2B9D-4541-3AB0-6F5F494C5B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29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536507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AAD7A-C3F4-77FE-576A-C2E012BD1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7F0264-8EF0-952E-71E5-456C104D27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03597" y="1300899"/>
            <a:ext cx="6443458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Research highlights four key sources of resistance: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Nature of the IT innovation.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Organizational structure.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Organizational culture.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Tasks affected by the innovation.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These factors interact: 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Changes are often absorbed, deflected, or defeated unless technology, tasks, structure, and people change together.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sequence </a:t>
            </a:r>
            <a:r>
              <a:rPr lang="en-US" altLang="zh-TW" sz="2000" i="1" dirty="0"/>
              <a:t>Unfreeze → Change → Refreeze</a:t>
            </a:r>
            <a:r>
              <a:rPr lang="en-US" altLang="zh-TW" sz="2000" dirty="0"/>
              <a:t> may be necessary to institutionalize change.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F08CAD-0C10-7F97-AF96-D42D1A7A8EF3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E9A784-FB29-D07D-5686-09AF95161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Organizational Resistance to Change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2416AB3-7E26-06AE-7246-9E1253C9BD5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BC0213-6C06-ACDF-F20D-0A3D9B381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CFC5F6-A694-16F7-8FCF-BD890B759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Picture 7" descr="A diagram explains the sources of organizational resistance to change namely, organizational structure, people, job tasks, and information technology.">
            <a:extLst>
              <a:ext uri="{FF2B5EF4-FFF2-40B4-BE49-F238E27FC236}">
                <a16:creationId xmlns:a16="http://schemas.microsoft.com/office/drawing/2014/main" id="{FC52285A-5202-A6EC-2327-A01DED0D03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1" y="1789093"/>
            <a:ext cx="4572000" cy="3848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759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E94903-985F-FD66-2B04-C5A02D85A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1B933A-9E0F-3841-82D6-C3FC51F697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Nature of the innovation: 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more disruptive or unfamiliar the system, the greater the resistance.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Systems that increase monitoring, transparency, or automation often trigger fear of loss of autonomy or jobs.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i="1" dirty="0"/>
              <a:t>“Is this making my job easier, or making me easier to replace?”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i="1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Organizational Structure: 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Highly centralized or bureaucratic organizations tend to resist systems that decentralize decision making.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Existing reporting lines and authority structures may be threatened by new information flows.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i="1" dirty="0"/>
              <a:t>“Who gains decision rights, and who loses them?”</a:t>
            </a: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i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6A4322-7DDE-2CAF-6996-BA0D5186F3B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9DC4A3-9CDD-34E8-2240-5C546EF9C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Organizational Resistance to Change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622D754-82AD-B01C-F288-C5EF843651E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5BE892-41DB-6B1D-5CC3-65403899B1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79392A-36D5-C58A-9864-05F3BD8367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95816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DDF54-3A08-5ECA-98E4-2033548A7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6D097-4671-3FB2-DAB7-BDD469278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771" y="1300899"/>
            <a:ext cx="1110528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Organizational Culture: 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Cultures built on informal practices or tacit knowledge often resist standardized systems.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Norms around trust, collaboration, and risk-taking shape willingness to adopt new technology.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i="1" dirty="0"/>
              <a:t>“This works on paper, but that’s not how we do things here.”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i="1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Tasks Affected by the Innovation: 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Resistance is strongest when core tasks, routines, or skill requirements change.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Employees resist when systems deskill work or require unpaid learning and adjustment.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i="1" dirty="0"/>
              <a:t>“Now I have to learn a new system just to do the same job?”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i="1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Resistance is not irrational. It reflects how technology redistributes information, authority, and effort.</a:t>
            </a: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i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AC8A4C-CDA5-A633-4167-70C482A2B8D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7D9DB7-0C0C-80BC-EFB2-D21F97404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Organizational Resistance to Change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34131D8-F729-8505-B821-4DD9E81A2AC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9CC9A6-34EC-4738-B02B-19B77E409C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6CABFFC-2966-F12E-A6B7-729E851B8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916077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00707-B25F-9BF8-D00B-4DDDA93D79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D25369-EDFF-BBA2-AD3C-F2F400BE5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Real benefits require understanding the organization where the system will be used.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Key organizational factors include: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External environment in which the firm operates.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Organizational structure, including hierarchy, specialization, routines, and processes.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Culture and politics that shape behavior and incentives.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Type of organization and leadership style.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Interest groups and employee attitudes affected by the system.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Tasks, decisions, and business processes the IS </a:t>
            </a:r>
            <a:r>
              <a:rPr lang="en-US" altLang="zh-TW" sz="2000" dirty="0" err="1"/>
              <a:t>is</a:t>
            </a:r>
            <a:r>
              <a:rPr lang="en-US" altLang="zh-TW" sz="2000" dirty="0"/>
              <a:t> designed to support.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Beyond internal fit, managers must also understand how information systems shape competition at the industry level.</a:t>
            </a:r>
            <a:endParaRPr lang="en-US" altLang="zh-TW" sz="20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C23702D-CFC8-E599-2923-B552872D8A6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97E8662-9F6A-06E7-33D0-DF9A6D6E1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Organizational Factors of Consideration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B8BAD7-ABE4-1FE8-A959-9F8325DDE27D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BD4BA-99C1-50FC-F017-401AD4CB3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06284D-A50E-3BBE-5025-5362A60EB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455842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0751828-9476-F1A5-1C73-09F8C07D6B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B4407C-6160-F4C1-C190-30EE4109726B}"/>
              </a:ext>
            </a:extLst>
          </p:cNvPr>
          <p:cNvSpPr txBox="1"/>
          <p:nvPr/>
        </p:nvSpPr>
        <p:spPr>
          <a:xfrm>
            <a:off x="0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The Competitive Forces Model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48409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FCCC8-71AB-DA1C-7E35-150A5454C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351A42-4411-DDEC-398A-5063173B00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 every industry, some firms consistently outperform others: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i="1" dirty="0"/>
              <a:t>e.g., Toyota (automotive), Amazon (online retail), Walmart (offline retail), Google (web search)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Superior performers have a competitive advantage: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Access to unique resources, or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Use common resources more efficiently, including knowledge and information systems.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Firms with competitive advantages enjoy higher revenue growth, profitability, productivity, and market valuation.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 widely used framework for understanding competitive advantage is Michael Porter’s Competitive Forces Model.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Claim: Five competitive forces shape the fate of firms within an industry.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3D2B33A-3CE3-A3BF-DD1D-95F691B5F20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0B7AB6-3181-B919-5D73-B2181DA5C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Competitive Forces Model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31F8A4-121B-73DE-700C-682D8C8215DE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F3986E-D923-6742-13B0-DD30A5148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85C378-FAE6-F584-75D6-AD7A40D63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776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83681-6B7B-E2B0-9B5D-35F58A278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2C3CBA-09AC-130F-C741-4F3E3678DAA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8EA821-E558-EDDD-B143-677742773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Competitive Forces Model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0E245ED-BE96-F197-0D79-AC61984C2EE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DF6C35-2A29-3611-0E48-26921FF1CA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97D4D4-7288-6D06-71D3-D0C902FD3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 descr="A diagram illustrates how the Porter’s framework analyzes the competition of a business. Long description available in notes, press f6.">
            <a:extLst>
              <a:ext uri="{FF2B5EF4-FFF2-40B4-BE49-F238E27FC236}">
                <a16:creationId xmlns:a16="http://schemas.microsoft.com/office/drawing/2014/main" id="{9EB94C57-368F-4C33-8C40-08E224D76C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110" y="1198932"/>
            <a:ext cx="9880601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813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A437A-7363-5045-FCAB-D30D76B30C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6EE39-A019-B7D8-03D7-C162F56E61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Traditional Competitors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Rivals compete by improving efficiency, introducing new products, and building strong brands.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Switching costs (financial, time, effort, or inconvenience) help firms retain customers by making it harder to change products or services.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New Market Entrants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Entry is easier in some industries (e.g., pizzerias) and harder in others (e.g., semiconductors).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Advantages: No legacy costs, younger or lower-cost workforce, higher motivation.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Disadvantages: Limited financing, low brand recognition, less experience.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Substitute Products and Services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Substitutes reduce pricing power and profit margins.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i="1" dirty="0"/>
              <a:t>e.g., electric vehicles vs. internal combustion engine cars, renewable vs. non-renewable energy, etc.</a:t>
            </a: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18A428-2AF7-042C-0702-DFF068A0EBDD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A74932C-7D30-D315-04CA-EB5462F8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Five Competitive Forces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3E0A10-6BF2-A0B3-921A-4446CAADA48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F9D121-829B-9065-86F6-DD8678FA92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FA48CB6-79D9-D214-70F5-FF7E0A64D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1292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D7E0CA-0BFE-2AAF-E804-919BBE367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DA6452-9AAA-00BD-0559-402E62791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Customers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Customer power increases when switching is easy or when competition is primarily price-based.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Transparent markets increase customer power (e.g., online used textbook markets).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Firms attempt to create brand loyalty with unique, hard-to-copy products.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Suppliers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Powerful suppliers can erode profits if firms cannot pass higher costs on to customers.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 larger number of supplier options often gives firms greater bargaining power.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i="1" dirty="0"/>
              <a:t>e.g., laptop makers use multiple suppliers for parts like keyboards and screens.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Firms respond to these competitive forces by adopting IS-enabled strategies that strengthen their market position.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05360A3-DAA5-FB48-382E-66A88082A96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D50BB8-B21A-6101-8A85-FC67585F50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Five Competitive Forces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B9BCE5B-412E-C093-78A6-C2D7FCAA738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F3C810-8AE5-56A9-6833-AAFB5D4737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9012493-A60C-08DE-9509-8C061213E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5837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77A4A9-322A-9BFE-859B-294BFFA41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93ECBA8-D482-EA26-A5A4-099FEAF8981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C8DFD7-E5AC-EB9D-3533-7F23D66BB7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Harvard Business Review (2008, June 30). </a:t>
            </a:r>
            <a:r>
              <a:rPr lang="en-US" sz="2400" i="1" dirty="0">
                <a:solidFill>
                  <a:schemeClr val="bg1"/>
                </a:solidFill>
              </a:rPr>
              <a:t>The Five Competitive Forces That Shape </a:t>
            </a:r>
            <a:br>
              <a:rPr lang="en-US" sz="2400" i="1" dirty="0">
                <a:solidFill>
                  <a:schemeClr val="bg1"/>
                </a:solidFill>
              </a:rPr>
            </a:br>
            <a:r>
              <a:rPr lang="en-US" sz="2400" i="1" dirty="0">
                <a:solidFill>
                  <a:schemeClr val="bg1"/>
                </a:solidFill>
              </a:rPr>
              <a:t>  Strategy </a:t>
            </a:r>
            <a:r>
              <a:rPr lang="en-US" sz="2400" dirty="0">
                <a:solidFill>
                  <a:schemeClr val="bg1"/>
                </a:solidFill>
              </a:rPr>
              <a:t>[Video]. YouTube. https://youtu.be/mYF2_FBCvXw?si=MJD5CqN8IR5UJv-U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49E93F-707F-A0C3-2C27-4A95D5650A8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9A3AA9-2637-B798-5B9D-A1DC4CEBA1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720357-C9DB-0C43-4E80-BB35314802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39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3" name="Online Media 2" title="The Five Competitive Forces That Shape Strategy">
            <a:hlinkClick r:id="" action="ppaction://media"/>
            <a:extLst>
              <a:ext uri="{FF2B5EF4-FFF2-40B4-BE49-F238E27FC236}">
                <a16:creationId xmlns:a16="http://schemas.microsoft.com/office/drawing/2014/main" id="{10AAC121-39C5-05D6-3D30-E68CF3F2AB67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0332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8394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31DA9-A6B1-2F8F-87E2-6C0F0B2745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271DE8-5030-32A9-D82E-4D5A8F2233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Low-Cost Leadership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Example: Walmart uses IS to achieve the lowest operating costs and prices.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Continuous replenishment systems link checkout data directly to suppliers.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Real-time inventory tracking keeps shelves stocked and reduces warehouse costs.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Efficient customer response systems tie consumer demand directly to the supply chain.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Product Differentiation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IS enables new products &amp; services and enhances customer convenience.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Amazon’s one-click shopping streamlined early e-commerce.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Apple’s iTunes Store created the first large-scale legal digital music marketplace.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IS can differentiate not just products, but the entire customer experience.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D60001-214D-FB35-0AE5-ED9DEBC94AF0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6463C8-47C4-71A0-CD4D-98EDE750E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IS Strategies for Competitive Forces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E0C79C-C2C6-8552-73D5-6406876AEB3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E356F9-B2C4-7D73-416F-3875ED954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0EED1A-8C1C-8C97-A622-E5780B22A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00286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453AB-3988-F518-F7DC-3C78DDF31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F9F1C-FBDA-A226-B22D-A9E08C3354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Focusing on Market Niches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IS supports specialized focus by serving narrow markets better than competitors.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Tools: Data mining, AI/ML, and CRM systems.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Charlotte Hornets use real-time fan profiles for personalized marketing.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Credit card firms identify profitable customers using purchase data.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Enables one-to-one marketing tailored to individual preferences.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Strengthening Customer and Supplier Intimacy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IS tightens linkages with suppliers and builds stronger customer relationships.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Toyota allows suppliers to access production schedules and coordinate shipping.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Amazon recommends products based on user history and peer purchases.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Raises switching costs, builds stronger loyalty, and sustains competitive advantage.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E82ABD5-A8A1-1BBA-B49E-EA829A7AF64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6BDDC7-EFAA-E371-15B2-97C96A209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IS Strategies for Competitive Forces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F8F0C4-24C2-8C44-7F85-EF7A583D47B5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1B1938-C663-6C54-16D6-FC838C4ED9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18669A-78BD-95CE-217A-5A644B1AF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41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90142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26418-17B1-0BCA-9B29-F5D0730DB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BDFD02-A3C5-9D74-BEAC-781EA071CC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Competitive forces have intensified (Porter, 2001)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Universal standards make market entry easier.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Price competition increases.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Customers gain bargaining power due to easy online price comparisons.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Profit margins are dampened across many industries.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Industries Disrupted: Newspapers, music, books, retail, telecommunication, etc.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/>
              <a:t>Opportunities Created</a:t>
            </a:r>
            <a:r>
              <a:rPr lang="en-US" altLang="zh-TW" sz="2400" dirty="0"/>
              <a:t>: Entirely new markets and business models, and access to large customer bases and scalable brand building.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Porter’s Five Forces help identify </a:t>
            </a:r>
            <a:r>
              <a:rPr lang="en-US" altLang="zh-TW" sz="2400" i="1" dirty="0"/>
              <a:t>where</a:t>
            </a:r>
            <a:r>
              <a:rPr lang="en-US" altLang="zh-TW" sz="2400" dirty="0"/>
              <a:t> competitive pressures exist, but not </a:t>
            </a:r>
            <a:r>
              <a:rPr lang="en-US" altLang="zh-TW" sz="2400" i="1" dirty="0"/>
              <a:t>how</a:t>
            </a:r>
            <a:r>
              <a:rPr lang="en-US" altLang="zh-TW" sz="2400" dirty="0"/>
              <a:t> firms should respond internally.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593E99B-F1CA-EF39-E032-CD6847A6486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5675E6-6ADB-A5EC-3812-76E71A18AD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How IT is Changing Competitive Advantages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059AA1E-5746-A204-B4E5-4BEB2BCD3CDB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9C3411-A114-D6F1-2627-E879A4384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C0A719-5F8F-561C-653A-90D995388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10985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3E201C-28D5-61B5-E946-E657105CB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1B4C90-CE77-16AD-6BB0-AA0F2F495784}"/>
              </a:ext>
            </a:extLst>
          </p:cNvPr>
          <p:cNvSpPr txBox="1"/>
          <p:nvPr/>
        </p:nvSpPr>
        <p:spPr>
          <a:xfrm>
            <a:off x="0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The Value Chain Model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159451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DACF5-8F45-D1C1-D5A9-9257D0997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687F80-B34F-8CBD-2348-A0B16E59A2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1303" y="1300899"/>
            <a:ext cx="6405752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To understand how IT creates advantage inside the firm, we turn to the Value Chain model.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Value Chain Model: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Highlights where information systems can add the most value.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Identifies leverage points to improve efficiency and competitive position.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value chain model views the firm as a chain of activities that add margin to products and services.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Two types of activities: Primary and Support.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8A62F0D-B0FA-6164-B10A-884C9FC350E2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82D9002-1740-5176-10AA-8375A7AAC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Value Chain Model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8AE29F0-7F65-D4B3-CF01-A7E35912930E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C73CF1-AFD7-901D-07D5-5D9B668C3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A0CF1A-6586-C027-6AEC-BD4EAA045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8" name="Picture 7" descr="A diagram represents an Industry Value Chain, which is a framework used to describe the activities and systems involved in the production and distribution of goods and services. Long description available in notes, press f6.">
            <a:extLst>
              <a:ext uri="{FF2B5EF4-FFF2-40B4-BE49-F238E27FC236}">
                <a16:creationId xmlns:a16="http://schemas.microsoft.com/office/drawing/2014/main" id="{C93CD1AD-295C-7DAA-5F93-0F37830F2B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1808532"/>
            <a:ext cx="4572000" cy="381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07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7C344-E2A7-8EDE-4E30-1309B2EDC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D97284-0656-6EE2-05B6-8D02B50C63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0" y="1300899"/>
            <a:ext cx="11302737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Primary Activities</a:t>
            </a:r>
            <a:r>
              <a:rPr lang="en-US" altLang="zh-TW" sz="2400" dirty="0"/>
              <a:t> are directly related to the production and distribution of a product.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b="1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Inbound Logistics</a:t>
            </a:r>
            <a:r>
              <a:rPr lang="en-US" altLang="zh-TW" sz="2400" dirty="0"/>
              <a:t>: Receiving and storing materials used in production.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400" i="1" dirty="0"/>
              <a:t>e.g., RFID &amp; warehouse management systems optimize inventory flows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Operations</a:t>
            </a:r>
            <a:r>
              <a:rPr lang="en-US" altLang="zh-TW" sz="2400" dirty="0"/>
              <a:t>: Transforming inputs into finished products.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400" i="1" dirty="0"/>
              <a:t>e.g. CAD systems, robotics, process automation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Outbound Logistics</a:t>
            </a:r>
            <a:r>
              <a:rPr lang="en-US" altLang="zh-TW" sz="2400" dirty="0"/>
              <a:t>: Storing and distributing finished products.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400" i="1" dirty="0"/>
              <a:t>e.g. UPS/FedEx package tracking, logistics optimization software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Sales &amp; Marketing</a:t>
            </a:r>
            <a:r>
              <a:rPr lang="en-US" altLang="zh-TW" sz="2400" dirty="0"/>
              <a:t>: Promoting and selling products.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400" i="1" dirty="0"/>
              <a:t>e.g. CRM systems, AI-driven targeted ads, e-commerce platforms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Service</a:t>
            </a:r>
            <a:r>
              <a:rPr lang="en-US" altLang="zh-TW" sz="2400" dirty="0"/>
              <a:t>: Providing maintenance, repair, and customer support after the sale.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400" i="1" dirty="0"/>
              <a:t>e.g. Online service portals, predictive maintenance via IoT sensors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281359-6838-3CF8-605E-4E917CB48916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7C8063D-3C83-8F66-F0C2-8ABC86EB27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Value Chain Model: Primary Activities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E48385-B012-377C-01C2-FF1835A92D7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70F797-0644-81F5-70C7-DD3E2F02F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C86EEB-77BD-8D9F-54DB-6B7B29777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241733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843A04-FAD7-2CC4-C42E-7BBEC7D36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995F41-049F-A3ED-53D1-947F0ECCF4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Support Activities</a:t>
            </a:r>
            <a:r>
              <a:rPr lang="en-US" altLang="zh-TW" sz="2400" dirty="0"/>
              <a:t> enable and enhance the performance of primary activities.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b="1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Infrastructure</a:t>
            </a:r>
            <a:r>
              <a:rPr lang="en-US" altLang="zh-TW" sz="2400" dirty="0"/>
              <a:t>: Administration and management functions.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400" i="1" dirty="0"/>
              <a:t>e.g. ERP systems integrate finance, planning, and operations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Human Resources</a:t>
            </a:r>
            <a:r>
              <a:rPr lang="en-US" altLang="zh-TW" sz="2400" dirty="0"/>
              <a:t>: Recruiting, hiring, training, and employee development.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400" i="1" dirty="0"/>
              <a:t>e.g. LinkedIn, online applicant tracking systems, e-learning platforms</a:t>
            </a:r>
            <a:endParaRPr lang="en-US" altLang="zh-TW" sz="1400" dirty="0"/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Technology</a:t>
            </a:r>
            <a:r>
              <a:rPr lang="en-US" altLang="zh-TW" sz="2400" dirty="0"/>
              <a:t>: Improving products and processes.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400" i="1" dirty="0"/>
              <a:t>e.g. </a:t>
            </a:r>
            <a:r>
              <a:rPr lang="en-US" sz="1400" i="1" dirty="0"/>
              <a:t>R&amp;D databases, AI/ML for product design</a:t>
            </a:r>
            <a:endParaRPr lang="en-US" altLang="zh-TW" sz="1400" i="1" dirty="0"/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Procurement</a:t>
            </a:r>
            <a:r>
              <a:rPr lang="en-US" altLang="zh-TW" sz="2400" dirty="0"/>
              <a:t>: Purchasing inputs used throughout the firm.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400" i="1" dirty="0"/>
              <a:t>e.g. </a:t>
            </a:r>
            <a:r>
              <a:rPr lang="en-US" sz="1400" i="1" dirty="0"/>
              <a:t>E-procurement systems, supplier portals, automated bidding tools</a:t>
            </a:r>
            <a:endParaRPr lang="en-US" altLang="zh-TW" sz="1400" i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132EFE2-41A6-7B8A-4ED0-FA6177C8639A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00259F-9F02-A410-E8A5-759BD3FFB9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Value Chain Model: Support Activities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D700293-4188-2662-C1C2-00100B7D941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157B10-A440-FB90-2AEA-508EDB9FDC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E54FF81-696B-EDE5-5503-59FBA2E23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75847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74538-C304-B864-CE44-73C18EDB2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9F912B-09AD-C82F-3369-6DB9E2FB5C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0" y="1300899"/>
            <a:ext cx="11302737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Value Chain model provides a framework for identifying where and how firms can improve performance to build competitive advantage.</a:t>
            </a: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i="1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Benchmarking</a:t>
            </a:r>
            <a:r>
              <a:rPr lang="en-US" altLang="zh-TW" sz="2400" dirty="0"/>
              <a:t>: Comparing the cost, efficiency, and effectiveness of individual value chain activities against internal targets, competitors, or industry standards.</a:t>
            </a: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6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Best Practices</a:t>
            </a:r>
            <a:r>
              <a:rPr lang="en-US" altLang="zh-TW" sz="2400" dirty="0"/>
              <a:t>: Proven methods for performing specific activities, identified by consulting firms, research organizations, government agencies, or industry groups.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By breaking the firm into discrete activities, managers can: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Identify which activities create or destroy value.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Compare each activity’s performance to best-in-class benchmarks.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Target specific activities for IS-enabled improvement.</a:t>
            </a: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50F1E8-BB9F-6A39-1C97-7344117AD85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4A22FCD-AE2E-C62D-521E-813D25900A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Value Chain Model: Competitive Advantage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7E027C-D6B8-C32E-BCB1-595AAD77DAF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58B850-C4E2-D477-929F-8558E403C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77942F-9628-3AE4-6497-05DFF59388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47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91269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9F4DD-0E8B-A226-0092-CB95A4D88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EFFA93-128C-B9A8-B53F-10D43A9F53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0" y="1300899"/>
            <a:ext cx="11302737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Role of Information Systems: 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Collect and analyze detailed performance data at the activity level. 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Enable comparisons across units, firms, or industries. 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Support redesign and coordination of activities to lower costs or increase differentiation.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Example: IS-enabled Inbound Logistics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Traditional Retailers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Suppliers ship on fixed schedules.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Limited visibility into store-level demand.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Manual or delayed inventory tracking.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Higher safety stock and warehousing costs.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CF5942-2208-E35B-F0CB-13356AE3CB83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68CE1BD-E9D1-BA8B-6A9C-248FF76BF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The Value Chain Model: Competitive Advantage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1AA0B1E-EA89-26CC-F40A-54BBD773275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7BFE04-F44C-3AD3-A136-36B27A8099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AC61B4-0D54-5821-37C6-28D837707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A0FAC21B-9060-4E00-3EAD-D6EF4D6D0C98}"/>
              </a:ext>
            </a:extLst>
          </p:cNvPr>
          <p:cNvSpPr txBox="1">
            <a:spLocks/>
          </p:cNvSpPr>
          <p:nvPr/>
        </p:nvSpPr>
        <p:spPr>
          <a:xfrm>
            <a:off x="4637984" y="3486598"/>
            <a:ext cx="7154943" cy="26691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>
                <a:solidFill>
                  <a:srgbClr val="000000"/>
                </a:solidFill>
                <a:latin typeface="Garamond"/>
              </a:rPr>
              <a:t>IS-enabled Retailers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>
                <a:solidFill>
                  <a:srgbClr val="000000"/>
                </a:solidFill>
                <a:latin typeface="Garamond"/>
              </a:rPr>
              <a:t>Real-time sales data shared directly with suppliers.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>
                <a:solidFill>
                  <a:srgbClr val="000000"/>
                </a:solidFill>
                <a:latin typeface="Garamond"/>
              </a:rPr>
              <a:t>Automated replenishment systems trigger orders based on actual demand.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>
                <a:solidFill>
                  <a:srgbClr val="000000"/>
                </a:solidFill>
                <a:latin typeface="Garamond"/>
              </a:rPr>
              <a:t>Cross-docking minimizes storage and handling costs.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>
                <a:solidFill>
                  <a:srgbClr val="000000"/>
                </a:solidFill>
                <a:latin typeface="Garamond"/>
              </a:rPr>
              <a:t>RFID and barcode systems track inventory continuously.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600" dirty="0">
              <a:solidFill>
                <a:srgbClr val="000000"/>
              </a:solidFill>
              <a:latin typeface="Garamond"/>
            </a:endParaRPr>
          </a:p>
        </p:txBody>
      </p:sp>
    </p:spTree>
    <p:extLst>
      <p:ext uri="{BB962C8B-B14F-4D97-AF65-F5344CB8AC3E}">
        <p14:creationId xmlns:p14="http://schemas.microsoft.com/office/powerpoint/2010/main" val="5660421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392F9-E351-8D74-A3AC-E7FC489C47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BFBBEA-ECFC-F8B6-883A-5E08CB8D4D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 </a:t>
            </a:r>
            <a:r>
              <a:rPr lang="en-US" altLang="zh-TW" sz="2400" b="1" dirty="0"/>
              <a:t>Value Web</a:t>
            </a:r>
            <a:r>
              <a:rPr lang="en-US" altLang="zh-TW" sz="2400" dirty="0"/>
              <a:t> is a network of independent firms whose value chains are digitally linked and coordinated through information systems.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Value creation is no longer confined within a single firm.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It emerges from coordinated activities across suppliers, partners, distributors, and customers.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Value Chain vs. Value Web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value chain focuses on internal activities within one firm.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value web focuses on cross-firm coordination and integration of those activities.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Role of information systems: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Enable real-time information sharing across organizational boundaries.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Coordinate production, logistics, sales, and service across firms.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Reduce transaction costs, delays, and coordination failures.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000" i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7F8F637-3890-F9A0-704E-8C32F353C8EE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199F82-3884-F9EB-7510-4876F08E1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Extension: The Value Web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17942A-919E-2108-050D-860EDE819698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DFBB2A-9005-251D-8522-9DED26D97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57B1CD-8B45-E680-BE5A-63FD82F86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49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98571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546F7-924B-7AA1-7A74-072141432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3A57C6-BAE7-025F-3526-33BF22C47A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7282" y="1300900"/>
            <a:ext cx="7965650" cy="4996206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How the value web creates advantage:</a:t>
            </a:r>
          </a:p>
          <a:p>
            <a:pPr lvl="1">
              <a:lnSpc>
                <a:spcPct val="90000"/>
              </a:lnSpc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Performance depends on how well firms coordinate across the network.</a:t>
            </a:r>
          </a:p>
          <a:p>
            <a:pPr lvl="1">
              <a:lnSpc>
                <a:spcPct val="90000"/>
              </a:lnSpc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Competitive advantage shifts from firm-level efficiency to network-level coordination.</a:t>
            </a:r>
          </a:p>
          <a:p>
            <a:pPr lvl="4">
              <a:lnSpc>
                <a:spcPct val="90000"/>
              </a:lnSpc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lnSpc>
                <a:spcPct val="90000"/>
              </a:lnSpc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IS-enabled advantages at the industry level:</a:t>
            </a:r>
          </a:p>
          <a:p>
            <a:pPr lvl="1">
              <a:lnSpc>
                <a:spcPct val="90000"/>
              </a:lnSpc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Creation of shared digital standards for information exchange.</a:t>
            </a:r>
          </a:p>
          <a:p>
            <a:pPr lvl="1">
              <a:lnSpc>
                <a:spcPct val="90000"/>
              </a:lnSpc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Development of industrywide IT-supported networks and platforms.</a:t>
            </a:r>
          </a:p>
          <a:p>
            <a:pPr lvl="1">
              <a:lnSpc>
                <a:spcPct val="90000"/>
              </a:lnSpc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Higher entry costs for outsiders due to embedded shared systems.</a:t>
            </a:r>
          </a:p>
          <a:p>
            <a:pPr lvl="4">
              <a:lnSpc>
                <a:spcPct val="90000"/>
              </a:lnSpc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lnSpc>
                <a:spcPct val="90000"/>
              </a:lnSpc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Operational benefits:</a:t>
            </a:r>
          </a:p>
          <a:p>
            <a:pPr lvl="1">
              <a:lnSpc>
                <a:spcPct val="90000"/>
              </a:lnSpc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Faster time-to-market.</a:t>
            </a:r>
          </a:p>
          <a:p>
            <a:pPr lvl="1">
              <a:lnSpc>
                <a:spcPct val="90000"/>
              </a:lnSpc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Rapid response to changes in supply and demand.</a:t>
            </a:r>
          </a:p>
          <a:p>
            <a:pPr lvl="1">
              <a:lnSpc>
                <a:spcPct val="90000"/>
              </a:lnSpc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Ability to select and switch partners based on price, speed, and location.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EECC6E-87E7-DDE1-CE50-F1289A0F51B9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7AEAC51-2366-A4D0-B246-1A665BDF47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Extension: The Value Web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1471C8E-222F-E7A9-2ABC-D0830C5275CE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B7453A-A1B8-7E72-B524-E467703CA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796785-FA7E-BBD9-4FFC-10A045A1B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9" name="Picture 8" descr="A radial diagram explains how a firm’s value chain is interconnected to the value chains of its suppliers, indirect suppliers, partner firms, and customers. Long description available in notes, press f6.">
            <a:extLst>
              <a:ext uri="{FF2B5EF4-FFF2-40B4-BE49-F238E27FC236}">
                <a16:creationId xmlns:a16="http://schemas.microsoft.com/office/drawing/2014/main" id="{065EF1EF-3CBA-861B-44FE-571B90F88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770" y="2021013"/>
            <a:ext cx="3200400" cy="3385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585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ACF7D6-0D95-7EF7-D2FA-1002936FD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701EB8F-CD5C-F59C-0710-65882BECE660}"/>
              </a:ext>
            </a:extLst>
          </p:cNvPr>
          <p:cNvSpPr txBox="1"/>
          <p:nvPr/>
        </p:nvSpPr>
        <p:spPr>
          <a:xfrm>
            <a:off x="0" y="2705725"/>
            <a:ext cx="12188825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Synergies, Core Competencies, </a:t>
            </a:r>
          </a:p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And Network Economics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12766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1B0BB-BA23-D8A6-074B-CDAAAE9BA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E7637-8723-C2E6-C6E4-DE2F5B7365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Beyond coordinating activities, information systems shape how firms generate synergies, build core competencies, and exploit network economics.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i="1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Synergies</a:t>
            </a:r>
            <a:r>
              <a:rPr lang="en-US" altLang="zh-TW" sz="2400" dirty="0"/>
              <a:t> arise when combined units generate more value together than they could independently.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Synergies typically occur when: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The output of one unit becomes an input for another.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Firms pool markets, data, or expertise to lower costs or expand revenue opportunities.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Role of information systems: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Integrate data, processes, and workflows across units.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Enable coordination that would be costly or infeasible without IT.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E8CE88-D8B0-24F5-61B2-069E65793F8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6B3FF2-6D47-9C3F-EE41-863841D39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Synergies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02655BD-0E43-1633-20BF-41B5AF94C68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03A15F-AA07-6107-53FA-65D36C3DEB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D6C124-B262-224C-E57E-74019DD20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61257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93D470-EBEE-846A-B76D-FE68441F7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8621D3-707A-4950-0891-AAF11F2AB0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Core competencies </a:t>
            </a:r>
            <a:r>
              <a:rPr lang="en-US" altLang="zh-TW" sz="2400" dirty="0"/>
              <a:t>are activities where a firm consistently outperforms competitors and creates distinctive value.</a:t>
            </a:r>
            <a:endParaRPr lang="en-US" altLang="zh-TW" sz="2000" dirty="0"/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8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They are built on years of practical experience, research, and committed employees.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Role of information systems in enhancing core competencies: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Encourage knowledge sharing across business units.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Make internal and external knowledge more accessible.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Allow firms to apply existing competencies to related products and markets.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Example: Procter &amp; Gamble (P&amp;G)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IS connect R&amp;D, engineering, marketing, legal, and other units worldwide.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Employees share reports, charts, videos, and expertise through internal platforms.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Systems link P&amp;G to external scientists and entrepreneurs to accelerate innovation.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DDFDF2-4DF6-E553-B01D-B10A1599AB4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F2FFB1E-8933-6E70-73A5-1567DAF41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Core Competencies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9493E22-FF79-2F00-7BFA-C08673764BE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B9A277-C4F5-2D2C-1DA9-BFF885AE4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44EE21-FA84-B231-6644-E123D793A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92023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592DE-8044-5B27-7448-A48670560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173A6C-3A6D-FDFA-9E7E-CE042699F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IS can also create value by connecting firms into larger networks.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Network Economics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Virtual Company Model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Business Ecosystems and Platforms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Network Economics</a:t>
            </a:r>
            <a:endParaRPr lang="en-US" altLang="zh-TW" sz="24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Value grows as more people use a product or network.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i="1" dirty="0"/>
              <a:t>e.g., A phone, email, or social network is only valuable when millions of others also use it.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 traditional economics, productivity gains typically face diminishing returns.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With network effects, marginal cost is close to zero while marginal benefits rise as the user base grows.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IS applications: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Build large user communities such as Facebook, eBay, Airbnb, and Uber.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Increase the value of software and platforms through large installed bases.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Strengthen customer loyalty through shared experiences and community participation.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DB7226-B823-2EC7-51D8-E306D9250F14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8C6B0C-1105-9E45-28A3-6E54BB3E4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Network-Based Strategies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0089D17-1909-8C31-1D04-B4959E0ADB32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E8C154-1EC3-35A2-DD7C-23762F5B3C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086CD99-58BA-0625-50A1-B08F2603CF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54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514431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2E2280-6793-4258-4A17-238E6AC9E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9F632C-D6D0-E4E2-262A-1C92977BE7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Virtual Company Model</a:t>
            </a:r>
            <a:endParaRPr lang="en-US" altLang="zh-TW" sz="24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Uses information networks to link people, assets, and ideas across firm boundaries.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Enables flexible partnerships without permanent organizational integration.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Allows firms to acquire capabilities quickly, lower coordination costs, and respond rapidly to market opportunities.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Business Ecosystems &amp; Platforms</a:t>
            </a:r>
            <a:endParaRPr lang="en-US" altLang="zh-TW" sz="24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Networks of interdependent firms across related industries that jointly create value.</a:t>
            </a:r>
            <a:endParaRPr lang="en-US" altLang="zh-TW" sz="16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i="1" dirty="0"/>
              <a:t>e.g., Device manufacturers such as Apple and Samsung may work closely with Telecommunication providers.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Value is generated collectively through complementary products and services.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b="1" dirty="0"/>
              <a:t>Keystone Firms</a:t>
            </a:r>
            <a:r>
              <a:rPr lang="en-US" altLang="zh-TW" sz="2000" dirty="0"/>
              <a:t> provide core platforms that other firms build upon, such as Microsoft or Facebook.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Strategic options: 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Become a keystone firm by building a platform others depend on.</a:t>
            </a:r>
          </a:p>
          <a:p>
            <a:pPr lvl="2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1600" dirty="0"/>
              <a:t>Compete as a specialized niche player within an existing ecosystem.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92DD74-4AD9-F9B0-4BFB-A2914179F7B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6B09B3-B1CC-F0AB-A8B4-D39B7E7A75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Network-Based Strategies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36C084A-EBC6-A70C-038D-831D0B235169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B0F48E-4CCA-EB16-8246-D5FA1F8B6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588B73-E6AA-2C5B-11F3-1DF1B69FA0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71587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221D3-2AF2-2372-19B9-FACE39AB2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725B35D-9037-7A78-E10E-EC32F4C6C9D3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04AA3ED-7457-2A7B-B240-9F7782603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2400" dirty="0">
                <a:solidFill>
                  <a:schemeClr val="bg1"/>
                </a:solidFill>
              </a:rPr>
              <a:t>  Li &amp; Fung (2019, August 20). </a:t>
            </a:r>
            <a:r>
              <a:rPr lang="en-US" sz="2400" i="1" dirty="0">
                <a:solidFill>
                  <a:schemeClr val="bg1"/>
                </a:solidFill>
              </a:rPr>
              <a:t>Li &amp; Fung on a journey to create the supply chain of the </a:t>
            </a:r>
            <a:br>
              <a:rPr lang="en-US" sz="2400" i="1" dirty="0">
                <a:solidFill>
                  <a:schemeClr val="bg1"/>
                </a:solidFill>
              </a:rPr>
            </a:br>
            <a:r>
              <a:rPr lang="en-US" sz="2400" i="1" dirty="0">
                <a:solidFill>
                  <a:schemeClr val="bg1"/>
                </a:solidFill>
              </a:rPr>
              <a:t>  future </a:t>
            </a:r>
            <a:r>
              <a:rPr lang="en-US" sz="2400" dirty="0">
                <a:solidFill>
                  <a:schemeClr val="bg1"/>
                </a:solidFill>
              </a:rPr>
              <a:t>[Video]. YouTube. https://youtu.be/KSeZXjkYERs?si=A2k4HdZMtf__y9jD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A36F676-CBFB-99E8-47C5-45C95C7897A1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75F0BB-F473-2E9A-5F56-FCDF685ED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8CB4C3-6CF5-721C-D87E-C30D100B9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56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pic>
        <p:nvPicPr>
          <p:cNvPr id="10" name="Online Media 9" title="Li &amp; Fung on a journey to create the supply chain of the future">
            <a:hlinkClick r:id="" action="ppaction://media"/>
            <a:extLst>
              <a:ext uri="{FF2B5EF4-FFF2-40B4-BE49-F238E27FC236}">
                <a16:creationId xmlns:a16="http://schemas.microsoft.com/office/drawing/2014/main" id="{9FC9985A-89F8-6044-03E8-0014BC61C07C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4"/>
          <a:stretch>
            <a:fillRect/>
          </a:stretch>
        </p:blipFill>
        <p:spPr>
          <a:xfrm>
            <a:off x="1239201" y="977840"/>
            <a:ext cx="971042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002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0"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45403A-E60B-1C3D-EA37-F6178DE6E2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F92F55A-B17D-D4BF-6AF2-C4FBC4C7DCA1}"/>
              </a:ext>
            </a:extLst>
          </p:cNvPr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AI in Competitive Strategy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4541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73876-BE3C-B3AE-6550-FDB674205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6CA8C6-27C2-655E-CA14-E25E6127A6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AI is transforming how information systems operate and deliver value.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AI changes how firms operate.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AI reshapes how value is created internally.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AI alters the structure of competition itself.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Capabilities of AI: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Automates and enhances decision making, such as fraud detection in banking.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Improves user experience and customer personalization, such as Netflix and Spotify recommendations.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Optimizes resource allocation and business processes, such as airline dynamic pricing models.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Enables new products, services, and business models, such as AI diagnostics in healthcare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AI is now embedded across information systems in nearly every industry.</a:t>
            </a:r>
            <a:endParaRPr lang="en-US" altLang="zh-TW" sz="20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127663E-E648-A1E5-223B-2577355198D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CD13C3F-6568-8A9D-2B20-FD95097C24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AI in Competitive Strategy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B74558-5D12-9ACE-74CA-429B59F4E204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9B9E03-2A35-03B5-819D-DC2DEFE6D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6E55D28-EF01-179C-B8B5-DF9757F06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58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08614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215F1-446C-D618-2579-B6B7ECF57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516C-2035-9E2B-E15D-3FDBF8DDF7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AI improves performance within existing business models and enables new business models, reshaping competition.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Supports more data driven, accurate, and precise decision making.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Assists executives but does not replace strategic judgment.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Supports ideation, problem solving, and scenario planning.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0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Examples across the value chain: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Inbound logistics: Predictive supply chain management.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Operations: Automated quality checks and process optimization.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Marketing and sales: AI-driven personalization and dynamic pricing.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Service: Chatbots and predictive maintenance.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And more (see Table 3.6)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339EAB-D24B-39B7-F846-60775F02066B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70B515F-E5E9-88D8-5071-63F7CFBDA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AI and the Value Chain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44C262-D228-6253-14E7-4B47FB01BBBF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F525AE-ED21-DFA2-37DD-9811ACAD8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C4A881-4283-839E-2D1F-8400B30D1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59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304380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89398-808E-A07C-7AD0-4B19B2B05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BC0830-4D54-659B-6F9A-844A45106F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AI reshapes industry structures and the rules of competition.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Challenges: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Requires massive, accurate, and well-organized datasets.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Demands expertise in AI tools, computing power, and organizational change.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Opportunities: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Can strengthen or weaken customer and supplier power.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Enables entirely new products and services.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Open-source AI platforms lower barriers for some new entrants.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Firms with strong AI expertise and resources are more likely to gain lasting competitive advantage.</a:t>
            </a:r>
            <a:endParaRPr lang="en-US" altLang="zh-TW" sz="1200" dirty="0"/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See Table 3.7 for a full description.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1FE90EE-A5F4-4811-B29A-70BDCDACCC73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5398B2-3626-EAA8-870E-ECD6B32AC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AI and the Competitive Forces Model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50C496-4630-17DC-5052-B820C846E2CA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BAC84D2-174A-0B4F-ED4C-7C6173B32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202A66-6E3B-C946-01B2-624A88045E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60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06190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00CAB8-D8CE-B4FE-4CE2-43B67F6AB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353190-8CEB-9EC3-8E76-073106745C8D}"/>
              </a:ext>
            </a:extLst>
          </p:cNvPr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Strategic Information Systems</a:t>
            </a:r>
          </a:p>
        </p:txBody>
      </p:sp>
    </p:spTree>
    <p:extLst>
      <p:ext uri="{BB962C8B-B14F-4D97-AF65-F5344CB8AC3E}">
        <p14:creationId xmlns:p14="http://schemas.microsoft.com/office/powerpoint/2010/main" val="2841996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2ABE3-823D-5BDB-2B7F-1A283A113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35EB07-BA06-B6DB-157F-0CF06DCE9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The key question for managers is not whether to adopt AI or IT, but how to deploy systems that support long-term strategy.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b="1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b="1" dirty="0"/>
              <a:t>Strategic IS</a:t>
            </a:r>
            <a:r>
              <a:rPr lang="en-US" altLang="zh-TW" sz="2400" dirty="0"/>
              <a:t> refers to information systems that are developed or adopted specifically to give an organization a competitive advantage by supporting or shaping its strategy.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Its purpose is not just efficiency or automation but to change how the organization competes, operates, or delivers value.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i="1" dirty="0"/>
              <a:t>e.g., American Airlines SABRE: The first computerized reservation system that transformed airline competition.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i="1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Competitive advantages rarely last long: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Competitors can copy or retaliate quickly.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Markets, technology, and customer expectations evolve rapidly.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Information systems alone cannot guarantee long term advantages.</a:t>
            </a: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2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F88A43C-60AE-FB02-DF75-4D19314F7745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DB5323-48FC-13A2-60AF-9ED026BAF3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Strategic Information Systems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85736A-16A3-1254-EAEC-2C5A8143B743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571376-3482-5908-DE51-38B3B3DA2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C8978D-BD93-056D-EEDB-2BD5632A1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62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79379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75FBA-EAA2-D6BE-2F01-D0B443273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4C04D9-7C40-6533-12AB-52AE216050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341" y="1300899"/>
            <a:ext cx="11175714" cy="5099901"/>
          </a:xfrm>
        </p:spPr>
        <p:txBody>
          <a:bodyPr>
            <a:normAutofit lnSpcReduction="10000"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Firms that align IT with business strategy tend to be more profitable.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Common Pitfalls: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IT takes on a life of its own and becomes disconnected from business goals.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Unrealistic expectations about IT capabilities.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Successful Firms: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Actively shape IT to fit strategy.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Measure IT’s impact on revenues, profits, and competitiveness.</a:t>
            </a:r>
          </a:p>
          <a:p>
            <a:pPr lvl="4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2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To identify systems that provide strategic advantage, managers should ask: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What is the structure of the industry in which the firm operates?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What are the business and industry value chains for this firm?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Have we aligned IT with our business strategy and goals?</a:t>
            </a:r>
          </a:p>
          <a:p>
            <a:pPr lvl="1"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000" dirty="0"/>
              <a:t>Have we clearly articulated that strategy and those goals?</a:t>
            </a:r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789F0AF-6396-B32D-CBA8-8F2E49373A37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48D07A-C4BD-DB27-D70F-852C0DCFEC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88825" cy="923636"/>
          </a:xfrm>
        </p:spPr>
        <p:txBody>
          <a:bodyPr>
            <a:normAutofit/>
          </a:bodyPr>
          <a:lstStyle/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dirty="0">
                <a:solidFill>
                  <a:schemeClr val="bg1"/>
                </a:solidFill>
              </a:rPr>
              <a:t>  Strategic Information Systems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E3F46DE-7E73-9F9A-D0BA-1993B1996E6C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713A35-4200-9293-47BD-D81991CBFB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  <a:endParaRPr lang="en-US" dirty="0">
              <a:solidFill>
                <a:schemeClr val="bg1"/>
              </a:solidFill>
              <a:latin typeface="Garamond" panose="02020404030301010803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24B8665-5FA5-A9CB-6E1C-E2AF70B448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63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595445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77122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98F44D-A066-D2DF-7AD8-817554F24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8171B1-1F0C-9A3B-85CD-68BC2522F600}"/>
              </a:ext>
            </a:extLst>
          </p:cNvPr>
          <p:cNvSpPr txBox="1"/>
          <p:nvPr/>
        </p:nvSpPr>
        <p:spPr>
          <a:xfrm>
            <a:off x="-1" y="3044279"/>
            <a:ext cx="12188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400" dirty="0">
                <a:solidFill>
                  <a:schemeClr val="bg1"/>
                </a:solidFill>
              </a:rPr>
              <a:t>Recap of Chapter 3</a:t>
            </a:r>
            <a:endParaRPr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594914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CF07C-5A39-46FA-19B5-0CB9743E6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AB19EA9-F780-DAF7-1EBC-822EF2EDDD7C}"/>
              </a:ext>
            </a:extLst>
          </p:cNvPr>
          <p:cNvSpPr/>
          <p:nvPr/>
        </p:nvSpPr>
        <p:spPr>
          <a:xfrm>
            <a:off x="0" y="0"/>
            <a:ext cx="12188825" cy="923636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3619056-BFF7-5653-691C-4489199AA60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12188825" cy="9236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defRPr sz="4000" b="1">
                <a:solidFill>
                  <a:srgbClr val="FDB913"/>
                </a:solidFill>
                <a:latin typeface="Garamond"/>
              </a:defRPr>
            </a:pPr>
            <a:r>
              <a:rPr lang="en-US" sz="4000" b="1" dirty="0">
                <a:solidFill>
                  <a:schemeClr val="bg1"/>
                </a:solidFill>
                <a:latin typeface="Garamond"/>
              </a:rPr>
              <a:t>  Recap of Chapter 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4F8D645-33AB-D7BC-1B81-8CCF597648B0}"/>
              </a:ext>
            </a:extLst>
          </p:cNvPr>
          <p:cNvSpPr/>
          <p:nvPr/>
        </p:nvSpPr>
        <p:spPr>
          <a:xfrm>
            <a:off x="-1" y="6503428"/>
            <a:ext cx="12188825" cy="354572"/>
          </a:xfrm>
          <a:prstGeom prst="rect">
            <a:avLst/>
          </a:prstGeom>
          <a:solidFill>
            <a:srgbClr val="77122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Footer Placeholder 5">
            <a:extLst>
              <a:ext uri="{FF2B5EF4-FFF2-40B4-BE49-F238E27FC236}">
                <a16:creationId xmlns:a16="http://schemas.microsoft.com/office/drawing/2014/main" id="{C1011C51-5B4E-8C02-C890-0AE3A669C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-1" y="6503428"/>
            <a:ext cx="2895600" cy="354572"/>
          </a:xfrm>
        </p:spPr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Garamond" panose="02020404030301010803" pitchFamily="18" charset="0"/>
              </a:rPr>
              <a:t> Management Information Systems</a:t>
            </a:r>
          </a:p>
        </p:txBody>
      </p:sp>
      <p:sp>
        <p:nvSpPr>
          <p:cNvPr id="9" name="Slide Number Placeholder 6">
            <a:extLst>
              <a:ext uri="{FF2B5EF4-FFF2-40B4-BE49-F238E27FC236}">
                <a16:creationId xmlns:a16="http://schemas.microsoft.com/office/drawing/2014/main" id="{0C78CE8A-9AF8-53CE-1E0D-2DC2238B4D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055225" y="6503428"/>
            <a:ext cx="2133600" cy="354572"/>
          </a:xfrm>
        </p:spPr>
        <p:txBody>
          <a:bodyPr/>
          <a:lstStyle/>
          <a:p>
            <a:fld id="{C1FF6DA9-008F-8B48-92A6-B652298478BF}" type="slidenum">
              <a:rPr lang="en-US" b="1" smtClean="0">
                <a:solidFill>
                  <a:schemeClr val="bg1"/>
                </a:solidFill>
                <a:latin typeface="Garamond" panose="02020404030301010803" pitchFamily="18" charset="0"/>
              </a:rPr>
              <a:t>65</a:t>
            </a:fld>
            <a:r>
              <a:rPr lang="en-US" b="1" dirty="0">
                <a:solidFill>
                  <a:schemeClr val="bg1"/>
                </a:solidFill>
                <a:latin typeface="Garamond" panose="02020404030301010803" pitchFamily="18" charset="0"/>
              </a:rPr>
              <a:t> 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E4596D15-346E-FEAB-2529-E273E357F2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300900"/>
            <a:ext cx="11189855" cy="5081046"/>
          </a:xfrm>
        </p:spPr>
        <p:txBody>
          <a:bodyPr>
            <a:normAutofit/>
          </a:bodyPr>
          <a:lstStyle/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What are the technical and behavioral views of organizations?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How do features of an organization affect information systems, and how do information systems affect organizations?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What is Porter’s Competitive Forces Model and the Value Chain Model?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Explain synergies, core competencies, and network economics.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How can AI be used in competitive strategies?</a:t>
            </a:r>
          </a:p>
          <a:p>
            <a:pPr lvl="3">
              <a:defRPr sz="2000">
                <a:solidFill>
                  <a:srgbClr val="000000"/>
                </a:solidFill>
                <a:latin typeface="Garamond"/>
              </a:defRPr>
            </a:pPr>
            <a:endParaRPr lang="en-US" altLang="zh-TW" sz="1400" dirty="0"/>
          </a:p>
          <a:p>
            <a:pPr>
              <a:defRPr sz="2000">
                <a:solidFill>
                  <a:srgbClr val="000000"/>
                </a:solidFill>
                <a:latin typeface="Garamond"/>
              </a:defRPr>
            </a:pPr>
            <a:r>
              <a:rPr lang="en-US" altLang="zh-TW" sz="2400" dirty="0"/>
              <a:t>What are challenges posed by strategic information systems?</a:t>
            </a:r>
          </a:p>
        </p:txBody>
      </p:sp>
    </p:spTree>
    <p:extLst>
      <p:ext uri="{BB962C8B-B14F-4D97-AF65-F5344CB8AC3E}">
        <p14:creationId xmlns:p14="http://schemas.microsoft.com/office/powerpoint/2010/main" val="3441963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d5bd3425-5eb9-4d4c-a9fb-bb0492426cda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_PE_POLL_EMBED_ID" val="0664e406-37ff-44ec-ac3a-17b671fc234c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5356cb1e-6d86-4dae-a983-fa46a00b040a}" enabled="1" method="Standard" siteId="{4881a8fa-b252-4912-b93a-7806c41bbe91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7034</TotalTime>
  <Words>5906</Words>
  <Application>Microsoft Office PowerPoint</Application>
  <PresentationFormat>Custom</PresentationFormat>
  <Paragraphs>814</Paragraphs>
  <Slides>65</Slides>
  <Notes>55</Notes>
  <HiddenSlides>0</HiddenSlides>
  <MMClips>3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0" baseType="lpstr">
      <vt:lpstr>Aptos</vt:lpstr>
      <vt:lpstr>Arial</vt:lpstr>
      <vt:lpstr>Calibri</vt:lpstr>
      <vt:lpstr>Garamond</vt:lpstr>
      <vt:lpstr>Office Theme</vt:lpstr>
      <vt:lpstr>PowerPoint Presentation</vt:lpstr>
      <vt:lpstr>PowerPoint Presentation</vt:lpstr>
      <vt:lpstr>PowerPoint Presentation</vt:lpstr>
      <vt:lpstr>  Organizations and Information Systems</vt:lpstr>
      <vt:lpstr>  Technical View of an Organization</vt:lpstr>
      <vt:lpstr>  Behavioral View of an Organization</vt:lpstr>
      <vt:lpstr>  Viewpoints and Information Systems</vt:lpstr>
      <vt:lpstr>  Viewpoints and Information Systems</vt:lpstr>
      <vt:lpstr>PowerPoint Presentation</vt:lpstr>
      <vt:lpstr>  Routines and Business Processes</vt:lpstr>
      <vt:lpstr>  Routines and Business Processes</vt:lpstr>
      <vt:lpstr>  Organizational Politics &amp; Culture</vt:lpstr>
      <vt:lpstr>  Organizational Politics &amp; Culture: Kodak</vt:lpstr>
      <vt:lpstr>  Al Jazeera English (2011, November 3). Kodak misses the moment [Video]. YouTube.   https://youtu.be/BuImbHUy4Uc?si=l4_WzpOdo2LqZLCd</vt:lpstr>
      <vt:lpstr>  Organizational Environments</vt:lpstr>
      <vt:lpstr>  Organizational Structure</vt:lpstr>
      <vt:lpstr>  Organizational Structure: Mintzberg (1971)</vt:lpstr>
      <vt:lpstr>  Organizational Structure: Mintzberg (1971)</vt:lpstr>
      <vt:lpstr>  Other Organizational Features: Orientation</vt:lpstr>
      <vt:lpstr>  Other Organizational Features: Tasks &amp; Technology</vt:lpstr>
      <vt:lpstr>  Features of Organizations Affecting IS</vt:lpstr>
      <vt:lpstr>PowerPoint Presentation</vt:lpstr>
      <vt:lpstr>  Economic Impact: Shifting Relative Costs</vt:lpstr>
      <vt:lpstr>  Economic Impact: Economics of Information</vt:lpstr>
      <vt:lpstr>  Economic Impact: Agency Costs</vt:lpstr>
      <vt:lpstr>  Organizational &amp; Behavioral Impact</vt:lpstr>
      <vt:lpstr>Poll Everywhere multiple choice poll instructions screen
Activity Title: A company introduces a dashboard that gives frontline employees real-time sales, inventory, and performance data that only managers previously saw. From the firm's perspective, what is the primary organizational effect?
Slide 27</vt:lpstr>
      <vt:lpstr>Poll Everywhere multiple choice poll chart screen
Activity Title: A company introduces a dashboard that gives frontline employees real-time sales, inventory, and performance data that only managers previously saw. From the firm's perspective, what is the primary organizational effect?
Slide 29</vt:lpstr>
      <vt:lpstr>  Organizational Resistance to Change</vt:lpstr>
      <vt:lpstr>  Organizational Resistance to Change</vt:lpstr>
      <vt:lpstr>  Organizational Resistance to Change</vt:lpstr>
      <vt:lpstr>  Organizational Resistance to Change</vt:lpstr>
      <vt:lpstr>  Organizational Factors of Consideration</vt:lpstr>
      <vt:lpstr>PowerPoint Presentation</vt:lpstr>
      <vt:lpstr>  Competitive Forces Model</vt:lpstr>
      <vt:lpstr>  Competitive Forces Model</vt:lpstr>
      <vt:lpstr>  The Five Competitive Forces</vt:lpstr>
      <vt:lpstr>  The Five Competitive Forces</vt:lpstr>
      <vt:lpstr>  Harvard Business Review (2008, June 30). The Five Competitive Forces That Shape    Strategy [Video]. YouTube. https://youtu.be/mYF2_FBCvXw?si=MJD5CqN8IR5UJv-U</vt:lpstr>
      <vt:lpstr>  IS Strategies for Competitive Forces</vt:lpstr>
      <vt:lpstr>  IS Strategies for Competitive Forces</vt:lpstr>
      <vt:lpstr>  How IT is Changing Competitive Advantages</vt:lpstr>
      <vt:lpstr>PowerPoint Presentation</vt:lpstr>
      <vt:lpstr>  The Value Chain Model</vt:lpstr>
      <vt:lpstr>  The Value Chain Model: Primary Activities</vt:lpstr>
      <vt:lpstr>  The Value Chain Model: Support Activities</vt:lpstr>
      <vt:lpstr>  The Value Chain Model: Competitive Advantage</vt:lpstr>
      <vt:lpstr>  The Value Chain Model: Competitive Advantage</vt:lpstr>
      <vt:lpstr>  Extension: The Value Web</vt:lpstr>
      <vt:lpstr>  Extension: The Value Web</vt:lpstr>
      <vt:lpstr>PowerPoint Presentation</vt:lpstr>
      <vt:lpstr>  Synergies</vt:lpstr>
      <vt:lpstr>  Core Competencies</vt:lpstr>
      <vt:lpstr>  Network-Based Strategies</vt:lpstr>
      <vt:lpstr>  Network-Based Strategies</vt:lpstr>
      <vt:lpstr>  Li &amp; Fung (2019, August 20). Li &amp; Fung on a journey to create the supply chain of the    future [Video]. YouTube. https://youtu.be/KSeZXjkYERs?si=A2k4HdZMtf__y9jD</vt:lpstr>
      <vt:lpstr>PowerPoint Presentation</vt:lpstr>
      <vt:lpstr>  AI in Competitive Strategy</vt:lpstr>
      <vt:lpstr>  AI and the Value Chain</vt:lpstr>
      <vt:lpstr>  AI and the Competitive Forces Model</vt:lpstr>
      <vt:lpstr>PowerPoint Presentation</vt:lpstr>
      <vt:lpstr>  Strategic Information Systems</vt:lpstr>
      <vt:lpstr>  Strategic Information Systems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Brian Park</dc:creator>
  <cp:keywords/>
  <dc:description>generated using python-pptx</dc:description>
  <cp:lastModifiedBy>Brian Park</cp:lastModifiedBy>
  <cp:revision>212</cp:revision>
  <dcterms:created xsi:type="dcterms:W3CDTF">2013-01-27T09:14:16Z</dcterms:created>
  <dcterms:modified xsi:type="dcterms:W3CDTF">2026-02-04T02:15:04Z</dcterms:modified>
  <cp:category/>
</cp:coreProperties>
</file>