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377" r:id="rId3"/>
    <p:sldId id="376" r:id="rId4"/>
    <p:sldId id="460" r:id="rId5"/>
    <p:sldId id="461" r:id="rId6"/>
    <p:sldId id="462" r:id="rId7"/>
    <p:sldId id="463" r:id="rId8"/>
    <p:sldId id="492" r:id="rId9"/>
    <p:sldId id="494" r:id="rId10"/>
    <p:sldId id="467" r:id="rId11"/>
    <p:sldId id="371" r:id="rId12"/>
    <p:sldId id="469" r:id="rId13"/>
    <p:sldId id="429" r:id="rId14"/>
    <p:sldId id="468" r:id="rId15"/>
    <p:sldId id="470" r:id="rId16"/>
    <p:sldId id="472" r:id="rId17"/>
    <p:sldId id="473" r:id="rId18"/>
    <p:sldId id="474" r:id="rId19"/>
    <p:sldId id="475" r:id="rId20"/>
    <p:sldId id="476" r:id="rId21"/>
    <p:sldId id="477" r:id="rId22"/>
    <p:sldId id="485" r:id="rId23"/>
    <p:sldId id="445" r:id="rId24"/>
    <p:sldId id="478" r:id="rId25"/>
    <p:sldId id="486" r:id="rId26"/>
    <p:sldId id="488" r:id="rId27"/>
    <p:sldId id="479" r:id="rId28"/>
    <p:sldId id="480" r:id="rId29"/>
    <p:sldId id="481" r:id="rId30"/>
    <p:sldId id="489" r:id="rId31"/>
    <p:sldId id="491" r:id="rId32"/>
    <p:sldId id="450" r:id="rId33"/>
    <p:sldId id="420" r:id="rId34"/>
    <p:sldId id="421" r:id="rId35"/>
    <p:sldId id="422" r:id="rId3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9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 relation is non-transitive. Can we find a utility function representation of this consumer's preference relation?
https://www.polleverywhere.com/multiple_choice_polls/xVRyb4Z6GFDz6JFqbM7dP?display_state=instructions&amp;activity_state=opened&amp;state=opened&amp;flow=Engagement&amp;onscreen=persist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7E15E0-9AE1-6BFE-0FE5-E8E7EF0453E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54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 relation is non-transitive. Can we find a utility function representation of this consumer's preference relation?
https://www.polleverywhere.com/multiple_choice_polls/xVRyb4Z6GFDz6JFqbM7dP?display_state=chart&amp;activity_state=closed&amp;state=closed&amp;flow=Engagement&amp;onscreen=persist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01329-9B5F-1596-42F9-335879A89922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81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A15DB-8C24-9AE7-7D32-0C8BA033579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13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29684A-4DB8-C26B-0FE5-8531FB77C36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60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6938C-8E97-6E2E-EB06-1E3022255D7B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348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DA416-FD9E-19F4-BE2C-B7A9FE9E65A0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08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4: Utility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493E-281D-69B9-1D0A-B652DD64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3F410-5511-CC59-2625-80EB0163B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how a consumer ranks bundles of goods.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Axioms: Completeness, Reflexivity, Transitivity, (Weak) Monotonicity, Convexity, and Continuity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are represented graphically using indifference curves: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indifference curve represents bundles the consumer views as equally desirable.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(In general) Indifference curves further from the origin correspond to more preferred bundles.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Marginal Rate of Substitution (MRS) measures the rate at which a consumer is willing to trade one good for another while remaining indifferent.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is the slope of the indifference curve at a point.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represents the consumer’s marginal willingness to pay for one good in terms of the other.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MRS is diminishing as consumption shifts toward more of one good.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839507-CA97-61EC-B1F9-A10A5F134E2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C517F-ADE0-4DE6-7B3F-130F1E50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FBDE37-EA5E-0E20-2D51-A3A47B8CBE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4777F-49EA-1E56-50CF-6443F114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9A018-7991-22E7-5182-10625E13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7344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6C256-6E9B-6A54-9F3B-29C89C89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Traditionally, “utility” was thought of as a measure of a person’s happiness.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do we measure an individual’s internal, subjective happiness?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can we compare two people’s measured levels of happiness against each other?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Now, most economists view “utility” not as a measure of happiness, but as a reflection of the consumer’s preferences that preserves their rank order.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a consumer reports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we say that the consumer assigns a strictly higher utility value to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than bundle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Utility is a </a:t>
                </a:r>
                <a:r>
                  <a:rPr lang="en-US" altLang="zh-TW" sz="2400" i="1" dirty="0"/>
                  <a:t>numerical</a:t>
                </a:r>
                <a:r>
                  <a:rPr lang="en-US" altLang="zh-TW" sz="2400" dirty="0"/>
                  <a:t> reflection of the consumer’s preference relation, which ranks consumption bundles.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67E097C-559B-6655-F69C-CE5F10DA1B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508FD-19F7-588D-6786-F35FA8A5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3BF0A1-485B-8F23-C1DC-02438DAC9F9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59852-CE02-9FAE-50A6-D2605D48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AB145-D226-3957-788C-551120EB5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582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FC47-BADF-78B1-CACB-73FA5D8D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functions are functions that assign numerical values to consumption bundles in a way that represents a consumer’s preference relation.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that represents these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reflecting this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006BDB5-98D9-F461-9671-F06EC4E8C70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EE150A-068D-F5FD-4E02-01EB38696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3FBD80-6F5E-896B-14BE-8B2D2C7D0F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3CAC-0381-C258-848A-D61B8A76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06703-0638-A98A-4DF7-0BCF69E4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002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B36D4-90D3-A181-1F39-ABE67BF3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an ordinal concept, in the sense that the only property of a utility assignment that is important is how it </a:t>
                </a:r>
                <a:r>
                  <a:rPr lang="en-US" altLang="zh-TW" sz="2400" i="1" dirty="0"/>
                  <a:t>orders</a:t>
                </a:r>
                <a:r>
                  <a:rPr lang="en-US" altLang="zh-TW" sz="2400" dirty="0"/>
                  <a:t> consumption bundles.</a:t>
                </a:r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magnitude of utility being assigned to each consumption bundle is only important insofar as it </a:t>
                </a:r>
                <a:r>
                  <a:rPr lang="en-US" altLang="zh-TW" sz="2000" i="1" dirty="0"/>
                  <a:t>ranks</a:t>
                </a:r>
                <a:r>
                  <a:rPr lang="en-US" altLang="zh-TW" sz="2000" dirty="0"/>
                  <a:t> the different bundles against one another.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Since only the ordering of the bundles matters, utility functions are, in general, not unique.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suppose that a consumer reports that 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All five assignments of utility values are valid representations of the same consumer’s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3766E4E-7505-D52E-5343-46BB54A9B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96E111-DE08-BAB4-89B3-2F3277EF4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Ordinal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5E0DDE-23EC-753A-C95D-295A2F1CAD0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8FFDC-ED16-B67A-4D4A-262CCF391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2A974-0E81-F1E2-34C1-90055641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339" t="-8197" r="-4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339" t="-8197" r="-3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361" t="-8197" r="-20204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97" r="-101356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0000" t="-8197" r="-1356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108197" r="-501017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208197" r="-501017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308197" r="-501017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3891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62439-F8D5-EFEA-3B52-277558FB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Monotonic Transformations</a:t>
                </a:r>
                <a:r>
                  <a:rPr lang="en-US" altLang="zh-TW" sz="2400" dirty="0"/>
                  <a:t> are operations that change the magnitude of utility values, but keep the rank order constant.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Multiplying a function by a strictly positive constant: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Adding (subtracting) any constant number: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Strictly increasing functions: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′(⋅)&gt;0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r>
                  <a:rPr lang="en-US" altLang="zh-TW" sz="2400" dirty="0"/>
                  <a:t> is a valid utility function for the consumer, the following are also valid utility functions representing the same preference relation: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+10</m:t>
                    </m:r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000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2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All monotonic transformations of a utility function represent the same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436" b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D710497-4A52-E100-34F9-916CCED5AAD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E7F8CF-78F5-D791-C967-B3122DB2D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Monotonic Transformations of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25B58-6AB6-71A3-C017-A28DF00344C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2A95DA-1E4F-321A-D37D-76E75D8BA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1E203-1AB3-6D2E-7C9A-E5DFAEF2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0632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C62BF-2438-51D4-75D6-036A1E43A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Suppose that a consumer's preference relation is non-transitive. Can we find a utility function representation of this consumer's preference relation?
Slide 8</a:t>
            </a:r>
          </a:p>
        </p:txBody>
      </p:sp>
      <p:sp>
        <p:nvSpPr>
          <p:cNvPr id="3" name="Footer Placeholder 2" descr="Poll Everywhere multiple choice poll instructions screen&#10;Activity Title: Suppose that a consumer's preference relation is non-transitive. Can we find a utility function representation of this consumer's preference relation?">
            <a:extLst>
              <a:ext uri="{FF2B5EF4-FFF2-40B4-BE49-F238E27FC236}">
                <a16:creationId xmlns:a16="http://schemas.microsoft.com/office/drawing/2014/main" id="{C29EB00E-712B-7501-CA01-23D30F319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6D2D7-E2D5-A7FE-2D74-08CFA161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9992B6-48E8-3EE1-B622-FE7D49175A5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759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33B8E-0077-3FB7-1A14-FEC698FC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Suppose that a consumer's preference relation is non-transitive. Can we find a utility function representation of this consumer's preference relation?
Slide 10</a:t>
            </a:r>
          </a:p>
        </p:txBody>
      </p:sp>
      <p:sp>
        <p:nvSpPr>
          <p:cNvPr id="3" name="Footer Placeholder 2" descr="Poll Everywhere multiple choice poll chart screen&#10;Activity Title: Suppose that a consumer's preference relation is non-transitive. Can we find a utility function representation of this consumer's preference relation?">
            <a:extLst>
              <a:ext uri="{FF2B5EF4-FFF2-40B4-BE49-F238E27FC236}">
                <a16:creationId xmlns:a16="http://schemas.microsoft.com/office/drawing/2014/main" id="{5C0A1DDA-75E8-91E0-A4D8-4C9C0D112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D2694-1B67-10A1-2668-7A127EA00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5DFDB-A588-2324-29F5-F1D315C6CE6E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360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1B76-C9CD-7C1C-3D85-115A01BEA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 all preferences can be represented by a utility function.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For preferences that are not transitive, a utility function cannot represent them.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Suppose a consumer’s preferences reveal that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utility representation would then require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This implies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Garamond" panose="02020404030301010803" pitchFamily="18" charset="0"/>
                  </a:rPr>
                  <a:t>, which is not possible.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fact, a preference relation has utility function representation only if the preference relation is rational.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Most well-behaved preference relations can be represented by a utility function.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57E7239-2536-BD9C-DFB4-BC5C767A7D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4741F4-6541-73D8-592A-D25E4646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 Representation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E0E715-899D-5FED-3183-F024FF0AF70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70592-0574-2351-3A48-555A1D783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3D56F-A365-6482-D757-0B3FD355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9104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EFF2-F746-BD8D-D2B8-1FC132FDB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10A33-223B-9471-CB72-FE8056A1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208" y="1300900"/>
            <a:ext cx="6553846" cy="5081046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instance, suppose we are given an indifference map with six indifference curves: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Any bundle on the outermost indifference curve (IC6) is preferred to any bundle on the other five indifference curves.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Therefore, bundles on indifference curves further outward should be assigned higher utility values.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One possible construction is to plot a 45-degree line and assign utility values based on distance from the origin.</a:t>
            </a:r>
          </a:p>
          <a:p>
            <a:pPr lvl="4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is one example of how a utility function can be constructed from preferences, but it is not the approach we will use going forward.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AD3B8-B45E-05B3-9C2B-3F6403A041E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533C74-26F7-7CDD-26FA-EAB04FFEB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Constructing a Utility Function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B585D6-D63B-E9D0-A7AA-4E552DE243C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D3F26-0F34-D695-955A-2204DF94C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32C08-BC4A-16B5-BFE5-80E68DB4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1A57C7-FFA8-7E28-D8FD-E4B2A2117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A90EB3-FCB6-6D8B-CF31-DF328C856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66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FE91-458F-7363-EF12-BFB467FB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the set of all bundles that the consumer regards as equally desirable.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other words, an indifference curve is the collection of all bundles that are represented by the same utility value.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a </a:t>
                </a:r>
                <a:r>
                  <a:rPr lang="en-US" altLang="zh-TW" sz="2400" b="1" dirty="0"/>
                  <a:t>Level Set</a:t>
                </a:r>
                <a:r>
                  <a:rPr lang="en-US" altLang="zh-TW" sz="2400" dirty="0"/>
                  <a:t>: the set of all bundles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that yield the same value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CDA30B8-B994-170D-C465-7C9E75163CA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CC9ADA-1D97-5F93-EB3E-0AF41171F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 and Indifference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FE983-9265-A8BB-1D96-6EC086BCA7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AD22B-A4F4-79EE-3C40-C9B922C3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F40E-4169-50C2-7FF2-672089FC8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6933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C3B03A-9D33-6952-E62E-70D1CC1A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99F6EB-8ED4-C566-03DB-4750DF306D3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Commonly Used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 Functions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778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F1FC-E749-137C-56F3-0F416BD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substitutes. Our motivating example is generic aspirin from Walgreens and CVS, with the same number of pills per bottle.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cares about the total number of bottles. Consider the following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bottles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bottles?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4E2C4EB-DB1E-0821-D5FC-1BE893C7FAC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7670EE-2C0E-3EE1-F5FF-CBC5A18C6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11E6A9-3BF8-B949-D1DA-C55568C632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D4FCA-FDC4-B20A-958C-603F339BF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DD70A-4397-CB1D-9141-C61007A3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A16E10-9528-55B7-944E-034756F17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05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238FF-E3A2-88BE-0C32-F60AADB3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bottles sold at Walgreens contain twice as many pills per bottle as those sold at CVS: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pills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pills?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coefficient reflects that a single bottle of Walgreens is equivalent to two CVS bottles in terms of “utility”.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776B185-44EF-4EE0-4A52-355BA960793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4F2429-BC74-D4D7-C42A-71DED061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8E1825-5AC9-BC98-825B-1E0D8E2A71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5F6D1C-5F7B-994B-327F-9B5438727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DF6F12-9A93-3D78-6AA7-ABEE657C6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2C9AC1-5A8C-B5DF-487C-0A23AA1D2E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84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5B7FD-9463-770E-AB9F-F7380D5FE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substitutes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𝑎𝑥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between the goods is constant and equal to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= Slope of the indifference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many units of good 2 the consumer is willing to give up for one extra unit of good 1. 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 monotonic transformation of this general form represents the same underlying preferences.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712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7F37390-036F-3CA0-1FB1-4080AE5055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E56406-A06E-08E2-E5E1-E93A4DAB6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FDDFAF-A1F2-98A1-3EAF-A4212F619B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1A039-6A5C-4E59-B64E-82F7B8A6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16C5A-7BB1-F598-04C2-0B93E2E8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B2414-87EE-1879-9180-A319F02C86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4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ACC2-5C38-BB2E-8BB8-5E7D09FF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complements. Our motivating example is left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and right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derives value when a pair of shoes is completed: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only change when a new pair is created or a pair is lost?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increase when the number of pairs increases?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A1C2E7E-3437-E93D-6748-01AE76106C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CA6D44-850A-AC26-9173-5019B647D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9EF212-704B-8A7D-C945-01BCAFDB6C1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16E02-3D8E-4FE9-5A53-6DBE1609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F999-4221-EC22-51BE-FE2A816E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1468D0-E9F8-A248-A8B5-EECB278A43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0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E724-7212-B61E-E2D2-5C5E5D4E0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complements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ratio of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400" dirty="0"/>
                  <a:t> determines the position of the kink along the ray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MRS is not defined at the kink, as there is no smooth substitution between the two goods.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E303F3-18C9-C98B-DB02-8945FEFA2B8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09025-E93C-429E-2235-7CC137262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99784-C750-336F-1BE6-3DA5C02BFF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F5239-BCA4-4133-05CC-1B83C336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5A0D4-298C-548B-B76D-4175C7DF6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F0493D-F0CB-2CD3-5B35-131FE62EAB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6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91DF-C354-244A-A321-0F4ED1F3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Cobb-Douglas utility function is another commonly used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Cobb–Douglas utility is a common example of well-behaved preferences and generates smooth, strictly convex indifference curves.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exponents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400" dirty="0"/>
                  <a:t> determine the curvature of the indifference curves.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places greater weight on the corresponding good, shifting indifference curves toward that axis.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2E410E1-904A-830D-50F4-90849364B90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EB1A9-9F1A-B203-E2D5-59169B33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C805A-1ABF-A9E7-2D1F-877B10DE301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065D5-FD07-2D5A-E9CF-270EB55ED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BF214-644B-EC9F-B408-97541EEDA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FF3E3-702A-91DC-50D1-1828C442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414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B002-9BEF-2012-BD07-47C619E1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1A35D7-7786-77AD-39F7-E59C1383CE3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3FBB3B-26A1-DD47-25B6-8BD3F9DF9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3CEB35-5C0A-F111-0E3F-188D10BCC0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AE858B-EC48-B937-AFD9-C34DDE62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14D86-FBCE-80E6-BBDD-00837A9E0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816C65-7DC0-1417-74E1-A51D41299D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6800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60E5B-9E9A-7693-7975-C1369E6D7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25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5202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9DD4-7D1C-DBC3-CE55-E56658CA2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Like any utility function, the Cobb-Douglas utility function can undergo a monotonic transformation to a simpler form.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00" dirty="0"/>
                  <a:t>.</a:t>
                </a: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always apply a monotonic transformation to a Cobb-Douglas utility function so that the sum of the exponents equals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parameter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/>
                  <a:t> captures the relative importance of good 1, and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Normalization simplifies economic analysis.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3B3529A-F9C3-9ED7-8F0C-F28727489D5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C2C51-CB80-B017-6AF9-58F04414B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1B2C6-0644-5B86-4935-FF72B9D114B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6652-6407-1A90-1F44-3BD7FEA6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56364-A801-0ED8-7F39-E69A177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562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E535-4546-AF4D-591D-BECA6C0C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One may ask: “Why does the exponent capture the relative importance of each good?”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take a monotonic transformation to make this fact a bit more salient: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After taking logs, utility becomes a weighted sum of log-consumption: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consumer’s utility depends on proportional (percentage) changes in consumption, not levels.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coefficients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000" dirty="0"/>
                  <a:t> act as weights on those proportional changes.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means utility is more sensitive to percentage changes in that good.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8E9F08A-D3F0-D57B-CCE2-B35E9DBDF77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99C92-81D6-47F1-1C19-8454C5B2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Cobb-Douglas Exponents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CDA1C7-ED06-6B99-FB03-06098B2F36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69322-80C8-4F5E-881F-014D3F009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03084-1EE6-C03A-DB5D-547123F0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6182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D1F5E-1E1E-6EBF-4593-42E2B6962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BACBC-668B-627B-AF2D-FFCE65FB7AC6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Marginal Utility and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Marginal Rate of Substitution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83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94153-7A0D-174C-358F-B2DA6367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Marginal Utility</a:t>
                </a:r>
                <a:r>
                  <a:rPr lang="en-US" altLang="zh-TW" sz="2400" dirty="0"/>
                  <a:t> (MU) is the rate of change in a consumer’s utility resulting from a small increase in the quantity of one good, holding the quantities of all other goods constant.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average change in utility per unit of good 1 for a small increase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with respect to good 1 is defined as the limit of this expression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approaches zero.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99F4AD-9E55-A68B-0ED9-8043192FE8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609D-6EB4-7217-0DF6-39EFA4343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05B08A-28E3-862F-945E-6BCE9829EF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D1C90-1BA4-329D-3765-C513EEDE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8753C-D24C-5766-061B-306D7CF90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373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67EF-7123-9E69-A95C-427D77005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utility with respect to good 1?
Slide 25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EFDB851B-37A8-0411-A3BC-DA1BC3AAE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C0C7C-B538-F32B-1E60-F600EA1B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786571-1A88-5FB0-BB95-761212F0B89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281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1A3D-F264-7C61-089C-16E0AF60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utility with respect to good 1?
Slide 27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CE566DA8-50D8-8E0E-F22C-6D58EA9F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6BDD-BCCF-C804-5F40-D0A7960B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F8305E-7F18-F88E-5D93-1D9C1BFA429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38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24435-3467-EFA9-9695-AEBB34A1D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To calculate the change in utility resulting from a change in the quantity of good 1, holding all other goods constant, we use: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𝑑𝑈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𝑅𝑎𝑡𝑒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Up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Mirroring the definition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 the marginal utility with respect to good 2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change in utility resulting from a change in the quantity of good 2, ceteris paribus,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EEAFE13-76A2-0177-52B0-40AD4E36AE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03DDD-4066-FE16-04E6-21B50E6B1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585CB-9D35-8496-E717-E192CD80F49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17717-4669-323C-300D-4A46FF4D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8E97A-C3EE-8FDB-CD66-977D877B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69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A946-9223-C2F3-5053-AD910AE2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Since utility can be scaled freely through monotonic transformations, the magnitude of marginal utility does not, by itself, reveal behavioral patterns of the consumer.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two utility functions that represent identical underlying preferences,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=1               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the raw numerical value of marginal utility has no behavioral significance.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However, marginal utility can be used to construct a very important object with clear behavioral meaning.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568D5A5-9952-142B-1BBA-4A459AD8E35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2ABF4F-EF38-D6FF-8EBD-00A081AEA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A6AC8A-1CA0-BECF-FB08-8FD74EDFF1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1ADA4-F894-7519-43B7-B9735D22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1BD18-31A9-FD25-1EDC-9B995B311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8116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DF9AD-F51D-3203-DC9B-4F8E659FE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making a small change to the quantities of goods 1 and 2 while holding the consumer’s utility constant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𝑑𝑈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9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box>
                        <m:box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7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endParaRPr lang="en-US" altLang="zh-TW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6BA5708-B6C2-1814-9967-25CF05719A0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87400A-0E00-5A8C-A318-FD40A719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Deriving the Marginal Rate of Substitution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184BD4-3AD0-F205-C76E-AF9C0D685DE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E8FE2-01DF-82E9-EFC3-B07F5B58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85E15-6F55-A5B5-BAB3-33188B48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597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AFAC-1210-94E0-5220-CCBAB283D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rate of substitution?
Slide 30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8069680B-2A96-4F56-F6B3-F42287B2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6FD5F-C8E6-4D62-C913-62EB2F07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57FB35-72CA-6BC9-B2FC-E30B0B5CAD6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579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602FD-F6C1-A7D7-1D5B-DFF20E57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rate of substitution?
Slide 32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2ED4B7D1-2692-4C8C-5983-CE68C0065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A6475-C5E2-87D9-A45B-1F4DE2352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060C0B-BD83-B219-BD4E-E5DF3CDFADF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819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FB53F-C40F-AA7E-B222-3632987D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slope of the indifference curve at a given bundle.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the change in good 1 is very small, the ratio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approaches the slope of the indifference curve,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consumer’s marginal willingness to pay: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amount of good 2 the consumer is willing to give up for a marginal increase in consumption of good 1, holding utility constant.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While MU is susceptible to monotonic transformation, the ratio of marginal utilities is independent of such transformations.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simplicity, we will be taking the absolute value when discussing MRS.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  <a:blipFill>
                <a:blip r:embed="rId2"/>
                <a:stretch>
                  <a:fillRect l="-699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998B534-DCFA-BF16-2D7B-D7044857CB9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C91059-EDD4-BB2C-C8F7-A0719604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Interpretations of MRS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6E9899-81D1-82A0-47AD-B443715F6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1BE2E-A9C0-1691-5CED-4EF4D876F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5F9C3-80E4-23FA-2E59-0ADFE1403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685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D858D0-2729-91A4-A87F-2B8D6303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474F2-E138-4078-37E1-6E9CF6135069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356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D0D3-75F9-AC66-E339-9901DE6F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 numerical representation of preferences that preserves the consumer’s ranking of bundles.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Utility is </a:t>
                </a:r>
                <a:r>
                  <a:rPr lang="en-US" altLang="zh-TW" sz="2000" i="1" dirty="0"/>
                  <a:t>Ordinal </a:t>
                </a:r>
                <a:r>
                  <a:rPr lang="en-US" altLang="zh-TW" sz="2000" dirty="0"/>
                  <a:t>: Only rankings of bundles matter.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Monotonic transformations do not change the underlying preferences.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measures the rate of change in utility with respect to a single good.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is behaviorally meaningful: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is the slope of the indifference curve at a point.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equals (the absolute value of) the ratio of marginal utilities: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represents the consumer’s marginal willingness to pay (in units of good 2) for good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2A48173-3450-13BF-C367-F600593798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F89FA8-2460-DC9C-C37C-7D20C806C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1E9F-E8C7-EA86-FD4B-1CFA8B6FAD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C57A6-7C71-3EE2-8512-42A25F53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60DDE-35FE-3D1B-546A-897387B8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03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CAFF-9B43-78CA-BAEA-3A38D425E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what consumers like, and utility gives us a convenient way to represent those preferences.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make an actual choice, consumers face constraints: Limited income and market prices.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next chapter, we combine: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Preferences: Utility functions and indifference curves.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Constraints: Budget constraint.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us to answer a central question in microeconomics: Which bundle does the consumer choose, given prices and income?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b989853c-3f2c-49bb-890a-64c49579203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2a81faa6-13c1-4e83-9830-f4ef001faae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729dba9-7b08-4bf2-9027-51dac05d475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1905db9-6bd0-43e1-9041-0a479c2937ab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1a9ca1b-7e8d-4b99-8a02-dbcd1bb5ccb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d6877e9-866e-4de0-bc85-35f5145c416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6554</TotalTime>
  <Words>3363</Words>
  <Application>Microsoft Office PowerPoint</Application>
  <PresentationFormat>Custom</PresentationFormat>
  <Paragraphs>344</Paragraphs>
  <Slides>35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Preferences</vt:lpstr>
      <vt:lpstr>PowerPoint Presentation</vt:lpstr>
      <vt:lpstr>  Utility</vt:lpstr>
      <vt:lpstr>  Utility Functions</vt:lpstr>
      <vt:lpstr>  Ordinal Utility</vt:lpstr>
      <vt:lpstr>  Monotonic Transformations of Utility Functions</vt:lpstr>
      <vt:lpstr>Poll Everywhere multiple choice poll instructions screen
Activity Title: Suppose that a consumer's preference relation is non-transitive. Can we find a utility function representation of this consumer's preference relation?
Slide 8</vt:lpstr>
      <vt:lpstr>Poll Everywhere multiple choice poll chart screen
Activity Title: Suppose that a consumer's preference relation is non-transitive. Can we find a utility function representation of this consumer's preference relation?
Slide 10</vt:lpstr>
      <vt:lpstr>  Utility Function Representation</vt:lpstr>
      <vt:lpstr>  Constructing a Utility Function</vt:lpstr>
      <vt:lpstr>  Utility Functions and Indifference Curves</vt:lpstr>
      <vt:lpstr>PowerPoint Presentation</vt:lpstr>
      <vt:lpstr>  Perfect Substitutes</vt:lpstr>
      <vt:lpstr>  Perfect Substitutes</vt:lpstr>
      <vt:lpstr>  Perfect Substitutes</vt:lpstr>
      <vt:lpstr>  Perfect Complements</vt:lpstr>
      <vt:lpstr>  Perfect Complements</vt:lpstr>
      <vt:lpstr>  Cobb-Douglas Preferences</vt:lpstr>
      <vt:lpstr>  Cobb-Douglas Preferences</vt:lpstr>
      <vt:lpstr>  Cobb-Douglas Preferences</vt:lpstr>
      <vt:lpstr>  Advanced: Cobb-Douglas Exponents</vt:lpstr>
      <vt:lpstr>PowerPoint Presentation</vt:lpstr>
      <vt:lpstr>  Marginal Utility</vt:lpstr>
      <vt:lpstr>Poll Everywhere multiple choice poll instructions screen
Activity Title: Given a utility function $$u(x_1,x_2)=4x_1^2x_2$$, what is the marginal utility with respect to good 1?
Slide 25</vt:lpstr>
      <vt:lpstr>Poll Everywhere multiple choice poll chart screen
Activity Title: Given a utility function $$u(x_1,x_2)=4x_1^2x_2$$, what is the marginal utility with respect to good 1?
Slide 27</vt:lpstr>
      <vt:lpstr>  Marginal Utility</vt:lpstr>
      <vt:lpstr>  Marginal Utility</vt:lpstr>
      <vt:lpstr>  Deriving the Marginal Rate of Substitution</vt:lpstr>
      <vt:lpstr>Poll Everywhere multiple choice poll instructions screen
Activity Title: Given a utility function $$u(x_1,x_2)=4x_1^2x_2$$, what is the marginal rate of substitution?
Slide 30</vt:lpstr>
      <vt:lpstr>Poll Everywhere multiple choice poll chart screen
Activity Title: Given a utility function $$u(x_1,x_2)=4x_1^2x_2$$, what is the marginal rate of substitution?
Slide 32</vt:lpstr>
      <vt:lpstr>  Recap: Interpretations of MRS</vt:lpstr>
      <vt:lpstr>PowerPoint Presentation</vt:lpstr>
      <vt:lpstr>  Recap: Utility</vt:lpstr>
      <vt:lpstr>  Preview: Choice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193</cp:revision>
  <dcterms:created xsi:type="dcterms:W3CDTF">2013-01-27T09:14:16Z</dcterms:created>
  <dcterms:modified xsi:type="dcterms:W3CDTF">2026-01-26T22:18:07Z</dcterms:modified>
  <cp:category/>
</cp:coreProperties>
</file>