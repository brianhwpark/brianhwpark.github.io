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492" r:id="rId3"/>
    <p:sldId id="493" r:id="rId4"/>
    <p:sldId id="494" r:id="rId5"/>
    <p:sldId id="376" r:id="rId6"/>
    <p:sldId id="504" r:id="rId7"/>
    <p:sldId id="496" r:id="rId8"/>
    <p:sldId id="498" r:id="rId9"/>
    <p:sldId id="495" r:id="rId10"/>
    <p:sldId id="499" r:id="rId11"/>
    <p:sldId id="501" r:id="rId12"/>
    <p:sldId id="503" r:id="rId13"/>
    <p:sldId id="500" r:id="rId14"/>
    <p:sldId id="506" r:id="rId15"/>
    <p:sldId id="505" r:id="rId16"/>
    <p:sldId id="429" r:id="rId17"/>
    <p:sldId id="525" r:id="rId18"/>
    <p:sldId id="526" r:id="rId19"/>
    <p:sldId id="527" r:id="rId20"/>
    <p:sldId id="528" r:id="rId21"/>
    <p:sldId id="529" r:id="rId22"/>
    <p:sldId id="530" r:id="rId23"/>
    <p:sldId id="531" r:id="rId24"/>
    <p:sldId id="550" r:id="rId25"/>
    <p:sldId id="552" r:id="rId26"/>
    <p:sldId id="524" r:id="rId27"/>
    <p:sldId id="508" r:id="rId28"/>
    <p:sldId id="509" r:id="rId29"/>
    <p:sldId id="510" r:id="rId30"/>
    <p:sldId id="541" r:id="rId31"/>
    <p:sldId id="511" r:id="rId32"/>
    <p:sldId id="516" r:id="rId33"/>
    <p:sldId id="517" r:id="rId34"/>
    <p:sldId id="512" r:id="rId35"/>
    <p:sldId id="513" r:id="rId36"/>
    <p:sldId id="514" r:id="rId37"/>
    <p:sldId id="515" r:id="rId38"/>
    <p:sldId id="445" r:id="rId39"/>
    <p:sldId id="521" r:id="rId40"/>
    <p:sldId id="547" r:id="rId41"/>
    <p:sldId id="549" r:id="rId42"/>
    <p:sldId id="478" r:id="rId43"/>
    <p:sldId id="518" r:id="rId44"/>
    <p:sldId id="520" r:id="rId45"/>
    <p:sldId id="522" r:id="rId46"/>
    <p:sldId id="523" r:id="rId47"/>
    <p:sldId id="539" r:id="rId48"/>
    <p:sldId id="532" r:id="rId49"/>
    <p:sldId id="536" r:id="rId50"/>
    <p:sldId id="553" r:id="rId51"/>
    <p:sldId id="555" r:id="rId52"/>
    <p:sldId id="537" r:id="rId53"/>
    <p:sldId id="538" r:id="rId54"/>
    <p:sldId id="420" r:id="rId55"/>
    <p:sldId id="535" r:id="rId56"/>
    <p:sldId id="542" r:id="rId57"/>
    <p:sldId id="543" r:id="rId58"/>
    <p:sldId id="544" r:id="rId59"/>
    <p:sldId id="546" r:id="rId60"/>
    <p:sldId id="545" r:id="rId61"/>
    <p:sldId id="533" r:id="rId62"/>
    <p:sldId id="421" r:id="rId63"/>
    <p:sldId id="540" r:id="rId64"/>
    <p:sldId id="422" r:id="rId6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3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Can bundle $$X$$ be the consumer's optimal bundle?
https://www.polleverywhere.com/multiple_choice_polls/WKiMAxWG5bnNtOcoKBkK8?display_state=instructions&amp;activity_state=opened&amp;state=opened&amp;flow=Engagement&amp;onscreen=persist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DACE2-48D9-587E-B3EB-67BBFF26E70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84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Can bundle $$X$$ be the consumer's optimal bundle?
https://www.polleverywhere.com/multiple_choice_polls/WKiMAxWG5bnNtOcoKBkK8?display_state=chart&amp;activity_state=closed&amp;state=closed&amp;flow=Engagement&amp;onscreen=persist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87323-6AB4-A35C-22AA-C3AA3C38A9A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89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Can bundle $$X$$ be the consumer's optimal bundle?
https://www.polleverywhere.com/multiple_choice_polls/JFAZjgleV8IeY1k1RQ09G?display_state=instructions&amp;activity_state=opened&amp;state=opened&amp;flow=Engagement&amp;onscreen=persist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3916E-A819-2DD3-95B6-C65781BC702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7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Can bundle $$X$$ be the consumer's optimal bundle?
https://www.polleverywhere.com/multiple_choice_polls/JFAZjgleV8IeY1k1RQ09G?display_state=chart&amp;activity_state=closed&amp;state=closed&amp;flow=Engagement&amp;onscreen=persist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D1566-73A5-9AFC-4147-139ECD783CC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95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The condition $$\\frac{MU_1}{MU_2}=\\frac{p_1}{p_2}$$ means that:
https://www.polleverywhere.com/multiple_choice_polls/iKhX0jSHHtFsG0YrVtXzO?display_state=instructions&amp;activity_state=opened&amp;state=opened&amp;flow=Engagement&amp;onscreen=persist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DA4F9-64CC-816C-ABC5-F72149A6F0A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14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The condition $$\\frac{MU_1}{MU_2}=\\frac{p_1}{p_2}$$ means that:
https://www.polleverywhere.com/multiple_choice_polls/iKhX0jSHHtFsG0YrVtXzO?display_state=chart&amp;activity_state=closed&amp;state=closed&amp;flow=Engagement&amp;onscreen=persist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D96A7-6CF3-0FD9-B78D-B6B3E86956F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15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Why would a Cobb–Douglas utility function almost never result in a corner solution?
https://www.polleverywhere.com/multiple_choice_polls/VetIgNfLb2xoprEGasGeX?display_state=instructions&amp;activity_state=opened&amp;state=opened&amp;flow=Engagement&amp;onscreen=persist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BFF8AB-6D7F-6CFD-CF39-F7B280CD3C6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15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Why would a Cobb–Douglas utility function almost never result in a corner solution?
https://www.polleverywhere.com/multiple_choice_polls/VetIgNfLb2xoprEGasGeX?display_state=chart&amp;activity_state=closed&amp;state=closed&amp;flow=Engagement&amp;onscreen=persist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9D50F-5620-914B-4D39-630870946E7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7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For $$u(x_1,x_2)=min\\{x_1,x_2\\}$$, why must $$x_1=x_2$$ at the optimum?
https://www.polleverywhere.com/multiple_choice_polls/Q1twEKURfZJoaGVS7JL6a?display_state=instructions&amp;activity_state=opened&amp;state=opened&amp;flow=Engagement&amp;onscreen=persist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67E42-515F-A63E-396D-E55A0D84680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29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For $$u(x_1,x_2)=min\\{x_1,x_2\\}$$, why must $$x_1=x_2$$ at the optimum?
https://www.polleverywhere.com/multiple_choice_polls/Q1twEKURfZJoaGVS7JL6a?display_state=chart&amp;activity_state=closed&amp;state=closed&amp;flow=Engagement&amp;onscreen=persist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51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FDF0E-995A-5F22-A98E-35205F38721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6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8114D-31B9-4B78-9ACC-70FB90027BFD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F65B-C187-4F2E-97E4-866F44D3FEC5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CE8C-B3D2-4FED-8171-A22B1E84AA49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87D79-C197-49E5-840E-62EF773E40EB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717-ACD6-42B4-B4D2-A00897526083}" type="datetime1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F010-C38E-44B3-A11D-B9CE0300A741}" type="datetime1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42EE-45D9-4220-A88F-EE689B9875C3}" type="datetime1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1C2B-1683-45DB-88D6-369C6CB6AB24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B611B-DC9D-42DB-B865-14DB93E316AF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4A91-75B0-4800-B4E2-20956DB94300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51350-1A97-42BE-B68B-7AD85E4EDCBF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8D4B9-4EE2-4C3D-B367-BE7622E78789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200" dirty="0"/>
              <a:t>I</a:t>
            </a:r>
            <a:r>
              <a:rPr lang="en-US" sz="3600" dirty="0"/>
              <a:t>NTERMEDIATE </a:t>
            </a:r>
            <a:r>
              <a:rPr lang="en-US" sz="4200" dirty="0"/>
              <a:t>M</a:t>
            </a:r>
            <a:r>
              <a:rPr lang="en-US" sz="3600" dirty="0"/>
              <a:t>ICROECONOMIC </a:t>
            </a:r>
            <a:r>
              <a:rPr lang="en-US" sz="4200" dirty="0"/>
              <a:t>T</a:t>
            </a:r>
            <a:r>
              <a:rPr lang="en-US" sz="3600" dirty="0"/>
              <a:t>HEORY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5: Choice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40CB-6C31-D7FE-2F4A-2E8CC6FA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F7F468-B5B4-D730-3D3F-95263D0EFE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Utility is a numerical representation of preferences that preserves the consumer’s ranking of bundles.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Utility is </a:t>
                </a:r>
                <a:r>
                  <a:rPr lang="en-US" altLang="zh-TW" sz="2000" i="1" dirty="0"/>
                  <a:t>Ordinal </a:t>
                </a:r>
                <a:r>
                  <a:rPr lang="en-US" altLang="zh-TW" sz="2000" dirty="0"/>
                  <a:t>: Only rankings of bundles matter.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Monotonic transformations do not change the underlying preferences.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Marginal utility measures the rate of change in utility with respect to a single good.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Marginal Rate of Substitution (MRS) is behaviorally meaningful: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MRS is the slope of the indifference curve at a point.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MRS equals (the absolute value of) the ratio of marginal utilities: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𝑀𝑅𝑆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MRS represents the consumer’s marginal willingness to pay (in units of good 2) for good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F7F468-B5B4-D730-3D3F-95263D0EFE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 r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5CACA8B-9E26-2497-2DED-A2A33B3CB8D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298DA-D15E-5492-ECEA-6F88AD60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Utility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E45291-0D1A-FADF-B719-E9170DC731D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F347F-B3A8-7BBE-2DE1-184DEC15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E458D-5E3C-9DE6-5E62-85BB5F3D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681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6701-C65B-85F7-F0C7-72AC5DC1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971468-586F-C470-97CA-EA9686E1F0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553846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budget line represents all bundles that exhaust the consumer’s budget.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Given 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/>
                  <a:t>, the expression for the consumer’s budget line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Graphical interpretation: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bundles below the budget line constitute the budget set (affordable bundles).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bundles above the budget line are not affordable.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slope of the budget line reflects the relative prices of the two goods.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971468-586F-C470-97CA-EA9686E1F0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553846" cy="5081046"/>
              </a:xfrm>
              <a:blipFill>
                <a:blip r:embed="rId2"/>
                <a:stretch>
                  <a:fillRect l="-1302" t="-1319" r="-1953" b="-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D1D15E-2A99-D00E-AF6E-689D8A770B5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0C763-911C-CE9D-7EF1-374A5E04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Budget 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5DF60-E3BB-45EC-7DDE-58F4A4E4A0C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51423-C423-7BEA-61C2-1CFFBE03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C2FDB-71C0-299E-30AC-CEE85329E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5EDBCB-5512-6451-127D-2CEEAE2BB2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08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51FD-6208-F93A-4FA6-32A575BC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2DC88-9DE2-72C0-702B-51BF176F2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208" y="1300900"/>
            <a:ext cx="6553846" cy="5081046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indifference curve is a collection of all bundles that share the same utility value.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Graphical interpretation: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Bundles above the indifference curve represent bundles associated with a higher utility level.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Bundles below the indifference curve represent bundles associated with a lower utility level.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slope of the indifference curve is the marginal rate of substitution, which represents the subjective exchange ratio between the two goods.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CFE461-D3BF-85AA-DA9E-A805D5BB85A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B60EEB-6538-D57E-6E64-6135CB34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Indifference Curve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5A67BB-2F66-FD4D-D0C9-7033B88AD6B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4B4AD-F813-3017-6BF0-5221DAAC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24F5-62A7-4B18-BE22-0646968E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D7D7B8-B2E7-4D9E-B82E-A1DC5F245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0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DDB4B-70EB-D813-2CBD-F9DCC9FA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D899-59D5-9E41-D3B6-CE5808862787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The Geometry of 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Optimal Choice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963F7-1C58-4714-A42D-3128FA73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718062-1A7F-0CA3-36F7-BA54B60BEB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now combine the budget constraint and indifference curves to find the consumer’s optimal consumption bundle.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Such bundles are often denoted using a star superscript: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,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TW" sz="20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a bundle to be the optimal choice for the consumer, it must be both: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Most Preferred: Maximizes the consumer’s utility.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Feasible: Lies in the consumer’s budget set.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will evaluate candidate bundles using these two conditions, beginning with a preference relation represented by a Cobb-Douglas utility function.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718062-1A7F-0CA3-36F7-BA54B60BE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324018C-B5F5-3EDD-F453-D62127658B8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BC9BF-8251-1130-9B73-1755C27A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Optimal Choice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4F34B-B892-425D-DA34-B7175050080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9AB5F-9243-FCC9-1098-531C825C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6F005-D933-422E-F8CE-FF7FB444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61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C390-5642-0348-EDB1-5D1F7ED9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Can bundle $$X$$ be the consumer's optimal bundle?
Slide 6</a:t>
            </a:r>
          </a:p>
        </p:txBody>
      </p:sp>
      <p:sp>
        <p:nvSpPr>
          <p:cNvPr id="3" name="Footer Placeholder 2" descr="Poll Everywhere multiple choice poll instructions screen&#10;Activity Title: Can bundle $$X$$ be the consumer's optimal bundle?">
            <a:extLst>
              <a:ext uri="{FF2B5EF4-FFF2-40B4-BE49-F238E27FC236}">
                <a16:creationId xmlns:a16="http://schemas.microsoft.com/office/drawing/2014/main" id="{7D628B50-B91A-BB86-35A9-E2BCD2F7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88BD6-26F9-D076-39C5-F15A48132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CA1C56-EC40-979D-1B63-75F96A2BB66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5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1D5A-3EC1-71EF-0BE5-FA318C0F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Can bundle $$X$$ be the consumer's optimal bundle?
Slide 8</a:t>
            </a:r>
          </a:p>
        </p:txBody>
      </p:sp>
      <p:sp>
        <p:nvSpPr>
          <p:cNvPr id="3" name="Footer Placeholder 2" descr="Poll Everywhere multiple choice poll chart screen&#10;Activity Title: Can bundle $$X$$ be the consumer's optimal bundle?">
            <a:extLst>
              <a:ext uri="{FF2B5EF4-FFF2-40B4-BE49-F238E27FC236}">
                <a16:creationId xmlns:a16="http://schemas.microsoft.com/office/drawing/2014/main" id="{0A771351-4778-9A4A-F0D8-246C4D44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EDD5D-13CA-7FA7-7D0B-E3950FE9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F01C9-D45F-FFBD-A604-1D525493BA4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98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4603F-C9B5-1AE6-F6EC-67B18595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1E2568-1451-D2B8-6EC4-AB2C579A9B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Can bundle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 be the consumer’s optimal choice?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Recall that the area above the indifference curve represents the weakly preferred set.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Recall that the area under the budget line represents the budget set.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weakly preferred set and the budget set overlap.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Any bundle in the overlapping area is feasible and weakly preferred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1E2568-1451-D2B8-6EC4-AB2C579A9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 r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7413169-CEC0-9B76-17C0-07EE01E3E52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0F409-09A7-6ECD-2DFF-2E698030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Optimal Choice: Candidate #1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99205-2463-A488-0F28-5080AEBE0CD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1C6DE-E0AB-3364-E4D2-1688E9BF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5CBB0-EEE5-804B-A6D4-CCFA7CF5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8832C1-2EA8-78D0-2AD6-D8C908496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52491-CA48-EC94-75E4-E39903FECF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4A582C-B06C-D51D-ABDC-F8C2447DAC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0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15F54-43FA-8CD3-0489-DC7064CB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1119A5-1935-BE3F-96B9-B9C8390B56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With monotonicity, there exists a bundle in the overlapping area that is strictly preferred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Consider a bundle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000" dirty="0"/>
                  <a:t> that lies on the same indifference curve as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Choose a feasible bundle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sz="2000" dirty="0"/>
                  <a:t> in the overlapping area that has more of at least one good than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By monotonicity,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nor/>
                      </m:rPr>
                      <a:rPr lang="en-US" altLang="zh-TW" sz="20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By transitivity,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≻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Disclaimer: This argument is beyond what is </a:t>
                </a:r>
                <a:r>
                  <a:rPr lang="en-US" altLang="zh-TW" sz="2400" i="1" dirty="0"/>
                  <a:t>testable</a:t>
                </a:r>
                <a:r>
                  <a:rPr lang="en-US" altLang="zh-TW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1119A5-1935-BE3F-96B9-B9C8390B56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 r="-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B48A6D4-1DCB-B974-D4D6-EEB92036F45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1E29E-8216-4E96-A04E-834A29C0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Optimal Choice: Candidate #1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FE2A32-668C-FC85-48CA-675A98C6A1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1ACF8-1C7C-FB9D-4B6D-519C6DFC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07C20-F37C-EAC2-184B-24D44224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6AF53B-CF88-8677-33E1-6B17A107BC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BFCDAB-02BC-C34D-1460-31A9150C5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D58B15A-620C-FDE6-B434-08A4B749E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1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C067-047C-B3DE-E6D7-6ADFCBAB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Can bundle $$X$$ be the consumer's optimal bundle?
Slide 10</a:t>
            </a:r>
          </a:p>
        </p:txBody>
      </p:sp>
      <p:sp>
        <p:nvSpPr>
          <p:cNvPr id="3" name="Footer Placeholder 2" descr="Poll Everywhere multiple choice poll instructions screen&#10;Activity Title: Can bundle $$X$$ be the consumer's optimal bundle?">
            <a:extLst>
              <a:ext uri="{FF2B5EF4-FFF2-40B4-BE49-F238E27FC236}">
                <a16:creationId xmlns:a16="http://schemas.microsoft.com/office/drawing/2014/main" id="{0D3A068C-F816-C2C5-E0E3-23BE559D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EB9E5-2EFD-B672-490B-CEE0316E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82698B-5B91-5BCA-B98E-E70D2238022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51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8946-7096-186E-A604-66179FE7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Can bundle $$X$$ be the consumer's optimal bundle?
Slide 12</a:t>
            </a:r>
          </a:p>
        </p:txBody>
      </p:sp>
      <p:sp>
        <p:nvSpPr>
          <p:cNvPr id="3" name="Footer Placeholder 2" descr="Poll Everywhere multiple choice poll chart screen&#10;Activity Title: Can bundle $$X$$ be the consumer's optimal bundle?">
            <a:extLst>
              <a:ext uri="{FF2B5EF4-FFF2-40B4-BE49-F238E27FC236}">
                <a16:creationId xmlns:a16="http://schemas.microsoft.com/office/drawing/2014/main" id="{835EC228-650A-8AD5-3C29-F087962D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1284D-810D-F2AF-C7B0-73B9F0C4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80D5A0-72B6-45F2-5074-80224AAF8AB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65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2ED4-E3DF-30E0-0AAD-6C433701F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481B68-580C-7B67-91C7-6D8D2D538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638418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Can bundle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 be the consumer’s optimal choice?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Neither bundle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, nor any bundle on its indifference curve overlaps with the budget set.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Regardless of the consumer’s preferences, the consumer cannot purchase bundle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Bundle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 cannot be the consumer’s optimal choice.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481B68-580C-7B67-91C7-6D8D2D538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638418" cy="5081046"/>
              </a:xfrm>
              <a:blipFill>
                <a:blip r:embed="rId2"/>
                <a:stretch>
                  <a:fillRect l="-1287" t="-1319" r="-1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AEF582C-A0F4-474D-4BDE-B6D51CDB2FC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7C8361-A37F-9486-4019-4B356C35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Optimal Choice: Candidate #2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CDA85-2258-722F-B493-4D791332876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915CE-2F36-0BD0-FD5C-DFAF42EA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7C729-7537-87F1-3C78-52BE2F7B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5C6C61-32CD-B9DD-0AD1-24611F92C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88339A-3F4D-4A46-9711-CCE9AF922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6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954D9-D6FD-79CE-FE93-A117DF86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A08BD-5EAE-4B34-40A6-DAEA8A9D6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 us briefly review the key lessons up to this point.</a:t>
            </a:r>
          </a:p>
          <a:p>
            <a:pPr lvl="3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Candidate #1: The bundle of choice was feasible, but not most preferred.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Any bundle whose indifference curve intersects the interior of the budget set cannot be optimal.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indifference curve not intersecting the interior of the budget set is a </a:t>
            </a:r>
            <a:r>
              <a:rPr lang="en-US" altLang="zh-TW" sz="2000" i="1" dirty="0"/>
              <a:t>necessary condition</a:t>
            </a:r>
            <a:r>
              <a:rPr lang="en-US" altLang="zh-TW" sz="2000" dirty="0"/>
              <a:t> for optimality (but not sufficient on its own).</a:t>
            </a:r>
          </a:p>
          <a:p>
            <a:pPr lvl="4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Candidate #2: The bundle of choice was not feasible.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Any bundle that does not lie in the consumer’s budget set cannot be optimal.</a:t>
            </a:r>
          </a:p>
          <a:p>
            <a:pPr lvl="4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now look for a feasible bundle that lies on the highest attainable indifference curve.</a:t>
            </a:r>
          </a:p>
          <a:p>
            <a:pPr lvl="4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 lvl="3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8E7BF-DA60-068F-CE36-72F839B410A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DB3CE-3AFE-513A-B3F5-A069C6E33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Optimal Choice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AB4499-84DA-D286-2AE3-AB83136C46D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93901-98DC-85F2-4E30-2E94569F8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0D0F-38DC-7915-F026-676089F3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939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8654-5142-4AE6-191E-EC962104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887842-185C-9A6B-8C2E-9DF2FC65D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638418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consumption bundle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, found at the point of tangency, is the consumer’s optimal choice.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 lies on the consumer’s budget line, so is feasible.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Among all feasible bundles,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 lies on the highest attainable indifference curve.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Any bundle that is strictly preferred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000" dirty="0"/>
                  <a:t> is outside of the budget set, therefore not feasible.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Any bundle that is feasible lies on an indifference curve that is below the indifference curve through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 is no feasible bundle strictly preferred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887842-185C-9A6B-8C2E-9DF2FC65D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638418" cy="5081046"/>
              </a:xfrm>
              <a:blipFill>
                <a:blip r:embed="rId2"/>
                <a:stretch>
                  <a:fillRect l="-1287" t="-1319" r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BC6572E-3B96-5373-7189-188DFE3C109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4D6F7-5E6D-3C79-16BC-0B601AA7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Optimal Choice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9C947-173F-A40E-2E71-95C98EB38A0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F3321-8481-15C9-161A-C508B225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282A7-7ADF-29B2-0113-2CED014D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2199C1-3948-23CD-B263-E11A26E09B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4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3B03A-9D33-6952-E62E-70D1CC1A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9F6EB-8ED4-C566-03DB-4750DF306D30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The Marginal Rate of Substitution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 and Relative Prices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78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4587E-6CBE-C40C-05E7-CF53245D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CC62E-18E6-65B0-78F2-8150594A4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When the indifference curve and the budget line are tangent, their slopes are identical at the point of tangency.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Recall that the slope of the indifference curve is the marginal rate of substitution (MRS).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Recall that the slope of the budget line is the relative price of the two goods.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𝑀𝑅𝑆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now examine why this tangency condition is a necessary condition for an interior optimal choice, before turning to the mathematical tools that allow us to solve for the optimal bundle.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CC62E-18E6-65B0-78F2-8150594A4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A265E16-F0B2-FDBA-34BD-5CEA3AE8EAA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E3067-5568-1E52-8663-178C80A50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MRS and Relative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8C04E-E028-4869-E3B2-4AD5356B59E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F8A9D-64A5-B802-2400-5CB60805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E657B-71C3-A849-ECDA-E0EB365D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17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2BFD-5E02-EE15-34F7-8110F78A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1FFDE-CE5A-24EC-FBA0-69BEE5665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7494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 us return to candidate bundle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, which we know is not the optimal bundle.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find that the slope of the indifference curve is steeper than the slope of the budget line at bundle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Zooming in on the bundle X, we compare the economic implications: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MRS tells us the maximum amount of good 2 the consumer is willing to give up in order to obtain one more unit of good 1.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relative prices tell us the amount of good 2 the consumer must give up in the market to obtain one more unit of good 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1FFDE-CE5A-24EC-FBA0-69BEE5665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74942" cy="5081046"/>
              </a:xfrm>
              <a:blipFill>
                <a:blip r:embed="rId2"/>
                <a:stretch>
                  <a:fillRect l="-1260" t="-1319" r="-2340" b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6E91AB8-F009-D87A-B70D-8BA586B08C2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89E58-6A52-EBBC-30A3-3EC8914D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When MRS &gt; Relative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1BF58-9FF5-B769-07BF-14E5BF39488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D7E33-BA49-606C-091B-D867C1BB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4545D-5C5E-9B89-7EDC-0169C2E3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683636-62C7-55D2-E8F1-66DDA34BE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B7DC53-AC8E-9C93-0E9C-7B7308294B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7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C6F3-BF2B-F18F-D5AC-CEC96B9C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F66C9-7574-1E5D-C03C-990D45AAC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638418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 consumer is consuming bundle X.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consumer is asked: “how many units of good 2 would you be willing to give up to obtain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additional units of good 1?”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Based on the indifference curve at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, and the MRS, we find that the consumer is willing to give up </a:t>
                </a:r>
                <a:r>
                  <a:rPr lang="en-US" altLang="zh-TW" sz="2400" dirty="0" err="1"/>
                  <a:t>up</a:t>
                </a:r>
                <a:r>
                  <a:rPr lang="en-US" altLang="zh-TW" sz="2400" dirty="0"/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𝑀𝑅𝑆</m:t>
                        </m:r>
                      </m:sup>
                    </m:sSubSup>
                  </m:oMath>
                </a14:m>
                <a:r>
                  <a:rPr lang="en-US" altLang="zh-TW" sz="2400" dirty="0"/>
                  <a:t> units of good 2.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Now compare this with the actual number of units of good 2 the consumer must give up in the market to obtain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F66C9-7574-1E5D-C03C-990D45AAC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638418" cy="5081046"/>
              </a:xfrm>
              <a:blipFill>
                <a:blip r:embed="rId2"/>
                <a:stretch>
                  <a:fillRect l="-1287" t="-1319" r="-2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7B2D4C8-37CC-C7E5-8388-199D30B06C0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C4BF5-5B92-CD57-E89B-D6EA4D6B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When MRS &gt; Relative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2C0B76-319B-3D11-EB18-FA4255E6149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53E5F-40C7-4DBA-A66C-E21FE2BA2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00312-B712-ADDB-D7BB-BF5CD324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275F2F-313A-805A-0524-FA309C63F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57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BB444-D98E-E458-EB51-5BEF76ED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2814F0-BF1C-0CE4-53E8-4FD55FAE0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638418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How many units of good 2 does the consumer have to give up in the market to obtain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additional units of good 1?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Based on the budget constraint, we find that the consumer must give 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sup>
                    </m:sSubSup>
                  </m:oMath>
                </a14:m>
                <a:r>
                  <a:rPr lang="en-US" altLang="zh-TW" sz="2400" dirty="0"/>
                  <a:t> units of good 2.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As long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𝑀𝑅𝑆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𝐵𝐶</m:t>
                        </m:r>
                      </m:sup>
                    </m:sSubSup>
                  </m:oMath>
                </a14:m>
                <a:r>
                  <a:rPr lang="en-US" altLang="zh-TW" sz="2400" dirty="0"/>
                  <a:t>, the consumer can be made better off taking the trade.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What about the opposite case?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2814F0-BF1C-0CE4-53E8-4FD55FAE0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638418" cy="5081046"/>
              </a:xfrm>
              <a:blipFill>
                <a:blip r:embed="rId2"/>
                <a:stretch>
                  <a:fillRect l="-1287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F8F97CE-7EFB-BBB5-EE3E-74838B63DE7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A7DDE-9A43-9C8A-B85F-F29CD86F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When MRS &gt; Relative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E0C40-7E53-48A5-B0F1-26C2596ABF0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E5E5C-C4BA-927A-ADBB-60592F96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6870F-5743-C944-6A30-10D74F52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445C25-BCA3-F0A3-246D-C20A0AF42D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7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5BC5A-21B5-CA43-4FCA-815C74B7C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6726C-605E-ABE0-D8EE-36CF871887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7494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 us consider the other scenario by analyzing the consumer’s trade-off at bundle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/>
                  <a:t>, where the slope of the budget line is steeper than the slope of the indifference curve.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Intuition: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consumer is consuming bundle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000" dirty="0"/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 units of good 1 are taken away from the bundle.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𝑀𝑅𝑆</m:t>
                        </m:r>
                      </m:sup>
                    </m:sSubSup>
                  </m:oMath>
                </a14:m>
                <a:r>
                  <a:rPr lang="en-US" altLang="zh-TW" sz="2000" dirty="0"/>
                  <a:t> is the minimum amount of good 2 the consumer needs to gain to remain indifferent.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𝐵𝐶</m:t>
                        </m:r>
                      </m:sup>
                    </m:sSubSup>
                  </m:oMath>
                </a14:m>
                <a:r>
                  <a:rPr lang="en-US" altLang="zh-TW" sz="2000" dirty="0"/>
                  <a:t> is the amount of good 2 the consumer can gain in the market by giving 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 units of good 1.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𝑀𝑅𝑆</m:t>
                        </m:r>
                      </m:sup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𝐵𝐶</m:t>
                        </m:r>
                      </m:sup>
                    </m:sSubSup>
                  </m:oMath>
                </a14:m>
                <a:r>
                  <a:rPr lang="en-US" altLang="zh-TW" sz="2000" dirty="0"/>
                  <a:t>, the consumer should take the trade-off to achieve a higher level of utility.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06726C-605E-ABE0-D8EE-36CF871887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74942" cy="5081046"/>
              </a:xfrm>
              <a:blipFill>
                <a:blip r:embed="rId2"/>
                <a:stretch>
                  <a:fillRect l="-1260" t="-1319" r="-900" b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71BF63C-44A6-9967-0A64-891CF8299E0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7140E-1F88-9311-4105-52C42537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When MRS &lt; Relative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98B53-9267-A73F-F85B-C871AE9EA47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421FE-60A5-CE55-C3C0-6882567B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A60FF-0CED-8602-4981-6F39F33C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7DC889-B9AC-8E63-520E-40026B16D9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3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8DD7-D94A-78DF-BAF0-E345C687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E12DC2-8CAB-3ACF-503A-848D451376B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502B7-D79E-F3D1-0C09-C8516507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When MRS &lt; Relative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3AB358-8043-E9C6-EE27-D9F81A80CFB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B10E7-642D-A1AC-DAFC-F34DADEC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DC214-419E-432D-E07A-15296A57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ACA5B2-5A0F-0932-E74A-9B475D86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970332"/>
            <a:ext cx="5486400" cy="5486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990ACA-AE2D-7846-360B-55B3FA7B1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26" y="973412"/>
            <a:ext cx="5486400" cy="5486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BBA2-8493-352A-F60C-E76C61DA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825236"/>
            <a:ext cx="5486400" cy="43553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5000"/>
              </a:lnSpc>
              <a:spcBef>
                <a:spcPts val="1000"/>
              </a:spcBef>
              <a:buNone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Marginal Rate of Substitution: Subjective Trade-off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5D772-075D-5203-9A5C-AD8CA5D7C6F5}"/>
              </a:ext>
            </a:extLst>
          </p:cNvPr>
          <p:cNvSpPr txBox="1">
            <a:spLocks/>
          </p:cNvSpPr>
          <p:nvPr/>
        </p:nvSpPr>
        <p:spPr>
          <a:xfrm>
            <a:off x="6245226" y="5825236"/>
            <a:ext cx="5486400" cy="435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5000"/>
              </a:lnSpc>
              <a:spcBef>
                <a:spcPts val="1000"/>
              </a:spcBef>
              <a:buFont typeface="Arial"/>
              <a:buNone/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Relative Prices: Market Trade-off</a:t>
            </a:r>
          </a:p>
        </p:txBody>
      </p:sp>
    </p:spTree>
    <p:extLst>
      <p:ext uri="{BB962C8B-B14F-4D97-AF65-F5344CB8AC3E}">
        <p14:creationId xmlns:p14="http://schemas.microsoft.com/office/powerpoint/2010/main" val="236000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3648-E7DC-57BD-A38E-3DDAC15A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C6C812-91FB-6A93-263C-62A51A757C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relationship between MRS and relative prices: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𝑀𝑅𝑆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, the consumer values good 1 more than the market does and should consume more good 1.</a:t>
                </a:r>
                <a:endParaRPr lang="en-US" altLang="zh-TW" sz="1200" dirty="0"/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𝑀𝑅𝑆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, the market values good 1 more than the consumer does and the consumer should consume less good 1.</a:t>
                </a:r>
                <a:endParaRPr lang="en-US" altLang="zh-TW" sz="1200" dirty="0"/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𝑀𝑅𝑆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is there no incentive to change the consumption bundle.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Therefore, at an interior optimum, the consumer’s optimal choice must satisfy: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𝑀𝑅𝑆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Optimal choice occurs when the consumer’s willingness to trade exactly matches the market’s terms of trade.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C6C812-91FB-6A93-263C-62A51A757C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74029A4-70E5-CCBE-7CE1-C964DFE88C3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89070-453C-6C82-75CD-A338B411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MRS and Relative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B7C7A2-E650-BDA3-9477-26BBB141126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250AD-4A3D-C70B-9F3C-748517C5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5EC2-D378-86E2-E001-E3C3096CC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49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23D6-9011-3D97-058E-262ACBB3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The condition $$\\frac{MU_1}{MU_2}=\\frac{p_1}{p_2}$$ means that:
Slide 24</a:t>
            </a:r>
          </a:p>
        </p:txBody>
      </p:sp>
      <p:sp>
        <p:nvSpPr>
          <p:cNvPr id="3" name="Footer Placeholder 2" descr="Poll Everywhere multiple choice poll instructions screen&#10;Activity Title: The condition $$\\frac{MU_1}{MU_2}=\\frac{p_1}{p_2}$$ means that:">
            <a:extLst>
              <a:ext uri="{FF2B5EF4-FFF2-40B4-BE49-F238E27FC236}">
                <a16:creationId xmlns:a16="http://schemas.microsoft.com/office/drawing/2014/main" id="{01DDCB59-8F80-319F-31DC-DE64C4AF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3FEB1-5E64-E2D9-F8B6-AC2F2EF3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08BFC-D793-25D6-D5D1-D9F749AC5FE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20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9AB0-75AE-9558-A58A-9FB24301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The condition $$\\frac{MU_1}{MU_2}=\\frac{p_1}{p_2}$$ means that:
Slide 26</a:t>
            </a:r>
          </a:p>
        </p:txBody>
      </p:sp>
      <p:sp>
        <p:nvSpPr>
          <p:cNvPr id="3" name="Footer Placeholder 2" descr="Poll Everywhere multiple choice poll chart screen&#10;Activity Title: The condition $$\\frac{MU_1}{MU_2}=\\frac{p_1}{p_2}$$ means that:">
            <a:extLst>
              <a:ext uri="{FF2B5EF4-FFF2-40B4-BE49-F238E27FC236}">
                <a16:creationId xmlns:a16="http://schemas.microsoft.com/office/drawing/2014/main" id="{83D30A4F-22D9-E838-69F1-C28AF5E6D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A5A3-8A03-0D5D-5F8D-2C869369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386E0D-0783-75EF-6DA9-743B2AEF653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18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B3D5C-5075-B86B-00C4-027AC64B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695A8-B04E-54D5-C75F-70DDC3B3BD8C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The Utility Maximization Problem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458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F6DB2-1D91-245E-481E-56BFD3DF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EB3D78-68C1-FAD3-4A5A-E37AA24DC9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now want an algebraic method that reproduces what we saw graphically.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can solve the consumer’s utility maximization problem by setting up the following constrained optimization problem: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							such that</a:t>
                </a: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 are several ways to approach this problem, but we will use a formal method based on Lagrange multipliers.</a:t>
                </a:r>
              </a:p>
              <a:p>
                <a:pPr lvl="4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EB3D78-68C1-FAD3-4A5A-E37AA24DC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42920B5-F8F5-BE6F-20DF-D1FA385A361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6C117-0C26-36E4-1D90-FECAE206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Constrained Optimization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65CD3-F761-7E29-098F-F2FDDBFAAE3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1D50E-8AF4-933B-645F-5B6C778F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14802-6503-A23A-C413-91C303E5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791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3BB5B-CE0E-2C17-7D79-6E49E0C5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1AB69-3409-810C-D1F5-116539F9E9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First, we set up the </a:t>
                </a:r>
                <a:r>
                  <a:rPr lang="en-US" altLang="zh-TW" sz="2400" dirty="0" err="1"/>
                  <a:t>Lagrangian</a:t>
                </a:r>
                <a:r>
                  <a:rPr lang="en-US" altLang="zh-TW" sz="2400" dirty="0"/>
                  <a:t>, an auxiliary function: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Using the </a:t>
                </a:r>
                <a:r>
                  <a:rPr lang="en-US" altLang="zh-TW" sz="2400" dirty="0" err="1"/>
                  <a:t>Lagrangian</a:t>
                </a:r>
                <a:r>
                  <a:rPr lang="en-US" altLang="zh-TW" sz="2400" dirty="0"/>
                  <a:t> method, an interior optimal choice must satisfy the following first-order conditions (FOC):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𝜕𝜆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    ⋯(</m:t>
                      </m:r>
                      <m:r>
                        <m:rPr>
                          <m:nor/>
                        </m:rPr>
                        <a:rPr lang="en-US" altLang="zh-TW" sz="2400" dirty="0"/>
                        <m:t>1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3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⋯(</m:t>
                      </m:r>
                      <m:r>
                        <m:rPr>
                          <m:nor/>
                        </m:rPr>
                        <a:rPr lang="en-US" altLang="zh-TW" sz="2400" b="0" i="0" dirty="0" smtClean="0"/>
                        <m:t>2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3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⋯(</m:t>
                      </m:r>
                      <m:r>
                        <m:rPr>
                          <m:nor/>
                        </m:rPr>
                        <a:rPr lang="en-US" altLang="zh-TW" sz="2400" b="0" i="0" dirty="0" smtClean="0"/>
                        <m:t>3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1AB69-3409-810C-D1F5-116539F9E9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4AC68F8-3A62-4836-AF45-339979DF357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16A3F-2725-7784-42C8-4BA3FBAA5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: Setup &amp; First-order Conditions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BDE531-EF70-7056-BAE9-F0A26628462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163BA-3CF7-79CD-9BDD-F07DA06F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CA200-26A7-F31C-FBA6-56F8F35D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430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04C64-CFBC-1FE8-E331-866A5C0B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4A4D90-2A4D-6FDF-D1AC-78E13C00B2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Taking FOC (2) and dividing by FOC (3), we can find: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⟹     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𝑀𝑅𝑆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result is what we already know from geometry: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 an interior optimum, the MRS equals the price ratio of the two goods.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Graphically, this means that the slope of the indifference curve at the optimal bundle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sz="2000" dirty="0"/>
                  <a:t> matches the slope of the budget line.</a:t>
                </a:r>
              </a:p>
              <a:p>
                <a:pPr lvl="4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Solving the equation above, we find an “optimal ratio” between goods 1 and 2.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4A4D90-2A4D-6FDF-D1AC-78E13C00B2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 b="-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60D2170-13EC-1BDB-EE2D-EF8F35A44F8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7D15D-556A-ED0C-76AB-AFC36981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: Optimal Ratio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B691B7-EFA1-BA39-AB7B-3EE8644D462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C8147-E57B-5B13-198C-A099BC4B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81A33-2C1E-22B2-90E6-4555EDDE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576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AFBC-D3B7-4508-5D8D-994C4E25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5412A-AF63-CFC4-5A8A-8369ACD56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7494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optimal ratio only tells us the proportion of goods 1 and 2 that constitute the optimal bundle.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Anywhere along the optimal-ratio “ray,” the condition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𝑀𝑅𝑆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holds.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So, there are infinitely many bundles that satisfy the FOC, and we rely on the budget line to pin down the unique optimal choice.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first-order condition characterizes preferences, not affordability.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5412A-AF63-CFC4-5A8A-8369ACD56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74942" cy="5081046"/>
              </a:xfrm>
              <a:blipFill>
                <a:blip r:embed="rId2"/>
                <a:stretch>
                  <a:fillRect l="-1260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20FD16D-21E2-152F-9C50-B9201631ACE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F4937-AA84-701E-A64D-A9B3A477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: Geometry of the Optimal Ratio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C5F02-604A-821E-D91F-EB24FA4620A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3E407-357C-CA7C-4E76-DBB972D5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31496-0A1A-466E-2A58-C7381FE5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DACBFA-3248-65FF-C1C8-4D3FA51E71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2B8774-8F5C-A0B7-7C64-4548AFD25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1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05EE-967A-F8A1-9668-EFD86384C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A4143-5F00-6354-D27A-F73C6F4146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use the optimal ratio we found with FOC (1) to find the optimal bundle.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FOC (1) is simply the budget constraint: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Substituting the optimal ratio into the budget constraint allows us to solve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sz="2400" dirty="0"/>
                  <a:t>, the optimal bundle.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optimal ratio tells us how the consumer wants to trade goods, and the budget constraint tells us how much they can afford.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A4143-5F00-6354-D27A-F73C6F4146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A650CE7-D267-D9F6-EA89-33D24118644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914A7-EB83-FBCD-3E0A-B716AB19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: Optimal Bundle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3670E7-4FF8-4765-5C97-26BB0CD0690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A7EE7-5CCC-6CA2-D76C-FA0B4DE5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86868-4887-7DFC-0B5C-AED76B02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098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4E22-B1E9-EAF0-B33E-5823E24D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7C0BB-62B8-581F-ADF4-2291517BD2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Lagrange multiplier tells us how much the consumer values having a little more income. It is the marginal benefit of relaxing the budget constraint by one dollar.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larger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sz="2000" dirty="0"/>
                  <a:t> means the budget constraint is very tight.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smaller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sz="2000" dirty="0"/>
                  <a:t> means the constraint is relatively loose.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Therefore,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sz="2000" dirty="0"/>
                  <a:t> is also called the “shadow price” of income.</a:t>
                </a:r>
              </a:p>
              <a:p>
                <a:pPr lvl="4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Mathematically, from FOC (2):</a:t>
                </a: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sz="2000" dirty="0"/>
                  <a:t> equals the marginal utility per dollar spent, regardless of which good you purchase.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 the optimum, the consumer allocates spending so that every dollar spent generates the same increase in utility.</a:t>
                </a: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7C0BB-62B8-581F-ADF4-2291517BD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 r="-654" b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447DBAC-B728-AA6A-048D-9F7A43C0271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AE306-9866-9A69-4F58-27294434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The Lagrange Multiplier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6C302E-65E4-5867-80E6-61746A83B4D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0CC4A-39AA-83D3-1057-107A0836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7E78D-84FB-B98D-AE4B-D11640A6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556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FBC4B-3D92-AA9B-A2F6-60F92532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81699D-78FD-8B36-E05F-534F2FB87F69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Utility Maximization Problem: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An Example</a:t>
            </a:r>
          </a:p>
        </p:txBody>
      </p:sp>
    </p:spTree>
    <p:extLst>
      <p:ext uri="{BB962C8B-B14F-4D97-AF65-F5344CB8AC3E}">
        <p14:creationId xmlns:p14="http://schemas.microsoft.com/office/powerpoint/2010/main" val="389027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AA17F-2FFE-FB7A-B8EE-DB9F5B96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7E732-F997-A299-7F06-3D2DADB59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 a consumer’s preferences be represented by the following utility function over two goods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unit prices of goods 1 and 2 are given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400" dirty="0"/>
                  <a:t>, respectively. The consumer’s income is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=90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Steps: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Set up the </a:t>
                </a:r>
                <a:r>
                  <a:rPr lang="en-US" altLang="zh-TW" sz="2000" dirty="0" err="1"/>
                  <a:t>Lagrangian</a:t>
                </a:r>
                <a:endParaRPr lang="en-US" altLang="zh-TW" sz="2000" dirty="0"/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Compute the first-order conditions (FOCs)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Use the FOCs to solve for the optimal bundle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7E732-F997-A299-7F06-3D2DADB59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C900AF9-9A49-8079-EE83-793A7FF11AB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7316B-3A64-0846-A1FA-EBD6FF324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: An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AB1F45-97AF-DA73-1B7D-3D11DABFEFE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E71CF-D2D6-36CC-CF9B-4D4D77A5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3B7AD-F667-9777-D8A5-D80766B8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429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2509-83FD-CE68-16E9-9AD8735A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F36BF-71D2-D22E-2710-AD27CB4973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dirty="0" err="1"/>
                  <a:t>Lagrangian</a:t>
                </a:r>
                <a:r>
                  <a:rPr lang="en-US" altLang="zh-TW" sz="2400" dirty="0"/>
                  <a:t> can be set up as: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90−3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FOCs can be found as:</a:t>
                </a: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𝜕𝜆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    ⋯(</m:t>
                      </m:r>
                      <m:r>
                        <m:rPr>
                          <m:nor/>
                        </m:rPr>
                        <a:rPr lang="en-US" altLang="zh-TW" sz="2400" dirty="0"/>
                        <m:t>1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3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   ⋯(</m:t>
                      </m:r>
                      <m:r>
                        <m:rPr>
                          <m:nor/>
                        </m:rPr>
                        <a:rPr lang="en-US" altLang="zh-TW" sz="2400" dirty="0"/>
                        <m:t>2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3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3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   ⋯(</m:t>
                      </m:r>
                      <m:r>
                        <m:rPr>
                          <m:nor/>
                        </m:rPr>
                        <a:rPr lang="en-US" altLang="zh-TW" sz="2400" dirty="0"/>
                        <m:t>3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AF36BF-71D2-D22E-2710-AD27CB497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27032F1-B7D5-0ED9-D934-9B4CB05EE1D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033E6-CD19-4DD1-61E6-9465E7A9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: An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64CBD2-F177-6E53-7A09-5A93EF6E940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23FFD-ECE5-2541-2C04-FFBCBFA0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8AC01-3AFF-F0B4-09D5-E43DA141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006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3628-6AFD-7765-A13E-D5397783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23676A-1BAA-474A-A6E2-1359C22CE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Take the ratio between FOCs (2) and (3):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⟹     4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Combine with FOC (1) to find the optimal quantity of good 1:</a:t>
                </a: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⟹     9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0−3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box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24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	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0−3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4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	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zh-TW" sz="24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	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  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endParaRPr lang="en-US" altLang="zh-TW" sz="24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23676A-1BAA-474A-A6E2-1359C22CE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DBBC401-AE3A-AE6E-D456-FCD23DDC767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978CC-8D36-CE9C-D7FB-1005D71F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: An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8F085-BD2A-FD16-147E-B36AF1B7F13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ED68A-FF79-F4B2-30C8-DAFDFD35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C3DFD-E3D4-8F42-AC2F-F0B04331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51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C41DE-2AE0-9275-838B-148E1AE5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9EAEF-9C77-F300-6017-42862FDE3E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Plug the result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altLang="zh-TW" sz="2400" dirty="0"/>
                  <a:t> back into the optimal ratio: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⋅20     ⟹     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optimal bundle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=(20,15)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Notice that the consumer spends all income: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=3⋅20+2⋅15=60+30=90=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latin typeface="Garamond" panose="02020404030301010803" pitchFamily="18" charset="0"/>
                </a:endParaRP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9EAEF-9C77-F300-6017-42862FDE3E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920296C-AF26-0643-F96D-2D40B18CEE4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DF18D-C089-AE9E-841D-0CA26EB4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: An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F7897B-1238-781E-DFBD-690610B094F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655F6-EA62-63BD-35BA-21020244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3C66B-52B9-2A0B-6507-333D38A8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53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D1F5E-1E1E-6EBF-4593-42E2B696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6BACBC-668B-627B-AF2D-FFCE65FB7AC6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Optimal Choice: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Special Cases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83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46813-D1C7-79F3-F7BD-0E96AE5D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54E2-0CE2-18FD-2A42-52AB6A385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 </a:t>
            </a:r>
            <a:r>
              <a:rPr lang="en-US" altLang="zh-TW" sz="2400" b="1" dirty="0"/>
              <a:t>interior optimum</a:t>
            </a:r>
            <a:r>
              <a:rPr lang="en-US" altLang="zh-TW" sz="2400" dirty="0"/>
              <a:t> is an optimal choice where the consumer chooses positive amounts of all goods, and the solution occurs inside the feasible set rather than at its edge.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 interior optimum is an optimal bundle found where the indifference curve is tangent to the budget constraint.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 standard, smooth preferences (such as Cobb–Douglas preferences), the optimal solution is typically an interior solution.</a:t>
            </a:r>
          </a:p>
          <a:p>
            <a:pPr lvl="3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</a:t>
            </a:r>
            <a:r>
              <a:rPr lang="en-US" altLang="zh-TW" sz="2400" b="1" dirty="0"/>
              <a:t>boundary optimum</a:t>
            </a:r>
            <a:r>
              <a:rPr lang="en-US" altLang="zh-TW" sz="2400" dirty="0"/>
              <a:t> (or </a:t>
            </a:r>
            <a:r>
              <a:rPr lang="en-US" altLang="zh-TW" sz="2400" i="1" dirty="0"/>
              <a:t>corner solution</a:t>
            </a:r>
            <a:r>
              <a:rPr lang="en-US" altLang="zh-TW" sz="1050" i="1" dirty="0"/>
              <a:t> </a:t>
            </a:r>
            <a:r>
              <a:rPr lang="en-US" altLang="zh-TW" sz="2400" dirty="0"/>
              <a:t>) is an optimal choice where the consumer spends all income on one good and consumes zero of at least one other good.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usual tangency condition does not apply, even though the solution is still optimal.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Boundary optima commonly arise with preferences such as perfect substitutes, where indifference curves are linear.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13C410-52ED-96C5-AE0D-1AA61EA1F7E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D0A02-715B-D46C-25D8-4F73B3CE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Interior vs. Boundary Optimum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D32EEE-538F-9AA1-9D67-64DB21AAB05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945B8-B56E-C376-20E1-3D96180C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C864C-E00F-6A6A-AE6C-9E690E04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439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0D7A-AFDF-3536-DB6B-7399DBE5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Why would a Cobb–Douglas utility function almost never result in a corner solution?
Slide 38</a:t>
            </a:r>
          </a:p>
        </p:txBody>
      </p:sp>
      <p:sp>
        <p:nvSpPr>
          <p:cNvPr id="3" name="Footer Placeholder 2" descr="Poll Everywhere multiple choice poll instructions screen&#10;Activity Title: Why would a Cobb–Douglas utility function almost never result in a corner solution?">
            <a:extLst>
              <a:ext uri="{FF2B5EF4-FFF2-40B4-BE49-F238E27FC236}">
                <a16:creationId xmlns:a16="http://schemas.microsoft.com/office/drawing/2014/main" id="{6C3EB41D-D637-0E5E-BA9C-4B07E177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E7ABE-45E5-F6C2-CF5F-1B09CE37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DEC3B-70AB-4E4D-24D4-0476CD33D40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66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A52F-EC92-82D9-6F6C-7DF21FB7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Why would a Cobb–Douglas utility function almost never result in a corner solution?
Slide 40</a:t>
            </a:r>
          </a:p>
        </p:txBody>
      </p:sp>
      <p:sp>
        <p:nvSpPr>
          <p:cNvPr id="3" name="Footer Placeholder 2" descr="Poll Everywhere multiple choice poll chart screen&#10;Activity Title: Why would a Cobb–Douglas utility function almost never result in a corner solution?">
            <a:extLst>
              <a:ext uri="{FF2B5EF4-FFF2-40B4-BE49-F238E27FC236}">
                <a16:creationId xmlns:a16="http://schemas.microsoft.com/office/drawing/2014/main" id="{7AD22786-5E5F-B166-000B-53545B97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4D04F-94E7-236E-457D-F301A4DB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1ABB14-D396-6E1F-B8E7-78691763D28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88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94153-7A0D-174C-358F-B2DA6367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FD613-2BEA-D137-EA9D-2EAED9B8D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20252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the case of perfect substitutes, the </a:t>
                </a:r>
                <a:r>
                  <a:rPr lang="en-US" altLang="zh-TW" sz="2400" dirty="0" err="1"/>
                  <a:t>Lagrangian</a:t>
                </a:r>
                <a:r>
                  <a:rPr lang="en-US" altLang="zh-TW" sz="2400" dirty="0"/>
                  <a:t> method is not particularly useful.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b="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b="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    2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altLang="zh-TW" sz="2400" b="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we mechanically apply the </a:t>
                </a:r>
                <a:r>
                  <a:rPr lang="en-US" altLang="zh-TW" sz="2400" dirty="0" err="1"/>
                  <a:t>Lagrangian</a:t>
                </a:r>
                <a:r>
                  <a:rPr lang="en-US" altLang="zh-TW" sz="2400" dirty="0"/>
                  <a:t> method: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first-order conditions (FOCs) are: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20−2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1−2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FD613-2BEA-D137-EA9D-2EAED9B8D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202528"/>
              </a:xfrm>
              <a:blipFill>
                <a:blip r:embed="rId2"/>
                <a:stretch>
                  <a:fillRect l="-708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299F4AD-9E55-A68B-0ED9-8043192FE8F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609D-6EB4-7217-0DF6-39EFA434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Perfect Substitutes: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05B08A-28E3-862F-945E-6BCE9829EF3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D1C90-1BA4-329D-3765-C513EEDE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8753C-D24C-5766-061B-306D7CF90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373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013F-E1C6-17F0-91C0-AE258D0F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715BEF-116C-9974-56C2-251CA124A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Take the ratio between FOCs (2) and (3):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is clearly not true, and we are stuck at this point. What is happening?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tangency condition does not apply here: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With perfect substitutes, indifference curves are straight lines with a constant slope.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As a result, the optimal choice occurs at a corner solution (in most cases), not at an interior tangency point.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715BEF-116C-9974-56C2-251CA124A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F0E3493-CFDC-CE99-A771-1D7EE886C9F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FE5F5-CC7F-AD4B-2EED-D256D8E2A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Perfect Substitutes: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F0836-B080-A278-B6AB-0B030A77B68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F4EFA-89B6-96B7-A8EC-0C24A328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44579-296A-06D5-45BC-55475082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924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A1A8E-2EFE-5C1C-66CC-157B501F0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326285-FEF7-9CC1-3697-DA6502A91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Graphically, we can see why we rarely find an interior optimum for perfect substitutes</a:t>
                </a:r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Suppose that some bundle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/>
                  <a:t> is an interior optimum for the consumer.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Consider the indifference curve that passes through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We can find bundles that the consumer prefers to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/>
                  <a:t>, which are also in the budget set.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particular, the consumer can choose a bundle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000" dirty="0"/>
                  <a:t> that is both feasible and strictly preferred to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Moving along the budget line in this way, the consumer eventually reaches a corner solution, where all income is spent on good 2.</a:t>
                </a:r>
              </a:p>
              <a:p>
                <a:pPr lvl="1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326285-FEF7-9CC1-3697-DA6502A91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  <a:blipFill>
                <a:blip r:embed="rId2"/>
                <a:stretch>
                  <a:fillRect l="-1197" t="-839" r="-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426708D-86F2-7A6F-2D21-A6A8D278787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101CB-E18D-8FD2-30B8-989EF1BDB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Perfect Substitutes: Visualized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A464B-4C28-82CE-E402-3E282828B3F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090B8-287D-7AB0-F95E-452FCA86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296C6-A8C3-16FC-1D69-3C3264A2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BFEF5C-7E25-BFE0-E62C-3A2F22B44F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508554-B255-744E-6DA7-83C0B7AE2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3EADCA-EBB2-E234-F823-E6FFAB1D2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3B9ECF-F7C4-C85F-2DDA-B2F49CF90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35BF24-9AF5-8A38-6418-974C751256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980D-47E6-2159-61DF-42D9EEAD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09D4E-0DD7-42F0-20F1-C3C941CF09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20252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Although we cannot directly apply the tangency condition, we can use a closely related idea to determine the consumer’s optimal choice.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formulation tells us that the marginal utility per dollar spent should be compared across goods.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latin typeface="Garamond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2000" dirty="0"/>
                  <a:t>, the consumer can increase utility by shifting spending toward good 1.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2000" dirty="0"/>
                  <a:t>, the consumer can increase utility by shifting spending toward good 2.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2000" dirty="0"/>
                  <a:t>, the consumer is indifferent between reallocating spending across goods.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309D4E-0DD7-42F0-20F1-C3C941CF09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202528"/>
              </a:xfrm>
              <a:blipFill>
                <a:blip r:embed="rId2"/>
                <a:stretch>
                  <a:fillRect l="-708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8129558-5115-193D-12E6-2974D27371D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51D70-991C-D6C9-CE86-33445DAB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Perfect Substitutes: Finding the Optimal Bundle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9C84AF-7EAD-9973-3311-809833DB2E3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A1B08-6204-956E-5485-66AF52B3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B2ECC-E67C-6922-118A-4ABB766C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680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7077-6D90-52E8-1D78-F1AE75B3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C43FD-DC8E-6775-1F69-19C35D8C6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4957025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return to the original example we started with: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    2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Finding the marginal utility per dollar spent: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consumer should exclusively purchase good 2, resulting in a corner solution, since it provides a higher level of utility per dollar spent.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0,20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C43FD-DC8E-6775-1F69-19C35D8C6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4957025"/>
              </a:xfrm>
              <a:blipFill>
                <a:blip r:embed="rId2"/>
                <a:stretch>
                  <a:fillRect l="-708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BDC2DA9-FCDA-973B-A4DD-B3B62539F6A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534AC-6855-6036-02F6-0683B1681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Perfect Substitutes: An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1752C-2E87-E63D-C457-00C3AE8791C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E857E-11F9-13AA-59D6-A1DF9C00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FAD6F-D189-D30E-7CA4-633467E2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426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B6B1-7BFB-7D0D-7289-15B0F2549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5F4D94-9D7B-DF15-6390-7CB25D477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some rare cases, perfect substitutes satisfy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.</a:t>
                </a:r>
              </a:p>
              <a:p>
                <a:pPr lvl="2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Graphically, the slope of the budget line and the slope of the indifference curves are identical at every point.</a:t>
                </a:r>
              </a:p>
              <a:p>
                <a:pPr lvl="4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this case, any bundle that exhausts the consumer’s income can be an optimal choice, since all such bundles deliver the same level of utility.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What about perfect complements?</a:t>
                </a:r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5F4D94-9D7B-DF15-6390-7CB25D4775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  <a:blipFill>
                <a:blip r:embed="rId2"/>
                <a:stretch>
                  <a:fillRect l="-1197" t="-839" r="-1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073010-5260-4C8E-3315-87770EB1B4C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1954A9-B466-CBA3-77E9-FE547FFAB8C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</p:spPr>
            <p:txBody>
              <a:bodyPr>
                <a:normAutofit/>
              </a:bodyPr>
              <a:lstStyle/>
              <a:p>
                <a:pPr algn="l">
                  <a:defRPr sz="4000" b="1">
                    <a:solidFill>
                      <a:srgbClr val="FDB913"/>
                    </a:solidFill>
                    <a:latin typeface="Garamond"/>
                  </a:defRPr>
                </a:pPr>
                <a:r>
                  <a:rPr lang="en-US" sz="4000" dirty="0">
                    <a:solidFill>
                      <a:schemeClr val="bg1"/>
                    </a:solidFill>
                  </a:rPr>
                  <a:t>  Perfect Substitutes: When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sz="4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4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0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51954A9-B466-CBA3-77E9-FE547FFAB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10CB940-7B3A-596A-A77B-589212F5DFE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02D2F-31AD-C611-24F1-5DCEECCC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4724A-8BF1-AB38-3914-79156E5B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091B3B-D1D1-322E-D7C0-9354BD04D0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58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3AD5-74CC-5088-E885-E332966E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22FB8-B4C6-212D-C549-8D5D652B74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11895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the case of perfect complements: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lim>
                      </m:limLow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400" b="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b="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.    2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altLang="zh-TW" sz="2400" b="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Why the standard </a:t>
                </a:r>
                <a:r>
                  <a:rPr lang="en-US" altLang="zh-TW" sz="2400" dirty="0" err="1"/>
                  <a:t>Lagrangian</a:t>
                </a:r>
                <a:r>
                  <a:rPr lang="en-US" altLang="zh-TW" sz="2400" dirty="0"/>
                  <a:t> approach breaks down: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utility function is not differentiable at the kink, so marginal utilities are not well defined at the kink.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As a result, the usual first-order conditions do not characterize the optimum.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also rules out our “marginal utility per dollar” comparison.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perfect complements, the optimal choice is determined by the geometry of preferences and the budget constraint, not by marginal conditions.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422FB8-B4C6-212D-C549-8D5D652B74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118950"/>
              </a:xfrm>
              <a:blipFill>
                <a:blip r:embed="rId2"/>
                <a:stretch>
                  <a:fillRect l="-708" t="-1905" r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68D4A2A-2ED3-A3B1-64EF-27B8D122F98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7F19B-AA5B-83A3-96C9-087A55D63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Perfect Complements: The </a:t>
            </a:r>
            <a:r>
              <a:rPr lang="en-US" sz="4000" dirty="0" err="1">
                <a:solidFill>
                  <a:schemeClr val="bg1"/>
                </a:solidFill>
              </a:rPr>
              <a:t>Lagrangian</a:t>
            </a:r>
            <a:r>
              <a:rPr lang="en-US" sz="40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91E53-35B7-804F-D04A-CCD26B24B4D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3A8BC-C3D1-E5C3-BD9A-7579B1E4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8A246-51D9-4F91-2A0E-B4B1E2C6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866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2E68-DB12-417F-775D-B4E6D28AC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9F967-8273-A855-FB3C-B093CDB72B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When it comes to perfect complements, we can directly find the optimal proportion of goods 1 and 2, without relying on marginal utilities.</a:t>
                </a:r>
                <a:endParaRPr lang="en-US" altLang="zh-TW" sz="20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a utility function over perfect complements:</a:t>
                </a:r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optimal mix, which pins down the proportion in which the goods are consumed, is characterized by:</a:t>
                </a:r>
              </a:p>
              <a:p>
                <a:pPr marL="0" indent="0">
                  <a:lnSpc>
                    <a:spcPct val="10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altLang="zh-TW" sz="2000" dirty="0"/>
              </a:p>
              <a:p>
                <a:pPr>
                  <a:lnSpc>
                    <a:spcPct val="10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9F967-8273-A855-FB3C-B093CDB72B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  <a:blipFill>
                <a:blip r:embed="rId2"/>
                <a:stretch>
                  <a:fillRect l="-1197" t="-839" r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0F80074-AA3F-DCB7-C90B-29434AC8FEE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9E634E-AF73-D7B0-9876-F9FF3CE4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Perfect Complements: The Geometry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72DEA-FD88-C8CA-2162-F563A136748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4398E-3EAB-8AEE-C0E5-08D8D926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8E062-BD68-5CB2-7CF3-7A2A549C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9DC64C-13CE-98AF-45F2-8B8AD3CD61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1BF1CD-F59D-E423-6248-D817E7ABD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E2D95-53E0-2F63-34BF-C32C2ABA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For $$u(x_1,x_2)=min\\{x_1,x_2\\}$$, why must $$x_1=x_2$$ at the optimum?
Slide 50</a:t>
            </a:r>
          </a:p>
        </p:txBody>
      </p:sp>
      <p:sp>
        <p:nvSpPr>
          <p:cNvPr id="3" name="Footer Placeholder 2" descr="Poll Everywhere multiple choice poll instructions screen&#10;Activity Title: For $$u(x_1,x_2)=min\\{x_1,x_2\\}$$, why must $$x_1=x_2$$ at the optimum?">
            <a:extLst>
              <a:ext uri="{FF2B5EF4-FFF2-40B4-BE49-F238E27FC236}">
                <a16:creationId xmlns:a16="http://schemas.microsoft.com/office/drawing/2014/main" id="{114889BB-8351-1E70-BBF5-C5EDF120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07010-AE65-69D1-E6FA-A99B6F86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FB6DDF-8636-EEDE-B4E2-5791BB0B371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67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E5A7-1EBF-0310-EACF-BE9FB50C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For $$u(x_1,x_2)=min\\{x_1,x_2\\}$$, why must $$x_1=x_2$$ at the optimum?
Slide 52</a:t>
            </a:r>
          </a:p>
        </p:txBody>
      </p:sp>
      <p:sp>
        <p:nvSpPr>
          <p:cNvPr id="3" name="Footer Placeholder 2" descr="Poll Everywhere multiple choice poll chart screen&#10;Activity Title: For $$u(x_1,x_2)=min\\{x_1,x_2\\}$$, why must $$x_1=x_2$$ at the optimum?">
            <a:extLst>
              <a:ext uri="{FF2B5EF4-FFF2-40B4-BE49-F238E27FC236}">
                <a16:creationId xmlns:a16="http://schemas.microsoft.com/office/drawing/2014/main" id="{C0ECCF21-4FE2-11EF-16A8-57C7555A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581BA-0DE4-454E-F7FA-DEE507D3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650752-81E4-DFB3-10B3-637D98A1BC0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638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53A18-AEDE-ACD2-56F5-E996F4AE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915EC-3A24-6573-1E08-38F6065950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118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the alternate scenarios: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, there are some units of good 1 that are not increasing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 the consumer’s utility.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, there are some units of good 2 that are not increasing to the consumer’s utility.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either case, the consumer could reallocate spending toward the other good and increase utility.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solidFill>
                      <a:schemeClr val="tx1"/>
                    </a:solidFill>
                  </a:rPr>
                  <a:t>So, we can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TW" sz="2400" dirty="0"/>
                  <a:t> alongside the budget constraint to pin down the optimal bundle.</a:t>
                </a:r>
                <a:endParaRPr lang="en-US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915EC-3A24-6573-1E08-38F6065950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118950"/>
              </a:xfrm>
              <a:blipFill>
                <a:blip r:embed="rId2"/>
                <a:stretch>
                  <a:fillRect l="-708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4A7AE8F-1B8C-CA58-69DD-5F0E33BD570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242BA5-1C35-9272-26B1-AE7B0B4142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</p:spPr>
            <p:txBody>
              <a:bodyPr>
                <a:normAutofit/>
              </a:bodyPr>
              <a:lstStyle/>
              <a:p>
                <a:pPr algn="l">
                  <a:defRPr sz="4000" b="1">
                    <a:solidFill>
                      <a:srgbClr val="FDB913"/>
                    </a:solidFill>
                    <a:latin typeface="Garamond"/>
                  </a:defRPr>
                </a:pPr>
                <a:r>
                  <a:rPr lang="en-US" sz="4000" dirty="0">
                    <a:solidFill>
                      <a:schemeClr val="bg1"/>
                    </a:solidFill>
                  </a:rPr>
                  <a:t>  Perfect Complements: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4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4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242BA5-1C35-9272-26B1-AE7B0B414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1794042-ED37-C6EB-6328-D2F9EA3071D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3AE83-E229-62CC-CD51-6CEA1A5E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EC10D-4ABA-88DF-A26F-E91706E8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011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BF6AA-9579-81F2-FC35-57E7D23E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527BF-E88C-0664-D0BB-92AC996F14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4957025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Let’s examine a numerical example: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lim>
                      </m:limLow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    2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optimal ratio in which goods 1 and 2 should be consumed is given by: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Substitute this optimal ratio into the budget constraint to find the optimal bundle: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=20 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2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Therefore, the consumer’s optimal bundle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4,12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527BF-E88C-0664-D0BB-92AC996F1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4957025"/>
              </a:xfrm>
              <a:blipFill>
                <a:blip r:embed="rId2"/>
                <a:stretch>
                  <a:fillRect l="-708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DD8AB4B-8FBF-8DEE-0720-9587B8B2D30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6D0D5-EB58-B72F-5BCD-C1E715DD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Perfect Complements: An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FA498-1327-BD2D-9FD9-481B2056C3B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449A9-9C8A-1856-DE47-BE38533E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500DB-CEC0-B55E-3A21-1CE445DC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16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858D0-2729-91A4-A87F-2B8D6303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474F2-E138-4078-37E1-6E9CF6135069}"/>
              </a:ext>
            </a:extLst>
          </p:cNvPr>
          <p:cNvSpPr txBox="1"/>
          <p:nvPr/>
        </p:nvSpPr>
        <p:spPr>
          <a:xfrm>
            <a:off x="76199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The Utility Maximization Problem: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Extension and Advanced Topics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356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ED5C-37C3-A609-B921-F08F03BA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A6E86-C129-BBE5-DD05-41A6E4C8F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334751" cy="5118950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Utility maximization with more than two goods.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Extending the logic we have developed, we can solve utility maximization problems involving more than two goods or services.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Concavity of the utility function and second-order conditions (SOC).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 far, we have implicitly assumed that the first-order conditions identify a local maximum.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Strictly speaking, the first-order conditions identify all local extrema, including local minima.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Formally, we use second-order (sufficient) conditions to verify that a solution is a local maximum.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Non-negativity constraints and the Karush-Kuhn-Tucker (KKT) conditions.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 far, we have not explicitly imposed the requirement that consumption quantities must be non-negative.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To incorporate non-negativity constraints, we can apply the Karush-Kuhn-Tucker (KKT) conditions.</a:t>
            </a:r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38A82-4991-6BE4-0055-EBC2B5336A1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BFAF2-99E5-E334-DCF1-4D598E0DC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Extension and Advanced Topics in UMP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48EEC-15F6-2EB8-9B43-EABC9471468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02A41-422E-CE49-E939-BFE1DEAC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887C7-8B29-EAF3-B05A-70B92C28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745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5E5E-EAEC-A421-23E0-F1ECB817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C970E9-D20F-B388-B282-C1224A8F2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34751" cy="5118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a consumer choosing among three goods, who must find the optimal bundle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logic remains that the consumer’s subjective trade-offs must balance the market’s objective trade-offs: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b="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Once we have the optimal ratio across goods, we can use the budget constraint to pin down the unique optimal bundle.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C970E9-D20F-B388-B282-C1224A8F2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34751" cy="5118950"/>
              </a:xfrm>
              <a:blipFill>
                <a:blip r:embed="rId2"/>
                <a:stretch>
                  <a:fillRect l="-699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F25F2DF-B468-7499-ABD1-A410267D54F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5C37-C997-E5EF-0589-D47AA011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Extension: UMP with Three Goods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DEBC91-2444-B8FA-7E04-646DDC22299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99925-37D6-28CB-7D81-9CA2CBCA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27635-B31C-360B-A439-D506F50D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068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43FD3-8BF7-FCC6-EC8A-656345E5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3EFDE-7594-17BA-AD00-9922618CEB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34751" cy="5118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consumer has income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=60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 and faces three goods with prices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TW" sz="2400" dirty="0"/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TW" sz="2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400" dirty="0"/>
                  <a:t>, respectively.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=60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consumer’s utility function can be expressed as: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FOCs give us: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3EFDE-7594-17BA-AD00-9922618CEB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34751" cy="5118950"/>
              </a:xfrm>
              <a:blipFill>
                <a:blip r:embed="rId2"/>
                <a:stretch>
                  <a:fillRect l="-699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DD7B564-C05C-D428-A7B1-3FD677C080D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63244-53D0-32D3-9459-C39CB289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Extension: UMP with Three Goods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75847D-4EEF-2F92-829D-691C469AF9B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29235-C425-54C5-61BD-A23981D1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CEB11-ABBA-6F80-9F4F-02F226C7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647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BC47-FD58-ACE9-6BE2-CFFF88A22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8C85D-56BB-46B9-B1BF-5463A50490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34751" cy="5118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From the FOCs, we find that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 dirty="0"/>
                  <a:t> characterize the optimal ratio. 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2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3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TW" sz="20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Plugging the FOCs into the budget constraint, we have: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=60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2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=60    ∵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 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then recover the remaining optimal quantities using the FOCs.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10,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,20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8C85D-56BB-46B9-B1BF-5463A50490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34751" cy="5118950"/>
              </a:xfrm>
              <a:blipFill>
                <a:blip r:embed="rId2"/>
                <a:stretch>
                  <a:fillRect l="-699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F28B319-FD75-E38B-BC76-B4EE6E9A0BC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1F133-5F18-EBBE-2D28-47DA5E2F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Extension: UMP with Three Goods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7CCC0-BF8D-743E-E12D-190FCFA9CC0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893F3-0E4D-321C-311D-E2905399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2E4EA-D1FF-35D2-697A-9A06D65D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228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A3BC8-5939-8B8B-D583-6121B9D4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CE448-E40B-E2F4-EAB3-CC74476A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617855" cy="5081046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be exact, we do need to verify that the bundle we find is indeed a local maximum.</a:t>
            </a:r>
            <a:endParaRPr lang="en-US" altLang="zh-TW" sz="1200" dirty="0"/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 instance, we may instead be finding a local </a:t>
            </a:r>
            <a:r>
              <a:rPr lang="en-US" altLang="zh-TW" sz="2000" i="1" dirty="0"/>
              <a:t>minimum</a:t>
            </a:r>
            <a:r>
              <a:rPr lang="en-US" altLang="zh-TW" sz="2000" dirty="0"/>
              <a:t> if the indifference curves look like those shown on the left.</a:t>
            </a:r>
          </a:p>
          <a:p>
            <a:pPr lvl="3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There are two ways we can handle this problem: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formal way is to derive the bordered Hessian of the utility maximization problem.</a:t>
            </a:r>
          </a:p>
          <a:p>
            <a:pPr lvl="1">
              <a:lnSpc>
                <a:spcPct val="10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We take the informal approach instead, and assume that preferences are strictly convex (with a convex budget set), which guarantees a unique local maximum.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62DA2-9B31-A48F-D0CD-DB4978DA21F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CD447-033D-C2AC-FE38-E3FAABBE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Advanced: Second-order (Sufficient) Conditions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12FACC-D528-D76F-DA90-04CA5FE1934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5DBDE-CA34-1CAC-C546-79A28455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12954-1332-4A53-AAE1-F1C12F50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D1711E-3196-8B10-276E-91FCC93ABF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19615-01BD-416E-D51C-6A47B9445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E7C26-2091-FB1E-5C53-794D822561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34751" cy="51189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• Technically, the consumer’s utility maximization problem can be written as: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 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										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≥0,  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To analyze optimization problems with inequality constraints, we must use the Karush-Kuhn-Tucker (KKT) conditions.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details of this method are beyond the scope of this course.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FE7C26-2091-FB1E-5C53-794D822561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34751" cy="5118950"/>
              </a:xfrm>
              <a:blipFill>
                <a:blip r:embed="rId2"/>
                <a:stretch>
                  <a:fillRect l="-699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2A0F43C-9130-3895-68E3-607BA3A58E9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D7AF4-14C0-99AC-1A6D-61CA8BCE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Advanced: Non-negativity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C0E48E-D97A-9279-3389-4B18FE5F0C6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9AEEF-0C40-EEBC-E979-4077A76C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3F9F7-51DB-B379-6338-3DDF8539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98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D43FB-C5D7-2AF8-162C-574FA4A1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6BC6C-4000-D6A1-36CE-DBA98CBCCCDD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&amp; Preview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417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D0D3-75F9-AC66-E339-9901DE6F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835BB-90E6-3E0A-81B8-DDBC0DDEB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consumer’s choice problem consists of: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utility function: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budget 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TW" sz="2000" dirty="0"/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consumer chooses the feasible bundle that maximizes utility.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budget constraint represents the set of bundles the consumer can afford.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Bundles on the budget line exhaust income.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Bundles below the budget line are affordable but not chosen at an optimum.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835BB-90E6-3E0A-81B8-DDBC0DDEB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2A48173-3450-13BF-C367-F600593798A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89FA8-2460-DC9C-C37C-7D20C806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Choice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01E9F-E8C7-EA86-FD4B-1CFA8B6FAD8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C57A6-7C71-3EE2-8512-42A25F53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60DDE-35FE-3D1B-546A-897387B8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03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25FA-8595-CC0B-1337-8C41407F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A1096-33B2-0E14-AD42-9AFC28BDB6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Marginal Rate of Substitution (MRS) describes the consumer’s local trade-off</a:t>
                </a:r>
                <a:r>
                  <a:rPr lang="en-US" altLang="zh-TW" sz="2000" dirty="0"/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MRS is the slope of the indifference curve at a bundle.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It represents how much of good 2 the consumer is willing to give up for more of good 1.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At an interior optimum, the necessary condition for optimal choice is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𝑀𝑅𝑆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When this condition does not hold: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𝑀𝑅𝑆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2000" dirty="0"/>
                  <a:t>, the consumer wants more good 1.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𝑀𝑅𝑆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sz="2000" dirty="0"/>
                  <a:t>, the consumer wants less good 1.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Corner solutions arise naturally when the MRS does not cross the relative price.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A1096-33B2-0E14-AD42-9AFC28BDB6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CF13FF1-48F8-63AB-4094-A6CCC69950A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CB10F-ED25-36C9-7A1E-C6C61783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Choice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2E7190-40C8-8471-E6FE-1E3CB3BDA08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1FC77-8E60-3C8B-3DE1-BCA93400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DFEB5-1C2D-4CEC-AAD1-30901777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947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A8E4-E7C8-D19D-86D3-030AA6A6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CAFF-9B43-78CA-BAEA-3A38D425E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Next chapter, we ask how choice responds to changes in the economic environment.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focus on two central questions: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does a consumer’s optimal choice change when prices change?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does a consumer’s optimal choice change when income changes?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Using the tools from the choice problem, we will: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Derive the consumer’s demand functions.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Study how demand reflects preferences, prices, and income.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allows us to connect individual optimization to observable demand behavior in markets.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63240C-8227-33CA-AF99-D0EF55886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DD73-7133-E4AA-713D-AD3D76A8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Preview: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64DE4-D134-77A0-9EFC-4F54285A07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F7BE-07A9-1D9E-9E4B-EFBF930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82BC-2D44-4CB1-89DC-762807C2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c6ca2d3-0302-44ee-b85d-5ba457efac4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71a3c08-6fce-46be-b906-9c09b52c403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030bf56-85fd-4715-ae81-7aff30bfd9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d48e11a-3d27-4e59-9d67-b7aa497a8c1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1b35815-8f18-4943-be98-e9a70c3f938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bf75e10-f591-4a81-b556-140cf0e92c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a974083-f1aa-41b2-8f0b-cb7db9717d4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02cd269-381a-489e-a409-53d6f4b4952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d1c119b-22de-4a2a-b3fa-30689aad0c8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3281552-b58d-4272-b7ae-680c1ae895c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6cb1e-6d86-4dae-a983-fa46a00b040a}" enabled="1" method="Standar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7809</TotalTime>
  <Words>5835</Words>
  <Application>Microsoft Office PowerPoint</Application>
  <PresentationFormat>Custom</PresentationFormat>
  <Paragraphs>620</Paragraphs>
  <Slides>64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  Recap: Utility</vt:lpstr>
      <vt:lpstr>  Recap: Budget Line</vt:lpstr>
      <vt:lpstr>  Recap: Indifference Curve</vt:lpstr>
      <vt:lpstr>PowerPoint Presentation</vt:lpstr>
      <vt:lpstr>  Optimal Choice</vt:lpstr>
      <vt:lpstr>Poll Everywhere multiple choice poll instructions screen
Activity Title: Can bundle $$X$$ be the consumer's optimal bundle?
Slide 6</vt:lpstr>
      <vt:lpstr>Poll Everywhere multiple choice poll chart screen
Activity Title: Can bundle $$X$$ be the consumer's optimal bundle?
Slide 8</vt:lpstr>
      <vt:lpstr>  Optimal Choice: Candidate #1</vt:lpstr>
      <vt:lpstr>  Optimal Choice: Candidate #1</vt:lpstr>
      <vt:lpstr>Poll Everywhere multiple choice poll instructions screen
Activity Title: Can bundle $$X$$ be the consumer's optimal bundle?
Slide 10</vt:lpstr>
      <vt:lpstr>Poll Everywhere multiple choice poll chart screen
Activity Title: Can bundle $$X$$ be the consumer's optimal bundle?
Slide 12</vt:lpstr>
      <vt:lpstr>  Optimal Choice: Candidate #2</vt:lpstr>
      <vt:lpstr>  Optimal Choice</vt:lpstr>
      <vt:lpstr>  Optimal Choice</vt:lpstr>
      <vt:lpstr>PowerPoint Presentation</vt:lpstr>
      <vt:lpstr>  MRS and Relative Prices</vt:lpstr>
      <vt:lpstr>  When MRS &gt; Relative Prices</vt:lpstr>
      <vt:lpstr>  When MRS &gt; Relative Prices</vt:lpstr>
      <vt:lpstr>  When MRS &gt; Relative Prices</vt:lpstr>
      <vt:lpstr>  When MRS &lt; Relative Prices</vt:lpstr>
      <vt:lpstr>  When MRS &lt; Relative Prices</vt:lpstr>
      <vt:lpstr>  MRS and Relative Prices</vt:lpstr>
      <vt:lpstr>Poll Everywhere multiple choice poll instructions screen
Activity Title: The condition $$\\frac{MU_1}{MU_2}=\\frac{p_1}{p_2}$$ means that:
Slide 24</vt:lpstr>
      <vt:lpstr>Poll Everywhere multiple choice poll chart screen
Activity Title: The condition $$\\frac{MU_1}{MU_2}=\\frac{p_1}{p_2}$$ means that:
Slide 26</vt:lpstr>
      <vt:lpstr>PowerPoint Presentation</vt:lpstr>
      <vt:lpstr>  Constrained Optimization</vt:lpstr>
      <vt:lpstr>  The Lagrangian: Setup &amp; First-order Conditions</vt:lpstr>
      <vt:lpstr>  The Lagrangian: Optimal Ratio</vt:lpstr>
      <vt:lpstr>  The Lagrangian: Geometry of the Optimal Ratio</vt:lpstr>
      <vt:lpstr>  The Lagrangian: Optimal Bundle</vt:lpstr>
      <vt:lpstr>  Detour: The Lagrange Multiplier</vt:lpstr>
      <vt:lpstr>PowerPoint Presentation</vt:lpstr>
      <vt:lpstr>  The Lagrangian: An Example</vt:lpstr>
      <vt:lpstr>  The Lagrangian: An Example</vt:lpstr>
      <vt:lpstr>  The Lagrangian: An Example</vt:lpstr>
      <vt:lpstr>  The Lagrangian: An Example</vt:lpstr>
      <vt:lpstr>PowerPoint Presentation</vt:lpstr>
      <vt:lpstr>  Interior vs. Boundary Optimum</vt:lpstr>
      <vt:lpstr>Poll Everywhere multiple choice poll instructions screen
Activity Title: Why would a Cobb–Douglas utility function almost never result in a corner solution?
Slide 38</vt:lpstr>
      <vt:lpstr>Poll Everywhere multiple choice poll chart screen
Activity Title: Why would a Cobb–Douglas utility function almost never result in a corner solution?
Slide 40</vt:lpstr>
      <vt:lpstr>  Perfect Substitutes: The Lagrangian?</vt:lpstr>
      <vt:lpstr>  Perfect Substitutes: The Lagrangian?</vt:lpstr>
      <vt:lpstr>  Perfect Substitutes: Visualized</vt:lpstr>
      <vt:lpstr>  Perfect Substitutes: Finding the Optimal Bundle</vt:lpstr>
      <vt:lpstr>  Perfect Substitutes: An Example</vt:lpstr>
      <vt:lpstr>  Perfect Substitutes: When MU_1/p_1=MU_2/p_2</vt:lpstr>
      <vt:lpstr>  Perfect Complements: The Lagrangian?</vt:lpstr>
      <vt:lpstr>  Perfect Complements: The Geometry</vt:lpstr>
      <vt:lpstr>Poll Everywhere multiple choice poll instructions screen
Activity Title: For $$u(x_1,x_2)=min\\{x_1,x_2\\}$$, why must $$x_1=x_2$$ at the optimum?
Slide 50</vt:lpstr>
      <vt:lpstr>Poll Everywhere multiple choice poll chart screen
Activity Title: For $$u(x_1,x_2)=min\\{x_1,x_2\\}$$, why must $$x_1=x_2$$ at the optimum?
Slide 52</vt:lpstr>
      <vt:lpstr>  Perfect Complements: Why c_1 x_1^∗=c_2 x_2^∗?</vt:lpstr>
      <vt:lpstr>  Perfect Complements: An Example</vt:lpstr>
      <vt:lpstr>PowerPoint Presentation</vt:lpstr>
      <vt:lpstr>  Extension and Advanced Topics in UMP</vt:lpstr>
      <vt:lpstr>  Extension: UMP with Three Goods</vt:lpstr>
      <vt:lpstr>  Extension: UMP with Three Goods</vt:lpstr>
      <vt:lpstr>  Extension: UMP with Three Goods</vt:lpstr>
      <vt:lpstr>  Advanced: Second-order (Sufficient) Conditions</vt:lpstr>
      <vt:lpstr>  Advanced: Non-negativity Constraints</vt:lpstr>
      <vt:lpstr>PowerPoint Presentation</vt:lpstr>
      <vt:lpstr>  Recap: Choice</vt:lpstr>
      <vt:lpstr>  Recap: Choice</vt:lpstr>
      <vt:lpstr>  Preview: Demand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257</cp:revision>
  <dcterms:created xsi:type="dcterms:W3CDTF">2013-01-27T09:14:16Z</dcterms:created>
  <dcterms:modified xsi:type="dcterms:W3CDTF">2026-01-25T22:44:16Z</dcterms:modified>
  <cp:category/>
</cp:coreProperties>
</file>