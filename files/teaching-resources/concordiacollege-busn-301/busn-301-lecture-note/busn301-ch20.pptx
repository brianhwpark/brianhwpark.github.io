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706" r:id="rId3"/>
    <p:sldId id="707" r:id="rId4"/>
    <p:sldId id="376" r:id="rId5"/>
    <p:sldId id="708" r:id="rId6"/>
    <p:sldId id="709" r:id="rId7"/>
    <p:sldId id="723" r:id="rId8"/>
    <p:sldId id="725" r:id="rId9"/>
    <p:sldId id="711" r:id="rId10"/>
    <p:sldId id="710" r:id="rId11"/>
    <p:sldId id="726" r:id="rId12"/>
    <p:sldId id="727" r:id="rId13"/>
    <p:sldId id="712" r:id="rId14"/>
    <p:sldId id="729" r:id="rId15"/>
    <p:sldId id="732" r:id="rId16"/>
    <p:sldId id="713" r:id="rId17"/>
    <p:sldId id="714" r:id="rId18"/>
    <p:sldId id="715" r:id="rId19"/>
    <p:sldId id="716" r:id="rId20"/>
    <p:sldId id="733" r:id="rId21"/>
    <p:sldId id="734" r:id="rId22"/>
    <p:sldId id="718" r:id="rId23"/>
    <p:sldId id="719" r:id="rId24"/>
    <p:sldId id="720" r:id="rId25"/>
    <p:sldId id="599" r:id="rId26"/>
    <p:sldId id="647" r:id="rId27"/>
    <p:sldId id="722" r:id="rId28"/>
    <p:sldId id="422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96" y="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Suppose that a firm finds that $$p\\cdot MP_1&gt;\\omega_1$$. What should it do?
https://www.polleverywhere.com/multiple_choice_polls/PwtpXd9rzEYypJRPzNNuf?display_state=instructions&amp;activity_state=opened&amp;state=opened&amp;flow=Engagement&amp;onscreen=persist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D27EEE-4E7F-CFD1-B7B8-D0BCE2B9CA7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3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Suppose that a firm finds that $$p\\cdot MP_1&gt;\\omega_1$$. What should it do?
https://www.polleverywhere.com/multiple_choice_polls/PwtpXd9rzEYypJRPzNNuf?display_state=chart&amp;activity_state=closed&amp;state=closed&amp;flow=Engagement&amp;onscreen=persist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74A19-EFBE-83E3-7982-DD865518FC2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45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8114D-31B9-4B78-9ACC-70FB90027BFD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1F65B-C187-4F2E-97E4-866F44D3FEC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0CE8C-B3D2-4FED-8171-A22B1E84AA49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7D79-C197-49E5-840E-62EF773E40EB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C717-ACD6-42B4-B4D2-A00897526083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F010-C38E-44B3-A11D-B9CE0300A741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442EE-45D9-4220-A88F-EE689B9875C3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1C2B-1683-45DB-88D6-369C6CB6AB24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B611B-DC9D-42DB-B865-14DB93E316AF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F4A91-75B0-4800-B4E2-20956DB94300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51350-1A97-42BE-B68B-7AD85E4EDCBF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B8D4B9-4EE2-4C3D-B367-BE7622E78789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 Intermediate Microeconomic Theory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200" dirty="0"/>
              <a:t>I</a:t>
            </a:r>
            <a:r>
              <a:rPr lang="en-US" sz="3600" dirty="0"/>
              <a:t>NTERMEDIATE </a:t>
            </a:r>
            <a:r>
              <a:rPr lang="en-US" sz="4200" dirty="0"/>
              <a:t>M</a:t>
            </a:r>
            <a:r>
              <a:rPr lang="en-US" sz="3600" dirty="0"/>
              <a:t>ICROECONOMIC </a:t>
            </a:r>
            <a:r>
              <a:rPr lang="en-US" sz="4200" dirty="0"/>
              <a:t>T</a:t>
            </a:r>
            <a:r>
              <a:rPr lang="en-US" sz="3600" dirty="0"/>
              <a:t>HEORY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Chapter 20: Profit Maximization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A5A93-A992-4CC2-997D-654F3E452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617BF-D112-37FA-0024-9815E9FAC4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firm’s production technology describes how inputs are transformed into output: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production function describes the boundary of the production set: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production set is the set of all technologically feasible input-output combinations.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 isoquant is the set of input combinations that produce a fixed level of output: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marginal product of input 1: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12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Measures additional output from increasing one input, holding others fixed.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Diminishes under the law of diminishing marginal product.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5C0C756-6C14-5321-A7F2-A8B1F2D27A8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F3C423-7DF9-3F99-E5EF-CE4CBB2A4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Technology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1D0EE1-B768-0A1F-26CA-28147B9DF86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31860-2571-06D0-D4EF-EFAECE5D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921A8-A361-F2F8-5E84-23A10F0B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6938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0B53-3656-B095-219C-FFCA2063E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01FDA0-7F3E-08FC-A01A-3822DBA498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marginal rate of technical substitution: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𝑅𝑇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(negative) slope of the isoquant, typically interpreted in absolute value.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Diminishes when the production technology of the firm is convex.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Returns to scale describe proportional changes in all inputs: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⋚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Increasing returns to scale.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Constant returns to scale.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sz="2000" dirty="0"/>
                  <a:t>Decreasing returns to scale.</a:t>
                </a:r>
                <a:endParaRPr lang="en-US" altLang="zh-TW" sz="20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155775-B779-8AED-C40A-2FDFD4521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09828C6-0652-E644-A3FA-8C595649668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B9896-59EF-A70D-50DA-E0094BFC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Technology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23FEB-4FC9-844B-2DF3-792141A3C74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AA6EC-24E9-80E5-1C34-D6B40DF2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11002-292E-9A17-ABF1-D7F2EE922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700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DDB4B-70EB-D813-2CBD-F9DCC9FA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96D899-59D5-9E41-D3B6-CE5808862787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Profit Maximization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in the Short Run</a:t>
            </a:r>
          </a:p>
        </p:txBody>
      </p:sp>
    </p:spTree>
    <p:extLst>
      <p:ext uri="{BB962C8B-B14F-4D97-AF65-F5344CB8AC3E}">
        <p14:creationId xmlns:p14="http://schemas.microsoft.com/office/powerpoint/2010/main" val="411802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5F59E-F280-19CD-263E-EFD63FF2B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CF2C9-A036-6597-721B-AA32F56D54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firm’s </a:t>
                </a:r>
                <a:r>
                  <a:rPr lang="en-US" altLang="zh-TW" sz="2400" b="1" dirty="0"/>
                  <a:t>profit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en-US" altLang="zh-TW" sz="2400" dirty="0"/>
                  <a:t> is its total revenue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400" dirty="0"/>
                  <a:t>minus its total cost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𝑇𝐶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𝑇𝐶</m:t>
                      </m:r>
                    </m:oMath>
                  </m:oMathPara>
                </a14:m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that the firm: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Produces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000" dirty="0"/>
                  <a:t> outputs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, where each output’s market price is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Uses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/>
                  <a:t> of inputs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, where each input’s unit cost is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groupChr>
                        </m:e>
                        <m:li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𝑇𝑅</m:t>
                          </m:r>
                        </m:lim>
                      </m:limLow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groupChr>
                        </m:e>
                        <m:lim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</m:lim>
                      </m:limLow>
                    </m:oMath>
                  </m:oMathPara>
                </a14:m>
                <a:endParaRPr lang="en-US" altLang="zh-TW" sz="20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Some inputs may be fixed in the short run, but in the long run all inputs are variable.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4CF2C9-A036-6597-721B-AA32F56D54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2D043D0-6102-40CC-6B99-B615FFDBF91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447567-C5FF-FECD-E51A-F0B09FE3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Profit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D64AA-FD94-C4F1-8E1B-53353332D9F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C2250-989D-A7AA-1CE4-E11D4497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5CBDC-33F3-82CF-E343-A8EDBA0D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672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17884-4754-77EE-0CF8-6D7CA5266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61540-1428-FC8E-4084-89E34E0C5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us simplify and assume the firm produces one output using two inputs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, where input 2 is fixed at a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. The firm’s profit maximization problem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sz="2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sz="2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groupChr>
                            </m:e>
                            <m:lim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lim>
                          </m:limLow>
                        </m:e>
                      </m:func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first-order condition for profit maximization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𝜕𝜋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=0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=0   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value of the marginal product of a factor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 equals the factor’s price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61540-1428-FC8E-4084-89E34E0C5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5BB3F27-E78C-B4D5-9B27-E42778C0D65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1CA4E8-55CA-C815-70F4-84B13CC75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Short Run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D6E3C7-DAF5-588A-273F-4065F4DA85D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5EEDE-9411-1A5C-9DAF-7C6583187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BD8C1D-0831-AD48-F728-AB6058D4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470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861B-D16E-DE46-0DD3-ED235D62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instructions screen
Activity Title: Suppose that a firm finds that $$p\\cdot MP_1&gt;\\omega_1$$. What should it do?
Slide 7</a:t>
            </a:r>
          </a:p>
        </p:txBody>
      </p:sp>
      <p:sp>
        <p:nvSpPr>
          <p:cNvPr id="3" name="Footer Placeholder 2" descr="Poll Everywhere multiple choice poll instructions screen&#10;Activity Title: Suppose that a firm finds that $$p\\cdot MP_1&gt;\\omega_1$$. What should it do?">
            <a:extLst>
              <a:ext uri="{FF2B5EF4-FFF2-40B4-BE49-F238E27FC236}">
                <a16:creationId xmlns:a16="http://schemas.microsoft.com/office/drawing/2014/main" id="{7F30EDE0-43E9-12BC-C28A-C53FCF82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7B319-D171-51FD-DE9B-B4B51118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2D341A-8294-E2B5-7BB6-6D35E24C84B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520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8992-DB35-1788-3D06-CE1D719D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chart screen
Activity Title: Suppose that a firm finds that $$p\\cdot MP_1&gt;\\omega_1$$. What should it do?
Slide 9</a:t>
            </a:r>
          </a:p>
        </p:txBody>
      </p:sp>
      <p:sp>
        <p:nvSpPr>
          <p:cNvPr id="3" name="Footer Placeholder 2" descr="Poll Everywhere multiple choice poll chart screen&#10;Activity Title: Suppose that a firm finds that $$p\\cdot MP_1&gt;\\omega_1$$. What should it do?">
            <a:extLst>
              <a:ext uri="{FF2B5EF4-FFF2-40B4-BE49-F238E27FC236}">
                <a16:creationId xmlns:a16="http://schemas.microsoft.com/office/drawing/2014/main" id="{08D5D079-A7C9-D9C1-0392-C7DBB3F1B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 Intermediate Microeconomic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E6C6E-1837-6E35-BA05-43637571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E6A3A0-C630-8DEA-2CE6-E44FA9CF61A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3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3D23-4C11-8950-AA70-5684DA0D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38A2A-0CB1-4629-0812-569D771B5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increases its use of input 1 by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, which increases output by </a:t>
                </a:r>
                <a14:m>
                  <m:oMath xmlns:m="http://schemas.openxmlformats.org/officeDocument/2006/math">
                    <m:r>
                      <a:rPr lang="en-US" altLang="zh-TW" sz="2400" i="1" dirty="0" err="1" smtClean="0"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US" altLang="zh-TW" sz="2400" dirty="0"/>
                  <a:t>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TW" sz="2400" b="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firm’s revenue increases by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, and its cost increases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If revenue increases by more than cost, the firm should increase its use of input 1: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𝑝𝑀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zh-TW" sz="2400" dirty="0"/>
                  <a:t>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If revenue increases by less than cost, the firm should decrease its use of input 1: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𝑝𝑀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altLang="zh-TW" sz="2400" dirty="0"/>
                  <a:t>Decrease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Therefore, the firm is profit-maximizing when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𝑝𝑀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838A2A-0CB1-4629-0812-569D771B5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6925F49-7436-613E-DDF3-ADF1CF11726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0E01EF-E33F-E533-6915-09B7D67039B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</p:spPr>
            <p:txBody>
              <a:bodyPr>
                <a:normAutofit/>
              </a:bodyPr>
              <a:lstStyle/>
              <a:p>
                <a:pPr algn="l">
                  <a:defRPr sz="4000" b="1">
                    <a:solidFill>
                      <a:srgbClr val="FDB913"/>
                    </a:solidFill>
                    <a:latin typeface="Garamond"/>
                  </a:defRPr>
                </a:pPr>
                <a:r>
                  <a:rPr lang="en-US" sz="4000" dirty="0">
                    <a:solidFill>
                      <a:schemeClr val="bg1"/>
                    </a:solidFill>
                  </a:rPr>
                  <a:t>  Why </a:t>
                </a:r>
                <a14:m>
                  <m:oMath xmlns:m="http://schemas.openxmlformats.org/officeDocument/2006/math">
                    <m:r>
                      <a:rPr lang="en-US" altLang="zh-TW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TW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a:rPr lang="en-US" altLang="zh-TW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</m:t>
                    </m:r>
                    <m:sSub>
                      <m:sSubPr>
                        <m:ctrlP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TW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TW" sz="40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30E01EF-E33F-E533-6915-09B7D67039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155ED0F-7CCB-DA03-1742-90B34E957982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3B24D-1F7F-5840-06FD-93E4546A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89A68-FE11-3372-5899-F4AC3724C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8116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54B8F-3AB5-5451-F399-6996B4A1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8CE06-5F40-96EF-A430-4A44681D2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 </a:t>
                </a:r>
                <a:r>
                  <a:rPr lang="en-US" altLang="zh-TW" sz="2400" b="1" dirty="0" err="1"/>
                  <a:t>isoprofit</a:t>
                </a:r>
                <a:r>
                  <a:rPr lang="en-US" altLang="zh-TW" sz="2400" dirty="0"/>
                  <a:t> curve shows all input-output combinations that yield the same level of profit: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altLang="zh-TW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point at which the </a:t>
                </a:r>
                <a:r>
                  <a:rPr lang="en-US" altLang="zh-TW" sz="2400" dirty="0" err="1"/>
                  <a:t>isoprofit</a:t>
                </a:r>
                <a:r>
                  <a:rPr lang="en-US" altLang="zh-TW" sz="2400" dirty="0"/>
                  <a:t> curve is tangent to the production function is profit-maximizing: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𝑝𝑀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slope of the production function is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slope of the </a:t>
                </a:r>
                <a:r>
                  <a:rPr lang="en-US" altLang="zh-TW" sz="2000" dirty="0" err="1"/>
                  <a:t>isoprofit</a:t>
                </a:r>
                <a:r>
                  <a:rPr lang="en-US" altLang="zh-TW" sz="2000" dirty="0"/>
                  <a:t> curve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8CE06-5F40-96EF-A430-4A44681D2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1E4360C-DE2B-6C80-770A-A5A8850C6CD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9C728-1F5E-CE35-B5E6-3DA7335E4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Short Run Profit Maximization: </a:t>
            </a:r>
            <a:r>
              <a:rPr lang="en-US" sz="4000" dirty="0" err="1">
                <a:solidFill>
                  <a:schemeClr val="bg1"/>
                </a:solidFill>
              </a:rPr>
              <a:t>Isoprofit</a:t>
            </a:r>
            <a:r>
              <a:rPr lang="en-US" sz="4000" dirty="0">
                <a:solidFill>
                  <a:schemeClr val="bg1"/>
                </a:solidFill>
              </a:rPr>
              <a:t> Curves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0BF028-1A09-D208-AC93-F0123769F3D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50F1C-42C6-478E-1384-C43CBCEC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597BB-6870-DF39-A419-88DB8967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117227-DAA8-F468-8608-9F2B1182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FA56BF-AF2D-64E7-92B1-AB1BF65F2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E992-A198-1D81-E3CF-8DBF4D23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228EED-65C6-69FD-8FF5-69EEC2DE2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is operating in competitive output and input markets. In the output market, the firm’s output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sz="2400" dirty="0"/>
                  <a:t> is sold at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altLang="zh-TW" sz="2400" dirty="0"/>
                  <a:t>. The firm uses two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which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altLang="zh-TW" sz="2400" dirty="0"/>
                  <a:t>, respectively, in the competitive input market. In the short-run, the firm’s input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 is fixed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. Suppose that the firm’s technology is given by: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 the profit maximizing level of inputs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Set up the profit function.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Find the first-order condition(s).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Find the optimal levels of input(s).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228EED-65C6-69FD-8FF5-69EEC2DE2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DAE13CD-1BE1-737D-26AE-A1B4E227BB1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BCE62-5F49-D17C-8E2C-66E6ADAA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EB23E-B1F4-7F80-38D0-2AE7C415497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45859-22E1-6D04-1812-824B8767D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A06D1-0BE0-3D6D-7A47-5A9F4D7D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53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AE0B9-EE42-0C42-51B7-F2E307D9C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35522-1035-0EF4-AA4C-717D855216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Set up the profit function:</a:t>
                </a:r>
              </a:p>
              <a:p>
                <a:pPr marL="457200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			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>
                    <a:ea typeface="Cambria Math" panose="02040503050406030204" pitchFamily="18" charset="0"/>
                  </a:rPr>
                  <a:t>					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+5−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</m:t>
                    </m:r>
                  </m:oMath>
                </a14:m>
                <a:endParaRPr lang="en-US" altLang="zh-TW" sz="2400" dirty="0"/>
              </a:p>
              <a:p>
                <a:pPr marL="1714500" lvl="3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 the first-order condition (FOC):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 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5−2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−30=0</m:t>
                    </m:r>
                  </m:oMath>
                </a14:m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0−20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−30=0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short-run profit maximizing inputs are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735522-1035-0EF4-AA4C-717D855216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5782FFD-3743-4FC8-CD8E-1B15DD0E5DB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8B857-1553-58CD-FF49-17241B58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7C0126-2CD5-D564-3F1F-891416A9FAE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36206-8F31-B278-66F9-96CB8845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F683E-C061-F221-AFEB-77ED0460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858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0177-EF48-BBFA-7E23-2F31DF5E1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21903C-35B1-949C-E75D-B7B7AD57D6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When either the output price increases or the price of a factor decreases, the firm’s optimal output increases due to: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Increased revenue from selling each unit 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Reduced input costs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If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altLang="zh-TW" sz="2400" dirty="0"/>
                  <a:t> 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altLang="zh-TW" sz="2400" dirty="0"/>
                  <a:t>, the </a:t>
                </a:r>
                <a:r>
                  <a:rPr lang="en-US" altLang="zh-TW" sz="2400" dirty="0" err="1"/>
                  <a:t>isoprofit</a:t>
                </a:r>
                <a:r>
                  <a:rPr lang="en-US" altLang="zh-TW" sz="2400" dirty="0"/>
                  <a:t> curve becomes flatter, leading to an increase in both input use and output.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Meanwhile, if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n-US" altLang="zh-TW" sz="2400" dirty="0"/>
                  <a:t> 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altLang="zh-TW" sz="2400" dirty="0"/>
                  <a:t>, the </a:t>
                </a:r>
                <a:r>
                  <a:rPr lang="en-US" altLang="zh-TW" sz="2400" dirty="0" err="1"/>
                  <a:t>isoprofit</a:t>
                </a:r>
                <a:r>
                  <a:rPr lang="en-US" altLang="zh-TW" sz="2400" dirty="0"/>
                  <a:t> curve becomes steeper, leading to a decrease in both input use and output.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21903C-35B1-949C-E75D-B7B7AD57D6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3208" y="1300900"/>
                <a:ext cx="6717792" cy="5081046"/>
              </a:xfrm>
              <a:blipFill>
                <a:blip r:embed="rId2"/>
                <a:stretch>
                  <a:fillRect l="-1270" t="-1319" r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8076F8B-4CB7-8DA4-5627-2D8DDA603F09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1B7183-4203-F08E-C331-A92AFAC5C40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</p:spPr>
            <p:txBody>
              <a:bodyPr>
                <a:normAutofit/>
              </a:bodyPr>
              <a:lstStyle/>
              <a:p>
                <a:pPr algn="l">
                  <a:defRPr sz="4000" b="1">
                    <a:solidFill>
                      <a:srgbClr val="FDB913"/>
                    </a:solidFill>
                    <a:latin typeface="Garamond"/>
                  </a:defRPr>
                </a:pPr>
                <a:r>
                  <a:rPr lang="en-US" sz="4000" dirty="0">
                    <a:solidFill>
                      <a:schemeClr val="bg1"/>
                    </a:solidFill>
                  </a:rPr>
                  <a:t>  Comparative Statics: Changes in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1B7183-4203-F08E-C331-A92AFAC5C4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0F70DFA-ADDE-1AB5-D6AB-4FE230E528DB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F6AEA-5A68-85C3-33B3-E9DFEB843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45484-FD2D-38A4-946E-1110121A5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C521B-80D0-4297-E98F-D8A878EFB2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8E4921-74A3-506A-C830-19252890F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1427532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22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4E5C-5131-712B-DC14-09554DA9A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97968-B439-006F-7871-285EC64896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Consider the firm from our previous example. The unit price of output remains at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altLang="zh-TW" sz="2400" dirty="0"/>
                  <a:t>. The firm still uses two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which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altLang="zh-TW" sz="2400" dirty="0"/>
                  <a:t>, respectively. So, the price of input 1 fell from 30 to 10. The firm’s production technology remains: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+5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 the profit maximizing level of inputs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Set up the profit function.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Find the first-order condition(s).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Find the optimal levels of input(s).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B97968-B439-006F-7871-285EC64896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8857473-E104-CF1E-BB5A-00017D8EB6C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5B502-1D2B-F15A-FB53-C0D657EB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Short Run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A63AC-DB66-E465-EE0D-6A3DC49049C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8738A-6EC0-7694-AB7A-23E551F84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F6A89-7C28-1FCD-152B-F3E1A169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5184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A8DD-A7C1-1C63-1DF8-995C2AC4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247D9-C7BF-4951-C6FE-B2BF9CF6C9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Set up the profit function:</a:t>
                </a:r>
              </a:p>
              <a:p>
                <a:pPr marL="457200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			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>
                    <a:ea typeface="Cambria Math" panose="02040503050406030204" pitchFamily="18" charset="0"/>
                  </a:rPr>
                  <a:t>					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+5−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−10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</m:t>
                    </m:r>
                  </m:oMath>
                </a14:m>
                <a:endParaRPr lang="en-US" altLang="zh-TW" sz="2400" dirty="0"/>
              </a:p>
              <a:p>
                <a:pPr marL="1714500" lvl="3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 the first-order condition (FOC):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 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5−2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−10=0</m:t>
                    </m:r>
                  </m:oMath>
                </a14:m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0−20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−10=0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short-run profit maximizing inputs are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3247D9-C7BF-4951-C6FE-B2BF9CF6C9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9963B2B-DED5-E9EA-F7F9-6BB12DE215D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02063-98D6-5CAB-E93A-3DEF4C96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Short Run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108BE-CF99-9FBB-B441-D3584E281E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30329-AFA5-7CCA-4E4A-4D97E9F9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C39AE-A49E-330B-DC71-3F2031C2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100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B100F-5723-97F4-8EA7-944CA8D2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BF8C8-1D03-6B70-3231-86A3C71B09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 and second-order conditions for profit maximization are: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FOC: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,		SOC: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start from the tangency condition (production function and </a:t>
                </a:r>
                <a:r>
                  <a:rPr lang="en-US" altLang="zh-TW" sz="2400" dirty="0" err="1"/>
                  <a:t>isoprofit</a:t>
                </a:r>
                <a:r>
                  <a:rPr lang="en-US" altLang="zh-TW" sz="2400" dirty="0"/>
                  <a:t>):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		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We verify that the demand for input 1 decreases as its price increases, confirming the graphical analysis.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BBF8C8-1D03-6B70-3231-86A3C71B0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A231DB7-EA7F-CB29-0030-2DE82948828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F14EDB-73C6-9179-E8E7-AAF26BD1A3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</p:spPr>
            <p:txBody>
              <a:bodyPr>
                <a:normAutofit/>
              </a:bodyPr>
              <a:lstStyle/>
              <a:p>
                <a:pPr algn="l">
                  <a:defRPr sz="4000" b="1">
                    <a:solidFill>
                      <a:srgbClr val="FDB913"/>
                    </a:solidFill>
                    <a:latin typeface="Garamond"/>
                  </a:defRPr>
                </a:pPr>
                <a:r>
                  <a:rPr lang="en-US" sz="4000" dirty="0">
                    <a:solidFill>
                      <a:schemeClr val="bg1"/>
                    </a:solidFill>
                  </a:rPr>
                  <a:t>  Comparative Statics: Changes in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F14EDB-73C6-9179-E8E7-AAF26BD1A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7E01792-94A2-B8F0-D5EB-85B5F05A0E65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5AA27-E2E8-4174-B39E-F74AFB4E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E3C1F-1220-6CB0-6B68-E29ADBE1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56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482B-685B-206B-BF51-CBBB2275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1C2E2-ADE5-A1A5-2315-B84C2F3E4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Similarly, we can verify that the demand for input 1 increases as the output price increases: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				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You will not be tested on the mathematical derivations of these two results (slides 12 &amp; 13). 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Understanding the graph and logic of the comparative statics is sufficient.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What happens when the market price of the output falls?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What happens when the price of factor of production falls?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1C2E2-ADE5-A1A5-2315-B84C2F3E4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1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F969169-C1AF-792E-A160-872F036AF8B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B1E1F7-0F1C-2244-EB5E-AB4F93CD6A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</p:spPr>
            <p:txBody>
              <a:bodyPr>
                <a:normAutofit/>
              </a:bodyPr>
              <a:lstStyle/>
              <a:p>
                <a:pPr algn="l">
                  <a:defRPr sz="4000" b="1">
                    <a:solidFill>
                      <a:srgbClr val="FDB913"/>
                    </a:solidFill>
                    <a:latin typeface="Garamond"/>
                  </a:defRPr>
                </a:pPr>
                <a:r>
                  <a:rPr lang="en-US" sz="4000" dirty="0">
                    <a:solidFill>
                      <a:schemeClr val="bg1"/>
                    </a:solidFill>
                  </a:rPr>
                  <a:t>  Comparative Statics: Changes in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40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BB1E1F7-0F1C-2244-EB5E-AB4F93CD6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88825" cy="923636"/>
              </a:xfr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DF10E5C-BD27-F894-C6B7-EC12AF14B92C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0BB2E-2F2D-DC9A-DF2F-EDC03210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DD50F-AAF7-B4B4-0FBC-B7B5B1B9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912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D6635-1478-759B-D730-9541A6EC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6DF786-1312-35DF-DC80-53CB1D14EBA9}"/>
              </a:ext>
            </a:extLst>
          </p:cNvPr>
          <p:cNvSpPr txBox="1"/>
          <p:nvPr/>
        </p:nvSpPr>
        <p:spPr>
          <a:xfrm>
            <a:off x="0" y="2705725"/>
            <a:ext cx="121888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Profit Maximization</a:t>
            </a:r>
          </a:p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858399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50CFE-98D6-6CB3-2086-D0D97ABDA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B714A-EB67-4D64-FE44-7AB6CBC688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In the long run, all inputs are variable, so the profit maximization problem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optimal conditions are the same as before, but applied to both factors of production: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,   ∀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result is the (unconditional) </a:t>
                </a:r>
                <a:r>
                  <a:rPr lang="en-US" altLang="zh-TW" sz="2400" b="1" dirty="0"/>
                  <a:t>factor demand</a:t>
                </a:r>
                <a:r>
                  <a:rPr lang="en-US" altLang="zh-TW" sz="2400" dirty="0"/>
                  <a:t>, which states that each factor is hired up to the point where its value of marginal product equals its price: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457200" lvl="1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   ∀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B714A-EB67-4D64-FE44-7AB6CBC688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9102BDF-0B97-AF1E-0743-D0FAEEE216A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4781F-0202-9074-7AA9-45A4CA8E0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Long Run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642981-BF8C-3E72-F3BC-9DFAA1E5F49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BB0DA-9EC2-C1E6-BAE5-70E5833B4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44E25-5577-2B0F-4D83-A63D30F9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804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03171-2262-E3C9-0E88-4C06783B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C2C0E8-3C07-54FA-CEA5-2A3491235E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a firm is operating in competitive output and input markets. In the output market, the firm’s output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sz="2400" dirty="0"/>
                  <a:t> is sold at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altLang="zh-TW" sz="2400" dirty="0"/>
                  <a:t>. The firm uses two inputs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/>
                  <a:t>, which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altLang="zh-TW" sz="2400" dirty="0"/>
                  <a:t>, respectively, in the competitive input market. Suppose that the firm’s technology is given by: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6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+5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 the profit maximizing level of inputs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400" dirty="0"/>
                  <a:t>: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Set up the profit function.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Find the first-order condition(s).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Find the optimal levels of input(s).</a:t>
                </a:r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C2C0E8-3C07-54FA-CEA5-2A3491235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 r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3DD7C7-D8FA-48F4-E972-CDD1AA27563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DC3FC-9C87-5F87-44E9-EA5E2014B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Long Run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3B13F-26C7-1B43-136E-963D7C2BE4F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132B6-8599-E42F-FC2B-D73D7A8A5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80880-0156-5946-5EC7-32F345C8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1595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A265-2754-C37D-1CCB-A45351C27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BC077-F632-E50E-9A47-CC046F675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Set up the profit function:</a:t>
                </a:r>
              </a:p>
              <a:p>
                <a:pPr marL="457200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							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TW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>
                    <a:ea typeface="Cambria Math" panose="02040503050406030204" pitchFamily="18" charset="0"/>
                  </a:rPr>
                  <a:t>					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=10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+5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zh-TW" sz="2400" dirty="0"/>
              </a:p>
              <a:p>
                <a:pPr marL="1714500" lvl="3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Find the first-order conditions (FOCs):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						 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5−2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−30=0</m:t>
                    </m:r>
                  </m:oMath>
                </a14:m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𝜕𝜋</m:t>
                        </m:r>
                      </m:num>
                      <m:den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=0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5−2</m:t>
                        </m:r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−30=0</m:t>
                    </m:r>
                  </m:oMath>
                </a14:m>
                <a:endParaRPr lang="en-US" altLang="zh-TW" sz="5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long-run profit maximizing inputs are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/>
                  <a:t>.</a:t>
                </a:r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 marL="857250" lvl="1" indent="-457200">
                  <a:lnSpc>
                    <a:spcPct val="95000"/>
                  </a:lnSpc>
                  <a:spcBef>
                    <a:spcPts val="1000"/>
                  </a:spcBef>
                  <a:buFont typeface="+mj-lt"/>
                  <a:buAutoNum type="arabicPeriod"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BC077-F632-E50E-9A47-CC046F675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93BFDE4-31C9-8DE6-04A3-1E62B9CA6A7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9CC8E9-0953-A22B-75B0-F3627DA3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Numerical Example: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B57DC6-6847-4558-DEF0-D7BE485A7E4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824DB-01C2-D86B-A331-4C4EB8A4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DBB1A-EC84-9DF6-9391-28C6843F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21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848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B35A-677B-4B19-7354-7433BAB1B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2A964-FA64-8429-F6F2-2FE454378F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Suppose the firm’s production function follows a Cobb-Douglas form, so that the profit maximization problem can be set up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first-order condition for factor 1 is: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𝜕𝜋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𝑝𝐴𝑎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sz="24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Let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</m:t>
                    </m:r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bSup>
                  </m:oMath>
                </a14:m>
                <a:r>
                  <a:rPr lang="en-US" altLang="zh-TW" sz="2400" dirty="0"/>
                  <a:t>. Then rearranging and simplifying, we find that: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𝑝𝑎𝑦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 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𝑎𝑝𝑦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24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2A964-FA64-8429-F6F2-2FE454378F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38E6E38-67F9-4A55-6E18-6AAADFEF87C6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E44F7-E4AA-21B2-ECA8-1969EF95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BA9D86-4FA7-70A4-3D7E-4B44EA82C8F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6DE1A-B476-E943-CB92-48EAC431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45227-773B-912B-2E9B-229D2008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223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51979-4A20-FF89-B239-4CE6A7FF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06E8D0-C8F9-3291-470E-3713BCD30A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Similarly, we find an expression for the optimal quantity of input 2: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𝑝𝑦</m:t>
                        </m:r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sz="12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Plugging these results into the firm’s production function, we find that: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𝑎𝑝𝑦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𝑏𝑝𝑦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𝑎𝑝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𝑏𝑝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altLang="zh-TW" sz="24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	  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box>
                          <m:box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box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𝑎𝑝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𝑏𝑝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TW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altLang="zh-TW" sz="24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				                 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𝑎𝑝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𝑏𝑝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e>
                        </m:d>
                      </m:e>
                      <m:sup>
                        <m:box>
                          <m:box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endParaRPr lang="en-US" altLang="zh-TW" sz="2400" dirty="0"/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06E8D0-C8F9-3291-470E-3713BCD30A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CECCA51-25C2-7BA0-66A6-71165A3E8BD5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0007FF-CA62-E272-1106-5A1B3B06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 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912EE7-A122-5C00-1203-470A58B7EC27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01325-0033-6A42-AA23-2AE6D4A5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B6C3D-AA54-2896-1E68-DC019319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732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AF506-328C-C07E-8BC9-0AC1F00A0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E08888-DC02-2C09-5F72-1E33C4A7B1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is the expression for the firm’s supply function:</a:t>
                </a:r>
              </a:p>
              <a:p>
                <a:pPr marL="0" indent="0" algn="ctr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𝑎𝑝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𝑏𝑝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</m:sSup>
                          </m:e>
                        </m:d>
                      </m:e>
                      <m:sup>
                        <m:box>
                          <m:box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box>
                      </m:sup>
                    </m:sSup>
                  </m:oMath>
                </a14:m>
                <a:endParaRPr lang="en-US" altLang="zh-TW" sz="1200" dirty="0"/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000" dirty="0"/>
                  <a:t> increases, output also increases.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When either factor price increases, output decreases.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Note that this requires that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E08888-DC02-2C09-5F72-1E33C4A7B1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353801" cy="5081046"/>
              </a:xfrm>
              <a:blipFill>
                <a:blip r:embed="rId2"/>
                <a:stretch>
                  <a:fillRect l="-69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37DFC0B-A2AD-8F22-8766-26AC77F81524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07BA7-02B7-B64F-2B91-5C6F2BF4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Detour 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FAF64E-2CDE-3EA8-C85B-3AA04D9AF92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A4B83-9498-D26F-1959-A9438AF3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40D06-AA9B-71A1-0312-A9754DF5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7333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FCACC-7CFE-C16B-D2E3-EAB226A3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958CC5-C2BF-10CA-D0D3-BEDE3D81CFFC}"/>
              </a:ext>
            </a:extLst>
          </p:cNvPr>
          <p:cNvSpPr txBox="1"/>
          <p:nvPr/>
        </p:nvSpPr>
        <p:spPr>
          <a:xfrm>
            <a:off x="-1" y="3044279"/>
            <a:ext cx="12188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400" dirty="0">
                <a:solidFill>
                  <a:schemeClr val="bg1"/>
                </a:solidFill>
              </a:rPr>
              <a:t>Recap &amp; Preview</a:t>
            </a:r>
            <a:endParaRPr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680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6581-C1E7-5F4C-7898-0D22DDB7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 firm’s profit is defined as: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In the short run, some inputs may be fixed (e.g.,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)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chooses inputs to maximize profit.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first-order conditions for optimization are: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𝜕𝜋</m:t>
                          </m:r>
                        </m:num>
                        <m:den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=0   ⟹  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   ∀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=1,2</m:t>
                      </m:r>
                    </m:oMath>
                  </m:oMathPara>
                </a14:m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000" dirty="0"/>
                  <a:t> is the value of marginal product of input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firm hires input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dirty="0"/>
                  <a:t> up to the point where its value equals its price.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4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21791D-B424-48B3-0C05-094304B0FD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33D2929-9CDA-E343-4CE0-25D3DE6D957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8C491-CA85-A689-CECE-024C9E2F1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32077-51C7-077D-A236-BBB714E3F0D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3D8F2-4A44-1859-CEC9-67912A5D0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ED957-F43A-99CB-1F4F-C8F1F364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8643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4E56-4431-8012-DD7B-E548941C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45255-32A5-0F71-BA7B-FD83F06594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An </a:t>
                </a:r>
                <a:r>
                  <a:rPr lang="en-US" altLang="zh-TW" sz="2400" dirty="0" err="1"/>
                  <a:t>isoprofit</a:t>
                </a:r>
                <a:r>
                  <a:rPr lang="en-US" altLang="zh-TW" sz="2400" dirty="0"/>
                  <a:t> curve shows all input-output combinations yielding the same profit:</a:t>
                </a:r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TW" sz="2400" dirty="0"/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Profit maximization occurs where: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Production function is tangent to </a:t>
                </a:r>
                <a:r>
                  <a:rPr lang="en-US" altLang="zh-TW" sz="2000" dirty="0" err="1"/>
                  <a:t>isoprofit</a:t>
                </a:r>
                <a:r>
                  <a:rPr lang="en-US" altLang="zh-TW" sz="2000" dirty="0"/>
                  <a:t> curve.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slope of the </a:t>
                </a:r>
                <a:r>
                  <a:rPr lang="en-US" altLang="zh-TW" sz="2000" dirty="0" err="1"/>
                  <a:t>isoprofit</a:t>
                </a:r>
                <a:r>
                  <a:rPr lang="en-US" altLang="zh-TW" sz="2000" dirty="0"/>
                  <a:t> curve matches the slope of the production function.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Solving the firm’s problem yields: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(Inverse) Factor demand functions: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𝑀</m:t>
                    </m:r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</m:oMath>
                </a14:m>
                <a:endParaRPr lang="en-US" altLang="zh-TW" sz="2000" dirty="0"/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Supply function: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000" dirty="0"/>
              </a:p>
              <a:p>
                <a:pPr marL="0" indent="0">
                  <a:lnSpc>
                    <a:spcPct val="95000"/>
                  </a:lnSpc>
                  <a:spcBef>
                    <a:spcPts val="1000"/>
                  </a:spcBef>
                  <a:buNone/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545255-32A5-0F71-BA7B-FD83F06594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795F9EE-80CF-04E4-2F6A-029488B1AA5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496ADF-942D-C740-F164-C229A111A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Recap: Profit Maximization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3AEF61-A353-6972-8AE0-8FCD1BD1531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AB359-BF7E-CBDC-8D64-03E30509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DF4FF-31C6-9821-6DA3-D7AAEFD2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5868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1A8E4-E7C8-D19D-86D3-030AA6A6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CAFF-9B43-78CA-BAEA-3A38D425E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So far, we examined the firm’s profit maximization problem.</a:t>
                </a:r>
              </a:p>
              <a:p>
                <a:pPr lvl="4"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any output level the firm chooses, it must produce that output at minimum cost given input prices.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If there was a cheaper method of producing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zh-TW" sz="2000" dirty="0"/>
                  <a:t>, then the firm is, by definition, not profit maximizing.</a:t>
                </a:r>
              </a:p>
              <a:p>
                <a:pPr lvl="4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This leads us to a useful method of approaching the firm’s profit maximization: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Step #1: We find the cost-minimizing method of producing an arbitrary level of output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TW" sz="2000" dirty="0"/>
                  <a:t>.</a:t>
                </a:r>
              </a:p>
              <a:p>
                <a:pPr lvl="1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Step #2: Then we find the optimal level of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sz="2000" dirty="0"/>
                  <a:t> that would maximize the firm’s profits.</a:t>
                </a:r>
              </a:p>
              <a:p>
                <a:pPr lvl="3"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lnSpc>
                    <a:spcPct val="95000"/>
                  </a:lnSpc>
                  <a:spcBef>
                    <a:spcPts val="1000"/>
                  </a:spcBef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Step #1 gives us the cost function,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altLang="zh-TW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49CAFF-9B43-78CA-BAEA-3A38D425E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1319" r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B63240C-8227-33CA-AF99-D0EF55886348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6EDD73-7133-E4AA-713D-AD3D76A8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Preview: Cost Minimization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564DE4-D134-77A0-9EFC-4F54285A074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2F7BE-07A9-1D9E-9E4B-EFBF9303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 Intermediate Microeconomic Theory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F82BC-2D44-4CB1-89DC-762807C2B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8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30df7ce-eaed-4d1c-a1ca-75bf1c48077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938675bf-07e6-4e4e-8e1c-cd506be75f9b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6cb1e-6d86-4dae-a983-fa46a00b040a}" enabled="1" method="Standar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12687</TotalTime>
  <Words>2570</Words>
  <Application>Microsoft Office PowerPoint</Application>
  <PresentationFormat>Custom</PresentationFormat>
  <Paragraphs>326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Recap: Technology</vt:lpstr>
      <vt:lpstr>  Recap: Technology</vt:lpstr>
      <vt:lpstr>PowerPoint Presentation</vt:lpstr>
      <vt:lpstr>  Profit</vt:lpstr>
      <vt:lpstr>  Short Run Profit Maximization</vt:lpstr>
      <vt:lpstr>Poll Everywhere multiple choice poll instructions screen
Activity Title: Suppose that a firm finds that $$p\\cdot MP_1&gt;\\omega_1$$. What should it do?
Slide 7</vt:lpstr>
      <vt:lpstr>Poll Everywhere multiple choice poll chart screen
Activity Title: Suppose that a firm finds that $$p\\cdot MP_1&gt;\\omega_1$$. What should it do?
Slide 9</vt:lpstr>
      <vt:lpstr>  Why p⋅MP_1=ω_1?</vt:lpstr>
      <vt:lpstr>  Short Run Profit Maximization: Isoprofit Curves</vt:lpstr>
      <vt:lpstr>  Numerical Example: Profit Maximization</vt:lpstr>
      <vt:lpstr>  Numerical Example: Profit Maximization</vt:lpstr>
      <vt:lpstr>  Comparative Statics: Changes in p and ω</vt:lpstr>
      <vt:lpstr>  Numerical Example: Short Run Profit Maximization</vt:lpstr>
      <vt:lpstr>  Numerical Example: Short Run Profit Maximization</vt:lpstr>
      <vt:lpstr>  Comparative Statics: Changes in p and ω</vt:lpstr>
      <vt:lpstr>  Comparative Statics: Changes in p and ω</vt:lpstr>
      <vt:lpstr>PowerPoint Presentation</vt:lpstr>
      <vt:lpstr>  Long Run Profit Maximization</vt:lpstr>
      <vt:lpstr>  Numerical Example: Long Run Profit Maximization</vt:lpstr>
      <vt:lpstr>  Numerical Example: Profit Maximization</vt:lpstr>
      <vt:lpstr>  Detour: Profit Maximization</vt:lpstr>
      <vt:lpstr>  Detour : Profit Maximization</vt:lpstr>
      <vt:lpstr>  Detour : Profit Maximization</vt:lpstr>
      <vt:lpstr>PowerPoint Presentation</vt:lpstr>
      <vt:lpstr>  Recap: Profit Maximization</vt:lpstr>
      <vt:lpstr>  Recap: Profit Maximization</vt:lpstr>
      <vt:lpstr>  Preview: Cost Minimization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Park, Brian</cp:lastModifiedBy>
  <cp:revision>463</cp:revision>
  <cp:lastPrinted>2026-02-23T02:04:32Z</cp:lastPrinted>
  <dcterms:created xsi:type="dcterms:W3CDTF">2013-01-27T09:14:16Z</dcterms:created>
  <dcterms:modified xsi:type="dcterms:W3CDTF">2026-03-29T15:59:52Z</dcterms:modified>
  <cp:category/>
</cp:coreProperties>
</file>