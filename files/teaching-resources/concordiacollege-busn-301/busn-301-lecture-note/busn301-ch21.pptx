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726" r:id="rId3"/>
    <p:sldId id="727" r:id="rId4"/>
    <p:sldId id="376" r:id="rId5"/>
    <p:sldId id="708" r:id="rId6"/>
    <p:sldId id="710" r:id="rId7"/>
    <p:sldId id="736" r:id="rId8"/>
    <p:sldId id="729" r:id="rId9"/>
    <p:sldId id="728" r:id="rId10"/>
    <p:sldId id="730" r:id="rId11"/>
    <p:sldId id="731" r:id="rId12"/>
    <p:sldId id="732" r:id="rId13"/>
    <p:sldId id="733" r:id="rId14"/>
    <p:sldId id="713" r:id="rId15"/>
    <p:sldId id="714" r:id="rId16"/>
    <p:sldId id="734" r:id="rId17"/>
    <p:sldId id="735" r:id="rId18"/>
    <p:sldId id="737" r:id="rId19"/>
    <p:sldId id="740" r:id="rId20"/>
    <p:sldId id="741" r:id="rId21"/>
    <p:sldId id="738" r:id="rId22"/>
    <p:sldId id="739" r:id="rId23"/>
    <p:sldId id="743" r:id="rId24"/>
    <p:sldId id="599" r:id="rId25"/>
    <p:sldId id="647" r:id="rId26"/>
    <p:sldId id="742" r:id="rId27"/>
    <p:sldId id="422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9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8114D-31B9-4B78-9ACC-70FB90027BFD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F65B-C187-4F2E-97E4-866F44D3FEC5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CE8C-B3D2-4FED-8171-A22B1E84AA49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7D79-C197-49E5-840E-62EF773E40EB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717-ACD6-42B4-B4D2-A00897526083}" type="datetime1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F010-C38E-44B3-A11D-B9CE0300A741}" type="datetime1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42EE-45D9-4220-A88F-EE689B9875C3}" type="datetime1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1C2B-1683-45DB-88D6-369C6CB6AB24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B611B-DC9D-42DB-B865-14DB93E316AF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4A91-75B0-4800-B4E2-20956DB94300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51350-1A97-42BE-B68B-7AD85E4EDCBF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8D4B9-4EE2-4C3D-B367-BE7622E78789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200" dirty="0"/>
              <a:t>I</a:t>
            </a:r>
            <a:r>
              <a:rPr lang="en-US" sz="3600" dirty="0"/>
              <a:t>NTERMEDIATE </a:t>
            </a:r>
            <a:r>
              <a:rPr lang="en-US" sz="4200" dirty="0"/>
              <a:t>M</a:t>
            </a:r>
            <a:r>
              <a:rPr lang="en-US" sz="3600" dirty="0"/>
              <a:t>ICROECONOMIC </a:t>
            </a:r>
            <a:r>
              <a:rPr lang="en-US" sz="4200" dirty="0"/>
              <a:t>T</a:t>
            </a:r>
            <a:r>
              <a:rPr lang="en-US" sz="3600" dirty="0"/>
              <a:t>HEORY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21: Cost Minimization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7F24-137E-5CD6-FDDB-259B47F0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472D59-CD60-126E-FE48-27197F9888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firm’s profit is defined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the short run, some inputs may be fixed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)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chooses inputs to maximize profit.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first-order conditions for optimization are: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⟹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   ∀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000" dirty="0"/>
                  <a:t> is the value of marginal product of input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hires input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/>
                  <a:t> up to the point where its value equals its price.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D6A3290-56A2-5A8E-D15C-677EE0A8BD2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9339A-4297-7587-B605-4280A0C5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57D18-E8E4-6D69-156E-FC2DA392609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9832C-5D9D-9F85-FEA8-C697429F5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3FB0F-6D21-C059-69AD-EF31B7C4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084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792C-180E-20DD-ED13-CC15F5B6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9BB718-BBB5-F762-857C-4667E87F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 </a:t>
                </a:r>
                <a:r>
                  <a:rPr lang="en-US" altLang="zh-TW" sz="2400" dirty="0" err="1"/>
                  <a:t>isoprofit</a:t>
                </a:r>
                <a:r>
                  <a:rPr lang="en-US" altLang="zh-TW" sz="2400" dirty="0"/>
                  <a:t> curve shows all input-output combinations yielding the same profit: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Profit maximization occurs where: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Production function is tangent to </a:t>
                </a:r>
                <a:r>
                  <a:rPr lang="en-US" altLang="zh-TW" sz="2000" dirty="0" err="1"/>
                  <a:t>isoprofit</a:t>
                </a:r>
                <a:r>
                  <a:rPr lang="en-US" altLang="zh-TW" sz="2000" dirty="0"/>
                  <a:t>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slope of the </a:t>
                </a:r>
                <a:r>
                  <a:rPr lang="en-US" altLang="zh-TW" sz="2000" dirty="0" err="1"/>
                  <a:t>isoprofit</a:t>
                </a:r>
                <a:r>
                  <a:rPr lang="en-US" altLang="zh-TW" sz="2000" dirty="0"/>
                  <a:t> curve matches the slope of the production function.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firm’s problem yields: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(Inverse) Factor demand functions: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Supply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0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45255-32A5-0F71-BA7B-FD83F0659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CB41D2C-9E49-534D-A0BB-2CEE4AB98CE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1CEEB-B3DB-70E0-C8B4-66EBB44D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39FB61-9E10-1000-5357-D0E9CAFFC49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6B711-E547-1987-CE4E-4E66DDE5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ADFF8-49AA-EAA3-33C7-DFF74C22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797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Cost Minimization Problem</a:t>
            </a: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F59E-F280-19CD-263E-EFD63FF2B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CF2C9-A036-6597-721B-AA32F56D5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produces output using technology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altLang="zh-TW" sz="2400" dirty="0"/>
                  <a:t>, where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have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respectively.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Given a target output level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/>
                  <a:t>, the firm chooses inputs to minimize cost: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zh-TW" sz="12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is choosing the least-cost way to produce exactly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is the firm’s </a:t>
                </a:r>
                <a:r>
                  <a:rPr lang="en-US" altLang="zh-TW" sz="2400" b="1" dirty="0"/>
                  <a:t>cost minimization problem (CMP)</a:t>
                </a:r>
                <a:r>
                  <a:rPr lang="en-US" altLang="zh-TW" sz="2400" dirty="0"/>
                  <a:t>, which yields the </a:t>
                </a:r>
                <a:r>
                  <a:rPr lang="en-US" altLang="zh-TW" sz="2400" b="1" dirty="0"/>
                  <a:t>cost function</a:t>
                </a:r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cost function gives the minimum cost of producing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 units of output, given technology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zh-TW" sz="2000" dirty="0"/>
                  <a:t>, and input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CF2C9-A036-6597-721B-AA32F56D5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D043D0-6102-40CC-6B99-B615FFDBF91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447567-C5FF-FECD-E51A-F0B09FE3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Cost Minimization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D64AA-FD94-C4F1-8E1B-53353332D9F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C2250-989D-A7AA-1CE4-E11D4497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5CBDC-33F3-82CF-E343-A8EDBA0D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672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4B8F-3AB5-5451-F399-6996B4A1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8CE06-5F40-96EF-A430-4A44681D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 </a:t>
                </a:r>
                <a:r>
                  <a:rPr lang="en-US" altLang="zh-TW" sz="2400" b="1" dirty="0" err="1"/>
                  <a:t>isocost</a:t>
                </a:r>
                <a:r>
                  <a:rPr lang="en-US" altLang="zh-TW" sz="2400" dirty="0"/>
                  <a:t> shows all input combinations that yield the same total cost of production.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This is similar in concept to the indifference curve, which plots all combinations of bundles that yield the same level of utility for the consumer.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To plot all combinations of inputs that yield cost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Graphically, the isocost is a straight line with slope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with a (vertical)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-intercept of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8CE06-5F40-96EF-A430-4A44681D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1E4360C-DE2B-6C80-770A-A5A8850C6CD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9C728-1F5E-CE35-B5E6-3DA7335E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dirty="0" err="1">
                <a:solidFill>
                  <a:schemeClr val="bg1"/>
                </a:solidFill>
              </a:rPr>
              <a:t>Isocost</a:t>
            </a:r>
            <a:r>
              <a:rPr lang="en-US" sz="4000" dirty="0">
                <a:solidFill>
                  <a:schemeClr val="bg1"/>
                </a:solidFill>
              </a:rPr>
              <a:t>: The 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0BF028-1A09-D208-AC93-F0123769F3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50F1C-42C6-478E-1384-C43CBCEC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597BB-6870-DF39-A419-88DB8967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117227-DAA8-F468-8608-9F2B1182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59E135EC-A773-DEE6-0CE2-81AC6D3D7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5597-C417-0E1A-A413-F84EFCDA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D194-5B7E-6832-9D53-7596767AD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208" y="1300900"/>
            <a:ext cx="6717792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 </a:t>
            </a:r>
            <a:r>
              <a:rPr lang="en-US" altLang="zh-TW" sz="2400" dirty="0" err="1"/>
              <a:t>isocost</a:t>
            </a:r>
            <a:r>
              <a:rPr lang="en-US" altLang="zh-TW" sz="2400" dirty="0"/>
              <a:t> effectively divides the input plane into two regions.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area below a given </a:t>
            </a:r>
            <a:r>
              <a:rPr lang="en-US" altLang="zh-TW" sz="2000" dirty="0" err="1"/>
              <a:t>isocost</a:t>
            </a:r>
            <a:r>
              <a:rPr lang="en-US" altLang="zh-TW" sz="2000" dirty="0"/>
              <a:t> consists of all input bundles that are cheaper than any bundle on the </a:t>
            </a:r>
            <a:r>
              <a:rPr lang="en-US" altLang="zh-TW" sz="2000" dirty="0" err="1"/>
              <a:t>isocost</a:t>
            </a:r>
            <a:r>
              <a:rPr lang="en-US" altLang="zh-TW" sz="2000" dirty="0"/>
              <a:t>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area above a given </a:t>
            </a:r>
            <a:r>
              <a:rPr lang="en-US" altLang="zh-TW" sz="2000" dirty="0" err="1"/>
              <a:t>isocost</a:t>
            </a:r>
            <a:r>
              <a:rPr lang="en-US" altLang="zh-TW" sz="2000" dirty="0"/>
              <a:t> consists of all input bundles that are more expensive than any bundle on the </a:t>
            </a:r>
            <a:r>
              <a:rPr lang="en-US" altLang="zh-TW" sz="2000" dirty="0" err="1"/>
              <a:t>isocost</a:t>
            </a:r>
            <a:r>
              <a:rPr lang="en-US" altLang="zh-TW" sz="2000" dirty="0"/>
              <a:t>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Similar to how the isoquant divides the input space into two regions.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Also similar to how an indifference curve divides the consumption set into two regions.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Also similar to how the budget line divides the consumption set into two regions.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0FAEB-E495-555C-4027-69569D59026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1F4A3-AEF4-D9E8-AA0D-E86C7CC7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dirty="0" err="1">
                <a:solidFill>
                  <a:schemeClr val="bg1"/>
                </a:solidFill>
              </a:rPr>
              <a:t>Isocost</a:t>
            </a:r>
            <a:r>
              <a:rPr lang="en-US" sz="4000" dirty="0">
                <a:solidFill>
                  <a:schemeClr val="bg1"/>
                </a:solidFill>
              </a:rPr>
              <a:t>: The 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F8B2F-FABC-235D-779E-228595E86CC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C3138-BAD3-B906-EE4E-7A0CBF73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8B48-DE94-2DE6-0634-0F5EA2D4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9D03A7-6DA3-CC0D-F79E-E8FC0EFBDA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 descr="A graph of cost bundles&#10;&#10;AI-generated content may be incorrect.">
            <a:extLst>
              <a:ext uri="{FF2B5EF4-FFF2-40B4-BE49-F238E27FC236}">
                <a16:creationId xmlns:a16="http://schemas.microsoft.com/office/drawing/2014/main" id="{DB490642-BC7A-B05C-06D5-342B8866E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15D0-A88C-DE5C-FC72-FFEE8F7D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30AB3-1D1F-7B1C-9666-08CA68EED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 is the graphical representation of the objective function in the cost minimization problem.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 err="1"/>
                  <a:t>Isocosts</a:t>
                </a:r>
                <a:r>
                  <a:rPr lang="en-US" altLang="zh-TW" sz="2400" dirty="0"/>
                  <a:t> representing higher total costs lie farther from the origin.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diagram depicts two </a:t>
                </a:r>
                <a:r>
                  <a:rPr lang="en-US" altLang="zh-TW" sz="2000" dirty="0" err="1"/>
                  <a:t>isocosts</a:t>
                </a:r>
                <a:r>
                  <a:rPr lang="en-US" altLang="zh-TW" sz="2000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firm’s objective is to produce a given level of output on the lowest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 possible.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firm’s constraint is its production technology and its required output level.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30AB3-1D1F-7B1C-9666-08CA68EED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7DA00CA-DF0A-4DF8-B85B-E32C37A0206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C86FD-D06B-467A-5802-2F5873AF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dirty="0" err="1">
                <a:solidFill>
                  <a:schemeClr val="bg1"/>
                </a:solidFill>
              </a:rPr>
              <a:t>Isocost</a:t>
            </a:r>
            <a:r>
              <a:rPr lang="en-US" sz="4000" dirty="0">
                <a:solidFill>
                  <a:schemeClr val="bg1"/>
                </a:solidFill>
              </a:rPr>
              <a:t>: The 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946C6-2196-9B51-2F1F-8D22075AF3C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DD575-D388-B2B6-231D-5C4E9B71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1419E-E3A2-4375-9E07-EB8E70EB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A735AE-2413-44CE-2A32-34296AAE0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0EC97D9D-AFD2-FEC1-EA6F-CD0578DF9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2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584E-7F0F-C6A2-2E94-5A3F89F0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47EA4-1FBB-5999-33C2-A38B63E5D6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isoquant</a:t>
                </a:r>
                <a:r>
                  <a:rPr lang="en-US" altLang="zh-TW" sz="2400" dirty="0"/>
                  <a:t> is the graphical representation of the firm’s constraint in the cost minimization problem.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isoquant plots all combinations of inputs that yield a desired level of output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Graphically, the isoquant depends on the firm’s production technology and the chosen level of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For a refresher, see Chapter 19: Technology.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Recall that the slope of the isoquant reflects the marginal rate of technical substitution (MRTS).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47EA4-1FBB-5999-33C2-A38B63E5D6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1180" b="-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BAE91F9-70B1-D56E-C2FA-893F07E9ECF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9B879-9BB3-5E8C-1DD0-5E9DEDD4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Isoquant: </a:t>
            </a:r>
            <a:r>
              <a:rPr lang="en-US" sz="4000">
                <a:solidFill>
                  <a:schemeClr val="bg1"/>
                </a:solidFill>
              </a:rPr>
              <a:t>The Constraint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3CB210-893E-6653-EAB2-1BBFFCFB581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FAA8E-0C20-C41B-4EE4-87D53618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9943-F57D-1CC2-4D43-C2792C5D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72AB5A-A925-C82E-1AC4-7EF74A7A9E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8028322B-753C-7411-9F8E-CD7941D54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7CFDA1DA-5BA5-85A4-4349-956216A1E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53A6-EFF0-9AA9-DA88-23705378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3B1362-5F16-7A09-3422-F0B01BA43C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the firm’s desired output be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, and plot the isoquant representing this level of production. The objective is: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To find the </a:t>
                </a:r>
                <a:r>
                  <a:rPr lang="en-US" altLang="zh-TW" sz="2000" dirty="0" err="1"/>
                  <a:t>isocost</a:t>
                </a:r>
                <a:r>
                  <a:rPr lang="en-US" altLang="zh-TW" sz="2000" dirty="0"/>
                  <a:t> that allows the firm to produce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,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While being as close to the origin as possible.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 candidate is plotted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Isocost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low</m:t>
                        </m:r>
                      </m:sub>
                    </m:sSub>
                  </m:oMath>
                </a14:m>
                <a:r>
                  <a:rPr lang="en-US" altLang="zh-TW" sz="2400" dirty="0"/>
                  <a:t> 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While this achieves a low cost, none of the input combinations on this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 allow the firm to produce its desired output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This is not a feasible solution, as all bundles on the </a:t>
                </a:r>
                <a:r>
                  <a:rPr lang="en-US" altLang="zh-TW" sz="2000" dirty="0" err="1"/>
                  <a:t>isocost</a:t>
                </a:r>
                <a:r>
                  <a:rPr lang="en-US" altLang="zh-TW" sz="2000" dirty="0"/>
                  <a:t> lie below the isoquant.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3B1362-5F16-7A09-3422-F0B01BA43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ECB9AD4-9A75-6A01-6007-8AE8F132D86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67623-9F1B-1331-9FA0-871510C3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 Visualized: Candidate #1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474421-AFBA-2E78-869B-389DB2E33F3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41B70-19B6-E680-5271-33D0D140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256EB-7201-C371-EE82-5AB389C3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17D337-0726-5D62-7901-F4AA3DC3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4CFE021E-6B3F-AD00-4EDD-53FEFDA53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A138-3FF8-3AA6-E303-3B6577E9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62FFE7-87CD-6264-BCF4-64A4654387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second candidate is plotted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Isocost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high</m:t>
                        </m:r>
                      </m:sub>
                    </m:sSub>
                  </m:oMath>
                </a14:m>
                <a:r>
                  <a:rPr lang="en-US" altLang="zh-TW" sz="2400" dirty="0"/>
                  <a:t> 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 are many input combinations along this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 that allow the firm to produce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However, there exist lower-cost input combinations that also allow the firm to produce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There exist </a:t>
                </a:r>
                <a:r>
                  <a:rPr lang="en-US" altLang="zh-TW" sz="2000" dirty="0" err="1"/>
                  <a:t>isocosts</a:t>
                </a:r>
                <a:r>
                  <a:rPr lang="en-US" altLang="zh-TW" sz="2000" dirty="0"/>
                  <a:t> closer to the origin that still allow production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This is a feasible solution, but it is not optimal.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logic is very similar to the consumer’s utility maximization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62FFE7-87CD-6264-BCF4-64A465438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079" r="-998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A83797-2412-D8EB-1AC1-1B23DED27D1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C6DB4-B8CD-D571-A15E-1FB98C57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 Visualized: Candidate #2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362F1B-6FFB-C2BD-0907-213380D523A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A6C1B-FAC2-4EA7-24BA-30174EFD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7CD6C-1631-7473-A60A-2821BB87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5BA8A1-BFDB-4B8D-6AB7-BD2616CE55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8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5C6E-89F9-AA85-47CF-87A86C92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6B6FBB-DFC3-ADAD-DFB3-1C1A6C671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20252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solution is plotted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Isocost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opt</m:t>
                        </m:r>
                      </m:sub>
                    </m:sSub>
                  </m:oMath>
                </a14:m>
                <a:r>
                  <a:rPr lang="en-US" altLang="zh-TW" sz="2400" dirty="0"/>
                  <a:t> .</a:t>
                </a:r>
              </a:p>
              <a:p>
                <a:pPr lvl="3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is a </a:t>
                </a:r>
                <a:r>
                  <a:rPr lang="en-US" altLang="zh-TW" sz="2400" i="1" dirty="0"/>
                  <a:t>feasible</a:t>
                </a:r>
                <a:r>
                  <a:rPr lang="en-US" altLang="zh-TW" sz="2400" dirty="0"/>
                  <a:t> solution:</a:t>
                </a:r>
              </a:p>
              <a:p>
                <a:pPr lvl="1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There is at least one combination of inputs along this </a:t>
                </a:r>
                <a:r>
                  <a:rPr lang="en-US" altLang="zh-TW" sz="2000" dirty="0" err="1"/>
                  <a:t>isocost</a:t>
                </a:r>
                <a:r>
                  <a:rPr lang="en-US" altLang="zh-TW" sz="2000" dirty="0"/>
                  <a:t> that lies on (or above) the isoquant, allowing the firm to produce at least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is the </a:t>
                </a:r>
                <a:r>
                  <a:rPr lang="en-US" altLang="zh-TW" sz="2400" i="1" dirty="0"/>
                  <a:t>lowest-cost</a:t>
                </a:r>
                <a:r>
                  <a:rPr lang="en-US" altLang="zh-TW" sz="2400" dirty="0"/>
                  <a:t> solution:</a:t>
                </a:r>
              </a:p>
              <a:p>
                <a:pPr lvl="1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Any </a:t>
                </a:r>
                <a:r>
                  <a:rPr lang="en-US" altLang="zh-TW" sz="2000" dirty="0" err="1"/>
                  <a:t>isocost</a:t>
                </a:r>
                <a:r>
                  <a:rPr lang="en-US" altLang="zh-TW" sz="2000" dirty="0"/>
                  <a:t> representing a lower cost (closer to the origin) does not contain a combination of inputs that allows the firm to produce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input bundle at the point where the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 is tangent to the isoquant solves the cost minimization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6B6FBB-DFC3-ADAD-DFB3-1C1A6C671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202528"/>
              </a:xfrm>
              <a:blipFill>
                <a:blip r:embed="rId2"/>
                <a:stretch>
                  <a:fillRect l="-1270" t="-1288" r="-1996" b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6C9EA87-377A-FBFB-D170-CE9CBE2CA81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A7E43-0868-1EDE-0A33-1EC9CC41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 Visualized: Candidate #3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4F1A3-1E69-221F-EF23-FDBC992D788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D8C8E-4EF9-C411-19EB-F2BAD19F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536A5-E244-8FD5-7546-DFB3B9D3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7B504D-9614-3A5E-2114-FE54F98D4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60FAEDC1-1372-279F-9BD4-956A695AF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9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B3567-EFD8-5667-7C79-4386F295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A1F65-3497-2DB6-EEC9-4DC760BDBD40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Cost Minimization Problem: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Mathematics</a:t>
            </a:r>
          </a:p>
        </p:txBody>
      </p:sp>
    </p:spTree>
    <p:extLst>
      <p:ext uri="{BB962C8B-B14F-4D97-AF65-F5344CB8AC3E}">
        <p14:creationId xmlns:p14="http://schemas.microsoft.com/office/powerpoint/2010/main" val="55066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B100F-5723-97F4-8EA7-944CA8D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BF8C8-1D03-6B70-3231-86A3C71B09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tangency condition between the isoquant and the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 can be expressed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𝑆𝑙𝑜𝑝𝑒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𝐼𝑠𝑜𝑞𝑢𝑎𝑛𝑡</m:t>
                              </m:r>
                            </m:e>
                          </m:eqArr>
                        </m:lim>
                      </m:limLow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𝑆𝑙𝑜𝑝𝑒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𝐼𝑠𝑜𝑐𝑜𝑠𝑡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other words, the </a:t>
                </a:r>
                <a:r>
                  <a:rPr lang="en-US" altLang="zh-TW" sz="2400" b="1" dirty="0"/>
                  <a:t>marginal rate of technical substitution</a:t>
                </a:r>
                <a:r>
                  <a:rPr lang="en-US" altLang="zh-TW" sz="2400" dirty="0"/>
                  <a:t> equals the </a:t>
                </a:r>
                <a:r>
                  <a:rPr lang="en-US" altLang="zh-TW" sz="2400" b="1" dirty="0"/>
                  <a:t>relative factor price ratio</a:t>
                </a:r>
                <a:r>
                  <a:rPr lang="en-US" altLang="zh-TW" sz="24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As in the utility maximization problem, if the solution is at a boundary, this tangency condition need not hold.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the isoquant has kinks, the tangency condition does not apply.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process is very similar to the consumer’s utility maximization problem.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BF8C8-1D03-6B70-3231-86A3C71B0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b="-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A231DB7-EA7F-CB29-0030-2DE82948828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14EDB-73C6-9179-E8E7-AAF26BD1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CMP: Graphs to Math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E01792-94A2-B8F0-D5EB-85B5F05A0E6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5AA27-E2E8-4174-B39E-F74AFB4E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E3C1F-1220-6CB0-6B68-E29ADBE1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56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482B-685B-206B-BF51-CBBB2275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1C2E2-ADE5-A1A5-2315-B84C2F3E4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cost minimization problem (CMP) is expressed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 for the CMP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first-order conditions (FOCs) are:</a:t>
                </a:r>
                <a:endParaRPr lang="en-US" altLang="zh-TW" sz="1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𝜕𝜆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=0  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  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⋯(</m:t>
                    </m:r>
                    <m:r>
                      <m:rPr>
                        <m:nor/>
                      </m:rPr>
                      <a:rPr lang="en-US" altLang="zh-TW" sz="2400" dirty="0"/>
                      <m:t>1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=0  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    ⋯(</m:t>
                    </m:r>
                    <m:r>
                      <m:rPr>
                        <m:nor/>
                      </m:rPr>
                      <a:rPr lang="en-US" altLang="zh-TW" sz="2400" dirty="0"/>
                      <m:t>2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=0  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    ⋯(</m:t>
                    </m:r>
                    <m:r>
                      <m:rPr>
                        <m:nor/>
                      </m:rPr>
                      <a:rPr lang="en-US" altLang="zh-TW" sz="2400" dirty="0"/>
                      <m:t>3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1C2E2-ADE5-A1A5-2315-B84C2F3E4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1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F969169-C1AF-792E-A160-872F036AF8B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1E1F7-0F1C-2244-EB5E-AB4F93CD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CMP: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F10E5C-BD27-F894-C6B7-EC12AF14B92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0BB2E-2F2D-DC9A-DF2F-EDC03210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DD50F-AAF7-B4B4-0FBC-B7B5B1B9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912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9CD71-2D60-C808-6B98-9A03415C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D42F85-0F24-91B9-CEDF-B2F71F346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Taking FOC (2) and dividing by FOC (3), we can find: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 algn="ctr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⟹     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𝑀𝑅𝑇𝑆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result is what we already know from geometry: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an interior optimum, the MRTS equals the price ratio of the two inputs.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Graphically, this means that the slope of the isoquant equals the slope of the </a:t>
                </a:r>
                <a:r>
                  <a:rPr lang="en-US" altLang="zh-TW" sz="2000" dirty="0" err="1"/>
                  <a:t>isocost</a:t>
                </a:r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equation above yields the “optimal ratio” between inputs 1 and 2.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D42F85-0F24-91B9-CEDF-B2F71F346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DD72AFD-B4A2-AFD5-47F7-3EB134C2C25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CF811-6DF6-6697-DDAA-A460DA34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CMP: Tangency Condition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6F56D-FAC8-16EB-EEF9-361B1D926D1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EB901-360E-3296-9483-B2F28971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4C9A1-BC4F-CC9A-DB6A-F00075C9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851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5B25-EE8D-3FFD-AECB-AB43FF6E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16D82-9190-9DA3-4808-CED66CA831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Using the “optimal ratio” derived from FOCs (2) and (3), we combine it with FOC (1) to derive the cost-minimizing inputs, or the </a:t>
                </a:r>
                <a:r>
                  <a:rPr lang="en-US" altLang="zh-TW" sz="2400" b="1" dirty="0"/>
                  <a:t>conditional factor demand functions</a:t>
                </a:r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These functions describe how input choices depend on factor prices and the desired level of output.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They are conditional on the firm producing a given level of output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These inputs minimize cost, but do not tell us how much output the firm chooses to produce.</a:t>
                </a:r>
                <a:endParaRPr lang="en-US" altLang="zh-TW" sz="20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Note the difference between conditional factor demand and the factor demand from Chapter 20: Profit Maximization.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Conditional factor demand gives the cost-minimizing inputs for a given </a:t>
                </a:r>
                <a:r>
                  <a:rPr lang="en-US" altLang="zh-TW" sz="2000" i="1" dirty="0"/>
                  <a:t>level</a:t>
                </a:r>
                <a:r>
                  <a:rPr lang="en-US" altLang="zh-TW" sz="2000" dirty="0"/>
                  <a:t> of output.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Factor demand gives the profit-maximizing inputs for a given output </a:t>
                </a:r>
                <a:r>
                  <a:rPr lang="en-US" altLang="zh-TW" sz="2000" i="1" dirty="0"/>
                  <a:t>price</a:t>
                </a:r>
                <a:r>
                  <a:rPr lang="en-US" altLang="zh-TW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16D82-9190-9DA3-4808-CED66CA83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842" b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D4CDC6E-1992-D02D-FCA1-84A2E0B52A4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0D98E-9558-EED9-6C6B-D04E9FD2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CMP: The Conditional Factor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82745-875E-1B31-8E1D-A4E4CFF6DBC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35D68-09A9-0D47-47F6-D1153FA5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205DF-9B05-F69D-16CC-E5F1CC3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466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3A5C-E8D1-C440-B3C4-CA608A18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3D701-BB4E-6644-275C-1632783F18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cost function of the firm is then defined as: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4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cost function describes the lowest cost of producing a given level of output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, and it depends on: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Input prices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Desired level of output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firm’s production technology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3D701-BB4E-6644-275C-1632783F18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D63A87C-3BC5-95CA-1E68-5100B6B93B0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E4B14-16CF-4614-364F-7DCF909B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CMP: The Cost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C26A64-1A76-5B5B-B759-D279C963B14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82E14-E0C4-EA86-1209-70DC08971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C5A4D-15C7-2C0E-E43E-1E8BDFB5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84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BA21-31D8-F398-F2B9-2F90A05E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21FE2-A039-0411-C8DD-BF7FEFA022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following CMP: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.     </m:t>
                    </m:r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FOCs (2) and (3) yields:</a:t>
                </a:r>
              </a:p>
              <a:p>
                <a:pPr marL="0" indent="0" algn="ctr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⟹     </m:t>
                    </m:r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box>
                          <m:box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bSup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bSup>
                          </m:e>
                        </m:box>
                      </m:num>
                      <m:den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f>
                              <m:fPr>
                                <m:type m:val="skw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bSup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bSup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 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box>
                          <m:box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ox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marL="0" indent="0" algn="ctr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Plugging into FOC (1) gets a bit more computationally complicated:</a:t>
                </a:r>
              </a:p>
              <a:p>
                <a:pPr marL="0" indent="0" algn="ctr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21FE2-A039-0411-C8DD-BF7FEFA022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46C2080-31F2-5D79-7CA5-83E12F37605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B23C1-0A08-8747-1D14-19838A6C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663824-9A9B-1CE1-D000-31BD55E75FA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49DA-C084-E6AF-E9C1-96E6584E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2A6F3-DB10-D36D-CB88-940B9716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29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3853F-3309-6B47-5D5D-476F79F3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B2CF4-A855-A1D3-F517-51EB7D2E43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ratio tells us: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cost function is then: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TW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 			        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B2CF4-A855-A1D3-F517-51EB7D2E43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A9BD63F-2F28-4B22-38CA-D5391345C56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010ED-EA19-7B27-BC52-D7A98C7F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CE7B-7C70-ABBC-2B81-C4D752F1BC8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DD30D-5E1B-DBE6-557C-0704F891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DEDAB-73AC-D364-C6BB-D6A2C3C7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113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47FF-5E5C-E778-09DE-E24EDE9B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908E1-DA98-8C60-1A45-75E86E4542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Our previous discussion has focused on cost minimization in the long run: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Long run: All inputs are variable (no fixed inputs).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Short run: At least one input is fixed.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Cost minimization in the short run is simpler: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.  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altLang="zh-TW" sz="12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has a desired level of production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 is a choice variable,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is given and fixed.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smallest level of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that satisfies the production constraint is the short-run conditional factor demand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zh-TW" sz="2400" dirty="0"/>
                  <a:t>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908E1-DA98-8C60-1A45-75E86E454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D89C1C-2FFA-6F41-F543-C0E6BB597A0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FFD96-23A0-C71B-3358-240A307C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 in the Short Run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21130-4EBE-11C8-9CBB-3AB1DC59A01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35FB-CC37-B391-8BF7-9221C2E9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CF102-A96F-9BE0-1B71-8A6448A6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614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9BE5-FA7C-44EB-B77E-452691C9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3D6363-C7BD-34E3-3325-8E89104453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541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us compare the long-run and short-run CMPs using a graph, starting from the long-run optimum.</a:t>
                </a:r>
              </a:p>
              <a:p>
                <a:pPr lvl="3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If input 2 is fixed at a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the previous long-run optimum is no longer feasible.</a:t>
                </a:r>
              </a:p>
              <a:p>
                <a:pPr lvl="3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short-run solution will generally be associated with a higher cost of production.</a:t>
                </a:r>
              </a:p>
              <a:p>
                <a:pPr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2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𝑆𝑅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2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Because the firm cannot freely substitute between inputs, it cannot achieve the tangency condition in the short run.</a:t>
                </a:r>
              </a:p>
              <a:p>
                <a:pPr lvl="1">
                  <a:lnSpc>
                    <a:spcPct val="92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short-run cost equals the long-run cost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coincides with the long-run optimal input level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3D6363-C7BD-34E3-3325-8E89104453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54180"/>
              </a:xfrm>
              <a:blipFill>
                <a:blip r:embed="rId2"/>
                <a:stretch>
                  <a:fillRect l="-1270" t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285DE69-8FBB-0A55-D808-5A6E898DDCD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4397D-2326-A707-0205-DE0E28B4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CMP in the Short Run Visualized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A376F-A24C-FAF9-097C-468C0ED59A6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CFD16-A866-AFA6-E2AF-0873D6CD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F4C46-AB28-9B2A-36B4-2B474A45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9D4262-E985-53B4-3339-23B4DFC28B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9CE7FC7E-D15B-6AEA-11CF-78471FE86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AFA7DE43-4CDF-A770-BA54-F539513CF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7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2FBD-541A-2AE1-227E-BF663C5E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B63EA-ABC2-71CF-426D-ED35E4027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following CMP: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.     </m:t>
                    </m:r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b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production constraint solely dictates the conditional factor demand of input 1: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>
                            <m:fPr>
                              <m:type m:val="skw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bSup>
                      <m:sSubSup>
                        <m:sSub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f>
                            <m:fPr>
                              <m:type m:val="skw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b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>
                            <m:fPr>
                              <m:type m:val="skw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sSubSup>
                            <m:sSub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f>
                                <m:fPr>
                                  <m:type m:val="skw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bSup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zh-TW" sz="20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short run cost function is then:</a:t>
                </a: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𝑆𝑅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B63EA-ABC2-71CF-426D-ED35E4027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63324"/>
              </a:xfrm>
              <a:blipFill>
                <a:blip r:embed="rId2"/>
                <a:stretch>
                  <a:fillRect l="-698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96D708C-6F2E-4DE0-2065-A7A270206FD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43084-D840-09F7-BA35-277C7B51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Short Run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721D6-D90E-8CCE-2354-30B91C61A20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59883-D12E-C90D-E4F5-3B45BA23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56372-353E-571F-95CD-2F2B09C5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991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FCACC-7CFE-C16B-D2E3-EAB226A3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58CC5-C2BF-10CA-D0D3-BEDE3D81CFFC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68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6581-C1E7-5F4C-7898-0D22DDB7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firm chooses inputs to minimize total cost for a given output level: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zh-TW" sz="12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an interior optimum, the slope of the isoquant equals the slope of the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tangency condition implies that the firm equalizes marginal product per dollar across inputs:</a:t>
                </a: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r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33D2929-9CDA-E343-4CE0-25D3DE6D957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8C491-CA85-A689-CECE-024C9E2F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32077-51C7-077D-A236-BBB714E3F0D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3D8F2-4A44-1859-CEC9-67912A5D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ED957-F43A-99CB-1F4F-C8F1F364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864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5A0B-E49F-66A6-84FC-62531EAE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82BC5-F423-8CEF-492D-9D90A52B7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CMP yields the firm’s conditional factor demand: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These inputs minimize cost, and are conditional on factor prices, the firm’s technology, and the desired level of production.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Substituting the conditional factor demands into the objective function yields the cost function, which gives the firm’s minimum cost of producing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1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the short run, some inputs are fixed, and the tangency condition may not be achieved: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𝑆𝑅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Short run cost equals long run cost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coincides with the long run optimal level.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82BC5-F423-8CEF-492D-9D90A52B7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b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652747E-DA86-DA69-F7BE-4DB6FBC2626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98A39-4466-8E07-06B1-D88816D8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DA94F1-6FD9-D17A-A13C-33D80E3E4A0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5FE89-E6F2-55AD-523D-043C2793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932BD-D61B-C2A1-D0D0-6FC93E2D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64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CAFF-9B43-78CA-BAEA-3A38D425E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Holding input prices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 fixed, cost becomes a function of output: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allows us to study how total cost changes as output increases.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Next, we define and examine: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Fixed costs and variable costs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Average costs and marginal costs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Short run vs. Long run cost curves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These concepts will directly lead us to the firm’s supply curve.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CAFF-9B43-78CA-BAEA-3A38D425E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Cost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82BC-2D44-4CB1-89DC-762807C2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12979</TotalTime>
  <Words>2253</Words>
  <Application>Microsoft Office PowerPoint</Application>
  <PresentationFormat>Custom</PresentationFormat>
  <Paragraphs>298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Recap: Profit Maximization</vt:lpstr>
      <vt:lpstr>  Recap: Profit Maximization</vt:lpstr>
      <vt:lpstr>PowerPoint Presentation</vt:lpstr>
      <vt:lpstr>  The Cost Minimization Problem</vt:lpstr>
      <vt:lpstr>  Isocost: The Objective</vt:lpstr>
      <vt:lpstr>  Isocost: The Objective</vt:lpstr>
      <vt:lpstr>  Isocost: The Objective</vt:lpstr>
      <vt:lpstr>  Isoquant: The Constraint</vt:lpstr>
      <vt:lpstr>  CMP Visualized: Candidate #1</vt:lpstr>
      <vt:lpstr>  CMP Visualized: Candidate #2</vt:lpstr>
      <vt:lpstr>  CMP Visualized: Candidate #3</vt:lpstr>
      <vt:lpstr>PowerPoint Presentation</vt:lpstr>
      <vt:lpstr>  CMP: Graphs to Math</vt:lpstr>
      <vt:lpstr>  CMP: The Lagrangian</vt:lpstr>
      <vt:lpstr>  CMP: Tangency Condition</vt:lpstr>
      <vt:lpstr>  CMP: The Conditional Factor Demand</vt:lpstr>
      <vt:lpstr>  CMP: The Cost Function</vt:lpstr>
      <vt:lpstr>  Numerical Example: Cost Minimization</vt:lpstr>
      <vt:lpstr>  Numerical Example: Cost Minimization</vt:lpstr>
      <vt:lpstr>  CMP in the Short Run </vt:lpstr>
      <vt:lpstr>  CMP in the Short Run Visualized</vt:lpstr>
      <vt:lpstr>  Numerical Example: Short Run Cost Minimization</vt:lpstr>
      <vt:lpstr>PowerPoint Presentation</vt:lpstr>
      <vt:lpstr>  Recap: Cost Minimization</vt:lpstr>
      <vt:lpstr>  Recap: Cost Minimization</vt:lpstr>
      <vt:lpstr>  Preview: Cost Curves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469</cp:revision>
  <cp:lastPrinted>2026-02-23T02:04:32Z</cp:lastPrinted>
  <dcterms:created xsi:type="dcterms:W3CDTF">2013-01-27T09:14:16Z</dcterms:created>
  <dcterms:modified xsi:type="dcterms:W3CDTF">2026-03-18T19:19:00Z</dcterms:modified>
  <cp:category/>
</cp:coreProperties>
</file>