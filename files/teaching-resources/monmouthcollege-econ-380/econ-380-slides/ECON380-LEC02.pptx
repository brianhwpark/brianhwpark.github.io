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9"/>
  </p:notesMasterIdLst>
  <p:sldIdLst>
    <p:sldId id="256" r:id="rId2"/>
    <p:sldId id="283" r:id="rId3"/>
    <p:sldId id="284" r:id="rId4"/>
    <p:sldId id="285" r:id="rId5"/>
    <p:sldId id="281" r:id="rId6"/>
    <p:sldId id="286" r:id="rId7"/>
    <p:sldId id="288" r:id="rId8"/>
    <p:sldId id="294" r:id="rId9"/>
    <p:sldId id="290" r:id="rId10"/>
    <p:sldId id="291" r:id="rId11"/>
    <p:sldId id="293" r:id="rId12"/>
    <p:sldId id="295" r:id="rId13"/>
    <p:sldId id="292" r:id="rId14"/>
    <p:sldId id="297" r:id="rId15"/>
    <p:sldId id="296" r:id="rId16"/>
    <p:sldId id="298" r:id="rId17"/>
    <p:sldId id="299" r:id="rId18"/>
    <p:sldId id="309" r:id="rId19"/>
    <p:sldId id="319" r:id="rId20"/>
    <p:sldId id="310" r:id="rId21"/>
    <p:sldId id="311" r:id="rId22"/>
    <p:sldId id="312" r:id="rId23"/>
    <p:sldId id="316" r:id="rId24"/>
    <p:sldId id="314" r:id="rId25"/>
    <p:sldId id="315" r:id="rId26"/>
    <p:sldId id="317" r:id="rId27"/>
    <p:sldId id="318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9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ECON 380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ezVEzCmiXM4?feature=oembed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LGuiyXoDkBg?feature=oembed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lLzcW5NG5eA?feature=oembed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Externalities and Public Goods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380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Market Equilibrium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market supply and demand are determined by agents’ private marginal costs and benefits.</a:t>
            </a:r>
          </a:p>
          <a:p>
            <a:pPr lvl="1"/>
            <a:r>
              <a:rPr lang="en-US" dirty="0"/>
              <a:t>Private Marginal Cost represents the supply curve.</a:t>
            </a:r>
            <a:endParaRPr lang="en-US" sz="1200" dirty="0"/>
          </a:p>
          <a:p>
            <a:pPr lvl="1"/>
            <a:r>
              <a:rPr lang="en-US" dirty="0"/>
              <a:t>Private Marginal Benefit represents the demand curve.</a:t>
            </a:r>
          </a:p>
          <a:p>
            <a:pPr lvl="4"/>
            <a:endParaRPr lang="en-US" dirty="0"/>
          </a:p>
          <a:p>
            <a:r>
              <a:rPr lang="en-US" dirty="0"/>
              <a:t>At the equilibrium,</a:t>
            </a:r>
          </a:p>
          <a:p>
            <a:pPr lvl="1"/>
            <a:r>
              <a:rPr lang="en-US" dirty="0"/>
              <a:t>Supply = Demand, so</a:t>
            </a:r>
          </a:p>
          <a:p>
            <a:pPr lvl="1"/>
            <a:r>
              <a:rPr lang="en-US" dirty="0"/>
              <a:t>Private Marginal Cost = Private Marginal Benefit</a:t>
            </a:r>
          </a:p>
          <a:p>
            <a:pPr lvl="3"/>
            <a:endParaRPr lang="en-US" dirty="0"/>
          </a:p>
          <a:p>
            <a:r>
              <a:rPr lang="en-US" dirty="0"/>
              <a:t>When private marginal costs and benefits match social marginal costs and benefits, markets are efficient.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9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8F438-443A-8B9B-2305-86C5C27B4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19BDD-8421-3CD8-E004-0CD67712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Equilibrium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ACB2D5-7B17-6785-5516-913D8FD62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281878"/>
          </a:xfrm>
        </p:spPr>
        <p:txBody>
          <a:bodyPr>
            <a:normAutofit/>
          </a:bodyPr>
          <a:lstStyle/>
          <a:p>
            <a:r>
              <a:rPr lang="en-US" dirty="0"/>
              <a:t>Consumer surplus (CS) is the difference between the price and consumers’ max willingness to pay.</a:t>
            </a:r>
          </a:p>
          <a:p>
            <a:pPr lvl="3"/>
            <a:endParaRPr lang="en-US" dirty="0"/>
          </a:p>
          <a:p>
            <a:r>
              <a:rPr lang="en-US" dirty="0"/>
              <a:t>Producer surplus (PS) is the difference between the price and producers’ min willingness to accept.</a:t>
            </a:r>
          </a:p>
          <a:p>
            <a:pPr lvl="3"/>
            <a:endParaRPr lang="en-US" dirty="0"/>
          </a:p>
          <a:p>
            <a:r>
              <a:rPr lang="en-US" dirty="0"/>
              <a:t>Total surplus is the sum of CS and PS.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D2ED1-F5C7-92FA-A5E0-1644764FA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4E25F-BA28-9F52-25F7-043118BA7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54ABE0-C430-CCFE-24B0-215BE3F7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  <p:pic>
        <p:nvPicPr>
          <p:cNvPr id="15" name="Content Placeholder 14" descr="A diagram of a supply line&#10;&#10;Description automatically generated">
            <a:extLst>
              <a:ext uri="{FF2B5EF4-FFF2-40B4-BE49-F238E27FC236}">
                <a16:creationId xmlns:a16="http://schemas.microsoft.com/office/drawing/2014/main" id="{FB1BD4C3-BC4A-5614-1E54-0772F366B2E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58194"/>
            <a:ext cx="3886200" cy="3886200"/>
          </a:xfrm>
        </p:spPr>
      </p:pic>
    </p:spTree>
    <p:extLst>
      <p:ext uri="{BB962C8B-B14F-4D97-AF65-F5344CB8AC3E}">
        <p14:creationId xmlns:p14="http://schemas.microsoft.com/office/powerpoint/2010/main" val="6425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C2D41-ACBF-E233-BD5A-3B98CB88B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30B4-DC05-88E4-FCC1-DE83ECB7C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3B899B9-75C5-74C0-0D8D-572AE49028F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28187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Claim: If private marginal costs and benefits match social marginal costs and benefits, the market will be efficient.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Why?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Suppose that allocation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not efficient.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3B899B9-75C5-74C0-0D8D-572AE49028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281878"/>
              </a:xfrm>
              <a:blipFill>
                <a:blip r:embed="rId2"/>
                <a:stretch>
                  <a:fillRect l="-2038" t="-1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272CD4-3285-2A8E-50B4-B26D126CB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200B4-CC3E-FCC0-CC07-7A623F917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C1F21-C442-E423-1720-BEDA6BD43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  <p:pic>
        <p:nvPicPr>
          <p:cNvPr id="15" name="Content Placeholder 14" descr="A diagram of a supply line&#10;&#10;Description automatically generated">
            <a:extLst>
              <a:ext uri="{FF2B5EF4-FFF2-40B4-BE49-F238E27FC236}">
                <a16:creationId xmlns:a16="http://schemas.microsoft.com/office/drawing/2014/main" id="{8D64D256-0941-4438-0A30-145BC7EF198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58194"/>
            <a:ext cx="3886200" cy="3886200"/>
          </a:xfrm>
        </p:spPr>
      </p:pic>
    </p:spTree>
    <p:extLst>
      <p:ext uri="{BB962C8B-B14F-4D97-AF65-F5344CB8AC3E}">
        <p14:creationId xmlns:p14="http://schemas.microsoft.com/office/powerpoint/2010/main" val="152112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935D4-65E7-69B4-BD6D-9D50F5BDB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EB8F33-E8B7-B7AA-0D88-608ADE1F4E8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28187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that the actual efficient quantity is found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, which is one more unit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Then, the consumers’ benefit will be strictly less than the producers’ cost.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Therefore, producing more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is not efficient.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EB8F33-E8B7-B7AA-0D88-608ADE1F4E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281878"/>
              </a:xfrm>
              <a:blipFill>
                <a:blip r:embed="rId2"/>
                <a:stretch>
                  <a:fillRect l="-2038" t="-1849" r="-2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BBD26-C854-CF67-E7CE-A807D7216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5F5DC-7EFC-CCFD-CD12-CDEA348A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D5BEB-61BF-5283-A16E-614228430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  <p:pic>
        <p:nvPicPr>
          <p:cNvPr id="31" name="Content Placeholder 30" descr="A diagram of a supply line&#10;&#10;Description automatically generated">
            <a:extLst>
              <a:ext uri="{FF2B5EF4-FFF2-40B4-BE49-F238E27FC236}">
                <a16:creationId xmlns:a16="http://schemas.microsoft.com/office/drawing/2014/main" id="{28FDF542-EF51-6916-5D9F-9E3D768AC45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58194"/>
            <a:ext cx="3886200" cy="3886200"/>
          </a:xfrm>
        </p:spPr>
      </p:pic>
    </p:spTree>
    <p:extLst>
      <p:ext uri="{BB962C8B-B14F-4D97-AF65-F5344CB8AC3E}">
        <p14:creationId xmlns:p14="http://schemas.microsoft.com/office/powerpoint/2010/main" val="193040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96C93-3A57-51C6-DE7A-66F1C43BD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85591-A2E6-7DA9-79CF-5F18EB429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871058C-BCB8-B4EC-FEB4-EB40C3C712F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28187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that the actual efficient quantity is found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en-US" dirty="0"/>
                  <a:t>, which is one less unit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Then, the last consumer will be willing to pay more than the last producer’s cost.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Therefore, producing less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is not efficient.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871058C-BCB8-B4EC-FEB4-EB40C3C712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281878"/>
              </a:xfrm>
              <a:blipFill>
                <a:blip r:embed="rId2"/>
                <a:stretch>
                  <a:fillRect l="-2038" t="-1849" b="-1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5945B-0064-FD84-BCE6-D6893582D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69038-450A-1315-F0B9-8230740CE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DEC4D-63D8-360D-5C56-23E80550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p:pic>
        <p:nvPicPr>
          <p:cNvPr id="10" name="Content Placeholder 9" descr="A diagram of a supply line&#10;&#10;Description automatically generated">
            <a:extLst>
              <a:ext uri="{FF2B5EF4-FFF2-40B4-BE49-F238E27FC236}">
                <a16:creationId xmlns:a16="http://schemas.microsoft.com/office/drawing/2014/main" id="{C91ADDCC-1E71-1200-30C5-786160C96E7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58194"/>
            <a:ext cx="3886200" cy="3886200"/>
          </a:xfrm>
        </p:spPr>
      </p:pic>
    </p:spTree>
    <p:extLst>
      <p:ext uri="{BB962C8B-B14F-4D97-AF65-F5344CB8AC3E}">
        <p14:creationId xmlns:p14="http://schemas.microsoft.com/office/powerpoint/2010/main" val="2320472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49048-5BF5-5849-8859-A8F8DDF4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F4A50-A51C-7DBF-06B9-67FC338E7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Externalities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91E96-CCC3-7036-1F78-78080C2E6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presence of externalities, the private costs and benefits no longer align with social costs and benefits.</a:t>
            </a:r>
          </a:p>
          <a:p>
            <a:pPr lvl="3"/>
            <a:endParaRPr lang="en-US" dirty="0"/>
          </a:p>
          <a:p>
            <a:r>
              <a:rPr lang="en-US" dirty="0"/>
              <a:t>Externalities are problematic, since there is no market for externalities, and thus are not priced.</a:t>
            </a:r>
          </a:p>
          <a:p>
            <a:pPr lvl="3"/>
            <a:endParaRPr lang="en-US" dirty="0"/>
          </a:p>
          <a:p>
            <a:r>
              <a:rPr lang="en-US" dirty="0"/>
              <a:t>Markets are efficient when prices accurately reflect the true value of goods and services.</a:t>
            </a:r>
          </a:p>
          <a:p>
            <a:pPr lvl="3"/>
            <a:endParaRPr lang="en-US" dirty="0"/>
          </a:p>
          <a:p>
            <a:r>
              <a:rPr lang="en-US" dirty="0"/>
              <a:t>Externalities drive a wedge between the private benefits and costs and social benefits and costs.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3F7C-237C-2C6B-B80F-CBD9FF6E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59B8D-37BD-55B9-EE03-C636084E9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D8D24-E841-B37B-739B-2B2B19CB5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698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75110-8974-84BE-CF62-3E4B65C4C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25ECD-8FCC-CCC5-435B-4F6F1EF4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Negative Externalities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C5DBA5-341E-B238-E5A7-4026591D72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When externalities are discussed, it is often in the context of negative externalities.</a:t>
                </a:r>
              </a:p>
              <a:p>
                <a:pPr lvl="1"/>
                <a:r>
                  <a:rPr lang="en-US" dirty="0"/>
                  <a:t>Smoking in public areas</a:t>
                </a:r>
              </a:p>
              <a:p>
                <a:pPr lvl="1"/>
                <a:r>
                  <a:rPr lang="en-US" dirty="0"/>
                  <a:t>Pesticides in agricultural production</a:t>
                </a:r>
              </a:p>
              <a:p>
                <a:pPr lvl="3"/>
                <a:endParaRPr lang="en-US" dirty="0"/>
              </a:p>
              <a:p>
                <a:r>
                  <a:rPr lang="en-US" b="1" dirty="0"/>
                  <a:t>Negative externalities</a:t>
                </a:r>
                <a:r>
                  <a:rPr lang="en-US" dirty="0"/>
                  <a:t> are externalities that impose external costs to the economy.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 the presence of negative externalities…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𝑆𝑀𝐶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𝑃𝑀𝐶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𝐸𝑀𝐶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𝑆𝑜𝑐𝑖𝑎𝑙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𝑀𝑎𝑟𝑔𝑖𝑛𝑎𝑙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𝑃𝑟𝑖𝑣𝑎𝑡𝑒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𝑀𝑎𝑟𝑔𝑖𝑛𝑎𝑙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𝐸𝑥𝑡𝑒𝑟𝑛𝑎𝑙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𝑀𝑎𝑟𝑔𝑖𝑎𝑙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en-US" sz="2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C5DBA5-341E-B238-E5A7-4026591D72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3A36F-174A-C58F-69B9-D94C5710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C3299-F03B-CE1A-5528-C7957A031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3C9CD-2F36-9034-BA06-BF2A0602C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3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9D9DF-49CE-091A-6296-BCA2B5ECB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DF2B1-1A55-A1BF-3671-89C6937DB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Rachel L. Carson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4D4C3-5A2E-38FA-D1B5-745865034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38A70-AFD6-A87F-060B-EE113BF20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B893F-6DC9-00B5-AA4F-30A26840E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/>
          </a:p>
        </p:txBody>
      </p:sp>
      <p:pic>
        <p:nvPicPr>
          <p:cNvPr id="1026" name="Picture 2" descr="Silent Spring” remains a rousing call to action">
            <a:extLst>
              <a:ext uri="{FF2B5EF4-FFF2-40B4-BE49-F238E27FC236}">
                <a16:creationId xmlns:a16="http://schemas.microsoft.com/office/drawing/2014/main" id="{A8742474-FA84-3CEA-308B-F441C4802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830389"/>
            <a:ext cx="7886700" cy="4436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742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1EE1E-4BF2-2150-1B34-66F7B0550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289C6-5316-70DB-8045-2D8FC1603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Negative Externalities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429E4-AA7B-0E67-BFEF-471DAF3EE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26C97-E7DA-4A7C-CBEB-DCBA54657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8A268-C37B-4CCA-C7D1-ADEECFB8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/>
          </a:p>
        </p:txBody>
      </p:sp>
      <p:pic>
        <p:nvPicPr>
          <p:cNvPr id="3" name="Online Media 2" title="How one scientist took on the chemical industry - Mark Lytle">
            <a:hlinkClick r:id="" action="ppaction://media"/>
            <a:extLst>
              <a:ext uri="{FF2B5EF4-FFF2-40B4-BE49-F238E27FC236}">
                <a16:creationId xmlns:a16="http://schemas.microsoft.com/office/drawing/2014/main" id="{9D7D5E4B-08EA-0D3A-AB9C-E44BB1AE861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20725" y="1825625"/>
            <a:ext cx="77025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6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BA235-46DA-E5C4-CFF4-601D57B24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2F4C6-BCBE-A14B-F5FB-1CFFA0206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Externalities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57D0183-81BA-1400-9110-293A1E8E6DF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135289" cy="428187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left to the market mechanisms alone, the market will reach an equilibrium at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we consider the external cost, the optimum should be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negative externalities are present, the market produces more than optimal.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57D0183-81BA-1400-9110-293A1E8E6D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135289" cy="4281878"/>
              </a:xfrm>
              <a:blipFill>
                <a:blip r:embed="rId2"/>
                <a:stretch>
                  <a:fillRect l="-1915" t="-1849" r="-2798" b="-1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4A839-F1E5-5ECA-7952-7750FD31C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FBDD0-5B26-0510-BAFE-D87AE38B6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30CDD-9DC1-AD09-A916-E9EF0319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pic>
        <p:nvPicPr>
          <p:cNvPr id="35" name="Content Placeholder 34" descr="A diagram of a cost&#10;&#10;Description automatically generated">
            <a:extLst>
              <a:ext uri="{FF2B5EF4-FFF2-40B4-BE49-F238E27FC236}">
                <a16:creationId xmlns:a16="http://schemas.microsoft.com/office/drawing/2014/main" id="{39050617-1227-23E0-4973-C51E197CAC2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58194"/>
            <a:ext cx="3886200" cy="3886200"/>
          </a:xfrm>
        </p:spPr>
      </p:pic>
    </p:spTree>
    <p:extLst>
      <p:ext uri="{BB962C8B-B14F-4D97-AF65-F5344CB8AC3E}">
        <p14:creationId xmlns:p14="http://schemas.microsoft.com/office/powerpoint/2010/main" val="58071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3FCEF-FD90-5998-2265-D02CFDB5F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3A7F9-707B-4DA2-2719-14BB7ACC8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Externalities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A2325-585C-3246-A76B-35B7C2566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1825625"/>
            <a:ext cx="3962759" cy="428187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find that the market will generate deadweight loss.</a:t>
            </a:r>
          </a:p>
          <a:p>
            <a:pPr marL="1371600" lvl="3" indent="0">
              <a:buNone/>
            </a:pPr>
            <a:endParaRPr lang="en-US" dirty="0"/>
          </a:p>
          <a:p>
            <a:r>
              <a:rPr lang="en-US" dirty="0"/>
              <a:t>The difference between the consumers’ willingness to pay and the social cost.</a:t>
            </a:r>
          </a:p>
          <a:p>
            <a:pPr lvl="3"/>
            <a:endParaRPr lang="en-US" dirty="0"/>
          </a:p>
          <a:p>
            <a:r>
              <a:rPr lang="en-US" dirty="0"/>
              <a:t>Private agents do not consider external costs.</a:t>
            </a:r>
          </a:p>
          <a:p>
            <a:pPr lvl="3"/>
            <a:endParaRPr lang="en-US" dirty="0"/>
          </a:p>
          <a:p>
            <a:r>
              <a:rPr lang="en-US" dirty="0"/>
              <a:t>Societal loss occurs due to the unregulated externality.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ED8AC-2809-855F-B556-E0665DDC3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CCE94-7FD5-600E-76EB-56AD85C0F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8FB46-D8F3-A543-B89B-462857ED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  <p:pic>
        <p:nvPicPr>
          <p:cNvPr id="10" name="Content Placeholder 9" descr="A diagram of a graph&#10;&#10;Description automatically generated">
            <a:extLst>
              <a:ext uri="{FF2B5EF4-FFF2-40B4-BE49-F238E27FC236}">
                <a16:creationId xmlns:a16="http://schemas.microsoft.com/office/drawing/2014/main" id="{418CD320-1CF1-2780-A498-1E35EA0456D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58194"/>
            <a:ext cx="3886200" cy="3886200"/>
          </a:xfrm>
        </p:spPr>
      </p:pic>
    </p:spTree>
    <p:extLst>
      <p:ext uri="{BB962C8B-B14F-4D97-AF65-F5344CB8AC3E}">
        <p14:creationId xmlns:p14="http://schemas.microsoft.com/office/powerpoint/2010/main" val="1551678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60DBE-5332-8C82-F083-11E0B0105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05F80-F0E6-29D6-8B53-3FFCD9F40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Positive Externalities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C6D785-BA48-651A-8C84-213CEFB95D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Externalities need not be imposing costs but can add benefits to third parties.</a:t>
                </a:r>
              </a:p>
              <a:p>
                <a:pPr lvl="1"/>
                <a:r>
                  <a:rPr lang="en-US" dirty="0"/>
                  <a:t>Vaccination programs</a:t>
                </a:r>
              </a:p>
              <a:p>
                <a:pPr lvl="1"/>
                <a:r>
                  <a:rPr lang="en-US" dirty="0"/>
                  <a:t>Research and Development</a:t>
                </a:r>
              </a:p>
              <a:p>
                <a:pPr lvl="3"/>
                <a:endParaRPr lang="en-US" dirty="0"/>
              </a:p>
              <a:p>
                <a:r>
                  <a:rPr lang="en-US" b="1" dirty="0"/>
                  <a:t>Positive externalities</a:t>
                </a:r>
                <a:r>
                  <a:rPr lang="en-US" dirty="0"/>
                  <a:t> are externalities that impose external benefits to the economy.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 the presence of negative externalities…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𝑆𝑀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𝑃𝑀𝐵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𝐸𝑀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𝑆𝑜𝑐𝑖𝑎𝑙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𝑀𝑎𝑟𝑔𝑖𝑛𝑎𝑙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𝐵𝑒𝑛𝑒𝑓𝑖𝑡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𝑃𝑟𝑖𝑣𝑎𝑡𝑒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𝑀𝑎𝑟𝑔𝑖𝑛𝑎𝑙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𝐵𝑒𝑛𝑒𝑓𝑖𝑡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𝐸𝑥𝑡𝑒𝑟𝑛𝑎𝑙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𝑀𝑎𝑟𝑔𝑖𝑎𝑙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𝐵𝑒𝑛𝑒𝑓𝑖𝑡</m:t>
                      </m:r>
                    </m:oMath>
                  </m:oMathPara>
                </a14:m>
                <a:endParaRPr lang="en-US" sz="16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C6D785-BA48-651A-8C84-213CEFB95D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EB191-F89C-AC23-A8D9-3381FE87E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00EE0-F512-C493-741C-3D320BE73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D165B-1F54-7C78-5EBE-7EFAECECD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6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18723-04C8-E76A-E239-507D684A0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4647D-AADF-035F-69C2-9D2639546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SARS-CoV-2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E4CA4-B3B8-89FD-C696-FE28450E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9378A-BE22-D55A-9174-AC9A8FA5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10314-DE0D-E2B9-5A6A-C3F922B50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/>
          </a:p>
        </p:txBody>
      </p:sp>
      <p:pic>
        <p:nvPicPr>
          <p:cNvPr id="2050" name="Picture 2" descr="UChicago scientists create first computational model of entire virus  responsible for COVID-19 | University of Chicago News">
            <a:extLst>
              <a:ext uri="{FF2B5EF4-FFF2-40B4-BE49-F238E27FC236}">
                <a16:creationId xmlns:a16="http://schemas.microsoft.com/office/drawing/2014/main" id="{0C33EA8D-6476-9546-4706-CCEB9FE62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44" y="1828505"/>
            <a:ext cx="7806906" cy="439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946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F1ED6-9C6F-2D3B-5AC8-D16E3BDBE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Positive Externalities</a:t>
            </a:r>
          </a:p>
        </p:txBody>
      </p:sp>
      <p:pic>
        <p:nvPicPr>
          <p:cNvPr id="7" name="Online Media 6" title="What Is Herd Immunity?">
            <a:hlinkClick r:id="" action="ppaction://media"/>
            <a:extLst>
              <a:ext uri="{FF2B5EF4-FFF2-40B4-BE49-F238E27FC236}">
                <a16:creationId xmlns:a16="http://schemas.microsoft.com/office/drawing/2014/main" id="{0B71FB0E-FFEE-D0F9-935D-B6304E08D37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20725" y="1825625"/>
            <a:ext cx="7702550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AA7D7-A2F8-E9DB-A71D-9F4A04055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662EE-A11F-2E25-2B73-74260618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90701-F3B7-D2A4-8556-DE165BA32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8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7CE24-CD70-2725-2F1D-0F1EFECE2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54412-0639-7C09-045E-3F64BA1DB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Positive Externalities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C32B1DB-17C8-9A84-70E8-FF6C769687C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97266" cy="428187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left to the market mechanisms alone, the market will reach an equilibrium at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we consider the external benefits, the optimum should be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positive externalities are present, the market is produces less than optimal.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C32B1DB-17C8-9A84-70E8-FF6C769687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97266" cy="4281878"/>
              </a:xfrm>
              <a:blipFill>
                <a:blip r:embed="rId2"/>
                <a:stretch>
                  <a:fillRect l="-1982" t="-1849" r="-1677" b="-1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00B78-5D15-EB66-277C-96BB88738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F3082-F3F2-E704-EC3E-166E68AC7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C073D-015C-8ED5-8A06-B2ADE4DCB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  <p:pic>
        <p:nvPicPr>
          <p:cNvPr id="18" name="Content Placeholder 17" descr="A diagram of a cost&#10;&#10;Description automatically generated">
            <a:extLst>
              <a:ext uri="{FF2B5EF4-FFF2-40B4-BE49-F238E27FC236}">
                <a16:creationId xmlns:a16="http://schemas.microsoft.com/office/drawing/2014/main" id="{38AF0239-25F1-69FD-494B-F262E86F08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58194"/>
            <a:ext cx="3886200" cy="3886200"/>
          </a:xfrm>
        </p:spPr>
      </p:pic>
    </p:spTree>
    <p:extLst>
      <p:ext uri="{BB962C8B-B14F-4D97-AF65-F5344CB8AC3E}">
        <p14:creationId xmlns:p14="http://schemas.microsoft.com/office/powerpoint/2010/main" val="160304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5DE4C-AC39-16DC-41FB-72DFC608B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799A0-0C3D-264D-C163-A497458BB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Positive Externalities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8DB3E-DE91-20A6-8D30-C68600A4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1825625"/>
            <a:ext cx="3962759" cy="428187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find that the market will generate deadweight loss.</a:t>
            </a:r>
          </a:p>
          <a:p>
            <a:pPr marL="1371600" lvl="3" indent="0">
              <a:buNone/>
            </a:pPr>
            <a:endParaRPr lang="en-US" dirty="0"/>
          </a:p>
          <a:p>
            <a:r>
              <a:rPr lang="en-US" dirty="0"/>
              <a:t>The difference between the societal marginal benefit and the social cost.</a:t>
            </a:r>
          </a:p>
          <a:p>
            <a:pPr lvl="3"/>
            <a:endParaRPr lang="en-US" dirty="0"/>
          </a:p>
          <a:p>
            <a:r>
              <a:rPr lang="en-US" dirty="0"/>
              <a:t>Private agents do not consider external benefits.</a:t>
            </a:r>
          </a:p>
          <a:p>
            <a:pPr lvl="3"/>
            <a:endParaRPr lang="en-US" dirty="0"/>
          </a:p>
          <a:p>
            <a:r>
              <a:rPr lang="en-US" dirty="0"/>
              <a:t>Societal loss occurs due to the unregulated externality.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ADD0D-37FE-F63B-0A6E-B066991C1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60913-1D9D-BCCA-4942-B56A7794E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F6CAB-F912-270C-9965-A7DE16974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p:pic>
        <p:nvPicPr>
          <p:cNvPr id="11" name="Content Placeholder 10" descr="A diagram of a cost&#10;&#10;Description automatically generated">
            <a:extLst>
              <a:ext uri="{FF2B5EF4-FFF2-40B4-BE49-F238E27FC236}">
                <a16:creationId xmlns:a16="http://schemas.microsoft.com/office/drawing/2014/main" id="{ED6DE8EA-A90F-891F-93CC-82A0D62B562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58194"/>
            <a:ext cx="3886200" cy="3886200"/>
          </a:xfrm>
        </p:spPr>
      </p:pic>
    </p:spTree>
    <p:extLst>
      <p:ext uri="{BB962C8B-B14F-4D97-AF65-F5344CB8AC3E}">
        <p14:creationId xmlns:p14="http://schemas.microsoft.com/office/powerpoint/2010/main" val="295521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A98B3-C196-EEA4-1287-87D1EF5F5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DEA61-187A-D7BC-AF54-F3B926865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Public Goods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47C83-3803-049A-6076-D51AEC413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some cases, goods or services that are associated with large positive externalities are Public goods.</a:t>
            </a:r>
          </a:p>
          <a:p>
            <a:endParaRPr lang="en-US" sz="1600" dirty="0"/>
          </a:p>
          <a:p>
            <a:r>
              <a:rPr lang="en-US" dirty="0"/>
              <a:t>Public goods are characterized by non-excludability and non-rivalry in consumption (environmental quality?).</a:t>
            </a:r>
          </a:p>
          <a:p>
            <a:pPr lvl="3"/>
            <a:endParaRPr lang="en-US" dirty="0"/>
          </a:p>
          <a:p>
            <a:r>
              <a:rPr lang="en-US" dirty="0"/>
              <a:t>This leads to the free-rider problem, which is a market failure that occurs when some agents who benefit from some good / service under-pays for said good / service.</a:t>
            </a:r>
          </a:p>
          <a:p>
            <a:pPr lvl="3"/>
            <a:endParaRPr lang="en-US" dirty="0"/>
          </a:p>
          <a:p>
            <a:r>
              <a:rPr lang="en-US" dirty="0"/>
              <a:t>Recall that goods with positive externalities are under-supplied if left to the market.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CB156-B218-10BB-6393-D5877E224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66305-6ECA-AAE6-79A7-7656F91CB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2AEB2-F442-AABB-3EFA-932692B91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693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CE477-7B73-BA7C-F7F1-0DCAD0DC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Goods</a:t>
            </a:r>
          </a:p>
        </p:txBody>
      </p:sp>
      <p:pic>
        <p:nvPicPr>
          <p:cNvPr id="7" name="Online Media 6" title="Public Goods and Asteroid Defense">
            <a:hlinkClick r:id="" action="ppaction://media"/>
            <a:extLst>
              <a:ext uri="{FF2B5EF4-FFF2-40B4-BE49-F238E27FC236}">
                <a16:creationId xmlns:a16="http://schemas.microsoft.com/office/drawing/2014/main" id="{EA68CEBA-3A0B-6D05-3F7F-FE8799533CE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20725" y="1825625"/>
            <a:ext cx="7702550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C973-F6FA-8434-2C96-55AB3A907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3813F-BF89-F21A-3CA8-0B17DEC3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1E2D3-78B0-24C9-645F-E20191E36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31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28BA9-8EB5-9822-9152-FE2E7B359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B386D-B69F-EB2D-2A35-7BBB11427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Provision of Public Goods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D378EE-179C-7626-4513-948C0E7F50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How can the economy efficiently provide public goods?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know that to reach the social optima…</a:t>
                </a:r>
              </a:p>
              <a:p>
                <a:pPr lvl="1"/>
                <a:r>
                  <a:rPr lang="en-US" dirty="0"/>
                  <a:t>No Externalities: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𝑃𝑀𝐵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𝑃𝑀𝐶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Negative Externalities: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𝑃𝑀𝐵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Positive Externalities: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𝑃𝑀𝐶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Either way, the optimal point is characterized by: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𝑆𝑀𝐵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𝑆𝑀𝐶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How do we find the social marginal benefit?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D378EE-179C-7626-4513-948C0E7F50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C3B34-1006-ED25-1D76-D108238F8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AB3AD-7B80-7E1D-C079-3D389B4B3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A8CF9-1E0C-84F7-C18F-3AABBAFE5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46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C5AE6-F408-5329-B411-E88E348CC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BB08-E306-CFE2-433D-F6C12044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Provision of Public Goods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9A8565-8F8D-5D36-2932-2C3129A069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Since public goods are non-rival in consumption, the social marginal benefit of consumption is found by the sum of every agents’ private marginal benefits.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𝑆𝑀𝐵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sz="500" dirty="0"/>
              </a:p>
              <a:p>
                <a:r>
                  <a:rPr lang="en-US" dirty="0"/>
                  <a:t>Notice that there is a significant difference when it comes to how we calculate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𝑆𝑀𝐵</m:t>
                    </m:r>
                  </m:oMath>
                </a14:m>
                <a:r>
                  <a:rPr lang="en-US" dirty="0"/>
                  <a:t> of private vs. public goods.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Let’s examine the differences side-by-side.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9A8565-8F8D-5D36-2932-2C3129A06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0AC80-07A2-7A4F-9B43-9E3778006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CC95-5B8D-09EB-3F46-18B299C53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A8216-F446-C222-7429-73BC62C7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5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BBF85-C4E0-88EA-4605-3C4DF81DE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Provision of Public Goods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234E2-CAFD-BDC9-ABDB-B42DBE1EE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Private Goods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E5C10-5E9B-8491-0DD8-EE253F27B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85009" cy="3684588"/>
          </a:xfrm>
        </p:spPr>
        <p:txBody>
          <a:bodyPr>
            <a:normAutofit/>
          </a:bodyPr>
          <a:lstStyle/>
          <a:p>
            <a:pPr lvl="3"/>
            <a:endParaRPr lang="en-US" sz="1200" dirty="0"/>
          </a:p>
          <a:p>
            <a:r>
              <a:rPr lang="en-US" sz="2000" dirty="0"/>
              <a:t>Only one person can consume one unit.</a:t>
            </a:r>
          </a:p>
          <a:p>
            <a:pPr lvl="3"/>
            <a:endParaRPr lang="en-US" sz="1400" dirty="0"/>
          </a:p>
          <a:p>
            <a:r>
              <a:rPr lang="en-US" sz="2000" dirty="0"/>
              <a:t>At each price, what is the quantity demanded?</a:t>
            </a:r>
          </a:p>
          <a:p>
            <a:pPr lvl="2"/>
            <a:endParaRPr lang="en-US" sz="1400" dirty="0"/>
          </a:p>
          <a:p>
            <a:r>
              <a:rPr lang="en-US" sz="2000" dirty="0"/>
              <a:t>At each price, we must add up individuals’ quantity demanded.</a:t>
            </a:r>
          </a:p>
          <a:p>
            <a:pPr lvl="3"/>
            <a:endParaRPr lang="en-US" sz="1400" dirty="0"/>
          </a:p>
          <a:p>
            <a:r>
              <a:rPr lang="en-US" sz="2000" dirty="0"/>
              <a:t>Add demand curves horizontally.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E426F5-BD1A-D8A7-C231-4510E2700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Public Goods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9D62E-1EDD-9C2C-274B-39B4A1738D8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lvl="3"/>
            <a:endParaRPr lang="en-US" sz="1200" dirty="0"/>
          </a:p>
          <a:p>
            <a:r>
              <a:rPr lang="en-US" sz="2000" dirty="0"/>
              <a:t>Multiple people can consume one unit.</a:t>
            </a:r>
          </a:p>
          <a:p>
            <a:pPr lvl="3"/>
            <a:endParaRPr lang="en-US" sz="1400" dirty="0"/>
          </a:p>
          <a:p>
            <a:r>
              <a:rPr lang="en-US" sz="2000" dirty="0"/>
              <a:t>At each quantity, what is the total marginal benefit?</a:t>
            </a:r>
          </a:p>
          <a:p>
            <a:pPr lvl="2"/>
            <a:endParaRPr lang="en-US" sz="1400" dirty="0"/>
          </a:p>
          <a:p>
            <a:r>
              <a:rPr lang="en-US" sz="2000" dirty="0"/>
              <a:t>At each quantity, we must add up individuals’ PMBs.</a:t>
            </a:r>
          </a:p>
          <a:p>
            <a:pPr lvl="3"/>
            <a:endParaRPr lang="en-US" sz="1400" dirty="0"/>
          </a:p>
          <a:p>
            <a:r>
              <a:rPr lang="en-US" sz="2000" dirty="0"/>
              <a:t>Add demand curves vertically.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097E2-EF36-6B16-D8E5-45991F2C9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E22E1F-5B83-EB96-C12E-1A3251BEA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6E5475-5EE1-981A-F1A5-8B2A36DF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97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1BD46-67DE-DA27-1788-43AC9F30D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578D2-5BC7-DA47-6AA4-6C422CA9A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Provision of Public Goods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EB1BA7D-18CF-5442-730C-789A8275FDD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28187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In this case,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𝑃𝑀𝐶</m:t>
                    </m:r>
                  </m:oMath>
                </a14:m>
                <a:r>
                  <a:rPr lang="en-US" dirty="0"/>
                  <a:t> is equal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𝑆𝑀𝐶</m:t>
                    </m:r>
                  </m:oMath>
                </a14:m>
                <a:r>
                  <a:rPr lang="en-US" dirty="0"/>
                  <a:t>, and let’s assume: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𝑆𝑀𝐶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sz="500" dirty="0"/>
              </a:p>
              <a:p>
                <a:r>
                  <a:rPr lang="en-US" dirty="0"/>
                  <a:t>Let there be 2 “types” of agents, High and Low: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=50−2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=30−2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At each quantity, we add up each agents’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𝑃𝑀𝐵</m:t>
                    </m:r>
                  </m:oMath>
                </a14:m>
                <a:r>
                  <a:rPr lang="en-US" dirty="0"/>
                  <a:t>s to find the economy’s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𝑆𝑀𝐵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EB1BA7D-18CF-5442-730C-789A8275F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281878"/>
              </a:xfrm>
              <a:blipFill>
                <a:blip r:embed="rId2"/>
                <a:stretch>
                  <a:fillRect l="-2000" t="-2703" r="-4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776E7-BFD5-460D-5EDF-DF2F1541A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C8069-AC82-2E4B-C0CF-4A88E0BC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CC8891-E045-7366-76E1-D5FB17692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p:pic>
        <p:nvPicPr>
          <p:cNvPr id="23" name="Content Placeholder 22" descr="A graph of a cost&#10;&#10;Description automatically generated">
            <a:extLst>
              <a:ext uri="{FF2B5EF4-FFF2-40B4-BE49-F238E27FC236}">
                <a16:creationId xmlns:a16="http://schemas.microsoft.com/office/drawing/2014/main" id="{F144C7F2-FEEB-F57F-7B83-A0E1D3D501F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58194"/>
            <a:ext cx="3886200" cy="3886200"/>
          </a:xfrm>
        </p:spPr>
      </p:pic>
    </p:spTree>
    <p:extLst>
      <p:ext uri="{BB962C8B-B14F-4D97-AF65-F5344CB8AC3E}">
        <p14:creationId xmlns:p14="http://schemas.microsoft.com/office/powerpoint/2010/main" val="313289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D0660-6696-EF4F-BD18-1EE34C0F4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173C1-4E50-9751-FE99-7A7C462D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Provision of Public Goods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4F74A5B-5C14-AB2A-5A05-F39B628F5E2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43715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social marginal benefit is “kinked” as only certain groups are willing to pay.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Kinks occur when each group’s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𝑃𝑀𝐵</m:t>
                    </m:r>
                  </m:oMath>
                </a14:m>
                <a:r>
                  <a:rPr lang="en-US" dirty="0"/>
                  <a:t> reaches zero.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&gt;30</m:t>
                    </m:r>
                  </m:oMath>
                </a14:m>
                <a:r>
                  <a:rPr lang="en-US" dirty="0"/>
                  <a:t>, only the “high” group is willing to pay.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, both groups are willing to pay.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4F74A5B-5C14-AB2A-5A05-F39B628F5E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437152"/>
              </a:xfrm>
              <a:blipFill>
                <a:blip r:embed="rId2"/>
                <a:stretch>
                  <a:fillRect l="-2000" t="-1786" r="-2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33D31-74C2-EA64-7208-166797196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1E57F-DF91-BEE8-6699-9378803D9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66077-CC5D-2C01-CF36-A84D8E096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  <p:pic>
        <p:nvPicPr>
          <p:cNvPr id="14" name="Content Placeholder 13" descr="A graph of a cost and social benefit&#10;&#10;Description automatically generated with medium confidence">
            <a:extLst>
              <a:ext uri="{FF2B5EF4-FFF2-40B4-BE49-F238E27FC236}">
                <a16:creationId xmlns:a16="http://schemas.microsoft.com/office/drawing/2014/main" id="{13D118A8-EFE6-4D08-83D5-198CFB261A7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58194"/>
            <a:ext cx="3886200" cy="3886200"/>
          </a:xfrm>
        </p:spPr>
      </p:pic>
    </p:spTree>
    <p:extLst>
      <p:ext uri="{BB962C8B-B14F-4D97-AF65-F5344CB8AC3E}">
        <p14:creationId xmlns:p14="http://schemas.microsoft.com/office/powerpoint/2010/main" val="2835236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D5630-6066-6497-F0A0-836F53DFE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8917E-342E-80E1-926D-D6DF7C688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Provision of Public Goods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CCD044-3645-6A61-01FC-2EAF962EE07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28187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𝑆𝑀𝐵</m:t>
                    </m:r>
                  </m:oMath>
                </a14:m>
                <a:r>
                  <a:rPr lang="en-US" dirty="0"/>
                  <a:t> can be expressed as: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50−2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30&lt;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Setting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𝑆𝑀𝐵</m:t>
                    </m:r>
                  </m:oMath>
                </a14:m>
                <a:r>
                  <a:rPr lang="en-US" dirty="0"/>
                  <a:t> equal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𝑆𝑀𝐶</m:t>
                    </m:r>
                  </m:oMath>
                </a14:m>
                <a:r>
                  <a:rPr lang="en-US" dirty="0"/>
                  <a:t>, the optimal quantity and cost can be found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=(20,20)</m:t>
                      </m:r>
                    </m:oMath>
                  </m:oMathPara>
                </a14:m>
                <a:endParaRPr lang="en-US" dirty="0"/>
              </a:p>
              <a:p>
                <a:endParaRPr lang="en-US" sz="500" dirty="0"/>
              </a:p>
              <a:p>
                <a:r>
                  <a:rPr lang="en-US" dirty="0"/>
                  <a:t>Is there a problem with this result?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CCD044-3645-6A61-01FC-2EAF962EE0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281878"/>
              </a:xfrm>
              <a:blipFill>
                <a:blip r:embed="rId2"/>
                <a:stretch>
                  <a:fillRect l="-2000" t="-1849" r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B8138-F9DA-5042-0F1B-555C21DDC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7C16C-4EBA-83EE-B9AB-33F7448D0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77458-CB6E-1F89-72A2-85876C73F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  <p:pic>
        <p:nvPicPr>
          <p:cNvPr id="14" name="Content Placeholder 13" descr="A graph of a cost and social benefit&#10;&#10;Description automatically generated with medium confidence">
            <a:extLst>
              <a:ext uri="{FF2B5EF4-FFF2-40B4-BE49-F238E27FC236}">
                <a16:creationId xmlns:a16="http://schemas.microsoft.com/office/drawing/2014/main" id="{0C265B05-12AC-9A4D-FB5E-18635A7C31F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58194"/>
            <a:ext cx="3886200" cy="3886200"/>
          </a:xfrm>
        </p:spPr>
      </p:pic>
    </p:spTree>
    <p:extLst>
      <p:ext uri="{BB962C8B-B14F-4D97-AF65-F5344CB8AC3E}">
        <p14:creationId xmlns:p14="http://schemas.microsoft.com/office/powerpoint/2010/main" val="2091098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A84E2-4067-FB76-934F-568817F5A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E1C21-52C6-A475-5ACE-BA2B0AFD7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Provision of Public Goods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70078-428F-28EF-E361-1895F4848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Neither party is willing to purchase the socially optimal quantity on their own.</a:t>
            </a:r>
          </a:p>
          <a:p>
            <a:pPr lvl="3"/>
            <a:endParaRPr lang="en-US" dirty="0"/>
          </a:p>
          <a:p>
            <a:r>
              <a:rPr lang="en-US" dirty="0"/>
              <a:t>The marginal cost of provision is also 20, which is greater than any individual group’s maximum willingness to pay.</a:t>
            </a:r>
          </a:p>
          <a:p>
            <a:pPr lvl="3"/>
            <a:endParaRPr lang="en-US" dirty="0"/>
          </a:p>
          <a:p>
            <a:r>
              <a:rPr lang="en-US" dirty="0"/>
              <a:t>The social planner (government) must provide the good.</a:t>
            </a:r>
          </a:p>
          <a:p>
            <a:pPr lvl="3"/>
            <a:endParaRPr lang="en-US" dirty="0"/>
          </a:p>
          <a:p>
            <a:r>
              <a:rPr lang="en-US" dirty="0"/>
              <a:t>Then how does the social planner finance the cost of providing the public good?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606CA-70AF-9509-D306-698D17FC4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51F36-B330-46ED-5045-E407A1FB6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4DF15-6A02-891C-357D-CF24705F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5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2B4ED-A00C-6535-200D-89A5478BB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8686C-FF36-F373-3D8F-290D81459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Provision of Public Goods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85C4-E379-4CE8-D625-96AE36934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Lindahl, Vickrey-Clarke-Groves</a:t>
            </a:r>
          </a:p>
          <a:p>
            <a:pPr lvl="1"/>
            <a:r>
              <a:rPr lang="en-US" dirty="0"/>
              <a:t>Each group pays equivalent to their private marginal benefit.</a:t>
            </a:r>
          </a:p>
          <a:p>
            <a:pPr lvl="1"/>
            <a:r>
              <a:rPr lang="en-US" dirty="0"/>
              <a:t>Requires the social planner to have complete information on each agents’ utility functions. (highly unlikely)</a:t>
            </a:r>
          </a:p>
          <a:p>
            <a:pPr lvl="3"/>
            <a:endParaRPr lang="en-US" dirty="0"/>
          </a:p>
          <a:p>
            <a:r>
              <a:rPr lang="en-US" dirty="0"/>
              <a:t>Assurance contracts</a:t>
            </a:r>
          </a:p>
          <a:p>
            <a:pPr lvl="1"/>
            <a:r>
              <a:rPr lang="en-US" dirty="0"/>
              <a:t>Each agent commits to spend a certain amount, conditional on the total funding being sufficient to provide said good.</a:t>
            </a:r>
          </a:p>
          <a:p>
            <a:pPr lvl="1"/>
            <a:r>
              <a:rPr lang="en-US" dirty="0"/>
              <a:t>If total funding falls short, the commitment is refunded.</a:t>
            </a:r>
          </a:p>
          <a:p>
            <a:pPr lvl="3"/>
            <a:endParaRPr lang="en-US" dirty="0"/>
          </a:p>
          <a:p>
            <a:r>
              <a:rPr lang="en-US" dirty="0"/>
              <a:t>Lotteries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4771E-E64E-B6E0-F415-363BC5A6A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380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42408-0A7F-1ADB-385C-CBF3E5D2C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5C700-1AD0-B1EE-B727-72F8DAC63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5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1542</TotalTime>
  <Words>1454</Words>
  <Application>Microsoft Office PowerPoint</Application>
  <PresentationFormat>On-screen Show (4:3)</PresentationFormat>
  <Paragraphs>276</Paragraphs>
  <Slides>27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 Math</vt:lpstr>
      <vt:lpstr>Franklin Gothic Book</vt:lpstr>
      <vt:lpstr>Office Theme</vt:lpstr>
      <vt:lpstr>Externalities and Public Goods</vt:lpstr>
      <vt:lpstr>Market Equilibrium</vt:lpstr>
      <vt:lpstr>Market Equilibrium</vt:lpstr>
      <vt:lpstr>Market Equilibrium</vt:lpstr>
      <vt:lpstr>Market Equilibrium</vt:lpstr>
      <vt:lpstr>Market Equilibrium</vt:lpstr>
      <vt:lpstr>Externalities</vt:lpstr>
      <vt:lpstr>Negative Externalities</vt:lpstr>
      <vt:lpstr>Rachel L. Carson</vt:lpstr>
      <vt:lpstr>Negative Externalities</vt:lpstr>
      <vt:lpstr>Negative Externalities</vt:lpstr>
      <vt:lpstr>Negative Externalities</vt:lpstr>
      <vt:lpstr>Positive Externalities</vt:lpstr>
      <vt:lpstr>SARS-CoV-2</vt:lpstr>
      <vt:lpstr>Positive Externalities</vt:lpstr>
      <vt:lpstr>Positive Externalities</vt:lpstr>
      <vt:lpstr>Positive Externalities</vt:lpstr>
      <vt:lpstr>Public Goods</vt:lpstr>
      <vt:lpstr>Public Goods</vt:lpstr>
      <vt:lpstr>Provision of Public Goods</vt:lpstr>
      <vt:lpstr>Provision of Public Goods</vt:lpstr>
      <vt:lpstr>Provision of Public Goods</vt:lpstr>
      <vt:lpstr>Provision of Public Goods</vt:lpstr>
      <vt:lpstr>Provision of Public Goods</vt:lpstr>
      <vt:lpstr>Provision of Public Goods</vt:lpstr>
      <vt:lpstr>Provision of Public Goods</vt:lpstr>
      <vt:lpstr>Provision of Public Goods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38</cp:revision>
  <dcterms:created xsi:type="dcterms:W3CDTF">2023-08-17T23:00:51Z</dcterms:created>
  <dcterms:modified xsi:type="dcterms:W3CDTF">2025-01-26T15:52:58Z</dcterms:modified>
</cp:coreProperties>
</file>