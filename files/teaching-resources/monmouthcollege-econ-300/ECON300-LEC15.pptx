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33"/>
  </p:notesMasterIdLst>
  <p:sldIdLst>
    <p:sldId id="256" r:id="rId2"/>
    <p:sldId id="358" r:id="rId3"/>
    <p:sldId id="437" r:id="rId4"/>
    <p:sldId id="439" r:id="rId5"/>
    <p:sldId id="440" r:id="rId6"/>
    <p:sldId id="444" r:id="rId7"/>
    <p:sldId id="445" r:id="rId8"/>
    <p:sldId id="447" r:id="rId9"/>
    <p:sldId id="442" r:id="rId10"/>
    <p:sldId id="448" r:id="rId11"/>
    <p:sldId id="449" r:id="rId12"/>
    <p:sldId id="451" r:id="rId13"/>
    <p:sldId id="452" r:id="rId14"/>
    <p:sldId id="453" r:id="rId15"/>
    <p:sldId id="456" r:id="rId16"/>
    <p:sldId id="455" r:id="rId17"/>
    <p:sldId id="457" r:id="rId18"/>
    <p:sldId id="473" r:id="rId19"/>
    <p:sldId id="475" r:id="rId20"/>
    <p:sldId id="450" r:id="rId21"/>
    <p:sldId id="458" r:id="rId22"/>
    <p:sldId id="460" r:id="rId23"/>
    <p:sldId id="459" r:id="rId24"/>
    <p:sldId id="462" r:id="rId25"/>
    <p:sldId id="464" r:id="rId26"/>
    <p:sldId id="463" r:id="rId27"/>
    <p:sldId id="466" r:id="rId28"/>
    <p:sldId id="470" r:id="rId29"/>
    <p:sldId id="472" r:id="rId30"/>
    <p:sldId id="465" r:id="rId31"/>
    <p:sldId id="476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282F"/>
    <a:srgbClr val="00FF00"/>
    <a:srgbClr val="9C5BCD"/>
    <a:srgbClr val="00FFFF"/>
    <a:srgbClr val="E05F65"/>
    <a:srgbClr val="F5CF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84" autoAdjust="0"/>
    <p:restoredTop sz="94660"/>
  </p:normalViewPr>
  <p:slideViewPr>
    <p:cSldViewPr snapToGrid="0">
      <p:cViewPr>
        <p:scale>
          <a:sx n="100" d="100"/>
          <a:sy n="100" d="100"/>
        </p:scale>
        <p:origin x="1494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0A6441-4E79-42FF-805B-86C90BDFD38D}" type="datetimeFigureOut">
              <a:rPr lang="en-US" smtClean="0"/>
              <a:t>10/7/2023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A29054-221E-4755-818D-C35A08AFDB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785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What is the inverse demand function when the demand function is given as: $$x=30-2P_x$$
https://www.polleverywhere.com/multiple_choice_polls/iskLjBMH2nJS18pviHDaf?display_state=instructions&amp;activity_state=opened&amp;state=opened&amp;flow=Engagement&amp;onscreen=persist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FDC201-6971-35F3-FCCC-F8B03ECA1045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5518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What is the inverse demand function when the demand function is given as: $$x=30-2P_x$$
https://www.polleverywhere.com/multiple_choice_polls/iskLjBMH2nJS18pviHDaf?display_state=chart&amp;activity_state=closed&amp;state=closed&amp;flow=Engagement&amp;onscreen=persist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A200DB-57A6-E91F-FE4B-46B4A851636D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7789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Calculate the price elasticity of demand for good $$x$$ when...$$x(P_x,P_y,M)=M-3P_x-P_y$$, $$M=100$$, $$P_x=20$$, $$P_y=30$$.Recall that $$\\varepsilon_{xp}=\\dfrac{\\partial x}{\\partial P_x}\\cdot\\dfrac{P_x}{x}$$
https://www.polleverywhere.com/multiple_choice_polls/LO5mQYrhRdSg3AOi5yNSu?display_state=instructions&amp;activity_state=opened&amp;state=opened&amp;flow=Engagement&amp;onscreen=persist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18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F971DA-BD50-BC9C-0F9E-1853D393ECC1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0505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Calculate the price elasticity of demand for good $$x$$ when...$$x(P_x,P_y,M)=M-3P_x-P_y$$, $$M=100$$, $$P_x=20$$, $$P_y=30$$.Recall that $$\\varepsilon_{xp}=\\dfrac{\\partial x}{\\partial P_x}\\cdot\\dfrac{P_x}{x}$$
https://www.polleverywhere.com/multiple_choice_polls/LO5mQYrhRdSg3AOi5yNSu?display_state=chart&amp;activity_state=closed&amp;state=closed&amp;flow=Engagement&amp;onscreen=persist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19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F2AC42-F21C-CDE4-9589-F6DC1E9B36D6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3925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When the inverse demand is given as $$P_x=10-2x$$, find the marginal revenue in terms of quantity.Recall that $$TR(x)=P_x \\cdot x$$ and $$MR(x)=\\dfrac{d}{dx}TR(x)$$.
https://www.polleverywhere.com/multiple_choice_polls/b0TXLycWHHTcoTLNxqrcW?display_state=instructions&amp;activity_state=opened&amp;state=opened&amp;flow=Engagement&amp;onscreen=persist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28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CC94C3-A42A-6F53-0508-5B0A63554AF9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7372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When the inverse demand is given as $$P_x=10-2x$$, find the marginal revenue in terms of quantity.Recall that $$TR(x)=P_x \\cdot x$$ and $$MR(x)=\\dfrac{d}{dx}TR(x)$$.
https://www.polleverywhere.com/multiple_choice_polls/b0TXLycWHHTcoTLNxqrcW?display_state=chart&amp;activity_state=closed&amp;state=closed&amp;flow=Engagement&amp;onscreen=persist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29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2DFD3C-6113-BCBE-801D-D1A2FF47F389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6410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2;p13">
            <a:extLst>
              <a:ext uri="{FF2B5EF4-FFF2-40B4-BE49-F238E27FC236}">
                <a16:creationId xmlns:a16="http://schemas.microsoft.com/office/drawing/2014/main" id="{BF16982E-3E38-0665-4F07-437DD3F0D5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3549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859BA894-242B-5A6C-EFD3-428444AAFEC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7355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92;p13">
            <a:extLst>
              <a:ext uri="{FF2B5EF4-FFF2-40B4-BE49-F238E27FC236}">
                <a16:creationId xmlns:a16="http://schemas.microsoft.com/office/drawing/2014/main" id="{A5DC9873-6BF3-A825-551C-17B7FBCA97F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0585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F820AB4E-4F46-3C81-9BD0-65A4D2A2DBE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459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Google Shape;101;p14">
            <a:extLst>
              <a:ext uri="{FF2B5EF4-FFF2-40B4-BE49-F238E27FC236}">
                <a16:creationId xmlns:a16="http://schemas.microsoft.com/office/drawing/2014/main" id="{C854E680-04A2-EA76-C6A6-8EF6A2AD0BB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4257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6" name="Google Shape;101;p14">
            <a:extLst>
              <a:ext uri="{FF2B5EF4-FFF2-40B4-BE49-F238E27FC236}">
                <a16:creationId xmlns:a16="http://schemas.microsoft.com/office/drawing/2014/main" id="{0E4BED26-AE3D-9FD7-372D-89389F76110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195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" name="Google Shape;101;p14">
            <a:extLst>
              <a:ext uri="{FF2B5EF4-FFF2-40B4-BE49-F238E27FC236}">
                <a16:creationId xmlns:a16="http://schemas.microsoft.com/office/drawing/2014/main" id="{63FB725D-7839-2629-E2FD-4289B983E6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983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ADE22408-2DD9-F1EF-2438-A0546996FB2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3184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19CEB84E-A1D1-9AFA-DEC7-31056DF6BFA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1165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1F852EF2-DB2E-EDA3-947F-AD7E6C19EB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8102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297A800C-E47B-35AC-0EA8-24F3738049A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2633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  <a:cs typeface="Forte Forward" panose="020F0502020204030204" pitchFamily="2" charset="0"/>
              </a:defRPr>
            </a:lvl1pPr>
          </a:lstStyle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0777" y="6356351"/>
            <a:ext cx="57624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1;p13">
            <a:extLst>
              <a:ext uri="{FF2B5EF4-FFF2-40B4-BE49-F238E27FC236}">
                <a16:creationId xmlns:a16="http://schemas.microsoft.com/office/drawing/2014/main" id="{9C136CE5-665B-2FA1-3A31-86C4E8EC1DBB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0" cy="423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595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Franklin Gothic Book" panose="020B0503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4" Type="http://schemas.openxmlformats.org/officeDocument/2006/relationships/image" Target="../media/image3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4" Type="http://schemas.openxmlformats.org/officeDocument/2006/relationships/image" Target="../media/image3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7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81AA-C880-955A-8ACC-D4284C4A79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585" y="1122363"/>
            <a:ext cx="8108830" cy="2387600"/>
          </a:xfrm>
        </p:spPr>
        <p:txBody>
          <a:bodyPr>
            <a:normAutofit/>
          </a:bodyPr>
          <a:lstStyle/>
          <a:p>
            <a:r>
              <a:rPr lang="en-US" sz="4200" dirty="0"/>
              <a:t>Consumer Theory: </a:t>
            </a:r>
            <a:br>
              <a:rPr lang="en-US" sz="4200" dirty="0"/>
            </a:br>
            <a:r>
              <a:rPr lang="en-US" sz="4200" dirty="0"/>
              <a:t>Individual and Market Demand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68834-9371-0482-209B-C2EBDB2D93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ECON 300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3A60A-CBE6-B5CE-B9CE-C7DC93869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F44A7-8470-0B18-F1D2-F47845ECB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BCC6C-06D2-CC1B-BC1A-B87124A36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06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of Previous Lectures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17BAA-D4BA-C7EB-5696-203603829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Comparative Statics of the Consumer’s Problem (UMP)</a:t>
            </a:r>
          </a:p>
          <a:p>
            <a:pPr lvl="4"/>
            <a:endParaRPr lang="en-US" dirty="0"/>
          </a:p>
          <a:p>
            <a:pPr lvl="1"/>
            <a:r>
              <a:rPr lang="en-US" dirty="0"/>
              <a:t>Changes in the Consumers’ Income</a:t>
            </a:r>
          </a:p>
          <a:p>
            <a:pPr lvl="2"/>
            <a:r>
              <a:rPr lang="en-US" dirty="0"/>
              <a:t>Normal, Inferior, Luxury, and Necessary Goods</a:t>
            </a:r>
          </a:p>
          <a:p>
            <a:pPr lvl="2"/>
            <a:r>
              <a:rPr lang="en-US" dirty="0"/>
              <a:t>Income Consumption Curve and the Engel Curve</a:t>
            </a:r>
          </a:p>
          <a:p>
            <a:pPr lvl="4"/>
            <a:endParaRPr lang="en-US" dirty="0"/>
          </a:p>
          <a:p>
            <a:pPr lvl="1"/>
            <a:r>
              <a:rPr lang="en-US" dirty="0"/>
              <a:t>Changes in the Market Price(s)</a:t>
            </a:r>
          </a:p>
          <a:p>
            <a:pPr lvl="2"/>
            <a:r>
              <a:rPr lang="en-US" dirty="0"/>
              <a:t>Ordinary and </a:t>
            </a:r>
            <a:r>
              <a:rPr lang="en-US" dirty="0" err="1"/>
              <a:t>Giffen</a:t>
            </a:r>
            <a:r>
              <a:rPr lang="en-US" dirty="0"/>
              <a:t> Goods</a:t>
            </a:r>
          </a:p>
          <a:p>
            <a:pPr lvl="2"/>
            <a:r>
              <a:rPr lang="en-US" dirty="0"/>
              <a:t>Price Consumption Curve and the Demand Curve</a:t>
            </a:r>
          </a:p>
          <a:p>
            <a:pPr lvl="4"/>
            <a:endParaRPr lang="en-US" dirty="0"/>
          </a:p>
          <a:p>
            <a:pPr lvl="1"/>
            <a:r>
              <a:rPr lang="en-US" dirty="0"/>
              <a:t>Breaking Down the Price Effect</a:t>
            </a:r>
          </a:p>
          <a:p>
            <a:pPr lvl="2"/>
            <a:r>
              <a:rPr lang="en-US" dirty="0"/>
              <a:t>Slutsky vs. </a:t>
            </a:r>
            <a:r>
              <a:rPr lang="en-US" dirty="0" err="1"/>
              <a:t>Hicksian</a:t>
            </a:r>
            <a:r>
              <a:rPr lang="en-US" dirty="0"/>
              <a:t> Substitution Effect</a:t>
            </a:r>
          </a:p>
          <a:p>
            <a:pPr lvl="2"/>
            <a:r>
              <a:rPr lang="en-US" dirty="0"/>
              <a:t>Compensated Demand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3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Individual vs. Market Demand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736CE00D-596F-4F99-FD45-39CB6EC7A0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49" y="1825625"/>
                <a:ext cx="8040897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By solving the consumers’ problem (UMP), we derived individual demand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 For each individual consumer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lvl="3"/>
                <a:endParaRPr lang="en-US" sz="1000" dirty="0"/>
              </a:p>
              <a:p>
                <a:r>
                  <a:rPr lang="en-US" dirty="0"/>
                  <a:t>The market, however, consists of a large number of  consumers each with their own preferences, and income.</a:t>
                </a:r>
              </a:p>
              <a:p>
                <a:endParaRPr lang="en-US" sz="1000" dirty="0"/>
              </a:p>
              <a:p>
                <a:r>
                  <a:rPr lang="en-US" dirty="0"/>
                  <a:t>In a market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consumers, the market demand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 then a sum of all individual demand functions: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,⋯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sz="200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736CE00D-596F-4F99-FD45-39CB6EC7A0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825625"/>
                <a:ext cx="8040897" cy="4351338"/>
              </a:xfrm>
              <a:blipFill>
                <a:blip r:embed="rId2"/>
                <a:stretch>
                  <a:fillRect l="-986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1436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 Demand Implications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736CE00D-596F-4F99-FD45-39CB6EC7A0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The market demand was expressed as:</a:t>
                </a:r>
              </a:p>
              <a:p>
                <a:pPr marL="0" indent="0">
                  <a:buNone/>
                </a:pPr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,⋯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sz="500" dirty="0"/>
              </a:p>
              <a:p>
                <a:r>
                  <a:rPr lang="en-US" dirty="0"/>
                  <a:t>This implies that…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Individual consumers face the exact same prices, and</a:t>
                </a:r>
              </a:p>
              <a:p>
                <a:pPr lvl="2"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/>
                  <a:t> only appears once and has no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indicator.</a:t>
                </a:r>
              </a:p>
              <a:p>
                <a:pPr lvl="2">
                  <a:buFont typeface="Wingdings" panose="05000000000000000000" pitchFamily="2" charset="2"/>
                  <a:buChar char="ü"/>
                </a:pPr>
                <a:endParaRPr lang="en-US" sz="500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The market demand is determined by its own price, the price of all other goods, and the distribution of income, and</a:t>
                </a:r>
              </a:p>
              <a:p>
                <a:pPr lvl="2">
                  <a:buFont typeface="Wingdings" panose="05000000000000000000" pitchFamily="2" charset="2"/>
                  <a:buChar char="ü"/>
                </a:pPr>
                <a:r>
                  <a:rPr lang="en-US" dirty="0"/>
                  <a:t>The arguments that determine market demand 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endParaRPr lang="en-US" sz="500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Individual preferences are assumed to remain constant.</a:t>
                </a:r>
              </a:p>
              <a:p>
                <a:pPr lvl="2">
                  <a:buFont typeface="Wingdings" panose="05000000000000000000" pitchFamily="2" charset="2"/>
                  <a:buChar char="ü"/>
                </a:pPr>
                <a:r>
                  <a:rPr lang="en-US" dirty="0"/>
                  <a:t>The consumers’ preferences do not enter the argument.</a:t>
                </a: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736CE00D-596F-4F99-FD45-39CB6EC7A0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9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5003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“Add” Individual Demand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736CE00D-596F-4F99-FD45-39CB6EC7A0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49" y="1825625"/>
                <a:ext cx="8040897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We mentioned that the market demand was calculated as: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,⋯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                                                         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Recall how we interpret the individual demand curve.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“For some price A, the individual consumer’s quantity demanded is  B”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Therefore, we have to stack individual demand curves “horizontally” in a graph.</a:t>
                </a: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736CE00D-596F-4F99-FD45-39CB6EC7A0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825625"/>
                <a:ext cx="8040897" cy="4351338"/>
              </a:xfrm>
              <a:blipFill>
                <a:blip r:embed="rId2"/>
                <a:stretch>
                  <a:fillRect l="-986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9938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Inverse Demand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736CE00D-596F-4F99-FD45-39CB6EC7A0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49" y="1825625"/>
                <a:ext cx="8040897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Adding up the demand function in its current form will result in stacking the curves “vertically.”</a:t>
                </a:r>
              </a:p>
              <a:p>
                <a:endParaRPr lang="en-US" sz="1000" dirty="0"/>
              </a:p>
              <a:p>
                <a:r>
                  <a:rPr lang="en-US" dirty="0"/>
                  <a:t>In order to “add” functions horizontally, we must first transform the demand function into inverse demand.</a:t>
                </a:r>
              </a:p>
              <a:p>
                <a:endParaRPr lang="en-US" sz="1000" dirty="0"/>
              </a:p>
              <a:p>
                <a:r>
                  <a:rPr lang="en-US" dirty="0"/>
                  <a:t>Demand Function to Inverse Demand Function: </a:t>
                </a:r>
              </a:p>
              <a:p>
                <a:endParaRPr lang="en-US" sz="5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groupChr>
                        </m:e>
                        <m:li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Demand</m:t>
                          </m:r>
                        </m:lim>
                      </m:limLow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limLow>
                        <m:limLow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den>
                              </m:f>
                            </m:e>
                          </m:groupChr>
                        </m:e>
                        <m:lim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Inverse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Demand</m:t>
                              </m:r>
                            </m:e>
                          </m:eqArr>
                        </m:lim>
                      </m:limLow>
                    </m:oMath>
                  </m:oMathPara>
                </a14:m>
                <a:endParaRPr lang="en-US" dirty="0"/>
              </a:p>
              <a:p>
                <a:pPr lvl="3"/>
                <a:endParaRPr lang="en-US" sz="1000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736CE00D-596F-4F99-FD45-39CB6EC7A0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825625"/>
                <a:ext cx="8040897" cy="4351338"/>
              </a:xfrm>
              <a:blipFill>
                <a:blip r:embed="rId2"/>
                <a:stretch>
                  <a:fillRect l="-986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4883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5430CA-88DF-4189-BA6E-1358F0DDA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578836-32BD-801F-A0CC-2AE86CAFD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104192-FF8F-E280-A3CE-48130D2B8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7E5B0D-44EC-872D-9C6D-893C6AC476F5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495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6C5CCD-4BFA-7F45-576F-564D2A50B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D6D900-5830-87BB-6946-CD89EA832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E54108-D307-A9FF-3EAD-4615144B3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829D3F-56E8-4456-60B9-5F24BFCAAA6C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081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46AAE-EEE1-D2DA-8674-E995BC021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 Demand with 2 Consumers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EA153-8CA9-0014-D4B5-03555F7BB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37B50-6954-7168-503C-84A90B0A3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1450C-C79E-E641-EA31-580382232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9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37D8012-2069-A213-AED7-ACFF75B45E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Consider the two individual inverse demand functions:</a:t>
                </a:r>
              </a:p>
              <a:p>
                <a:endParaRPr lang="en-US" sz="5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=60−2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endParaRPr lang="en-US" sz="5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=30−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37D8012-2069-A213-AED7-ACFF75B45E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Content Placeholder 11" descr="A white background with black lines&#10;&#10;Description automatically generated">
            <a:extLst>
              <a:ext uri="{FF2B5EF4-FFF2-40B4-BE49-F238E27FC236}">
                <a16:creationId xmlns:a16="http://schemas.microsoft.com/office/drawing/2014/main" id="{641AA218-E2D0-D672-C596-42C8A33063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3548063"/>
            <a:ext cx="7886700" cy="2628900"/>
          </a:xfrm>
          <a:prstGeom prst="rect">
            <a:avLst/>
          </a:prstGeom>
        </p:spPr>
      </p:pic>
      <p:pic>
        <p:nvPicPr>
          <p:cNvPr id="11" name="Content Placeholder 12">
            <a:extLst>
              <a:ext uri="{FF2B5EF4-FFF2-40B4-BE49-F238E27FC236}">
                <a16:creationId xmlns:a16="http://schemas.microsoft.com/office/drawing/2014/main" id="{2453CEEA-238B-419B-9985-187742A911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3548063"/>
            <a:ext cx="7886700" cy="2628900"/>
          </a:xfrm>
          <a:prstGeom prst="rect">
            <a:avLst/>
          </a:prstGeom>
        </p:spPr>
      </p:pic>
      <p:pic>
        <p:nvPicPr>
          <p:cNvPr id="12" name="Content Placeholder 16" descr="A graph of a line&#10;&#10;Description automatically generated">
            <a:extLst>
              <a:ext uri="{FF2B5EF4-FFF2-40B4-BE49-F238E27FC236}">
                <a16:creationId xmlns:a16="http://schemas.microsoft.com/office/drawing/2014/main" id="{596405AA-4CCD-9D80-4BAE-249681202B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3548063"/>
            <a:ext cx="788670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587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46AAE-EEE1-D2DA-8674-E995BC021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 Demand with 2 Consumers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EA153-8CA9-0014-D4B5-03555F7BB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37B50-6954-7168-503C-84A90B0A3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1450C-C79E-E641-EA31-580382232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10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37D8012-2069-A213-AED7-ACFF75B45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the points where each demand curve “begins”</a:t>
            </a:r>
          </a:p>
          <a:p>
            <a:endParaRPr lang="en-US" sz="1000" dirty="0"/>
          </a:p>
          <a:p>
            <a:r>
              <a:rPr lang="en-US" dirty="0"/>
              <a:t>Then add them horizontally!</a:t>
            </a:r>
          </a:p>
          <a:p>
            <a:pPr lvl="1"/>
            <a:endParaRPr lang="en-US" dirty="0"/>
          </a:p>
        </p:txBody>
      </p:sp>
      <p:pic>
        <p:nvPicPr>
          <p:cNvPr id="3" name="Content Placeholder 16" descr="A graph of a line&#10;&#10;Description automatically generated">
            <a:extLst>
              <a:ext uri="{FF2B5EF4-FFF2-40B4-BE49-F238E27FC236}">
                <a16:creationId xmlns:a16="http://schemas.microsoft.com/office/drawing/2014/main" id="{B4025F47-E8FA-8640-3DDF-E06FAE8CB2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3548063"/>
            <a:ext cx="7886700" cy="2628900"/>
          </a:xfrm>
          <a:prstGeom prst="rect">
            <a:avLst/>
          </a:prstGeom>
        </p:spPr>
      </p:pic>
      <p:pic>
        <p:nvPicPr>
          <p:cNvPr id="10" name="Content Placeholder 12">
            <a:extLst>
              <a:ext uri="{FF2B5EF4-FFF2-40B4-BE49-F238E27FC236}">
                <a16:creationId xmlns:a16="http://schemas.microsoft.com/office/drawing/2014/main" id="{D36F9C86-E9BD-99C6-1944-1085AA6D78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3548063"/>
            <a:ext cx="7886700" cy="2628900"/>
          </a:xfrm>
          <a:prstGeom prst="rect">
            <a:avLst/>
          </a:prstGeom>
        </p:spPr>
      </p:pic>
      <p:pic>
        <p:nvPicPr>
          <p:cNvPr id="14" name="Content Placeholder 8" descr="A graph of a line&#10;&#10;Description automatically generated">
            <a:extLst>
              <a:ext uri="{FF2B5EF4-FFF2-40B4-BE49-F238E27FC236}">
                <a16:creationId xmlns:a16="http://schemas.microsoft.com/office/drawing/2014/main" id="{E0EB5073-B812-75D9-8FF4-3208ABA0AA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3548063"/>
            <a:ext cx="788670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429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46AAE-EEE1-D2DA-8674-E995BC021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Elasticity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EA153-8CA9-0014-D4B5-03555F7BB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37B50-6954-7168-503C-84A90B0A3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1450C-C79E-E641-EA31-580382232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11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37D8012-2069-A213-AED7-ACFF75B45E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Elasticity is the measure of “how sensitive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to changes in some exogenous variables.”</a:t>
                </a:r>
              </a:p>
              <a:p>
                <a:pPr lvl="3"/>
                <a:endParaRPr lang="en-US" sz="1000" dirty="0"/>
              </a:p>
              <a:p>
                <a:r>
                  <a:rPr lang="en-US" dirty="0"/>
                  <a:t>We already examined various types of elasticities:</a:t>
                </a:r>
              </a:p>
              <a:p>
                <a:endParaRPr lang="en-US" sz="500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The (Own) Price Elasticity of Demand</a:t>
                </a:r>
              </a:p>
              <a:p>
                <a:pPr marL="914400" lvl="1" indent="-457200">
                  <a:buFont typeface="+mj-lt"/>
                  <a:buAutoNum type="arabicPeriod"/>
                </a:pPr>
                <a:endParaRPr lang="en-US" sz="500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The Income Elasticity of Demand</a:t>
                </a:r>
              </a:p>
              <a:p>
                <a:pPr marL="914400" lvl="1" indent="-457200">
                  <a:buFont typeface="+mj-lt"/>
                  <a:buAutoNum type="arabicPeriod"/>
                </a:pPr>
                <a:endParaRPr lang="en-US" sz="500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The Cross Price Elasticity of Demand</a:t>
                </a:r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37D8012-2069-A213-AED7-ACFF75B45E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12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63196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46AAE-EEE1-D2DA-8674-E995BC021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of (Own) Price Elasticity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EA153-8CA9-0014-D4B5-03555F7BB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37B50-6954-7168-503C-84A90B0A3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1450C-C79E-E641-EA31-580382232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12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37D8012-2069-A213-AED7-ACFF75B45E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measure of “how sensitive is the quantity demanded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to changes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/>
                  <a:t>.”</a:t>
                </a:r>
              </a:p>
              <a:p>
                <a:pPr lvl="3"/>
                <a:endParaRPr lang="en-US" sz="500" dirty="0"/>
              </a:p>
              <a:p>
                <a:r>
                  <a:rPr lang="en-US" dirty="0"/>
                  <a:t>The (own) price elasticity is defined as: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𝑥𝑝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%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𝐶h𝑎𝑛𝑔𝑒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%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𝐶h𝑎𝑛𝑔𝑒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sz="500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,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an Ordinary Good.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, good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a </a:t>
                </a:r>
                <a:r>
                  <a:rPr lang="en-US" dirty="0" err="1"/>
                  <a:t>Giffen</a:t>
                </a:r>
                <a:r>
                  <a:rPr lang="en-US" dirty="0"/>
                  <a:t> Good.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When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𝑥𝑝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 dirty="0"/>
                  <a:t>, good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said to be “Elastic.”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When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𝑥𝑝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, good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said to be “Unit Elastic.”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When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𝑥𝑝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, good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said to be “Inelastic.”</a:t>
                </a:r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37D8012-2069-A213-AED7-ACFF75B45E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89784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46AAE-EEE1-D2DA-8674-E995BC021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of Income Elasticity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EA153-8CA9-0014-D4B5-03555F7BB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37B50-6954-7168-503C-84A90B0A3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1450C-C79E-E641-EA31-580382232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13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37D8012-2069-A213-AED7-ACFF75B45E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The measure of “how sensitive is the quantity demanded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to changes in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.”</a:t>
                </a:r>
              </a:p>
              <a:p>
                <a:pPr lvl="3"/>
                <a:endParaRPr lang="en-US" sz="500" dirty="0"/>
              </a:p>
              <a:p>
                <a:r>
                  <a:rPr lang="en-US" dirty="0"/>
                  <a:t>The income elasticity is defined as: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%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𝐶h𝑎𝑛𝑔𝑒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%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𝐶h𝑎𝑛𝑔𝑒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sz="500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,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a Normal Good.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dirty="0"/>
                  <a:t>, Good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an Inferior Good.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When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𝑥𝑝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 dirty="0"/>
                  <a:t>, Good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a Luxury Good.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When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𝑥𝑝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, Good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a Necessary Good.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endParaRPr lang="en-US" sz="5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en-US" dirty="0"/>
                  <a:t> is often also expressed as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dirty="0"/>
                  <a:t> (“eta”).</a:t>
                </a:r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37D8012-2069-A213-AED7-ACFF75B45E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b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29856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46AAE-EEE1-D2DA-8674-E995BC021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of Cross-Price Elasticity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EA153-8CA9-0014-D4B5-03555F7BB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37B50-6954-7168-503C-84A90B0A3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1450C-C79E-E641-EA31-580382232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14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37D8012-2069-A213-AED7-ACFF75B45E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The measure of “how sensitive is the quantity demanded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to changes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/>
                  <a:t>.”</a:t>
                </a:r>
              </a:p>
              <a:p>
                <a:pPr lvl="3"/>
                <a:endParaRPr lang="en-US" sz="500" dirty="0"/>
              </a:p>
              <a:p>
                <a:r>
                  <a:rPr lang="en-US" dirty="0"/>
                  <a:t>The cross-price elasticity is defined as: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%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𝐶h𝑎𝑛𝑔𝑒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%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𝐶h𝑎𝑛𝑔𝑒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sz="500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, Good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is a Substitute to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, Good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and Good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are Independent.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dirty="0"/>
                  <a:t>, Good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is a Complement to Good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37D8012-2069-A213-AED7-ACFF75B45E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1722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46AAE-EEE1-D2DA-8674-E995BC021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Calculating (Own) Price Elasticities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EA153-8CA9-0014-D4B5-03555F7BB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37B50-6954-7168-503C-84A90B0A3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1450C-C79E-E641-EA31-580382232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15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37D8012-2069-A213-AED7-ACFF75B45E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>
                    <a:solidFill>
                      <a:srgbClr val="7030A0"/>
                    </a:solidFill>
                  </a:rPr>
                  <a:t>The price elasticities of demand from consumers with Cobb-Douglas utility functions are slightly beyond the scope of this course.</a:t>
                </a:r>
              </a:p>
              <a:p>
                <a:endParaRPr lang="en-US" sz="500" dirty="0">
                  <a:solidFill>
                    <a:srgbClr val="7030A0"/>
                  </a:solidFill>
                </a:endParaRPr>
              </a:p>
              <a:p>
                <a:endParaRPr lang="en-US" sz="500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𝑥𝑝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  <m:r>
                        <a:rPr lang="en-US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d>
                                <m:dPr>
                                  <m:ctrlP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0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  <m:r>
                                        <a:rPr lang="en-US" sz="20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num>
                                    <m:den>
                                      <m:r>
                                        <a:rPr lang="en-US" sz="20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  <m:r>
                                        <a:rPr lang="en-US" sz="20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20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den>
                                  </m:f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f>
                                    <m:fPr>
                                      <m:ctrlPr>
                                        <a:rPr lang="en-US" sz="20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0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bSup>
                                        <m:sSubSupPr>
                                          <m:ctrlPr>
                                            <a:rPr lang="en-US" sz="2000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000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  <m:sup>
                                          <m:r>
                                            <a:rPr lang="en-US" sz="2000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den>
                                  </m:f>
                                </m:e>
                              </m:d>
                            </m:e>
                          </m:groupChr>
                        </m:e>
                        <m:lim>
                          <m:f>
                            <m:fPr>
                              <m:ctrlP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den>
                          </m:f>
                        </m:lim>
                      </m:limLow>
                      <m:r>
                        <a:rPr lang="en-US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limLow>
                        <m:limLowPr>
                          <m:ctrlP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0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num>
                                <m:den>
                                  <m:f>
                                    <m:fPr>
                                      <m:ctrlPr>
                                        <a:rPr lang="en-US" sz="20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  <m:r>
                                        <a:rPr lang="en-US" sz="20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num>
                                    <m:den>
                                      <m:r>
                                        <a:rPr lang="en-US" sz="20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20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  <m:r>
                                        <a:rPr lang="en-US" sz="20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20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  <m:r>
                                        <a:rPr lang="en-US" sz="20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den>
                                  </m:f>
                                </m:den>
                              </m:f>
                            </m:e>
                          </m:groupChr>
                        </m:e>
                        <m:lim>
                          <m:f>
                            <m:fPr>
                              <m:ctrlP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lim>
                      </m:limLow>
                    </m:oMath>
                  </m:oMathPara>
                </a14:m>
                <a:endParaRPr lang="en-US" dirty="0">
                  <a:solidFill>
                    <a:srgbClr val="7030A0"/>
                  </a:solidFill>
                </a:endParaRPr>
              </a:p>
              <a:p>
                <a:r>
                  <a:rPr lang="en-US" dirty="0"/>
                  <a:t>For the purposes of evaluating elasticities, and reviewing its role, we will be sticking to a simpler demand function.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37D8012-2069-A213-AED7-ACFF75B45E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96614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46AAE-EEE1-D2DA-8674-E995BC021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Calculating (Own) Price Elasticities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EA153-8CA9-0014-D4B5-03555F7BB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37B50-6954-7168-503C-84A90B0A3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1450C-C79E-E641-EA31-580382232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16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37D8012-2069-A213-AED7-ACFF75B45E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To evaluate the price elasticity of demand, you will need the following information:</a:t>
                </a:r>
              </a:p>
              <a:p>
                <a:pPr lvl="1"/>
                <a:r>
                  <a:rPr lang="en-US" dirty="0"/>
                  <a:t>The Demand Function: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Consumer’s Income and Market Prices: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Suppose we are to evaluate the own price elasticity of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when the demand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/>
                  <a:t>, and we have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=50,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=15,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37D8012-2069-A213-AED7-ACFF75B45E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6832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46AAE-EEE1-D2DA-8674-E995BC021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Calculating (Own) Price Elasticities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EA153-8CA9-0014-D4B5-03555F7BB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37B50-6954-7168-503C-84A90B0A3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1450C-C79E-E641-EA31-580382232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17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37D8012-2069-A213-AED7-ACFF75B45E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Recall the definition of own price elasticity… We will need:</a:t>
                </a:r>
              </a:p>
              <a:p>
                <a:endParaRPr lang="en-US" sz="500" dirty="0"/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=−2</m:t>
                    </m:r>
                  </m:oMath>
                </a14:m>
                <a:endParaRPr lang="en-US" dirty="0"/>
              </a:p>
              <a:p>
                <a:pPr lvl="1"/>
                <a:endParaRPr lang="en-US" sz="500" dirty="0"/>
              </a:p>
              <a:p>
                <a:pPr lvl="1"/>
                <a:endParaRPr lang="en-US" sz="500" dirty="0"/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50−2⋅15+10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Using the two results above, we find: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𝑥𝑝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=−2⋅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30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37D8012-2069-A213-AED7-ACFF75B45E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40173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AD2CE-945F-DDE9-ABE9-B74E7A99B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412C3A-2C04-5FF5-B0A5-5DE89BD9F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6C7BBC-DDCB-500F-E987-8586B3552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CF6E5A-8043-90FC-2F86-DCF16B8AEEA1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157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DFA119-D25C-E07D-86CA-8AC7714CB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D144F8-3760-5E6F-8994-B72948957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22824-0BD0-ACD1-E333-B49791135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A6BBB4-7221-D906-2061-0A0C7CD1265F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5529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46AAE-EEE1-D2DA-8674-E995BC021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Elasticity and Revenue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EA153-8CA9-0014-D4B5-03555F7BB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37B50-6954-7168-503C-84A90B0A3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1450C-C79E-E641-EA31-580382232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20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37D8012-2069-A213-AED7-ACFF75B45E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4"/>
                <a:ext cx="7886700" cy="4739077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Elasticity is also important for the producers/sellers.</a:t>
                </a:r>
              </a:p>
              <a:p>
                <a:endParaRPr lang="en-US" sz="500" dirty="0"/>
              </a:p>
              <a:p>
                <a:r>
                  <a:rPr lang="en-US" dirty="0"/>
                  <a:t>When you raise/lower prices, how does the market react?</a:t>
                </a:r>
              </a:p>
              <a:p>
                <a:endParaRPr lang="en-US" sz="500" dirty="0"/>
              </a:p>
              <a:p>
                <a:r>
                  <a:rPr lang="en-US" dirty="0"/>
                  <a:t>This information is embedded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𝑥𝑝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sz="500" dirty="0"/>
              </a:p>
              <a:p>
                <a:r>
                  <a:rPr lang="en-US" dirty="0"/>
                  <a:t>When consumers are sensitive to prices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begChr m:val="|"/>
                        <m:endChr m:val="|"/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𝑥𝑝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&gt;1)</m:t>
                    </m:r>
                  </m:oMath>
                </a14:m>
                <a:r>
                  <a:rPr lang="en-US" dirty="0"/>
                  <a:t>, then raising the price will drastically lower the quantity demanded.</a:t>
                </a:r>
              </a:p>
              <a:p>
                <a:endParaRPr lang="en-US" sz="500" dirty="0"/>
              </a:p>
              <a:p>
                <a:r>
                  <a:rPr lang="en-US" dirty="0"/>
                  <a:t>When consumers are not sensitive to prices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𝑥𝑝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1)</m:t>
                    </m:r>
                  </m:oMath>
                </a14:m>
                <a:r>
                  <a:rPr lang="en-US" dirty="0"/>
                  <a:t>, then raising prices will not lower quantity demanded as much.</a:t>
                </a:r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37D8012-2069-A213-AED7-ACFF75B45E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4"/>
                <a:ext cx="7886700" cy="4739077"/>
              </a:xfrm>
              <a:blipFill>
                <a:blip r:embed="rId2"/>
                <a:stretch>
                  <a:fillRect l="-1005" t="-1671" r="-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19071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46AAE-EEE1-D2DA-8674-E995BC021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Total Revenue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EA153-8CA9-0014-D4B5-03555F7BB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37B50-6954-7168-503C-84A90B0A3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1450C-C79E-E641-EA31-580382232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21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37D8012-2069-A213-AED7-ACFF75B45E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4"/>
                <a:ext cx="7886700" cy="4394021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We can measure this using the concept of “Revenue.”</a:t>
                </a:r>
              </a:p>
              <a:p>
                <a:pPr lvl="3"/>
                <a:endParaRPr lang="en-US" sz="1500" dirty="0"/>
              </a:p>
              <a:p>
                <a:r>
                  <a:rPr lang="en-US" dirty="0"/>
                  <a:t>Total Revenue</a:t>
                </a:r>
              </a:p>
              <a:p>
                <a:endParaRPr lang="en-US" sz="500" dirty="0"/>
              </a:p>
              <a:p>
                <a:pPr lvl="1"/>
                <a:r>
                  <a:rPr lang="en-US" dirty="0"/>
                  <a:t>The total amount of money that a producer receives from consumers by selling their products.</a:t>
                </a:r>
              </a:p>
              <a:p>
                <a:pPr lvl="1"/>
                <a:endParaRPr lang="en-US" sz="500" dirty="0"/>
              </a:p>
              <a:p>
                <a:pPr lvl="1"/>
                <a:r>
                  <a:rPr lang="en-US" dirty="0"/>
                  <a:t>Total revenue does not factor in the price of production (not the same thing as “profit.”)</a:t>
                </a:r>
              </a:p>
              <a:p>
                <a:pPr lvl="1"/>
                <a:endParaRPr lang="en-US" sz="500" dirty="0"/>
              </a:p>
              <a:p>
                <a:pPr lvl="1"/>
                <a:r>
                  <a:rPr lang="en-US" dirty="0"/>
                  <a:t>In words, we can write: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"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𝑇𝑜𝑡𝑎𝑙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𝑅𝑒𝑣𝑒𝑛𝑢𝑒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𝑃𝑟𝑖𝑐𝑒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𝑄𝑢𝑎𝑛𝑡𝑖𝑡𝑦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"</m:t>
                    </m:r>
                  </m:oMath>
                </a14:m>
                <a:endParaRPr lang="en-US" dirty="0"/>
              </a:p>
              <a:p>
                <a:pPr lvl="1"/>
                <a:endParaRPr lang="en-US" sz="500" dirty="0"/>
              </a:p>
              <a:p>
                <a:pPr lvl="1"/>
                <a:r>
                  <a:rPr lang="en-US" dirty="0"/>
                  <a:t>For producers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, we can write: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𝑇𝑅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endParaRPr lang="en-US" sz="500" dirty="0"/>
              </a:p>
              <a:p>
                <a:pPr lvl="1"/>
                <a:r>
                  <a:rPr lang="en-US" dirty="0"/>
                  <a:t>Alternately, we can write: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𝑇𝑅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sz="1500" dirty="0"/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37D8012-2069-A213-AED7-ACFF75B45E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4"/>
                <a:ext cx="7886700" cy="4394021"/>
              </a:xfrm>
              <a:blipFill>
                <a:blip r:embed="rId2"/>
                <a:stretch>
                  <a:fillRect l="-1005" t="-18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46286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46AAE-EEE1-D2DA-8674-E995BC021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Marginal Revenue in Terms of Price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EA153-8CA9-0014-D4B5-03555F7BB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37B50-6954-7168-503C-84A90B0A3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1450C-C79E-E641-EA31-580382232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22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37D8012-2069-A213-AED7-ACFF75B45E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989570" cy="4351338"/>
              </a:xfrm>
            </p:spPr>
            <p:txBody>
              <a:bodyPr/>
              <a:lstStyle/>
              <a:p>
                <a:r>
                  <a:rPr lang="en-US" dirty="0"/>
                  <a:t>Marginal Revenue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𝑀𝑅</m:t>
                        </m:r>
                      </m:e>
                    </m:d>
                  </m:oMath>
                </a14:m>
                <a:r>
                  <a:rPr lang="en-US" dirty="0"/>
                  <a:t> is defined as the derivative of the Total Revenue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𝑇𝑅</m:t>
                        </m:r>
                      </m:e>
                    </m:d>
                  </m:oMath>
                </a14:m>
                <a:r>
                  <a:rPr lang="en-US" dirty="0"/>
                  <a:t> function with respect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/>
                  <a:t>: 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𝑑𝑇𝑅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i="1" dirty="0"/>
              </a:p>
              <a:p>
                <a:endParaRPr lang="en-US" sz="1500" dirty="0"/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𝑀𝑅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the extra amount of revenue the producer will receive when they increase the price by a small amount.</a:t>
                </a:r>
              </a:p>
              <a:p>
                <a:endParaRPr lang="en-US" sz="500" dirty="0"/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𝑀𝑅</m:t>
                    </m:r>
                  </m:oMath>
                </a14:m>
                <a:r>
                  <a:rPr lang="en-US" dirty="0"/>
                  <a:t> is positive, a price hike will lead to an increase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𝑇𝑅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endParaRPr lang="en-US" sz="500" dirty="0"/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𝑀𝑅</m:t>
                    </m:r>
                  </m:oMath>
                </a14:m>
                <a:r>
                  <a:rPr lang="en-US" dirty="0"/>
                  <a:t> is negative, a price hike will lead to a decrease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𝑇𝑅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37D8012-2069-A213-AED7-ACFF75B45E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989570" cy="4351338"/>
              </a:xfrm>
              <a:blipFill>
                <a:blip r:embed="rId2"/>
                <a:stretch>
                  <a:fillRect l="-992" t="-1821" r="-6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56889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46AAE-EEE1-D2DA-8674-E995BC021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Marginal Revenue in Terms of Price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EA153-8CA9-0014-D4B5-03555F7BB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37B50-6954-7168-503C-84A90B0A3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1450C-C79E-E641-EA31-580382232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23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37D8012-2069-A213-AED7-ACFF75B45E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4"/>
                <a:ext cx="7886700" cy="4394021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solidFill>
                      <a:srgbClr val="7030A0"/>
                    </a:solidFill>
                  </a:rPr>
                  <a:t>Let us observe why/how own price elasticity would affect the producers’ total revenue. To so, we find the marginal revenue:</a:t>
                </a:r>
              </a:p>
              <a:p>
                <a:pPr marL="0" indent="0">
                  <a:buNone/>
                </a:pPr>
                <a:endParaRPr lang="en-US" sz="500" b="0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</m:d>
                        </m:num>
                        <m:den>
                          <m: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  <m:r>
                        <a:rPr lang="en-US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                                      </m:t>
                      </m:r>
                    </m:oMath>
                  </m:oMathPara>
                </a14:m>
                <a:endParaRPr lang="en-US" sz="2000" b="0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100" b="0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             </m:t>
                      </m:r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sz="20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</m:d>
                        </m:num>
                        <m:den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  <m:r>
                        <a:rPr lang="en-US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sz="20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</m:d>
                        </m:num>
                        <m:den>
                          <m:r>
                            <a:rPr lang="en-US" sz="20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2000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1000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𝑥𝑝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             </m:t>
                      </m:r>
                    </m:oMath>
                  </m:oMathPara>
                </a14:m>
                <a:endParaRPr lang="en-US" sz="2000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1500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⋅(1+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𝑥𝑝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           </m:t>
                      </m:r>
                      <m:r>
                        <a:rPr lang="en-US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                 </m:t>
                      </m:r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sz="2000" dirty="0">
                  <a:solidFill>
                    <a:srgbClr val="7030A0"/>
                  </a:solidFill>
                </a:endParaRPr>
              </a:p>
              <a:p>
                <a:endParaRPr lang="en-US" dirty="0">
                  <a:solidFill>
                    <a:srgbClr val="7030A0"/>
                  </a:solidFill>
                </a:endParaRPr>
              </a:p>
              <a:p>
                <a:endParaRPr lang="en-US" sz="1500" dirty="0"/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37D8012-2069-A213-AED7-ACFF75B45E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4"/>
                <a:ext cx="7886700" cy="4394021"/>
              </a:xfrm>
              <a:blipFill>
                <a:blip r:embed="rId2"/>
                <a:stretch>
                  <a:fillRect l="-1005" t="-18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46FB4137-4F41-782E-EBA6-0EC00889B14F}"/>
              </a:ext>
            </a:extLst>
          </p:cNvPr>
          <p:cNvGrpSpPr/>
          <p:nvPr/>
        </p:nvGrpSpPr>
        <p:grpSpPr>
          <a:xfrm>
            <a:off x="4102100" y="3694430"/>
            <a:ext cx="3657600" cy="717550"/>
            <a:chOff x="4102100" y="3359150"/>
            <a:chExt cx="3657600" cy="717550"/>
          </a:xfrm>
        </p:grpSpPr>
        <p:cxnSp>
          <p:nvCxnSpPr>
            <p:cNvPr id="10" name="Connector: Elbow 9">
              <a:extLst>
                <a:ext uri="{FF2B5EF4-FFF2-40B4-BE49-F238E27FC236}">
                  <a16:creationId xmlns:a16="http://schemas.microsoft.com/office/drawing/2014/main" id="{4CF66B21-0622-7C95-39AA-36C4488B15CC}"/>
                </a:ext>
              </a:extLst>
            </p:cNvPr>
            <p:cNvCxnSpPr/>
            <p:nvPr/>
          </p:nvCxnSpPr>
          <p:spPr>
            <a:xfrm>
              <a:off x="4102100" y="3359150"/>
              <a:ext cx="3644900" cy="381000"/>
            </a:xfrm>
            <a:prstGeom prst="bentConnector3">
              <a:avLst>
                <a:gd name="adj1" fmla="val 57666"/>
              </a:avLst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: Elbow 12">
              <a:extLst>
                <a:ext uri="{FF2B5EF4-FFF2-40B4-BE49-F238E27FC236}">
                  <a16:creationId xmlns:a16="http://schemas.microsoft.com/office/drawing/2014/main" id="{6480D644-8773-B832-E21F-22508F373832}"/>
                </a:ext>
              </a:extLst>
            </p:cNvPr>
            <p:cNvCxnSpPr/>
            <p:nvPr/>
          </p:nvCxnSpPr>
          <p:spPr>
            <a:xfrm>
              <a:off x="4114800" y="3378200"/>
              <a:ext cx="3644900" cy="698500"/>
            </a:xfrm>
            <a:prstGeom prst="bentConnector3">
              <a:avLst>
                <a:gd name="adj1" fmla="val 174"/>
              </a:avLst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214B07D-0240-F316-E6F4-9D85B6B7C30E}"/>
                </a:ext>
              </a:extLst>
            </p:cNvPr>
            <p:cNvCxnSpPr/>
            <p:nvPr/>
          </p:nvCxnSpPr>
          <p:spPr>
            <a:xfrm flipV="1">
              <a:off x="7740650" y="3721100"/>
              <a:ext cx="0" cy="33655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94567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46AAE-EEE1-D2DA-8674-E995BC021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Marginal Revenue and Total Revenue </a:t>
            </a:r>
            <a:br>
              <a:rPr lang="en-US" dirty="0"/>
            </a:br>
            <a:r>
              <a:rPr lang="en-US" dirty="0"/>
              <a:t>in Terms of Price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EA153-8CA9-0014-D4B5-03555F7BB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37B50-6954-7168-503C-84A90B0A3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1450C-C79E-E641-EA31-580382232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24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37D8012-2069-A213-AED7-ACFF75B45E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989570" cy="435133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𝑀𝑅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⋅(1+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𝑥𝑝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from the previous slide.</a:t>
                </a:r>
              </a:p>
              <a:p>
                <a:endParaRPr lang="en-US" sz="500" dirty="0"/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When the demand for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elastic,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𝑥𝑝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&lt;−1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𝑀𝑅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and a price hike will lead to a decrease in revenue.</a:t>
                </a:r>
              </a:p>
              <a:p>
                <a:endParaRPr lang="en-US" sz="500" dirty="0"/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When the demand for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inelastic,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𝑥𝑝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𝑀𝑅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and a price hike will lead to an </a:t>
                </a:r>
                <a:r>
                  <a:rPr lang="en-US" dirty="0"/>
                  <a:t>increase </a:t>
                </a:r>
                <a:r>
                  <a:rPr lang="en-US" dirty="0">
                    <a:solidFill>
                      <a:schemeClr val="tx1"/>
                    </a:solidFill>
                  </a:rPr>
                  <a:t>in revenue.</a:t>
                </a:r>
              </a:p>
              <a:p>
                <a:endParaRPr lang="en-US" sz="500" dirty="0"/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When </a:t>
                </a:r>
                <a:r>
                  <a:rPr lang="en-US" dirty="0"/>
                  <a:t>the demand for good x is unit elastic,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𝑥𝑝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𝑀𝑅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, and a revenue is maximized.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37D8012-2069-A213-AED7-ACFF75B45E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989570" cy="4351338"/>
              </a:xfrm>
              <a:blipFill>
                <a:blip r:embed="rId2"/>
                <a:stretch>
                  <a:fillRect l="-992" t="-1821" r="-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06695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46AAE-EEE1-D2DA-8674-E995BC021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Marginal Revenue in Terms of Quantity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EA153-8CA9-0014-D4B5-03555F7BB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37B50-6954-7168-503C-84A90B0A3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1450C-C79E-E641-EA31-580382232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25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37D8012-2069-A213-AED7-ACFF75B45E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4"/>
                <a:ext cx="7886700" cy="4394021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solidFill>
                      <a:srgbClr val="7030A0"/>
                    </a:solidFill>
                  </a:rPr>
                  <a:t>Alternately we define TR in terms of quantities:</a:t>
                </a:r>
              </a:p>
              <a:p>
                <a:pPr marL="0" indent="0">
                  <a:buNone/>
                </a:pPr>
                <a:endParaRPr lang="en-US" sz="500" b="0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</m:d>
                        </m:den>
                      </m:f>
                      <m:r>
                        <a:rPr lang="en-US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sz="2000" b="0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100" b="0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                            </m:t>
                      </m:r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</m:d>
                        </m:den>
                      </m:f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sz="20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100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f>
                        <m:fPr>
                          <m:ctrlP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𝑥𝑝</m:t>
                              </m:r>
                            </m:sub>
                          </m:sSub>
                        </m:den>
                      </m:f>
                      <m:r>
                        <a:rPr lang="en-US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                     </m:t>
                      </m:r>
                    </m:oMath>
                  </m:oMathPara>
                </a14:m>
                <a:endParaRPr lang="en-US" sz="2000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100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US" sz="20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𝑥𝑝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                  </m:t>
                      </m:r>
                    </m:oMath>
                  </m:oMathPara>
                </a14:m>
                <a:endParaRPr lang="en-US" sz="2000" dirty="0">
                  <a:solidFill>
                    <a:srgbClr val="7030A0"/>
                  </a:solidFill>
                </a:endParaRPr>
              </a:p>
              <a:p>
                <a:endParaRPr lang="en-US" dirty="0">
                  <a:solidFill>
                    <a:srgbClr val="7030A0"/>
                  </a:solidFill>
                </a:endParaRPr>
              </a:p>
              <a:p>
                <a:endParaRPr lang="en-US" sz="1500" dirty="0"/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37D8012-2069-A213-AED7-ACFF75B45E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4"/>
                <a:ext cx="7886700" cy="4394021"/>
              </a:xfrm>
              <a:blipFill>
                <a:blip r:embed="rId2"/>
                <a:stretch>
                  <a:fillRect l="-1005" t="-18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A94B37C4-42EB-37B0-5465-3066AADFEE21}"/>
              </a:ext>
            </a:extLst>
          </p:cNvPr>
          <p:cNvGrpSpPr/>
          <p:nvPr/>
        </p:nvGrpSpPr>
        <p:grpSpPr>
          <a:xfrm>
            <a:off x="3433314" y="3053753"/>
            <a:ext cx="3623093" cy="715990"/>
            <a:chOff x="3010619" y="3053751"/>
            <a:chExt cx="3623093" cy="715990"/>
          </a:xfrm>
        </p:grpSpPr>
        <p:cxnSp>
          <p:nvCxnSpPr>
            <p:cNvPr id="8" name="Connector: Elbow 7">
              <a:extLst>
                <a:ext uri="{FF2B5EF4-FFF2-40B4-BE49-F238E27FC236}">
                  <a16:creationId xmlns:a16="http://schemas.microsoft.com/office/drawing/2014/main" id="{49826703-6AC6-CE60-5E7E-79B97EBD1845}"/>
                </a:ext>
              </a:extLst>
            </p:cNvPr>
            <p:cNvCxnSpPr/>
            <p:nvPr/>
          </p:nvCxnSpPr>
          <p:spPr>
            <a:xfrm>
              <a:off x="3010619" y="3053751"/>
              <a:ext cx="3122762" cy="189781"/>
            </a:xfrm>
            <a:prstGeom prst="bentConnector3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: Elbow 10">
              <a:extLst>
                <a:ext uri="{FF2B5EF4-FFF2-40B4-BE49-F238E27FC236}">
                  <a16:creationId xmlns:a16="http://schemas.microsoft.com/office/drawing/2014/main" id="{05401571-BC5B-D934-99CF-9F0FCBC05F18}"/>
                </a:ext>
              </a:extLst>
            </p:cNvPr>
            <p:cNvCxnSpPr/>
            <p:nvPr/>
          </p:nvCxnSpPr>
          <p:spPr>
            <a:xfrm>
              <a:off x="3027871" y="3071003"/>
              <a:ext cx="3588589" cy="681486"/>
            </a:xfrm>
            <a:prstGeom prst="bentConnector3">
              <a:avLst>
                <a:gd name="adj1" fmla="val 0"/>
              </a:avLst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: Elbow 14">
              <a:extLst>
                <a:ext uri="{FF2B5EF4-FFF2-40B4-BE49-F238E27FC236}">
                  <a16:creationId xmlns:a16="http://schemas.microsoft.com/office/drawing/2014/main" id="{64B36505-BE5B-5BDA-D0E7-A9D71D44D1A3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6116128" y="3252157"/>
              <a:ext cx="543462" cy="491706"/>
            </a:xfrm>
            <a:prstGeom prst="bentConnector3">
              <a:avLst>
                <a:gd name="adj1" fmla="val 30952"/>
              </a:avLst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51515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46AAE-EEE1-D2DA-8674-E995BC021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Marginal Revenue and Total Revenue </a:t>
            </a:r>
            <a:br>
              <a:rPr lang="en-US" dirty="0"/>
            </a:br>
            <a:r>
              <a:rPr lang="en-US" dirty="0"/>
              <a:t>in Terms of Quantity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EA153-8CA9-0014-D4B5-03555F7BB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37B50-6954-7168-503C-84A90B0A3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1450C-C79E-E641-EA31-580382232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26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37D8012-2069-A213-AED7-ACFF75B45E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989570" cy="435133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𝑀𝑅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𝑥𝑝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endParaRPr lang="en-US" sz="500" dirty="0"/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When the demand for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elastic,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𝑥𝑝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&lt;−1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𝑀𝑅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and an increase in quantity sold will lead to an increase in revenue.</a:t>
                </a:r>
              </a:p>
              <a:p>
                <a:endParaRPr lang="en-US" sz="500" dirty="0"/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When the demand for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inelastic,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𝑥𝑝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𝑀𝑅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and </a:t>
                </a:r>
                <a:r>
                  <a:rPr lang="en-US" dirty="0"/>
                  <a:t>an increase in quantity sold will lead to a decrease in revenue.</a:t>
                </a:r>
              </a:p>
              <a:p>
                <a:pPr lvl="1"/>
                <a:endParaRPr lang="en-US" sz="500" dirty="0"/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When </a:t>
                </a:r>
                <a:r>
                  <a:rPr lang="en-US" dirty="0"/>
                  <a:t>the demand for good x is unit elastic,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𝑥𝑝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𝑀𝑅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, and a revenue is maximized.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37D8012-2069-A213-AED7-ACFF75B45E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989570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38889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21C1B-1613-6B65-6B7D-C008E3651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Demand, Marginal Revenue, Elasticities, and Total Revenue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FD8794-7337-F313-EF8D-D63E754291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that the inverse demand function is: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𝑏𝑥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sz="1000" dirty="0"/>
              </a:p>
              <a:p>
                <a:r>
                  <a:rPr lang="en-US" dirty="0"/>
                  <a:t>Then, total revenue in terms of quantity is: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000" dirty="0"/>
              </a:p>
              <a:p>
                <a:pPr marL="0" indent="0">
                  <a:buNone/>
                </a:pPr>
                <a:endParaRPr lang="en-US" sz="1000" dirty="0"/>
              </a:p>
              <a:p>
                <a:r>
                  <a:rPr lang="en-US" dirty="0"/>
                  <a:t>The marginal revenue is then: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𝑏𝑥</m:t>
                      </m:r>
                    </m:oMath>
                  </m:oMathPara>
                </a14:m>
                <a:endParaRPr lang="en-US" sz="100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FD8794-7337-F313-EF8D-D63E754291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43554-5E75-757C-B414-D8639DAA1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632E8-AB65-29BF-0AE1-B16708E80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1B80EB-20D4-03B5-2A30-441944C54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0371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92262B-E70F-572A-07D0-5FB1EF59F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5F76EC-2D72-8EB2-C6BA-D47223049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E34EFC-767D-0DAC-E23C-254D95571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C2B9C5-F86F-38E8-AFCB-9D7A918CCF7A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0087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5145EE-6CF8-CE61-46E5-7FF389E7E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3ADB44-D270-8F34-E02B-217B5186B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E54AE4-3129-AAA9-5DD0-BF2E77DD9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E4EC26-EE73-3136-F30C-0EDBC431C346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4087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5E117-8400-6A86-DBB3-5AFECD458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Demand, Marginal Revenue, Elasticities, and Total Revenue</a:t>
            </a:r>
          </a:p>
        </p:txBody>
      </p:sp>
      <p:pic>
        <p:nvPicPr>
          <p:cNvPr id="9" name="Content Placeholder 8" descr="A diagram of a line&#10;&#10;Description automatically generated">
            <a:extLst>
              <a:ext uri="{FF2B5EF4-FFF2-40B4-BE49-F238E27FC236}">
                <a16:creationId xmlns:a16="http://schemas.microsoft.com/office/drawing/2014/main" id="{4EEEF989-C929-0D2D-5523-AD009E98624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E8BCA18-67C5-3059-B521-F28BE627D21E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dirty="0"/>
                  <a:t>Plot the demand and marginal revenue curves.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𝑏𝑥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𝑏𝑥</m:t>
                    </m:r>
                  </m:oMath>
                </a14:m>
                <a:endParaRPr lang="en-US" dirty="0"/>
              </a:p>
              <a:p>
                <a:pPr lvl="1"/>
                <a:endParaRPr lang="en-US" sz="500" dirty="0"/>
              </a:p>
              <a:p>
                <a:r>
                  <a:rPr lang="en-US" dirty="0"/>
                  <a:t>Notice that the results we found in previous slides:</a:t>
                </a:r>
              </a:p>
              <a:p>
                <a:pPr lvl="1"/>
                <a:r>
                  <a:rPr lang="en-US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&lt;−1</m:t>
                    </m:r>
                  </m:oMath>
                </a14:m>
                <a:r>
                  <a:rPr lang="en-US" dirty="0"/>
                  <a:t>, either lower the price or sell more to increase revenue.</a:t>
                </a:r>
              </a:p>
              <a:p>
                <a:pPr lvl="1"/>
                <a:r>
                  <a:rPr lang="en-US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, either increase the price or sell less to increase revenue.</a:t>
                </a: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E8BCA18-67C5-3059-B521-F28BE627D2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2038" t="-1821" r="-3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A55F97-D69D-BC6B-22BD-231C08FF1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64176B-C271-BC56-C031-7E2B3D1FB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D1AF88-85B7-3CCC-AFF9-10B2CA42D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30</a:t>
            </a:fld>
            <a:endParaRPr lang="en-US" dirty="0"/>
          </a:p>
        </p:txBody>
      </p:sp>
      <p:pic>
        <p:nvPicPr>
          <p:cNvPr id="10" name="Content Placeholder 10">
            <a:extLst>
              <a:ext uri="{FF2B5EF4-FFF2-40B4-BE49-F238E27FC236}">
                <a16:creationId xmlns:a16="http://schemas.microsoft.com/office/drawing/2014/main" id="{0BD8131E-9156-7571-96BB-6375929D7D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651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of Today’s Topic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17BAA-D4BA-C7EB-5696-203603829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Individual and Market Demand</a:t>
            </a:r>
          </a:p>
          <a:p>
            <a:endParaRPr lang="en-US" dirty="0"/>
          </a:p>
          <a:p>
            <a:r>
              <a:rPr lang="en-US" dirty="0"/>
              <a:t>Elasticities</a:t>
            </a:r>
          </a:p>
          <a:p>
            <a:endParaRPr lang="en-US" dirty="0"/>
          </a:p>
          <a:p>
            <a:r>
              <a:rPr lang="en-US"/>
              <a:t>Revenues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289949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285b2224-1040-4f8c-8ed1-4522a5770c4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451b7ad5-1ae8-45f4-a3b0-cfc5413308d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1ad05ba0-3c25-46c6-a2b9-60267eafecf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76d10b18-32d3-468c-8d78-593d1403ce4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addbb553-862e-4680-8bb2-7e4ec33d397b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785ad5e3-185c-482c-a076-1a6ebb27c52c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CF630E01-D107-42E5-8DFC-48302BB3DFE2}" vid="{4BEE81CA-F64C-419F-A97B-23D16F4EA3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mc-presentation-template</Template>
  <TotalTime>8323</TotalTime>
  <Words>2679</Words>
  <Application>Microsoft Office PowerPoint</Application>
  <PresentationFormat>On-screen Show (4:3)</PresentationFormat>
  <Paragraphs>338</Paragraphs>
  <Slides>31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Calibri</vt:lpstr>
      <vt:lpstr>Cambria Math</vt:lpstr>
      <vt:lpstr>Franklin Gothic Book</vt:lpstr>
      <vt:lpstr>Wingdings</vt:lpstr>
      <vt:lpstr>Office Theme</vt:lpstr>
      <vt:lpstr>Consumer Theory:  Individual and Market Demand</vt:lpstr>
      <vt:lpstr>Review of Previous Lectures</vt:lpstr>
      <vt:lpstr>Individual vs. Market Demand</vt:lpstr>
      <vt:lpstr>Market Demand Implications</vt:lpstr>
      <vt:lpstr>How to “Add” Individual Demand</vt:lpstr>
      <vt:lpstr>Inverse Demand</vt:lpstr>
      <vt:lpstr>PowerPoint Presentation</vt:lpstr>
      <vt:lpstr>PowerPoint Presentation</vt:lpstr>
      <vt:lpstr>Market Demand with 2 Consumers</vt:lpstr>
      <vt:lpstr>Market Demand with 2 Consumers</vt:lpstr>
      <vt:lpstr>Elasticity</vt:lpstr>
      <vt:lpstr>Recap of (Own) Price Elasticity</vt:lpstr>
      <vt:lpstr>Recap of Income Elasticity</vt:lpstr>
      <vt:lpstr>Recap of Cross-Price Elasticity</vt:lpstr>
      <vt:lpstr>Calculating (Own) Price Elasticities</vt:lpstr>
      <vt:lpstr>Calculating (Own) Price Elasticities</vt:lpstr>
      <vt:lpstr>Calculating (Own) Price Elasticities</vt:lpstr>
      <vt:lpstr>PowerPoint Presentation</vt:lpstr>
      <vt:lpstr>PowerPoint Presentation</vt:lpstr>
      <vt:lpstr>Elasticity and Revenue</vt:lpstr>
      <vt:lpstr>Total Revenue</vt:lpstr>
      <vt:lpstr>Marginal Revenue in Terms of Price</vt:lpstr>
      <vt:lpstr>Marginal Revenue in Terms of Price</vt:lpstr>
      <vt:lpstr>Marginal Revenue and Total Revenue  in Terms of Price</vt:lpstr>
      <vt:lpstr>Marginal Revenue in Terms of Quantity</vt:lpstr>
      <vt:lpstr>Marginal Revenue and Total Revenue  in Terms of Quantity</vt:lpstr>
      <vt:lpstr>Demand, Marginal Revenue, Elasticities, and Total Revenue</vt:lpstr>
      <vt:lpstr>PowerPoint Presentation</vt:lpstr>
      <vt:lpstr>PowerPoint Presentation</vt:lpstr>
      <vt:lpstr>Demand, Marginal Revenue, Elasticities, and Total Revenue</vt:lpstr>
      <vt:lpstr>Review of Today’s Topic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Price Theory</dc:title>
  <dc:creator>Brian Park</dc:creator>
  <cp:lastModifiedBy>Park, Brian</cp:lastModifiedBy>
  <cp:revision>110</cp:revision>
  <dcterms:created xsi:type="dcterms:W3CDTF">2023-08-17T23:00:51Z</dcterms:created>
  <dcterms:modified xsi:type="dcterms:W3CDTF">2023-10-07T22:26:39Z</dcterms:modified>
</cp:coreProperties>
</file>