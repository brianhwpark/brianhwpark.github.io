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41"/>
  </p:notesMasterIdLst>
  <p:sldIdLst>
    <p:sldId id="256" r:id="rId2"/>
    <p:sldId id="285" r:id="rId3"/>
    <p:sldId id="290" r:id="rId4"/>
    <p:sldId id="291" r:id="rId5"/>
    <p:sldId id="292" r:id="rId6"/>
    <p:sldId id="293" r:id="rId7"/>
    <p:sldId id="287" r:id="rId8"/>
    <p:sldId id="286" r:id="rId9"/>
    <p:sldId id="288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301" r:id="rId18"/>
    <p:sldId id="302" r:id="rId19"/>
    <p:sldId id="303" r:id="rId20"/>
    <p:sldId id="304" r:id="rId21"/>
    <p:sldId id="289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Monopolies and Monopsonies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Up to this point, we have been analyzing the output market under perfect competition.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Infinite number of producers and consumers,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Homogeneous products,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Perfect information,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Free entry and exit, and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Zero transaction costs.</a:t>
            </a:r>
          </a:p>
          <a:p>
            <a:pPr marL="2286000" lvl="4" indent="-457200">
              <a:buFont typeface="+mj-lt"/>
              <a:buAutoNum type="arabicPeriod"/>
            </a:pPr>
            <a:endParaRPr lang="en-US" dirty="0"/>
          </a:p>
          <a:p>
            <a:r>
              <a:rPr lang="en-US" sz="2400" dirty="0"/>
              <a:t>Today, we will be </a:t>
            </a:r>
            <a:r>
              <a:rPr lang="en-US" dirty="0"/>
              <a:t>examining the profit maximization process for monopolists.</a:t>
            </a:r>
          </a:p>
          <a:p>
            <a:pPr lvl="1"/>
            <a:r>
              <a:rPr lang="en-US" dirty="0"/>
              <a:t>Breaking Rule #1: One Producer, Infinite Consumers.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565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Monopoly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Monopolies exist in the real world, and can have “natural” causes including, but not limited to…</a:t>
            </a:r>
          </a:p>
          <a:p>
            <a:pPr lvl="1"/>
            <a:r>
              <a:rPr lang="en-US" dirty="0"/>
              <a:t>Economies of Scale, or</a:t>
            </a:r>
          </a:p>
          <a:p>
            <a:pPr lvl="1"/>
            <a:r>
              <a:rPr lang="en-US" dirty="0"/>
              <a:t>Economies of Scope.</a:t>
            </a:r>
          </a:p>
          <a:p>
            <a:pPr lvl="3"/>
            <a:endParaRPr lang="en-US" dirty="0"/>
          </a:p>
          <a:p>
            <a:r>
              <a:rPr lang="en-US" dirty="0"/>
              <a:t>Some artificial or institutional factors may lead to the rise of a monopoly in the economy such as…</a:t>
            </a:r>
          </a:p>
          <a:p>
            <a:pPr lvl="1"/>
            <a:r>
              <a:rPr lang="en-US" dirty="0"/>
              <a:t>Patents and Copyrights, or</a:t>
            </a:r>
          </a:p>
          <a:p>
            <a:pPr lvl="1"/>
            <a:r>
              <a:rPr lang="en-US" dirty="0"/>
              <a:t>Resource Constraints.</a:t>
            </a:r>
          </a:p>
          <a:p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669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Scale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Firms’ average cost may decrease as firms increase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When firms increase production, they will inevitably purchase greater amounts of inputs, and…</a:t>
                </a:r>
              </a:p>
              <a:p>
                <a:pPr lvl="1"/>
                <a:r>
                  <a:rPr lang="en-US" dirty="0"/>
                  <a:t>…when firms have a larger pool of workers, each worker may specialize into specific tasks, increasing productivity.</a:t>
                </a:r>
              </a:p>
              <a:p>
                <a:pPr lvl="1"/>
                <a:r>
                  <a:rPr lang="en-US" dirty="0"/>
                  <a:t>…when firms purchase large amounts of capital inputs, they may find a way to negotiate for lower prices.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Not the same as returns to scale.</a:t>
                </a:r>
              </a:p>
              <a:p>
                <a:pPr lvl="1"/>
                <a:r>
                  <a:rPr lang="en-US" dirty="0"/>
                  <a:t>Returns to Scale: Increase Input, how does Output React?</a:t>
                </a:r>
              </a:p>
              <a:p>
                <a:pPr lvl="1"/>
                <a:r>
                  <a:rPr lang="en-US" dirty="0"/>
                  <a:t>Economies of Scale: Increase Output, how does Cost React?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205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Economies of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Firms may be more efficient in production when they produce two or more related products.</a:t>
            </a:r>
          </a:p>
          <a:p>
            <a:pPr lvl="3"/>
            <a:endParaRPr lang="en-US" dirty="0"/>
          </a:p>
          <a:p>
            <a:r>
              <a:rPr lang="en-US" dirty="0"/>
              <a:t>Cost of producing separately is greater than the cost of producing jointly.</a:t>
            </a:r>
          </a:p>
          <a:p>
            <a:pPr lvl="3"/>
            <a:endParaRPr lang="en-US" dirty="0"/>
          </a:p>
          <a:p>
            <a:r>
              <a:rPr lang="en-US" dirty="0"/>
              <a:t>For instance, firms that offer internet services often offer cable TV, landline, or broadband services, because these services share a common cost.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scale is the efficiency arising from “volume.” </a:t>
            </a:r>
          </a:p>
          <a:p>
            <a:pPr lvl="3"/>
            <a:endParaRPr lang="en-US" dirty="0"/>
          </a:p>
          <a:p>
            <a:r>
              <a:rPr lang="en-US" sz="2400" dirty="0"/>
              <a:t>Economies of scope is the efficiency arising from “variety.”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272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Patents and Resource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7954633" cy="4351338"/>
          </a:xfrm>
        </p:spPr>
        <p:txBody>
          <a:bodyPr>
            <a:normAutofit/>
          </a:bodyPr>
          <a:lstStyle/>
          <a:p>
            <a:r>
              <a:rPr lang="en-US" dirty="0"/>
              <a:t>Patents on new technology, or copyright on creative work can serve as a barrier to entry.</a:t>
            </a:r>
          </a:p>
          <a:p>
            <a:pPr lvl="1"/>
            <a:r>
              <a:rPr lang="en-US" dirty="0"/>
              <a:t>The technology behind Post-it notes was protected until 1997.</a:t>
            </a:r>
          </a:p>
          <a:p>
            <a:pPr lvl="1"/>
            <a:r>
              <a:rPr lang="en-US" dirty="0"/>
              <a:t>Now, firms other than 3M (the original patent holder) can produce sticky notes based on this technology.</a:t>
            </a:r>
          </a:p>
          <a:p>
            <a:pPr lvl="1"/>
            <a:r>
              <a:rPr lang="en-US" dirty="0"/>
              <a:t>However, the name “Post-it” is still protected under trademarks.</a:t>
            </a:r>
          </a:p>
          <a:p>
            <a:pPr lvl="3"/>
            <a:endParaRPr lang="en-US" dirty="0"/>
          </a:p>
          <a:p>
            <a:r>
              <a:rPr lang="en-US" sz="2400" dirty="0"/>
              <a:t>Sometimes, inputs required in production may be limited.</a:t>
            </a:r>
          </a:p>
          <a:p>
            <a:pPr lvl="1"/>
            <a:r>
              <a:rPr lang="en-US" dirty="0"/>
              <a:t>Rare-earth elements are crucial in the production of electric vehicles, phones, stealth fighter jets, etc.</a:t>
            </a:r>
          </a:p>
          <a:p>
            <a:pPr lvl="1"/>
            <a:r>
              <a:rPr lang="en-US" dirty="0"/>
              <a:t>As of 2020, 98% of all rare-earth materials used in the EU was imported from China.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134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The single most impactful difference between a monopoly and perfect competition is that the producer has market power.</a:t>
            </a:r>
          </a:p>
          <a:p>
            <a:pPr lvl="3"/>
            <a:endParaRPr lang="en-US" dirty="0"/>
          </a:p>
          <a:p>
            <a:r>
              <a:rPr lang="en-US" sz="2400" dirty="0"/>
              <a:t>Recall that in a perfectly competitive output market with infinite producers, a single firm did not have the power to set prices.</a:t>
            </a:r>
          </a:p>
          <a:p>
            <a:pPr lvl="3"/>
            <a:endParaRPr lang="en-US" dirty="0"/>
          </a:p>
          <a:p>
            <a:r>
              <a:rPr lang="en-US" dirty="0"/>
              <a:t>In a monopoly, where there is a single producer of a good, that firm alone can dictate the price and quantity supplied.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291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2D09F-903E-2695-6052-F32E88EB9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vs. Perfect Competition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4E2C7-1D31-31FE-3066-39837C03B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sz="2400" dirty="0"/>
              <a:t>Individual Firms’ Demand under 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94BAA2-5D53-DFCF-CB8F-4F2F49C5B0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sz="2400" dirty="0"/>
              <a:t>The Monopoly Producer’s Demand Curve</a:t>
            </a:r>
          </a:p>
        </p:txBody>
      </p:sp>
      <p:pic>
        <p:nvPicPr>
          <p:cNvPr id="17" name="Content Placeholder 16" descr="A diagram of a line graph&#10;&#10;Description automatically generated">
            <a:extLst>
              <a:ext uri="{FF2B5EF4-FFF2-40B4-BE49-F238E27FC236}">
                <a16:creationId xmlns:a16="http://schemas.microsoft.com/office/drawing/2014/main" id="{4FCFA338-0349-2B6F-651A-0FAC6A1D61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7995-2D3E-860A-7F09-77F410850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309849-E6CB-BBA1-E995-CC9016C5D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C6127-606F-C7F7-F894-A2B6C331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  <p:pic>
        <p:nvPicPr>
          <p:cNvPr id="15" name="Content Placeholder 14" descr="A graph of a function&#10;&#10;Description automatically generated">
            <a:extLst>
              <a:ext uri="{FF2B5EF4-FFF2-40B4-BE49-F238E27FC236}">
                <a16:creationId xmlns:a16="http://schemas.microsoft.com/office/drawing/2014/main" id="{D78BFB4A-6892-C419-ACE0-BEC22BA7E1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</p:spTree>
    <p:extLst>
      <p:ext uri="{BB962C8B-B14F-4D97-AF65-F5344CB8AC3E}">
        <p14:creationId xmlns:p14="http://schemas.microsoft.com/office/powerpoint/2010/main" val="3193890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Monopoly Producer’s </a:t>
            </a:r>
            <a:br>
              <a:rPr lang="en-US" dirty="0"/>
            </a:br>
            <a:r>
              <a:rPr lang="en-US" dirty="0"/>
              <a:t>Individual Demand Curve</a:t>
            </a:r>
          </a:p>
        </p:txBody>
      </p:sp>
      <p:pic>
        <p:nvPicPr>
          <p:cNvPr id="9" name="Content Placeholder 8" descr="A diagram of a line graph&#10;&#10;Description automatically generated">
            <a:extLst>
              <a:ext uri="{FF2B5EF4-FFF2-40B4-BE49-F238E27FC236}">
                <a16:creationId xmlns:a16="http://schemas.microsoft.com/office/drawing/2014/main" id="{1188DD0C-004A-FFC3-9F5A-E170C5E857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66B3E-0BC0-B8B0-A9E9-EACADFCD5EB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Monopoly producers face the entire market’s demand as their individual firm’s demand.</a:t>
            </a:r>
          </a:p>
          <a:p>
            <a:pPr lvl="3"/>
            <a:endParaRPr lang="en-US" dirty="0"/>
          </a:p>
          <a:p>
            <a:r>
              <a:rPr lang="en-US" dirty="0"/>
              <a:t>They can exert market power by controlling the amount of output they produce.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0" name="Content Placeholder 10" descr="A diagram of a price&#10;&#10;Description automatically generated">
            <a:extLst>
              <a:ext uri="{FF2B5EF4-FFF2-40B4-BE49-F238E27FC236}">
                <a16:creationId xmlns:a16="http://schemas.microsoft.com/office/drawing/2014/main" id="{1C239438-8CDB-02B7-5FE5-BB7B55377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2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rule that a profit maximizing producer follows, which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still apply to monopoly producers.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main difference is that the monopoly producer has market power, which means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dirty="0"/>
                  <a:t> is no longer simply the market price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Recall how we found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in LEC16 (Slide 47).</a:t>
                </a:r>
              </a:p>
              <a:p>
                <a:pPr lvl="1"/>
                <a:r>
                  <a:rPr lang="en-US" dirty="0"/>
                  <a:t>When the inverse demand function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r>
                  <a:rPr lang="en-US" dirty="0"/>
                  <a:t>Total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𝑏𝑥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Marginal revenue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𝑇𝑅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𝑏𝑥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2333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2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the inverse demand function.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57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argPr>
                            <m:argSz m:val="-1"/>
                          </m:argP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box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5115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box>
                            <m:box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boxPr>
                            <m:e>
                              <m:argPr>
                                <m:argSz m:val="-1"/>
                              </m:argPr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box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099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200+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3099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60−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60=3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8209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a monopoly producer, and the market conditions are given as follows: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</a:t>
                </a:r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20=120−2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100=2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 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=50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21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Profit Maximization of Monopolies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sum up, we found that the optimal quantity and market price for the monopoly producer to set is…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output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market price to be lower, and that quantity traded to be greater.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8701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quantity and price if you are in a perfectly competitive output market where market conditions are:</a:t>
                </a:r>
              </a:p>
              <a:p>
                <a:pPr lvl="1"/>
                <a:r>
                  <a:rPr lang="en-US" dirty="0"/>
                  <a:t>Demand: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Cost: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=200+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Recall that the individual firm’s supply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. So, demand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, and supply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/>
              </a:p>
              <a:p>
                <a:endParaRPr lang="en-US" sz="5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=120   ⟹ 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=24</m:t>
                      </m:r>
                    </m:oMath>
                  </m:oMathPara>
                </a14:m>
                <a:endParaRPr lang="en-US" sz="2400" dirty="0"/>
              </a:p>
              <a:p>
                <a:pPr marL="457200" lvl="1" indent="0">
                  <a:buNone/>
                </a:pPr>
                <a:endParaRPr lang="en-US" sz="500" dirty="0"/>
              </a:p>
              <a:p>
                <a:r>
                  <a:rPr lang="en-US" dirty="0"/>
                  <a:t>Plug quantity into either supply or demand to find…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=120−2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24=120−2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⟹  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=48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342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Under the given market conditions, if the producer has monopoly power, the equilibrium will form at…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Under the same market conditions, if the producer had been in perfectly competitive market…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=48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=24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Expectations correct, more units traded at a lower price when the market is perfectly competitive.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774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Monopoly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Since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is no longer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we must find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</m:oMath>
                </a14:m>
                <a:r>
                  <a:rPr lang="en-US" dirty="0"/>
                  <a:t>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Then,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Pricing will follow the demand curve, which reflects the consumers’ willingness to pay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4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21</a:t>
            </a:fld>
            <a:endParaRPr lang="en-US" dirty="0"/>
          </a:p>
        </p:txBody>
      </p:sp>
      <p:pic>
        <p:nvPicPr>
          <p:cNvPr id="19" name="Content Placeholder 18" descr="A diagram of a function&#10;&#10;Description automatically generated">
            <a:extLst>
              <a:ext uri="{FF2B5EF4-FFF2-40B4-BE49-F238E27FC236}">
                <a16:creationId xmlns:a16="http://schemas.microsoft.com/office/drawing/2014/main" id="{57B5F749-B503-8840-6F84-84E7BE494E7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9" descr="A diagram of a line&#10;&#10;Description automatically generated">
            <a:extLst>
              <a:ext uri="{FF2B5EF4-FFF2-40B4-BE49-F238E27FC236}">
                <a16:creationId xmlns:a16="http://schemas.microsoft.com/office/drawing/2014/main" id="{C0A39069-1D10-8132-FBA8-F554F1ECD1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3" descr="A diagram of a line&#10;&#10;Description automatically generated">
            <a:extLst>
              <a:ext uri="{FF2B5EF4-FFF2-40B4-BE49-F238E27FC236}">
                <a16:creationId xmlns:a16="http://schemas.microsoft.com/office/drawing/2014/main" id="{8A4D16E4-BFF7-797C-A58C-786EABE1C0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532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Monopolies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 equilibrium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producer has monopoly power, the price and quantity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What happens to the consumers and producers’ surplus?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22</a:t>
            </a:fld>
            <a:endParaRPr lang="en-US" dirty="0"/>
          </a:p>
        </p:txBody>
      </p:sp>
      <p:pic>
        <p:nvPicPr>
          <p:cNvPr id="18" name="Content Placeholder 17" descr="A diagram of a function&#10;&#10;Description automatically generated">
            <a:extLst>
              <a:ext uri="{FF2B5EF4-FFF2-40B4-BE49-F238E27FC236}">
                <a16:creationId xmlns:a16="http://schemas.microsoft.com/office/drawing/2014/main" id="{6B9F8907-1743-FE6C-604E-5769B7FD14B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630476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Monopoly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23</a:t>
            </a:fld>
            <a:endParaRPr lang="en-US" dirty="0"/>
          </a:p>
        </p:txBody>
      </p:sp>
      <p:pic>
        <p:nvPicPr>
          <p:cNvPr id="21" name="Content Placeholder 20" descr="A diagram of a function&#10;&#10;Description automatically generated">
            <a:extLst>
              <a:ext uri="{FF2B5EF4-FFF2-40B4-BE49-F238E27FC236}">
                <a16:creationId xmlns:a16="http://schemas.microsoft.com/office/drawing/2014/main" id="{645F6823-31A9-0F6B-70D0-9640402A1E5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25" name="Content Placeholder 24" descr="A diagram of a function&#10;&#10;Description automatically generated">
            <a:extLst>
              <a:ext uri="{FF2B5EF4-FFF2-40B4-BE49-F238E27FC236}">
                <a16:creationId xmlns:a16="http://schemas.microsoft.com/office/drawing/2014/main" id="{C57E85DB-FEEF-9CCD-CEE2-4761DC1394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26" name="Content Placeholder 12" descr="A diagram of a competition&#10;&#10;Description automatically generated">
            <a:extLst>
              <a:ext uri="{FF2B5EF4-FFF2-40B4-BE49-F238E27FC236}">
                <a16:creationId xmlns:a16="http://schemas.microsoft.com/office/drawing/2014/main" id="{202D7CCA-8176-BC31-1226-6FAAB060A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27" name="Content Placeholder 16" descr="A diagram of a price line&#10;&#10;Description automatically generated">
            <a:extLst>
              <a:ext uri="{FF2B5EF4-FFF2-40B4-BE49-F238E27FC236}">
                <a16:creationId xmlns:a16="http://schemas.microsoft.com/office/drawing/2014/main" id="{347F6AB1-BF98-D659-DF3D-4DB9D0BBDD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0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Breaking the Rules </a:t>
            </a:r>
            <a:br>
              <a:rPr lang="en-US" dirty="0"/>
            </a:br>
            <a:r>
              <a:rPr lang="en-US" dirty="0"/>
              <a:t>of Perfect Competition…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Let us now consider a flipped case. We will be looking into a market where there is a single consumer with infinitely many producers.</a:t>
            </a:r>
          </a:p>
          <a:p>
            <a:pPr lvl="1"/>
            <a:r>
              <a:rPr lang="en-US" dirty="0"/>
              <a:t>Breaking Rule #1: Infinite Producers, One Consumer.</a:t>
            </a:r>
          </a:p>
          <a:p>
            <a:pPr lvl="3"/>
            <a:endParaRPr lang="en-US" dirty="0"/>
          </a:p>
          <a:p>
            <a:r>
              <a:rPr lang="en-US" dirty="0"/>
              <a:t>We call this situation a Monopsony.</a:t>
            </a:r>
          </a:p>
          <a:p>
            <a:pPr marL="1371600" lvl="3" indent="0">
              <a:buNone/>
            </a:pPr>
            <a:endParaRPr lang="en-US" dirty="0"/>
          </a:p>
          <a:p>
            <a:r>
              <a:rPr lang="en-US" sz="2400" dirty="0"/>
              <a:t>May arise in the labor market, when there is a single large employer in some commuting zone.</a:t>
            </a:r>
          </a:p>
          <a:p>
            <a:pPr lvl="3"/>
            <a:endParaRPr lang="en-US" dirty="0"/>
          </a:p>
          <a:p>
            <a:r>
              <a:rPr lang="en-US" dirty="0"/>
              <a:t>The firm will be the only entity that demands labor, setting up a monopsony.</a:t>
            </a:r>
          </a:p>
          <a:p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9860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Since all firms are assumed to be profit maximizers, the optimality condition remains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The first difference in this case is that wage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2400" dirty="0"/>
                  <a:t>, is not fixed for the firm.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Another difference is that the firm’s output level will depend on the amount of labor purchased.</a:t>
                </a:r>
              </a:p>
              <a:p>
                <a:pPr lvl="3"/>
                <a:endParaRPr lang="en-US" dirty="0"/>
              </a:p>
              <a:p>
                <a:r>
                  <a:rPr lang="en-US" sz="2400" dirty="0"/>
                  <a:t>Profit function (ignoring capital) can be expressed as: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𝑇𝑅</m:t>
                          </m:r>
                        </m:lim>
                      </m:limLow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</m:groupChr>
                        </m:e>
                        <m:li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𝑇𝐶</m:t>
                          </m:r>
                        </m:lim>
                      </m:limLow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266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750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 b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7702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Find total cost,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10+2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972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dirty="0"/>
                  <a:t>Find marginal cost,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1006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dirty="0"/>
                  <a:t>Find total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50+30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	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=250+150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3383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dirty="0"/>
                  <a:t>Find marginal revenue,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𝑑𝐿</m:t>
                          </m:r>
                        </m:den>
                      </m:f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250+150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−5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=150−10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821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:r>
                  <a:rPr lang="en-US" b="0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150−10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=10+4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       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9155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firm is the only employer in a region, with market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=50+30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pPr marL="457200" indent="-457200">
                  <a:buFont typeface="+mj-lt"/>
                  <a:buAutoNum type="arabicPeriod" startAt="5"/>
                </a:pPr>
                <a:r>
                  <a:rPr lang="en-US" dirty="0"/>
                  <a:t>Solve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𝑀𝐶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continued.</a:t>
                </a:r>
                <a:endParaRPr lang="en-US" i="1" dirty="0"/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=10+2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⟹  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=10+2⋅10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>
                    <a:ea typeface="Cambria Math" panose="02040503050406030204" pitchFamily="18" charset="0"/>
                  </a:rPr>
                  <a:t>			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82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495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the firm was a monopsony buyer of labor in the market, employment and wages are determined 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Let’s see that would have happened if the input market was perfectly competitive.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We expect that the wages to be higher, and that the amount of labor hired to be higher.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9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rule is still going to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but the marginal cost is going to be the labor supply curve.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150−10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12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=140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		    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box>
                      <m:box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140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box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≈11.67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7852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</a:t>
            </a:r>
            <a:br>
              <a:rPr lang="en-US" dirty="0"/>
            </a:br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Find the optimal labor and wage if the labor market is perfectly, with conditions as follows:</a:t>
                </a:r>
              </a:p>
              <a:p>
                <a:pPr lvl="1"/>
                <a:r>
                  <a:rPr lang="en-US" dirty="0"/>
                  <a:t>Market Price of Output: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Production Function: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=50+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Labor Supply: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=10+2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The prevailing market wage will then be...</a:t>
                </a:r>
              </a:p>
              <a:p>
                <a:endParaRPr lang="en-US" sz="5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10+2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=10+2⋅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140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33.33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sz="2400" dirty="0"/>
              </a:p>
              <a:p>
                <a:pPr marL="457200" lvl="1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90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Example: Profit Maximization of</a:t>
            </a:r>
            <a:br>
              <a:rPr lang="en-US" dirty="0"/>
            </a:br>
            <a:r>
              <a:rPr lang="en-US" dirty="0"/>
              <a:t>Monopsony Producers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Recall that under a monopsony producer, the employment and wage determined by the market was: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If that same input market was perfectly competitive, the employment numbers and wages should have been: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=11.67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=33.33</m:t>
                    </m:r>
                  </m:oMath>
                </a14:m>
                <a:endParaRPr lang="en-US" dirty="0"/>
              </a:p>
              <a:p>
                <a:pPr lvl="4"/>
                <a:endParaRPr lang="en-US" dirty="0"/>
              </a:p>
              <a:p>
                <a:r>
                  <a:rPr lang="en-US" dirty="0"/>
                  <a:t>Expectations correct, less labor is hired while being paid a lower wage under monopsony.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351338"/>
              </a:xfrm>
              <a:blipFill>
                <a:blip r:embed="rId2"/>
                <a:stretch>
                  <a:fillRect l="-1005" t="-1821" r="-1700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0681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In a monopsony,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is not equal to the supply curve.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, and then apply the optimality condition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𝑀𝐶</m:t>
                    </m:r>
                  </m:oMath>
                </a14:m>
                <a:r>
                  <a:rPr lang="en-US" dirty="0"/>
                  <a:t> to find the optimal quantity.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wage will be set by the labor supply curve, as it represents the workers’ willingness to accept.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3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37</a:t>
            </a:fld>
            <a:endParaRPr lang="en-US" dirty="0"/>
          </a:p>
        </p:txBody>
      </p:sp>
      <p:pic>
        <p:nvPicPr>
          <p:cNvPr id="14" name="Content Placeholder 13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2EF13D21-6120-CD54-D5E2-52DCF1263F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14" descr="A diagram of a supply and demand&#10;&#10;Description automatically generated">
            <a:extLst>
              <a:ext uri="{FF2B5EF4-FFF2-40B4-BE49-F238E27FC236}">
                <a16:creationId xmlns:a16="http://schemas.microsoft.com/office/drawing/2014/main" id="{67937E53-9610-9E43-01D6-CE9BBCE3C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BE22648A-30DD-5046-1B9E-5AC73253A8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5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F32DE-D502-5D07-DCB0-218C841EF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Monopsony vs. Perfect Competition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If the market was perfectly competitive, the wage and employment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lvl="3"/>
                <a:endParaRPr lang="en-US" i="1" dirty="0"/>
              </a:p>
              <a:p>
                <a:r>
                  <a:rPr lang="en-US" dirty="0"/>
                  <a:t>When the employer has monopsony power, wage and employment is instead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𝑀𝑆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Changes to consumer (employer) and producer (employee) surplus?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B66B3E-0BC0-B8B0-A9E9-EACADFCD5E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4629150" y="1825625"/>
                <a:ext cx="3886200" cy="4351338"/>
              </a:xfrm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72B3AA-B730-68F9-5F4D-972A586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E1A3DE-6D5A-1F2D-454A-382C0797B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2A628-DB05-7869-8915-A724BBA6E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38</a:t>
            </a:fld>
            <a:endParaRPr lang="en-US" dirty="0"/>
          </a:p>
        </p:txBody>
      </p:sp>
      <p:pic>
        <p:nvPicPr>
          <p:cNvPr id="23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51F9EF1F-B19C-B8EF-4B55-23DCA3B6F5D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3780632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96835-DF4C-71D6-D7B8-EB6B165B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in Societal Surplus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B3208E-DFD0-B383-5E09-92F77C9FE2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t"/>
          <a:lstStyle/>
          <a:p>
            <a:pPr algn="ctr"/>
            <a:r>
              <a:rPr lang="en-US" dirty="0"/>
              <a:t>Perfect Competition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542FD-2AD6-EDF8-9649-FE92F565E8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t"/>
          <a:lstStyle/>
          <a:p>
            <a:pPr algn="ctr"/>
            <a:r>
              <a:rPr lang="en-US" dirty="0"/>
              <a:t>Monopsony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5861DC-82A8-5EEB-6D5E-8F3A9333D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ECON 300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053E1-6408-1A57-9847-F76FFBE8A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2D4CC3-F9E4-D3D2-EE29-216CB267B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39</a:t>
            </a:fld>
            <a:endParaRPr lang="en-US" dirty="0"/>
          </a:p>
        </p:txBody>
      </p:sp>
      <p:pic>
        <p:nvPicPr>
          <p:cNvPr id="13" name="Content Placeholder 12" descr="A diagram of a supply line&#10;&#10;Description automatically generated">
            <a:extLst>
              <a:ext uri="{FF2B5EF4-FFF2-40B4-BE49-F238E27FC236}">
                <a16:creationId xmlns:a16="http://schemas.microsoft.com/office/drawing/2014/main" id="{514849B5-AB62-74B7-4FC6-A3F617652D2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542" y="2505075"/>
            <a:ext cx="3316129" cy="3684588"/>
          </a:xfrm>
        </p:spPr>
      </p:pic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C5407A81-3464-CD90-ECDA-554833B562F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79" y="2505075"/>
            <a:ext cx="3316129" cy="3684588"/>
          </a:xfrm>
        </p:spPr>
      </p:pic>
      <p:pic>
        <p:nvPicPr>
          <p:cNvPr id="16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2F94EF08-4D0B-2538-3D7C-B58F65FA74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93" y="2505075"/>
            <a:ext cx="3316129" cy="3684588"/>
          </a:xfrm>
          <a:prstGeom prst="rect">
            <a:avLst/>
          </a:prstGeom>
        </p:spPr>
      </p:pic>
      <p:pic>
        <p:nvPicPr>
          <p:cNvPr id="17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0AEE024E-887D-1E02-CE4C-5EB84623DF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29" y="2505075"/>
            <a:ext cx="3316129" cy="368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589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11518</TotalTime>
  <Words>3077</Words>
  <Application>Microsoft Office PowerPoint</Application>
  <PresentationFormat>On-screen Show (4:3)</PresentationFormat>
  <Paragraphs>441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4" baseType="lpstr">
      <vt:lpstr>Arial</vt:lpstr>
      <vt:lpstr>Calibri</vt:lpstr>
      <vt:lpstr>Cambria Math</vt:lpstr>
      <vt:lpstr>Franklin Gothic Book</vt:lpstr>
      <vt:lpstr>Office Theme</vt:lpstr>
      <vt:lpstr>Market Analysis:  Monopolies and Monopsonies</vt:lpstr>
      <vt:lpstr>Breaking the Rules  of Perfect Competition</vt:lpstr>
      <vt:lpstr>Sources of Monopoly Power</vt:lpstr>
      <vt:lpstr>Economies of Scale</vt:lpstr>
      <vt:lpstr>Economies of Scope</vt:lpstr>
      <vt:lpstr>Patents and Resource Constraints</vt:lpstr>
      <vt:lpstr>Monopoly vs. Perfect Competition</vt:lpstr>
      <vt:lpstr>Monopoly vs. Perfect Competition</vt:lpstr>
      <vt:lpstr>Monopoly Producer’s  Individual Demand Curve</vt:lpstr>
      <vt:lpstr>Profit Maximization of Monopoly Producers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Profit Maximization of Monopolies</vt:lpstr>
      <vt:lpstr>Example:  Monopolies vs. Perfect Competition</vt:lpstr>
      <vt:lpstr>Example:  Monopolies vs. Perfect Competition</vt:lpstr>
      <vt:lpstr>Profit Maximization of Monopoly Producers</vt:lpstr>
      <vt:lpstr>Monopolies vs. Perfect Competition</vt:lpstr>
      <vt:lpstr>Changes in Societal Surplus</vt:lpstr>
      <vt:lpstr>Breaking the Rules  of Perfect Competition… Again</vt:lpstr>
      <vt:lpstr>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Profit Maximization of Monopsony Producers</vt:lpstr>
      <vt:lpstr>Example:  Monopsony vs. Perfect Competition</vt:lpstr>
      <vt:lpstr>Example:  Monopsony vs. Perfect Competition</vt:lpstr>
      <vt:lpstr>Example: Profit Maximization of Monopsony Producers</vt:lpstr>
      <vt:lpstr>Monopsony vs. Perfect Competition</vt:lpstr>
      <vt:lpstr>Monopsony vs. Perfect Competition</vt:lpstr>
      <vt:lpstr>Changes in Societal Surplus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162</cp:revision>
  <dcterms:created xsi:type="dcterms:W3CDTF">2023-08-17T23:00:51Z</dcterms:created>
  <dcterms:modified xsi:type="dcterms:W3CDTF">2024-09-03T19:02:32Z</dcterms:modified>
</cp:coreProperties>
</file>