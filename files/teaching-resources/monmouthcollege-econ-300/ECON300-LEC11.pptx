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0" r:id="rId1"/>
  </p:sldMasterIdLst>
  <p:notesMasterIdLst>
    <p:notesMasterId r:id="rId43"/>
  </p:notesMasterIdLst>
  <p:sldIdLst>
    <p:sldId id="256" r:id="rId2"/>
    <p:sldId id="358" r:id="rId3"/>
    <p:sldId id="392" r:id="rId4"/>
    <p:sldId id="385" r:id="rId5"/>
    <p:sldId id="388" r:id="rId6"/>
    <p:sldId id="387" r:id="rId7"/>
    <p:sldId id="389" r:id="rId8"/>
    <p:sldId id="390" r:id="rId9"/>
    <p:sldId id="391" r:id="rId10"/>
    <p:sldId id="393" r:id="rId11"/>
    <p:sldId id="395" r:id="rId12"/>
    <p:sldId id="394" r:id="rId13"/>
    <p:sldId id="397" r:id="rId14"/>
    <p:sldId id="398" r:id="rId15"/>
    <p:sldId id="413" r:id="rId16"/>
    <p:sldId id="407" r:id="rId17"/>
    <p:sldId id="408" r:id="rId18"/>
    <p:sldId id="409" r:id="rId19"/>
    <p:sldId id="411" r:id="rId20"/>
    <p:sldId id="399" r:id="rId21"/>
    <p:sldId id="400" r:id="rId22"/>
    <p:sldId id="401" r:id="rId23"/>
    <p:sldId id="402" r:id="rId24"/>
    <p:sldId id="403" r:id="rId25"/>
    <p:sldId id="406" r:id="rId26"/>
    <p:sldId id="404" r:id="rId27"/>
    <p:sldId id="410" r:id="rId28"/>
    <p:sldId id="412" r:id="rId29"/>
    <p:sldId id="415" r:id="rId30"/>
    <p:sldId id="414" r:id="rId31"/>
    <p:sldId id="416" r:id="rId32"/>
    <p:sldId id="421" r:id="rId33"/>
    <p:sldId id="417" r:id="rId34"/>
    <p:sldId id="373" r:id="rId35"/>
    <p:sldId id="374" r:id="rId36"/>
    <p:sldId id="375" r:id="rId37"/>
    <p:sldId id="376" r:id="rId38"/>
    <p:sldId id="377" r:id="rId39"/>
    <p:sldId id="418" r:id="rId40"/>
    <p:sldId id="419" r:id="rId41"/>
    <p:sldId id="420" r:id="rId4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C5BCD"/>
    <a:srgbClr val="00FFFF"/>
    <a:srgbClr val="E05F65"/>
    <a:srgbClr val="F5CFD0"/>
    <a:srgbClr val="D4282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85BE263C-DBD7-4A20-BB59-AAB30ACAA65A}" styleName="Medium Style 3 - 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37CE84F3-28C3-443E-9E96-99CF82512B78}" styleName="Dark Style 1 - Accent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084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19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heme" Target="theme/theme1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E0A6441-4E79-42FF-805B-86C90BDFD38D}" type="datetimeFigureOut">
              <a:rPr lang="en-US" smtClean="0"/>
              <a:t>9/27/2023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A29054-221E-4755-818D-C35A08AFDBE7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427853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>
            <a:normAutofit/>
          </a:bodyPr>
          <a:lstStyle>
            <a:lvl1pPr algn="ctr">
              <a:defRPr sz="4400">
                <a:solidFill>
                  <a:srgbClr val="C0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3200" b="1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92;p13">
            <a:extLst>
              <a:ext uri="{FF2B5EF4-FFF2-40B4-BE49-F238E27FC236}">
                <a16:creationId xmlns:a16="http://schemas.microsoft.com/office/drawing/2014/main" id="{BF16982E-3E38-0665-4F07-437DD3F0D5A4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634323" y="228601"/>
            <a:ext cx="1875353" cy="99059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8135496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101;p14">
            <a:extLst>
              <a:ext uri="{FF2B5EF4-FFF2-40B4-BE49-F238E27FC236}">
                <a16:creationId xmlns:a16="http://schemas.microsoft.com/office/drawing/2014/main" id="{859BA894-242B-5A6C-EFD3-428444AAFEC4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1973558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>
            <a:normAutofit/>
          </a:bodyPr>
          <a:lstStyle>
            <a:lvl1pPr>
              <a:defRPr sz="4400">
                <a:solidFill>
                  <a:srgbClr val="C0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>
            <a:normAutofit/>
          </a:bodyPr>
          <a:lstStyle>
            <a:lvl1pPr marL="0" indent="0" algn="ctr">
              <a:buNone/>
              <a:defRPr sz="3200" b="1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Google Shape;92;p13">
            <a:extLst>
              <a:ext uri="{FF2B5EF4-FFF2-40B4-BE49-F238E27FC236}">
                <a16:creationId xmlns:a16="http://schemas.microsoft.com/office/drawing/2014/main" id="{A5DC9873-6BF3-A825-551C-17B7FBCA97F5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3634323" y="228601"/>
            <a:ext cx="1875353" cy="990599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1505856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Google Shape;101;p14">
            <a:extLst>
              <a:ext uri="{FF2B5EF4-FFF2-40B4-BE49-F238E27FC236}">
                <a16:creationId xmlns:a16="http://schemas.microsoft.com/office/drawing/2014/main" id="{F820AB4E-4F46-3C81-9BD0-65A4D2A2DBEC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9945962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>
            <a:noAutofit/>
          </a:bodyPr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>
            <a:noAutofit/>
          </a:bodyPr>
          <a:lstStyle>
            <a:lvl1pPr marL="0" indent="0">
              <a:buNone/>
              <a:defRPr sz="28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10" name="Google Shape;101;p14">
            <a:extLst>
              <a:ext uri="{FF2B5EF4-FFF2-40B4-BE49-F238E27FC236}">
                <a16:creationId xmlns:a16="http://schemas.microsoft.com/office/drawing/2014/main" id="{C854E680-04A2-EA76-C6A6-8EF6A2AD0BB9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5142575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6" name="Google Shape;101;p14">
            <a:extLst>
              <a:ext uri="{FF2B5EF4-FFF2-40B4-BE49-F238E27FC236}">
                <a16:creationId xmlns:a16="http://schemas.microsoft.com/office/drawing/2014/main" id="{0E4BED26-AE3D-9FD7-372D-89389F761105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5519556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5" name="Google Shape;101;p14">
            <a:extLst>
              <a:ext uri="{FF2B5EF4-FFF2-40B4-BE49-F238E27FC236}">
                <a16:creationId xmlns:a16="http://schemas.microsoft.com/office/drawing/2014/main" id="{63FB725D-7839-2629-E2FD-4289B983E673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49830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Google Shape;101;p14">
            <a:extLst>
              <a:ext uri="{FF2B5EF4-FFF2-40B4-BE49-F238E27FC236}">
                <a16:creationId xmlns:a16="http://schemas.microsoft.com/office/drawing/2014/main" id="{ADE22408-2DD9-F1EF-2438-A0546996FB22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6331846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8" name="Google Shape;101;p14">
            <a:extLst>
              <a:ext uri="{FF2B5EF4-FFF2-40B4-BE49-F238E27FC236}">
                <a16:creationId xmlns:a16="http://schemas.microsoft.com/office/drawing/2014/main" id="{19CEB84E-A1D1-9AFA-DEC7-31056DF6BFAD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511656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101;p14">
            <a:extLst>
              <a:ext uri="{FF2B5EF4-FFF2-40B4-BE49-F238E27FC236}">
                <a16:creationId xmlns:a16="http://schemas.microsoft.com/office/drawing/2014/main" id="{1F852EF2-DB2E-EDA3-947F-AD7E6C19EBD8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9381024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/>
          <a:lstStyle/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101;p14">
            <a:extLst>
              <a:ext uri="{FF2B5EF4-FFF2-40B4-BE49-F238E27FC236}">
                <a16:creationId xmlns:a16="http://schemas.microsoft.com/office/drawing/2014/main" id="{297A800C-E47B-35AC-0EA8-24F3738049A6}"/>
              </a:ext>
            </a:extLst>
          </p:cNvPr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8291293" y="228603"/>
            <a:ext cx="459642" cy="761998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9026333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300" b="1">
                <a:solidFill>
                  <a:schemeClr val="tx1"/>
                </a:solidFill>
                <a:latin typeface="Franklin Gothic Book" panose="020B0503020102020204" pitchFamily="34" charset="0"/>
                <a:cs typeface="Forte Forward" panose="020F0502020204030204" pitchFamily="2" charset="0"/>
              </a:defRPr>
            </a:lvl1pPr>
          </a:lstStyle>
          <a:p>
            <a:r>
              <a:rPr lang="en-US" dirty="0"/>
              <a:t>Fall 2023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90777" y="6356351"/>
            <a:ext cx="576244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300" b="1">
                <a:solidFill>
                  <a:schemeClr val="tx1"/>
                </a:solidFill>
                <a:latin typeface="Franklin Gothic Book" panose="020B0503020102020204" pitchFamily="34" charset="0"/>
              </a:defRPr>
            </a:lvl1pPr>
          </a:lstStyle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300" b="1">
                <a:solidFill>
                  <a:schemeClr val="tx1"/>
                </a:solidFill>
                <a:latin typeface="Franklin Gothic Book" panose="020B0503020102020204" pitchFamily="34" charset="0"/>
              </a:defRPr>
            </a:lvl1pPr>
          </a:lstStyle>
          <a:p>
            <a:fld id="{1A980C56-831A-4EAB-9EDE-57C090F4F877}" type="slidenum">
              <a:rPr lang="en-US" smtClean="0"/>
              <a:t>‹#›</a:t>
            </a:fld>
            <a:endParaRPr lang="en-US" dirty="0"/>
          </a:p>
        </p:txBody>
      </p:sp>
      <p:pic>
        <p:nvPicPr>
          <p:cNvPr id="7" name="Google Shape;91;p13">
            <a:extLst>
              <a:ext uri="{FF2B5EF4-FFF2-40B4-BE49-F238E27FC236}">
                <a16:creationId xmlns:a16="http://schemas.microsoft.com/office/drawing/2014/main" id="{9C136CE5-665B-2FA1-3A31-86C4E8EC1DBB}"/>
              </a:ext>
            </a:extLst>
          </p:cNvPr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0" y="0"/>
            <a:ext cx="9144000" cy="42306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8259553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1" r:id="rId1"/>
    <p:sldLayoutId id="2147483722" r:id="rId2"/>
    <p:sldLayoutId id="2147483723" r:id="rId3"/>
    <p:sldLayoutId id="2147483724" r:id="rId4"/>
    <p:sldLayoutId id="2147483725" r:id="rId5"/>
    <p:sldLayoutId id="2147483726" r:id="rId6"/>
    <p:sldLayoutId id="2147483727" r:id="rId7"/>
    <p:sldLayoutId id="2147483728" r:id="rId8"/>
    <p:sldLayoutId id="2147483729" r:id="rId9"/>
    <p:sldLayoutId id="2147483730" r:id="rId10"/>
    <p:sldLayoutId id="2147483731" r:id="rId11"/>
  </p:sldLayoutIdLst>
  <p:hf hdr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b="1" kern="1200">
          <a:solidFill>
            <a:schemeClr val="tx1"/>
          </a:solidFill>
          <a:latin typeface="Franklin Gothic Book" panose="020B0503020102020204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Franklin Gothic Book" panose="020B05030201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7" Type="http://schemas.openxmlformats.org/officeDocument/2006/relationships/image" Target="../media/image42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7" Type="http://schemas.openxmlformats.org/officeDocument/2006/relationships/image" Target="../media/image50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49.png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8.png"/><Relationship Id="rId3" Type="http://schemas.openxmlformats.org/officeDocument/2006/relationships/image" Target="../media/image53.png"/><Relationship Id="rId7" Type="http://schemas.openxmlformats.org/officeDocument/2006/relationships/image" Target="../media/image57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10" Type="http://schemas.openxmlformats.org/officeDocument/2006/relationships/image" Target="../media/image60.png"/><Relationship Id="rId4" Type="http://schemas.openxmlformats.org/officeDocument/2006/relationships/image" Target="../media/image54.png"/><Relationship Id="rId9" Type="http://schemas.openxmlformats.org/officeDocument/2006/relationships/image" Target="../media/image59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7" Type="http://schemas.openxmlformats.org/officeDocument/2006/relationships/image" Target="../media/image66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5.png"/><Relationship Id="rId5" Type="http://schemas.openxmlformats.org/officeDocument/2006/relationships/image" Target="../media/image64.png"/><Relationship Id="rId4" Type="http://schemas.openxmlformats.org/officeDocument/2006/relationships/image" Target="../media/image6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0.png"/><Relationship Id="rId4" Type="http://schemas.openxmlformats.org/officeDocument/2006/relationships/image" Target="../media/image691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3.png"/><Relationship Id="rId4" Type="http://schemas.openxmlformats.org/officeDocument/2006/relationships/image" Target="../media/image72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74.png"/><Relationship Id="rId4" Type="http://schemas.openxmlformats.org/officeDocument/2006/relationships/image" Target="../media/image290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3.png"/><Relationship Id="rId2" Type="http://schemas.openxmlformats.org/officeDocument/2006/relationships/image" Target="../media/image75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74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0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0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9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981AA-C880-955A-8ACC-D4284C4A79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7585" y="1122363"/>
            <a:ext cx="8108830" cy="2387600"/>
          </a:xfrm>
        </p:spPr>
        <p:txBody>
          <a:bodyPr>
            <a:normAutofit/>
          </a:bodyPr>
          <a:lstStyle/>
          <a:p>
            <a:r>
              <a:rPr lang="en-US" sz="4200" dirty="0"/>
              <a:t>Consumer Theory: </a:t>
            </a:r>
            <a:br>
              <a:rPr lang="en-US" sz="4200" dirty="0"/>
            </a:br>
            <a:r>
              <a:rPr lang="en-US" sz="4200" dirty="0"/>
              <a:t>Review Session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7868834-9371-0482-209B-C2EBDB2D93F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3200" dirty="0"/>
              <a:t>ECON 300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43A60A-CBE6-B5CE-B9CE-C7DC93869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DF44A7-8470-0B18-F1D2-F47845ECB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6BCC6C-06D2-CC1B-BC1A-B87124A36D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58063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717BAA-D4BA-C7EB-5696-203603829C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Budget Constraint</a:t>
            </a:r>
          </a:p>
          <a:p>
            <a:endParaRPr lang="en-US" dirty="0"/>
          </a:p>
          <a:p>
            <a:r>
              <a:rPr lang="en-US" dirty="0"/>
              <a:t>Preferences and Utility</a:t>
            </a:r>
          </a:p>
          <a:p>
            <a:endParaRPr lang="en-US" dirty="0"/>
          </a:p>
          <a:p>
            <a:r>
              <a:rPr lang="en-US" dirty="0"/>
              <a:t>Utility Functions and the Indifference Curve</a:t>
            </a:r>
          </a:p>
          <a:p>
            <a:endParaRPr lang="en-US" dirty="0"/>
          </a:p>
          <a:p>
            <a:r>
              <a:rPr lang="en-US" dirty="0"/>
              <a:t>The Utility Maximization Problem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3351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6F3CFD-6E00-0CF9-5B64-75F7D45EC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dirty="0"/>
              <a:t>The Budget Constraint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BA4226-BCAC-C5CB-745D-83A0746BB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83D51E-258F-C616-113E-CCF96D27E8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53D30B-A7E7-AB85-A2EC-774D411479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863330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Budget Constraint Basics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717BAA-D4BA-C7EB-5696-203603829C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budget constraint’s role is to classify bundles of goods as either “feasible,” or “not feasible.”</a:t>
            </a:r>
          </a:p>
          <a:p>
            <a:pPr lvl="5"/>
            <a:endParaRPr lang="en-US" sz="1000" dirty="0"/>
          </a:p>
          <a:p>
            <a:r>
              <a:rPr lang="en-US" dirty="0"/>
              <a:t>Bundles whose cost does not exceed the consumer’s income is considered “feasible,” and make up the “budget set.”</a:t>
            </a:r>
          </a:p>
          <a:p>
            <a:pPr lvl="5"/>
            <a:endParaRPr lang="en-US" sz="1000" dirty="0"/>
          </a:p>
          <a:p>
            <a:r>
              <a:rPr lang="en-US" dirty="0"/>
              <a:t>Bundles whose cost exceed the consumer’s income is considered “not feasible.”</a:t>
            </a:r>
          </a:p>
          <a:p>
            <a:pPr lvl="3"/>
            <a:endParaRPr lang="en-US" sz="1000" dirty="0"/>
          </a:p>
          <a:p>
            <a:r>
              <a:rPr lang="en-US" dirty="0"/>
              <a:t>The bundles whose cost is exactly the consumer’s income consist the “budget line.”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544511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Slope of the Budget Line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The Objective (Market) Exchange Rate</a:t>
                </a:r>
              </a:p>
              <a:p>
                <a:endParaRPr lang="en-US" sz="500" dirty="0"/>
              </a:p>
              <a:p>
                <a:r>
                  <a:rPr lang="en-US" dirty="0"/>
                  <a:t>When we have good x and good y, the slope is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den>
                    </m:f>
                  </m:oMath>
                </a14:m>
                <a:endParaRPr lang="en-US" sz="500" dirty="0"/>
              </a:p>
              <a:p>
                <a:pPr marL="0" indent="0">
                  <a:buNone/>
                </a:pPr>
                <a:endParaRPr lang="en-US" sz="100" dirty="0"/>
              </a:p>
              <a:p>
                <a:r>
                  <a:rPr lang="en-US" dirty="0"/>
                  <a:t>The slope can also be calculated using the formula: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𝑅𝑖𝑠𝑒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𝑅𝑢𝑛</m:t>
                        </m:r>
                      </m:den>
                    </m:f>
                  </m:oMath>
                </a14:m>
                <a:endParaRPr lang="en-US" dirty="0"/>
              </a:p>
              <a:p>
                <a:endParaRPr lang="en-US" sz="500" dirty="0"/>
              </a:p>
              <a:p>
                <a:r>
                  <a:rPr lang="en-US" dirty="0"/>
                  <a:t>How many units of good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does the consumer have to give up to purchase one extra unit of good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 r="-20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1931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BB6352-F201-2116-AC36-982EED42E9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Budget Constraint: An Example</a:t>
            </a:r>
          </a:p>
        </p:txBody>
      </p:sp>
      <p:pic>
        <p:nvPicPr>
          <p:cNvPr id="9" name="Content Placeholder 8" descr="A graph with a line and text&#10;&#10;Description automatically generated with medium confidence">
            <a:extLst>
              <a:ext uri="{FF2B5EF4-FFF2-40B4-BE49-F238E27FC236}">
                <a16:creationId xmlns:a16="http://schemas.microsoft.com/office/drawing/2014/main" id="{089C5B81-F835-06EF-0EA5-D1FE37CDAC2F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ACCAE2-1C43-785F-6A4E-D3C4E0F1317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dirty="0"/>
              <a:t>Suppose that there is a market for shoes and hats.</a:t>
            </a:r>
          </a:p>
          <a:p>
            <a:pPr lvl="3"/>
            <a:endParaRPr lang="en-US" sz="1000" dirty="0"/>
          </a:p>
          <a:p>
            <a:r>
              <a:rPr lang="en-US" dirty="0"/>
              <a:t>Each pair of shoes cost $40, and a hat costs $20.</a:t>
            </a:r>
          </a:p>
          <a:p>
            <a:pPr lvl="3"/>
            <a:endParaRPr lang="en-US" sz="1000" dirty="0"/>
          </a:p>
          <a:p>
            <a:r>
              <a:rPr lang="en-US" dirty="0"/>
              <a:t>The consumer has $600 they can spend as income.</a:t>
            </a:r>
          </a:p>
          <a:p>
            <a:pPr lvl="3"/>
            <a:endParaRPr lang="en-US" sz="1100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6CCAB9-88D1-AB46-40B3-968E250B6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4C68BD-F598-7A24-05FE-1257FC53D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3BC61F-49AC-3C98-D1B5-C06EEC276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6</a:t>
            </a:fld>
            <a:endParaRPr lang="en-US" dirty="0"/>
          </a:p>
        </p:txBody>
      </p:sp>
      <p:pic>
        <p:nvPicPr>
          <p:cNvPr id="10" name="Content Placeholder 10" descr="A graph of a line with text and arrows&#10;&#10;Description automatically generated with medium confidence">
            <a:extLst>
              <a:ext uri="{FF2B5EF4-FFF2-40B4-BE49-F238E27FC236}">
                <a16:creationId xmlns:a16="http://schemas.microsoft.com/office/drawing/2014/main" id="{362A7EE0-0CFB-96B2-1E5D-BE9A6457E5C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11" name="Content Placeholder 12" descr="A graph of a line with red dots and numbers&#10;&#10;Description automatically generated with medium confidence">
            <a:extLst>
              <a:ext uri="{FF2B5EF4-FFF2-40B4-BE49-F238E27FC236}">
                <a16:creationId xmlns:a16="http://schemas.microsoft.com/office/drawing/2014/main" id="{B6E086E3-F851-95D8-8038-DBE5D030D79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12" name="Content Placeholder 18" descr="A graph of a budget line&#10;&#10;Description automatically generated">
            <a:extLst>
              <a:ext uri="{FF2B5EF4-FFF2-40B4-BE49-F238E27FC236}">
                <a16:creationId xmlns:a16="http://schemas.microsoft.com/office/drawing/2014/main" id="{6F25DAB1-FF0C-03B0-CC61-24DEA6126D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9208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BB6352-F201-2116-AC36-982EED42E9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Budget Constraint: An Example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6CCAB9-88D1-AB46-40B3-968E250B6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4C68BD-F598-7A24-05FE-1257FC53D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3BC61F-49AC-3C98-D1B5-C06EEC276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7</a:t>
            </a:fld>
            <a:endParaRPr lang="en-US" dirty="0"/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289F2369-A2F9-7488-84EF-98BAAA0546E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The “Budget Line” splits the commodity space into two distinct parts.</a:t>
            </a:r>
          </a:p>
          <a:p>
            <a:endParaRPr lang="en-US" sz="1000" dirty="0"/>
          </a:p>
          <a:p>
            <a:r>
              <a:rPr lang="en-US" dirty="0"/>
              <a:t>Any bundle in the “Budget Set” (below the budget line) costs less than or up to $600.</a:t>
            </a:r>
          </a:p>
          <a:p>
            <a:pPr lvl="3"/>
            <a:endParaRPr lang="en-US" sz="1100" dirty="0"/>
          </a:p>
          <a:p>
            <a:r>
              <a:rPr lang="en-US" dirty="0"/>
              <a:t>Any bundle in the “Not Feasible” zone (above the budget line) costs more than $600.</a:t>
            </a:r>
          </a:p>
        </p:txBody>
      </p:sp>
      <p:pic>
        <p:nvPicPr>
          <p:cNvPr id="31" name="Content Placeholder 30" descr="A graph of a budget line&#10;&#10;Description automatically generated">
            <a:extLst>
              <a:ext uri="{FF2B5EF4-FFF2-40B4-BE49-F238E27FC236}">
                <a16:creationId xmlns:a16="http://schemas.microsoft.com/office/drawing/2014/main" id="{2118475F-6F0D-FA79-315A-6737F8622F2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  <p:pic>
        <p:nvPicPr>
          <p:cNvPr id="32" name="Content Placeholder 8">
            <a:extLst>
              <a:ext uri="{FF2B5EF4-FFF2-40B4-BE49-F238E27FC236}">
                <a16:creationId xmlns:a16="http://schemas.microsoft.com/office/drawing/2014/main" id="{E0BDFB67-E214-751E-2E1B-2E978446930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74533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BB6352-F201-2116-AC36-982EED42E9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Budget Constraint: An Example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ACCAE2-1C43-785F-6A4E-D3C4E0F13170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dirty="0"/>
              <a:t>Suppose the consumer is consuming bundle A.</a:t>
            </a:r>
          </a:p>
          <a:p>
            <a:pPr lvl="3"/>
            <a:endParaRPr lang="en-US" sz="1000" dirty="0"/>
          </a:p>
          <a:p>
            <a:r>
              <a:rPr lang="en-US" dirty="0"/>
              <a:t>If they wanted to purchase an extra pair of shoes…</a:t>
            </a:r>
          </a:p>
          <a:p>
            <a:endParaRPr lang="en-US" sz="1000" dirty="0"/>
          </a:p>
          <a:p>
            <a:r>
              <a:rPr lang="en-US" dirty="0"/>
              <a:t>How many units of hats do they need to sell?</a:t>
            </a:r>
          </a:p>
          <a:p>
            <a:endParaRPr lang="en-US" sz="1000" dirty="0"/>
          </a:p>
          <a:p>
            <a:r>
              <a:rPr lang="en-US" dirty="0"/>
              <a:t>They need to sell 2 units of hats to be able to afford 1 pair of shoes.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6CCAB9-88D1-AB46-40B3-968E250B6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4C68BD-F598-7A24-05FE-1257FC53D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3BC61F-49AC-3C98-D1B5-C06EEC276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8</a:t>
            </a:fld>
            <a:endParaRPr lang="en-US" dirty="0"/>
          </a:p>
        </p:txBody>
      </p:sp>
      <p:pic>
        <p:nvPicPr>
          <p:cNvPr id="14" name="Content Placeholder 13" descr="A graph of a budget line&#10;&#10;Description automatically generated">
            <a:extLst>
              <a:ext uri="{FF2B5EF4-FFF2-40B4-BE49-F238E27FC236}">
                <a16:creationId xmlns:a16="http://schemas.microsoft.com/office/drawing/2014/main" id="{4743ECA8-D855-0A04-008B-4A79C7AD8BFB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  <p:pic>
        <p:nvPicPr>
          <p:cNvPr id="15" name="Content Placeholder 17" descr="A graph with a red line&#10;&#10;Description automatically generated">
            <a:extLst>
              <a:ext uri="{FF2B5EF4-FFF2-40B4-BE49-F238E27FC236}">
                <a16:creationId xmlns:a16="http://schemas.microsoft.com/office/drawing/2014/main" id="{6158CF84-156D-30A8-0BB2-2E1A647D951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16" name="Content Placeholder 25" descr="A graph of a cost&#10;&#10;Description automatically generated">
            <a:extLst>
              <a:ext uri="{FF2B5EF4-FFF2-40B4-BE49-F238E27FC236}">
                <a16:creationId xmlns:a16="http://schemas.microsoft.com/office/drawing/2014/main" id="{4E22FD98-F88C-78FA-E547-1D7C243255C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17" name="Content Placeholder 27" descr="A graph with a red line&#10;&#10;Description automatically generated">
            <a:extLst>
              <a:ext uri="{FF2B5EF4-FFF2-40B4-BE49-F238E27FC236}">
                <a16:creationId xmlns:a16="http://schemas.microsoft.com/office/drawing/2014/main" id="{A386159B-CAE8-AE8A-E100-274FE87720A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37563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BB6352-F201-2116-AC36-982EED42E9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Budget Constraint: An Example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6CCAB9-88D1-AB46-40B3-968E250B6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4C68BD-F598-7A24-05FE-1257FC53D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3BC61F-49AC-3C98-D1B5-C06EEC276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9</a:t>
            </a:fld>
            <a:endParaRPr lang="en-US" dirty="0"/>
          </a:p>
        </p:txBody>
      </p:sp>
      <p:pic>
        <p:nvPicPr>
          <p:cNvPr id="34" name="Content Placeholder 33" descr="A graph with a red line&#10;&#10;Description automatically generated">
            <a:extLst>
              <a:ext uri="{FF2B5EF4-FFF2-40B4-BE49-F238E27FC236}">
                <a16:creationId xmlns:a16="http://schemas.microsoft.com/office/drawing/2014/main" id="{703A7852-66BA-BC79-BCA2-4E7B8A6F6CC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2" name="Content Placeholder 31">
                <a:extLst>
                  <a:ext uri="{FF2B5EF4-FFF2-40B4-BE49-F238E27FC236}">
                    <a16:creationId xmlns:a16="http://schemas.microsoft.com/office/drawing/2014/main" id="{8DD08A7F-9539-DD2D-5C65-9F40EB0AD569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>
                <a:normAutofit fontScale="92500"/>
              </a:bodyPr>
              <a:lstStyle/>
              <a:p>
                <a:r>
                  <a:rPr lang="en-US" dirty="0"/>
                  <a:t>The slope of this budget line:</a:t>
                </a:r>
              </a:p>
              <a:p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en-US" sz="20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𝑆h𝑜𝑒𝑠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𝐻𝑎𝑡𝑠</m:t>
                              </m:r>
                            </m:sub>
                          </m:sSub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40</m:t>
                          </m:r>
                        </m:num>
                        <m:den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20</m:t>
                          </m:r>
                        </m:den>
                      </m:f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=−2</m:t>
                      </m:r>
                    </m:oMath>
                  </m:oMathPara>
                </a14:m>
                <a:endParaRPr lang="en-US" sz="2000" dirty="0"/>
              </a:p>
              <a:p>
                <a:endParaRPr lang="en-US" sz="1100" dirty="0"/>
              </a:p>
              <a:p>
                <a:r>
                  <a:rPr lang="en-US" dirty="0"/>
                  <a:t>This is why the slope of the budget line represents the objective (market) rate of exchange.</a:t>
                </a:r>
              </a:p>
              <a:p>
                <a:endParaRPr lang="en-US" sz="1100" dirty="0"/>
              </a:p>
              <a:p>
                <a:r>
                  <a:rPr lang="en-US" dirty="0"/>
                  <a:t>How many hats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does the consumer have to give up for one extra unit of shoes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2" name="Content Placeholder 31">
                <a:extLst>
                  <a:ext uri="{FF2B5EF4-FFF2-40B4-BE49-F238E27FC236}">
                    <a16:creationId xmlns:a16="http://schemas.microsoft.com/office/drawing/2014/main" id="{8DD08A7F-9539-DD2D-5C65-9F40EB0AD56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3"/>
                <a:stretch>
                  <a:fillRect l="-1724" t="-1541" r="-15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82930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6F3CFD-6E00-0CF9-5B64-75F7D45EC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dirty="0"/>
              <a:t>Preferences, Utility,</a:t>
            </a:r>
            <a:br>
              <a:rPr lang="en-US" dirty="0"/>
            </a:br>
            <a:r>
              <a:rPr lang="en-US" dirty="0"/>
              <a:t>and Utility Functions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BA4226-BCAC-C5CB-745D-83A0746BB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83D51E-258F-C616-113E-CCF96D27E8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53D30B-A7E7-AB85-A2EC-774D411479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62363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Preference Relations Basics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Consumers are endowed with a preference relation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≿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sz="1000" dirty="0"/>
              </a:p>
              <a:p>
                <a:r>
                  <a:rPr lang="en-US" dirty="0"/>
                  <a:t>Preference relations simply tell us which bundle the consumer prefers compared to some other bundles.</a:t>
                </a:r>
              </a:p>
              <a:p>
                <a:endParaRPr lang="en-US" sz="1000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≻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: Consumer strictly prefers a bundle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over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sz="1000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≿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: Consumer weakly prefers a bundle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over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sz="1000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∼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: Consumer is indifferent between bundles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 r="-61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4531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Axioms of Preference Relations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717BAA-D4BA-C7EB-5696-203603829C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Completeness: “Any bundle can be evaluated.” </a:t>
            </a:r>
          </a:p>
          <a:p>
            <a:endParaRPr lang="en-US" sz="1100" dirty="0"/>
          </a:p>
          <a:p>
            <a:r>
              <a:rPr lang="en-US" dirty="0"/>
              <a:t>Transitivity: “No circular preferences.”</a:t>
            </a:r>
          </a:p>
          <a:p>
            <a:endParaRPr lang="en-US" sz="1100" dirty="0"/>
          </a:p>
          <a:p>
            <a:r>
              <a:rPr lang="en-US" dirty="0"/>
              <a:t>Reflexivity: “Anything is as good as itself.”</a:t>
            </a:r>
          </a:p>
          <a:p>
            <a:endParaRPr lang="en-US" sz="1100" dirty="0"/>
          </a:p>
          <a:p>
            <a:r>
              <a:rPr lang="en-US" dirty="0"/>
              <a:t>Continuity: “No sudden jumps in preference.”</a:t>
            </a:r>
          </a:p>
          <a:p>
            <a:endParaRPr lang="en-US" sz="1000" dirty="0"/>
          </a:p>
          <a:p>
            <a:r>
              <a:rPr lang="en-US" dirty="0"/>
              <a:t>Strong Monotonicity: “The more the better.”</a:t>
            </a:r>
          </a:p>
          <a:p>
            <a:endParaRPr lang="en-US" sz="1000" dirty="0"/>
          </a:p>
          <a:p>
            <a:r>
              <a:rPr lang="en-US" dirty="0"/>
              <a:t>Convexity: “Consumers like diverse bundles.”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10186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Utility Basics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Utility is the measure of the “subjective satisfaction” that a consumer derives from consuming a bundle of goods.</a:t>
                </a:r>
              </a:p>
              <a:p>
                <a:pPr marL="0" indent="0">
                  <a:buNone/>
                </a:pPr>
                <a:endParaRPr lang="en-US" sz="1000" dirty="0"/>
              </a:p>
              <a:p>
                <a:r>
                  <a:rPr lang="en-US" dirty="0"/>
                  <a:t>Utility is an ordinal concept, where the “order” (or ranking) is the only thing that matters.</a:t>
                </a:r>
              </a:p>
              <a:p>
                <a:endParaRPr lang="en-US" sz="1000" dirty="0"/>
              </a:p>
              <a:p>
                <a:r>
                  <a:rPr lang="en-US" dirty="0"/>
                  <a:t>If bundle A gives the consumer 100 utility, and bundle B gives the consumer 10 utility…</a:t>
                </a:r>
              </a:p>
              <a:p>
                <a:endParaRPr lang="en-US" sz="500" dirty="0"/>
              </a:p>
              <a:p>
                <a:pPr lvl="1"/>
                <a:r>
                  <a:rPr lang="en-US" dirty="0"/>
                  <a:t>The consumer prefers bundle A over B: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≻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endParaRPr lang="en-US" dirty="0"/>
              </a:p>
              <a:p>
                <a:pPr lvl="1"/>
                <a:endParaRPr lang="en-US" sz="500" dirty="0"/>
              </a:p>
              <a:p>
                <a:pPr lvl="1"/>
                <a:r>
                  <a:rPr lang="en-US" strike="sngStrike" dirty="0"/>
                  <a:t>The consumer prefers bundle A 10 times more than bundle B</a:t>
                </a:r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 r="-17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97451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Utility Function Basics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The utility function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(⋅)</m:t>
                    </m:r>
                  </m:oMath>
                </a14:m>
                <a:r>
                  <a:rPr lang="en-US" dirty="0"/>
                  <a:t> is a function that assigns utility values to commodity bundles.</a:t>
                </a:r>
              </a:p>
              <a:p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BUNDLE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OF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GOODS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UTILITY</m:t>
                      </m:r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VALUE</m:t>
                      </m:r>
                    </m:oMath>
                  </m:oMathPara>
                </a14:m>
                <a:endParaRPr lang="en-US" dirty="0"/>
              </a:p>
              <a:p>
                <a:endParaRPr lang="en-US" sz="1000" dirty="0"/>
              </a:p>
              <a:p>
                <a:r>
                  <a:rPr lang="en-US" dirty="0"/>
                  <a:t>Rule for utility functions:</a:t>
                </a:r>
              </a:p>
              <a:p>
                <a:endParaRPr lang="en-US" sz="500" dirty="0"/>
              </a:p>
              <a:p>
                <a:pPr lvl="1"/>
                <a:r>
                  <a:rPr lang="en-US" b="0" dirty="0"/>
                  <a:t>If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≻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, then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1"/>
                <a:endParaRPr lang="en-US" sz="500" dirty="0"/>
              </a:p>
              <a:p>
                <a:pPr lvl="1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≿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, then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1"/>
                <a:endParaRPr lang="en-US" sz="500" dirty="0"/>
              </a:p>
              <a:p>
                <a:pPr lvl="1"/>
                <a:r>
                  <a:rPr lang="en-US" dirty="0"/>
                  <a:t>If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∼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, then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53544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Families of Utility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The three types of utility functions we will be frequently encountering in intermediate price theory are…</a:t>
                </a:r>
              </a:p>
              <a:p>
                <a:endParaRPr lang="en-US" sz="500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The Cobb-Douglas Utility Function</a:t>
                </a:r>
              </a:p>
              <a:p>
                <a:pPr lvl="2"/>
                <a:r>
                  <a:rPr lang="en-US" dirty="0"/>
                  <a:t>When goods show both complementarity and substitutability.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p>
                    </m:sSup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p>
                    </m:sSup>
                  </m:oMath>
                </a14:m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US" sz="500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The Linear Utility Function</a:t>
                </a:r>
              </a:p>
              <a:p>
                <a:pPr lvl="2"/>
                <a:r>
                  <a:rPr lang="en-US" dirty="0"/>
                  <a:t>When goods are perfect substitutes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𝑏𝑦</m:t>
                    </m:r>
                  </m:oMath>
                </a14:m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US" sz="500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dirty="0"/>
                  <a:t>The Leontief Utility Function</a:t>
                </a:r>
              </a:p>
              <a:p>
                <a:pPr lvl="2"/>
                <a:r>
                  <a:rPr lang="en-US" dirty="0"/>
                  <a:t>When goods are perfect complements</a:t>
                </a:r>
              </a:p>
              <a:p>
                <a:pPr lvl="2"/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min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dirty="0"/>
              </a:p>
              <a:p>
                <a:pPr lvl="2"/>
                <a:endParaRPr lang="en-US" dirty="0"/>
              </a:p>
              <a:p>
                <a:pPr marL="914400" lvl="1" indent="-457200">
                  <a:buFont typeface="+mj-lt"/>
                  <a:buAutoNum type="arabicPeriod"/>
                </a:pPr>
                <a:endParaRPr lang="en-US" dirty="0"/>
              </a:p>
              <a:p>
                <a:pPr lvl="1"/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982662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BB6352-F201-2116-AC36-982EED42E9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Marginal Utility in a Discrete World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6CCAB9-88D1-AB46-40B3-968E250B6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4C68BD-F598-7A24-05FE-1257FC53D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3BC61F-49AC-3C98-D1B5-C06EEC276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16</a:t>
            </a:fld>
            <a:endParaRPr lang="en-US" dirty="0"/>
          </a:p>
        </p:txBody>
      </p:sp>
      <p:sp>
        <p:nvSpPr>
          <p:cNvPr id="33" name="Content Placeholder 32">
            <a:extLst>
              <a:ext uri="{FF2B5EF4-FFF2-40B4-BE49-F238E27FC236}">
                <a16:creationId xmlns:a16="http://schemas.microsoft.com/office/drawing/2014/main" id="{BF563DBD-56D6-2A4C-C1E4-EACFC84FD7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49" y="1825625"/>
            <a:ext cx="3988639" cy="4351338"/>
          </a:xfrm>
        </p:spPr>
        <p:txBody>
          <a:bodyPr/>
          <a:lstStyle/>
          <a:p>
            <a:r>
              <a:rPr lang="en-US" dirty="0"/>
              <a:t>Marginal utility is the extra utility generated by consuming the last unit.</a:t>
            </a:r>
          </a:p>
          <a:p>
            <a:pPr lvl="3"/>
            <a:endParaRPr lang="en-US" dirty="0"/>
          </a:p>
          <a:p>
            <a:r>
              <a:rPr lang="en-US" dirty="0"/>
              <a:t>The marginal utility from consuming the…</a:t>
            </a:r>
          </a:p>
          <a:p>
            <a:pPr lvl="1"/>
            <a:r>
              <a:rPr lang="en-US" dirty="0"/>
              <a:t>1</a:t>
            </a:r>
            <a:r>
              <a:rPr lang="en-US" baseline="30000" dirty="0"/>
              <a:t>st</a:t>
            </a:r>
            <a:r>
              <a:rPr lang="en-US" dirty="0"/>
              <a:t> hat is 2.08</a:t>
            </a:r>
          </a:p>
          <a:p>
            <a:pPr lvl="1"/>
            <a:r>
              <a:rPr lang="en-US" dirty="0"/>
              <a:t>2</a:t>
            </a:r>
            <a:r>
              <a:rPr lang="en-US" baseline="30000" dirty="0"/>
              <a:t>nd</a:t>
            </a:r>
            <a:r>
              <a:rPr lang="en-US" dirty="0"/>
              <a:t> hat is 1.22</a:t>
            </a:r>
          </a:p>
          <a:p>
            <a:pPr lvl="1"/>
            <a:r>
              <a:rPr lang="en-US" dirty="0"/>
              <a:t>3</a:t>
            </a:r>
            <a:r>
              <a:rPr lang="en-US" baseline="30000" dirty="0"/>
              <a:t>rd</a:t>
            </a:r>
            <a:r>
              <a:rPr lang="en-US" dirty="0"/>
              <a:t> hat is 0.86</a:t>
            </a:r>
          </a:p>
          <a:p>
            <a:pPr lvl="1"/>
            <a:r>
              <a:rPr lang="en-US" dirty="0"/>
              <a:t>4</a:t>
            </a:r>
            <a:r>
              <a:rPr lang="en-US" baseline="30000" dirty="0"/>
              <a:t>th</a:t>
            </a:r>
            <a:r>
              <a:rPr lang="en-US" dirty="0"/>
              <a:t> hat is 0.67</a:t>
            </a:r>
          </a:p>
          <a:p>
            <a:pPr lvl="1"/>
            <a:r>
              <a:rPr lang="en-US" dirty="0"/>
              <a:t>5</a:t>
            </a:r>
            <a:r>
              <a:rPr lang="en-US" baseline="30000" dirty="0"/>
              <a:t>th</a:t>
            </a:r>
            <a:r>
              <a:rPr lang="en-US" dirty="0"/>
              <a:t> hat is 0.55</a:t>
            </a:r>
          </a:p>
          <a:p>
            <a:pPr lvl="1"/>
            <a:r>
              <a:rPr lang="en-US" dirty="0"/>
              <a:t>6</a:t>
            </a:r>
            <a:r>
              <a:rPr lang="en-US" baseline="30000" dirty="0"/>
              <a:t>th</a:t>
            </a:r>
            <a:r>
              <a:rPr lang="en-US" dirty="0"/>
              <a:t> hat is 0.46</a:t>
            </a:r>
          </a:p>
        </p:txBody>
      </p:sp>
      <p:pic>
        <p:nvPicPr>
          <p:cNvPr id="4" name="Content Placeholder 3" descr="A graph of a number of hats&#10;&#10;Description automatically generated">
            <a:extLst>
              <a:ext uri="{FF2B5EF4-FFF2-40B4-BE49-F238E27FC236}">
                <a16:creationId xmlns:a16="http://schemas.microsoft.com/office/drawing/2014/main" id="{C4F9F2B3-B736-1FA6-941E-59027CADB08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  <p:pic>
        <p:nvPicPr>
          <p:cNvPr id="10" name="Content Placeholder 17" descr="A graph of the number of hats&#10;&#10;Description automatically generated">
            <a:extLst>
              <a:ext uri="{FF2B5EF4-FFF2-40B4-BE49-F238E27FC236}">
                <a16:creationId xmlns:a16="http://schemas.microsoft.com/office/drawing/2014/main" id="{03D89BB0-7277-CD3D-6FA5-BEAA322A637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12970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BB6352-F201-2116-AC36-982EED42E9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Marginal Utility in a Continuous World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6CCAB9-88D1-AB46-40B3-968E250B6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4C68BD-F598-7A24-05FE-1257FC53D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3BC61F-49AC-3C98-D1B5-C06EEC276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17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Content Placeholder 32">
                <a:extLst>
                  <a:ext uri="{FF2B5EF4-FFF2-40B4-BE49-F238E27FC236}">
                    <a16:creationId xmlns:a16="http://schemas.microsoft.com/office/drawing/2014/main" id="{BF563DBD-56D6-2A4C-C1E4-EACFC84FD7EA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49" y="1825625"/>
                <a:ext cx="4074904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Suppose we want to find the marginal utility of the consumer consuming 1 hat.</a:t>
                </a:r>
              </a:p>
              <a:p>
                <a:pPr lvl="3"/>
                <a:endParaRPr lang="en-US" sz="1000" dirty="0"/>
              </a:p>
              <a:p>
                <a:r>
                  <a:rPr lang="en-US" dirty="0"/>
                  <a:t>We start in the discrete world, comparing the utility between the consumer’s utility between 1 and 6 hats.</a:t>
                </a:r>
              </a:p>
              <a:p>
                <a:endParaRPr lang="en-US" sz="1000" dirty="0"/>
              </a:p>
              <a:p>
                <a:r>
                  <a:rPr lang="en-US" dirty="0"/>
                  <a:t>The “Marginal Utility” is:</a:t>
                </a:r>
              </a:p>
              <a:p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sz="19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1900" b="0" i="0" smtClean="0">
                              <a:latin typeface="Cambria Math" panose="02040503050406030204" pitchFamily="18" charset="0"/>
                            </a:rPr>
                            <m:t>Change</m:t>
                          </m:r>
                          <m:r>
                            <a:rPr lang="en-US" sz="19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900" b="0" i="0" smtClean="0">
                              <a:latin typeface="Cambria Math" panose="02040503050406030204" pitchFamily="18" charset="0"/>
                            </a:rPr>
                            <m:t>in</m:t>
                          </m:r>
                          <m:r>
                            <a:rPr lang="en-US" sz="19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900" b="0" i="0" smtClean="0">
                              <a:latin typeface="Cambria Math" panose="02040503050406030204" pitchFamily="18" charset="0"/>
                            </a:rPr>
                            <m:t>Utility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en-US" sz="1900" b="0" i="0" smtClean="0">
                              <a:latin typeface="Cambria Math" panose="02040503050406030204" pitchFamily="18" charset="0"/>
                            </a:rPr>
                            <m:t>Change</m:t>
                          </m:r>
                          <m:r>
                            <a:rPr lang="en-US" sz="19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900" b="0" i="0" smtClean="0">
                              <a:latin typeface="Cambria Math" panose="02040503050406030204" pitchFamily="18" charset="0"/>
                            </a:rPr>
                            <m:t>in</m:t>
                          </m:r>
                          <m:r>
                            <a:rPr lang="en-US" sz="1900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n-US" sz="1900" b="0" i="0" smtClean="0">
                              <a:latin typeface="Cambria Math" panose="02040503050406030204" pitchFamily="18" charset="0"/>
                            </a:rPr>
                            <m:t>Hats</m:t>
                          </m:r>
                        </m:den>
                      </m:f>
                      <m:r>
                        <a:rPr lang="en-US" sz="19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9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9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d>
                            <m:dPr>
                              <m:ctrlPr>
                                <a:rPr lang="en-US" sz="19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sz="1900" b="0" i="1" smtClean="0">
                                  <a:latin typeface="Cambria Math" panose="02040503050406030204" pitchFamily="18" charset="0"/>
                                </a:rPr>
                                <m:t>6</m:t>
                              </m:r>
                            </m:e>
                          </m:d>
                          <m:r>
                            <a:rPr lang="en-US" sz="19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sz="1900" b="0" i="1" smtClean="0">
                              <a:latin typeface="Cambria Math" panose="02040503050406030204" pitchFamily="18" charset="0"/>
                            </a:rPr>
                            <m:t>𝑢</m:t>
                          </m:r>
                          <m:r>
                            <a:rPr lang="en-US" sz="1900" b="0" i="1" smtClean="0">
                              <a:latin typeface="Cambria Math" panose="02040503050406030204" pitchFamily="18" charset="0"/>
                            </a:rPr>
                            <m:t>(1)</m:t>
                          </m:r>
                        </m:num>
                        <m:den>
                          <m:r>
                            <a:rPr lang="en-US" sz="1900" b="0" i="1" smtClean="0">
                              <a:latin typeface="Cambria Math" panose="02040503050406030204" pitchFamily="18" charset="0"/>
                            </a:rPr>
                            <m:t>5</m:t>
                          </m:r>
                        </m:den>
                      </m:f>
                    </m:oMath>
                  </m:oMathPara>
                </a14:m>
                <a:endParaRPr lang="en-US" sz="1900" dirty="0"/>
              </a:p>
              <a:p>
                <a:endParaRPr lang="en-US" sz="1000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3" name="Content Placeholder 32">
                <a:extLst>
                  <a:ext uri="{FF2B5EF4-FFF2-40B4-BE49-F238E27FC236}">
                    <a16:creationId xmlns:a16="http://schemas.microsoft.com/office/drawing/2014/main" id="{BF563DBD-56D6-2A4C-C1E4-EACFC84FD7E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49" y="1825625"/>
                <a:ext cx="4074904" cy="4351338"/>
              </a:xfrm>
              <a:blipFill>
                <a:blip r:embed="rId2"/>
                <a:stretch>
                  <a:fillRect l="-1943" t="-1821" r="-37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8" name="Content Placeholder 27" descr="A graph of a number of hats&#10;&#10;Description automatically generated">
            <a:extLst>
              <a:ext uri="{FF2B5EF4-FFF2-40B4-BE49-F238E27FC236}">
                <a16:creationId xmlns:a16="http://schemas.microsoft.com/office/drawing/2014/main" id="{D095A0BC-990C-7465-F11B-D3BE7803D9C7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  <p:pic>
        <p:nvPicPr>
          <p:cNvPr id="29" name="Content Placeholder 16" descr="A graph of a curve&#10;&#10;Description automatically generated">
            <a:extLst>
              <a:ext uri="{FF2B5EF4-FFF2-40B4-BE49-F238E27FC236}">
                <a16:creationId xmlns:a16="http://schemas.microsoft.com/office/drawing/2014/main" id="{4DF97C12-A416-C5EF-7E78-CE84196D4DC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30" name="Content Placeholder 20" descr="A graph of a curve&#10;&#10;Description automatically generated with medium confidence">
            <a:extLst>
              <a:ext uri="{FF2B5EF4-FFF2-40B4-BE49-F238E27FC236}">
                <a16:creationId xmlns:a16="http://schemas.microsoft.com/office/drawing/2014/main" id="{DC326FB2-1DEA-3409-D76B-35EE333FFDC9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61728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BB6352-F201-2116-AC36-982EED42E9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Marginal Utility in a Continuous World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6CCAB9-88D1-AB46-40B3-968E250B6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4C68BD-F598-7A24-05FE-1257FC53D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3BC61F-49AC-3C98-D1B5-C06EEC276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18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3" name="Content Placeholder 32">
                <a:extLst>
                  <a:ext uri="{FF2B5EF4-FFF2-40B4-BE49-F238E27FC236}">
                    <a16:creationId xmlns:a16="http://schemas.microsoft.com/office/drawing/2014/main" id="{BF563DBD-56D6-2A4C-C1E4-EACFC84FD7EA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49" y="1825625"/>
                <a:ext cx="4212926" cy="4351338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We then “push” further and evaluate the “marginal utility” between 1 and 5 hats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</m:oMath>
                </a14:m>
                <a:r>
                  <a:rPr lang="en-US" dirty="0"/>
                  <a:t> 1 and 2 hats.</a:t>
                </a:r>
              </a:p>
              <a:p>
                <a:pPr marL="0" indent="0">
                  <a:buNone/>
                </a:pPr>
                <a:endParaRPr lang="en-US" sz="500" dirty="0"/>
              </a:p>
              <a:p>
                <a:r>
                  <a:rPr lang="en-US" dirty="0"/>
                  <a:t>Pushing this to the extreme, we will eventually reach the conclusion…</a:t>
                </a:r>
              </a:p>
              <a:p>
                <a:endParaRPr lang="en-US" sz="500" dirty="0"/>
              </a:p>
              <a:p>
                <a:r>
                  <a:rPr lang="en-US" dirty="0"/>
                  <a:t>The marginal utility is the slope of the utility function, or the partial derivative of the utility function.</a:t>
                </a:r>
              </a:p>
            </p:txBody>
          </p:sp>
        </mc:Choice>
        <mc:Fallback xmlns="">
          <p:sp>
            <p:nvSpPr>
              <p:cNvPr id="33" name="Content Placeholder 32">
                <a:extLst>
                  <a:ext uri="{FF2B5EF4-FFF2-40B4-BE49-F238E27FC236}">
                    <a16:creationId xmlns:a16="http://schemas.microsoft.com/office/drawing/2014/main" id="{BF563DBD-56D6-2A4C-C1E4-EACFC84FD7E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49" y="1825625"/>
                <a:ext cx="4212926" cy="4351338"/>
              </a:xfrm>
              <a:blipFill>
                <a:blip r:embed="rId2"/>
                <a:stretch>
                  <a:fillRect l="-1881" t="-2661" r="-41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6" name="Content Placeholder 25" descr="A graph of a curve&#10;&#10;Description automatically generated with medium confidence">
            <a:extLst>
              <a:ext uri="{FF2B5EF4-FFF2-40B4-BE49-F238E27FC236}">
                <a16:creationId xmlns:a16="http://schemas.microsoft.com/office/drawing/2014/main" id="{50C70D1B-B80E-0C22-92C9-9A8ABC95637B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  <p:pic>
        <p:nvPicPr>
          <p:cNvPr id="27" name="Content Placeholder 8" descr="A graph of a curve&#10;&#10;Description automatically generated with medium confidence">
            <a:extLst>
              <a:ext uri="{FF2B5EF4-FFF2-40B4-BE49-F238E27FC236}">
                <a16:creationId xmlns:a16="http://schemas.microsoft.com/office/drawing/2014/main" id="{F02C314A-1AEE-1F25-9E81-E8571FE729F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28" name="Content Placeholder 12" descr="A graph of a hat&#10;&#10;Description automatically generated">
            <a:extLst>
              <a:ext uri="{FF2B5EF4-FFF2-40B4-BE49-F238E27FC236}">
                <a16:creationId xmlns:a16="http://schemas.microsoft.com/office/drawing/2014/main" id="{22BD34C0-8328-A978-AD82-DF00F8FECA1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29" name="Content Placeholder 20" descr="A graph of a function&#10;&#10;Description automatically generated">
            <a:extLst>
              <a:ext uri="{FF2B5EF4-FFF2-40B4-BE49-F238E27FC236}">
                <a16:creationId xmlns:a16="http://schemas.microsoft.com/office/drawing/2014/main" id="{9685C348-D356-47C9-B25B-DC94DBC56293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16176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65D9854-D287-7E69-9B85-3A72B085F72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Marginal Utility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𝑀𝑈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65D9854-D287-7E69-9B85-3A72B085F7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8524B91-9A26-1CB4-5228-6EDACCCD290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28649" y="1825625"/>
                <a:ext cx="8032271" cy="4351338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en-US" dirty="0"/>
                  <a:t>Marginal Utility is…</a:t>
                </a:r>
              </a:p>
              <a:p>
                <a:pPr marL="0" indent="0">
                  <a:buNone/>
                </a:pPr>
                <a:endParaRPr lang="en-US" sz="500" dirty="0"/>
              </a:p>
              <a:p>
                <a:pPr lvl="1"/>
                <a:r>
                  <a:rPr lang="en-US" dirty="0"/>
                  <a:t>Graphically,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𝑀𝑈</m:t>
                    </m:r>
                  </m:oMath>
                </a14:m>
                <a:r>
                  <a:rPr lang="en-US" dirty="0"/>
                  <a:t> is the slope of the utility function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(⋅)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sz="500" dirty="0"/>
              </a:p>
              <a:p>
                <a:pPr lvl="1"/>
                <a:r>
                  <a:rPr lang="en-US" dirty="0"/>
                  <a:t>Mathematically,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𝑀𝑈</m:t>
                    </m:r>
                  </m:oMath>
                </a14:m>
                <a:r>
                  <a:rPr lang="en-US" dirty="0"/>
                  <a:t> is the partial derivative of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i="1" dirty="0">
                        <a:latin typeface="Cambria Math" panose="02040503050406030204" pitchFamily="18" charset="0"/>
                      </a:rPr>
                      <m:t>(⋅)</m:t>
                    </m:r>
                  </m:oMath>
                </a14:m>
                <a:r>
                  <a:rPr lang="en-US" dirty="0"/>
                  <a:t>.</a:t>
                </a:r>
              </a:p>
              <a:p>
                <a:pPr lvl="1"/>
                <a:endParaRPr lang="en-US" sz="50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𝑀</m:t>
                      </m:r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b>
                      </m:sSub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</m:num>
                        <m:den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den>
                      </m:f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,   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𝑀</m:t>
                      </m:r>
                      <m:sSub>
                        <m:sSub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sub>
                      </m:sSub>
                      <m:r>
                        <a:rPr lang="en-US" sz="18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</m:num>
                        <m:den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𝜕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r>
                        <a:rPr lang="en-US" sz="1800" i="1"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US" sz="18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sz="1800" dirty="0"/>
              </a:p>
              <a:p>
                <a:endParaRPr lang="en-US" sz="1000" dirty="0"/>
              </a:p>
              <a:p>
                <a:r>
                  <a:rPr lang="en-US" dirty="0"/>
                  <a:t>Law of Diminishing Marginal Utility</a:t>
                </a:r>
              </a:p>
              <a:p>
                <a:endParaRPr lang="en-US" sz="50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𝑀𝑈</m:t>
                    </m:r>
                  </m:oMath>
                </a14:m>
                <a:r>
                  <a:rPr lang="en-US" dirty="0"/>
                  <a:t> is lower if the consumer already consumed a lot of said good.</a:t>
                </a:r>
              </a:p>
              <a:p>
                <a:pPr lvl="1"/>
                <a:endParaRPr lang="en-US" sz="500" dirty="0"/>
              </a:p>
              <a:p>
                <a:pPr lvl="1"/>
                <a:r>
                  <a:rPr lang="en-US" dirty="0"/>
                  <a:t>“If you have 2 million dollars in assets, an extra $100 will make you slightly happy, but if you have $2,000 in assets, an extra $100 will make you very happy.”</a:t>
                </a: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8524B91-9A26-1CB4-5228-6EDACCCD290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28649" y="1825625"/>
                <a:ext cx="8032271" cy="4351338"/>
              </a:xfrm>
              <a:blipFill>
                <a:blip r:embed="rId3"/>
                <a:stretch>
                  <a:fillRect l="-986" t="-2661" r="-75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1FA39C-DC38-62B2-BF29-F2B0725993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2324B0-1355-41BC-FC00-46B149472C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526C62-C70B-A2E6-05CA-3C5DF6013E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19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58868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6F3CFD-6E00-0CF9-5B64-75F7D45EC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dirty="0"/>
              <a:t>Indifference Curves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BA4226-BCAC-C5CB-745D-83A0746BB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83D51E-258F-C616-113E-CCF96D27E8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53D30B-A7E7-AB85-A2EC-774D411479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91793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Indifference Curve Basics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717BAA-D4BA-C7EB-5696-203603829C7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Given some utility function, we can draw the consumer’s indifference curves.</a:t>
            </a:r>
          </a:p>
          <a:p>
            <a:pPr lvl="3"/>
            <a:endParaRPr lang="en-US" dirty="0"/>
          </a:p>
          <a:p>
            <a:r>
              <a:rPr lang="en-US" dirty="0"/>
              <a:t>Indifference curves are the collection of all goods that the consumer prefers equally.</a:t>
            </a:r>
          </a:p>
          <a:p>
            <a:pPr lvl="3"/>
            <a:endParaRPr lang="en-US" dirty="0"/>
          </a:p>
          <a:p>
            <a:r>
              <a:rPr lang="en-US" dirty="0"/>
              <a:t>The shape of the indifference curves depend on the assumptions we place on preferences, and the nature of the goods involved.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69404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BB6352-F201-2116-AC36-982EED42E9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Indifference Curve: An Example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CACCAE2-1C43-785F-6A4E-D3C4E0F13170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49" y="1825625"/>
                <a:ext cx="3988639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Suppose that the utility function of a consumer is calculated by the product of hats and shoes.</a:t>
                </a:r>
              </a:p>
              <a:p>
                <a:endParaRPr lang="en-US" sz="5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𝐻𝑎𝑡𝑠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𝑆h𝑜𝑒𝑠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𝐻𝑎𝑡𝑠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⋅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𝑆h𝑜𝑒𝑠</m:t>
                      </m:r>
                    </m:oMath>
                  </m:oMathPara>
                </a14:m>
                <a:endParaRPr lang="en-US" sz="2000" dirty="0"/>
              </a:p>
              <a:p>
                <a:endParaRPr lang="en-US" sz="1000" dirty="0"/>
              </a:p>
              <a:p>
                <a:r>
                  <a:rPr lang="en-US" dirty="0"/>
                  <a:t>Suppose that the consumer currently has 5 hats and 40 pairs of shoes.</a:t>
                </a:r>
              </a:p>
              <a:p>
                <a:endParaRPr lang="en-US" sz="1000" dirty="0"/>
              </a:p>
              <a:p>
                <a:r>
                  <a:rPr lang="en-US" dirty="0"/>
                  <a:t>What is the utility of this consumer?</a:t>
                </a:r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4CACCAE2-1C43-785F-6A4E-D3C4E0F1317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49" y="1825625"/>
                <a:ext cx="3988639" cy="4351338"/>
              </a:xfrm>
              <a:blipFill>
                <a:blip r:embed="rId2"/>
                <a:stretch>
                  <a:fillRect l="-1985" t="-1821" r="-3969" b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6CCAB9-88D1-AB46-40B3-968E250B6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4C68BD-F598-7A24-05FE-1257FC53D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3BC61F-49AC-3C98-D1B5-C06EEC276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22</a:t>
            </a:fld>
            <a:endParaRPr lang="en-US" dirty="0"/>
          </a:p>
        </p:txBody>
      </p:sp>
      <p:pic>
        <p:nvPicPr>
          <p:cNvPr id="14" name="Content Placeholder 13" descr="A graph of clothing and shoes&#10;&#10;Description automatically generated">
            <a:extLst>
              <a:ext uri="{FF2B5EF4-FFF2-40B4-BE49-F238E27FC236}">
                <a16:creationId xmlns:a16="http://schemas.microsoft.com/office/drawing/2014/main" id="{1AD88289-08B2-7101-1C1A-9FB05230630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9998565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BB6352-F201-2116-AC36-982EED42E9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Indifference Curve: An Example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ACCAE2-1C43-785F-6A4E-D3C4E0F131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48" y="1825625"/>
            <a:ext cx="4143915" cy="4351338"/>
          </a:xfrm>
        </p:spPr>
        <p:txBody>
          <a:bodyPr>
            <a:normAutofit/>
          </a:bodyPr>
          <a:lstStyle/>
          <a:p>
            <a:r>
              <a:rPr lang="en-US" dirty="0"/>
              <a:t>Find another bundle that gives the consumer exactly 200 utility.</a:t>
            </a:r>
          </a:p>
          <a:p>
            <a:pPr lvl="1"/>
            <a:r>
              <a:rPr lang="en-US" dirty="0"/>
              <a:t>40 hats and 5 pairs of shoes</a:t>
            </a:r>
          </a:p>
          <a:p>
            <a:pPr lvl="1"/>
            <a:r>
              <a:rPr lang="en-US" dirty="0"/>
              <a:t>10 hats and 20 pairs of shoes</a:t>
            </a:r>
          </a:p>
          <a:p>
            <a:pPr lvl="1"/>
            <a:r>
              <a:rPr lang="en-US" dirty="0"/>
              <a:t>20 hats and 10 pairs of shoes</a:t>
            </a:r>
          </a:p>
          <a:p>
            <a:pPr lvl="1"/>
            <a:endParaRPr lang="en-US" dirty="0"/>
          </a:p>
          <a:p>
            <a:r>
              <a:rPr lang="en-US" dirty="0"/>
              <a:t>“Linking” all these bundles that give the consumer exactly 200 utility gives us an indifference curve for utility level 200.</a:t>
            </a:r>
          </a:p>
          <a:p>
            <a:pPr lvl="1"/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6CCAB9-88D1-AB46-40B3-968E250B6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4C68BD-F598-7A24-05FE-1257FC53D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3BC61F-49AC-3C98-D1B5-C06EEC276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23</a:t>
            </a:fld>
            <a:endParaRPr lang="en-US" dirty="0"/>
          </a:p>
        </p:txBody>
      </p:sp>
      <p:pic>
        <p:nvPicPr>
          <p:cNvPr id="14" name="Content Placeholder 13" descr="A graph of clothing and shoes&#10;&#10;Description automatically generated">
            <a:extLst>
              <a:ext uri="{FF2B5EF4-FFF2-40B4-BE49-F238E27FC236}">
                <a16:creationId xmlns:a16="http://schemas.microsoft.com/office/drawing/2014/main" id="{1AD88289-08B2-7101-1C1A-9FB05230630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  <p:pic>
        <p:nvPicPr>
          <p:cNvPr id="3" name="Content Placeholder 9" descr="A graph of a line&#10;&#10;Description automatically generated with medium confidence">
            <a:extLst>
              <a:ext uri="{FF2B5EF4-FFF2-40B4-BE49-F238E27FC236}">
                <a16:creationId xmlns:a16="http://schemas.microsoft.com/office/drawing/2014/main" id="{CB859D86-DB03-0F0E-C981-698F8816FA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9" name="Content Placeholder 18" descr="A graph of shoes and shoes&#10;&#10;Description automatically generated">
            <a:extLst>
              <a:ext uri="{FF2B5EF4-FFF2-40B4-BE49-F238E27FC236}">
                <a16:creationId xmlns:a16="http://schemas.microsoft.com/office/drawing/2014/main" id="{E69B95C0-45BF-A8C1-3183-84224ECE38C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11" name="Content Placeholder 30" descr="A graph of a function&#10;&#10;Description automatically generated">
            <a:extLst>
              <a:ext uri="{FF2B5EF4-FFF2-40B4-BE49-F238E27FC236}">
                <a16:creationId xmlns:a16="http://schemas.microsoft.com/office/drawing/2014/main" id="{23215B7F-DEE0-F3D6-4E65-3E08A3F50CA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82375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BB6352-F201-2116-AC36-982EED42E9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Indifference Curve: An Example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6CCAB9-88D1-AB46-40B3-968E250B6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4C68BD-F598-7A24-05FE-1257FC53D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3BC61F-49AC-3C98-D1B5-C06EEC276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24</a:t>
            </a:fld>
            <a:endParaRPr lang="en-US" dirty="0"/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348375DB-8362-EAEB-15B5-FCC21700B53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4005892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The indifference curve splits the commodity space into two distinct parts.</a:t>
            </a:r>
          </a:p>
          <a:p>
            <a:endParaRPr lang="en-US" sz="1000" dirty="0"/>
          </a:p>
          <a:p>
            <a:r>
              <a:rPr lang="en-US" dirty="0"/>
              <a:t>Any bundle above this specific indifference curve produces more than 200 utility for the consumer.</a:t>
            </a:r>
          </a:p>
          <a:p>
            <a:pPr lvl="3"/>
            <a:endParaRPr lang="en-US" sz="1000" dirty="0"/>
          </a:p>
          <a:p>
            <a:r>
              <a:rPr lang="en-US" dirty="0"/>
              <a:t>Any bundle below this specific indifference curve produces less than 200 utility for the consumer.</a:t>
            </a:r>
          </a:p>
        </p:txBody>
      </p:sp>
      <p:pic>
        <p:nvPicPr>
          <p:cNvPr id="35" name="Content Placeholder 34" descr="A graph of a function&#10;&#10;Description automatically generated">
            <a:extLst>
              <a:ext uri="{FF2B5EF4-FFF2-40B4-BE49-F238E27FC236}">
                <a16:creationId xmlns:a16="http://schemas.microsoft.com/office/drawing/2014/main" id="{732970A6-49D9-E629-F205-ED678AFAC90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  <p:pic>
        <p:nvPicPr>
          <p:cNvPr id="38" name="Content Placeholder 17" descr="A diagram of a number of shoes&#10;&#10;Description automatically generated">
            <a:extLst>
              <a:ext uri="{FF2B5EF4-FFF2-40B4-BE49-F238E27FC236}">
                <a16:creationId xmlns:a16="http://schemas.microsoft.com/office/drawing/2014/main" id="{7CF9F1BE-FD87-2176-3041-12D621FBCAA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93884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BB6352-F201-2116-AC36-982EED42E9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Indifference Curve: An Example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6CCAB9-88D1-AB46-40B3-968E250B6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4C68BD-F598-7A24-05FE-1257FC53D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3BC61F-49AC-3C98-D1B5-C06EEC276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25</a:t>
            </a:fld>
            <a:endParaRPr lang="en-US" dirty="0"/>
          </a:p>
        </p:txBody>
      </p:sp>
      <p:sp>
        <p:nvSpPr>
          <p:cNvPr id="14" name="Content Placeholder 13">
            <a:extLst>
              <a:ext uri="{FF2B5EF4-FFF2-40B4-BE49-F238E27FC236}">
                <a16:creationId xmlns:a16="http://schemas.microsoft.com/office/drawing/2014/main" id="{5CADADBF-A861-53B5-DCAE-0190BD126A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49" y="1825625"/>
            <a:ext cx="3988639" cy="4351338"/>
          </a:xfrm>
        </p:spPr>
        <p:txBody>
          <a:bodyPr>
            <a:normAutofit/>
          </a:bodyPr>
          <a:lstStyle/>
          <a:p>
            <a:r>
              <a:rPr lang="en-US" dirty="0"/>
              <a:t>Suppose the consumer is consuming bundle A.</a:t>
            </a:r>
          </a:p>
          <a:p>
            <a:pPr lvl="3"/>
            <a:endParaRPr lang="en-US" sz="1000" dirty="0"/>
          </a:p>
          <a:p>
            <a:r>
              <a:rPr lang="en-US" dirty="0"/>
              <a:t>If they wanted to purchase more shoes…</a:t>
            </a:r>
          </a:p>
          <a:p>
            <a:endParaRPr lang="en-US" sz="1000" dirty="0"/>
          </a:p>
          <a:p>
            <a:r>
              <a:rPr lang="en-US" dirty="0"/>
              <a:t>How many units of hats would they be willing to give up, while ending up on the same level of utility?</a:t>
            </a:r>
          </a:p>
        </p:txBody>
      </p:sp>
      <p:pic>
        <p:nvPicPr>
          <p:cNvPr id="9" name="Content Placeholder 8" descr="A graph of a function&#10;&#10;Description automatically generated">
            <a:extLst>
              <a:ext uri="{FF2B5EF4-FFF2-40B4-BE49-F238E27FC236}">
                <a16:creationId xmlns:a16="http://schemas.microsoft.com/office/drawing/2014/main" id="{C065D624-F7F2-5F64-DAA4-E0FB0957ACDA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</p:spTree>
    <p:extLst>
      <p:ext uri="{BB962C8B-B14F-4D97-AF65-F5344CB8AC3E}">
        <p14:creationId xmlns:p14="http://schemas.microsoft.com/office/powerpoint/2010/main" val="2355942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BB6352-F201-2116-AC36-982EED42E9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Indifference Curve: An Example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6CCAB9-88D1-AB46-40B3-968E250B6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4C68BD-F598-7A24-05FE-1257FC53D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3BC61F-49AC-3C98-D1B5-C06EEC276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26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Content Placeholder 13">
                <a:extLst>
                  <a:ext uri="{FF2B5EF4-FFF2-40B4-BE49-F238E27FC236}">
                    <a16:creationId xmlns:a16="http://schemas.microsoft.com/office/drawing/2014/main" id="{5CADADBF-A861-53B5-DCAE-0190BD126A95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49" y="1825625"/>
                <a:ext cx="3988639" cy="4351338"/>
              </a:xfrm>
            </p:spPr>
            <p:txBody>
              <a:bodyPr/>
              <a:lstStyle/>
              <a:p>
                <a:r>
                  <a:rPr lang="en-US" dirty="0"/>
                  <a:t>While maintaining a utility value of 200, the consumer is willing to give up…</a:t>
                </a:r>
              </a:p>
              <a:p>
                <a:pPr lvl="1"/>
                <a:r>
                  <a:rPr lang="en-US" dirty="0"/>
                  <a:t>15 hats for 30 more shoes</a:t>
                </a:r>
              </a:p>
              <a:p>
                <a:pPr lvl="1"/>
                <a:r>
                  <a:rPr lang="en-US" dirty="0"/>
                  <a:t>10 hats for 10 more shoes</a:t>
                </a:r>
              </a:p>
              <a:p>
                <a:pPr lvl="1"/>
                <a:r>
                  <a:rPr lang="en-US" dirty="0"/>
                  <a:t>6.67 hats for 5 more shoes</a:t>
                </a:r>
              </a:p>
              <a:p>
                <a:pPr lvl="1"/>
                <a:endParaRPr lang="en-US" sz="1000" dirty="0"/>
              </a:p>
              <a:p>
                <a:r>
                  <a:rPr lang="en-US" dirty="0"/>
                  <a:t>While maintaining a utility value of 200, the consumer is willing to give up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𝑀𝑅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𝑆𝐻</m:t>
                        </m:r>
                      </m:sub>
                    </m:sSub>
                  </m:oMath>
                </a14:m>
                <a:r>
                  <a:rPr lang="en-US" dirty="0"/>
                  <a:t> units of hats for “1” unit of shoes.</a:t>
                </a:r>
              </a:p>
            </p:txBody>
          </p:sp>
        </mc:Choice>
        <mc:Fallback xmlns="">
          <p:sp>
            <p:nvSpPr>
              <p:cNvPr id="14" name="Content Placeholder 13">
                <a:extLst>
                  <a:ext uri="{FF2B5EF4-FFF2-40B4-BE49-F238E27FC236}">
                    <a16:creationId xmlns:a16="http://schemas.microsoft.com/office/drawing/2014/main" id="{5CADADBF-A861-53B5-DCAE-0190BD126A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49" y="1825625"/>
                <a:ext cx="3988639" cy="4351338"/>
              </a:xfrm>
              <a:blipFill>
                <a:blip r:embed="rId2"/>
                <a:stretch>
                  <a:fillRect l="-1985" t="-1821" r="-381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5" name="Content Placeholder 24" descr="A graph of a function&#10;&#10;Description automatically generated">
            <a:extLst>
              <a:ext uri="{FF2B5EF4-FFF2-40B4-BE49-F238E27FC236}">
                <a16:creationId xmlns:a16="http://schemas.microsoft.com/office/drawing/2014/main" id="{EB520E72-BBB4-FE47-BB84-07D123E85415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  <p:pic>
        <p:nvPicPr>
          <p:cNvPr id="26" name="Content Placeholder 22" descr="A graph of a function&#10;&#10;Description automatically generated with medium confidence">
            <a:extLst>
              <a:ext uri="{FF2B5EF4-FFF2-40B4-BE49-F238E27FC236}">
                <a16:creationId xmlns:a16="http://schemas.microsoft.com/office/drawing/2014/main" id="{92E29C37-E1D1-EB13-D64B-ADC7607DEC8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27" name="Content Placeholder 28" descr="A graph of a function&#10;&#10;Description automatically generated with medium confidence">
            <a:extLst>
              <a:ext uri="{FF2B5EF4-FFF2-40B4-BE49-F238E27FC236}">
                <a16:creationId xmlns:a16="http://schemas.microsoft.com/office/drawing/2014/main" id="{ED2D2D67-F861-EAD4-1023-F7B8D39AD55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28" name="Content Placeholder 35" descr="A graph of a function&#10;&#10;Description automatically generated with medium confidence">
            <a:extLst>
              <a:ext uri="{FF2B5EF4-FFF2-40B4-BE49-F238E27FC236}">
                <a16:creationId xmlns:a16="http://schemas.microsoft.com/office/drawing/2014/main" id="{7FAD4F06-5D7F-8644-BBC2-FE38C56F7905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29" name="Content Placeholder 39" descr="A graph of a function&#10;&#10;Description automatically generated">
            <a:extLst>
              <a:ext uri="{FF2B5EF4-FFF2-40B4-BE49-F238E27FC236}">
                <a16:creationId xmlns:a16="http://schemas.microsoft.com/office/drawing/2014/main" id="{675624C6-5571-71AF-9E65-206961A86C22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45750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65D9854-D287-7E69-9B85-3A72B085F720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Marginal Rate of Substitution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𝑀𝑅𝑆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365D9854-D287-7E69-9B85-3A72B085F72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8524B91-9A26-1CB4-5228-6EDACCCD290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The Marginal Rate of Substitution is…</a:t>
                </a:r>
              </a:p>
              <a:p>
                <a:pPr marL="0" indent="0">
                  <a:buNone/>
                </a:pPr>
                <a:endParaRPr lang="en-US" sz="500" dirty="0"/>
              </a:p>
              <a:p>
                <a:pPr lvl="1"/>
                <a:r>
                  <a:rPr lang="en-US" dirty="0"/>
                  <a:t>Graphically,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𝑅𝑆</m:t>
                    </m:r>
                  </m:oMath>
                </a14:m>
                <a:r>
                  <a:rPr lang="en-US" dirty="0"/>
                  <a:t> is the slope of the indifference curve.</a:t>
                </a:r>
              </a:p>
              <a:p>
                <a:endParaRPr lang="en-US" sz="500" dirty="0"/>
              </a:p>
              <a:p>
                <a:pPr lvl="1"/>
                <a:r>
                  <a:rPr lang="en-US" dirty="0"/>
                  <a:t>Mathematically,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𝑀𝑅𝑆</m:t>
                    </m:r>
                  </m:oMath>
                </a14:m>
                <a:r>
                  <a:rPr lang="en-US" dirty="0"/>
                  <a:t> is the ratio of marginal utilities.</a:t>
                </a:r>
              </a:p>
              <a:p>
                <a:pPr lvl="1"/>
                <a:endParaRPr lang="en-US" sz="500" dirty="0"/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𝑀𝑅</m:t>
                      </m:r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𝑥𝑦</m:t>
                          </m:r>
                        </m:sub>
                      </m:sSub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sub>
                          </m:sSub>
                        </m:num>
                        <m:den>
                          <m:r>
                            <a:rPr lang="en-US" sz="1800" b="0" i="1" smtClean="0">
                              <a:latin typeface="Cambria Math" panose="02040503050406030204" pitchFamily="18" charset="0"/>
                            </a:rPr>
                            <m:t>𝑀</m:t>
                          </m:r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𝑈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sub>
                          </m:sSub>
                        </m:den>
                      </m:f>
                      <m:r>
                        <a:rPr lang="en-US" sz="1800" b="0" i="1" smtClean="0">
                          <a:latin typeface="Cambria Math" panose="02040503050406030204" pitchFamily="18" charset="0"/>
                        </a:rPr>
                        <m:t>=−</m:t>
                      </m:r>
                      <m:f>
                        <m:fPr>
                          <m:ctrlPr>
                            <a:rPr lang="en-US" sz="1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box>
                            <m:box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boxPr>
                            <m:e>
                              <m:argPr>
                                <m:argSz m:val="-1"/>
                              </m:argPr>
                              <m:f>
                                <m:f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</m:num>
                                <m:den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den>
                              </m:f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d>
                                <m:d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d>
                            </m:e>
                          </m:box>
                        </m:num>
                        <m:den>
                          <m:box>
                            <m:box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boxPr>
                            <m:e>
                              <m:argPr>
                                <m:argSz m:val="-1"/>
                              </m:argPr>
                              <m:f>
                                <m:f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</m:num>
                                <m:den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𝜕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𝑦</m:t>
                                  </m:r>
                                </m:den>
                              </m:f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  <m:d>
                                <m:dPr>
                                  <m:ctrlP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sz="1800" b="0" i="1" smtClean="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</m:d>
                            </m:e>
                          </m:box>
                        </m:den>
                      </m:f>
                    </m:oMath>
                  </m:oMathPara>
                </a14:m>
                <a:endParaRPr lang="en-US" sz="1800" b="0" dirty="0"/>
              </a:p>
              <a:p>
                <a:pPr marL="457200" lvl="1" indent="0">
                  <a:buNone/>
                </a:pPr>
                <a:endParaRPr lang="en-US" sz="1000" dirty="0"/>
              </a:p>
              <a:p>
                <a:r>
                  <a:rPr lang="en-US" dirty="0"/>
                  <a:t>Law of Diminishing Marginal Rate of Substitution</a:t>
                </a:r>
              </a:p>
              <a:p>
                <a:endParaRPr lang="en-US" sz="500" dirty="0"/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𝑀𝑅𝑆</m:t>
                    </m:r>
                  </m:oMath>
                </a14:m>
                <a:r>
                  <a:rPr lang="en-US" dirty="0"/>
                  <a:t> decreases as the consumer increases their consumption of good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8524B91-9A26-1CB4-5228-6EDACCCD290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05" t="-1821" r="-3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1FA39C-DC38-62B2-BF29-F2B0725993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2324B0-1355-41BC-FC00-46B149472C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526C62-C70B-A2E6-05CA-3C5DF6013E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69481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BB6352-F201-2116-AC36-982EED42E9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Law of Diminishing MRS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6CCAB9-88D1-AB46-40B3-968E250B63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4C68BD-F598-7A24-05FE-1257FC53D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3BC61F-49AC-3C98-D1B5-C06EEC276F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28</a:t>
            </a:fld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Content Placeholder 13">
                <a:extLst>
                  <a:ext uri="{FF2B5EF4-FFF2-40B4-BE49-F238E27FC236}">
                    <a16:creationId xmlns:a16="http://schemas.microsoft.com/office/drawing/2014/main" id="{5CADADBF-A861-53B5-DCAE-0190BD126A95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49" y="1825625"/>
                <a:ext cx="4161168" cy="4351338"/>
              </a:xfrm>
            </p:spPr>
            <p:txBody>
              <a:bodyPr>
                <a:normAutofit/>
              </a:bodyPr>
              <a:lstStyle/>
              <a:p>
                <a:r>
                  <a:rPr lang="en-US" dirty="0"/>
                  <a:t>As we increase the consumer’s consumption of shoes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…</a:t>
                </a:r>
              </a:p>
              <a:p>
                <a:endParaRPr lang="en-US" sz="1000" dirty="0"/>
              </a:p>
              <a:p>
                <a:r>
                  <a:rPr lang="en-US" dirty="0"/>
                  <a:t>The number of hats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that the consumer is willing to give up decreases.</a:t>
                </a:r>
              </a:p>
              <a:p>
                <a:endParaRPr lang="en-US" sz="1000" dirty="0"/>
              </a:p>
              <a:p>
                <a:r>
                  <a:rPr lang="en-US" dirty="0"/>
                  <a:t>Due to the law of diminishing marginal rate of substitution.</a:t>
                </a:r>
              </a:p>
            </p:txBody>
          </p:sp>
        </mc:Choice>
        <mc:Fallback>
          <p:sp>
            <p:nvSpPr>
              <p:cNvPr id="14" name="Content Placeholder 13">
                <a:extLst>
                  <a:ext uri="{FF2B5EF4-FFF2-40B4-BE49-F238E27FC236}">
                    <a16:creationId xmlns:a16="http://schemas.microsoft.com/office/drawing/2014/main" id="{5CADADBF-A861-53B5-DCAE-0190BD126A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49" y="1825625"/>
                <a:ext cx="4161168" cy="4351338"/>
              </a:xfrm>
              <a:blipFill>
                <a:blip r:embed="rId2"/>
                <a:stretch>
                  <a:fillRect l="-1903" t="-1821" r="-35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Content Placeholder 9" descr="A graph of a line&#10;&#10;Description automatically generated with medium confidence">
            <a:extLst>
              <a:ext uri="{FF2B5EF4-FFF2-40B4-BE49-F238E27FC236}">
                <a16:creationId xmlns:a16="http://schemas.microsoft.com/office/drawing/2014/main" id="{3951B632-9D26-DC8D-4491-65D32AF8F35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  <p:pic>
        <p:nvPicPr>
          <p:cNvPr id="11" name="Content Placeholder 14" descr="A graph of a line&#10;&#10;Description automatically generated with medium confidence">
            <a:extLst>
              <a:ext uri="{FF2B5EF4-FFF2-40B4-BE49-F238E27FC236}">
                <a16:creationId xmlns:a16="http://schemas.microsoft.com/office/drawing/2014/main" id="{2836211C-846D-F240-5593-785EFF3609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12" name="Content Placeholder 16" descr="A graph of a line&#10;&#10;Description automatically generated with medium confidence">
            <a:extLst>
              <a:ext uri="{FF2B5EF4-FFF2-40B4-BE49-F238E27FC236}">
                <a16:creationId xmlns:a16="http://schemas.microsoft.com/office/drawing/2014/main" id="{DF78B441-4CCE-B31F-7863-3EB6DE5C049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13" name="Content Placeholder 22" descr="A line graph with numbers and symbols&#10;&#10;Description automatically generated">
            <a:extLst>
              <a:ext uri="{FF2B5EF4-FFF2-40B4-BE49-F238E27FC236}">
                <a16:creationId xmlns:a16="http://schemas.microsoft.com/office/drawing/2014/main" id="{DAC3C401-D20C-F058-D750-C6FB8478990E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15" name="Content Placeholder 26" descr="A graph of a line&#10;&#10;Description automatically generated with medium confidence">
            <a:extLst>
              <a:ext uri="{FF2B5EF4-FFF2-40B4-BE49-F238E27FC236}">
                <a16:creationId xmlns:a16="http://schemas.microsoft.com/office/drawing/2014/main" id="{1B796A5A-FFEF-78FE-7088-193D2CA60D7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53639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Leontief Utility Functions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Suppose a consumer always takes two sugar cubes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with one cup of coffee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</a:t>
                </a:r>
              </a:p>
              <a:p>
                <a:endParaRPr lang="en-US" sz="500" dirty="0"/>
              </a:p>
              <a:p>
                <a:r>
                  <a:rPr lang="en-US" dirty="0"/>
                  <a:t>If they have only one cup of coffee, a third sugar cube will generate no utility.</a:t>
                </a:r>
              </a:p>
              <a:p>
                <a:endParaRPr lang="en-US" sz="500" dirty="0"/>
              </a:p>
              <a:p>
                <a:r>
                  <a:rPr lang="en-US" dirty="0"/>
                  <a:t>If they have only two sugar cubes, a second cup of coffee will not generate any utility.</a:t>
                </a:r>
              </a:p>
              <a:p>
                <a:endParaRPr lang="en-US" sz="500" dirty="0"/>
              </a:p>
              <a:p>
                <a:r>
                  <a:rPr lang="en-US" dirty="0"/>
                  <a:t>The utility function should be:</a:t>
                </a:r>
              </a:p>
              <a:p>
                <a:endParaRPr lang="en-US" sz="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min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⁡</m:t>
                      </m:r>
                      <m:d>
                        <m:dPr>
                          <m:begChr m:val="{"/>
                          <m:endChr m:val="}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box>
                            <m:box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boxPr>
                            <m:e>
                              <m:argPr>
                                <m:argSz m:val="-1"/>
                              </m:argPr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box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05" t="-1821" r="-5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29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42002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F1452E-A440-07B9-6643-BC26AA8D54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Leontief Utility Function</a:t>
            </a:r>
          </a:p>
        </p:txBody>
      </p:sp>
      <p:pic>
        <p:nvPicPr>
          <p:cNvPr id="9" name="Content Placeholder 8" descr="A graph of coffee sugar and sugar&#10;&#10;Description automatically generated">
            <a:extLst>
              <a:ext uri="{FF2B5EF4-FFF2-40B4-BE49-F238E27FC236}">
                <a16:creationId xmlns:a16="http://schemas.microsoft.com/office/drawing/2014/main" id="{534F3F68-98BE-AF3B-C261-4C044B4561DC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6386FB1-B630-2D72-53C0-CFCAB8FB2B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49" y="1825625"/>
            <a:ext cx="4074903" cy="4351338"/>
          </a:xfrm>
        </p:spPr>
        <p:txBody>
          <a:bodyPr>
            <a:normAutofit/>
          </a:bodyPr>
          <a:lstStyle/>
          <a:p>
            <a:r>
              <a:rPr lang="en-US" dirty="0"/>
              <a:t>Suppose this consumer has four sugar cubes.</a:t>
            </a:r>
          </a:p>
          <a:p>
            <a:pPr lvl="3"/>
            <a:endParaRPr lang="en-US" dirty="0"/>
          </a:p>
          <a:p>
            <a:r>
              <a:rPr lang="en-US" dirty="0"/>
              <a:t>What would the utility be when they are given…</a:t>
            </a:r>
          </a:p>
          <a:p>
            <a:pPr lvl="1"/>
            <a:r>
              <a:rPr lang="en-US" dirty="0"/>
              <a:t>One cup of coffee?</a:t>
            </a:r>
          </a:p>
          <a:p>
            <a:pPr lvl="1"/>
            <a:r>
              <a:rPr lang="en-US" dirty="0"/>
              <a:t>Two cups of coffee?</a:t>
            </a:r>
          </a:p>
          <a:p>
            <a:pPr lvl="1"/>
            <a:r>
              <a:rPr lang="en-US" dirty="0"/>
              <a:t>Three cups of coffee?</a:t>
            </a:r>
          </a:p>
          <a:p>
            <a:pPr lvl="1"/>
            <a:r>
              <a:rPr lang="en-US" dirty="0"/>
              <a:t>Even more?</a:t>
            </a:r>
          </a:p>
          <a:p>
            <a:pPr lvl="1"/>
            <a:endParaRPr lang="en-US" sz="1000" dirty="0"/>
          </a:p>
          <a:p>
            <a:r>
              <a:rPr lang="en-US" dirty="0"/>
              <a:t>“Link” all bundles that give us 2 utility.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122F89-A4D8-8DC8-1C70-745522C66E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E6C32E-502F-B20D-E2DF-DEA2BD6CA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CC770D-91F3-DC5E-4FBF-D3CD6A22EB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30</a:t>
            </a:fld>
            <a:endParaRPr lang="en-US" dirty="0"/>
          </a:p>
        </p:txBody>
      </p:sp>
      <p:pic>
        <p:nvPicPr>
          <p:cNvPr id="10" name="Content Placeholder 10" descr="A graph of coffee sugar and coffee&#10;&#10;Description automatically generated">
            <a:extLst>
              <a:ext uri="{FF2B5EF4-FFF2-40B4-BE49-F238E27FC236}">
                <a16:creationId xmlns:a16="http://schemas.microsoft.com/office/drawing/2014/main" id="{7994D94A-45AA-C281-D220-4E7E22B7D0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12" name="Content Placeholder 18" descr="A graph of coffee and sugar&#10;&#10;Description automatically generated">
            <a:extLst>
              <a:ext uri="{FF2B5EF4-FFF2-40B4-BE49-F238E27FC236}">
                <a16:creationId xmlns:a16="http://schemas.microsoft.com/office/drawing/2014/main" id="{16B9C60D-C40C-675E-AA0E-F7D2D5FE5C0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13" name="Content Placeholder 22" descr="A graph of coffee and sugar&#10;&#10;Description automatically generated">
            <a:extLst>
              <a:ext uri="{FF2B5EF4-FFF2-40B4-BE49-F238E27FC236}">
                <a16:creationId xmlns:a16="http://schemas.microsoft.com/office/drawing/2014/main" id="{273B5848-9C34-5BE3-2406-6B1845799AA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14" name="Content Placeholder 24" descr="A graph of coffee and sugar&#10;&#10;Description automatically generated">
            <a:extLst>
              <a:ext uri="{FF2B5EF4-FFF2-40B4-BE49-F238E27FC236}">
                <a16:creationId xmlns:a16="http://schemas.microsoft.com/office/drawing/2014/main" id="{7853A433-49FB-C5A5-554B-2A8D28B8663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15" name="Content Placeholder 30" descr="A graph of coffee and sugar&#10;&#10;Description automatically generated">
            <a:extLst>
              <a:ext uri="{FF2B5EF4-FFF2-40B4-BE49-F238E27FC236}">
                <a16:creationId xmlns:a16="http://schemas.microsoft.com/office/drawing/2014/main" id="{A81A3690-1CE5-44DF-60BB-9A3A496E9A4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16" name="Content Placeholder 32" descr="A graph of coffee and sugar&#10;&#10;Description automatically generated">
            <a:extLst>
              <a:ext uri="{FF2B5EF4-FFF2-40B4-BE49-F238E27FC236}">
                <a16:creationId xmlns:a16="http://schemas.microsoft.com/office/drawing/2014/main" id="{EF86A6CD-057D-A41B-889D-CE198E3B23B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17" name="Content Placeholder 38" descr="A graph of coffee and sugar&#10;&#10;Description automatically generated">
            <a:extLst>
              <a:ext uri="{FF2B5EF4-FFF2-40B4-BE49-F238E27FC236}">
                <a16:creationId xmlns:a16="http://schemas.microsoft.com/office/drawing/2014/main" id="{EECC20CE-D69D-2DD9-BD7D-BE5147D1762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18" name="Content Placeholder 42" descr="A graph of coffee and sugar&#10;&#10;Description automatically generated">
            <a:extLst>
              <a:ext uri="{FF2B5EF4-FFF2-40B4-BE49-F238E27FC236}">
                <a16:creationId xmlns:a16="http://schemas.microsoft.com/office/drawing/2014/main" id="{D4838FA0-2145-A594-45C4-70A3AEA22822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39241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F1452E-A440-07B9-6643-BC26AA8D54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Leontief Utility Function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122F89-A4D8-8DC8-1C70-745522C66E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E6C32E-502F-B20D-E2DF-DEA2BD6CA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CC770D-91F3-DC5E-4FBF-D3CD6A22EB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31</a:t>
            </a:fld>
            <a:endParaRPr lang="en-US" dirty="0"/>
          </a:p>
        </p:txBody>
      </p:sp>
      <p:sp>
        <p:nvSpPr>
          <p:cNvPr id="37" name="Content Placeholder 36">
            <a:extLst>
              <a:ext uri="{FF2B5EF4-FFF2-40B4-BE49-F238E27FC236}">
                <a16:creationId xmlns:a16="http://schemas.microsoft.com/office/drawing/2014/main" id="{9BADB57C-48EB-69B2-7791-16D5FB19C6B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US" dirty="0"/>
              <a:t>Now consider the same consumer has two cups of coffee, and nothing else.</a:t>
            </a:r>
          </a:p>
          <a:p>
            <a:endParaRPr lang="en-US" sz="500" dirty="0"/>
          </a:p>
          <a:p>
            <a:r>
              <a:rPr lang="en-US" dirty="0"/>
              <a:t> What would the utility be when they are given…</a:t>
            </a:r>
          </a:p>
          <a:p>
            <a:pPr lvl="1"/>
            <a:r>
              <a:rPr lang="en-US" dirty="0"/>
              <a:t>Two sugar cubes?</a:t>
            </a:r>
          </a:p>
          <a:p>
            <a:pPr lvl="1"/>
            <a:r>
              <a:rPr lang="en-US" dirty="0"/>
              <a:t>Four sugar cubes?</a:t>
            </a:r>
          </a:p>
          <a:p>
            <a:pPr lvl="1"/>
            <a:r>
              <a:rPr lang="en-US" dirty="0"/>
              <a:t>Six sugar cubes?</a:t>
            </a:r>
          </a:p>
          <a:p>
            <a:pPr lvl="1"/>
            <a:r>
              <a:rPr lang="en-US" dirty="0"/>
              <a:t>Even more?</a:t>
            </a:r>
          </a:p>
          <a:p>
            <a:pPr lvl="1"/>
            <a:endParaRPr lang="en-US" sz="500" dirty="0"/>
          </a:p>
          <a:p>
            <a:r>
              <a:rPr lang="en-US" dirty="0"/>
              <a:t>“Link” all bundles that give us 2 utility.</a:t>
            </a:r>
          </a:p>
          <a:p>
            <a:endParaRPr lang="en-US" dirty="0"/>
          </a:p>
        </p:txBody>
      </p:sp>
      <p:pic>
        <p:nvPicPr>
          <p:cNvPr id="69" name="Content Placeholder 68" descr="A graph of coffee and sugar&#10;&#10;Description automatically generated">
            <a:extLst>
              <a:ext uri="{FF2B5EF4-FFF2-40B4-BE49-F238E27FC236}">
                <a16:creationId xmlns:a16="http://schemas.microsoft.com/office/drawing/2014/main" id="{C56DD8DA-7901-9473-03D8-F1DC7FEE7B3C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  <p:pic>
        <p:nvPicPr>
          <p:cNvPr id="70" name="Content Placeholder 32" descr="A graph of coffee and sugar&#10;&#10;Description automatically generated">
            <a:extLst>
              <a:ext uri="{FF2B5EF4-FFF2-40B4-BE49-F238E27FC236}">
                <a16:creationId xmlns:a16="http://schemas.microsoft.com/office/drawing/2014/main" id="{BCF932ED-FCE6-63BD-38A4-701CA742F1B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71" name="Content Placeholder 34" descr="A graph of coffee and sugar&#10;&#10;Description automatically generated">
            <a:extLst>
              <a:ext uri="{FF2B5EF4-FFF2-40B4-BE49-F238E27FC236}">
                <a16:creationId xmlns:a16="http://schemas.microsoft.com/office/drawing/2014/main" id="{CCE1FF61-DA90-8868-2C8F-56BED0FA374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72" name="Content Placeholder 41" descr="A graph of coffee and sugar&#10;&#10;Description automatically generated">
            <a:extLst>
              <a:ext uri="{FF2B5EF4-FFF2-40B4-BE49-F238E27FC236}">
                <a16:creationId xmlns:a16="http://schemas.microsoft.com/office/drawing/2014/main" id="{AF63D3F9-5F0A-002F-494A-72F8D72AFE8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73" name="Content Placeholder 43" descr="A graph of coffee and sugar&#10;&#10;Description automatically generated">
            <a:extLst>
              <a:ext uri="{FF2B5EF4-FFF2-40B4-BE49-F238E27FC236}">
                <a16:creationId xmlns:a16="http://schemas.microsoft.com/office/drawing/2014/main" id="{E2709E28-3EBC-B805-F936-8774111A01A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74" name="Content Placeholder 50" descr="A graph of coffee and sugar&#10;&#10;Description automatically generated">
            <a:extLst>
              <a:ext uri="{FF2B5EF4-FFF2-40B4-BE49-F238E27FC236}">
                <a16:creationId xmlns:a16="http://schemas.microsoft.com/office/drawing/2014/main" id="{21D72DAC-E1B8-4956-88C6-2581D37E7F6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4041" y="1842294"/>
            <a:ext cx="3886200" cy="431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81032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7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3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F1452E-A440-07B9-6643-BC26AA8D54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Leontief Utility Function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122F89-A4D8-8DC8-1C70-745522C66E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E6C32E-502F-B20D-E2DF-DEA2BD6CAC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ACC770D-91F3-DC5E-4FBF-D3CD6A22EB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32</a:t>
            </a:fld>
            <a:endParaRPr lang="en-US" dirty="0"/>
          </a:p>
        </p:txBody>
      </p:sp>
      <p:sp>
        <p:nvSpPr>
          <p:cNvPr id="37" name="Content Placeholder 36">
            <a:extLst>
              <a:ext uri="{FF2B5EF4-FFF2-40B4-BE49-F238E27FC236}">
                <a16:creationId xmlns:a16="http://schemas.microsoft.com/office/drawing/2014/main" id="{9BADB57C-48EB-69B2-7791-16D5FB19C6B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4092156" cy="4351338"/>
          </a:xfrm>
        </p:spPr>
        <p:txBody>
          <a:bodyPr>
            <a:normAutofit/>
          </a:bodyPr>
          <a:lstStyle/>
          <a:p>
            <a:r>
              <a:rPr lang="en-US" dirty="0"/>
              <a:t>What about the indifference curve representing utility level 1?</a:t>
            </a:r>
          </a:p>
          <a:p>
            <a:endParaRPr lang="en-US" sz="500" dirty="0"/>
          </a:p>
          <a:p>
            <a:r>
              <a:rPr lang="en-US" dirty="0"/>
              <a:t>Similarly, find all bundles that will result in one perfect cup of coffee.</a:t>
            </a:r>
          </a:p>
          <a:p>
            <a:endParaRPr lang="en-US" sz="500" dirty="0"/>
          </a:p>
          <a:p>
            <a:r>
              <a:rPr lang="en-US" dirty="0"/>
              <a:t>The indifference curve representing a lower level of utility lies “below” our original curve.</a:t>
            </a:r>
          </a:p>
        </p:txBody>
      </p:sp>
      <p:pic>
        <p:nvPicPr>
          <p:cNvPr id="9" name="Content Placeholder 8" descr="A graph of coffee and sugar&#10;&#10;Description automatically generated">
            <a:extLst>
              <a:ext uri="{FF2B5EF4-FFF2-40B4-BE49-F238E27FC236}">
                <a16:creationId xmlns:a16="http://schemas.microsoft.com/office/drawing/2014/main" id="{2E4B208D-5098-E6E7-33C9-B8B6ADAE9673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  <p:pic>
        <p:nvPicPr>
          <p:cNvPr id="10" name="Content Placeholder 9" descr="A graph of coffee and sugar&#10;&#10;Description automatically generated">
            <a:extLst>
              <a:ext uri="{FF2B5EF4-FFF2-40B4-BE49-F238E27FC236}">
                <a16:creationId xmlns:a16="http://schemas.microsoft.com/office/drawing/2014/main" id="{0B99F6C0-2CC9-B4F0-6704-7E88F6DEC7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44942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6F3CFD-6E00-0CF9-5B64-75F7D45EC8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ctr"/>
          <a:lstStyle/>
          <a:p>
            <a:r>
              <a:rPr lang="en-US" dirty="0"/>
              <a:t>The Utility Maximization Problem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BA4226-BCAC-C5CB-745D-83A0746BB6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83D51E-258F-C616-113E-CCF96D27E8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53D30B-A7E7-AB85-A2EC-774D411479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721234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8E9910-6052-E7EA-2FE0-14EB792D7D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UMP Basics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3601EEA-8B62-E557-B794-B96AFEF435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C44A98-5FC8-F311-C9F3-BDF960275C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D85CB9A-8F9C-DA16-3A9D-BDCB14E31B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34</a:t>
            </a:fld>
            <a:endParaRPr lang="en-US" dirty="0"/>
          </a:p>
        </p:txBody>
      </p:sp>
      <p:pic>
        <p:nvPicPr>
          <p:cNvPr id="19" name="Content Placeholder 18" descr="A graph of a function&#10;&#10;Description automatically generated">
            <a:extLst>
              <a:ext uri="{FF2B5EF4-FFF2-40B4-BE49-F238E27FC236}">
                <a16:creationId xmlns:a16="http://schemas.microsoft.com/office/drawing/2014/main" id="{1998B602-C5BE-B8FF-FECE-24F04B7890B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  <p:pic>
        <p:nvPicPr>
          <p:cNvPr id="25" name="Content Placeholder 20" descr="A graph of a function&#10;&#10;Description automatically generated">
            <a:extLst>
              <a:ext uri="{FF2B5EF4-FFF2-40B4-BE49-F238E27FC236}">
                <a16:creationId xmlns:a16="http://schemas.microsoft.com/office/drawing/2014/main" id="{90B319F1-BEC1-33E1-5911-686488CAB7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1" name="Content Placeholder 30">
                <a:extLst>
                  <a:ext uri="{FF2B5EF4-FFF2-40B4-BE49-F238E27FC236}">
                    <a16:creationId xmlns:a16="http://schemas.microsoft.com/office/drawing/2014/main" id="{9C10D1CD-E318-6F9E-8403-C0A5B3E0BDD5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4629150" y="1825625"/>
                <a:ext cx="3886200" cy="4351338"/>
              </a:xfrm>
            </p:spPr>
            <p:txBody>
              <a:bodyPr/>
              <a:lstStyle/>
              <a:p>
                <a:r>
                  <a:rPr lang="en-US" dirty="0"/>
                  <a:t>One of the most important conditions in the UMP will be “equalizing the slopes.”</a:t>
                </a:r>
              </a:p>
              <a:p>
                <a:pPr lvl="3"/>
                <a:endParaRPr lang="en-US" sz="1000" dirty="0"/>
              </a:p>
              <a:p>
                <a:r>
                  <a:rPr lang="en-US" dirty="0"/>
                  <a:t>Examine why we want the slopes to be equalized. </a:t>
                </a:r>
              </a:p>
              <a:p>
                <a:pPr lvl="3"/>
                <a:endParaRPr lang="en-US" sz="1000" dirty="0"/>
              </a:p>
              <a:p>
                <a:r>
                  <a:rPr lang="en-US" dirty="0"/>
                  <a:t>Consider the point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and where the indifference curve intersects the budget line.</a:t>
                </a:r>
              </a:p>
            </p:txBody>
          </p:sp>
        </mc:Choice>
        <mc:Fallback xmlns="">
          <p:sp>
            <p:nvSpPr>
              <p:cNvPr id="31" name="Content Placeholder 30">
                <a:extLst>
                  <a:ext uri="{FF2B5EF4-FFF2-40B4-BE49-F238E27FC236}">
                    <a16:creationId xmlns:a16="http://schemas.microsoft.com/office/drawing/2014/main" id="{9C10D1CD-E318-6F9E-8403-C0A5B3E0BDD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4629150" y="1825625"/>
                <a:ext cx="3886200" cy="4351338"/>
              </a:xfrm>
              <a:blipFill>
                <a:blip r:embed="rId4"/>
                <a:stretch>
                  <a:fillRect l="-2038" t="-1821" r="-23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3" name="Content Placeholder 8">
            <a:extLst>
              <a:ext uri="{FF2B5EF4-FFF2-40B4-BE49-F238E27FC236}">
                <a16:creationId xmlns:a16="http://schemas.microsoft.com/office/drawing/2014/main" id="{BA489B6C-FF87-9613-0AAB-E13B9CA2EDE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78338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A4034-8961-0DAE-D64F-704B10620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UMP: The Marginal Rate of Substitution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4C4547-ABA5-D4D1-A926-8418293006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B6DE2A-A7A7-FAD2-20C9-2B8B82C9A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288777-2CBD-1763-05FA-718A49D98D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35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Content Placeholder 12">
                <a:extLst>
                  <a:ext uri="{FF2B5EF4-FFF2-40B4-BE49-F238E27FC236}">
                    <a16:creationId xmlns:a16="http://schemas.microsoft.com/office/drawing/2014/main" id="{6CEC1235-7D5D-5E8F-8049-95DAA6C49905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/>
              <a:lstStyle/>
              <a:p>
                <a:r>
                  <a:rPr lang="en-US" dirty="0"/>
                  <a:t>Examining the slope of the indifference curve, we can measure </a:t>
                </a:r>
                <a:r>
                  <a:rPr lang="en-US" b="1" u="sng" dirty="0"/>
                  <a:t>“how many units of good </a:t>
                </a:r>
                <a14:m>
                  <m:oMath xmlns:m="http://schemas.openxmlformats.org/officeDocument/2006/math">
                    <m:r>
                      <a:rPr lang="en-US" b="1" i="1" u="sng" dirty="0" smtClean="0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n-US" b="1" u="sng" dirty="0"/>
                  <a:t> is the consumer willing to part with if they get one more of good </a:t>
                </a:r>
                <a14:m>
                  <m:oMath xmlns:m="http://schemas.openxmlformats.org/officeDocument/2006/math">
                    <m:r>
                      <a:rPr lang="en-US" b="1" i="1" u="sng" dirty="0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b="1" u="sng" dirty="0"/>
                  <a:t>?”</a:t>
                </a:r>
              </a:p>
              <a:p>
                <a:pPr lvl="3"/>
                <a:endParaRPr lang="en-US" b="1" u="sng" dirty="0"/>
              </a:p>
              <a:p>
                <a:r>
                  <a:rPr lang="en-US" dirty="0"/>
                  <a:t>We can see that the consumer is willing to part with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𝑀𝑅𝑆</m:t>
                    </m:r>
                  </m:oMath>
                </a14:m>
                <a:r>
                  <a:rPr lang="en-US" dirty="0"/>
                  <a:t> units of good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for one good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13" name="Content Placeholder 12">
                <a:extLst>
                  <a:ext uri="{FF2B5EF4-FFF2-40B4-BE49-F238E27FC236}">
                    <a16:creationId xmlns:a16="http://schemas.microsoft.com/office/drawing/2014/main" id="{6CEC1235-7D5D-5E8F-8049-95DAA6C4990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2"/>
                <a:stretch>
                  <a:fillRect l="-2038" t="-1821" r="-18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8" name="Content Placeholder 17" descr="A graph of a graph with a red line and blue line&#10;&#10;Description automatically generated">
            <a:extLst>
              <a:ext uri="{FF2B5EF4-FFF2-40B4-BE49-F238E27FC236}">
                <a16:creationId xmlns:a16="http://schemas.microsoft.com/office/drawing/2014/main" id="{46DEC1D0-C1B4-34E8-DF8A-2E82685898CE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  <p:pic>
        <p:nvPicPr>
          <p:cNvPr id="19" name="Content Placeholder 8" descr="A graph of a line&#10;&#10;Description automatically generated with medium confidence">
            <a:extLst>
              <a:ext uri="{FF2B5EF4-FFF2-40B4-BE49-F238E27FC236}">
                <a16:creationId xmlns:a16="http://schemas.microsoft.com/office/drawing/2014/main" id="{41A011D8-1004-9831-5CCD-16DF1302E7D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p:pic>
        <p:nvPicPr>
          <p:cNvPr id="20" name="Content Placeholder 10" descr="A diagram of a graph&#10;&#10;Description automatically generated">
            <a:extLst>
              <a:ext uri="{FF2B5EF4-FFF2-40B4-BE49-F238E27FC236}">
                <a16:creationId xmlns:a16="http://schemas.microsoft.com/office/drawing/2014/main" id="{0658B700-C8CC-B653-A276-DAD799BA82E4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34251"/>
            <a:ext cx="3886200" cy="431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3883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5A4034-8961-0DAE-D64F-704B10620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UMP: Relative Prices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4C4547-ABA5-D4D1-A926-8418293006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B6DE2A-A7A7-FAD2-20C9-2B8B82C9A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9288777-2CBD-1763-05FA-718A49D98D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36</a:t>
            </a:fld>
            <a:endParaRPr lang="en-US" dirty="0"/>
          </a:p>
        </p:txBody>
      </p:sp>
      <p:pic>
        <p:nvPicPr>
          <p:cNvPr id="19" name="Content Placeholder 18" descr="A graph of a graph with a red line and blue line&#10;&#10;Description automatically generated">
            <a:extLst>
              <a:ext uri="{FF2B5EF4-FFF2-40B4-BE49-F238E27FC236}">
                <a16:creationId xmlns:a16="http://schemas.microsoft.com/office/drawing/2014/main" id="{39BA29C6-DC38-660D-9D70-DC589F19800B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</p:spPr>
      </p:pic>
      <p:pic>
        <p:nvPicPr>
          <p:cNvPr id="24" name="Content Placeholder 20" descr="A graph of a line&#10;&#10;Description automatically generated with medium confidence">
            <a:extLst>
              <a:ext uri="{FF2B5EF4-FFF2-40B4-BE49-F238E27FC236}">
                <a16:creationId xmlns:a16="http://schemas.microsoft.com/office/drawing/2014/main" id="{D2E86B3A-9227-D995-E442-D9CC1D6CB9A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42294"/>
            <a:ext cx="3886200" cy="4318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28" name="Content Placeholder 27">
                <a:extLst>
                  <a:ext uri="{FF2B5EF4-FFF2-40B4-BE49-F238E27FC236}">
                    <a16:creationId xmlns:a16="http://schemas.microsoft.com/office/drawing/2014/main" id="{86FC3BBE-2D73-1D02-3B2E-AD71F5719DB0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/>
            <p:txBody>
              <a:bodyPr/>
              <a:lstStyle/>
              <a:p>
                <a:r>
                  <a:rPr lang="en-US" dirty="0"/>
                  <a:t>The slope of the budget line tells us </a:t>
                </a:r>
                <a:r>
                  <a:rPr lang="en-US" b="1" u="sng" dirty="0"/>
                  <a:t>“how many units of good </a:t>
                </a:r>
                <a14:m>
                  <m:oMath xmlns:m="http://schemas.openxmlformats.org/officeDocument/2006/math">
                    <m:r>
                      <a:rPr lang="en-US" b="1" i="1" u="sng" dirty="0" smtClean="0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n-US" b="1" u="sng" dirty="0"/>
                  <a:t> that the consumer has to give up to purchase one more unit of good </a:t>
                </a:r>
                <a14:m>
                  <m:oMath xmlns:m="http://schemas.openxmlformats.org/officeDocument/2006/math">
                    <m:r>
                      <a:rPr lang="en-US" b="1" i="1" u="sng" dirty="0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b="1" u="sng" dirty="0"/>
                  <a:t>.”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 consumer has to part with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/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US" dirty="0"/>
                  <a:t> units of good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to get one more unit of good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28" name="Content Placeholder 27">
                <a:extLst>
                  <a:ext uri="{FF2B5EF4-FFF2-40B4-BE49-F238E27FC236}">
                    <a16:creationId xmlns:a16="http://schemas.microsoft.com/office/drawing/2014/main" id="{86FC3BBE-2D73-1D02-3B2E-AD71F5719DB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blipFill>
                <a:blip r:embed="rId4"/>
                <a:stretch>
                  <a:fillRect l="-2038" t="-1821" r="-40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9" name="Content Placeholder 25" descr="A graph of a function&#10;&#10;Description automatically generated with medium confidence">
            <a:extLst>
              <a:ext uri="{FF2B5EF4-FFF2-40B4-BE49-F238E27FC236}">
                <a16:creationId xmlns:a16="http://schemas.microsoft.com/office/drawing/2014/main" id="{F454EDD7-FA09-DF72-23A7-CE06C1BFED1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8650" y="1834251"/>
            <a:ext cx="3886200" cy="431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38929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2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CAF58100-69EC-FD98-B358-A7BC5BFFEEE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UMP: When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𝑴𝑹</m:t>
                    </m:r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𝑺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𝒙𝒚</m:t>
                        </m:r>
                      </m:sub>
                    </m:sSub>
                    <m:r>
                      <a:rPr lang="en-US" b="1" i="1" smtClean="0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𝑷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</m:sub>
                    </m:sSub>
                    <m:r>
                      <a:rPr lang="en-US" b="1" i="1" smtClean="0">
                        <a:latin typeface="Cambria Math" panose="02040503050406030204" pitchFamily="18" charset="0"/>
                      </a:rPr>
                      <m:t>/</m:t>
                    </m:r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𝑷</m:t>
                        </m:r>
                      </m:e>
                      <m:sub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𝒚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CAF58100-69EC-FD98-B358-A7BC5BFFEEE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7BFC50-FC63-7AA8-7FEA-A9491A5E0B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anchor="ctr"/>
          <a:lstStyle/>
          <a:p>
            <a:pPr algn="ctr"/>
            <a:r>
              <a:rPr lang="en-US" dirty="0"/>
              <a:t>Marginal Rate of Substitution</a:t>
            </a:r>
          </a:p>
        </p:txBody>
      </p:sp>
      <p:pic>
        <p:nvPicPr>
          <p:cNvPr id="11" name="Content Placeholder 10" descr="A diagram of a graph&#10;&#10;Description automatically generated">
            <a:extLst>
              <a:ext uri="{FF2B5EF4-FFF2-40B4-BE49-F238E27FC236}">
                <a16:creationId xmlns:a16="http://schemas.microsoft.com/office/drawing/2014/main" id="{A88FFACF-ADBF-CA4F-1836-A8FEEDFFC6C9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6542" y="2505075"/>
            <a:ext cx="3316129" cy="3684588"/>
          </a:xfrm>
        </p:spPr>
      </p:pic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E1091E1-10FE-A3E4-3313-AF197CDFF19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 anchor="ctr"/>
          <a:lstStyle/>
          <a:p>
            <a:pPr algn="ctr"/>
            <a:r>
              <a:rPr lang="en-US" dirty="0"/>
              <a:t>Relative Prices</a:t>
            </a:r>
          </a:p>
        </p:txBody>
      </p:sp>
      <p:pic>
        <p:nvPicPr>
          <p:cNvPr id="13" name="Content Placeholder 12" descr="A graph of a function&#10;&#10;Description automatically generated with medium confidence">
            <a:extLst>
              <a:ext uri="{FF2B5EF4-FFF2-40B4-BE49-F238E27FC236}">
                <a16:creationId xmlns:a16="http://schemas.microsoft.com/office/drawing/2014/main" id="{3ABF8FDC-40DA-3672-2840-BAB595990F1C}"/>
              </a:ext>
            </a:extLst>
          </p:cNvPr>
          <p:cNvPicPr>
            <a:picLocks noGrp="1" noChangeAspect="1"/>
          </p:cNvPicPr>
          <p:nvPr>
            <p:ph sz="quarter" idx="4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4979" y="2505075"/>
            <a:ext cx="3316129" cy="3684588"/>
          </a:xfrm>
        </p:spPr>
      </p:pic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D523A93-081A-1D17-9116-219A03DDF3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F6460CA-6B31-7022-D341-DBCC16D1E7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4037A41-80A5-A2D6-5776-ADF4C3CB2D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143235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0D8E3986-575B-B929-0562-1561C73A78DE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en-US" dirty="0"/>
                  <a:t>UMP: When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𝑴𝑹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𝑺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𝒙𝒚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𝑷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𝒙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/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𝑷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𝒚</m:t>
                        </m:r>
                      </m:sub>
                    </m:sSub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0D8E3986-575B-B929-0562-1561C73A78D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When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𝑀𝑅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𝑥𝑦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/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US" dirty="0"/>
                  <a:t>…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We ask the consumer “we will give you one unit of good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, how many units of good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are you willing to part with?”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If the consumer is willing to give up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𝑀𝑅</m:t>
                    </m:r>
                    <m:sSub>
                      <m:sSub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𝑥𝑦</m:t>
                        </m:r>
                      </m:sub>
                    </m:sSub>
                  </m:oMath>
                </a14:m>
                <a:r>
                  <a:rPr lang="en-US" dirty="0"/>
                  <a:t> units, but the market requires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/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</m:oMath>
                </a14:m>
                <a:r>
                  <a:rPr lang="en-US" dirty="0"/>
                  <a:t> units…</a:t>
                </a:r>
              </a:p>
              <a:p>
                <a:pPr lvl="3"/>
                <a:endParaRPr lang="en-US" dirty="0"/>
              </a:p>
              <a:p>
                <a:r>
                  <a:rPr lang="en-US" dirty="0"/>
                  <a:t>Then the consumer should take that deal, move to a bundle with more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dirty="0"/>
                  <a:t>, and less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dirty="0"/>
                  <a:t> to achieve a higher level of utility.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3"/>
                <a:stretch>
                  <a:fillRect l="-1005" t="-1821" r="-20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/>
              <a:t>Fall 2023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DEPARTMENT OF BUSINESS &amp; ECONOMICS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7819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Utility Maximization Problem (UMP)</a:t>
            </a:r>
            <a:br>
              <a:rPr lang="en-US" dirty="0"/>
            </a:br>
            <a:r>
              <a:rPr lang="en-US" dirty="0"/>
              <a:t>with Standard Utility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When the utility function is given 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sup>
                    </m:sSup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p>
                    </m:sSup>
                  </m:oMath>
                </a14:m>
                <a:endParaRPr lang="en-US" dirty="0"/>
              </a:p>
              <a:p>
                <a:pPr marL="457200" indent="-457200">
                  <a:buFont typeface="+mj-lt"/>
                  <a:buAutoNum type="arabicPeriod"/>
                </a:pPr>
                <a:endParaRPr lang="en-US" sz="500" b="1" u="sng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b="1" u="sng" dirty="0"/>
                  <a:t>Find the marginal utility of good </a:t>
                </a:r>
                <a14:m>
                  <m:oMath xmlns:m="http://schemas.openxmlformats.org/officeDocument/2006/math">
                    <m:r>
                      <a:rPr lang="en-US" b="1" i="1" u="sng" dirty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b="1" u="sng" dirty="0"/>
                  <a:t> and good </a:t>
                </a:r>
                <a14:m>
                  <m:oMath xmlns:m="http://schemas.openxmlformats.org/officeDocument/2006/math">
                    <m:r>
                      <a:rPr lang="en-US" b="1" i="1" u="sng" dirty="0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n-US" b="1" u="sng" dirty="0"/>
                  <a:t>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</m:num>
                      <m:den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  and  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𝑀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>
                  <a:buFont typeface="+mj-lt"/>
                  <a:buAutoNum type="arabicPeriod"/>
                </a:pPr>
                <a:endParaRPr lang="en-US" sz="50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b="1" u="sng" dirty="0"/>
                  <a:t>Find the optimal </a:t>
                </a:r>
                <a14:m>
                  <m:oMath xmlns:m="http://schemas.openxmlformats.org/officeDocument/2006/math">
                    <m:r>
                      <a:rPr lang="en-US" b="1" i="1" u="sng" dirty="0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US" b="1" i="1" u="sng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1" i="1" u="sng" dirty="0" smtClean="0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n-US" b="1" u="sng" dirty="0"/>
                  <a:t> ratio:</a:t>
                </a:r>
              </a:p>
              <a:p>
                <a:pPr lvl="1"/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den>
                    </m:f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b="0" dirty="0"/>
                  <a:t>    or  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𝑀𝑈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den>
                    </m:f>
                    <m:r>
                      <a:rPr lang="en-US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den>
                    </m:f>
                  </m:oMath>
                </a14:m>
                <a:endParaRPr lang="en-US" b="0" dirty="0"/>
              </a:p>
              <a:p>
                <a:pPr>
                  <a:buFont typeface="+mj-lt"/>
                  <a:buAutoNum type="arabicPeriod"/>
                </a:pPr>
                <a:endParaRPr lang="en-US" sz="50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b="1" u="sng" dirty="0"/>
                  <a:t>Plug the optimal mix into the budget line to find the optimal bundle: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2" t="-168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39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7296637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Utility Maximization Problem (UMP)</a:t>
            </a:r>
            <a:br>
              <a:rPr lang="en-US" dirty="0"/>
            </a:br>
            <a:r>
              <a:rPr lang="en-US" dirty="0"/>
              <a:t>with Linear Utility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When the utility function is given 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𝑏𝑦</m:t>
                    </m:r>
                  </m:oMath>
                </a14:m>
                <a:endParaRPr lang="en-US" dirty="0"/>
              </a:p>
              <a:p>
                <a:pPr marL="457200" indent="-457200">
                  <a:buFont typeface="+mj-lt"/>
                  <a:buAutoNum type="arabicPeriod"/>
                </a:pPr>
                <a:endParaRPr lang="en-US" sz="500" b="1" u="sng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b="1" u="sng" dirty="0"/>
                  <a:t>Find the marginal utility of good </a:t>
                </a:r>
                <a14:m>
                  <m:oMath xmlns:m="http://schemas.openxmlformats.org/officeDocument/2006/math">
                    <m:r>
                      <a:rPr lang="en-US" b="1" i="1" u="sng" dirty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b="1" u="sng" dirty="0"/>
                  <a:t> and good </a:t>
                </a:r>
                <a14:m>
                  <m:oMath xmlns:m="http://schemas.openxmlformats.org/officeDocument/2006/math">
                    <m:r>
                      <a:rPr lang="en-US" b="1" i="1" u="sng" dirty="0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n-US" b="1" u="sng" dirty="0"/>
                  <a:t>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</m:num>
                      <m:den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  and  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𝑀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</m:num>
                      <m:den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𝜕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𝑦</m:t>
                        </m:r>
                      </m:den>
                    </m:f>
                    <m:r>
                      <a:rPr lang="en-US" i="1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endParaRPr lang="en-US" dirty="0"/>
              </a:p>
              <a:p>
                <a:pPr>
                  <a:buFont typeface="+mj-lt"/>
                  <a:buAutoNum type="arabicPeriod"/>
                </a:pPr>
                <a:endParaRPr lang="en-US" sz="50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b="1" u="sng" dirty="0"/>
                  <a:t>Compare the per-dollar marginal utilities:</a:t>
                </a:r>
              </a:p>
              <a:p>
                <a:pPr lvl="1"/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den>
                    </m:f>
                    <m:r>
                      <a:rPr lang="en-US" b="0" i="0" smtClean="0">
                        <a:latin typeface="Cambria Math" panose="02040503050406030204" pitchFamily="18" charset="0"/>
                      </a:rPr>
                      <m:t>&gt;</m:t>
                    </m:r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b="0" dirty="0"/>
                  <a:t>: Spend entire budget on good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b="0" dirty="0"/>
                  <a:t>.</a:t>
                </a:r>
              </a:p>
              <a:p>
                <a:pPr lvl="1"/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den>
                    </m:f>
                    <m:r>
                      <a:rPr lang="en-US" b="0" i="0" smtClean="0">
                        <a:latin typeface="Cambria Math" panose="02040503050406030204" pitchFamily="18" charset="0"/>
                      </a:rPr>
                      <m:t>&lt;</m:t>
                    </m:r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b="0" dirty="0"/>
                  <a:t>: Spend entire budget on good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b="0" dirty="0"/>
                  <a:t>.</a:t>
                </a:r>
              </a:p>
              <a:p>
                <a:pPr lvl="1"/>
                <a14:m>
                  <m:oMath xmlns:m="http://schemas.openxmlformats.org/officeDocument/2006/math"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sub>
                        </m:sSub>
                      </m:den>
                    </m:f>
                    <m:r>
                      <a:rPr lang="en-US" b="0" i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latin typeface="Cambria Math" panose="02040503050406030204" pitchFamily="18" charset="0"/>
                          </a:rPr>
                          <m:t>𝑀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𝑃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sub>
                        </m:sSub>
                      </m:den>
                    </m:f>
                  </m:oMath>
                </a14:m>
                <a:r>
                  <a:rPr lang="en-US" b="0" dirty="0"/>
                  <a:t>: Spend entire budget on any mix of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b="0" dirty="0"/>
                  <a:t> and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US" b="0" dirty="0"/>
                  <a:t>.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2" t="-182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40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0885331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8E3986-575B-B929-0562-1561C73A78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Utility Maximization Problem (UMP)</a:t>
            </a:r>
            <a:br>
              <a:rPr lang="en-US" dirty="0"/>
            </a:br>
            <a:r>
              <a:rPr lang="en-US" dirty="0"/>
              <a:t>with Leontief Utility Functions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dirty="0"/>
                  <a:t>When the utility function is given as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min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dirty="0"/>
              </a:p>
              <a:p>
                <a:pPr marL="457200" indent="-457200">
                  <a:buFont typeface="+mj-lt"/>
                  <a:buAutoNum type="arabicPeriod"/>
                </a:pPr>
                <a:endParaRPr lang="en-US" sz="500" b="1" u="sng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b="1" u="sng" dirty="0"/>
                  <a:t>Find the optimal mix of </a:t>
                </a:r>
                <a14:m>
                  <m:oMath xmlns:m="http://schemas.openxmlformats.org/officeDocument/2006/math">
                    <m:r>
                      <a:rPr lang="en-US" b="1" i="1" u="sng" dirty="0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en-US" b="1" u="sng" dirty="0"/>
                  <a:t> and </a:t>
                </a:r>
                <a14:m>
                  <m:oMath xmlns:m="http://schemas.openxmlformats.org/officeDocument/2006/math">
                    <m:r>
                      <a:rPr lang="en-US" b="1" i="1" u="sng" dirty="0" smtClean="0">
                        <a:latin typeface="Cambria Math" panose="02040503050406030204" pitchFamily="18" charset="0"/>
                      </a:rPr>
                      <m:t>𝒚</m:t>
                    </m:r>
                  </m:oMath>
                </a14:m>
                <a:r>
                  <a:rPr lang="en-US" b="1" u="sng" dirty="0"/>
                  <a:t>:</a:t>
                </a:r>
              </a:p>
              <a:p>
                <a:pPr lvl="1"/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𝑏𝑦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   ⇒    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𝑦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num>
                      <m:den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𝑏</m:t>
                        </m:r>
                      </m:den>
                    </m:f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500" dirty="0"/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b="1" u="sng" dirty="0"/>
                  <a:t>Plug the optimal mix into the budget line to find the optimal bundle:</a:t>
                </a:r>
              </a:p>
              <a:p>
                <a:pPr lvl="1"/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𝑥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𝑃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𝑦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𝑀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A717BAA-D4BA-C7EB-5696-203603829C7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82" t="-1821" r="-38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9CFCAE-B4E3-649B-FDB7-488E4E512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en-US" dirty="0"/>
              <a:t>Fall 2023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AC4525-C5C8-8596-B2EA-0E2C534430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DEPARTMENT OF BUSINESS &amp; ECONOMICS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261E69-6082-7B91-F48A-C4702A4B50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980C56-831A-4EAB-9EDE-57C090F4F877}" type="slidenum">
              <a:rPr lang="en-US" smtClean="0"/>
              <a:t>41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0266945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2" id="{CF630E01-D107-42E5-8DFC-48302BB3DFE2}" vid="{4BEE81CA-F64C-419F-A97B-23D16F4EA3D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mc-presentation-template</Template>
  <TotalTime>7262</TotalTime>
  <Words>2536</Words>
  <Application>Microsoft Office PowerPoint</Application>
  <PresentationFormat>On-screen Show (4:3)</PresentationFormat>
  <Paragraphs>448</Paragraphs>
  <Slides>41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6" baseType="lpstr">
      <vt:lpstr>Arial</vt:lpstr>
      <vt:lpstr>Calibri</vt:lpstr>
      <vt:lpstr>Cambria Math</vt:lpstr>
      <vt:lpstr>Franklin Gothic Book</vt:lpstr>
      <vt:lpstr>Office Theme</vt:lpstr>
      <vt:lpstr>Consumer Theory:  Review Session</vt:lpstr>
      <vt:lpstr>Topics</vt:lpstr>
      <vt:lpstr>The Budget Constraint</vt:lpstr>
      <vt:lpstr>The Budget Constraint Basics</vt:lpstr>
      <vt:lpstr>The Slope of the Budget Line</vt:lpstr>
      <vt:lpstr>The Budget Constraint: An Example</vt:lpstr>
      <vt:lpstr>The Budget Constraint: An Example</vt:lpstr>
      <vt:lpstr>The Budget Constraint: An Example</vt:lpstr>
      <vt:lpstr>The Budget Constraint: An Example</vt:lpstr>
      <vt:lpstr>Preferences, Utility, and Utility Functions</vt:lpstr>
      <vt:lpstr>Preference Relations Basics</vt:lpstr>
      <vt:lpstr>Axioms of Preference Relations</vt:lpstr>
      <vt:lpstr>Utility Basics</vt:lpstr>
      <vt:lpstr>Utility Function Basics</vt:lpstr>
      <vt:lpstr>Families of Utility Functions</vt:lpstr>
      <vt:lpstr>Marginal Utility in a Discrete World</vt:lpstr>
      <vt:lpstr>Marginal Utility in a Continuous World</vt:lpstr>
      <vt:lpstr>Marginal Utility in a Continuous World</vt:lpstr>
      <vt:lpstr>Marginal Utility (MU)</vt:lpstr>
      <vt:lpstr>Indifference Curves</vt:lpstr>
      <vt:lpstr>Indifference Curve Basics</vt:lpstr>
      <vt:lpstr>The Indifference Curve: An Example</vt:lpstr>
      <vt:lpstr>The Indifference Curve: An Example</vt:lpstr>
      <vt:lpstr>The Indifference Curve: An Example</vt:lpstr>
      <vt:lpstr>The Indifference Curve: An Example</vt:lpstr>
      <vt:lpstr>The Indifference Curve: An Example</vt:lpstr>
      <vt:lpstr>Marginal Rate of Substitution (MRS)</vt:lpstr>
      <vt:lpstr>The Law of Diminishing MRS</vt:lpstr>
      <vt:lpstr>Leontief Utility Functions</vt:lpstr>
      <vt:lpstr>The Leontief Utility Function</vt:lpstr>
      <vt:lpstr>The Leontief Utility Function</vt:lpstr>
      <vt:lpstr>The Leontief Utility Function</vt:lpstr>
      <vt:lpstr>The Utility Maximization Problem</vt:lpstr>
      <vt:lpstr>UMP Basics</vt:lpstr>
      <vt:lpstr>UMP: The Marginal Rate of Substitution</vt:lpstr>
      <vt:lpstr>UMP: Relative Prices</vt:lpstr>
      <vt:lpstr>UMP: When MRS_xy&gt;P_x/P_y</vt:lpstr>
      <vt:lpstr>UMP: When MRS_xy&gt;P_x/P_y</vt:lpstr>
      <vt:lpstr>Utility Maximization Problem (UMP) with Standard Utility Functions</vt:lpstr>
      <vt:lpstr>Utility Maximization Problem (UMP) with Linear Utility Functions</vt:lpstr>
      <vt:lpstr>Utility Maximization Problem (UMP) with Leontief Utility Functions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Intermediate Price Theory</dc:title>
  <dc:creator>Brian Park</dc:creator>
  <cp:lastModifiedBy>Park, Brian</cp:lastModifiedBy>
  <cp:revision>98</cp:revision>
  <dcterms:created xsi:type="dcterms:W3CDTF">2023-08-17T23:00:51Z</dcterms:created>
  <dcterms:modified xsi:type="dcterms:W3CDTF">2023-09-27T19:30:23Z</dcterms:modified>
</cp:coreProperties>
</file>