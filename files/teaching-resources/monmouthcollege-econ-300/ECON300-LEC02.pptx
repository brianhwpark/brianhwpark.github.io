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47"/>
  </p:notesMasterIdLst>
  <p:sldIdLst>
    <p:sldId id="256" r:id="rId2"/>
    <p:sldId id="262" r:id="rId3"/>
    <p:sldId id="263" r:id="rId4"/>
    <p:sldId id="264" r:id="rId5"/>
    <p:sldId id="258" r:id="rId6"/>
    <p:sldId id="268" r:id="rId7"/>
    <p:sldId id="271" r:id="rId8"/>
    <p:sldId id="276" r:id="rId9"/>
    <p:sldId id="278" r:id="rId10"/>
    <p:sldId id="272" r:id="rId11"/>
    <p:sldId id="279" r:id="rId12"/>
    <p:sldId id="281" r:id="rId13"/>
    <p:sldId id="273" r:id="rId14"/>
    <p:sldId id="300" r:id="rId15"/>
    <p:sldId id="302" r:id="rId16"/>
    <p:sldId id="274" r:id="rId17"/>
    <p:sldId id="275" r:id="rId18"/>
    <p:sldId id="285" r:id="rId19"/>
    <p:sldId id="259" r:id="rId20"/>
    <p:sldId id="265" r:id="rId21"/>
    <p:sldId id="267" r:id="rId22"/>
    <p:sldId id="266" r:id="rId23"/>
    <p:sldId id="286" r:id="rId24"/>
    <p:sldId id="289" r:id="rId25"/>
    <p:sldId id="290" r:id="rId26"/>
    <p:sldId id="296" r:id="rId27"/>
    <p:sldId id="291" r:id="rId28"/>
    <p:sldId id="292" r:id="rId29"/>
    <p:sldId id="293" r:id="rId30"/>
    <p:sldId id="294" r:id="rId31"/>
    <p:sldId id="295" r:id="rId32"/>
    <p:sldId id="298" r:id="rId33"/>
    <p:sldId id="299" r:id="rId34"/>
    <p:sldId id="303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5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The unit price of coffee is $2.The unit price of a sandwich is $3. You have $12 in your budget. Can you afford 1 sandwich and 1 cup of coffee?
https://www.polleverywhere.com/multiple_choice_polls/sacWZhX4Y7YnGjJQarN2D?display_state=instructions&amp;activity_state=opened&amp;state=opened&amp;flow=Engagement&amp;onscreen=persist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B9C0A6-7F9C-DC40-BFCD-2C029B2DA4F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875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The unit price of coffee is $2.The unit price of a sandwich is $3. You have $12 in your budget. Can you afford 1 sandwich and 1 cup of coffee?
https://www.polleverywhere.com/multiple_choice_polls/sacWZhX4Y7YnGjJQarN2D?display_state=chart&amp;activity_state=closed&amp;state=closed&amp;flow=Engagement&amp;onscreen=persist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EAB49B-93EF-FB41-6C63-754B16B3231B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83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The unit price of coffee is $2.The unit price of a sandwich is $3. You have $12 in your budget. Can you afford 3 sandwiches and 4 cups of coffee?
https://www.polleverywhere.com/multiple_choice_polls/9gb2VtVZvCm8wSP4lIl2t?display_state=instructions&amp;activity_state=opened&amp;state=opened&amp;flow=Engagement&amp;onscreen=persist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914086-1D00-E31F-8A70-0407587A612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851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The unit price of coffee is $2.The unit price of a sandwich is $3. You have $12 in your budget. Can you afford 3 sandwiches and 4 cups of coffee?
https://www.polleverywhere.com/multiple_choice_polls/9gb2VtVZvCm8wSP4lIl2t?display_state=chart&amp;activity_state=closed&amp;state=closed&amp;flow=Engagement&amp;onscreen=persist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BF15FF-53CD-D598-FC44-B96BDE136AE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33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The unit price of coffee is $2.The unit price of a sandwich is $3. You have $12 in your budget. Can you afford 2 sandwiches and 3 cups of coffee?
https://www.polleverywhere.com/multiple_choice_polls/I6dKwYblIOneluKfefzbs?display_state=instructions&amp;activity_state=opened&amp;state=opened&amp;flow=Engagement&amp;onscreen=persist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6E602A-6816-1CA6-9EC2-3BEC05F752F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66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The unit price of coffee is $2.The unit price of a sandwich is $3. You have $12 in your budget. Can you afford 2 sandwiches and 3 cups of coffee?
https://www.polleverywhere.com/multiple_choice_polls/I6dKwYblIOneluKfefzbs?display_state=chart&amp;activity_state=closed&amp;state=closed&amp;flow=Engagement&amp;onscreen=persist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7730BB-445C-6E8E-5706-F991B3D8DCA0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0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Consumer Theory: </a:t>
            </a:r>
            <a:br>
              <a:rPr lang="en-US" dirty="0"/>
            </a:br>
            <a:r>
              <a:rPr lang="en-US" dirty="0"/>
              <a:t>The Budget Constraint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Economics is the study of </a:t>
            </a:r>
            <a:r>
              <a:rPr lang="en-US" b="1" dirty="0"/>
              <a:t>choice under scarcity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Confession of a modernist | Motivation">
            <a:extLst>
              <a:ext uri="{FF2B5EF4-FFF2-40B4-BE49-F238E27FC236}">
                <a16:creationId xmlns:a16="http://schemas.microsoft.com/office/drawing/2014/main" id="{E3843CEB-BA76-202F-A8B7-7344C9D22D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73"/>
          <a:stretch/>
        </p:blipFill>
        <p:spPr bwMode="auto">
          <a:xfrm>
            <a:off x="992038" y="2644442"/>
            <a:ext cx="7159924" cy="271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4943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Scarcity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Scarcity comes in many forms:</a:t>
            </a:r>
          </a:p>
          <a:p>
            <a:pPr lvl="1"/>
            <a:r>
              <a:rPr lang="en-US" dirty="0"/>
              <a:t>Land to farm crops, or</a:t>
            </a:r>
          </a:p>
          <a:p>
            <a:pPr lvl="1"/>
            <a:r>
              <a:rPr lang="en-US" dirty="0"/>
              <a:t>Labor to produce cars, or</a:t>
            </a:r>
          </a:p>
          <a:p>
            <a:pPr lvl="1"/>
            <a:r>
              <a:rPr lang="en-US" dirty="0"/>
              <a:t>Money to purchase a new phone, or</a:t>
            </a:r>
          </a:p>
          <a:p>
            <a:pPr lvl="1"/>
            <a:r>
              <a:rPr lang="en-US" dirty="0"/>
              <a:t>Natural Resources to produce energy, and most of all…</a:t>
            </a:r>
          </a:p>
          <a:p>
            <a:pPr lvl="1"/>
            <a:r>
              <a:rPr lang="en-US" dirty="0"/>
              <a:t>Time is limited.</a:t>
            </a:r>
          </a:p>
          <a:p>
            <a:pPr lvl="3"/>
            <a:endParaRPr lang="en-US" dirty="0"/>
          </a:p>
          <a:p>
            <a:r>
              <a:rPr lang="en-US" dirty="0"/>
              <a:t>Most “problems” will cease to be “problems” if scarcity was eliminated from the picture.</a:t>
            </a:r>
          </a:p>
          <a:p>
            <a:pPr lvl="3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470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Scarcity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Consumers face scarcity:</a:t>
            </a:r>
          </a:p>
          <a:p>
            <a:pPr lvl="1"/>
            <a:r>
              <a:rPr lang="en-US" dirty="0"/>
              <a:t>Should we purchase a new car or fix the one we have?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If we had infinite money, not a problem at all.</a:t>
            </a:r>
          </a:p>
          <a:p>
            <a:pPr lvl="3"/>
            <a:endParaRPr lang="en-US" dirty="0"/>
          </a:p>
          <a:p>
            <a:r>
              <a:rPr lang="en-US" dirty="0"/>
              <a:t>Firms face scarcity:</a:t>
            </a:r>
          </a:p>
          <a:p>
            <a:pPr lvl="1"/>
            <a:r>
              <a:rPr lang="en-US" dirty="0"/>
              <a:t>Should we be hiring more people or buying more machines?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If we had infinite inputs, not a problem at all.</a:t>
            </a:r>
          </a:p>
          <a:p>
            <a:pPr lvl="4"/>
            <a:endParaRPr lang="en-US" dirty="0"/>
          </a:p>
          <a:p>
            <a:r>
              <a:rPr lang="en-US" dirty="0"/>
              <a:t>Governments face scarcity:</a:t>
            </a:r>
          </a:p>
          <a:p>
            <a:pPr lvl="1"/>
            <a:r>
              <a:rPr lang="en-US" dirty="0"/>
              <a:t>Should we update our SOC or invest in the military?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If we had infinite tax revenue, not a problem at all.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74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in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“You can consume all the goods and services you want… </a:t>
            </a:r>
            <a:r>
              <a:rPr lang="en-US" b="1" dirty="0"/>
              <a:t>IF</a:t>
            </a:r>
            <a:r>
              <a:rPr lang="en-US" dirty="0"/>
              <a:t> your bank account can cash the checks.”</a:t>
            </a:r>
          </a:p>
          <a:p>
            <a:pPr lvl="3"/>
            <a:endParaRPr lang="en-US" dirty="0"/>
          </a:p>
          <a:p>
            <a:r>
              <a:rPr lang="en-US" dirty="0"/>
              <a:t>How do we formalize this idea?</a:t>
            </a:r>
          </a:p>
          <a:p>
            <a:pPr lvl="1"/>
            <a:r>
              <a:rPr lang="en-US" dirty="0"/>
              <a:t>How do we express this in a graph?</a:t>
            </a:r>
          </a:p>
          <a:p>
            <a:pPr lvl="1"/>
            <a:r>
              <a:rPr lang="en-US" dirty="0"/>
              <a:t>How do we translate these words into math?</a:t>
            </a:r>
          </a:p>
          <a:p>
            <a:pPr lvl="3"/>
            <a:endParaRPr lang="en-US" dirty="0"/>
          </a:p>
          <a:p>
            <a:r>
              <a:rPr lang="en-US" dirty="0"/>
              <a:t>Start with…</a:t>
            </a:r>
          </a:p>
          <a:p>
            <a:pPr lvl="1"/>
            <a:r>
              <a:rPr lang="en-US" dirty="0"/>
              <a:t>Two goods, and</a:t>
            </a:r>
          </a:p>
          <a:p>
            <a:pPr lvl="1"/>
            <a:r>
              <a:rPr lang="en-US" dirty="0"/>
              <a:t>Prices for each of the goods, and</a:t>
            </a:r>
          </a:p>
          <a:p>
            <a:pPr lvl="1"/>
            <a:r>
              <a:rPr lang="en-US" dirty="0"/>
              <a:t>An amount of money you can spend.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55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Budget Constraint as a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you are in an economy where the only two goods are coffee and sandwiches.</a:t>
            </a:r>
          </a:p>
          <a:p>
            <a:pPr lvl="3"/>
            <a:endParaRPr lang="en-US" dirty="0"/>
          </a:p>
          <a:p>
            <a:r>
              <a:rPr lang="en-US" dirty="0"/>
              <a:t>Each cup of coffee costs $2, and each sandwich costs $3.</a:t>
            </a:r>
          </a:p>
          <a:p>
            <a:pPr lvl="3"/>
            <a:endParaRPr lang="en-US" dirty="0"/>
          </a:p>
          <a:p>
            <a:r>
              <a:rPr lang="en-US" dirty="0"/>
              <a:t>You have $12 as your income.</a:t>
            </a:r>
          </a:p>
          <a:p>
            <a:pPr lvl="3"/>
            <a:endParaRPr lang="en-US" dirty="0"/>
          </a:p>
          <a:p>
            <a:r>
              <a:rPr lang="en-US" dirty="0"/>
              <a:t>How would you draw your budget constraint as a graph?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672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AED2-4218-34CD-717F-09E71CFF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“Commodity Plane”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50FFB-42B5-B29E-A980-1E467F8DAF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We imagine a grid of sandwiches and cups of coffee.</a:t>
            </a:r>
          </a:p>
          <a:p>
            <a:pPr lvl="3"/>
            <a:endParaRPr lang="en-US" dirty="0"/>
          </a:p>
          <a:p>
            <a:r>
              <a:rPr lang="en-US" dirty="0"/>
              <a:t>Each point in this Coffee-Sandwich plane represent a “</a:t>
            </a:r>
            <a:r>
              <a:rPr lang="en-US" b="1" dirty="0"/>
              <a:t>commodity bundle</a:t>
            </a:r>
            <a:r>
              <a:rPr lang="en-US" dirty="0"/>
              <a:t>.”</a:t>
            </a:r>
          </a:p>
          <a:p>
            <a:pPr lvl="3"/>
            <a:endParaRPr lang="en-US" dirty="0"/>
          </a:p>
          <a:p>
            <a:r>
              <a:rPr lang="en-US" dirty="0"/>
              <a:t>The collection of all possible commodity bundles consist the “</a:t>
            </a:r>
            <a:r>
              <a:rPr lang="en-US" b="1" dirty="0"/>
              <a:t>commodity plane</a:t>
            </a:r>
            <a:r>
              <a:rPr lang="en-US" dirty="0"/>
              <a:t>”.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DE47C-E91F-7742-DFE4-D2D0245B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A9372-2964-97AA-6491-CC4E230FE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6D75D-BD52-D314-AC1A-04FF4CC6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/>
          </a:p>
        </p:txBody>
      </p:sp>
      <p:pic>
        <p:nvPicPr>
          <p:cNvPr id="19" name="Content Placeholder 18" descr="A line graph with text&#10;&#10;Description automatically generated with medium confidence">
            <a:extLst>
              <a:ext uri="{FF2B5EF4-FFF2-40B4-BE49-F238E27FC236}">
                <a16:creationId xmlns:a16="http://schemas.microsoft.com/office/drawing/2014/main" id="{9723051F-846A-F5AC-834F-DBB7F786261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092737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FA24E2-B6E5-1B77-F391-BA07F4ACC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B48B44-22B4-70A4-F54C-A18116A7A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B9007-8C77-A7D0-0CB7-24E2A983A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6AF7E9-2FBB-7B40-CC31-386F32FBDF4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41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78C541-289C-C66D-7FB3-4B78DD2EA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5AB58-67A5-8B7E-0B1C-9B0F5FFF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607DD-2499-9355-5C64-2655C51F7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0EA693-746C-BFCE-766F-D9B9EBF2729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551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AED2-4218-34CD-717F-09E71CFF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Affordability (1)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 the bundle</a:t>
                </a:r>
              </a:p>
              <a:p>
                <a:pPr lvl="1"/>
                <a:r>
                  <a:rPr lang="en-US" dirty="0"/>
                  <a:t> 1 cup of coffee, and</a:t>
                </a:r>
              </a:p>
              <a:p>
                <a:pPr lvl="1"/>
                <a:r>
                  <a:rPr lang="en-US" dirty="0"/>
                  <a:t> 1 sandwich.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How much does it cost?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$2×1+$3×1=$5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Can we purchase it?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$5&lt;$12 ⇒</m:t>
                    </m:r>
                  </m:oMath>
                </a14:m>
                <a:r>
                  <a:rPr lang="en-US" dirty="0"/>
                  <a:t> Yes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Any money left?</a:t>
                </a:r>
              </a:p>
              <a:p>
                <a:pPr lvl="1"/>
                <a:r>
                  <a:rPr lang="en-US" dirty="0"/>
                  <a:t>Yes ($7)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DE47C-E91F-7742-DFE4-D2D0245B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A9372-2964-97AA-6491-CC4E230FE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6D75D-BD52-D314-AC1A-04FF4CC6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/>
          </a:p>
        </p:txBody>
      </p:sp>
      <p:pic>
        <p:nvPicPr>
          <p:cNvPr id="18" name="Content Placeholder 17" descr="A graph of a coffee and sandwich&#10;&#10;Description automatically generated">
            <a:extLst>
              <a:ext uri="{FF2B5EF4-FFF2-40B4-BE49-F238E27FC236}">
                <a16:creationId xmlns:a16="http://schemas.microsoft.com/office/drawing/2014/main" id="{34CDA318-2633-0DD7-7C62-97FFE571796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019509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9792AA-5E5F-C6FD-8737-0848B9DDB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4EAF72-03A8-FDD2-960F-6147D6E2B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F4898-83BF-F773-322C-E3727DC63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957F04-F847-CB66-37A2-49F58EAFE360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287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6783A6-137F-DDB0-88F3-8F9A23D14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D61A73-9B31-B254-BA7E-1AF8F2C1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D47BD-25CF-FCD9-9176-813FF38DF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700D53-74FB-74DB-1167-8640E4521262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258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AED2-4218-34CD-717F-09E71CFF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Affordability (2)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 the bundle</a:t>
                </a:r>
              </a:p>
              <a:p>
                <a:pPr lvl="1"/>
                <a:r>
                  <a:rPr lang="en-US" dirty="0"/>
                  <a:t> 4 cups of coffee, and</a:t>
                </a:r>
              </a:p>
              <a:p>
                <a:pPr lvl="1"/>
                <a:r>
                  <a:rPr lang="en-US" dirty="0"/>
                  <a:t> 3 sandwiches.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How much does it cost?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$2×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+$3×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=$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Can we purchase it?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17&gt;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$1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⇒ </m:t>
                    </m:r>
                  </m:oMath>
                </a14:m>
                <a:r>
                  <a:rPr lang="en-US" dirty="0"/>
                  <a:t> No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Any money left? </a:t>
                </a:r>
              </a:p>
              <a:p>
                <a:pPr lvl="1"/>
                <a:r>
                  <a:rPr lang="en-US" dirty="0"/>
                  <a:t>N/A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DE47C-E91F-7742-DFE4-D2D0245B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A9372-2964-97AA-6491-CC4E230FE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6D75D-BD52-D314-AC1A-04FF4CC6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/>
          </a:p>
        </p:txBody>
      </p:sp>
      <p:pic>
        <p:nvPicPr>
          <p:cNvPr id="10" name="Content Placeholder 9" descr="A graph of a coffee and sandwich&#10;&#10;Description automatically generated">
            <a:extLst>
              <a:ext uri="{FF2B5EF4-FFF2-40B4-BE49-F238E27FC236}">
                <a16:creationId xmlns:a16="http://schemas.microsoft.com/office/drawing/2014/main" id="{DA812A56-0FF6-EC4A-143B-AB5D99220AA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27639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62C000-C1AC-27DB-58AA-C541D5AAF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289367-7623-E0A7-1DAB-AE08E412F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CE3C8-E3DA-F788-2E0D-D1419904F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BA0DD7-377B-9B78-7506-5AF1D83088CD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903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F28E04-70EB-BCE0-16C3-DDA346426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2CE22-38E1-1E4F-EF4F-4F1784482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14D75-D7DA-31F6-72D7-F01571EA3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28345B-AF8F-66F2-4550-83EF511BB84D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772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AED2-4218-34CD-717F-09E71CFF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Affordability (3)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 the bundle</a:t>
                </a:r>
              </a:p>
              <a:p>
                <a:pPr lvl="1"/>
                <a:r>
                  <a:rPr lang="en-US" dirty="0"/>
                  <a:t> 3 cups of coffee, and</a:t>
                </a:r>
              </a:p>
              <a:p>
                <a:pPr lvl="1"/>
                <a:r>
                  <a:rPr lang="en-US" dirty="0"/>
                  <a:t> 2 sandwiches.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How much does it cost?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$2×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+$3×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=$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Can we purchase it?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12=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$12 ⇒ </m:t>
                    </m:r>
                  </m:oMath>
                </a14:m>
                <a:r>
                  <a:rPr lang="en-US" dirty="0"/>
                  <a:t> Yes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Any money left?</a:t>
                </a:r>
              </a:p>
              <a:p>
                <a:pPr lvl="1"/>
                <a:r>
                  <a:rPr lang="en-US" dirty="0"/>
                  <a:t>No</a:t>
                </a:r>
              </a:p>
              <a:p>
                <a:pPr lvl="3"/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DE47C-E91F-7742-DFE4-D2D0245B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A9372-2964-97AA-6491-CC4E230FE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6D75D-BD52-D314-AC1A-04FF4CC6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/>
          </a:p>
        </p:txBody>
      </p:sp>
      <p:pic>
        <p:nvPicPr>
          <p:cNvPr id="11" name="Content Placeholder 10" descr="A graph of a coffee and sandwich&#10;&#10;Description automatically generated">
            <a:extLst>
              <a:ext uri="{FF2B5EF4-FFF2-40B4-BE49-F238E27FC236}">
                <a16:creationId xmlns:a16="http://schemas.microsoft.com/office/drawing/2014/main" id="{1781DB5C-7EAC-1BEB-BD12-4745DA6AA4F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48983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AED2-4218-34CD-717F-09E71CFF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“Budget Set”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50FFB-42B5-B29E-A980-1E467F8DAF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Doing this for all possible combinations of coffee and sandwiches…</a:t>
            </a:r>
          </a:p>
          <a:p>
            <a:pPr lvl="3"/>
            <a:endParaRPr lang="en-US" dirty="0"/>
          </a:p>
          <a:p>
            <a:r>
              <a:rPr lang="en-US" dirty="0"/>
              <a:t>The bundles that are affordable make up the “</a:t>
            </a:r>
            <a:r>
              <a:rPr lang="en-US" b="1" dirty="0"/>
              <a:t>budget set</a:t>
            </a:r>
            <a:r>
              <a:rPr lang="en-US" dirty="0"/>
              <a:t>.”</a:t>
            </a:r>
          </a:p>
          <a:p>
            <a:pPr lvl="3"/>
            <a:endParaRPr lang="en-US" dirty="0"/>
          </a:p>
          <a:p>
            <a:r>
              <a:rPr lang="en-US" dirty="0"/>
              <a:t>The bundles that are affordable, </a:t>
            </a:r>
            <a:r>
              <a:rPr lang="en-US" i="1" u="sng" dirty="0"/>
              <a:t>and</a:t>
            </a:r>
            <a:r>
              <a:rPr lang="en-US" dirty="0"/>
              <a:t> leave no money left make up the “</a:t>
            </a:r>
            <a:r>
              <a:rPr lang="en-US" b="1" dirty="0"/>
              <a:t>budget line</a:t>
            </a:r>
            <a:r>
              <a:rPr lang="en-US" dirty="0"/>
              <a:t>.”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DE47C-E91F-7742-DFE4-D2D0245B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A9372-2964-97AA-6491-CC4E230FE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6D75D-BD52-D314-AC1A-04FF4CC6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/>
          </a:p>
        </p:txBody>
      </p:sp>
      <p:pic>
        <p:nvPicPr>
          <p:cNvPr id="11" name="Content Placeholder 10" descr="A diagram of a budget line&#10;&#10;Description automatically generated">
            <a:extLst>
              <a:ext uri="{FF2B5EF4-FFF2-40B4-BE49-F238E27FC236}">
                <a16:creationId xmlns:a16="http://schemas.microsoft.com/office/drawing/2014/main" id="{319D122D-7EDE-7188-13A3-B80F7CA9F0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229060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Budget Constraint with “Math”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will now formalize the concept of the budget constraint using general terms.</a:t>
            </a:r>
          </a:p>
          <a:p>
            <a:pPr lvl="3"/>
            <a:endParaRPr lang="en-US" dirty="0"/>
          </a:p>
          <a:p>
            <a:r>
              <a:rPr lang="en-US" dirty="0"/>
              <a:t>The setting remains identical:</a:t>
            </a:r>
          </a:p>
          <a:p>
            <a:pPr lvl="1"/>
            <a:r>
              <a:rPr lang="en-US" dirty="0"/>
              <a:t>Two goods, and</a:t>
            </a:r>
          </a:p>
          <a:p>
            <a:pPr lvl="1"/>
            <a:r>
              <a:rPr lang="en-US" dirty="0"/>
              <a:t>Prices for each of the goods, and</a:t>
            </a:r>
          </a:p>
          <a:p>
            <a:pPr lvl="1"/>
            <a:r>
              <a:rPr lang="en-US" dirty="0"/>
              <a:t>An amount of money you can spend.</a:t>
            </a:r>
          </a:p>
          <a:p>
            <a:pPr lvl="3"/>
            <a:endParaRPr lang="en-US" dirty="0"/>
          </a:p>
          <a:p>
            <a:r>
              <a:rPr lang="en-US" dirty="0"/>
              <a:t>Derive of one of the two equations governing the rule that determines the optimal amount of goods that a consumer can purchase.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25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Two Goods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will be naming the two goods as </a:t>
                </a:r>
                <a:r>
                  <a:rPr lang="en-US" b="1" dirty="0"/>
                  <a:t>good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:r>
                  <a:rPr lang="en-US" b="1" dirty="0"/>
                  <a:t>good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b="1" dirty="0"/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will represent the units of good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good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consumed.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are not required to be integers.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only use two goods because…</a:t>
                </a:r>
              </a:p>
              <a:p>
                <a:pPr lvl="1"/>
                <a:r>
                  <a:rPr lang="en-US" dirty="0"/>
                  <a:t>It is a lot simpler dealing with two variables, and</a:t>
                </a:r>
              </a:p>
              <a:p>
                <a:pPr lvl="1"/>
                <a:r>
                  <a:rPr lang="en-US" dirty="0"/>
                  <a:t>We can think of good</a:t>
                </a:r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as a “composite” good that represents all goods other than good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Long story short, the math checks out so we can use two.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850" b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363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Market Prices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two goods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will have prices: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These prices are “per-unit” prices, meaning that 1 unit of each good costs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, respectively.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will also assume that individuals are price takers.</a:t>
                </a:r>
              </a:p>
              <a:p>
                <a:pPr lvl="1"/>
                <a:r>
                  <a:rPr lang="en-US" dirty="0"/>
                  <a:t>“Price takers” don’t have any influence over the price of goods.</a:t>
                </a:r>
              </a:p>
              <a:p>
                <a:pPr lvl="1"/>
                <a:r>
                  <a:rPr lang="en-US" dirty="0"/>
                  <a:t>In some real-world cases, individual consumers may have some power over prices!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If we take the “composite good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approach,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7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Expenditure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In the two-goods environment, the amount a consumer spends can be represented as: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dirty="0"/>
                  <a:t> Price of good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times number of units consumed.</a:t>
                </a:r>
              </a:p>
              <a:p>
                <a:pPr lvl="4"/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dirty="0"/>
                  <a:t> Price of good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times number of units consumed.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Add the two values to find the total amount spent by the consumer.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40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Income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typically denote the income of a consumer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Some textbooks use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, but we will stick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You can think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as “Money.”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amount you spend cannot exceed this value.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So, “Expenditure has to be less than or equal to income”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57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Budget Constraint / Line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Using notations we introduced, the budget constraint is: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If a consumer is to maximize their utility, they should probably use up all the money they have.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Very poor real-life advice! Don’t try this at home!</a:t>
                </a:r>
              </a:p>
              <a:p>
                <a:pPr lvl="1"/>
                <a:r>
                  <a:rPr lang="en-US" dirty="0"/>
                  <a:t>But it works for “people” in this model.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lang="en-US" b="1" dirty="0"/>
              </a:p>
              <a:p>
                <a:pPr lvl="3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574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AED2-4218-34CD-717F-09E71CFF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Examining the Budget Constraint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are the intercepts?</a:t>
                </a:r>
              </a:p>
              <a:p>
                <a:pPr lvl="1"/>
                <a:r>
                  <a:rPr lang="en-US" dirty="0"/>
                  <a:t>How many units of good </a:t>
                </a:r>
                <a:r>
                  <a:rPr lang="en-US" i="1" dirty="0"/>
                  <a:t>Y</a:t>
                </a:r>
                <a:r>
                  <a:rPr lang="en-US" dirty="0"/>
                  <a:t> can you buy if you spent </a:t>
                </a:r>
                <a:r>
                  <a:rPr lang="en-US" i="1" dirty="0"/>
                  <a:t>M</a:t>
                </a:r>
                <a:r>
                  <a:rPr lang="en-US" dirty="0"/>
                  <a:t> on good </a:t>
                </a:r>
                <a:r>
                  <a:rPr lang="en-US" i="1" dirty="0"/>
                  <a:t>Y</a:t>
                </a:r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How many units of good </a:t>
                </a:r>
                <a:r>
                  <a:rPr lang="en-US" i="1" dirty="0"/>
                  <a:t>X</a:t>
                </a:r>
                <a:r>
                  <a:rPr lang="en-US" dirty="0"/>
                  <a:t> can you buy if you spent </a:t>
                </a:r>
                <a:r>
                  <a:rPr lang="en-US" i="1" dirty="0"/>
                  <a:t>M</a:t>
                </a:r>
                <a:r>
                  <a:rPr lang="en-US" dirty="0"/>
                  <a:t> on good </a:t>
                </a:r>
                <a:r>
                  <a:rPr lang="en-US" i="1" dirty="0"/>
                  <a:t>X</a:t>
                </a:r>
                <a:r>
                  <a:rPr lang="en-US" dirty="0"/>
                  <a:t>?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What is the slope of the budget line?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𝑆𝑙𝑜𝑝𝑒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ox>
                            <m:box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−0</m:t>
                              </m:r>
                            </m:e>
                          </m:box>
                        </m:num>
                        <m:den>
                          <m:box>
                            <m:box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r>
                                <m:rPr>
                                  <m:brk m:alnAt="6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0−</m:t>
                              </m:r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box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lvl="3"/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DE47C-E91F-7742-DFE4-D2D0245B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A9372-2964-97AA-6491-CC4E230FE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6D75D-BD52-D314-AC1A-04FF4CC6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/>
          </a:p>
        </p:txBody>
      </p:sp>
      <p:pic>
        <p:nvPicPr>
          <p:cNvPr id="15" name="Content Placeholder 14" descr="A line with a point&#10;&#10;Description automatically generated">
            <a:extLst>
              <a:ext uri="{FF2B5EF4-FFF2-40B4-BE49-F238E27FC236}">
                <a16:creationId xmlns:a16="http://schemas.microsoft.com/office/drawing/2014/main" id="{A26EC638-F644-5304-471E-D62940EC6E6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9" name="Content Placeholder 16">
            <a:extLst>
              <a:ext uri="{FF2B5EF4-FFF2-40B4-BE49-F238E27FC236}">
                <a16:creationId xmlns:a16="http://schemas.microsoft.com/office/drawing/2014/main" id="{BFC0A055-A026-570D-EFA2-905AF26AB7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0" name="Content Placeholder 20" descr="A graph of a line with a red line&#10;&#10;Description automatically generated">
            <a:extLst>
              <a:ext uri="{FF2B5EF4-FFF2-40B4-BE49-F238E27FC236}">
                <a16:creationId xmlns:a16="http://schemas.microsoft.com/office/drawing/2014/main" id="{B09DCD9B-08EA-4BEC-16D0-892B429282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11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Slope of the Budget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interpret the slope of the budget constraint?</a:t>
            </a:r>
          </a:p>
          <a:p>
            <a:pPr lvl="4"/>
            <a:endParaRPr lang="en-US" dirty="0"/>
          </a:p>
          <a:p>
            <a:pPr marL="0" indent="0" algn="ctr">
              <a:buNone/>
            </a:pPr>
            <a:r>
              <a:rPr lang="en-US" b="1" dirty="0"/>
              <a:t>“How many units of good Y do you need to give up </a:t>
            </a:r>
          </a:p>
          <a:p>
            <a:pPr marL="0" indent="0" algn="ctr">
              <a:buNone/>
            </a:pPr>
            <a:r>
              <a:rPr lang="en-US" b="1" dirty="0"/>
              <a:t>to be able to afford an additional unit of good X.”</a:t>
            </a:r>
          </a:p>
          <a:p>
            <a:pPr lvl="4"/>
            <a:endParaRPr lang="en-US" dirty="0"/>
          </a:p>
          <a:p>
            <a:r>
              <a:rPr lang="en-US" dirty="0"/>
              <a:t>What does the slope of the budget constraint represent?</a:t>
            </a:r>
          </a:p>
          <a:p>
            <a:pPr lvl="3"/>
            <a:endParaRPr lang="en-US" dirty="0"/>
          </a:p>
          <a:p>
            <a:pPr lvl="1"/>
            <a:r>
              <a:rPr lang="en-US" b="1" dirty="0"/>
              <a:t>Objective Rate of Exchange</a:t>
            </a:r>
            <a:r>
              <a:rPr lang="en-US" dirty="0"/>
              <a:t>: What the market dictates.</a:t>
            </a:r>
          </a:p>
          <a:p>
            <a:pPr lvl="4"/>
            <a:endParaRPr lang="en-US" dirty="0"/>
          </a:p>
          <a:p>
            <a:pPr lvl="1"/>
            <a:r>
              <a:rPr lang="en-US" b="1" dirty="0"/>
              <a:t>Opportunity Cost</a:t>
            </a:r>
            <a:r>
              <a:rPr lang="en-US" dirty="0"/>
              <a:t>: Giving up purchasing one good for the other.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05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Statics: An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Comparative statics is “the examination of a change in outcome in response to a change in underlying economic parameters.”</a:t>
            </a:r>
            <a:endParaRPr lang="en-US" b="1" dirty="0"/>
          </a:p>
          <a:p>
            <a:pPr lvl="4"/>
            <a:endParaRPr lang="en-US" dirty="0"/>
          </a:p>
          <a:p>
            <a:r>
              <a:rPr lang="en-US" dirty="0"/>
              <a:t>We are going to change some values and see how our model reacts.</a:t>
            </a:r>
          </a:p>
          <a:p>
            <a:pPr lvl="1"/>
            <a:r>
              <a:rPr lang="en-US" dirty="0"/>
              <a:t>Consumer’s income, and</a:t>
            </a:r>
          </a:p>
          <a:p>
            <a:pPr lvl="1"/>
            <a:r>
              <a:rPr lang="en-US" dirty="0"/>
              <a:t>Market Price(s)</a:t>
            </a:r>
          </a:p>
          <a:p>
            <a:pPr lvl="3"/>
            <a:endParaRPr lang="en-US" dirty="0"/>
          </a:p>
          <a:p>
            <a:r>
              <a:rPr lang="en-US" dirty="0"/>
              <a:t>Ceteris Paribus: “With other conditions remaining the same.”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2614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941C9-F1B9-C503-26FE-C3234A6B6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Statics: Income ↓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69FAC-7E76-AB99-82E7-70A853B9AD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happens when the amount of money the consumer has decreases?</a:t>
            </a:r>
          </a:p>
          <a:p>
            <a:pPr lvl="3"/>
            <a:endParaRPr lang="en-US" dirty="0"/>
          </a:p>
          <a:p>
            <a:r>
              <a:rPr lang="en-US" dirty="0"/>
              <a:t>What happens to the once “not affordable” commodity bundles?</a:t>
            </a:r>
          </a:p>
          <a:p>
            <a:pPr lvl="3"/>
            <a:endParaRPr lang="en-US" dirty="0"/>
          </a:p>
          <a:p>
            <a:r>
              <a:rPr lang="en-US" dirty="0"/>
              <a:t>Budget line “shifts down”</a:t>
            </a:r>
          </a:p>
          <a:p>
            <a:pPr lvl="3"/>
            <a:endParaRPr lang="en-US" dirty="0"/>
          </a:p>
          <a:p>
            <a:r>
              <a:rPr lang="en-US" dirty="0"/>
              <a:t>Slope does not change.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879A3-C4F3-1EAC-5CAB-7AA48B7E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C1487-5A25-705A-6258-88837474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DEAB3-6FF2-FCE4-E9DE-C0266DE9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/>
          </a:p>
        </p:txBody>
      </p:sp>
      <p:pic>
        <p:nvPicPr>
          <p:cNvPr id="14" name="Content Placeholder 13" descr="A graph of a function&#10;&#10;Description automatically generated">
            <a:extLst>
              <a:ext uri="{FF2B5EF4-FFF2-40B4-BE49-F238E27FC236}">
                <a16:creationId xmlns:a16="http://schemas.microsoft.com/office/drawing/2014/main" id="{7727A9CF-7CE9-0471-6A89-3DD92A3D85B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5" name="Content Placeholder 9" descr="A graph of a budget line&#10;&#10;Description automatically generated with medium confidence">
            <a:extLst>
              <a:ext uri="{FF2B5EF4-FFF2-40B4-BE49-F238E27FC236}">
                <a16:creationId xmlns:a16="http://schemas.microsoft.com/office/drawing/2014/main" id="{7F51D75A-6A85-9A31-3CA1-1995527505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990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941C9-F1B9-C503-26FE-C3234A6B6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Statics: Price ↓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69FAC-7E76-AB99-82E7-70A853B9AD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What happens when the price of good </a:t>
            </a:r>
            <a:r>
              <a:rPr lang="en-US" i="1" dirty="0"/>
              <a:t>Y</a:t>
            </a:r>
            <a:r>
              <a:rPr lang="en-US" dirty="0"/>
              <a:t> decreases?</a:t>
            </a:r>
          </a:p>
          <a:p>
            <a:pPr lvl="1"/>
            <a:r>
              <a:rPr lang="en-US" dirty="0"/>
              <a:t>What happens when you spend </a:t>
            </a:r>
            <a:r>
              <a:rPr lang="en-US" i="1" dirty="0"/>
              <a:t>M</a:t>
            </a:r>
            <a:r>
              <a:rPr lang="en-US" dirty="0"/>
              <a:t> on the now cheaper good </a:t>
            </a:r>
            <a:r>
              <a:rPr lang="en-US" i="1" dirty="0"/>
              <a:t>Y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What happens when you spend </a:t>
            </a:r>
            <a:r>
              <a:rPr lang="en-US" i="1" dirty="0"/>
              <a:t>M</a:t>
            </a:r>
            <a:r>
              <a:rPr lang="en-US" dirty="0"/>
              <a:t> on good </a:t>
            </a:r>
            <a:r>
              <a:rPr lang="en-US" i="1" dirty="0"/>
              <a:t>X</a:t>
            </a:r>
            <a:r>
              <a:rPr lang="en-US" dirty="0"/>
              <a:t> which had no price change?</a:t>
            </a:r>
          </a:p>
          <a:p>
            <a:pPr lvl="3"/>
            <a:endParaRPr lang="en-US" dirty="0"/>
          </a:p>
          <a:p>
            <a:r>
              <a:rPr lang="en-US" dirty="0"/>
              <a:t>The budget line “pivots.”</a:t>
            </a:r>
          </a:p>
          <a:p>
            <a:pPr lvl="3"/>
            <a:endParaRPr lang="en-US" dirty="0"/>
          </a:p>
          <a:p>
            <a:r>
              <a:rPr lang="en-US" dirty="0"/>
              <a:t>Slope is now steeper.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879A3-C4F3-1EAC-5CAB-7AA48B7E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C1487-5A25-705A-6258-88837474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DEAB3-6FF2-FCE4-E9DE-C0266DE9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/>
          </a:p>
        </p:txBody>
      </p:sp>
      <p:pic>
        <p:nvPicPr>
          <p:cNvPr id="12" name="Content Placeholder 11" descr="A graph of a function&#10;&#10;Description automatically generated">
            <a:extLst>
              <a:ext uri="{FF2B5EF4-FFF2-40B4-BE49-F238E27FC236}">
                <a16:creationId xmlns:a16="http://schemas.microsoft.com/office/drawing/2014/main" id="{98F30800-D1A6-3B9A-6D7D-9A410E72754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3" name="Content Placeholder 9" descr="A graph of a budget line&#10;&#10;Description automatically generated with medium confidence">
            <a:extLst>
              <a:ext uri="{FF2B5EF4-FFF2-40B4-BE49-F238E27FC236}">
                <a16:creationId xmlns:a16="http://schemas.microsoft.com/office/drawing/2014/main" id="{05225674-747B-8221-B890-8774F26D01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70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941C9-F1B9-C503-26FE-C3234A6B6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Statics: Price ↑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69FAC-7E76-AB99-82E7-70A853B9AD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What happens when the price of good </a:t>
            </a:r>
            <a:r>
              <a:rPr lang="en-US" i="1" dirty="0"/>
              <a:t>Y</a:t>
            </a:r>
            <a:r>
              <a:rPr lang="en-US" dirty="0"/>
              <a:t> increases?</a:t>
            </a:r>
          </a:p>
          <a:p>
            <a:pPr lvl="1"/>
            <a:r>
              <a:rPr lang="en-US" dirty="0"/>
              <a:t>What happens when you spend </a:t>
            </a:r>
            <a:r>
              <a:rPr lang="en-US" i="1" dirty="0"/>
              <a:t>M</a:t>
            </a:r>
            <a:r>
              <a:rPr lang="en-US" dirty="0"/>
              <a:t> on the now more expensive good </a:t>
            </a:r>
            <a:r>
              <a:rPr lang="en-US" i="1" dirty="0"/>
              <a:t>Y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What happens when you spend </a:t>
            </a:r>
            <a:r>
              <a:rPr lang="en-US" i="1" dirty="0"/>
              <a:t>M</a:t>
            </a:r>
            <a:r>
              <a:rPr lang="en-US" dirty="0"/>
              <a:t> on good </a:t>
            </a:r>
            <a:r>
              <a:rPr lang="en-US" i="1" dirty="0"/>
              <a:t>X</a:t>
            </a:r>
            <a:r>
              <a:rPr lang="en-US" dirty="0"/>
              <a:t> which had no price change?</a:t>
            </a:r>
          </a:p>
          <a:p>
            <a:pPr lvl="3"/>
            <a:endParaRPr lang="en-US" dirty="0"/>
          </a:p>
          <a:p>
            <a:r>
              <a:rPr lang="en-US" dirty="0"/>
              <a:t>The budget line “pivots.”</a:t>
            </a:r>
          </a:p>
          <a:p>
            <a:pPr lvl="3"/>
            <a:endParaRPr lang="en-US" dirty="0"/>
          </a:p>
          <a:p>
            <a:r>
              <a:rPr lang="en-US" dirty="0"/>
              <a:t>Slope is now less steep.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879A3-C4F3-1EAC-5CAB-7AA48B7E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C1487-5A25-705A-6258-88837474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DEAB3-6FF2-FCE4-E9DE-C0266DE9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/>
          </a:p>
        </p:txBody>
      </p:sp>
      <p:pic>
        <p:nvPicPr>
          <p:cNvPr id="10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E7203426-1027-6B3F-2132-B0DEEB5C316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1" name="Content Placeholder 10" descr="A graph of a budget line&#10;&#10;Description automatically generated">
            <a:extLst>
              <a:ext uri="{FF2B5EF4-FFF2-40B4-BE49-F238E27FC236}">
                <a16:creationId xmlns:a16="http://schemas.microsoft.com/office/drawing/2014/main" id="{C772B2CA-6C71-ADB1-B586-0CC5E3941B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26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941C9-F1B9-C503-26FE-C3234A6B6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Statics: Prices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69FAC-7E76-AB99-82E7-70A853B9AD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happens when prices of both good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dirty="0"/>
              <a:t> change?</a:t>
            </a:r>
          </a:p>
          <a:p>
            <a:pPr lvl="1"/>
            <a:r>
              <a:rPr lang="en-US" dirty="0"/>
              <a:t>Suppose that the price of good </a:t>
            </a:r>
            <a:r>
              <a:rPr lang="en-US" i="1" dirty="0"/>
              <a:t>X</a:t>
            </a:r>
            <a:r>
              <a:rPr lang="en-US" dirty="0"/>
              <a:t> increases, and</a:t>
            </a:r>
          </a:p>
          <a:p>
            <a:pPr lvl="1"/>
            <a:r>
              <a:rPr lang="en-US" dirty="0"/>
              <a:t>Suppose that the price of good </a:t>
            </a:r>
            <a:r>
              <a:rPr lang="en-US" i="1" dirty="0"/>
              <a:t>Y</a:t>
            </a:r>
            <a:r>
              <a:rPr lang="en-US" dirty="0"/>
              <a:t> decreases.</a:t>
            </a:r>
          </a:p>
          <a:p>
            <a:pPr lvl="3"/>
            <a:endParaRPr lang="en-US" dirty="0"/>
          </a:p>
          <a:p>
            <a:r>
              <a:rPr lang="en-US" dirty="0"/>
              <a:t>The budget line will… “change” in some way.</a:t>
            </a:r>
          </a:p>
          <a:p>
            <a:pPr lvl="3"/>
            <a:endParaRPr lang="en-US" dirty="0"/>
          </a:p>
          <a:p>
            <a:r>
              <a:rPr lang="en-US" dirty="0"/>
              <a:t>The slope may or may not change.</a:t>
            </a:r>
          </a:p>
          <a:p>
            <a:pPr lvl="3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879A3-C4F3-1EAC-5CAB-7AA48B7E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C1487-5A25-705A-6258-88837474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DEAB3-6FF2-FCE4-E9DE-C0266DE9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30</a:t>
            </a:fld>
            <a:endParaRPr lang="en-US"/>
          </a:p>
        </p:txBody>
      </p:sp>
      <p:pic>
        <p:nvPicPr>
          <p:cNvPr id="10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E7203426-1027-6B3F-2132-B0DEEB5C316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3" name="Content Placeholder 10" descr="A graph of a budget line&#10;&#10;Description automatically generated">
            <a:extLst>
              <a:ext uri="{FF2B5EF4-FFF2-40B4-BE49-F238E27FC236}">
                <a16:creationId xmlns:a16="http://schemas.microsoft.com/office/drawing/2014/main" id="{59D6DA8B-C2DB-48F1-07F4-8EF2ED10F7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882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Statics: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the consumer’s income…</a:t>
            </a:r>
          </a:p>
          <a:p>
            <a:pPr lvl="1"/>
            <a:r>
              <a:rPr lang="en-US" dirty="0"/>
              <a:t>Increases, the budget line “shifts up” or “expands outward.”</a:t>
            </a:r>
          </a:p>
          <a:p>
            <a:pPr lvl="1"/>
            <a:r>
              <a:rPr lang="en-US" dirty="0"/>
              <a:t>Decreases, the budget line “shifts down” or “contracts inward.”</a:t>
            </a:r>
          </a:p>
          <a:p>
            <a:pPr lvl="1"/>
            <a:endParaRPr lang="en-US" dirty="0"/>
          </a:p>
          <a:p>
            <a:r>
              <a:rPr lang="en-US" dirty="0"/>
              <a:t>When the market price of one good changes…</a:t>
            </a:r>
          </a:p>
          <a:p>
            <a:pPr lvl="1"/>
            <a:r>
              <a:rPr lang="en-US" dirty="0"/>
              <a:t>The budget line “pivots” either clockwise or anti-clockwise depending on the circumstances.</a:t>
            </a:r>
          </a:p>
          <a:p>
            <a:pPr lvl="1"/>
            <a:r>
              <a:rPr lang="en-US" dirty="0"/>
              <a:t>The fixed pivot point will be the intercept of the good whose price did </a:t>
            </a:r>
            <a:r>
              <a:rPr lang="en-US" u="sng" dirty="0"/>
              <a:t>not</a:t>
            </a:r>
            <a:r>
              <a:rPr lang="en-US" dirty="0"/>
              <a:t> change.</a:t>
            </a:r>
          </a:p>
          <a:p>
            <a:pPr lvl="3"/>
            <a:endParaRPr lang="en-US" dirty="0"/>
          </a:p>
          <a:p>
            <a:r>
              <a:rPr lang="en-US" dirty="0"/>
              <a:t>When the market price of two goods change…</a:t>
            </a:r>
          </a:p>
          <a:p>
            <a:pPr lvl="1"/>
            <a:r>
              <a:rPr lang="en-US" dirty="0"/>
              <a:t>It is not clear what will happen until we plot the result.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6077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some cases in the real world where producers or governments create situations where the budget constraint is not a neat line.</a:t>
            </a:r>
          </a:p>
          <a:p>
            <a:pPr lvl="3"/>
            <a:endParaRPr lang="en-US" dirty="0"/>
          </a:p>
          <a:p>
            <a:r>
              <a:rPr lang="en-US" dirty="0"/>
              <a:t>Sometimes, these constraints come from the consumers themselves.</a:t>
            </a:r>
          </a:p>
          <a:p>
            <a:pPr lvl="3"/>
            <a:endParaRPr lang="en-US" dirty="0"/>
          </a:p>
          <a:p>
            <a:r>
              <a:rPr lang="en-US" dirty="0"/>
              <a:t>Three examples:</a:t>
            </a:r>
          </a:p>
          <a:p>
            <a:pPr lvl="1"/>
            <a:r>
              <a:rPr lang="en-US" dirty="0"/>
              <a:t>Governments: Supplemental Nutrition Assistance Program</a:t>
            </a:r>
          </a:p>
          <a:p>
            <a:pPr lvl="1"/>
            <a:r>
              <a:rPr lang="en-US" dirty="0"/>
              <a:t>Producers: Bulk Purchase Discounts</a:t>
            </a:r>
          </a:p>
          <a:p>
            <a:pPr lvl="1"/>
            <a:r>
              <a:rPr lang="en-US" dirty="0"/>
              <a:t>Consumers: Time Constraints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836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39667-81D9-4AC2-457B-E509CCC9A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Supplemental Nutrition </a:t>
            </a:r>
            <a:br>
              <a:rPr lang="en-US" dirty="0"/>
            </a:br>
            <a:r>
              <a:rPr lang="en-US" dirty="0"/>
              <a:t>Assistance Program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DAE81-CC4E-6F6B-6CC7-990765022F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Formerly called the “Food Stamp Program”</a:t>
            </a:r>
          </a:p>
          <a:p>
            <a:pPr lvl="3"/>
            <a:endParaRPr lang="en-US" dirty="0"/>
          </a:p>
          <a:p>
            <a:r>
              <a:rPr lang="en-US" dirty="0"/>
              <a:t>Provides a subsidy to qualifying American households.</a:t>
            </a:r>
          </a:p>
          <a:p>
            <a:pPr lvl="3"/>
            <a:endParaRPr lang="en-US" dirty="0"/>
          </a:p>
          <a:p>
            <a:r>
              <a:rPr lang="en-US" dirty="0"/>
              <a:t>Limited to food for the household.</a:t>
            </a:r>
          </a:p>
          <a:p>
            <a:pPr lvl="1"/>
            <a:r>
              <a:rPr lang="en-US" dirty="0"/>
              <a:t>Alcohol, Tobacco, Health Supplements, Nonfood Necessities excluded.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4518F-46BD-C42D-8CB0-0C636469F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4CFC8-84EA-ADC9-5480-A2E5B50F6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D8765-0BAD-1707-1203-7D2907E0D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33</a:t>
            </a:fld>
            <a:endParaRPr lang="en-US"/>
          </a:p>
        </p:txBody>
      </p:sp>
      <p:pic>
        <p:nvPicPr>
          <p:cNvPr id="13" name="Content Placeholder 12" descr="A green bag full of food&#10;&#10;Description automatically generated">
            <a:extLst>
              <a:ext uri="{FF2B5EF4-FFF2-40B4-BE49-F238E27FC236}">
                <a16:creationId xmlns:a16="http://schemas.microsoft.com/office/drawing/2014/main" id="{CC051BFB-1984-3CE2-8A93-8C889D9AA70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783618"/>
            <a:ext cx="3886200" cy="2435352"/>
          </a:xfrm>
        </p:spPr>
      </p:pic>
    </p:spTree>
    <p:extLst>
      <p:ext uri="{BB962C8B-B14F-4D97-AF65-F5344CB8AC3E}">
        <p14:creationId xmlns:p14="http://schemas.microsoft.com/office/powerpoint/2010/main" val="358056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market consists of Apples and Books.</a:t>
            </a:r>
          </a:p>
          <a:p>
            <a:pPr lvl="3"/>
            <a:endParaRPr lang="en-US" dirty="0"/>
          </a:p>
          <a:p>
            <a:r>
              <a:rPr lang="en-US" dirty="0"/>
              <a:t>The market price of an apple is $4, and the market price of books is $5.</a:t>
            </a:r>
          </a:p>
          <a:p>
            <a:pPr lvl="3"/>
            <a:endParaRPr lang="en-US" dirty="0"/>
          </a:p>
          <a:p>
            <a:r>
              <a:rPr lang="en-US" dirty="0"/>
              <a:t>The consumer’s budget is $300.</a:t>
            </a:r>
          </a:p>
          <a:p>
            <a:pPr lvl="3"/>
            <a:endParaRPr lang="en-US" dirty="0"/>
          </a:p>
          <a:p>
            <a:r>
              <a:rPr lang="en-US" dirty="0"/>
              <a:t>The government will be providing this consumer with SNAP benefits of $100, which can be used to purchase apples, but not books.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0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Constraint: Pre - SNAP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It is often helpful to think about the budget constraint before SNAP.</a:t>
            </a:r>
          </a:p>
          <a:p>
            <a:pPr lvl="3"/>
            <a:endParaRPr lang="en-US" dirty="0"/>
          </a:p>
          <a:p>
            <a:r>
              <a:rPr lang="en-US" dirty="0"/>
              <a:t>What is the maximum number of apples this consumer can afford before SNAP?</a:t>
            </a:r>
          </a:p>
          <a:p>
            <a:pPr lvl="3"/>
            <a:endParaRPr lang="en-US" dirty="0"/>
          </a:p>
          <a:p>
            <a:r>
              <a:rPr lang="en-US" dirty="0"/>
              <a:t>What is the maximum number of books this consumer can afford before SNAP?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35</a:t>
            </a:fld>
            <a:endParaRPr lang="en-US"/>
          </a:p>
        </p:txBody>
      </p:sp>
      <p:pic>
        <p:nvPicPr>
          <p:cNvPr id="23" name="Content Placeholder 22" descr="A line graph with text&#10;&#10;Description automatically generated with medium confidence">
            <a:extLst>
              <a:ext uri="{FF2B5EF4-FFF2-40B4-BE49-F238E27FC236}">
                <a16:creationId xmlns:a16="http://schemas.microsoft.com/office/drawing/2014/main" id="{76C777EE-3F41-ACB3-97D6-C526685613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25" name="Content Placeholder 9" descr="A graph of a line&#10;&#10;Description automatically generated">
            <a:extLst>
              <a:ext uri="{FF2B5EF4-FFF2-40B4-BE49-F238E27FC236}">
                <a16:creationId xmlns:a16="http://schemas.microsoft.com/office/drawing/2014/main" id="{424B42B7-1C45-C48B-3504-A78E0C060A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5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Constraint: Post - SNAP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 SNAP, what is the maximum number of apples the consumer can purchase?</a:t>
            </a:r>
          </a:p>
          <a:p>
            <a:pPr lvl="3"/>
            <a:endParaRPr lang="en-US" dirty="0"/>
          </a:p>
          <a:p>
            <a:r>
              <a:rPr lang="en-US" dirty="0"/>
              <a:t>With SNAP, how many apples can the consumer purchase when they already consumed 60 books?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36</a:t>
            </a:fld>
            <a:endParaRPr lang="en-US"/>
          </a:p>
        </p:txBody>
      </p:sp>
      <p:pic>
        <p:nvPicPr>
          <p:cNvPr id="18" name="Content Placeholder 17" descr="A graph of a line&#10;&#10;Description automatically generated">
            <a:extLst>
              <a:ext uri="{FF2B5EF4-FFF2-40B4-BE49-F238E27FC236}">
                <a16:creationId xmlns:a16="http://schemas.microsoft.com/office/drawing/2014/main" id="{C4198362-A707-08B6-E6D6-AD39CC9EE6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9" name="Content Placeholder 9" descr="A graph of a line with numbers and a line&#10;&#10;Description automatically generated with medium confidence">
            <a:extLst>
              <a:ext uri="{FF2B5EF4-FFF2-40B4-BE49-F238E27FC236}">
                <a16:creationId xmlns:a16="http://schemas.microsoft.com/office/drawing/2014/main" id="{C75E062F-6724-5354-EF16-66EB23B38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0" name="Content Placeholder 14" descr="A graph of a line&#10;&#10;Description automatically generated">
            <a:extLst>
              <a:ext uri="{FF2B5EF4-FFF2-40B4-BE49-F238E27FC236}">
                <a16:creationId xmlns:a16="http://schemas.microsoft.com/office/drawing/2014/main" id="{D6BD7DEF-ECD6-13AC-6AAA-1EFA95D799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1" name="Content Placeholder 18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4E055BF5-9D6C-C297-847B-DE85624789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Bulk Order Discount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market consists of Apples and Books.</a:t>
            </a:r>
          </a:p>
          <a:p>
            <a:pPr lvl="3"/>
            <a:endParaRPr lang="en-US" dirty="0"/>
          </a:p>
          <a:p>
            <a:r>
              <a:rPr lang="en-US" dirty="0"/>
              <a:t>The market price of an apple is $4, and the market price of books is $5.</a:t>
            </a:r>
          </a:p>
          <a:p>
            <a:pPr lvl="3"/>
            <a:endParaRPr lang="en-US" dirty="0"/>
          </a:p>
          <a:p>
            <a:r>
              <a:rPr lang="en-US" dirty="0"/>
              <a:t>The consumer’s budget is $300.</a:t>
            </a:r>
          </a:p>
          <a:p>
            <a:pPr lvl="3"/>
            <a:endParaRPr lang="en-US" dirty="0"/>
          </a:p>
          <a:p>
            <a:r>
              <a:rPr lang="en-US" dirty="0"/>
              <a:t>The publisher offers to provide a discounted price of $2.5 per book for any book following their 40</a:t>
            </a:r>
            <a:r>
              <a:rPr lang="en-US" baseline="30000" dirty="0"/>
              <a:t>th</a:t>
            </a:r>
            <a:r>
              <a:rPr lang="en-US" dirty="0"/>
              <a:t> unit purchased.</a:t>
            </a:r>
          </a:p>
          <a:p>
            <a:pPr lvl="1"/>
            <a:r>
              <a:rPr lang="en-US" dirty="0"/>
              <a:t>Up to 40 books, the price is $5 per book.</a:t>
            </a:r>
          </a:p>
          <a:p>
            <a:pPr lvl="1"/>
            <a:r>
              <a:rPr lang="en-US" dirty="0"/>
              <a:t>Above 40 books, the price is $2.5 per book.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5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Constraint: Bulk Discount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Up to the point where the consumer purchases 40 books, the situation remains unchanged.</a:t>
            </a:r>
          </a:p>
          <a:p>
            <a:pPr lvl="3"/>
            <a:endParaRPr lang="en-US" dirty="0"/>
          </a:p>
          <a:p>
            <a:r>
              <a:rPr lang="en-US" dirty="0"/>
              <a:t>Upon purchase of the 40</a:t>
            </a:r>
            <a:r>
              <a:rPr lang="en-US" baseline="30000" dirty="0"/>
              <a:t>th</a:t>
            </a:r>
            <a:r>
              <a:rPr lang="en-US" dirty="0"/>
              <a:t> book, the consumer faces new market prices.</a:t>
            </a:r>
          </a:p>
          <a:p>
            <a:pPr lvl="3"/>
            <a:endParaRPr lang="en-US" dirty="0"/>
          </a:p>
          <a:p>
            <a:r>
              <a:rPr lang="en-US" dirty="0"/>
              <a:t>What is the maximum quantity of books that the consumer can purchase?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38</a:t>
            </a:fld>
            <a:endParaRPr lang="en-US"/>
          </a:p>
        </p:txBody>
      </p:sp>
      <p:pic>
        <p:nvPicPr>
          <p:cNvPr id="10" name="Content Placeholder 9" descr="A graph of a line&#10;&#10;Description automatically generated">
            <a:extLst>
              <a:ext uri="{FF2B5EF4-FFF2-40B4-BE49-F238E27FC236}">
                <a16:creationId xmlns:a16="http://schemas.microsoft.com/office/drawing/2014/main" id="{EBCAEDB3-2F85-31B6-D949-B926CB1D0DA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1" name="Content Placeholder 10" descr="A graph of a line&#10;&#10;Description automatically generated">
            <a:extLst>
              <a:ext uri="{FF2B5EF4-FFF2-40B4-BE49-F238E27FC236}">
                <a16:creationId xmlns:a16="http://schemas.microsoft.com/office/drawing/2014/main" id="{FB2F4CF9-1F96-F539-5C20-09AB002C7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2" name="Content Placeholder 14" descr="A graph of a line&#10;&#10;Description automatically generated">
            <a:extLst>
              <a:ext uri="{FF2B5EF4-FFF2-40B4-BE49-F238E27FC236}">
                <a16:creationId xmlns:a16="http://schemas.microsoft.com/office/drawing/2014/main" id="{8A244758-DC30-44AF-A709-EE674F58E2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0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market consists of Apples and Books.</a:t>
            </a:r>
          </a:p>
          <a:p>
            <a:pPr lvl="3"/>
            <a:endParaRPr lang="en-US" dirty="0"/>
          </a:p>
          <a:p>
            <a:r>
              <a:rPr lang="en-US" dirty="0"/>
              <a:t>The market price of an apple is $4, and the market price of books is $5.</a:t>
            </a:r>
          </a:p>
          <a:p>
            <a:pPr lvl="3"/>
            <a:endParaRPr lang="en-US" dirty="0"/>
          </a:p>
          <a:p>
            <a:r>
              <a:rPr lang="en-US" dirty="0"/>
              <a:t>The consumer’s budget is $300.</a:t>
            </a:r>
          </a:p>
          <a:p>
            <a:pPr lvl="3"/>
            <a:endParaRPr lang="en-US" dirty="0"/>
          </a:p>
          <a:p>
            <a:r>
              <a:rPr lang="en-US" dirty="0"/>
              <a:t>For simplicity, suppose that the consumer has 100 hours in a term, and can consume one apple every 1 hour, and read one book every 2 hours.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097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Time: Lines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We start off with the original budget constraint.</a:t>
            </a:r>
          </a:p>
          <a:p>
            <a:pPr lvl="3"/>
            <a:endParaRPr lang="en-US" dirty="0"/>
          </a:p>
          <a:p>
            <a:r>
              <a:rPr lang="en-US" dirty="0"/>
              <a:t>We then overlay the time constraint.</a:t>
            </a:r>
          </a:p>
          <a:p>
            <a:pPr lvl="1"/>
            <a:r>
              <a:rPr lang="en-US" dirty="0"/>
              <a:t>How many books can this consumer read in 100 hours?</a:t>
            </a:r>
          </a:p>
          <a:p>
            <a:pPr lvl="1"/>
            <a:r>
              <a:rPr lang="en-US" dirty="0"/>
              <a:t>How many apples can this consumer eat in 100 hours?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40</a:t>
            </a:fld>
            <a:endParaRPr lang="en-US"/>
          </a:p>
        </p:txBody>
      </p:sp>
      <p:pic>
        <p:nvPicPr>
          <p:cNvPr id="17" name="Content Placeholder 16" descr="A graph of a line&#10;&#10;Description automatically generated">
            <a:extLst>
              <a:ext uri="{FF2B5EF4-FFF2-40B4-BE49-F238E27FC236}">
                <a16:creationId xmlns:a16="http://schemas.microsoft.com/office/drawing/2014/main" id="{3973A081-47E5-D0D9-D45E-06EEAA83002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20" name="Content Placeholder 13" descr="A graph with a line and a line&#10;&#10;Description automatically generated">
            <a:extLst>
              <a:ext uri="{FF2B5EF4-FFF2-40B4-BE49-F238E27FC236}">
                <a16:creationId xmlns:a16="http://schemas.microsoft.com/office/drawing/2014/main" id="{58E685A8-6640-AD93-E89F-45481FDF05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21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Time: Region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each of the 4 “regions” created by the two lines…</a:t>
            </a:r>
          </a:p>
          <a:p>
            <a:pPr lvl="3"/>
            <a:endParaRPr lang="en-US" dirty="0"/>
          </a:p>
          <a:p>
            <a:r>
              <a:rPr lang="en-US" dirty="0"/>
              <a:t>Can the you consume and bundle in this region?</a:t>
            </a:r>
          </a:p>
          <a:p>
            <a:pPr lvl="3"/>
            <a:endParaRPr lang="en-US" dirty="0"/>
          </a:p>
          <a:p>
            <a:r>
              <a:rPr lang="en-US" dirty="0"/>
              <a:t>Can purchase 60 books?</a:t>
            </a:r>
          </a:p>
          <a:p>
            <a:pPr lvl="3"/>
            <a:endParaRPr lang="en-US" dirty="0"/>
          </a:p>
          <a:p>
            <a:r>
              <a:rPr lang="en-US" dirty="0"/>
              <a:t>Can read 60 books?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41</a:t>
            </a:fld>
            <a:endParaRPr lang="en-US"/>
          </a:p>
        </p:txBody>
      </p:sp>
      <p:pic>
        <p:nvPicPr>
          <p:cNvPr id="19" name="Content Placeholder 18" descr="A graph with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4A9CB9C3-3F19-5E39-2381-9B12E37C30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581230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Time: Region 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each of the 4 “regions” created by the two lines…</a:t>
            </a:r>
          </a:p>
          <a:p>
            <a:pPr lvl="3"/>
            <a:endParaRPr lang="en-US" dirty="0"/>
          </a:p>
          <a:p>
            <a:r>
              <a:rPr lang="en-US" dirty="0"/>
              <a:t>Can the you consume and bundle in this region?</a:t>
            </a:r>
          </a:p>
          <a:p>
            <a:pPr lvl="3"/>
            <a:endParaRPr lang="en-US" dirty="0"/>
          </a:p>
          <a:p>
            <a:r>
              <a:rPr lang="en-US" dirty="0"/>
              <a:t>Can eat 100 apples?</a:t>
            </a:r>
          </a:p>
          <a:p>
            <a:pPr lvl="3"/>
            <a:endParaRPr lang="en-US" dirty="0"/>
          </a:p>
          <a:p>
            <a:r>
              <a:rPr lang="en-US" dirty="0"/>
              <a:t>Can buy 100 apples?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42</a:t>
            </a:fld>
            <a:endParaRPr lang="en-US"/>
          </a:p>
        </p:txBody>
      </p:sp>
      <p:pic>
        <p:nvPicPr>
          <p:cNvPr id="10" name="Content Placeholder 9" descr="A graph with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A70BC708-56FE-54F5-E9E5-51622993505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92471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Time: Region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each of the 4 “regions” created by the two lines…</a:t>
            </a:r>
          </a:p>
          <a:p>
            <a:pPr lvl="3"/>
            <a:endParaRPr lang="en-US" dirty="0"/>
          </a:p>
          <a:p>
            <a:r>
              <a:rPr lang="en-US" dirty="0"/>
              <a:t>Can the you consume and bundle in this region?</a:t>
            </a:r>
          </a:p>
          <a:p>
            <a:pPr lvl="3"/>
            <a:endParaRPr lang="en-US" dirty="0"/>
          </a:p>
          <a:p>
            <a:r>
              <a:rPr lang="en-US" dirty="0"/>
              <a:t>Can eat 100 apples </a:t>
            </a:r>
            <a:r>
              <a:rPr lang="en-US" u="sng" dirty="0"/>
              <a:t>and</a:t>
            </a:r>
            <a:r>
              <a:rPr lang="en-US" dirty="0"/>
              <a:t> read 60 books?</a:t>
            </a:r>
          </a:p>
          <a:p>
            <a:pPr lvl="3"/>
            <a:endParaRPr lang="en-US" dirty="0"/>
          </a:p>
          <a:p>
            <a:r>
              <a:rPr lang="en-US" dirty="0"/>
              <a:t>Can buy 100 apples </a:t>
            </a:r>
            <a:r>
              <a:rPr lang="en-US" u="sng" dirty="0"/>
              <a:t>and</a:t>
            </a:r>
            <a:r>
              <a:rPr lang="en-US" dirty="0"/>
              <a:t> buy 60 books?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43</a:t>
            </a:fld>
            <a:endParaRPr lang="en-US"/>
          </a:p>
        </p:txBody>
      </p:sp>
      <p:pic>
        <p:nvPicPr>
          <p:cNvPr id="15" name="Content Placeholder 14" descr="A graph with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A6F7653F-DE55-64E1-8E51-885B0E1AD6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920046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Time: Region 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the you consume and bundle in this region?</a:t>
            </a:r>
          </a:p>
          <a:p>
            <a:pPr lvl="3"/>
            <a:endParaRPr lang="en-US" dirty="0"/>
          </a:p>
          <a:p>
            <a:r>
              <a:rPr lang="en-US" dirty="0"/>
              <a:t>Can eat 30 apples </a:t>
            </a:r>
            <a:r>
              <a:rPr lang="en-US" u="sng" dirty="0"/>
              <a:t>and</a:t>
            </a:r>
            <a:r>
              <a:rPr lang="en-US" dirty="0"/>
              <a:t> read 30 books?</a:t>
            </a:r>
          </a:p>
          <a:p>
            <a:pPr lvl="3"/>
            <a:endParaRPr lang="en-US" dirty="0"/>
          </a:p>
          <a:p>
            <a:r>
              <a:rPr lang="en-US" dirty="0"/>
              <a:t>Can buy 30 apples </a:t>
            </a:r>
            <a:r>
              <a:rPr lang="en-US" u="sng" dirty="0"/>
              <a:t>and</a:t>
            </a:r>
            <a:r>
              <a:rPr lang="en-US" dirty="0"/>
              <a:t> buy 30 books?</a:t>
            </a:r>
          </a:p>
          <a:p>
            <a:endParaRPr lang="en-US" dirty="0"/>
          </a:p>
          <a:p>
            <a:r>
              <a:rPr lang="en-US" dirty="0"/>
              <a:t>We have found the joint budget-time constraint!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44</a:t>
            </a:fld>
            <a:endParaRPr lang="en-US"/>
          </a:p>
        </p:txBody>
      </p:sp>
      <p:pic>
        <p:nvPicPr>
          <p:cNvPr id="14" name="Content Placeholder 13" descr="A graph with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78426478-6254-0592-17CD-3E8A0332184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6" name="Content Placeholder 14" descr="A graph with red line and blue line&#10;&#10;Description automatically generated">
            <a:extLst>
              <a:ext uri="{FF2B5EF4-FFF2-40B4-BE49-F238E27FC236}">
                <a16:creationId xmlns:a16="http://schemas.microsoft.com/office/drawing/2014/main" id="{97473D4F-5BAE-648A-8BB6-9D18557C80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670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Time: Region 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the you consume and bundle in this region?</a:t>
            </a:r>
          </a:p>
          <a:p>
            <a:pPr lvl="3"/>
            <a:endParaRPr lang="en-US" dirty="0"/>
          </a:p>
          <a:p>
            <a:r>
              <a:rPr lang="en-US" dirty="0"/>
              <a:t>Can eat 30 apples </a:t>
            </a:r>
            <a:r>
              <a:rPr lang="en-US" u="sng" dirty="0"/>
              <a:t>and</a:t>
            </a:r>
            <a:r>
              <a:rPr lang="en-US" dirty="0"/>
              <a:t> read 30 books?</a:t>
            </a:r>
          </a:p>
          <a:p>
            <a:pPr lvl="3"/>
            <a:endParaRPr lang="en-US" dirty="0"/>
          </a:p>
          <a:p>
            <a:r>
              <a:rPr lang="en-US" dirty="0"/>
              <a:t>Can buy 30 apples </a:t>
            </a:r>
            <a:r>
              <a:rPr lang="en-US" u="sng" dirty="0"/>
              <a:t>and</a:t>
            </a:r>
            <a:r>
              <a:rPr lang="en-US" dirty="0"/>
              <a:t> buy 30 books?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45</a:t>
            </a:fld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C68E99D5-1F78-D800-7306-B9D24D0BE5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99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2e1f1730-3e76-40c2-991b-f27098d5c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dd39330-ac75-4943-b87b-d10bbd68e22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50c4bc41-5f0f-4835-9540-001d61a8950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5d50803-fc92-47c0-b6a7-b7821ccd6be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781b773-e24a-4b27-8a62-1d54920c180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677bac6f-cee2-41fb-8a97-f5cc0169d145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1182</TotalTime>
  <Words>3195</Words>
  <Application>Microsoft Office PowerPoint</Application>
  <PresentationFormat>On-screen Show (4:3)</PresentationFormat>
  <Paragraphs>477</Paragraphs>
  <Slides>45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Cambria Math</vt:lpstr>
      <vt:lpstr>Franklin Gothic Book</vt:lpstr>
      <vt:lpstr>Office Theme</vt:lpstr>
      <vt:lpstr>Consumer Theory:  The Budget Constraint</vt:lpstr>
      <vt:lpstr>Economics</vt:lpstr>
      <vt:lpstr>Scarcity</vt:lpstr>
      <vt:lpstr>Scarcity</vt:lpstr>
      <vt:lpstr>Budget Constraint in Words</vt:lpstr>
      <vt:lpstr>The Budget Constraint as a Graph</vt:lpstr>
      <vt:lpstr>“Commodity Plane”</vt:lpstr>
      <vt:lpstr>PowerPoint Presentation</vt:lpstr>
      <vt:lpstr>PowerPoint Presentation</vt:lpstr>
      <vt:lpstr>Checking Affordability (1)</vt:lpstr>
      <vt:lpstr>PowerPoint Presentation</vt:lpstr>
      <vt:lpstr>PowerPoint Presentation</vt:lpstr>
      <vt:lpstr>Checking Affordability (2)</vt:lpstr>
      <vt:lpstr>PowerPoint Presentation</vt:lpstr>
      <vt:lpstr>PowerPoint Presentation</vt:lpstr>
      <vt:lpstr>Checking Affordability (3)</vt:lpstr>
      <vt:lpstr>“Budget Set”</vt:lpstr>
      <vt:lpstr>The Budget Constraint with “Math”</vt:lpstr>
      <vt:lpstr>The Two Goods</vt:lpstr>
      <vt:lpstr>The Market Prices</vt:lpstr>
      <vt:lpstr>The Expenditure</vt:lpstr>
      <vt:lpstr>The Income</vt:lpstr>
      <vt:lpstr>The Budget Constraint / Line</vt:lpstr>
      <vt:lpstr>Examining the Budget Constraint</vt:lpstr>
      <vt:lpstr>The Slope of the Budget Constraint</vt:lpstr>
      <vt:lpstr>Comparative Statics: An Overview</vt:lpstr>
      <vt:lpstr>Comparative Statics: Income ↓</vt:lpstr>
      <vt:lpstr>Comparative Statics: Price ↓</vt:lpstr>
      <vt:lpstr>Comparative Statics: Price ↑</vt:lpstr>
      <vt:lpstr>Comparative Statics: Prices</vt:lpstr>
      <vt:lpstr>Comparative Statics: Recap</vt:lpstr>
      <vt:lpstr>Real-World Examples</vt:lpstr>
      <vt:lpstr>Supplemental Nutrition  Assistance Program</vt:lpstr>
      <vt:lpstr>SNAP</vt:lpstr>
      <vt:lpstr>Budget Constraint: Pre - SNAP</vt:lpstr>
      <vt:lpstr>Budget Constraint: Post - SNAP</vt:lpstr>
      <vt:lpstr>Bulk Order Discount</vt:lpstr>
      <vt:lpstr>Budget Constraint: Bulk Discount</vt:lpstr>
      <vt:lpstr>Time Constraints</vt:lpstr>
      <vt:lpstr>Budget Constraint with Time: Lines</vt:lpstr>
      <vt:lpstr>Budget Constraint with Time: Region 1</vt:lpstr>
      <vt:lpstr>Budget Constraint with Time: Region 2</vt:lpstr>
      <vt:lpstr>Budget Constraint with Time: Region 3</vt:lpstr>
      <vt:lpstr>Budget Constraint with Time: Region 4</vt:lpstr>
      <vt:lpstr>Budget Constraint with Time: Region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21</cp:revision>
  <dcterms:created xsi:type="dcterms:W3CDTF">2023-08-17T23:00:51Z</dcterms:created>
  <dcterms:modified xsi:type="dcterms:W3CDTF">2023-08-26T22:56:32Z</dcterms:modified>
</cp:coreProperties>
</file>