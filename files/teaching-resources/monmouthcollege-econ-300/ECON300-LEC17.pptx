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40"/>
  </p:notesMasterIdLst>
  <p:sldIdLst>
    <p:sldId id="256" r:id="rId2"/>
    <p:sldId id="345" r:id="rId3"/>
    <p:sldId id="400" r:id="rId4"/>
    <p:sldId id="359" r:id="rId5"/>
    <p:sldId id="360" r:id="rId6"/>
    <p:sldId id="362" r:id="rId7"/>
    <p:sldId id="374" r:id="rId8"/>
    <p:sldId id="375" r:id="rId9"/>
    <p:sldId id="367" r:id="rId10"/>
    <p:sldId id="364" r:id="rId11"/>
    <p:sldId id="376" r:id="rId12"/>
    <p:sldId id="378" r:id="rId13"/>
    <p:sldId id="365" r:id="rId14"/>
    <p:sldId id="402" r:id="rId15"/>
    <p:sldId id="366" r:id="rId16"/>
    <p:sldId id="369" r:id="rId17"/>
    <p:sldId id="370" r:id="rId18"/>
    <p:sldId id="371" r:id="rId19"/>
    <p:sldId id="403" r:id="rId20"/>
    <p:sldId id="380" r:id="rId21"/>
    <p:sldId id="381" r:id="rId22"/>
    <p:sldId id="382" r:id="rId23"/>
    <p:sldId id="383" r:id="rId24"/>
    <p:sldId id="384" r:id="rId25"/>
    <p:sldId id="385" r:id="rId26"/>
    <p:sldId id="386" r:id="rId27"/>
    <p:sldId id="387" r:id="rId28"/>
    <p:sldId id="388" r:id="rId29"/>
    <p:sldId id="389" r:id="rId30"/>
    <p:sldId id="390" r:id="rId31"/>
    <p:sldId id="404" r:id="rId32"/>
    <p:sldId id="391" r:id="rId33"/>
    <p:sldId id="394" r:id="rId34"/>
    <p:sldId id="395" r:id="rId35"/>
    <p:sldId id="396" r:id="rId36"/>
    <p:sldId id="397" r:id="rId37"/>
    <p:sldId id="398" r:id="rId38"/>
    <p:sldId id="399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82F"/>
    <a:srgbClr val="00FF00"/>
    <a:srgbClr val="9C5BCD"/>
    <a:srgbClr val="00FFFF"/>
    <a:srgbClr val="E05F65"/>
    <a:srgbClr val="F5C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10/27/2023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If the production function is $$F(L,K)=2L^2K$$, what is the correct expression for $$MP_L$$?
https://www.polleverywhere.com/multiple_choice_polls/9mjs5QteI5GkBSftzPQ3d?display_state=instructions&amp;activity_state=opened&amp;state=opened&amp;flow=Engagement&amp;onscreen=persist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321F4-F2DE-F9BD-8F46-A009747E1A81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53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If the production function is $$F(L,K)=2L^2K$$, what is the correct expression for $$MP_L$$?
https://www.polleverywhere.com/multiple_choice_polls/9mjs5QteI5GkBSftzPQ3d?display_state=chart&amp;activity_state=closed&amp;state=closed&amp;flow=Engagement&amp;onscreen=persist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EEF847-CD40-8121-3C84-B24B2F5B302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51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223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If the production function is $$F(L,K)=2L^2K$$, what is the correct expression for the $$MRTS_{LK}$$?
https://www.polleverywhere.com/multiple_choice_polls/H0vwbWof0kAOzInRUZ2ft?display_state=instructions&amp;activity_state=opened&amp;state=opened&amp;flow=Engagement&amp;onscreen=persist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01925B-DB03-093B-1FE0-6F7189C4414C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274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If the production function is $$F(L,K)=2L^2K$$, what is the correct expression for the $$MRTS_{LK}$$?
https://www.polleverywhere.com/multiple_choice_polls/H0vwbWof0kAOzInRUZ2ft?display_state=chart&amp;activity_state=closed&amp;state=closed&amp;flow=Engagement&amp;onscreen=persist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BF810-95EC-B168-0EBF-9EDB1C483DB1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200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563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Producer Theory: </a:t>
            </a:r>
            <a:br>
              <a:rPr lang="en-US" sz="4200" dirty="0"/>
            </a:br>
            <a:r>
              <a:rPr lang="en-US" sz="4200" dirty="0"/>
              <a:t>Production Technology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4CAC-EF1A-A85B-EC49-9A85B1746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PollEv.com/brianpark046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2C501C-35FC-925E-A887-025417320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224E5-970C-FBB8-685A-5F8DBCF9E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9CE824-B9A6-35C5-93AA-E86F37D7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  <p:pic>
        <p:nvPicPr>
          <p:cNvPr id="6" name="Picture 5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A2F2C6F2-EA2C-604C-E412-B7B64210B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823" y="1271693"/>
            <a:ext cx="5210354" cy="521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39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covered consumer theory in three large “parts.”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Examined the consumer’s budget constraint.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Model the consumer’s preferences.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Combined the two parts to find the utility maximizing consumer’s choice.</a:t>
            </a:r>
          </a:p>
          <a:p>
            <a:pPr lvl="3"/>
            <a:endParaRPr lang="en-US" dirty="0"/>
          </a:p>
          <a:p>
            <a:r>
              <a:rPr lang="en-US" dirty="0"/>
              <a:t>The producer’s theory also consists of three large “parts.”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Model the producer’s production technology.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Account for costs of production.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Determine the optimal mix of inputs for production.</a:t>
            </a:r>
          </a:p>
          <a:p>
            <a:pPr marL="2286000" lvl="4" indent="-4572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We start by talking about production technology.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47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that we want to become producers of Monmouth College branded pencils. </a:t>
            </a:r>
          </a:p>
          <a:p>
            <a:pPr lvl="3"/>
            <a:endParaRPr lang="en-US" dirty="0"/>
          </a:p>
          <a:p>
            <a:r>
              <a:rPr lang="en-US" dirty="0"/>
              <a:t>Ignoring production costs for a moment, what are some questions we need to answer? </a:t>
            </a:r>
          </a:p>
          <a:p>
            <a:pPr marL="1828800" lvl="3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are the required inputs?</a:t>
            </a:r>
          </a:p>
          <a:p>
            <a:pPr marL="1828800" lvl="3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How do we combine these inputs to create output?</a:t>
            </a:r>
          </a:p>
          <a:p>
            <a:pPr marL="1828800" lvl="3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How much of each input do we need?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91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of Production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First Question: What are the required inputs?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Inputs can be classified into two big categories:</a:t>
                </a:r>
              </a:p>
              <a:p>
                <a:pPr lvl="1"/>
                <a:r>
                  <a:rPr lang="en-US" dirty="0"/>
                  <a:t>Capital: The machines to produce pencils</a:t>
                </a:r>
              </a:p>
              <a:p>
                <a:pPr lvl="1"/>
                <a:r>
                  <a:rPr lang="en-US" dirty="0"/>
                  <a:t>Labor: Workers to operate the machines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use “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” to represent Labor.</a:t>
                </a:r>
              </a:p>
              <a:p>
                <a:pPr lvl="1"/>
                <a:r>
                  <a:rPr lang="en-US" dirty="0"/>
                  <a:t>The cost of labor input is wages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Labor typically means “hours of work.”</a:t>
                </a:r>
              </a:p>
              <a:p>
                <a:pPr lvl="1"/>
                <a:r>
                  <a:rPr lang="en-US" dirty="0"/>
                  <a:t>Increase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can mean either more workers, or each worker working longer hours.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83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C0B34-5E66-FDFA-DEFF-6708C2A3B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of Production</a:t>
            </a:r>
          </a:p>
        </p:txBody>
      </p:sp>
      <p:pic>
        <p:nvPicPr>
          <p:cNvPr id="9" name="Content Placeholder 8" descr="A book cover of a person&#10;&#10;Description automatically generated">
            <a:extLst>
              <a:ext uri="{FF2B5EF4-FFF2-40B4-BE49-F238E27FC236}">
                <a16:creationId xmlns:a16="http://schemas.microsoft.com/office/drawing/2014/main" id="{C471382F-4024-0FB1-2996-4BD0B144738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962" y="1977231"/>
            <a:ext cx="2695575" cy="4048125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E04E641-002E-EF88-4564-9E7AC7BE4E5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“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” represents Capital.</a:t>
                </a:r>
              </a:p>
              <a:p>
                <a:pPr lvl="1"/>
                <a:r>
                  <a:rPr lang="en-US" dirty="0"/>
                  <a:t>German “Kapital.”</a:t>
                </a:r>
              </a:p>
              <a:p>
                <a:pPr lvl="1"/>
                <a:r>
                  <a:rPr lang="en-US" dirty="0"/>
                  <a:t>Capital is paid rent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Capital does not include the “money” required to start a business.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Capital, typically include factors such as factories, or the machines that are used in said factories.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E04E641-002E-EF88-4564-9E7AC7BE4E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38" t="-182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FC1E79-A756-8A9A-0E15-EF032AEF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A3E5D-BF4A-334D-83A2-5DCF58276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77046-2FD3-9318-BF26-B98FD5331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61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and Fixed Factors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Variable Factors: </a:t>
                </a:r>
              </a:p>
              <a:p>
                <a:pPr lvl="1"/>
                <a:r>
                  <a:rPr lang="en-US" dirty="0"/>
                  <a:t>Inputs whose quantity used in production can be changed over a given timeframe.</a:t>
                </a:r>
              </a:p>
              <a:p>
                <a:pPr lvl="1"/>
                <a:r>
                  <a:rPr lang="en-US" dirty="0"/>
                  <a:t>Convention in Economics is to consider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as the variable factor in the short run.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Fixed Factors:</a:t>
                </a:r>
              </a:p>
              <a:p>
                <a:pPr lvl="1"/>
                <a:r>
                  <a:rPr lang="en-US" dirty="0"/>
                  <a:t>Inputs whose quantity used in production can not be changed over a given timeframe.</a:t>
                </a:r>
              </a:p>
              <a:p>
                <a:pPr lvl="1"/>
                <a:r>
                  <a:rPr lang="en-US" dirty="0"/>
                  <a:t>Convention in Economics is to consider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as a fixed factor in the short run.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Purchasing new equipment for factories will take some time, but cutting down on labor is relatively manageable.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2661" r="-927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77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Short Run and the Long Run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the Monmouth College branded pencils are flying off the shelves.</a:t>
                </a:r>
              </a:p>
              <a:p>
                <a:pPr lvl="1"/>
                <a:r>
                  <a:rPr lang="en-US" dirty="0"/>
                  <a:t>Moving to a larger updated factory setting or purchasing additional machines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will take a long time.</a:t>
                </a:r>
              </a:p>
              <a:p>
                <a:pPr lvl="1"/>
                <a:r>
                  <a:rPr lang="en-US" dirty="0"/>
                  <a:t>Our immediate response should be to either hire more workers or have current workers work overtime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Over a longer timeframe, we should probably get more machines.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Short run: We have a mix of fixed and variable factors.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Long run: All factors of production are variable factors.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72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Second Question: How do we combine these inputs to create output?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Production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en-US" dirty="0"/>
                  <a:t> reflects the producer’s production technology.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Tells us how we can convert the factors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into output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87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89139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Total Product: Total amount of output.</a:t>
                </a:r>
              </a:p>
              <a:p>
                <a:pPr lvl="1"/>
                <a:r>
                  <a:rPr lang="en-US" b="0" dirty="0"/>
                  <a:t>Total product is simply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Average Product: Output produced per unit of input.</a:t>
                </a:r>
              </a:p>
              <a:p>
                <a:pPr lvl="1"/>
                <a:r>
                  <a:rPr lang="en-US" dirty="0"/>
                  <a:t>Average Product of Capital: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Average Product of Labor: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Marginal Product: Additional output gained from increasing input by a small amount</a:t>
                </a:r>
              </a:p>
              <a:p>
                <a:pPr lvl="1"/>
                <a:r>
                  <a:rPr lang="en-US" dirty="0"/>
                  <a:t>Marginal Product of Capital: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Marginal Product of Labor: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89139" cy="4351338"/>
              </a:xfrm>
              <a:blipFill>
                <a:blip r:embed="rId2"/>
                <a:stretch>
                  <a:fillRect l="-992" t="-2661" r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818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C29F2E-4D78-2A37-957E-9ED740020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15CB21-B577-313D-6EC4-8E9D8848C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6E36F-9996-DFB1-8D54-B613421DD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FF2A14-7AEE-71FE-A4AA-FDC3157513A3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643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04CB-55CC-5CB8-FEAA-C4CB2A41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895A16-E42B-28FC-44F0-F4E3E6DA9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86A67-0CF1-2185-A25A-BBEBE1522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25C184-D731-1336-1F4A-781AC380FB7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274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8913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Short run production function:</a:t>
                </a:r>
              </a:p>
              <a:p>
                <a:pPr lvl="1"/>
                <a:r>
                  <a:rPr lang="en-US" dirty="0"/>
                  <a:t>At least one input is a fixed factor.</a:t>
                </a:r>
              </a:p>
              <a:p>
                <a:pPr lvl="1"/>
                <a:r>
                  <a:rPr lang="en-US" dirty="0"/>
                  <a:t>We indicate the fixed factor by adding a “bar” above the variable.</a:t>
                </a:r>
              </a:p>
              <a:p>
                <a:pPr lvl="1"/>
                <a:r>
                  <a:rPr lang="en-US" b="0" dirty="0"/>
                  <a:t>Short run production functions where capital is the fixed factor…</a:t>
                </a:r>
              </a:p>
              <a:p>
                <a:pPr lvl="1"/>
                <a:endParaRPr lang="en-US" sz="500" b="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Long run production function:</a:t>
                </a:r>
              </a:p>
              <a:p>
                <a:pPr lvl="1"/>
                <a:r>
                  <a:rPr lang="en-US" dirty="0"/>
                  <a:t>All inputs are variable factors.</a:t>
                </a:r>
              </a:p>
              <a:p>
                <a:pPr lvl="1"/>
                <a:r>
                  <a:rPr lang="en-US" dirty="0"/>
                  <a:t>Long run production functions do not have fixed factors, so…</a:t>
                </a:r>
              </a:p>
              <a:p>
                <a:pPr lvl="1"/>
                <a:endParaRPr lang="en-US" sz="5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lvl="3"/>
                <a:endParaRPr lang="en-US" dirty="0"/>
              </a:p>
              <a:p>
                <a:endParaRPr lang="en-US" i="1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89139" cy="4351338"/>
              </a:xfrm>
              <a:blipFill>
                <a:blip r:embed="rId2"/>
                <a:stretch>
                  <a:fillRect l="-99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588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F8D13-2311-139C-BCA2-2DF046E00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Run Production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6A3F11-9FE0-FBCC-64D2-99B2FC6D3E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First, we will examine short run production in which the firm does not have enough time to change their input of capital in production.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 the short run, the output will depend entirely on the amount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that we use in production.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Plotting the functions are also much more manageable, so we visualize the relationship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𝑇𝑃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𝑀𝑃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6A3F11-9FE0-FBCC-64D2-99B2FC6D3E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27DDA-1086-88F0-36C1-703BB21ED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DA3E0-19E0-2A24-AB3A-D61E4A076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B1266-6906-3465-4A84-F56D9193C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983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07BE268-578D-5014-6A63-DC249FAA13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𝑇𝑃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𝑀𝑃</m:t>
                    </m:r>
                  </m:oMath>
                </a14:m>
                <a:r>
                  <a:rPr lang="en-US" dirty="0"/>
                  <a:t> in the Short Run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07BE268-578D-5014-6A63-DC249FAA13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30E76-13F9-E4A2-9251-C71B237C76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Total product is plotted on top panel.</a:t>
            </a:r>
          </a:p>
          <a:p>
            <a:pPr lvl="3"/>
            <a:endParaRPr lang="en-US" dirty="0"/>
          </a:p>
          <a:p>
            <a:r>
              <a:rPr lang="en-US" dirty="0"/>
              <a:t>In the panel below, the average and marginal products.</a:t>
            </a:r>
          </a:p>
          <a:p>
            <a:pPr lvl="3"/>
            <a:endParaRPr lang="en-US" dirty="0"/>
          </a:p>
          <a:p>
            <a:r>
              <a:rPr lang="en-US" dirty="0"/>
              <a:t>Observe the relationship between these three concepts.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2CAF9-5514-937B-3418-B4B1443CE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0C6F4-79FC-AE9C-FDB4-076A54610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A48C1-59A0-98DF-9B5B-E3F1B7EF7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  <p:pic>
        <p:nvPicPr>
          <p:cNvPr id="14" name="Content Placeholder 13" descr="A blue line with red and green lines&#10;&#10;Description automatically generated">
            <a:extLst>
              <a:ext uri="{FF2B5EF4-FFF2-40B4-BE49-F238E27FC236}">
                <a16:creationId xmlns:a16="http://schemas.microsoft.com/office/drawing/2014/main" id="{F1A51607-1443-AE2D-E444-0B7605EC749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48" y="1825625"/>
            <a:ext cx="3379403" cy="4351338"/>
          </a:xfrm>
        </p:spPr>
      </p:pic>
    </p:spTree>
    <p:extLst>
      <p:ext uri="{BB962C8B-B14F-4D97-AF65-F5344CB8AC3E}">
        <p14:creationId xmlns:p14="http://schemas.microsoft.com/office/powerpoint/2010/main" val="3286949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07BE268-578D-5014-6A63-DC249FAA13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𝑇𝑃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𝑀𝑃</m:t>
                    </m:r>
                  </m:oMath>
                </a14:m>
                <a:r>
                  <a:rPr lang="en-US" dirty="0"/>
                  <a:t> in the Short Run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07BE268-578D-5014-6A63-DC249FAA13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5330E76-13F9-E4A2-9251-C71B237C76E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8863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Average product is the production quantity divided by the amount of input.</a:t>
                </a:r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>
                    <a:solidFill>
                      <a:srgbClr val="00B050"/>
                    </a:solidFill>
                  </a:rPr>
                  <a:t>green</a:t>
                </a:r>
                <a:r>
                  <a:rPr lang="en-US" dirty="0"/>
                  <a:t> dotted line on top.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Marginal product is the slope of the production function.</a:t>
                </a:r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>
                    <a:solidFill>
                      <a:srgbClr val="FF0000"/>
                    </a:solidFill>
                  </a:rPr>
                  <a:t>red</a:t>
                </a:r>
                <a:r>
                  <a:rPr lang="en-US" dirty="0"/>
                  <a:t> solid line on top.</a:t>
                </a:r>
              </a:p>
              <a:p>
                <a:pPr lvl="2"/>
                <a:endParaRPr lang="en-US" dirty="0"/>
              </a:p>
              <a:p>
                <a:r>
                  <a:rPr lang="en-US" dirty="0"/>
                  <a:t>At this point,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5330E76-13F9-E4A2-9251-C71B237C76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88639" cy="4351338"/>
              </a:xfrm>
              <a:blipFill>
                <a:blip r:embed="rId3"/>
                <a:stretch>
                  <a:fillRect l="-1985" t="-1821" r="-2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2CAF9-5514-937B-3418-B4B1443CE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0C6F4-79FC-AE9C-FDB4-076A54610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A48C1-59A0-98DF-9B5B-E3F1B7EF7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  <p:pic>
        <p:nvPicPr>
          <p:cNvPr id="10" name="Content Placeholder 9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062D4675-5260-EB87-721A-AE9C0325098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48" y="1825625"/>
            <a:ext cx="3379403" cy="4351338"/>
          </a:xfrm>
        </p:spPr>
      </p:pic>
    </p:spTree>
    <p:extLst>
      <p:ext uri="{BB962C8B-B14F-4D97-AF65-F5344CB8AC3E}">
        <p14:creationId xmlns:p14="http://schemas.microsoft.com/office/powerpoint/2010/main" val="840841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07BE268-578D-5014-6A63-DC249FAA13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𝑇𝑃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𝑀𝑃</m:t>
                    </m:r>
                  </m:oMath>
                </a14:m>
                <a:r>
                  <a:rPr lang="en-US" dirty="0"/>
                  <a:t> in the Short Run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07BE268-578D-5014-6A63-DC249FAA13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5330E76-13F9-E4A2-9251-C71B237C76E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8863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At this point,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The slopes of the green dotted line and the red solid lines are identical.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At this point, the average product is maximized.</a:t>
                </a:r>
              </a:p>
              <a:p>
                <a:pPr lvl="3"/>
                <a:endParaRPr lang="en-US" dirty="0"/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5330E76-13F9-E4A2-9251-C71B237C76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88639" cy="4351338"/>
              </a:xfrm>
              <a:blipFill>
                <a:blip r:embed="rId3"/>
                <a:stretch>
                  <a:fillRect l="-198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2CAF9-5514-937B-3418-B4B1443CE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0C6F4-79FC-AE9C-FDB4-076A54610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A48C1-59A0-98DF-9B5B-E3F1B7EF7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p:pic>
        <p:nvPicPr>
          <p:cNvPr id="11" name="Content Placeholder 10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EA2ED74B-71E0-E60B-FC84-676CA883460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48" y="1825625"/>
            <a:ext cx="3379403" cy="4351338"/>
          </a:xfrm>
        </p:spPr>
      </p:pic>
    </p:spTree>
    <p:extLst>
      <p:ext uri="{BB962C8B-B14F-4D97-AF65-F5344CB8AC3E}">
        <p14:creationId xmlns:p14="http://schemas.microsoft.com/office/powerpoint/2010/main" val="2233109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07BE268-578D-5014-6A63-DC249FAA13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𝑇𝑃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𝑀𝑃</m:t>
                    </m:r>
                  </m:oMath>
                </a14:m>
                <a:r>
                  <a:rPr lang="en-US" dirty="0"/>
                  <a:t> in the Short Run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07BE268-578D-5014-6A63-DC249FAA13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5330E76-13F9-E4A2-9251-C71B237C76E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8863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Here,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At this point, the total product is maximized.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marginal product is below average product, average product will fall.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5330E76-13F9-E4A2-9251-C71B237C76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88639" cy="4351338"/>
              </a:xfrm>
              <a:blipFill>
                <a:blip r:embed="rId3"/>
                <a:stretch>
                  <a:fillRect l="-198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2CAF9-5514-937B-3418-B4B1443CE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0C6F4-79FC-AE9C-FDB4-076A54610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A48C1-59A0-98DF-9B5B-E3F1B7EF7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  <p:pic>
        <p:nvPicPr>
          <p:cNvPr id="10" name="Content Placeholder 9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BEC4DDFB-C16D-4144-4CF5-366513AF3C2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48" y="1825625"/>
            <a:ext cx="3379403" cy="4351338"/>
          </a:xfrm>
        </p:spPr>
      </p:pic>
    </p:spTree>
    <p:extLst>
      <p:ext uri="{BB962C8B-B14F-4D97-AF65-F5344CB8AC3E}">
        <p14:creationId xmlns:p14="http://schemas.microsoft.com/office/powerpoint/2010/main" val="1850911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long run, both inputs L and K are variable factors.</a:t>
            </a:r>
          </a:p>
          <a:p>
            <a:pPr lvl="3"/>
            <a:endParaRPr lang="en-US" dirty="0"/>
          </a:p>
          <a:p>
            <a:r>
              <a:rPr lang="en-US" dirty="0"/>
              <a:t>When both inputs are variable, the producer is faced with a choice: which combination of inputs should they use? </a:t>
            </a:r>
          </a:p>
          <a:p>
            <a:pPr lvl="3"/>
            <a:endParaRPr lang="en-US" dirty="0"/>
          </a:p>
          <a:p>
            <a:r>
              <a:rPr lang="en-US" dirty="0"/>
              <a:t>The answer will depend on a few elements:</a:t>
            </a:r>
          </a:p>
          <a:p>
            <a:pPr lvl="1"/>
            <a:r>
              <a:rPr lang="en-US" dirty="0"/>
              <a:t>The Production Technology</a:t>
            </a:r>
          </a:p>
          <a:p>
            <a:pPr lvl="1"/>
            <a:r>
              <a:rPr lang="en-US" dirty="0"/>
              <a:t>The Target Level of Output</a:t>
            </a:r>
          </a:p>
          <a:p>
            <a:pPr marL="1371600" lvl="3" indent="0">
              <a:buNone/>
            </a:pPr>
            <a:endParaRPr lang="en-US" dirty="0"/>
          </a:p>
          <a:p>
            <a:r>
              <a:rPr lang="en-US" dirty="0"/>
              <a:t>Given some target level of output, which combinations of inputs will allow us to reach the target?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59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Isoquant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question we are asking here should remind you of…</a:t>
            </a:r>
          </a:p>
          <a:p>
            <a:pPr lvl="1"/>
            <a:r>
              <a:rPr lang="en-US" dirty="0"/>
              <a:t>Given some target level of output, which combinations of inputs will allow us to reach the target?</a:t>
            </a:r>
          </a:p>
          <a:p>
            <a:pPr lvl="1"/>
            <a:r>
              <a:rPr lang="en-US" dirty="0"/>
              <a:t>Given some target utility level, what are the bundles that will give our consumer that much utility?</a:t>
            </a:r>
          </a:p>
          <a:p>
            <a:pPr lvl="3"/>
            <a:endParaRPr lang="en-US" dirty="0"/>
          </a:p>
          <a:p>
            <a:r>
              <a:rPr lang="en-US" dirty="0"/>
              <a:t>This concept is analogous to the consumers’ indifference curves.</a:t>
            </a:r>
          </a:p>
          <a:p>
            <a:pPr lvl="3"/>
            <a:endParaRPr lang="en-US" dirty="0"/>
          </a:p>
          <a:p>
            <a:r>
              <a:rPr lang="en-US" dirty="0"/>
              <a:t>For producers, this object is called the “isoquant.”</a:t>
            </a:r>
          </a:p>
          <a:p>
            <a:pPr lvl="1"/>
            <a:r>
              <a:rPr lang="en-US" dirty="0"/>
              <a:t>Iso- : Same, Equal (e.g., Isosceles, Isotope)</a:t>
            </a:r>
          </a:p>
          <a:p>
            <a:pPr lvl="1"/>
            <a:r>
              <a:rPr lang="en-US" dirty="0"/>
              <a:t>Quant: Quantity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814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01C9B-93D5-06A1-1785-D4C672070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Isoquant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CCB608F-19F8-8792-801B-16B9FCD464E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the target is to produce 500 units of output.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production function is: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Then the isoquant representing the output level 500 will pass through the points…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CCB608F-19F8-8792-801B-16B9FCD464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3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E09D8-14F8-4A43-D091-A8C2EB513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1145B-A5B9-9387-C5F8-03D6BF3C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3389D-14A6-7365-8D17-8D6103DC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  <p:pic>
        <p:nvPicPr>
          <p:cNvPr id="13" name="Content Placeholder 12" descr="A graph of a function&#10;&#10;Description automatically generated">
            <a:extLst>
              <a:ext uri="{FF2B5EF4-FFF2-40B4-BE49-F238E27FC236}">
                <a16:creationId xmlns:a16="http://schemas.microsoft.com/office/drawing/2014/main" id="{7941FD6A-0975-0F69-9EC0-855F06BF343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581891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01C9B-93D5-06A1-1785-D4C672070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Isoquant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CCB608F-19F8-8792-801B-16B9FCD464E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4049024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  <a:p>
                <a:endParaRPr lang="en-US" sz="50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=5,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en-US" dirty="0"/>
              </a:p>
              <a:p>
                <a:pPr lvl="3"/>
                <a:endParaRPr lang="en-US" sz="50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=10,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en-US" dirty="0"/>
              </a:p>
              <a:p>
                <a:pPr lvl="3"/>
                <a:endParaRPr lang="en-US" sz="50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=20,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endParaRPr lang="en-US" dirty="0"/>
              </a:p>
              <a:p>
                <a:pPr lvl="3"/>
                <a:endParaRPr lang="en-US" sz="50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=50,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  <a:p>
                <a:pPr lvl="3"/>
                <a:endParaRPr lang="en-US" sz="50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=100,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Connecting all combinations that result in an output of 500 gets us the isoquant.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CCB608F-19F8-8792-801B-16B9FCD464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4049024" cy="4351338"/>
              </a:xfrm>
              <a:blipFill>
                <a:blip r:embed="rId2"/>
                <a:stretch>
                  <a:fillRect l="-1955" t="-1261" r="-4211" b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E09D8-14F8-4A43-D091-A8C2EB513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1145B-A5B9-9387-C5F8-03D6BF3C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3389D-14A6-7365-8D17-8D6103DC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  <p:pic>
        <p:nvPicPr>
          <p:cNvPr id="16" name="Content Placeholder 15" descr="A graph of a function&#10;&#10;Description automatically generated">
            <a:extLst>
              <a:ext uri="{FF2B5EF4-FFF2-40B4-BE49-F238E27FC236}">
                <a16:creationId xmlns:a16="http://schemas.microsoft.com/office/drawing/2014/main" id="{F4074034-9DA6-0BAB-2326-297C4D3314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7" name="Content Placeholder 22" descr="A graph of a function&#10;&#10;Description automatically generated">
            <a:extLst>
              <a:ext uri="{FF2B5EF4-FFF2-40B4-BE49-F238E27FC236}">
                <a16:creationId xmlns:a16="http://schemas.microsoft.com/office/drawing/2014/main" id="{9E8B806E-0A15-5A3A-ECC1-ACB044C01F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8" name="Content Placeholder 24" descr="A graph of a function&#10;&#10;Description automatically generated">
            <a:extLst>
              <a:ext uri="{FF2B5EF4-FFF2-40B4-BE49-F238E27FC236}">
                <a16:creationId xmlns:a16="http://schemas.microsoft.com/office/drawing/2014/main" id="{3D248650-E677-6C45-A66E-C57F9DAB28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9" name="Content Placeholder 30" descr="A graph of a function&#10;&#10;Description automatically generated">
            <a:extLst>
              <a:ext uri="{FF2B5EF4-FFF2-40B4-BE49-F238E27FC236}">
                <a16:creationId xmlns:a16="http://schemas.microsoft.com/office/drawing/2014/main" id="{3AE486CA-7CC5-6C35-3366-CC7C599847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0" name="Content Placeholder 32" descr="A graph of a function&#10;&#10;Description automatically generated">
            <a:extLst>
              <a:ext uri="{FF2B5EF4-FFF2-40B4-BE49-F238E27FC236}">
                <a16:creationId xmlns:a16="http://schemas.microsoft.com/office/drawing/2014/main" id="{1452A2E3-CE8C-0AB4-AFD3-3DA50422F4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1" name="Content Placeholder 38" descr="A graph of a function&#10;&#10;Description automatically generated">
            <a:extLst>
              <a:ext uri="{FF2B5EF4-FFF2-40B4-BE49-F238E27FC236}">
                <a16:creationId xmlns:a16="http://schemas.microsoft.com/office/drawing/2014/main" id="{14B81249-BBE8-E037-ABB2-571CFD0048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29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01C9B-93D5-06A1-1785-D4C672070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Isoquant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E09D8-14F8-4A43-D091-A8C2EB513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1145B-A5B9-9387-C5F8-03D6BF3C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3389D-14A6-7365-8D17-8D6103DC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36">
                <a:extLst>
                  <a:ext uri="{FF2B5EF4-FFF2-40B4-BE49-F238E27FC236}">
                    <a16:creationId xmlns:a16="http://schemas.microsoft.com/office/drawing/2014/main" id="{976EAE3B-8E41-31E9-AEB1-E34A09188C9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97265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are producing 500 units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, using 20 units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25 units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we increase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to 50…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can produce 1,000 units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Isoquants further away from the origin represent greater levels of production.</a:t>
                </a:r>
              </a:p>
            </p:txBody>
          </p:sp>
        </mc:Choice>
        <mc:Fallback xmlns="">
          <p:sp>
            <p:nvSpPr>
              <p:cNvPr id="37" name="Content Placeholder 36">
                <a:extLst>
                  <a:ext uri="{FF2B5EF4-FFF2-40B4-BE49-F238E27FC236}">
                    <a16:creationId xmlns:a16="http://schemas.microsoft.com/office/drawing/2014/main" id="{976EAE3B-8E41-31E9-AEB1-E34A09188C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97265" cy="4351338"/>
              </a:xfrm>
              <a:blipFill>
                <a:blip r:embed="rId2"/>
                <a:stretch>
                  <a:fillRect l="-1982" t="-1821" r="-3963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Content Placeholder 12" descr="A graph of a function&#10;&#10;Description automatically generated">
            <a:extLst>
              <a:ext uri="{FF2B5EF4-FFF2-40B4-BE49-F238E27FC236}">
                <a16:creationId xmlns:a16="http://schemas.microsoft.com/office/drawing/2014/main" id="{B9D5A80F-3442-A11A-9D9E-0939035F70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4" name="Content Placeholder 3">
            <a:extLst>
              <a:ext uri="{FF2B5EF4-FFF2-40B4-BE49-F238E27FC236}">
                <a16:creationId xmlns:a16="http://schemas.microsoft.com/office/drawing/2014/main" id="{61102906-1092-4E36-EDF6-FB7BC0A880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5" name="Content Placeholder 11" descr="A graph of a function&#10;&#10;Description automatically generated">
            <a:extLst>
              <a:ext uri="{FF2B5EF4-FFF2-40B4-BE49-F238E27FC236}">
                <a16:creationId xmlns:a16="http://schemas.microsoft.com/office/drawing/2014/main" id="{E7D6E8D6-B090-241C-6EB7-5134CCFD17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76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01C9B-93D5-06A1-1785-D4C672070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Isoquant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E09D8-14F8-4A43-D091-A8C2EB513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1145B-A5B9-9387-C5F8-03D6BF3C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3389D-14A6-7365-8D17-8D6103DC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976EAE3B-8E41-31E9-AEB1-E34A09188C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Isoquants are very similar to indifference curves.</a:t>
            </a:r>
          </a:p>
          <a:p>
            <a:pPr lvl="3"/>
            <a:endParaRPr lang="en-US" dirty="0"/>
          </a:p>
          <a:p>
            <a:r>
              <a:rPr lang="en-US" dirty="0"/>
              <a:t>Indifference curves tell us which combinations of goods result in the same level of utility.</a:t>
            </a:r>
          </a:p>
          <a:p>
            <a:pPr lvl="3"/>
            <a:endParaRPr lang="en-US" dirty="0"/>
          </a:p>
          <a:p>
            <a:r>
              <a:rPr lang="en-US" dirty="0"/>
              <a:t>Isoquants tell us which combinations of inputs result in the same level of output.</a:t>
            </a:r>
          </a:p>
        </p:txBody>
      </p:sp>
      <p:pic>
        <p:nvPicPr>
          <p:cNvPr id="22" name="Content Placeholder 21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4B0D41AE-82B5-93B0-7A19-CB516B426A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42338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01C9B-93D5-06A1-1785-D4C672070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Isoquant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E09D8-14F8-4A43-D091-A8C2EB513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1145B-A5B9-9387-C5F8-03D6BF3C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3389D-14A6-7365-8D17-8D6103DC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36">
                <a:extLst>
                  <a:ext uri="{FF2B5EF4-FFF2-40B4-BE49-F238E27FC236}">
                    <a16:creationId xmlns:a16="http://schemas.microsoft.com/office/drawing/2014/main" id="{976EAE3B-8E41-31E9-AEB1-E34A09188C9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98001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Moving along the isoquant, we can learn how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can be substituted in the production process.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Suppose initially, we are producing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by employing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labor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capital.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Is there a way to use more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less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while keeping production levels constant?</a:t>
                </a:r>
              </a:p>
            </p:txBody>
          </p:sp>
        </mc:Choice>
        <mc:Fallback xmlns="">
          <p:sp>
            <p:nvSpPr>
              <p:cNvPr id="37" name="Content Placeholder 36">
                <a:extLst>
                  <a:ext uri="{FF2B5EF4-FFF2-40B4-BE49-F238E27FC236}">
                    <a16:creationId xmlns:a16="http://schemas.microsoft.com/office/drawing/2014/main" id="{976EAE3B-8E41-31E9-AEB1-E34A09188C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980012" cy="4351338"/>
              </a:xfrm>
              <a:blipFill>
                <a:blip r:embed="rId2"/>
                <a:stretch>
                  <a:fillRect l="-1991" t="-1821" r="-1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 descr="A graph of a function&#10;&#10;Description automatically generated">
            <a:extLst>
              <a:ext uri="{FF2B5EF4-FFF2-40B4-BE49-F238E27FC236}">
                <a16:creationId xmlns:a16="http://schemas.microsoft.com/office/drawing/2014/main" id="{D8C9AABF-C9E3-4427-AA27-C721B3342C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4079542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01C9B-93D5-06A1-1785-D4C672070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Isoquant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E09D8-14F8-4A43-D091-A8C2EB513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1145B-A5B9-9387-C5F8-03D6BF3C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3389D-14A6-7365-8D17-8D6103DC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36">
                <a:extLst>
                  <a:ext uri="{FF2B5EF4-FFF2-40B4-BE49-F238E27FC236}">
                    <a16:creationId xmlns:a16="http://schemas.microsoft.com/office/drawing/2014/main" id="{976EAE3B-8E41-31E9-AEB1-E34A09188C9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98001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we increase labor input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Then, we can decrease the amount of capital input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production technology allows some degree of substitution between the inputs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7" name="Content Placeholder 36">
                <a:extLst>
                  <a:ext uri="{FF2B5EF4-FFF2-40B4-BE49-F238E27FC236}">
                    <a16:creationId xmlns:a16="http://schemas.microsoft.com/office/drawing/2014/main" id="{976EAE3B-8E41-31E9-AEB1-E34A09188C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980012" cy="4351338"/>
              </a:xfrm>
              <a:blipFill>
                <a:blip r:embed="rId2"/>
                <a:stretch>
                  <a:fillRect l="-1991" t="-1821" r="-1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 descr="A graph of a function&#10;&#10;Description automatically generated">
            <a:extLst>
              <a:ext uri="{FF2B5EF4-FFF2-40B4-BE49-F238E27FC236}">
                <a16:creationId xmlns:a16="http://schemas.microsoft.com/office/drawing/2014/main" id="{D8C9AABF-C9E3-4427-AA27-C721B3342C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3" name="Content Placeholder 9">
            <a:extLst>
              <a:ext uri="{FF2B5EF4-FFF2-40B4-BE49-F238E27FC236}">
                <a16:creationId xmlns:a16="http://schemas.microsoft.com/office/drawing/2014/main" id="{6A0938E4-4AFE-70EE-46D2-2C6BDD992D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4" name="Content Placeholder 13">
            <a:extLst>
              <a:ext uri="{FF2B5EF4-FFF2-40B4-BE49-F238E27FC236}">
                <a16:creationId xmlns:a16="http://schemas.microsoft.com/office/drawing/2014/main" id="{ECF9D1FC-B4CF-261B-9D8A-E139627AC2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83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01C9B-93D5-06A1-1785-D4C672070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Rate of Technical Substitution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E09D8-14F8-4A43-D091-A8C2EB513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1145B-A5B9-9387-C5F8-03D6BF3C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3389D-14A6-7365-8D17-8D6103DC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36">
                <a:extLst>
                  <a:ext uri="{FF2B5EF4-FFF2-40B4-BE49-F238E27FC236}">
                    <a16:creationId xmlns:a16="http://schemas.microsoft.com/office/drawing/2014/main" id="{976EAE3B-8E41-31E9-AEB1-E34A09188C9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98001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we increase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by 1, then we can reduce some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while keeping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 b="1" dirty="0"/>
                  <a:t>Marginal Rate of Technical Substitution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𝑴𝑹𝑻</m:t>
                    </m:r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𝑳𝑲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“Amount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that can be substituted by increasing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by 1 unit, while keeping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constant.”</a:t>
                </a:r>
              </a:p>
            </p:txBody>
          </p:sp>
        </mc:Choice>
        <mc:Fallback xmlns="">
          <p:sp>
            <p:nvSpPr>
              <p:cNvPr id="37" name="Content Placeholder 36">
                <a:extLst>
                  <a:ext uri="{FF2B5EF4-FFF2-40B4-BE49-F238E27FC236}">
                    <a16:creationId xmlns:a16="http://schemas.microsoft.com/office/drawing/2014/main" id="{976EAE3B-8E41-31E9-AEB1-E34A09188C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980012" cy="4351338"/>
              </a:xfrm>
              <a:blipFill>
                <a:blip r:embed="rId2"/>
                <a:stretch>
                  <a:fillRect l="-1991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Content Placeholder 21" descr="A graph of a function&#10;&#10;Description automatically generated">
            <a:extLst>
              <a:ext uri="{FF2B5EF4-FFF2-40B4-BE49-F238E27FC236}">
                <a16:creationId xmlns:a16="http://schemas.microsoft.com/office/drawing/2014/main" id="{B38A2C53-037C-24C4-4044-7BC0390A86A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23" name="Content Placeholder 8" descr="A graph of a function&#10;&#10;Description automatically generated">
            <a:extLst>
              <a:ext uri="{FF2B5EF4-FFF2-40B4-BE49-F238E27FC236}">
                <a16:creationId xmlns:a16="http://schemas.microsoft.com/office/drawing/2014/main" id="{B7282AEA-91A1-BD06-7413-7BE15A7A12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1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01C9B-93D5-06A1-1785-D4C672070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Rate of Technical Substitution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E09D8-14F8-4A43-D091-A8C2EB513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1145B-A5B9-9387-C5F8-03D6BF3C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3389D-14A6-7365-8D17-8D6103DC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36">
                <a:extLst>
                  <a:ext uri="{FF2B5EF4-FFF2-40B4-BE49-F238E27FC236}">
                    <a16:creationId xmlns:a16="http://schemas.microsoft.com/office/drawing/2014/main" id="{976EAE3B-8E41-31E9-AEB1-E34A09188C9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98001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Using graphs,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𝑀𝑅𝑇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𝐿𝐾</m:t>
                        </m:r>
                      </m:sub>
                    </m:sSub>
                  </m:oMath>
                </a14:m>
                <a:r>
                  <a:rPr lang="en-US" dirty="0"/>
                  <a:t> is the slope of the isoquant.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Using math, we define…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𝐿𝐾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box>
                        </m:num>
                        <m:den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sz="1200" dirty="0"/>
                  <a:t>We ignore the “sign” of the MRTS for simplicity.</a:t>
                </a:r>
              </a:p>
              <a:p>
                <a:pPr marL="0" indent="0" algn="ctr">
                  <a:buNone/>
                </a:pPr>
                <a:endParaRPr lang="en-US" sz="1200" dirty="0"/>
              </a:p>
            </p:txBody>
          </p:sp>
        </mc:Choice>
        <mc:Fallback xmlns="">
          <p:sp>
            <p:nvSpPr>
              <p:cNvPr id="37" name="Content Placeholder 36">
                <a:extLst>
                  <a:ext uri="{FF2B5EF4-FFF2-40B4-BE49-F238E27FC236}">
                    <a16:creationId xmlns:a16="http://schemas.microsoft.com/office/drawing/2014/main" id="{976EAE3B-8E41-31E9-AEB1-E34A09188C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980012" cy="4351338"/>
              </a:xfrm>
              <a:blipFill>
                <a:blip r:embed="rId2"/>
                <a:stretch>
                  <a:fillRect l="-1991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Content Placeholder 16" descr="A graph of a function&#10;&#10;Description automatically generated">
            <a:extLst>
              <a:ext uri="{FF2B5EF4-FFF2-40B4-BE49-F238E27FC236}">
                <a16:creationId xmlns:a16="http://schemas.microsoft.com/office/drawing/2014/main" id="{D7BFBB70-04E2-98E7-B7BF-F43C67D24A9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590136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33551B-B84D-EA18-0680-ACFC03834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D2EAD-E1B3-F950-6C6B-05124CCE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A5C15-18E1-5B87-3195-CA794E633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C3C573-398D-FE19-A1E9-C7569F720854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4768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8DF950-8535-19F5-2103-8EC03159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09C8CF-8CCF-177B-4CAD-DCC75229C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7802C-2151-AF72-4E2D-74E542413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9D1688-03C6-194F-E1AC-A735B6DD5967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8103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3D5B0-E792-D37E-DF5D-DF817567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Topics in Production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E6C0C-8E3E-F63A-94DC-B2C8666AC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Returns to Scale</a:t>
            </a:r>
          </a:p>
          <a:p>
            <a:pPr lvl="1"/>
            <a:r>
              <a:rPr lang="en-US" dirty="0"/>
              <a:t>Constant Returns to Scale</a:t>
            </a:r>
          </a:p>
          <a:p>
            <a:pPr lvl="1"/>
            <a:r>
              <a:rPr lang="en-US" dirty="0"/>
              <a:t>Increasing Returns to Scale</a:t>
            </a:r>
          </a:p>
          <a:p>
            <a:pPr lvl="1"/>
            <a:r>
              <a:rPr lang="en-US" dirty="0"/>
              <a:t>Decreasing Returns to Scale</a:t>
            </a:r>
          </a:p>
          <a:p>
            <a:pPr lvl="3"/>
            <a:endParaRPr lang="en-US" dirty="0"/>
          </a:p>
          <a:p>
            <a:r>
              <a:rPr lang="en-US" dirty="0"/>
              <a:t>Technical Progress</a:t>
            </a:r>
          </a:p>
          <a:p>
            <a:pPr lvl="3"/>
            <a:endParaRPr lang="en-US" dirty="0"/>
          </a:p>
          <a:p>
            <a:r>
              <a:rPr lang="en-US" dirty="0"/>
              <a:t>Types of Production Functions</a:t>
            </a:r>
          </a:p>
          <a:p>
            <a:pPr lvl="1"/>
            <a:r>
              <a:rPr lang="en-US" dirty="0"/>
              <a:t>Cobb-Douglas Production Functions</a:t>
            </a:r>
          </a:p>
          <a:p>
            <a:pPr lvl="1"/>
            <a:r>
              <a:rPr lang="en-US" dirty="0"/>
              <a:t>Linear Production Functions</a:t>
            </a:r>
          </a:p>
          <a:p>
            <a:pPr lvl="1"/>
            <a:r>
              <a:rPr lang="en-US" dirty="0"/>
              <a:t>Leontief Production Functions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ABE25-B42C-3D2E-C186-37BEE09D8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21A58-B42E-85DB-CADA-E0B9F273A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4C68B-8774-3167-7445-570F567A5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615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3D5B0-E792-D37E-DF5D-DF817567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Returns to Scale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2E6C0C-8E3E-F63A-94DC-B2C8666AC9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When we increase the amount of input, it is only natural that it results in an increase in the amount of total output.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Exactly by how much would the total output will increase depends on the production technology.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Suppose that we double the amount of both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may increase by exactly 2 times the original amount, or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may increase by more than 2 times the original amount, or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might increase by less than 2 times the original amount.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2E6C0C-8E3E-F63A-94DC-B2C8666AC9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ABE25-B42C-3D2E-C186-37BEE09D8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21A58-B42E-85DB-CADA-E0B9F273A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4C68B-8774-3167-7445-570F567A5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947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82181-68AD-1CF5-724A-BB7DEA2C8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Returns to Scale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F3E5023-4A62-E010-B8A7-0C01B72F956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057651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Constant Returns to Scale </a:t>
                </a:r>
              </a:p>
              <a:p>
                <a:pPr lvl="1"/>
                <a:r>
                  <a:rPr lang="en-US" dirty="0"/>
                  <a:t>Increase inputs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times, output increases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times.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1"/>
                <a:r>
                  <a:rPr lang="en-US" dirty="0"/>
                  <a:t>Buy a new factory, with the exact same setup as the original one.</a:t>
                </a:r>
              </a:p>
              <a:p>
                <a:pPr lvl="1"/>
                <a:r>
                  <a:rPr lang="en-US" dirty="0"/>
                  <a:t>Hire the same number of workers to work the same machines.</a:t>
                </a:r>
              </a:p>
              <a:p>
                <a:pPr lvl="1"/>
                <a:r>
                  <a:rPr lang="en-US" dirty="0"/>
                  <a:t>Output </a:t>
                </a:r>
                <a:r>
                  <a:rPr lang="en-US" i="1" dirty="0"/>
                  <a:t>should</a:t>
                </a:r>
                <a:r>
                  <a:rPr lang="en-US" dirty="0"/>
                  <a:t> exactly double.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F3E5023-4A62-E010-B8A7-0C01B72F95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057651" cy="4351338"/>
              </a:xfrm>
              <a:blipFill>
                <a:blip r:embed="rId2"/>
                <a:stretch>
                  <a:fillRect l="-1952" t="-1821" r="-15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00D98-38F5-A1D6-0BFE-69DB0E7B5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5F217-5643-92D5-9388-9ED894EEB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B9A7F-413C-501B-D6A4-327954C0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33</a:t>
            </a:fld>
            <a:endParaRPr lang="en-US" dirty="0"/>
          </a:p>
        </p:txBody>
      </p:sp>
      <p:pic>
        <p:nvPicPr>
          <p:cNvPr id="13" name="Content Placeholder 12" descr="A graph of a function&#10;&#10;Description automatically generated">
            <a:extLst>
              <a:ext uri="{FF2B5EF4-FFF2-40B4-BE49-F238E27FC236}">
                <a16:creationId xmlns:a16="http://schemas.microsoft.com/office/drawing/2014/main" id="{7F7CAB1B-4C90-B9EE-E13B-DDC346D8F0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80874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82181-68AD-1CF5-724A-BB7DEA2C8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Returns to Scale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F3E5023-4A62-E010-B8A7-0C01B72F956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Increasing Returns to Scale </a:t>
                </a:r>
              </a:p>
              <a:p>
                <a:pPr lvl="1"/>
                <a:r>
                  <a:rPr lang="en-US" dirty="0"/>
                  <a:t>Increase inputs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times, output increases by more than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times.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1"/>
                <a:r>
                  <a:rPr lang="en-US" dirty="0"/>
                  <a:t>Increased productivity due to division of labor.</a:t>
                </a:r>
              </a:p>
              <a:p>
                <a:pPr lvl="1"/>
                <a:r>
                  <a:rPr lang="en-US" dirty="0"/>
                  <a:t>Specialized machines that allow for more efficient work.</a:t>
                </a:r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F3E5023-4A62-E010-B8A7-0C01B72F95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351338"/>
              </a:xfrm>
              <a:blipFill>
                <a:blip r:embed="rId2"/>
                <a:stretch>
                  <a:fillRect l="-2000" t="-1821" r="-3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00D98-38F5-A1D6-0BFE-69DB0E7B5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5F217-5643-92D5-9388-9ED894EEB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B9A7F-413C-501B-D6A4-327954C0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34</a:t>
            </a:fld>
            <a:endParaRPr lang="en-US" dirty="0"/>
          </a:p>
        </p:txBody>
      </p:sp>
      <p:pic>
        <p:nvPicPr>
          <p:cNvPr id="10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9D80A1A4-7C3E-0D14-3535-E9641C1231D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19846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82181-68AD-1CF5-724A-BB7DEA2C8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Returns to Scale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F3E5023-4A62-E010-B8A7-0C01B72F956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057651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Decreasing Returns to Scale </a:t>
                </a:r>
              </a:p>
              <a:p>
                <a:pPr lvl="1"/>
                <a:r>
                  <a:rPr lang="en-US" dirty="0"/>
                  <a:t>Increase inputs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times, output increases by less than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times.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1"/>
                <a:r>
                  <a:rPr lang="en-US" dirty="0"/>
                  <a:t>The quality of each input may be lower.</a:t>
                </a:r>
              </a:p>
              <a:p>
                <a:pPr lvl="1"/>
                <a:r>
                  <a:rPr lang="en-US" dirty="0"/>
                  <a:t>Lacking managerial skills to oversee a large workforce.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F3E5023-4A62-E010-B8A7-0C01B72F95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057651" cy="4351338"/>
              </a:xfrm>
              <a:blipFill>
                <a:blip r:embed="rId2"/>
                <a:stretch>
                  <a:fillRect l="-1952" t="-1821" r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00D98-38F5-A1D6-0BFE-69DB0E7B5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5F217-5643-92D5-9388-9ED894EEB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B9A7F-413C-501B-D6A4-327954C0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35</a:t>
            </a:fld>
            <a:endParaRPr lang="en-US" dirty="0"/>
          </a:p>
        </p:txBody>
      </p:sp>
      <p:pic>
        <p:nvPicPr>
          <p:cNvPr id="11" name="Content Placeholder 10" descr="A graph of a function&#10;&#10;Description automatically generated">
            <a:extLst>
              <a:ext uri="{FF2B5EF4-FFF2-40B4-BE49-F238E27FC236}">
                <a16:creationId xmlns:a16="http://schemas.microsoft.com/office/drawing/2014/main" id="{0BA979E9-0EA2-2ECA-4478-D9ABF314F70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030593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3D5B0-E792-D37E-DF5D-DF817567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E6C0C-8E3E-F63A-94DC-B2C8666AC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Output may increase as a reaction to increased inputs, but it may also increase due to the improvement of the production technology itself.</a:t>
            </a:r>
          </a:p>
          <a:p>
            <a:pPr lvl="3"/>
            <a:endParaRPr lang="en-US" dirty="0"/>
          </a:p>
          <a:p>
            <a:r>
              <a:rPr lang="en-US" dirty="0"/>
              <a:t>When output increases in absence of an increase of inputs in production, we say that there was Technical Progress.</a:t>
            </a:r>
          </a:p>
          <a:p>
            <a:pPr lvl="3"/>
            <a:endParaRPr lang="en-US" dirty="0"/>
          </a:p>
          <a:p>
            <a:r>
              <a:rPr lang="en-US" dirty="0"/>
              <a:t>Technical progress is the evolution of the production function itself.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ABE25-B42C-3D2E-C186-37BEE09D8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21A58-B42E-85DB-CADA-E0B9F273A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4C68B-8774-3167-7445-570F567A5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642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8AA5B-00AA-03C6-04FB-3247E201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4EECF-37CF-631B-6C6D-4189F418E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algn="ctr"/>
            <a:r>
              <a:rPr lang="en-US" dirty="0"/>
              <a:t>Short Run Production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A3D57D-4D64-3046-8364-15D36EB2D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/>
          <a:lstStyle/>
          <a:p>
            <a:pPr algn="ctr"/>
            <a:r>
              <a:rPr lang="en-US" dirty="0"/>
              <a:t>Long Run Production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5C2577-2E5C-2E0B-AB73-D430538F3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D4C490-E878-02AC-A85C-895F40A3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DB9D3C-D9E6-7747-44D1-1699022B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37</a:t>
            </a:fld>
            <a:endParaRPr lang="en-US" dirty="0"/>
          </a:p>
        </p:txBody>
      </p:sp>
      <p:pic>
        <p:nvPicPr>
          <p:cNvPr id="15" name="Content Placeholder 14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1B85A81F-8CD0-DAF0-B4BA-7A113632821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79" y="2505075"/>
            <a:ext cx="3316129" cy="3684588"/>
          </a:xfrm>
        </p:spPr>
      </p:pic>
      <p:pic>
        <p:nvPicPr>
          <p:cNvPr id="11" name="Content Placeholder 10" descr="A red line with blue lines&#10;&#10;Description automatically generated">
            <a:extLst>
              <a:ext uri="{FF2B5EF4-FFF2-40B4-BE49-F238E27FC236}">
                <a16:creationId xmlns:a16="http://schemas.microsoft.com/office/drawing/2014/main" id="{94453E07-2709-1C04-EB7F-0F7804CC8F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19" y="2505075"/>
            <a:ext cx="3655575" cy="3684588"/>
          </a:xfrm>
        </p:spPr>
      </p:pic>
    </p:spTree>
    <p:extLst>
      <p:ext uri="{BB962C8B-B14F-4D97-AF65-F5344CB8AC3E}">
        <p14:creationId xmlns:p14="http://schemas.microsoft.com/office/powerpoint/2010/main" val="25677139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Types of Production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Similar to consumer theory, we will be working with three different types of production functions:</a:t>
                </a:r>
              </a:p>
              <a:p>
                <a:endParaRPr lang="en-US" sz="500" dirty="0"/>
              </a:p>
              <a:p>
                <a:pPr lvl="1"/>
                <a:r>
                  <a:rPr lang="en-US" dirty="0"/>
                  <a:t>Cobb-Douglas Production Functions</a:t>
                </a:r>
              </a:p>
              <a:p>
                <a:pPr lvl="1"/>
                <a:endParaRPr lang="en-US" sz="5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Linear Production Functions</a:t>
                </a:r>
              </a:p>
              <a:p>
                <a:pPr lvl="1"/>
                <a:endParaRPr lang="en-US" sz="5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𝑏𝐾</m:t>
                      </m:r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Leontief Production Functions</a:t>
                </a:r>
              </a:p>
              <a:p>
                <a:pPr lvl="1"/>
                <a:endParaRPr lang="en-US" sz="5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08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5a32a3c-a135-484a-bad6-a747308e6d5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1ccc1a29-0afc-4151-ba78-cd16089d5fa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c77a2c26-73e3-473e-a06a-30d62b5ebb4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a9935299-9a4f-440e-b4fb-3b1e290cbf2a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9150</TotalTime>
  <Words>2585</Words>
  <Application>Microsoft Office PowerPoint</Application>
  <PresentationFormat>On-screen Show (4:3)</PresentationFormat>
  <Paragraphs>402</Paragraphs>
  <Slides>38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Cambria Math</vt:lpstr>
      <vt:lpstr>Franklin Gothic Book</vt:lpstr>
      <vt:lpstr>Office Theme</vt:lpstr>
      <vt:lpstr>Producer Theory:  Production Technology</vt:lpstr>
      <vt:lpstr>PollEv.com/brianpark046</vt:lpstr>
      <vt:lpstr>Production</vt:lpstr>
      <vt:lpstr>Production</vt:lpstr>
      <vt:lpstr>Factors of Production</vt:lpstr>
      <vt:lpstr>Factors of Production</vt:lpstr>
      <vt:lpstr>Variable and Fixed Factors</vt:lpstr>
      <vt:lpstr>The Short Run and the Long Run</vt:lpstr>
      <vt:lpstr>Production Function</vt:lpstr>
      <vt:lpstr>Production Function</vt:lpstr>
      <vt:lpstr>PowerPoint Presentation</vt:lpstr>
      <vt:lpstr>PowerPoint Presentation</vt:lpstr>
      <vt:lpstr>Production Function</vt:lpstr>
      <vt:lpstr>Short Run Production</vt:lpstr>
      <vt:lpstr>TP, AP, MP in the Short Run</vt:lpstr>
      <vt:lpstr>TP, AP, MP in the Short Run</vt:lpstr>
      <vt:lpstr>TP, AP, MP in the Short Run</vt:lpstr>
      <vt:lpstr>TP, AP, MP in the Short Run</vt:lpstr>
      <vt:lpstr>Long Run Production</vt:lpstr>
      <vt:lpstr>Isoquant</vt:lpstr>
      <vt:lpstr>Isoquant</vt:lpstr>
      <vt:lpstr>Isoquant</vt:lpstr>
      <vt:lpstr>Isoquant</vt:lpstr>
      <vt:lpstr>Isoquant</vt:lpstr>
      <vt:lpstr>Isoquant</vt:lpstr>
      <vt:lpstr>Isoquant</vt:lpstr>
      <vt:lpstr>Marginal Rate of Technical Substitution</vt:lpstr>
      <vt:lpstr>Marginal Rate of Technical Substitution</vt:lpstr>
      <vt:lpstr>PowerPoint Presentation</vt:lpstr>
      <vt:lpstr>PowerPoint Presentation</vt:lpstr>
      <vt:lpstr>Other Topics in Production Technology</vt:lpstr>
      <vt:lpstr>Returns to Scale</vt:lpstr>
      <vt:lpstr>Returns to Scale</vt:lpstr>
      <vt:lpstr>Returns to Scale</vt:lpstr>
      <vt:lpstr>Returns to Scale</vt:lpstr>
      <vt:lpstr>Technical Progress</vt:lpstr>
      <vt:lpstr>Technical Progress</vt:lpstr>
      <vt:lpstr>Three Types of Production 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134</cp:revision>
  <dcterms:created xsi:type="dcterms:W3CDTF">2023-08-17T23:00:51Z</dcterms:created>
  <dcterms:modified xsi:type="dcterms:W3CDTF">2023-10-27T13:47:46Z</dcterms:modified>
</cp:coreProperties>
</file>