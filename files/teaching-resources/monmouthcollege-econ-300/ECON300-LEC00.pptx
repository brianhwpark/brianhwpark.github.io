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7"/>
  </p:notesMasterIdLst>
  <p:sldIdLst>
    <p:sldId id="283" r:id="rId2"/>
    <p:sldId id="284" r:id="rId3"/>
    <p:sldId id="282" r:id="rId4"/>
    <p:sldId id="257" r:id="rId5"/>
    <p:sldId id="259" r:id="rId6"/>
    <p:sldId id="274" r:id="rId7"/>
    <p:sldId id="289" r:id="rId8"/>
    <p:sldId id="262" r:id="rId9"/>
    <p:sldId id="273" r:id="rId10"/>
    <p:sldId id="288" r:id="rId11"/>
    <p:sldId id="263" r:id="rId12"/>
    <p:sldId id="264" r:id="rId13"/>
    <p:sldId id="265" r:id="rId14"/>
    <p:sldId id="266" r:id="rId15"/>
    <p:sldId id="281" r:id="rId16"/>
    <p:sldId id="285" r:id="rId17"/>
    <p:sldId id="286" r:id="rId18"/>
    <p:sldId id="287" r:id="rId19"/>
    <p:sldId id="268" r:id="rId20"/>
    <p:sldId id="269" r:id="rId21"/>
    <p:sldId id="279" r:id="rId22"/>
    <p:sldId id="270" r:id="rId23"/>
    <p:sldId id="271" r:id="rId24"/>
    <p:sldId id="272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7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do you see yourself doing after graduating?
https://www.polleverywhere.com/free_text_polls/9i0swkUqm8pA0pnPL97FK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47A93-D68F-05F8-091C-C973D57D6CD8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48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Did you complete ECON 200 Principles of Economics?
https://www.polleverywhere.com/multiple_choice_polls/ZhVSCRdd00fosPei4xZIj?state=opened&amp;flow=Default&amp;onscreen=persist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912B0-E74C-EF28-A26A-0DC7173FA48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36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Did you complete BUSI 205 Business Math and Statistics?
https://www.polleverywhere.com/multiple_choice_polls/auTy1OHlPrXjwvOnl8VWE?state=opened&amp;flow=Default&amp;onscreen=persist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7E34E-7C88-3DE8-333D-32A4D72328D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11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Please indicate your comfort level when it comes to Mathematics as a subject.
https://www.polleverywhere.com/clickable_images/OzEjzbfv0ix8hUpYFk34L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260C0-ACCA-DD51-6D5B-69E034D0872E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91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brianhwpark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Introduction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  <a:p>
            <a:r>
              <a:rPr lang="en-US" dirty="0"/>
              <a:t>Intermediate Price Theory</a:t>
            </a: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00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Intermediate Price Theory?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Directly from the Monmouth College course catalog...</a:t>
            </a:r>
            <a:endParaRPr lang="en-US" sz="1200" dirty="0"/>
          </a:p>
          <a:p>
            <a:endParaRPr lang="en-US" sz="1200" dirty="0"/>
          </a:p>
          <a:p>
            <a:r>
              <a:rPr lang="en-US" dirty="0"/>
              <a:t>“A rigorous analysis of the modern micro-economic theory of the behavior of the firm and the individual.”</a:t>
            </a:r>
          </a:p>
          <a:p>
            <a:endParaRPr lang="en-US" sz="1200" dirty="0"/>
          </a:p>
          <a:p>
            <a:r>
              <a:rPr lang="en-US" dirty="0"/>
              <a:t>Prerequisite: ECON 200, BUSI 201, and BUSI 205.</a:t>
            </a:r>
          </a:p>
          <a:p>
            <a:pPr lvl="1"/>
            <a:r>
              <a:rPr lang="en-US" dirty="0"/>
              <a:t>Principles of Economics</a:t>
            </a:r>
          </a:p>
          <a:p>
            <a:pPr lvl="1"/>
            <a:r>
              <a:rPr lang="en-US" dirty="0"/>
              <a:t>Business Data Analysis</a:t>
            </a:r>
          </a:p>
          <a:p>
            <a:pPr lvl="1"/>
            <a:r>
              <a:rPr lang="en-US" dirty="0"/>
              <a:t>Business Math and Statistics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48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Intermediate Price Theory?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Typically called </a:t>
            </a:r>
            <a:r>
              <a:rPr lang="en-US" b="1" dirty="0"/>
              <a:t>“Intermediate Microeconomic Theory”</a:t>
            </a:r>
          </a:p>
          <a:p>
            <a:endParaRPr lang="en-US" sz="1200" dirty="0"/>
          </a:p>
          <a:p>
            <a:r>
              <a:rPr lang="en-US" dirty="0"/>
              <a:t>JEL Classification under “Microeconomics”</a:t>
            </a:r>
          </a:p>
          <a:p>
            <a:pPr lvl="1"/>
            <a:r>
              <a:rPr lang="en-US" dirty="0"/>
              <a:t>Household Behavior and Family Economics</a:t>
            </a:r>
          </a:p>
          <a:p>
            <a:pPr lvl="1"/>
            <a:r>
              <a:rPr lang="en-US" dirty="0"/>
              <a:t>Production and Organizations</a:t>
            </a:r>
          </a:p>
          <a:p>
            <a:pPr lvl="1"/>
            <a:r>
              <a:rPr lang="en-US" dirty="0"/>
              <a:t>Distribution</a:t>
            </a:r>
          </a:p>
          <a:p>
            <a:pPr lvl="1"/>
            <a:r>
              <a:rPr lang="en-US" dirty="0"/>
              <a:t>Market Structure, Pricing, and Design</a:t>
            </a:r>
          </a:p>
          <a:p>
            <a:pPr lvl="1"/>
            <a:r>
              <a:rPr lang="en-US" dirty="0"/>
              <a:t>General Equilibrium and Disequilibrium</a:t>
            </a:r>
          </a:p>
          <a:p>
            <a:pPr lvl="1"/>
            <a:r>
              <a:rPr lang="en-US" dirty="0"/>
              <a:t>Welfare Economics</a:t>
            </a:r>
          </a:p>
          <a:p>
            <a:pPr lvl="1"/>
            <a:r>
              <a:rPr lang="en-US" dirty="0"/>
              <a:t>Analysis of Collective Decision-Making</a:t>
            </a:r>
          </a:p>
          <a:p>
            <a:pPr lvl="1"/>
            <a:r>
              <a:rPr lang="en-US" dirty="0"/>
              <a:t>Information, Knowledge, and Uncertainty</a:t>
            </a:r>
          </a:p>
          <a:p>
            <a:pPr lvl="1"/>
            <a:r>
              <a:rPr lang="en-US" dirty="0"/>
              <a:t>Micro-Based Behavioral Economics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87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Intermediate Price Theory?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course we cover the following topics:</a:t>
            </a:r>
          </a:p>
          <a:p>
            <a:endParaRPr lang="en-US" sz="1200" dirty="0"/>
          </a:p>
          <a:p>
            <a:r>
              <a:rPr lang="en-US" dirty="0"/>
              <a:t>How </a:t>
            </a:r>
            <a:r>
              <a:rPr lang="en-US" b="1" dirty="0"/>
              <a:t>individuals</a:t>
            </a:r>
            <a:r>
              <a:rPr lang="en-US" dirty="0"/>
              <a:t> make decisions</a:t>
            </a:r>
          </a:p>
          <a:p>
            <a:pPr lvl="1"/>
            <a:r>
              <a:rPr lang="en-US" dirty="0"/>
              <a:t>How would an agent make consumption choices?</a:t>
            </a:r>
          </a:p>
          <a:p>
            <a:pPr lvl="1"/>
            <a:r>
              <a:rPr lang="en-US" dirty="0"/>
              <a:t>How would agents make production decisions?</a:t>
            </a:r>
          </a:p>
          <a:p>
            <a:pPr lvl="1"/>
            <a:endParaRPr lang="en-US" sz="1200" dirty="0"/>
          </a:p>
          <a:p>
            <a:r>
              <a:rPr lang="en-US" dirty="0"/>
              <a:t>How these individual decisions </a:t>
            </a:r>
            <a:r>
              <a:rPr lang="en-US" b="1" dirty="0"/>
              <a:t>interact</a:t>
            </a:r>
          </a:p>
          <a:p>
            <a:pPr lvl="1"/>
            <a:r>
              <a:rPr lang="en-US" dirty="0"/>
              <a:t>What is a market equilibrium?</a:t>
            </a:r>
          </a:p>
          <a:p>
            <a:pPr lvl="1"/>
            <a:r>
              <a:rPr lang="en-US" dirty="0"/>
              <a:t>Who wins, and who loses?</a:t>
            </a:r>
          </a:p>
          <a:p>
            <a:pPr lvl="1"/>
            <a:r>
              <a:rPr lang="en-US" dirty="0"/>
              <a:t>How would the government fit in this framework?</a:t>
            </a:r>
          </a:p>
          <a:p>
            <a:pPr lvl="1"/>
            <a:endParaRPr lang="en-US" sz="1200" dirty="0"/>
          </a:p>
          <a:p>
            <a:r>
              <a:rPr lang="en-US" dirty="0"/>
              <a:t>What happens </a:t>
            </a:r>
            <a:r>
              <a:rPr lang="en-US" b="1" dirty="0"/>
              <a:t>when assumptions fail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5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Ph.D. Cornell University</a:t>
            </a:r>
          </a:p>
          <a:p>
            <a:pPr lvl="1"/>
            <a:endParaRPr lang="en-US" sz="800" dirty="0"/>
          </a:p>
          <a:p>
            <a:r>
              <a:rPr lang="en-US" dirty="0"/>
              <a:t>B.A. Korea University</a:t>
            </a:r>
          </a:p>
          <a:p>
            <a:pPr lvl="1"/>
            <a:endParaRPr lang="en-US" sz="800" dirty="0"/>
          </a:p>
          <a:p>
            <a:r>
              <a:rPr lang="en-US" dirty="0"/>
              <a:t>Research Interests</a:t>
            </a:r>
          </a:p>
          <a:p>
            <a:pPr lvl="1"/>
            <a:r>
              <a:rPr lang="en-US" dirty="0"/>
              <a:t>Environmental: Climate Change, Air Pollution</a:t>
            </a:r>
          </a:p>
          <a:p>
            <a:pPr lvl="1"/>
            <a:r>
              <a:rPr lang="en-US" dirty="0"/>
              <a:t>Demographic: Migration, Fertility</a:t>
            </a:r>
          </a:p>
          <a:p>
            <a:pPr lvl="1"/>
            <a:r>
              <a:rPr lang="en-US" dirty="0"/>
              <a:t>Labor: Employment Stability</a:t>
            </a:r>
            <a:endParaRPr lang="en-US" sz="800" dirty="0"/>
          </a:p>
          <a:p>
            <a:pPr lvl="1"/>
            <a:endParaRPr lang="en-US" sz="800" dirty="0"/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Year at Monmouth College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35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PollEverywhere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https://pollev.com/brianpark046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623E16C-1165-FEA6-D775-025B907A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079" y="2198373"/>
            <a:ext cx="3605842" cy="36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56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C8EFF4-27DC-62FC-AE16-9C73910B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160E9-09DA-4979-FE70-80EE9C2B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3419D-7272-9F85-3503-AE5AC0EF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BE4C31-01E5-ECDA-2294-04748065E35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50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Email: BPARK@monmouthcollege.edu</a:t>
            </a:r>
          </a:p>
          <a:p>
            <a:pPr lvl="1"/>
            <a:r>
              <a:rPr lang="en-US" dirty="0"/>
              <a:t>Please include “ECON300” in the subject line.</a:t>
            </a:r>
          </a:p>
          <a:p>
            <a:pPr lvl="1"/>
            <a:r>
              <a:rPr lang="en-US" dirty="0"/>
              <a:t>Target response within 1 business day.</a:t>
            </a:r>
          </a:p>
          <a:p>
            <a:pPr lvl="1"/>
            <a:endParaRPr lang="en-US" sz="1300" dirty="0"/>
          </a:p>
          <a:p>
            <a:r>
              <a:rPr lang="en-US" dirty="0"/>
              <a:t>Office: CSB 248</a:t>
            </a:r>
          </a:p>
          <a:p>
            <a:pPr lvl="1"/>
            <a:endParaRPr lang="en-US" sz="1300" dirty="0"/>
          </a:p>
          <a:p>
            <a:r>
              <a:rPr lang="en-US" dirty="0"/>
              <a:t>Regular Office Hours: Tue/Thu 12:30 PM ~ 2:00 PM</a:t>
            </a:r>
          </a:p>
          <a:p>
            <a:pPr lvl="1"/>
            <a:endParaRPr lang="en-US" sz="1300" dirty="0"/>
          </a:p>
          <a:p>
            <a:r>
              <a:rPr lang="en-US" dirty="0"/>
              <a:t>Individual (or Group) Appointments via Calendly.</a:t>
            </a:r>
          </a:p>
          <a:p>
            <a:pPr lvl="1"/>
            <a:r>
              <a:rPr lang="en-US" dirty="0">
                <a:hlinkClick r:id="rId2"/>
              </a:rPr>
              <a:t>https://calendly.com/brianhwpark</a:t>
            </a:r>
            <a:endParaRPr lang="en-US" dirty="0"/>
          </a:p>
          <a:p>
            <a:pPr lvl="1"/>
            <a:r>
              <a:rPr lang="en-US" dirty="0"/>
              <a:t>Book on-demand office hours in 30-minute increments</a:t>
            </a:r>
          </a:p>
          <a:p>
            <a:pPr lvl="1"/>
            <a:r>
              <a:rPr lang="en-US" dirty="0"/>
              <a:t>Calendar opens 15 days in advance</a:t>
            </a:r>
          </a:p>
          <a:p>
            <a:pPr lvl="1"/>
            <a:endParaRPr lang="en-US" sz="1300" dirty="0"/>
          </a:p>
          <a:p>
            <a:r>
              <a:rPr lang="en-US" dirty="0"/>
              <a:t>Send me an email if you need </a:t>
            </a:r>
            <a:r>
              <a:rPr lang="en-US" b="1" dirty="0"/>
              <a:t>anything</a:t>
            </a:r>
            <a:r>
              <a:rPr lang="en-US" dirty="0"/>
              <a:t> else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50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6E5FC0-DE08-E9E6-B4BF-E9ACC696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46629"/>
            <a:ext cx="7886700" cy="4604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CCA483-206B-8314-FE82-825A73EB1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46629"/>
            <a:ext cx="7886700" cy="45786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131B10-4363-7B01-92D5-A97CFD193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538841"/>
            <a:ext cx="7886700" cy="459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2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615C-3DF4-634F-DEB2-48BD7736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Availability</a:t>
            </a:r>
            <a:br>
              <a:rPr lang="en-US" dirty="0"/>
            </a:br>
            <a:r>
              <a:rPr lang="en-US" dirty="0"/>
              <a:t>Indicator</a:t>
            </a:r>
          </a:p>
        </p:txBody>
      </p:sp>
      <p:pic>
        <p:nvPicPr>
          <p:cNvPr id="9" name="Picture Placeholder 8" descr="A sign on a wall&#10;&#10;Description automatically generated">
            <a:extLst>
              <a:ext uri="{FF2B5EF4-FFF2-40B4-BE49-F238E27FC236}">
                <a16:creationId xmlns:a16="http://schemas.microsoft.com/office/drawing/2014/main" id="{622B65F6-6D39-179A-48C4-9BF2D84A543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5" r="9575"/>
          <a:stretch>
            <a:fillRect/>
          </a:stretch>
        </p:blipFill>
        <p:spPr>
          <a:xfrm>
            <a:off x="4131200" y="1244112"/>
            <a:ext cx="4141532" cy="436025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338A4-B358-C6CE-BB88-88FE4E803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Whenever it displays </a:t>
            </a:r>
            <a:r>
              <a:rPr lang="en-US" dirty="0">
                <a:solidFill>
                  <a:srgbClr val="00B050"/>
                </a:solidFill>
              </a:rPr>
              <a:t>“Please Knock”</a:t>
            </a:r>
            <a:r>
              <a:rPr lang="en-US" dirty="0"/>
              <a:t>, that means that I am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it is at </a:t>
            </a:r>
            <a:r>
              <a:rPr lang="en-US" dirty="0">
                <a:solidFill>
                  <a:srgbClr val="0070C0"/>
                </a:solidFill>
              </a:rPr>
              <a:t>“Back Soon”</a:t>
            </a:r>
            <a:r>
              <a:rPr lang="en-US" dirty="0"/>
              <a:t>, it means that I have briefly left the office, but will be back soon.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see anything else, and need to talk, send me an email!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1A1B7-AA3F-885D-08EA-BF51CBA2C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20EE8-CA12-C686-E701-5AB230AD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5FC76-F6A8-D9DA-9949-AED9F5EA5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75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letter grades based on </a:t>
            </a:r>
            <a:r>
              <a:rPr lang="en-US" b="1" dirty="0"/>
              <a:t>four factors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Attendance: 10%</a:t>
            </a:r>
          </a:p>
          <a:p>
            <a:pPr lvl="1"/>
            <a:r>
              <a:rPr lang="en-US" dirty="0"/>
              <a:t>Quizzes / Assignments: 30%</a:t>
            </a:r>
          </a:p>
          <a:p>
            <a:pPr lvl="1"/>
            <a:r>
              <a:rPr lang="en-US" dirty="0"/>
              <a:t>Midterm Exam: 25%</a:t>
            </a:r>
          </a:p>
          <a:p>
            <a:pPr lvl="1"/>
            <a:r>
              <a:rPr lang="en-US" dirty="0"/>
              <a:t>Final Exam: 35%</a:t>
            </a:r>
          </a:p>
          <a:p>
            <a:pPr lvl="1"/>
            <a:endParaRPr lang="en-US" sz="1200" dirty="0"/>
          </a:p>
          <a:p>
            <a:r>
              <a:rPr lang="en-US" dirty="0"/>
              <a:t>There are no predetermined “cutoff” points for letter grades.</a:t>
            </a:r>
          </a:p>
          <a:p>
            <a:pPr lvl="1"/>
            <a:endParaRPr lang="en-US" sz="1200" dirty="0"/>
          </a:p>
          <a:p>
            <a:r>
              <a:rPr lang="en-US" dirty="0"/>
              <a:t>The cutoffs will be updated as the semester progresses.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55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Attendance may be called every time we meet.</a:t>
            </a:r>
          </a:p>
          <a:p>
            <a:pPr lvl="1"/>
            <a:endParaRPr lang="en-US" sz="1200" dirty="0"/>
          </a:p>
          <a:p>
            <a:r>
              <a:rPr lang="en-US" dirty="0"/>
              <a:t>One “no-points-deducted” absence for each month.</a:t>
            </a:r>
          </a:p>
          <a:p>
            <a:pPr lvl="1"/>
            <a:endParaRPr lang="en-US" sz="1200" dirty="0"/>
          </a:p>
          <a:p>
            <a:r>
              <a:rPr lang="en-US" dirty="0"/>
              <a:t>Extra “no-points-deducted” absences may be granted on a case-by-case basis.</a:t>
            </a:r>
          </a:p>
          <a:p>
            <a:pPr lvl="1"/>
            <a:endParaRPr lang="en-US" sz="1200" dirty="0"/>
          </a:p>
          <a:p>
            <a:r>
              <a:rPr lang="en-US" dirty="0"/>
              <a:t>Attendance scores will be calculated as: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93313B-57FB-DA5A-DBEE-E5FA57EECDFF}"/>
                  </a:ext>
                </a:extLst>
              </p:cNvPr>
              <p:cNvSpPr txBox="1"/>
              <p:nvPr/>
            </p:nvSpPr>
            <p:spPr>
              <a:xfrm>
                <a:off x="1690777" y="4938623"/>
                <a:ext cx="5766387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𝐴𝑡𝑡𝑒𝑛𝑑𝑎𝑛𝑐𝑒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𝐶h𝑒𝑐𝑘𝑠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𝐴𝑏𝑠𝑒𝑛𝑐𝑒𝑠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𝐶h𝑒𝑐𝑘𝑠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93313B-57FB-DA5A-DBEE-E5FA57EEC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0777" y="4938623"/>
                <a:ext cx="5766387" cy="525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1033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Quizzes /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Quizzes will act as a low-stakes status check.</a:t>
            </a:r>
          </a:p>
          <a:p>
            <a:pPr lvl="1"/>
            <a:endParaRPr lang="en-US" sz="1200" dirty="0"/>
          </a:p>
          <a:p>
            <a:r>
              <a:rPr lang="en-US" dirty="0"/>
              <a:t>Students can recover extra credit by attending office hours and “correcting” any mistakes made.</a:t>
            </a:r>
          </a:p>
          <a:p>
            <a:pPr lvl="1"/>
            <a:endParaRPr lang="en-US" sz="1200" dirty="0"/>
          </a:p>
          <a:p>
            <a:r>
              <a:rPr lang="en-US" dirty="0"/>
              <a:t>The lowest 1 or 2 quizzes will be dropped at the end of the semester.</a:t>
            </a:r>
          </a:p>
          <a:p>
            <a:pPr lvl="1"/>
            <a:endParaRPr lang="en-US" sz="1200" dirty="0"/>
          </a:p>
          <a:p>
            <a:r>
              <a:rPr lang="en-US" dirty="0"/>
              <a:t>Quizzes may be substituted to homework assignments at the instructor’s discretion.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2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exams; one midterm and a comprehensive final.</a:t>
            </a:r>
          </a:p>
          <a:p>
            <a:pPr lvl="1"/>
            <a:endParaRPr lang="en-US" sz="1200" dirty="0"/>
          </a:p>
          <a:p>
            <a:r>
              <a:rPr lang="en-US" dirty="0"/>
              <a:t>No “review sessions” for partial credit for exams.</a:t>
            </a:r>
          </a:p>
          <a:p>
            <a:pPr lvl="1"/>
            <a:endParaRPr lang="en-US" sz="1200" dirty="0"/>
          </a:p>
          <a:p>
            <a:r>
              <a:rPr lang="en-US" dirty="0"/>
              <a:t>Students may submit a request for regrading within the first 5 days the scores are made available.</a:t>
            </a:r>
          </a:p>
          <a:p>
            <a:pPr lvl="1"/>
            <a:endParaRPr lang="en-US" sz="1200" dirty="0"/>
          </a:p>
          <a:p>
            <a:r>
              <a:rPr lang="en-US" dirty="0"/>
              <a:t>If you miss an exam due to valid cause, the option would be either a written make-up exam, or an oral exam.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76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 / Reading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main textbook for this course will be H. Varian’s Intermediate Microeconomics.</a:t>
            </a:r>
          </a:p>
          <a:p>
            <a:pPr lvl="1"/>
            <a:endParaRPr lang="en-US" sz="1200" dirty="0"/>
          </a:p>
          <a:p>
            <a:r>
              <a:rPr lang="en-US" dirty="0"/>
              <a:t>Slides / Notes will be distributed online.</a:t>
            </a:r>
          </a:p>
          <a:p>
            <a:pPr lvl="1"/>
            <a:r>
              <a:rPr lang="en-US" dirty="0"/>
              <a:t>Moodle?</a:t>
            </a:r>
          </a:p>
          <a:p>
            <a:pPr lvl="1"/>
            <a:r>
              <a:rPr lang="en-US" dirty="0"/>
              <a:t>Dropbox?</a:t>
            </a:r>
          </a:p>
          <a:p>
            <a:pPr lvl="1"/>
            <a:r>
              <a:rPr lang="en-US" dirty="0"/>
              <a:t>Separate Webpage?</a:t>
            </a:r>
          </a:p>
          <a:p>
            <a:pPr lvl="1"/>
            <a:endParaRPr lang="en-US" sz="1200" dirty="0"/>
          </a:p>
          <a:p>
            <a:r>
              <a:rPr lang="en-US" dirty="0"/>
              <a:t>Occasional newspaper articles or short stories may be assigned as reading material.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84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22C780-F98E-749C-4F79-DE6B25F4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7615-3499-AB42-D0B7-17260449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66D59-D2FF-C5B0-1BD0-23C9A7C2D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44EA90-0465-61EF-CE4F-AD482A83046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36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7873B-5B24-A4DC-CE8F-8A475B7E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29111-5F54-B3AD-74AC-AE51A3EE4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9BB4C-1152-0DFD-5B9A-7741C62CA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9CE346-2C6F-7C38-FC6C-E44FBFFDDCB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151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7D3459-7107-E535-F38C-11653BC0E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98ED19-750A-9774-7652-992D7DBD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EBEDF-4F6A-80C1-125C-BB5F256D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757327-705D-5F08-B85B-99C818AF181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56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with solving a system of two linear equations with two unknowns?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Solve for the unknows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 when…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3184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dealing with multiplication and division with powers?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Simplify the following: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1073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dealing with natural logarithmic functions and exponential functions?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Do you recognize the following?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 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8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taking simple first derivatives of linear functions?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Solve the following: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337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taking slightly more complicated first derivatives?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Solve the following: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+1)= ?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7286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taking even more complicated first derivatives?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Solve the following: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+10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2955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will be reviewing material covered in Principles of Economics.</a:t>
            </a:r>
          </a:p>
          <a:p>
            <a:pPr lvl="1"/>
            <a:r>
              <a:rPr lang="en-US" dirty="0"/>
              <a:t>Demand, Supply, Equilibrium, Preferences, Budgets, etc.</a:t>
            </a:r>
          </a:p>
          <a:p>
            <a:pPr lvl="1"/>
            <a:endParaRPr lang="en-US" sz="1200" dirty="0"/>
          </a:p>
          <a:p>
            <a:r>
              <a:rPr lang="en-US" dirty="0"/>
              <a:t>This review may (or may not) cover some mathematics.</a:t>
            </a:r>
          </a:p>
          <a:p>
            <a:pPr lvl="1"/>
            <a:endParaRPr lang="en-US" sz="1200" dirty="0"/>
          </a:p>
          <a:p>
            <a:r>
              <a:rPr lang="en-US" dirty="0"/>
              <a:t>A short homework assignment (max 500 words) will be assigned over the weekend.</a:t>
            </a:r>
          </a:p>
          <a:p>
            <a:pPr lvl="1"/>
            <a:endParaRPr lang="en-US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977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d34c1b2-f0d3-4931-8db5-bf8efce5d3a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9bf4d1df-f174-47e5-b26e-d762c42868e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9db3918c-b60c-48fb-997c-a878b25b5cd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ff3388d-c6f3-4420-a366-56c69f596df7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255</TotalTime>
  <Words>1320</Words>
  <Application>Microsoft Office PowerPoint</Application>
  <PresentationFormat>On-screen Show (4:3)</PresentationFormat>
  <Paragraphs>241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 Math</vt:lpstr>
      <vt:lpstr>Franklin Gothic Book</vt:lpstr>
      <vt:lpstr>Raleway Medium</vt:lpstr>
      <vt:lpstr>Office Theme</vt:lpstr>
      <vt:lpstr>Introduction</vt:lpstr>
      <vt:lpstr>What is Intermediate Price Theory?</vt:lpstr>
      <vt:lpstr>What is Intermediate Price Theory?</vt:lpstr>
      <vt:lpstr>What is Intermediate Price Theory?</vt:lpstr>
      <vt:lpstr>About Me</vt:lpstr>
      <vt:lpstr>PollEverywhere</vt:lpstr>
      <vt:lpstr>PowerPoint Presentation</vt:lpstr>
      <vt:lpstr>Contact Information</vt:lpstr>
      <vt:lpstr>Office Hours</vt:lpstr>
      <vt:lpstr>Availability Indicator</vt:lpstr>
      <vt:lpstr>Grades</vt:lpstr>
      <vt:lpstr>Attendance</vt:lpstr>
      <vt:lpstr>Quizzes / Homework</vt:lpstr>
      <vt:lpstr>Exams</vt:lpstr>
      <vt:lpstr>Textbook / Reading Material</vt:lpstr>
      <vt:lpstr>PowerPoint Presentation</vt:lpstr>
      <vt:lpstr>PowerPoint Presentation</vt:lpstr>
      <vt:lpstr>PowerPoint Presentation</vt:lpstr>
      <vt:lpstr>Quick Math Background Check</vt:lpstr>
      <vt:lpstr>Quick Math Background Check</vt:lpstr>
      <vt:lpstr>Quick Math Background Check</vt:lpstr>
      <vt:lpstr>Quick Math Background Check</vt:lpstr>
      <vt:lpstr>Quick Math Background Check</vt:lpstr>
      <vt:lpstr>Quick Math Background Check</vt:lpstr>
      <vt:lpstr>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15</cp:revision>
  <dcterms:created xsi:type="dcterms:W3CDTF">2023-08-17T23:00:51Z</dcterms:created>
  <dcterms:modified xsi:type="dcterms:W3CDTF">2023-08-22T21:22:20Z</dcterms:modified>
</cp:coreProperties>
</file>