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7"/>
  </p:notesMasterIdLst>
  <p:sldIdLst>
    <p:sldId id="283" r:id="rId2"/>
    <p:sldId id="259" r:id="rId3"/>
    <p:sldId id="262" r:id="rId4"/>
    <p:sldId id="288" r:id="rId5"/>
    <p:sldId id="296" r:id="rId6"/>
    <p:sldId id="284" r:id="rId7"/>
    <p:sldId id="257" r:id="rId8"/>
    <p:sldId id="274" r:id="rId9"/>
    <p:sldId id="285" r:id="rId10"/>
    <p:sldId id="301" r:id="rId11"/>
    <p:sldId id="302" r:id="rId12"/>
    <p:sldId id="304" r:id="rId13"/>
    <p:sldId id="263" r:id="rId14"/>
    <p:sldId id="299" r:id="rId15"/>
    <p:sldId id="298" r:id="rId16"/>
    <p:sldId id="264" r:id="rId17"/>
    <p:sldId id="300" r:id="rId18"/>
    <p:sldId id="265" r:id="rId19"/>
    <p:sldId id="266" r:id="rId20"/>
    <p:sldId id="303" r:id="rId21"/>
    <p:sldId id="297" r:id="rId22"/>
    <p:sldId id="287" r:id="rId23"/>
    <p:sldId id="268" r:id="rId24"/>
    <p:sldId id="269" r:id="rId25"/>
    <p:sldId id="27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Did you complete ECON 200 Principles of Economics?
https://www.polleverywhere.com/multiple_choice_polls/ZhVSCRdd00fosPei4xZIj?state=opened&amp;flow=Default&amp;onscreen=persist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912B0-E74C-EF28-A26A-0DC7173FA48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36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49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Please indicate your comfort level when it comes to Mathematics as a subject.
https://www.polleverywhere.com/clickable_images/OzEjzbfv0ix8hUpYFk34L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260C0-ACCA-DD51-6D5B-69E034D0872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9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lm.pearson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3"/>
            <a:endParaRPr lang="en-US" dirty="0"/>
          </a:p>
          <a:p>
            <a:r>
              <a:rPr lang="en-US" dirty="0"/>
              <a:t>B.A. Korea University</a:t>
            </a:r>
          </a:p>
          <a:p>
            <a:pPr lvl="3"/>
            <a:endParaRPr lang="en-US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</a:p>
          <a:p>
            <a:pPr lvl="1"/>
            <a:r>
              <a:rPr lang="en-US" dirty="0"/>
              <a:t>Others: Misinformation, Education, Networks</a:t>
            </a:r>
          </a:p>
          <a:p>
            <a:pPr lvl="3"/>
            <a:endParaRPr lang="en-US" dirty="0"/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“ECON300” in the subject line.</a:t>
            </a:r>
          </a:p>
          <a:p>
            <a:pPr lvl="3"/>
            <a:endParaRPr lang="en-US" dirty="0"/>
          </a:p>
          <a:p>
            <a:r>
              <a:rPr lang="en-US" dirty="0"/>
              <a:t>Office: CSB 248</a:t>
            </a:r>
          </a:p>
          <a:p>
            <a:pPr lvl="3"/>
            <a:endParaRPr lang="en-US" dirty="0"/>
          </a:p>
          <a:p>
            <a:r>
              <a:rPr lang="en-US" dirty="0"/>
              <a:t>Regular Office Hours</a:t>
            </a:r>
          </a:p>
          <a:p>
            <a:pPr lvl="1"/>
            <a:r>
              <a:rPr lang="en-US" dirty="0"/>
              <a:t>Tuesdays and Thursdays 9:00 AM ~ 11:00 AM</a:t>
            </a:r>
          </a:p>
          <a:p>
            <a:pPr lvl="3"/>
            <a:endParaRPr lang="en-US" dirty="0"/>
          </a:p>
          <a:p>
            <a:r>
              <a:rPr lang="en-US" dirty="0"/>
              <a:t>Office Hours by Demand via Calendly.</a:t>
            </a:r>
          </a:p>
          <a:p>
            <a:pPr lvl="3"/>
            <a:endParaRPr lang="en-US" dirty="0"/>
          </a:p>
          <a:p>
            <a:r>
              <a:rPr lang="en-US" dirty="0"/>
              <a:t>Send me an email if you need anything!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sign on a wall&#10;&#10;Description automatically generated">
            <a:extLst>
              <a:ext uri="{FF2B5EF4-FFF2-40B4-BE49-F238E27FC236}">
                <a16:creationId xmlns:a16="http://schemas.microsoft.com/office/drawing/2014/main" id="{622B65F6-6D39-179A-48C4-9BF2D84A54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5" r="9575"/>
          <a:stretch>
            <a:fillRect/>
          </a:stretch>
        </p:blipFill>
        <p:spPr>
          <a:xfrm>
            <a:off x="4893770" y="2057400"/>
            <a:ext cx="3620389" cy="38115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38A4-B358-C6CE-BB88-88FE4E80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620388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Even outside of the regular office hours…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>
                <a:solidFill>
                  <a:srgbClr val="00B050"/>
                </a:solidFill>
              </a:rPr>
              <a:t>Please Knock</a:t>
            </a:r>
            <a:r>
              <a:rPr lang="en-US" sz="2400" dirty="0"/>
              <a:t>” means that I am available.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>
                <a:solidFill>
                  <a:srgbClr val="0070C0"/>
                </a:solidFill>
              </a:rPr>
              <a:t>Back Soon</a:t>
            </a:r>
            <a:r>
              <a:rPr lang="en-US" sz="2400" dirty="0"/>
              <a:t>” means that I should be back in 30 minutes at the latest.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1A1B7-AA3F-885D-08EA-BF51CBA2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20EE8-CA12-C686-E701-5AB230AD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FC76-F6A8-D9DA-9949-AED9F5E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11D903-9AD9-572C-535C-8BCAD200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dirty="0"/>
              <a:t>Office Hours: Irregular</a:t>
            </a:r>
          </a:p>
        </p:txBody>
      </p:sp>
    </p:spTree>
    <p:extLst>
      <p:ext uri="{BB962C8B-B14F-4D97-AF65-F5344CB8AC3E}">
        <p14:creationId xmlns:p14="http://schemas.microsoft.com/office/powerpoint/2010/main" val="87257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Hours: Calendly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AE541C1-789A-90EB-EF38-D8110642D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85" y="1582947"/>
            <a:ext cx="4451230" cy="445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0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Intermediate Price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“A rigorous analysis of the </a:t>
            </a:r>
          </a:p>
          <a:p>
            <a:pPr marL="0" indent="0" algn="ctr">
              <a:buNone/>
            </a:pPr>
            <a:r>
              <a:rPr lang="en-US" dirty="0"/>
              <a:t>modern micro-economic theory </a:t>
            </a:r>
          </a:p>
          <a:p>
            <a:pPr marL="0" indent="0" algn="ctr">
              <a:buNone/>
            </a:pPr>
            <a:r>
              <a:rPr lang="en-US" dirty="0"/>
              <a:t>of the behavior of the firm </a:t>
            </a:r>
          </a:p>
          <a:p>
            <a:pPr marL="0" indent="0" algn="ctr">
              <a:buNone/>
            </a:pPr>
            <a:r>
              <a:rPr lang="en-US" dirty="0"/>
              <a:t>and the individual.”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Intermediate Price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individuals make decisions…</a:t>
            </a:r>
          </a:p>
          <a:p>
            <a:pPr lvl="1"/>
            <a:r>
              <a:rPr lang="en-US" dirty="0"/>
              <a:t>How do consumers decide what to purchase?</a:t>
            </a:r>
          </a:p>
          <a:p>
            <a:pPr lvl="1"/>
            <a:r>
              <a:rPr lang="en-US" dirty="0"/>
              <a:t>How do producers (firms) choose how much to produce?</a:t>
            </a:r>
            <a:endParaRPr lang="en-US" sz="1800" dirty="0"/>
          </a:p>
          <a:p>
            <a:pPr lvl="3"/>
            <a:endParaRPr lang="en-US" dirty="0"/>
          </a:p>
          <a:p>
            <a:r>
              <a:rPr lang="en-US" dirty="0"/>
              <a:t>How these individual decisions interact…</a:t>
            </a:r>
          </a:p>
          <a:p>
            <a:pPr lvl="1"/>
            <a:r>
              <a:rPr lang="en-US" dirty="0"/>
              <a:t>How are prices determined in the market?</a:t>
            </a:r>
          </a:p>
          <a:p>
            <a:pPr lvl="1"/>
            <a:r>
              <a:rPr lang="en-US" dirty="0"/>
              <a:t>When is the market efficient?</a:t>
            </a:r>
          </a:p>
          <a:p>
            <a:pPr lvl="1"/>
            <a:r>
              <a:rPr lang="en-US" dirty="0"/>
              <a:t>What are the effects of government interventions?</a:t>
            </a:r>
          </a:p>
          <a:p>
            <a:pPr lvl="3"/>
            <a:endParaRPr lang="en-US" dirty="0"/>
          </a:p>
          <a:p>
            <a:r>
              <a:rPr lang="en-US" dirty="0"/>
              <a:t>What happens when assumptions fail…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2C780-F98E-749C-4F79-DE6B25F4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7615-3499-AB42-D0B7-17260449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66D59-D2FF-C5B0-1BD0-23C9A7C2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4EA90-0465-61EF-CE4F-AD482A83046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3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6D85-62DC-01FA-C489-E2E727C6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 / Reading Material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45BA2-1542-7CBF-7A21-F2931DA1BA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Microeconomics, 9</a:t>
            </a:r>
            <a:r>
              <a:rPr lang="en-US" baseline="30000" dirty="0"/>
              <a:t>th</a:t>
            </a:r>
            <a:r>
              <a:rPr lang="en-US" dirty="0"/>
              <a:t> ed.</a:t>
            </a:r>
          </a:p>
          <a:p>
            <a:pPr lvl="3"/>
            <a:endParaRPr lang="en-US" dirty="0"/>
          </a:p>
          <a:p>
            <a:r>
              <a:rPr lang="en-US" dirty="0"/>
              <a:t>Pindyck &amp; Rubinfeld</a:t>
            </a:r>
          </a:p>
          <a:p>
            <a:pPr lvl="3"/>
            <a:endParaRPr lang="en-US" dirty="0"/>
          </a:p>
          <a:p>
            <a:r>
              <a:rPr lang="en-US" dirty="0"/>
              <a:t>Pearson</a:t>
            </a:r>
          </a:p>
          <a:p>
            <a:pPr lvl="3"/>
            <a:endParaRPr lang="en-US" dirty="0"/>
          </a:p>
          <a:p>
            <a:r>
              <a:rPr lang="en-US" b="1" u="sng" dirty="0"/>
              <a:t>MUST</a:t>
            </a:r>
            <a:r>
              <a:rPr lang="en-US" dirty="0"/>
              <a:t> purchase with </a:t>
            </a:r>
            <a:r>
              <a:rPr lang="en-US" dirty="0" err="1"/>
              <a:t>MyLab</a:t>
            </a:r>
            <a:r>
              <a:rPr lang="en-US" dirty="0"/>
              <a:t> Access.</a:t>
            </a:r>
          </a:p>
          <a:p>
            <a:pPr lvl="3"/>
            <a:endParaRPr lang="en-US" dirty="0"/>
          </a:p>
          <a:p>
            <a:r>
              <a:rPr lang="en-US" dirty="0"/>
              <a:t>Slides will be distributed via Moodle.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0992-6EC3-DB79-5DD9-5C98D2A9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92192-B919-FEC8-BE27-0A8B2D60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F596D-2861-5351-7E72-575BFC4F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  <p:pic>
        <p:nvPicPr>
          <p:cNvPr id="11" name="Content Placeholder 10" descr="A book cover of a book&#10;&#10;Description automatically generated">
            <a:extLst>
              <a:ext uri="{FF2B5EF4-FFF2-40B4-BE49-F238E27FC236}">
                <a16:creationId xmlns:a16="http://schemas.microsoft.com/office/drawing/2014/main" id="{C9A56D6D-C79D-134E-72BD-692E7EA155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9" y="1825625"/>
            <a:ext cx="3877042" cy="4351338"/>
          </a:xfrm>
        </p:spPr>
      </p:pic>
    </p:spTree>
    <p:extLst>
      <p:ext uri="{BB962C8B-B14F-4D97-AF65-F5344CB8AC3E}">
        <p14:creationId xmlns:p14="http://schemas.microsoft.com/office/powerpoint/2010/main" val="13110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</a:t>
            </a:r>
            <a:r>
              <a:rPr lang="en-US" dirty="0" err="1"/>
              <a:t>MyLab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https://mlm.pearson.com/</a:t>
            </a:r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Course ID: park80362</a:t>
            </a:r>
          </a:p>
          <a:p>
            <a:pPr lvl="3"/>
            <a:endParaRPr lang="en-US" dirty="0"/>
          </a:p>
          <a:p>
            <a:r>
              <a:rPr lang="en-US" dirty="0"/>
              <a:t>Homework will be administered on this platform.</a:t>
            </a:r>
          </a:p>
          <a:p>
            <a:pPr lvl="3"/>
            <a:endParaRPr lang="en-US" dirty="0"/>
          </a:p>
          <a:p>
            <a:r>
              <a:rPr lang="en-US" dirty="0"/>
              <a:t>When purchasing the textbook, make sure you purchase access to Pearson </a:t>
            </a:r>
            <a:r>
              <a:rPr lang="en-US" dirty="0" err="1"/>
              <a:t>MyLab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MC bookstore has the correct version!</a:t>
            </a:r>
          </a:p>
          <a:p>
            <a:pPr lvl="3"/>
            <a:endParaRPr lang="en-US" dirty="0"/>
          </a:p>
          <a:p>
            <a:r>
              <a:rPr lang="en-US" dirty="0"/>
              <a:t>A trial of 14 days is allowed until you acquire a textbook.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04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0075-D8E6-EA49-0807-18B3F906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</a:t>
            </a:r>
            <a:r>
              <a:rPr lang="en-US" dirty="0" err="1"/>
              <a:t>MyLab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8E0A5-092B-76E4-79F9-A9025A47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0BB85-24E4-922C-2F6A-810CDA3D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0C25C-47C7-4889-3800-DCC07070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591B5F-C66E-829D-3ACE-E4682F3D7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210972"/>
            <a:ext cx="7886700" cy="36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9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grand total score for the semester will be calculated as follows: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Homework: 10%</a:t>
            </a:r>
          </a:p>
          <a:p>
            <a:pPr lvl="1"/>
            <a:r>
              <a:rPr lang="en-US" dirty="0"/>
              <a:t>Quizzes: 40%</a:t>
            </a:r>
          </a:p>
          <a:p>
            <a:pPr lvl="1"/>
            <a:r>
              <a:rPr lang="en-US" dirty="0"/>
              <a:t>Final Exam: 40%</a:t>
            </a:r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instance, if you get:</a:t>
            </a:r>
          </a:p>
          <a:p>
            <a:pPr lvl="1"/>
            <a:r>
              <a:rPr lang="en-US" dirty="0"/>
              <a:t>95 in attendance, and</a:t>
            </a:r>
          </a:p>
          <a:p>
            <a:pPr lvl="1"/>
            <a:r>
              <a:rPr lang="en-US" dirty="0"/>
              <a:t>90 in homework, and</a:t>
            </a:r>
          </a:p>
          <a:p>
            <a:pPr lvl="1"/>
            <a:r>
              <a:rPr lang="en-US" dirty="0"/>
              <a:t>80 in quizzes, and</a:t>
            </a:r>
          </a:p>
          <a:p>
            <a:pPr lvl="1"/>
            <a:r>
              <a:rPr lang="en-US" dirty="0"/>
              <a:t>87 in the final.</a:t>
            </a:r>
          </a:p>
          <a:p>
            <a:pPr lvl="1"/>
            <a:endParaRPr lang="en-US" dirty="0"/>
          </a:p>
          <a:p>
            <a:r>
              <a:rPr lang="en-US" dirty="0"/>
              <a:t>Your grand total score will be:</a:t>
            </a:r>
          </a:p>
          <a:p>
            <a:pPr lvl="1"/>
            <a:r>
              <a:rPr lang="en-US" dirty="0"/>
              <a:t>95 </a:t>
            </a:r>
            <a:r>
              <a:rPr lang="en-US" b="0" i="0" dirty="0">
                <a:solidFill>
                  <a:srgbClr val="0C0D0E"/>
                </a:solidFill>
                <a:effectLst/>
                <a:highlight>
                  <a:srgbClr val="FEFEFB"/>
                </a:highlight>
                <a:latin typeface="-apple-system"/>
              </a:rPr>
              <a:t>x </a:t>
            </a:r>
            <a:r>
              <a:rPr lang="en-US" dirty="0"/>
              <a:t>10% + 90 </a:t>
            </a:r>
            <a:r>
              <a:rPr lang="en-US" b="0" i="0" dirty="0">
                <a:solidFill>
                  <a:srgbClr val="0C0D0E"/>
                </a:solidFill>
                <a:effectLst/>
                <a:highlight>
                  <a:srgbClr val="FEFEFB"/>
                </a:highlight>
                <a:latin typeface="-apple-system"/>
              </a:rPr>
              <a:t>x </a:t>
            </a:r>
            <a:r>
              <a:rPr lang="en-US" dirty="0"/>
              <a:t>10% + 80 </a:t>
            </a:r>
            <a:r>
              <a:rPr lang="en-US" b="0" i="0" dirty="0">
                <a:solidFill>
                  <a:srgbClr val="0C0D0E"/>
                </a:solidFill>
                <a:effectLst/>
                <a:highlight>
                  <a:srgbClr val="FEFEFB"/>
                </a:highlight>
                <a:latin typeface="-apple-system"/>
              </a:rPr>
              <a:t>x </a:t>
            </a:r>
            <a:r>
              <a:rPr lang="en-US" dirty="0"/>
              <a:t>40% + 87 </a:t>
            </a:r>
            <a:r>
              <a:rPr lang="en-US" b="0" i="0" dirty="0">
                <a:solidFill>
                  <a:srgbClr val="0C0D0E"/>
                </a:solidFill>
                <a:effectLst/>
                <a:highlight>
                  <a:srgbClr val="FEFEFB"/>
                </a:highlight>
                <a:latin typeface="-apple-system"/>
              </a:rPr>
              <a:t>x </a:t>
            </a:r>
            <a:r>
              <a:rPr lang="en-US" dirty="0"/>
              <a:t>40% = 85.3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93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no predetermined “cutoff” for letter grades.</a:t>
            </a:r>
          </a:p>
          <a:p>
            <a:pPr lvl="3"/>
            <a:endParaRPr lang="en-US" dirty="0"/>
          </a:p>
          <a:p>
            <a:r>
              <a:rPr lang="en-US" dirty="0"/>
              <a:t>The cutoffs will be determined based on the performance of the class.</a:t>
            </a:r>
          </a:p>
          <a:p>
            <a:pPr lvl="3"/>
            <a:endParaRPr lang="en-US" dirty="0"/>
          </a:p>
          <a:p>
            <a:r>
              <a:rPr lang="en-US" dirty="0"/>
              <a:t>The cutoffs used in Fall 2023 were…</a:t>
            </a:r>
          </a:p>
          <a:p>
            <a:pPr lvl="1"/>
            <a:r>
              <a:rPr lang="en-US" dirty="0"/>
              <a:t>90+: A</a:t>
            </a:r>
          </a:p>
          <a:p>
            <a:pPr lvl="1"/>
            <a:r>
              <a:rPr lang="en-US" dirty="0"/>
              <a:t>87 ~ 90: A-</a:t>
            </a:r>
          </a:p>
          <a:p>
            <a:pPr lvl="1"/>
            <a:r>
              <a:rPr lang="en-US" dirty="0"/>
              <a:t>83 ~ 87: B+</a:t>
            </a:r>
          </a:p>
          <a:p>
            <a:pPr lvl="1"/>
            <a:r>
              <a:rPr lang="en-US" dirty="0"/>
              <a:t>80 ~ 83: B</a:t>
            </a:r>
          </a:p>
          <a:p>
            <a:pPr lvl="1"/>
            <a:r>
              <a:rPr lang="en-US" dirty="0"/>
              <a:t>77 ~ 80: B-</a:t>
            </a:r>
          </a:p>
          <a:p>
            <a:pPr lvl="1"/>
            <a:r>
              <a:rPr lang="en-US" dirty="0"/>
              <a:t>and so on…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58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3"/>
            <a:endParaRPr lang="en-US" dirty="0"/>
          </a:p>
          <a:p>
            <a:r>
              <a:rPr lang="en-US" dirty="0"/>
              <a:t>One “no-points-deducted” absence for each month.</a:t>
            </a:r>
          </a:p>
          <a:p>
            <a:pPr lvl="3"/>
            <a:endParaRPr lang="en-US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3"/>
            <a:endParaRPr lang="en-US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967359" y="4999009"/>
                <a:ext cx="720928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𝐸𝑥𝑐𝑢𝑠𝑒𝑑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59" y="4999009"/>
                <a:ext cx="7209281" cy="467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will be assigned through the </a:t>
            </a:r>
            <a:r>
              <a:rPr lang="en-US" dirty="0" err="1"/>
              <a:t>MyLab</a:t>
            </a:r>
            <a:r>
              <a:rPr lang="en-US" dirty="0"/>
              <a:t> platform.</a:t>
            </a:r>
          </a:p>
          <a:p>
            <a:pPr lvl="3"/>
            <a:endParaRPr lang="en-US" dirty="0"/>
          </a:p>
          <a:p>
            <a:r>
              <a:rPr lang="en-US" dirty="0"/>
              <a:t>Homework will be announced in class when assigned.</a:t>
            </a:r>
          </a:p>
          <a:p>
            <a:pPr lvl="3"/>
            <a:endParaRPr lang="en-US" dirty="0"/>
          </a:p>
          <a:p>
            <a:r>
              <a:rPr lang="en-US" dirty="0"/>
              <a:t>One week to finish each homework assignment.</a:t>
            </a:r>
          </a:p>
          <a:p>
            <a:pPr lvl="3"/>
            <a:endParaRPr lang="en-US" dirty="0"/>
          </a:p>
          <a:p>
            <a:r>
              <a:rPr lang="en-US" dirty="0"/>
              <a:t>Students get a total of 5 attempts.</a:t>
            </a:r>
          </a:p>
          <a:p>
            <a:pPr lvl="3"/>
            <a:endParaRPr lang="en-US" dirty="0"/>
          </a:p>
          <a:p>
            <a:r>
              <a:rPr lang="en-US" dirty="0"/>
              <a:t>Max score out of all five attempts will count.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5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Quizzes will act as a low-stakes status check.</a:t>
            </a:r>
          </a:p>
          <a:p>
            <a:pPr lvl="3"/>
            <a:endParaRPr lang="en-US" dirty="0"/>
          </a:p>
          <a:p>
            <a:r>
              <a:rPr lang="en-US" dirty="0"/>
              <a:t>Students can recover extra credit by attending office hours and “correcting” any mistakes made.</a:t>
            </a:r>
          </a:p>
          <a:p>
            <a:pPr lvl="3"/>
            <a:endParaRPr lang="en-US" dirty="0"/>
          </a:p>
          <a:p>
            <a:r>
              <a:rPr lang="en-US" dirty="0"/>
              <a:t>The lowest quiz result will be dropped at the end of the semester.</a:t>
            </a:r>
          </a:p>
          <a:p>
            <a:pPr lvl="3"/>
            <a:endParaRPr lang="en-US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final exam will be a comprehensive exam on all materials covered over the semester.</a:t>
            </a:r>
          </a:p>
          <a:p>
            <a:pPr lvl="3"/>
            <a:endParaRPr lang="en-US" dirty="0"/>
          </a:p>
          <a:p>
            <a:r>
              <a:rPr lang="en-US" dirty="0"/>
              <a:t>By principle, no “recovery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3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the final exam due to valid cause, the option would be either a written make-up exam, or an oral exam.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Policies /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students with accommodations are strongly encouraged to reach out via email or office hours.</a:t>
            </a:r>
          </a:p>
          <a:p>
            <a:pPr lvl="3"/>
            <a:endParaRPr lang="en-US" dirty="0"/>
          </a:p>
          <a:p>
            <a:r>
              <a:rPr lang="en-US" dirty="0"/>
              <a:t>Slides for the next lecture will be posted on Moodle at least a day ahead of the lecture.</a:t>
            </a:r>
          </a:p>
          <a:p>
            <a:pPr lvl="3"/>
            <a:endParaRPr lang="en-US" dirty="0"/>
          </a:p>
          <a:p>
            <a:r>
              <a:rPr lang="en-US" dirty="0"/>
              <a:t>Mid-semester, there will be a short anonymous survey to check up on any requests or comments.</a:t>
            </a:r>
          </a:p>
          <a:p>
            <a:pPr lvl="3"/>
            <a:endParaRPr lang="en-US" dirty="0"/>
          </a:p>
          <a:p>
            <a:r>
              <a:rPr lang="en-US" dirty="0"/>
              <a:t>Missed Class: Nov. 8</a:t>
            </a:r>
            <a:r>
              <a:rPr lang="en-US" baseline="30000" dirty="0"/>
              <a:t>th</a:t>
            </a:r>
            <a:r>
              <a:rPr lang="en-US" dirty="0"/>
              <a:t> (Fri)</a:t>
            </a:r>
          </a:p>
          <a:p>
            <a:pPr lvl="1"/>
            <a:r>
              <a:rPr lang="en-US" dirty="0"/>
              <a:t>Instructor will be attending a conference in St. Louis…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28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33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D3459-7107-E535-F38C-11653BC0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8ED19-750A-9774-7652-992D7DBD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EBEDF-4F6A-80C1-125C-BB5F256D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57327-705D-5F08-B85B-99C818AF181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6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with solving a system of two linear equations with two unknowns?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for the unknows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when…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84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multiplication and division with powers?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Simplify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07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simple first derivatives of linear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373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bf4d1df-f174-47e5-b26e-d762c42868e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ff3388d-c6f3-4420-a366-56c69f596df7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407</TotalTime>
  <Words>1195</Words>
  <Application>Microsoft Office PowerPoint</Application>
  <PresentationFormat>On-screen Show (4:3)</PresentationFormat>
  <Paragraphs>245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-apple-system</vt:lpstr>
      <vt:lpstr>Arial</vt:lpstr>
      <vt:lpstr>Calibri</vt:lpstr>
      <vt:lpstr>Cambria Math</vt:lpstr>
      <vt:lpstr>Franklin Gothic Book</vt:lpstr>
      <vt:lpstr>Raleway Medium</vt:lpstr>
      <vt:lpstr>Office Theme</vt:lpstr>
      <vt:lpstr>Introduction</vt:lpstr>
      <vt:lpstr>About Me</vt:lpstr>
      <vt:lpstr>Contact Information</vt:lpstr>
      <vt:lpstr>Office Hours: Irregular</vt:lpstr>
      <vt:lpstr>Office Hours: Calendly</vt:lpstr>
      <vt:lpstr>Intermediate Price Theory</vt:lpstr>
      <vt:lpstr>Intermediate Price Theory</vt:lpstr>
      <vt:lpstr>PollEverywhere</vt:lpstr>
      <vt:lpstr>PowerPoint Presentation</vt:lpstr>
      <vt:lpstr>Textbook / Reading Material</vt:lpstr>
      <vt:lpstr>Pearson MyLab</vt:lpstr>
      <vt:lpstr>Pearson MyLab</vt:lpstr>
      <vt:lpstr>Grades</vt:lpstr>
      <vt:lpstr>Grades</vt:lpstr>
      <vt:lpstr>Grades</vt:lpstr>
      <vt:lpstr>Attendance</vt:lpstr>
      <vt:lpstr>Homework</vt:lpstr>
      <vt:lpstr>Quizzes</vt:lpstr>
      <vt:lpstr>Final Exam</vt:lpstr>
      <vt:lpstr>Other Policies / Announcements</vt:lpstr>
      <vt:lpstr>PollEverywhere</vt:lpstr>
      <vt:lpstr>PowerPoint Presentation</vt:lpstr>
      <vt:lpstr>Quick Math Background Check</vt:lpstr>
      <vt:lpstr>Quick Math Background Check</vt:lpstr>
      <vt:lpstr>Quick Math Background Check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23</cp:revision>
  <dcterms:created xsi:type="dcterms:W3CDTF">2023-08-17T23:00:51Z</dcterms:created>
  <dcterms:modified xsi:type="dcterms:W3CDTF">2024-08-21T15:05:42Z</dcterms:modified>
</cp:coreProperties>
</file>