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notesSlides/notesSlide3.xml" ContentType="application/vnd.openxmlformats-officedocument.presentationml.notesSlide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tags/tag5.xml" ContentType="application/vnd.openxmlformats-officedocument.presentationml.tags+xml"/>
  <Override PartName="/ppt/notesSlides/notesSlide5.xml" ContentType="application/vnd.openxmlformats-officedocument.presentationml.notesSlide+xml"/>
  <Override PartName="/ppt/tags/tag6.xml" ContentType="application/vnd.openxmlformats-officedocument.presentationml.tags+xml"/>
  <Override PartName="/ppt/notesSlides/notesSlide6.xml" ContentType="application/vnd.openxmlformats-officedocument.presentationml.notesSlide+xml"/>
  <Override PartName="/ppt/tags/tag7.xml" ContentType="application/vnd.openxmlformats-officedocument.presentationml.tags+xml"/>
  <Override PartName="/ppt/notesSlides/notesSlide7.xml" ContentType="application/vnd.openxmlformats-officedocument.presentationml.notesSlide+xml"/>
  <Override PartName="/ppt/tags/tag8.xml" ContentType="application/vnd.openxmlformats-officedocument.presentationml.tags+xml"/>
  <Override PartName="/ppt/notesSlides/notesSlide8.xml" ContentType="application/vnd.openxmlformats-officedocument.presentationml.notesSlide+xml"/>
  <Override PartName="/ppt/tags/tag9.xml" ContentType="application/vnd.openxmlformats-officedocument.presentationml.tags+xml"/>
  <Override PartName="/ppt/notesSlides/notesSlide9.xml" ContentType="application/vnd.openxmlformats-officedocument.presentationml.notesSlide+xml"/>
  <Override PartName="/ppt/tags/tag10.xml" ContentType="application/vnd.openxmlformats-officedocument.presentationml.tags+xml"/>
  <Override PartName="/ppt/notesSlides/notesSlide10.xml" ContentType="application/vnd.openxmlformats-officedocument.presentationml.notesSlide+xml"/>
  <Override PartName="/ppt/tags/tag11.xml" ContentType="application/vnd.openxmlformats-officedocument.presentationml.tags+xml"/>
  <Override PartName="/ppt/notesSlides/notesSlide11.xml" ContentType="application/vnd.openxmlformats-officedocument.presentationml.notesSlide+xml"/>
  <Override PartName="/ppt/tags/tag12.xml" ContentType="application/vnd.openxmlformats-officedocument.presentationml.tags+xml"/>
  <Override PartName="/ppt/notesSlides/notesSlide12.xml" ContentType="application/vnd.openxmlformats-officedocument.presentationml.notesSlide+xml"/>
  <Override PartName="/ppt/tags/tag13.xml" ContentType="application/vnd.openxmlformats-officedocument.presentationml.tags+xml"/>
  <Override PartName="/ppt/notesSlides/notesSlide13.xml" ContentType="application/vnd.openxmlformats-officedocument.presentationml.notesSlide+xml"/>
  <Override PartName="/ppt/tags/tag14.xml" ContentType="application/vnd.openxmlformats-officedocument.presentationml.tags+xml"/>
  <Override PartName="/ppt/notesSlides/notesSlide14.xml" ContentType="application/vnd.openxmlformats-officedocument.presentationml.notesSlide+xml"/>
  <Override PartName="/ppt/tags/tag15.xml" ContentType="application/vnd.openxmlformats-officedocument.presentationml.tags+xml"/>
  <Override PartName="/ppt/notesSlides/notesSlide15.xml" ContentType="application/vnd.openxmlformats-officedocument.presentationml.notesSlide+xml"/>
  <Override PartName="/ppt/tags/tag16.xml" ContentType="application/vnd.openxmlformats-officedocument.presentationml.tags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67"/>
  </p:notesMasterIdLst>
  <p:sldIdLst>
    <p:sldId id="256" r:id="rId2"/>
    <p:sldId id="345" r:id="rId3"/>
    <p:sldId id="262" r:id="rId4"/>
    <p:sldId id="263" r:id="rId5"/>
    <p:sldId id="264" r:id="rId6"/>
    <p:sldId id="258" r:id="rId7"/>
    <p:sldId id="268" r:id="rId8"/>
    <p:sldId id="271" r:id="rId9"/>
    <p:sldId id="276" r:id="rId10"/>
    <p:sldId id="278" r:id="rId11"/>
    <p:sldId id="272" r:id="rId12"/>
    <p:sldId id="279" r:id="rId13"/>
    <p:sldId id="281" r:id="rId14"/>
    <p:sldId id="273" r:id="rId15"/>
    <p:sldId id="300" r:id="rId16"/>
    <p:sldId id="302" r:id="rId17"/>
    <p:sldId id="274" r:id="rId18"/>
    <p:sldId id="275" r:id="rId19"/>
    <p:sldId id="285" r:id="rId20"/>
    <p:sldId id="259" r:id="rId21"/>
    <p:sldId id="265" r:id="rId22"/>
    <p:sldId id="267" r:id="rId23"/>
    <p:sldId id="266" r:id="rId24"/>
    <p:sldId id="286" r:id="rId25"/>
    <p:sldId id="289" r:id="rId26"/>
    <p:sldId id="290" r:id="rId27"/>
    <p:sldId id="296" r:id="rId28"/>
    <p:sldId id="291" r:id="rId29"/>
    <p:sldId id="292" r:id="rId30"/>
    <p:sldId id="293" r:id="rId31"/>
    <p:sldId id="294" r:id="rId32"/>
    <p:sldId id="295" r:id="rId33"/>
    <p:sldId id="298" r:id="rId34"/>
    <p:sldId id="299" r:id="rId35"/>
    <p:sldId id="303" r:id="rId36"/>
    <p:sldId id="305" r:id="rId37"/>
    <p:sldId id="306" r:id="rId38"/>
    <p:sldId id="307" r:id="rId39"/>
    <p:sldId id="321" r:id="rId40"/>
    <p:sldId id="323" r:id="rId41"/>
    <p:sldId id="308" r:id="rId42"/>
    <p:sldId id="317" r:id="rId43"/>
    <p:sldId id="319" r:id="rId44"/>
    <p:sldId id="320" r:id="rId45"/>
    <p:sldId id="309" r:id="rId46"/>
    <p:sldId id="310" r:id="rId47"/>
    <p:sldId id="311" r:id="rId48"/>
    <p:sldId id="312" r:id="rId49"/>
    <p:sldId id="313" r:id="rId50"/>
    <p:sldId id="314" r:id="rId51"/>
    <p:sldId id="324" r:id="rId52"/>
    <p:sldId id="325" r:id="rId53"/>
    <p:sldId id="331" r:id="rId54"/>
    <p:sldId id="333" r:id="rId55"/>
    <p:sldId id="329" r:id="rId56"/>
    <p:sldId id="330" r:id="rId57"/>
    <p:sldId id="334" r:id="rId58"/>
    <p:sldId id="336" r:id="rId59"/>
    <p:sldId id="337" r:id="rId60"/>
    <p:sldId id="338" r:id="rId61"/>
    <p:sldId id="339" r:id="rId62"/>
    <p:sldId id="341" r:id="rId63"/>
    <p:sldId id="343" r:id="rId64"/>
    <p:sldId id="340" r:id="rId65"/>
    <p:sldId id="315" r:id="rId6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084" autoAdjust="0"/>
    <p:restoredTop sz="94660"/>
  </p:normalViewPr>
  <p:slideViewPr>
    <p:cSldViewPr snapToGrid="0">
      <p:cViewPr>
        <p:scale>
          <a:sx n="102" d="100"/>
          <a:sy n="102" d="100"/>
        </p:scale>
        <p:origin x="576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0A6441-4E79-42FF-805B-86C90BDFD38D}" type="datetimeFigureOut">
              <a:rPr lang="en-US" smtClean="0"/>
              <a:t>8/25/2024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A29054-221E-4755-818D-C35A08AFDB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7853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Poll Title: Do not modify the notes in this section to avoid tampering with the Poll Everywhere activity.
More info at polleverywhere.com/support
The unit price of coffee is $2.The unit price of a sandwich is $3. You have $12 in your budget. Can you afford 1 sandwich and 1 cup of coffee?
https://www.polleverywhere.com/multiple_choice_polls/sacWZhX4Y7YnGjJQarN2D?display_state=instructions&amp;activity_state=opened&amp;state=opened&amp;flow=Engagement&amp;onscreen=persist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A29054-221E-4755-818D-C35A08AFDBE7}" type="slidenum">
              <a:rPr lang="en-US" smtClean="0"/>
              <a:t>9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B9C0A6-7F9C-DC40-BFCD-2C029B2DA4F3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88753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Poll Title: Do not modify the notes in this section to avoid tampering with the Poll Everywhere activity.
More info at polleverywhere.com/support
The unit price of coffee is $2.The unit price of a sandwich is $3. You have $12 in your budget. Can you afford 1 sandwich and 1 cup of coffee?
https://www.polleverywhere.com/multiple_choice_polls/sacWZhX4Y7YnGjJQarN2D?display_state=chart&amp;activity_state=closed&amp;state=closed&amp;flow=Engagement&amp;onscreen=persist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A29054-221E-4755-818D-C35A08AFDBE7}" type="slidenum">
              <a:rPr lang="en-US" smtClean="0"/>
              <a:t>10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EAB49B-93EF-FB41-6C63-754B16B3231B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2834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Poll Title: Do not modify the notes in this section to avoid tampering with the Poll Everywhere activity.
More info at polleverywhere.com/support
The unit price of coffee is $2.The unit price of a sandwich is $3. You have $12 in your budget. Can you afford 3 sandwiches and 4 cups of coffee?
https://www.polleverywhere.com/multiple_choice_polls/9gb2VtVZvCm8wSP4lIl2t?display_state=instructions&amp;activity_state=opened&amp;state=opened&amp;flow=Engagement&amp;onscreen=persist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A29054-221E-4755-818D-C35A08AFDBE7}" type="slidenum">
              <a:rPr lang="en-US" smtClean="0"/>
              <a:t>12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914086-1D00-E31F-8A70-0407587A6123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8519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Poll Title: Do not modify the notes in this section to avoid tampering with the Poll Everywhere activity.
More info at polleverywhere.com/support
The unit price of coffee is $2.The unit price of a sandwich is $3. You have $12 in your budget. Can you afford 3 sandwiches and 4 cups of coffee?
https://www.polleverywhere.com/multiple_choice_polls/9gb2VtVZvCm8wSP4lIl2t?display_state=chart&amp;activity_state=closed&amp;state=closed&amp;flow=Engagement&amp;onscreen=persist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A29054-221E-4755-818D-C35A08AFDBE7}" type="slidenum">
              <a:rPr lang="en-US" smtClean="0"/>
              <a:t>13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BF15FF-53CD-D598-FC44-B96BDE136AE9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7337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Poll Title: Do not modify the notes in this section to avoid tampering with the Poll Everywhere activity.
More info at polleverywhere.com/support
The unit price of coffee is $2.The unit price of a sandwich is $3. You have $12 in your budget. Can you afford 2 sandwiches and 3 cups of coffee?
https://www.polleverywhere.com/multiple_choice_polls/I6dKwYblIOneluKfefzbs?display_state=instructions&amp;activity_state=opened&amp;state=opened&amp;flow=Engagement&amp;onscreen=persist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A29054-221E-4755-818D-C35A08AFDBE7}" type="slidenum">
              <a:rPr lang="en-US" smtClean="0"/>
              <a:t>15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6E602A-6816-1CA6-9EC2-3BEC05F752F9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3667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Poll Title: Do not modify the notes in this section to avoid tampering with the Poll Everywhere activity.
More info at polleverywhere.com/support
The unit price of coffee is $2.The unit price of a sandwich is $3. You have $12 in your budget. Can you afford 2 sandwiches and 3 cups of coffee?
https://www.polleverywhere.com/multiple_choice_polls/I6dKwYblIOneluKfefzbs?display_state=chart&amp;activity_state=closed&amp;state=closed&amp;flow=Engagement&amp;onscreen=persist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A29054-221E-4755-818D-C35A08AFDBE7}" type="slidenum">
              <a:rPr lang="en-US" smtClean="0"/>
              <a:t>16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7730BB-445C-6E8E-5706-F991B3D8DCA0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0006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Poll Title: Do not modify the notes in this section to avoid tampering with the Poll Everywhere activity.
More info at polleverywhere.com/support
Suppose that we are plotting the budget constraint of this consumer.Would the budget line look different from our normal budget constraint?
https://www.polleverywhere.com/multiple_choice_polls/TIms9Lg413pIHOgVZRgky?display_state=instructions&amp;activity_state=opened&amp;state=opened&amp;flow=Engagement&amp;onscreen=persist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A29054-221E-4755-818D-C35A08AFDBE7}" type="slidenum">
              <a:rPr lang="en-US" smtClean="0"/>
              <a:t>39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E3EAE9-539F-CB1E-FF5A-18249A0EC8F3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5716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Poll Title: Do not modify the notes in this section to avoid tampering with the Poll Everywhere activity.
More info at polleverywhere.com/support
Suppose that we are plotting the budget constraint of this consumer.Would the budget line look different from our normal budget constraint?
https://www.polleverywhere.com/multiple_choice_polls/TIms9Lg413pIHOgVZRgky?display_state=chart&amp;activity_state=closed&amp;state=closed&amp;flow=Engagement&amp;onscreen=persist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A29054-221E-4755-818D-C35A08AFDBE7}" type="slidenum">
              <a:rPr lang="en-US" smtClean="0"/>
              <a:t>40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A8E62F-6261-D344-C14C-E9F891A93DA3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1859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Poll Title: Do not modify the notes in this section to avoid tampering with the Poll Everywhere activity.
More info at polleverywhere.com/support
How many books can this consumer purchase?
https://www.polleverywhere.com/multiple_choice_polls/m5r2Q0wJyyurpLrHWxpz1?display_state=instructions&amp;activity_state=opened&amp;state=opened&amp;flow=Engagement&amp;onscreen=persist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A29054-221E-4755-818D-C35A08AFDBE7}" type="slidenum">
              <a:rPr lang="en-US" smtClean="0"/>
              <a:t>42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E0A184-F603-0253-9F51-F77AF766194A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24204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Poll Title: Do not modify the notes in this section to avoid tampering with the Poll Everywhere activity.
More info at polleverywhere.com/support
How many books can this consumer purchase?
https://www.polleverywhere.com/multiple_choice_polls/m5r2Q0wJyyurpLrHWxpz1?display_state=chart&amp;activity_state=closed&amp;state=closed&amp;flow=Engagement&amp;onscreen=persist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A29054-221E-4755-818D-C35A08AFDBE7}" type="slidenum">
              <a:rPr lang="en-US" smtClean="0"/>
              <a:t>43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697B50-70D6-4059-14AD-53FC64F95F27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8337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Poll Title: Do not modify the notes in this section to avoid tampering with the Poll Everywhere activity.
More info at polleverywhere.com/support
What is the "Money Equivalent" of the consumer's Endowment?Endowment: 50 Apples and 20 BooksEach Apple costs $4, and each Book costs $5.
https://www.polleverywhere.com/multiple_choice_polls/OeqSKor2RiabG8HHZAKQL?display_state=instructions&amp;activity_state=opened&amp;state=opened&amp;flow=Engagement&amp;onscreen=persist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A29054-221E-4755-818D-C35A08AFDBE7}" type="slidenum">
              <a:rPr lang="en-US" smtClean="0"/>
              <a:t>53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BA2BB4-A7AA-7F71-C79C-C3A4AC98E646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11371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Poll Title: Do not modify the notes in this section to avoid tampering with the Poll Everywhere activity.
More info at polleverywhere.com/support
What is the "Money Equivalent" of the consumer's Endowment?Endowment: 50 Apples and 20 BooksEach Apple costs $4, and each Book costs $5.
https://www.polleverywhere.com/multiple_choice_polls/OeqSKor2RiabG8HHZAKQL?display_state=chart&amp;activity_state=closed&amp;state=closed&amp;flow=Engagement&amp;onscreen=persist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A29054-221E-4755-818D-C35A08AFDBE7}" type="slidenum">
              <a:rPr lang="en-US" smtClean="0"/>
              <a:t>54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026156-5D65-1B6D-8225-589B26C01569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695766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Poll Title: Do not modify the notes in this section to avoid tampering with the Poll Everywhere activity.
More info at polleverywhere.com/support
What is the Updated "Money Equivalent" of the consumer's Endowment?Endowment: 50 Apples and 20 BooksEach Apple costs $4, and each Book costs $4 now.
https://www.polleverywhere.com/multiple_choice_polls/xknVH1MoWiO4ZS6C2tdCN?display_state=instructions&amp;activity_state=opened&amp;state=opened&amp;flow=Engagement&amp;onscreen=persist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A29054-221E-4755-818D-C35A08AFDBE7}" type="slidenum">
              <a:rPr lang="en-US" smtClean="0"/>
              <a:t>57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E4489D-4CCB-73FC-3D78-6E8B0DEA3F28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536371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Poll Title: Do not modify the notes in this section to avoid tampering with the Poll Everywhere activity.
More info at polleverywhere.com/support
What is the Updated "Money Equivalent" of the consumer's Endowment?Endowment: 50 Apples and 20 BooksEach Apple costs $4, and each Book costs $4 now.
https://www.polleverywhere.com/multiple_choice_polls/xknVH1MoWiO4ZS6C2tdCN?display_state=chart&amp;activity_state=closed&amp;state=closed&amp;flow=Engagement&amp;onscreen=persist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A29054-221E-4755-818D-C35A08AFDBE7}" type="slidenum">
              <a:rPr lang="en-US" smtClean="0"/>
              <a:t>58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C295EC-227D-54A0-165C-81D7EA4AAADD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65693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Poll Title: Do not modify the notes in this section to avoid tampering with the Poll Everywhere activity.
More info at polleverywhere.com/support
What is the "Money Equivalent" of the consumer's Endowment?Endowment: 40 Apples and 20 BooksEach Apple costs $4, and each Book costs $5.
https://www.polleverywhere.com/multiple_choice_polls/UC7wa2wz3dCpVdYcZ5LjR?display_state=instructions&amp;activity_state=opened&amp;state=opened&amp;flow=Engagement&amp;onscreen=persist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A29054-221E-4755-818D-C35A08AFDBE7}" type="slidenum">
              <a:rPr lang="en-US" smtClean="0"/>
              <a:t>62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68B3E1-CFC7-3B62-C6B4-95611411BDD6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76252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Poll Title: Do not modify the notes in this section to avoid tampering with the Poll Everywhere activity.
More info at polleverywhere.com/support
What is the "Money Equivalent" of the consumer's Endowment?Endowment: 40 Apples and 20 BooksEach Apple costs $4, and each Book costs $5.
https://www.polleverywhere.com/multiple_choice_polls/UC7wa2wz3dCpVdYcZ5LjR?display_state=chart&amp;activity_state=closed&amp;state=closed&amp;flow=Engagement&amp;onscreen=persist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A29054-221E-4755-818D-C35A08AFDBE7}" type="slidenum">
              <a:rPr lang="en-US" smtClean="0"/>
              <a:t>63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6ECF93-04A5-811F-627F-904685A84395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0118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>
            <a:normAutofit/>
          </a:bodyPr>
          <a:lstStyle>
            <a:lvl1pPr algn="ctr">
              <a:defRPr sz="4400">
                <a:solidFill>
                  <a:srgbClr val="C0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32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ECON 300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Google Shape;92;p13">
            <a:extLst>
              <a:ext uri="{FF2B5EF4-FFF2-40B4-BE49-F238E27FC236}">
                <a16:creationId xmlns:a16="http://schemas.microsoft.com/office/drawing/2014/main" id="{BF16982E-3E38-0665-4F07-437DD3F0D5A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634323" y="228601"/>
            <a:ext cx="1875353" cy="9905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135496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ECON 300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Google Shape;101;p14">
            <a:extLst>
              <a:ext uri="{FF2B5EF4-FFF2-40B4-BE49-F238E27FC236}">
                <a16:creationId xmlns:a16="http://schemas.microsoft.com/office/drawing/2014/main" id="{859BA894-242B-5A6C-EFD3-428444AAFEC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973558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C0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>
            <a:normAutofit/>
          </a:bodyPr>
          <a:lstStyle>
            <a:lvl1pPr marL="0" indent="0" algn="ctr">
              <a:buNone/>
              <a:defRPr sz="3200" b="1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ECON 300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Google Shape;92;p13">
            <a:extLst>
              <a:ext uri="{FF2B5EF4-FFF2-40B4-BE49-F238E27FC236}">
                <a16:creationId xmlns:a16="http://schemas.microsoft.com/office/drawing/2014/main" id="{A5DC9873-6BF3-A825-551C-17B7FBCA97F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634323" y="228601"/>
            <a:ext cx="1875353" cy="9905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505856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ECON 300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Google Shape;101;p14">
            <a:extLst>
              <a:ext uri="{FF2B5EF4-FFF2-40B4-BE49-F238E27FC236}">
                <a16:creationId xmlns:a16="http://schemas.microsoft.com/office/drawing/2014/main" id="{F820AB4E-4F46-3C81-9BD0-65A4D2A2DBEC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945962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>
            <a:no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>
            <a:no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ECON 300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Google Shape;101;p14">
            <a:extLst>
              <a:ext uri="{FF2B5EF4-FFF2-40B4-BE49-F238E27FC236}">
                <a16:creationId xmlns:a16="http://schemas.microsoft.com/office/drawing/2014/main" id="{C854E680-04A2-EA76-C6A6-8EF6A2AD0BB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142575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ECON 300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Google Shape;101;p14">
            <a:extLst>
              <a:ext uri="{FF2B5EF4-FFF2-40B4-BE49-F238E27FC236}">
                <a16:creationId xmlns:a16="http://schemas.microsoft.com/office/drawing/2014/main" id="{0E4BED26-AE3D-9FD7-372D-89389F76110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519556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ECON 300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Google Shape;101;p14">
            <a:extLst>
              <a:ext uri="{FF2B5EF4-FFF2-40B4-BE49-F238E27FC236}">
                <a16:creationId xmlns:a16="http://schemas.microsoft.com/office/drawing/2014/main" id="{63FB725D-7839-2629-E2FD-4289B983E67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49830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ECON 300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Google Shape;101;p14">
            <a:extLst>
              <a:ext uri="{FF2B5EF4-FFF2-40B4-BE49-F238E27FC236}">
                <a16:creationId xmlns:a16="http://schemas.microsoft.com/office/drawing/2014/main" id="{ADE22408-2DD9-F1EF-2438-A0546996FB2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331846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ECON 300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Google Shape;101;p14">
            <a:extLst>
              <a:ext uri="{FF2B5EF4-FFF2-40B4-BE49-F238E27FC236}">
                <a16:creationId xmlns:a16="http://schemas.microsoft.com/office/drawing/2014/main" id="{19CEB84E-A1D1-9AFA-DEC7-31056DF6BFAD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511656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ECON 300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Google Shape;101;p14">
            <a:extLst>
              <a:ext uri="{FF2B5EF4-FFF2-40B4-BE49-F238E27FC236}">
                <a16:creationId xmlns:a16="http://schemas.microsoft.com/office/drawing/2014/main" id="{1F852EF2-DB2E-EDA3-947F-AD7E6C19EBD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381024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ECON 300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Google Shape;101;p14">
            <a:extLst>
              <a:ext uri="{FF2B5EF4-FFF2-40B4-BE49-F238E27FC236}">
                <a16:creationId xmlns:a16="http://schemas.microsoft.com/office/drawing/2014/main" id="{297A800C-E47B-35AC-0EA8-24F3738049A6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026333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00" b="1">
                <a:solidFill>
                  <a:schemeClr val="tx1"/>
                </a:solidFill>
                <a:latin typeface="Franklin Gothic Book" panose="020B0503020102020204" pitchFamily="34" charset="0"/>
                <a:cs typeface="Forte Forward" panose="020F0502020204030204" pitchFamily="2" charset="0"/>
              </a:defRPr>
            </a:lvl1pPr>
          </a:lstStyle>
          <a:p>
            <a:r>
              <a:rPr lang="en-US"/>
              <a:t>ECON 300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90777" y="6356351"/>
            <a:ext cx="576244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00" b="1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</a:lstStyle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00" b="1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</a:lstStyle>
          <a:p>
            <a:fld id="{1A980C56-831A-4EAB-9EDE-57C090F4F877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Google Shape;91;p13">
            <a:extLst>
              <a:ext uri="{FF2B5EF4-FFF2-40B4-BE49-F238E27FC236}">
                <a16:creationId xmlns:a16="http://schemas.microsoft.com/office/drawing/2014/main" id="{9C136CE5-665B-2FA1-3A31-86C4E8EC1DBB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0" y="0"/>
            <a:ext cx="9144000" cy="4230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259553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hf hdr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Franklin Gothic Book" panose="020B05030201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4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5.xml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6.xml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7.xml"/><Relationship Id="rId4" Type="http://schemas.openxmlformats.org/officeDocument/2006/relationships/image" Target="../media/image36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8.xml"/><Relationship Id="rId4" Type="http://schemas.openxmlformats.org/officeDocument/2006/relationships/image" Target="../media/image37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9.xml"/><Relationship Id="rId4" Type="http://schemas.openxmlformats.org/officeDocument/2006/relationships/image" Target="../media/image39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0.xml"/><Relationship Id="rId4" Type="http://schemas.openxmlformats.org/officeDocument/2006/relationships/image" Target="../media/image40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1.xml"/><Relationship Id="rId4" Type="http://schemas.openxmlformats.org/officeDocument/2006/relationships/image" Target="../media/image51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2.xml"/><Relationship Id="rId4" Type="http://schemas.openxmlformats.org/officeDocument/2006/relationships/image" Target="../media/image52.pn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3.xml"/><Relationship Id="rId4" Type="http://schemas.openxmlformats.org/officeDocument/2006/relationships/image" Target="../media/image54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4.xml"/><Relationship Id="rId4" Type="http://schemas.openxmlformats.org/officeDocument/2006/relationships/image" Target="../media/image55.png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4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4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4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5.xml"/><Relationship Id="rId4" Type="http://schemas.openxmlformats.org/officeDocument/2006/relationships/image" Target="../media/image58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6.xml"/><Relationship Id="rId4" Type="http://schemas.openxmlformats.org/officeDocument/2006/relationships/image" Target="../media/image59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981AA-C880-955A-8ACC-D4284C4A793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Consumer Theory: </a:t>
            </a:r>
            <a:br>
              <a:rPr lang="en-US" dirty="0"/>
            </a:br>
            <a:r>
              <a:rPr lang="en-US" dirty="0"/>
              <a:t>The Budget Constraint</a:t>
            </a:r>
            <a:endParaRPr lang="en-US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868834-9371-0482-209B-C2EBDB2D93F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ECON 300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43A60A-CBE6-B5CE-B9CE-C7DC93869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ECON 300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DF44A7-8470-0B18-F1D2-F47845ECB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6BCC6C-06D2-CC1B-BC1A-B87124A36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58063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614CAC-EF1A-A85B-EC49-9A85B17463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PollEv.com/brianpark046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2C501C-35FC-925E-A887-025417320A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ECON 300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B224E5-970C-FBB8-685A-5F8DBCF9E3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9CE824-B9A6-35C5-93AA-E86F37D78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</a:t>
            </a:fld>
            <a:endParaRPr lang="en-US"/>
          </a:p>
        </p:txBody>
      </p:sp>
      <p:pic>
        <p:nvPicPr>
          <p:cNvPr id="6" name="Picture 5" descr="A qr code on a white background&#10;&#10;Description automatically generated">
            <a:extLst>
              <a:ext uri="{FF2B5EF4-FFF2-40B4-BE49-F238E27FC236}">
                <a16:creationId xmlns:a16="http://schemas.microsoft.com/office/drawing/2014/main" id="{A2F2C6F2-EA2C-604C-E412-B7B64210BB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6823" y="1271693"/>
            <a:ext cx="5210354" cy="5210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56390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A65BA-AF82-B754-9907-5B0418DB1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Economics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E448ED-591A-E549-1DD9-7991655D49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Economics is the study of </a:t>
            </a:r>
            <a:r>
              <a:rPr lang="en-US" b="1" dirty="0"/>
              <a:t>choice under scarcity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9CE93F-E358-7FB4-0E9A-1AC5251C1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ECON 300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C4869B-58EB-75CA-D1F8-2FEAFD159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D37BC6-DD8A-7FE2-A51E-13221EED0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3</a:t>
            </a:fld>
            <a:endParaRPr lang="en-US"/>
          </a:p>
        </p:txBody>
      </p:sp>
      <p:pic>
        <p:nvPicPr>
          <p:cNvPr id="1026" name="Picture 2" descr="Confession of a modernist | Motivation">
            <a:extLst>
              <a:ext uri="{FF2B5EF4-FFF2-40B4-BE49-F238E27FC236}">
                <a16:creationId xmlns:a16="http://schemas.microsoft.com/office/drawing/2014/main" id="{E3843CEB-BA76-202F-A8B7-7344C9D22D6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473"/>
          <a:stretch/>
        </p:blipFill>
        <p:spPr bwMode="auto">
          <a:xfrm>
            <a:off x="992038" y="2644442"/>
            <a:ext cx="7159924" cy="2713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849439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A65BA-AF82-B754-9907-5B0418DB1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Scarcity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E448ED-591A-E549-1DD9-7991655D49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Scarcity comes in many forms:</a:t>
            </a:r>
          </a:p>
          <a:p>
            <a:pPr lvl="1"/>
            <a:r>
              <a:rPr lang="en-US" dirty="0"/>
              <a:t>Land to farm crops, or</a:t>
            </a:r>
          </a:p>
          <a:p>
            <a:pPr lvl="1"/>
            <a:r>
              <a:rPr lang="en-US" dirty="0"/>
              <a:t>Labor to produce cars, or</a:t>
            </a:r>
          </a:p>
          <a:p>
            <a:pPr lvl="1"/>
            <a:r>
              <a:rPr lang="en-US" dirty="0"/>
              <a:t>Money to purchase a new phone, or</a:t>
            </a:r>
          </a:p>
          <a:p>
            <a:pPr lvl="1"/>
            <a:r>
              <a:rPr lang="en-US" dirty="0"/>
              <a:t>Natural Resources to produce energy, and most of all…</a:t>
            </a:r>
          </a:p>
          <a:p>
            <a:pPr lvl="1"/>
            <a:r>
              <a:rPr lang="en-US" dirty="0"/>
              <a:t>Time is limited.</a:t>
            </a:r>
          </a:p>
          <a:p>
            <a:pPr lvl="3"/>
            <a:endParaRPr lang="en-US" dirty="0"/>
          </a:p>
          <a:p>
            <a:r>
              <a:rPr lang="en-US" dirty="0"/>
              <a:t>Most “problems” will cease to be “problems” if scarcity was eliminated from the picture.</a:t>
            </a:r>
          </a:p>
          <a:p>
            <a:pPr lvl="3"/>
            <a:endParaRPr lang="en-US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9CE93F-E358-7FB4-0E9A-1AC5251C1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ECON 300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C4869B-58EB-75CA-D1F8-2FEAFD159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D37BC6-DD8A-7FE2-A51E-13221EED0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4705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A65BA-AF82-B754-9907-5B0418DB1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Scarcity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E448ED-591A-E549-1DD9-7991655D49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Consumers face scarcity:</a:t>
            </a:r>
          </a:p>
          <a:p>
            <a:pPr lvl="1"/>
            <a:r>
              <a:rPr lang="en-US" dirty="0"/>
              <a:t>Should we purchase a new car or fix the one we have?</a:t>
            </a:r>
          </a:p>
          <a:p>
            <a:pPr lvl="1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If we had infinite money, not a problem at all.</a:t>
            </a:r>
          </a:p>
          <a:p>
            <a:pPr lvl="3"/>
            <a:endParaRPr lang="en-US" dirty="0"/>
          </a:p>
          <a:p>
            <a:r>
              <a:rPr lang="en-US" dirty="0"/>
              <a:t>Firms face scarcity:</a:t>
            </a:r>
          </a:p>
          <a:p>
            <a:pPr lvl="1"/>
            <a:r>
              <a:rPr lang="en-US" dirty="0"/>
              <a:t>Should we be hiring more people or buying more machines?</a:t>
            </a:r>
          </a:p>
          <a:p>
            <a:pPr lvl="1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If we had infinite inputs, not a problem at all.</a:t>
            </a:r>
          </a:p>
          <a:p>
            <a:pPr lvl="4"/>
            <a:endParaRPr lang="en-US" dirty="0"/>
          </a:p>
          <a:p>
            <a:r>
              <a:rPr lang="en-US" dirty="0"/>
              <a:t>Governments face scarcity:</a:t>
            </a:r>
          </a:p>
          <a:p>
            <a:pPr lvl="1"/>
            <a:r>
              <a:rPr lang="en-US" dirty="0"/>
              <a:t>Should we update our SOC or invest in the military?</a:t>
            </a:r>
          </a:p>
          <a:p>
            <a:pPr lvl="1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If we had infinite tax revenue, not a problem at all.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9CE93F-E358-7FB4-0E9A-1AC5251C1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ECON 300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C4869B-58EB-75CA-D1F8-2FEAFD159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D37BC6-DD8A-7FE2-A51E-13221EED0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9740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A65BA-AF82-B754-9907-5B0418DB1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Budget Constraint in Words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E448ED-591A-E549-1DD9-7991655D49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“You can consume all the goods and services you want… </a:t>
            </a:r>
            <a:r>
              <a:rPr lang="en-US" b="1" dirty="0"/>
              <a:t>IF</a:t>
            </a:r>
            <a:r>
              <a:rPr lang="en-US" dirty="0"/>
              <a:t> your bank account can cash the checks.”</a:t>
            </a:r>
          </a:p>
          <a:p>
            <a:pPr lvl="3"/>
            <a:endParaRPr lang="en-US" dirty="0"/>
          </a:p>
          <a:p>
            <a:r>
              <a:rPr lang="en-US" dirty="0"/>
              <a:t>How do we formalize this idea?</a:t>
            </a:r>
          </a:p>
          <a:p>
            <a:pPr lvl="1"/>
            <a:r>
              <a:rPr lang="en-US" dirty="0"/>
              <a:t>How do we express this in a graph?</a:t>
            </a:r>
          </a:p>
          <a:p>
            <a:pPr lvl="1"/>
            <a:r>
              <a:rPr lang="en-US" dirty="0"/>
              <a:t>How do we translate these words into math?</a:t>
            </a:r>
          </a:p>
          <a:p>
            <a:pPr lvl="3"/>
            <a:endParaRPr lang="en-US" dirty="0"/>
          </a:p>
          <a:p>
            <a:r>
              <a:rPr lang="en-US" dirty="0"/>
              <a:t>Start with…</a:t>
            </a:r>
          </a:p>
          <a:p>
            <a:pPr lvl="1"/>
            <a:r>
              <a:rPr lang="en-US" dirty="0"/>
              <a:t>Two goods, and</a:t>
            </a:r>
          </a:p>
          <a:p>
            <a:pPr lvl="1"/>
            <a:r>
              <a:rPr lang="en-US" dirty="0"/>
              <a:t>Prices for each of the goods, and</a:t>
            </a:r>
          </a:p>
          <a:p>
            <a:pPr lvl="1"/>
            <a:r>
              <a:rPr lang="en-US" dirty="0"/>
              <a:t>An amount of money you can spend.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9CE93F-E358-7FB4-0E9A-1AC5251C1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ECON 300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C4869B-58EB-75CA-D1F8-2FEAFD159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D37BC6-DD8A-7FE2-A51E-13221EED0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2553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A65BA-AF82-B754-9907-5B0418DB1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Budget Constraint as a Graph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E448ED-591A-E549-1DD9-7991655D49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Suppose you are in an economy where the only two goods are coffee and sandwiches.</a:t>
            </a:r>
          </a:p>
          <a:p>
            <a:pPr lvl="3"/>
            <a:endParaRPr lang="en-US" dirty="0"/>
          </a:p>
          <a:p>
            <a:r>
              <a:rPr lang="en-US" dirty="0"/>
              <a:t>Each cup of coffee costs $2, and each sandwich costs $3.</a:t>
            </a:r>
          </a:p>
          <a:p>
            <a:pPr lvl="3"/>
            <a:endParaRPr lang="en-US" dirty="0"/>
          </a:p>
          <a:p>
            <a:r>
              <a:rPr lang="en-US" dirty="0"/>
              <a:t>You have $12 as your income.</a:t>
            </a:r>
          </a:p>
          <a:p>
            <a:pPr lvl="3"/>
            <a:endParaRPr lang="en-US" dirty="0"/>
          </a:p>
          <a:p>
            <a:r>
              <a:rPr lang="en-US" dirty="0"/>
              <a:t>How would you draw your budget constraint as a graph?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9CE93F-E358-7FB4-0E9A-1AC5251C1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ECON 300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C4869B-58EB-75CA-D1F8-2FEAFD159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D37BC6-DD8A-7FE2-A51E-13221EED0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06723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E7AED2-4218-34CD-717F-09E71CFF5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“Commodity Plane”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350FFB-42B5-B29E-A980-1E467F8DAF5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dirty="0"/>
              <a:t>We imagine a grid of sandwiches and cups of coffee.</a:t>
            </a:r>
          </a:p>
          <a:p>
            <a:pPr lvl="3"/>
            <a:endParaRPr lang="en-US" dirty="0"/>
          </a:p>
          <a:p>
            <a:r>
              <a:rPr lang="en-US" dirty="0"/>
              <a:t>Each point in this Coffee-Sandwich plane represent a “</a:t>
            </a:r>
            <a:r>
              <a:rPr lang="en-US" b="1" dirty="0"/>
              <a:t>commodity bundle</a:t>
            </a:r>
            <a:r>
              <a:rPr lang="en-US" dirty="0"/>
              <a:t>.”</a:t>
            </a:r>
          </a:p>
          <a:p>
            <a:pPr lvl="3"/>
            <a:endParaRPr lang="en-US" dirty="0"/>
          </a:p>
          <a:p>
            <a:r>
              <a:rPr lang="en-US" dirty="0"/>
              <a:t>The collection of all possible commodity bundles consist the “</a:t>
            </a:r>
            <a:r>
              <a:rPr lang="en-US" b="1" dirty="0"/>
              <a:t>commodity plane</a:t>
            </a:r>
            <a:r>
              <a:rPr lang="en-US" dirty="0"/>
              <a:t>”.</a:t>
            </a:r>
          </a:p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DDE47C-E91F-7742-DFE4-D2D0245BF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ECON 300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EA9372-2964-97AA-6491-CC4E230FE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16D75D-BD52-D314-AC1A-04FF4CC6B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8</a:t>
            </a:fld>
            <a:endParaRPr lang="en-US"/>
          </a:p>
        </p:txBody>
      </p:sp>
      <p:pic>
        <p:nvPicPr>
          <p:cNvPr id="19" name="Content Placeholder 18" descr="A line graph with text&#10;&#10;Description automatically generated with medium confidence">
            <a:extLst>
              <a:ext uri="{FF2B5EF4-FFF2-40B4-BE49-F238E27FC236}">
                <a16:creationId xmlns:a16="http://schemas.microsoft.com/office/drawing/2014/main" id="{9723051F-846A-F5AC-834F-DBB7F786261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</p:spTree>
    <p:extLst>
      <p:ext uri="{BB962C8B-B14F-4D97-AF65-F5344CB8AC3E}">
        <p14:creationId xmlns:p14="http://schemas.microsoft.com/office/powerpoint/2010/main" val="30927371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6FA24E2-B6E5-1B77-F391-BA07F4ACCE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ECON 300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3B48B44-22B4-70A4-F54C-A18116A7AD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CB9007-8C77-A7D0-0CB7-24E2A983A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9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76AF7E9-2FBB-7B40-CC31-386F32FBDF49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08411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C78C541-289C-C66D-7FB3-4B78DD2EA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ECON 300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35AB58-67A5-8B7E-0B1C-9B0F5FFF1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0607DD-2499-9355-5C64-2655C51F7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10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50EA693-746C-BFCE-766F-D9B9EBF27299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05510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E7AED2-4218-34CD-717F-09E71CFF5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Checking Affordability (1)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1E350FFB-42B5-B29E-A980-1E467F8DAF5C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Consider the bundle</a:t>
                </a:r>
              </a:p>
              <a:p>
                <a:pPr lvl="1"/>
                <a:r>
                  <a:rPr lang="en-US" dirty="0"/>
                  <a:t> 1 cup of coffee, and</a:t>
                </a:r>
              </a:p>
              <a:p>
                <a:pPr lvl="1"/>
                <a:r>
                  <a:rPr lang="en-US" dirty="0"/>
                  <a:t> 1 sandwich.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How much does it cost?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$2×1+$3×1=$5</m:t>
                    </m:r>
                  </m:oMath>
                </a14:m>
                <a:endParaRPr lang="en-US" dirty="0"/>
              </a:p>
              <a:p>
                <a:pPr lvl="3"/>
                <a:endParaRPr lang="en-US" dirty="0"/>
              </a:p>
              <a:p>
                <a:r>
                  <a:rPr lang="en-US" dirty="0"/>
                  <a:t>Can we purchase it?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$5&lt;$12 ⇒</m:t>
                    </m:r>
                  </m:oMath>
                </a14:m>
                <a:r>
                  <a:rPr lang="en-US" dirty="0"/>
                  <a:t> Yes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Any money left?</a:t>
                </a:r>
              </a:p>
              <a:p>
                <a:pPr lvl="1"/>
                <a:r>
                  <a:rPr lang="en-US" dirty="0"/>
                  <a:t>Yes ($7)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1E350FFB-42B5-B29E-A980-1E467F8DAF5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 l="-2038" t="-1821" b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DDE47C-E91F-7742-DFE4-D2D0245BF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ECON 300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EA9372-2964-97AA-6491-CC4E230FE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16D75D-BD52-D314-AC1A-04FF4CC6B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11</a:t>
            </a:fld>
            <a:endParaRPr lang="en-US"/>
          </a:p>
        </p:txBody>
      </p:sp>
      <p:pic>
        <p:nvPicPr>
          <p:cNvPr id="18" name="Content Placeholder 17" descr="A graph of a coffee and sandwich&#10;&#10;Description automatically generated">
            <a:extLst>
              <a:ext uri="{FF2B5EF4-FFF2-40B4-BE49-F238E27FC236}">
                <a16:creationId xmlns:a16="http://schemas.microsoft.com/office/drawing/2014/main" id="{34CDA318-2633-0DD7-7C62-97FFE571796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</p:spTree>
    <p:extLst>
      <p:ext uri="{BB962C8B-B14F-4D97-AF65-F5344CB8AC3E}">
        <p14:creationId xmlns:p14="http://schemas.microsoft.com/office/powerpoint/2010/main" val="20195096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19792AA-5E5F-C6FD-8737-0848B9DDB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ECON 300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4EAF72-03A8-FDD2-960F-6147D6E2BF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6F4898-83BF-F773-322C-E3727DC63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12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5957F04-F847-CB66-37A2-49F58EAFE360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22872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6783A6-137F-DDB0-88F3-8F9A23D14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ECON 300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D61A73-9B31-B254-BA7E-1AF8F2C16C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8D47BD-25CF-FCD9-9176-813FF38DF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0700D53-74FB-74DB-1167-8640E4521262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92582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E7AED2-4218-34CD-717F-09E71CFF5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Checking Affordability (2)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1E350FFB-42B5-B29E-A980-1E467F8DAF5C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Consider the bundle</a:t>
                </a:r>
              </a:p>
              <a:p>
                <a:pPr lvl="1"/>
                <a:r>
                  <a:rPr lang="en-US" dirty="0"/>
                  <a:t> 4 cups of coffee, and</a:t>
                </a:r>
              </a:p>
              <a:p>
                <a:pPr lvl="1"/>
                <a:r>
                  <a:rPr lang="en-US" dirty="0"/>
                  <a:t> 3 sandwiches.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How much does it cost?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$2×4+$3×3=$17</m:t>
                    </m:r>
                  </m:oMath>
                </a14:m>
                <a:endParaRPr lang="en-US" dirty="0"/>
              </a:p>
              <a:p>
                <a:pPr lvl="3"/>
                <a:endParaRPr lang="en-US" dirty="0"/>
              </a:p>
              <a:p>
                <a:r>
                  <a:rPr lang="en-US" dirty="0"/>
                  <a:t>Can we purchase it?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$17&gt;$12 ⇒ </m:t>
                    </m:r>
                  </m:oMath>
                </a14:m>
                <a:r>
                  <a:rPr lang="en-US" dirty="0"/>
                  <a:t> No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Any money left? </a:t>
                </a:r>
              </a:p>
              <a:p>
                <a:pPr lvl="1"/>
                <a:r>
                  <a:rPr lang="en-US" dirty="0"/>
                  <a:t>N/A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1E350FFB-42B5-B29E-A980-1E467F8DAF5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 l="-2038" t="-1821" b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DDE47C-E91F-7742-DFE4-D2D0245BF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ECON 300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EA9372-2964-97AA-6491-CC4E230FE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16D75D-BD52-D314-AC1A-04FF4CC6B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14</a:t>
            </a:fld>
            <a:endParaRPr lang="en-US"/>
          </a:p>
        </p:txBody>
      </p:sp>
      <p:pic>
        <p:nvPicPr>
          <p:cNvPr id="10" name="Content Placeholder 9" descr="A graph of a coffee and sandwich&#10;&#10;Description automatically generated">
            <a:extLst>
              <a:ext uri="{FF2B5EF4-FFF2-40B4-BE49-F238E27FC236}">
                <a16:creationId xmlns:a16="http://schemas.microsoft.com/office/drawing/2014/main" id="{DA812A56-0FF6-EC4A-143B-AB5D99220AA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</p:spTree>
    <p:extLst>
      <p:ext uri="{BB962C8B-B14F-4D97-AF65-F5344CB8AC3E}">
        <p14:creationId xmlns:p14="http://schemas.microsoft.com/office/powerpoint/2010/main" val="2276397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B62C000-C1AC-27DB-58AA-C541D5AAF2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ECON 300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9289367-7623-E0A7-1DAB-AE08E412F1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BCE3C8-E3DA-F788-2E0D-D1419904F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15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FBA0DD7-377B-9B78-7506-5AF1D83088CD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39035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F28E04-70EB-BCE0-16C3-DDA346426F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ECON 300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52CE22-38E1-1E4F-EF4F-4F1784482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E14D75-D7DA-31F6-72D7-F01571EA3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16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828345B-AF8F-66F2-4550-83EF511BB84D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37727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E7AED2-4218-34CD-717F-09E71CFF5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Checking Affordability (3)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1E350FFB-42B5-B29E-A980-1E467F8DAF5C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Consider the bundle</a:t>
                </a:r>
              </a:p>
              <a:p>
                <a:pPr lvl="1"/>
                <a:r>
                  <a:rPr lang="en-US" dirty="0"/>
                  <a:t> 3 cups of coffee, and</a:t>
                </a:r>
              </a:p>
              <a:p>
                <a:pPr lvl="1"/>
                <a:r>
                  <a:rPr lang="en-US" dirty="0"/>
                  <a:t> 2 sandwiches.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How much does it cost?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$2×3+$3×2=$12</m:t>
                    </m:r>
                  </m:oMath>
                </a14:m>
                <a:endParaRPr lang="en-US" dirty="0"/>
              </a:p>
              <a:p>
                <a:pPr lvl="3"/>
                <a:endParaRPr lang="en-US" dirty="0"/>
              </a:p>
              <a:p>
                <a:r>
                  <a:rPr lang="en-US" dirty="0"/>
                  <a:t>Can we purchase it?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$12=$12 ⇒ </m:t>
                    </m:r>
                  </m:oMath>
                </a14:m>
                <a:r>
                  <a:rPr lang="en-US" dirty="0"/>
                  <a:t> Yes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Any money left?</a:t>
                </a:r>
              </a:p>
              <a:p>
                <a:pPr lvl="1"/>
                <a:r>
                  <a:rPr lang="en-US" dirty="0"/>
                  <a:t>No</a:t>
                </a:r>
              </a:p>
              <a:p>
                <a:pPr lvl="3"/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1E350FFB-42B5-B29E-A980-1E467F8DAF5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 l="-2038" t="-1821" b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DDE47C-E91F-7742-DFE4-D2D0245BF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ECON 300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EA9372-2964-97AA-6491-CC4E230FE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16D75D-BD52-D314-AC1A-04FF4CC6B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17</a:t>
            </a:fld>
            <a:endParaRPr lang="en-US"/>
          </a:p>
        </p:txBody>
      </p:sp>
      <p:pic>
        <p:nvPicPr>
          <p:cNvPr id="11" name="Content Placeholder 10" descr="A graph of a coffee and sandwich&#10;&#10;Description automatically generated">
            <a:extLst>
              <a:ext uri="{FF2B5EF4-FFF2-40B4-BE49-F238E27FC236}">
                <a16:creationId xmlns:a16="http://schemas.microsoft.com/office/drawing/2014/main" id="{1781DB5C-7EAC-1BEB-BD12-4745DA6AA4F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</p:spTree>
    <p:extLst>
      <p:ext uri="{BB962C8B-B14F-4D97-AF65-F5344CB8AC3E}">
        <p14:creationId xmlns:p14="http://schemas.microsoft.com/office/powerpoint/2010/main" val="24898338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E7AED2-4218-34CD-717F-09E71CFF5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“Budget Set”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350FFB-42B5-B29E-A980-1E467F8DAF5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dirty="0"/>
              <a:t>Repeating this for all possible combinations of coffee and sandwiches…</a:t>
            </a:r>
          </a:p>
          <a:p>
            <a:pPr lvl="3"/>
            <a:endParaRPr lang="en-US" dirty="0"/>
          </a:p>
          <a:p>
            <a:r>
              <a:rPr lang="en-US" dirty="0"/>
              <a:t>The bundles that you can purchase make up the “</a:t>
            </a:r>
            <a:r>
              <a:rPr lang="en-US" b="1" dirty="0"/>
              <a:t>budget set</a:t>
            </a:r>
            <a:r>
              <a:rPr lang="en-US" dirty="0"/>
              <a:t>.”</a:t>
            </a:r>
          </a:p>
          <a:p>
            <a:pPr lvl="3"/>
            <a:endParaRPr lang="en-US" dirty="0"/>
          </a:p>
          <a:p>
            <a:r>
              <a:rPr lang="en-US" dirty="0"/>
              <a:t>The bundles you can purchase, </a:t>
            </a:r>
            <a:r>
              <a:rPr lang="en-US" i="1" u="sng" dirty="0"/>
              <a:t>and</a:t>
            </a:r>
            <a:r>
              <a:rPr lang="en-US" dirty="0"/>
              <a:t> leave no money left over make up the “</a:t>
            </a:r>
            <a:r>
              <a:rPr lang="en-US" b="1" dirty="0"/>
              <a:t>budget line</a:t>
            </a:r>
            <a:r>
              <a:rPr lang="en-US" dirty="0"/>
              <a:t>.”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DDE47C-E91F-7742-DFE4-D2D0245BF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ECON 300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EA9372-2964-97AA-6491-CC4E230FE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16D75D-BD52-D314-AC1A-04FF4CC6B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18</a:t>
            </a:fld>
            <a:endParaRPr lang="en-US"/>
          </a:p>
        </p:txBody>
      </p:sp>
      <p:pic>
        <p:nvPicPr>
          <p:cNvPr id="11" name="Content Placeholder 10" descr="A diagram of a budget line&#10;&#10;Description automatically generated">
            <a:extLst>
              <a:ext uri="{FF2B5EF4-FFF2-40B4-BE49-F238E27FC236}">
                <a16:creationId xmlns:a16="http://schemas.microsoft.com/office/drawing/2014/main" id="{319D122D-7EDE-7188-13A3-B80F7CA9F08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</p:spTree>
    <p:extLst>
      <p:ext uri="{BB962C8B-B14F-4D97-AF65-F5344CB8AC3E}">
        <p14:creationId xmlns:p14="http://schemas.microsoft.com/office/powerpoint/2010/main" val="22290606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A65BA-AF82-B754-9907-5B0418DB1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Budget Constraint with “Math”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E448ED-591A-E549-1DD9-7991655D49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We will now formalize the concept of the budget constraint using general terms.</a:t>
            </a:r>
          </a:p>
          <a:p>
            <a:pPr lvl="3"/>
            <a:endParaRPr lang="en-US" dirty="0"/>
          </a:p>
          <a:p>
            <a:r>
              <a:rPr lang="en-US" dirty="0"/>
              <a:t>The setting remains identical:</a:t>
            </a:r>
          </a:p>
          <a:p>
            <a:pPr lvl="1"/>
            <a:r>
              <a:rPr lang="en-US" dirty="0"/>
              <a:t>Two goods, and</a:t>
            </a:r>
          </a:p>
          <a:p>
            <a:pPr lvl="1"/>
            <a:r>
              <a:rPr lang="en-US" dirty="0"/>
              <a:t>Prices for each of the goods, and</a:t>
            </a:r>
          </a:p>
          <a:p>
            <a:pPr lvl="1"/>
            <a:r>
              <a:rPr lang="en-US" dirty="0"/>
              <a:t>An amount of money you can spend.</a:t>
            </a:r>
          </a:p>
          <a:p>
            <a:pPr lvl="3"/>
            <a:endParaRPr lang="en-US" dirty="0"/>
          </a:p>
          <a:p>
            <a:r>
              <a:rPr lang="en-US" dirty="0"/>
              <a:t>Derive of one of the two equations governing the rule that determines the optimal amount of goods that a consumer can purchase.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9CE93F-E358-7FB4-0E9A-1AC5251C1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ECON 300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C4869B-58EB-75CA-D1F8-2FEAFD159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D37BC6-DD8A-7FE2-A51E-13221EED0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7256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A65BA-AF82-B754-9907-5B0418DB1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Two Goods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3E448ED-591A-E549-1DD9-7991655D49D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We will be naming the two goods as </a:t>
                </a:r>
                <a:r>
                  <a:rPr lang="en-US" b="1" dirty="0"/>
                  <a:t>good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and </a:t>
                </a:r>
                <a:r>
                  <a:rPr lang="en-US" b="1" dirty="0"/>
                  <a:t>good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endParaRPr lang="en-US" b="1" dirty="0"/>
              </a:p>
              <a:p>
                <a:pPr lvl="3"/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will represent the units of good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and good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consumed.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are not required to be integers.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We only use two goods because…</a:t>
                </a:r>
              </a:p>
              <a:p>
                <a:pPr lvl="1"/>
                <a:r>
                  <a:rPr lang="en-US" dirty="0"/>
                  <a:t>It is a lot simpler dealing with two variables, and</a:t>
                </a:r>
              </a:p>
              <a:p>
                <a:pPr lvl="1"/>
                <a:r>
                  <a:rPr lang="en-US" dirty="0"/>
                  <a:t>We can think of good</a:t>
                </a:r>
                <a:r>
                  <a:rPr lang="en-US" sz="2000" b="0" dirty="0"/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as a “composite” good that represents all goods other than good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4"/>
                <a:endParaRPr lang="en-US" dirty="0"/>
              </a:p>
              <a:p>
                <a:r>
                  <a:rPr lang="en-US" dirty="0"/>
                  <a:t>Long story short, the math checks out so we can use two.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3E448ED-591A-E549-1DD9-7991655D49D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 r="-850" b="-11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9CE93F-E358-7FB4-0E9A-1AC5251C1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ECON 300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C4869B-58EB-75CA-D1F8-2FEAFD159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D37BC6-DD8A-7FE2-A51E-13221EED0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3636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A65BA-AF82-B754-9907-5B0418DB1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Market Prices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3E448ED-591A-E549-1DD9-7991655D49D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The two goods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will have prices: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endParaRPr lang="en-US" dirty="0"/>
              </a:p>
              <a:p>
                <a:pPr lvl="3"/>
                <a:endParaRPr lang="en-US" dirty="0"/>
              </a:p>
              <a:p>
                <a:r>
                  <a:rPr lang="en-US" dirty="0"/>
                  <a:t>These prices are “per-unit” prices, meaning that 1 unit of each good costs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en-US" dirty="0"/>
                  <a:t>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en-US" dirty="0"/>
                  <a:t>, respectively.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We will also assume that individuals are price takers.</a:t>
                </a:r>
              </a:p>
              <a:p>
                <a:pPr lvl="1"/>
                <a:r>
                  <a:rPr lang="en-US" dirty="0"/>
                  <a:t>“Price takers” don’t have any influence over the price of goods.</a:t>
                </a:r>
              </a:p>
              <a:p>
                <a:pPr lvl="1"/>
                <a:r>
                  <a:rPr lang="en-US" dirty="0"/>
                  <a:t>In some real-world cases, individual consumers may have some power over prices!</a:t>
                </a:r>
              </a:p>
              <a:p>
                <a:pPr lvl="4"/>
                <a:endParaRPr lang="en-US" dirty="0"/>
              </a:p>
              <a:p>
                <a:r>
                  <a:rPr lang="en-US" dirty="0"/>
                  <a:t>If we take the “composite good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approach,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3E448ED-591A-E549-1DD9-7991655D49D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9CE93F-E358-7FB4-0E9A-1AC5251C1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ECON 300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C4869B-58EB-75CA-D1F8-2FEAFD159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D37BC6-DD8A-7FE2-A51E-13221EED0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074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A65BA-AF82-B754-9907-5B0418DB1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Expenditure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3E448ED-591A-E549-1DD9-7991655D49D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In the two-goods environment, the amount a consumer spends can be represented as:</a:t>
                </a:r>
              </a:p>
              <a:p>
                <a:pPr lvl="3"/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dirty="0"/>
              </a:p>
              <a:p>
                <a:pPr lvl="3"/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:</m:t>
                    </m:r>
                  </m:oMath>
                </a14:m>
                <a:r>
                  <a:rPr lang="en-US" dirty="0"/>
                  <a:t> Price of good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times number of units consumed.</a:t>
                </a:r>
              </a:p>
              <a:p>
                <a:pPr lvl="4"/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:</m:t>
                    </m:r>
                  </m:oMath>
                </a14:m>
                <a:r>
                  <a:rPr lang="en-US" dirty="0"/>
                  <a:t> Price of good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times number of units consumed.</a:t>
                </a:r>
              </a:p>
              <a:p>
                <a:pPr lvl="4"/>
                <a:endParaRPr lang="en-US" dirty="0"/>
              </a:p>
              <a:p>
                <a:r>
                  <a:rPr lang="en-US" dirty="0"/>
                  <a:t>Add the two values to find the total amount spent by the consumer.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3E448ED-591A-E549-1DD9-7991655D49D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9CE93F-E358-7FB4-0E9A-1AC5251C1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ECON 300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C4869B-58EB-75CA-D1F8-2FEAFD159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D37BC6-DD8A-7FE2-A51E-13221EED0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9401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A65BA-AF82-B754-9907-5B0418DB1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Income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3E448ED-591A-E549-1DD9-7991655D49D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We typically denote the income of a consumer as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1"/>
                <a:r>
                  <a:rPr lang="en-US" dirty="0">
                    <a:solidFill>
                      <a:schemeClr val="bg1">
                        <a:lumMod val="75000"/>
                      </a:schemeClr>
                    </a:solidFill>
                  </a:rPr>
                  <a:t>Some textbooks use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dirty="0">
                    <a:solidFill>
                      <a:schemeClr val="bg1">
                        <a:lumMod val="75000"/>
                      </a:schemeClr>
                    </a:solidFill>
                  </a:rPr>
                  <a:t>, but we will stick to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dirty="0">
                    <a:solidFill>
                      <a:schemeClr val="bg1">
                        <a:lumMod val="75000"/>
                      </a:schemeClr>
                    </a:solidFill>
                  </a:rPr>
                  <a:t>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You can think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dirty="0"/>
                  <a:t> as “Money.”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The amount you spend cannot exceed this value.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So, “Expenditure has to be less than or equal to income”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3E448ED-591A-E549-1DD9-7991655D49D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9CE93F-E358-7FB4-0E9A-1AC5251C1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ECON 300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C4869B-58EB-75CA-D1F8-2FEAFD159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D37BC6-DD8A-7FE2-A51E-13221EED0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685741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A65BA-AF82-B754-9907-5B0418DB1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Budget Constraint / Line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3E448ED-591A-E549-1DD9-7991655D49D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Using notations we introduced, the budget constraint is:</a:t>
                </a:r>
              </a:p>
              <a:p>
                <a:pPr lvl="3"/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𝑀</m:t>
                      </m:r>
                    </m:oMath>
                  </m:oMathPara>
                </a14:m>
                <a:endParaRPr lang="en-US" dirty="0"/>
              </a:p>
              <a:p>
                <a:pPr lvl="3"/>
                <a:endParaRPr lang="en-US" dirty="0"/>
              </a:p>
              <a:p>
                <a:r>
                  <a:rPr lang="en-US" dirty="0"/>
                  <a:t>If a consumer is to maximize their utility, they should probably use up all the money they have.</a:t>
                </a:r>
              </a:p>
              <a:p>
                <a:pPr lvl="1"/>
                <a:r>
                  <a:rPr lang="en-US" dirty="0">
                    <a:solidFill>
                      <a:srgbClr val="FF0000"/>
                    </a:solidFill>
                  </a:rPr>
                  <a:t>Very poor real-life advice! Don’t try this at home!</a:t>
                </a:r>
              </a:p>
              <a:p>
                <a:pPr lvl="1"/>
                <a:r>
                  <a:rPr lang="en-US" dirty="0"/>
                  <a:t>But it works for “people” in this model.</a:t>
                </a:r>
              </a:p>
              <a:p>
                <a:pPr lvl="3"/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sub>
                      </m:sSub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𝒙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𝒚</m:t>
                          </m:r>
                        </m:sub>
                      </m:sSub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𝒚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𝑴</m:t>
                      </m:r>
                    </m:oMath>
                  </m:oMathPara>
                </a14:m>
                <a:endParaRPr lang="en-US" b="1" dirty="0"/>
              </a:p>
              <a:p>
                <a:pPr lvl="3"/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3E448ED-591A-E549-1DD9-7991655D49D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9CE93F-E358-7FB4-0E9A-1AC5251C1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ECON 300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C4869B-58EB-75CA-D1F8-2FEAFD159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D37BC6-DD8A-7FE2-A51E-13221EED0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0574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E7AED2-4218-34CD-717F-09E71CFF5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Examining the Budget Constraint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1E350FFB-42B5-B29E-A980-1E467F8DAF5C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What are the intercepts?</a:t>
                </a:r>
              </a:p>
              <a:p>
                <a:pPr lvl="1"/>
                <a:r>
                  <a:rPr lang="en-US" dirty="0"/>
                  <a:t>How many units of good </a:t>
                </a:r>
                <a:r>
                  <a:rPr lang="en-US" i="1" dirty="0"/>
                  <a:t>Y</a:t>
                </a:r>
                <a:r>
                  <a:rPr lang="en-US" dirty="0"/>
                  <a:t> can you buy if you spent </a:t>
                </a:r>
                <a:r>
                  <a:rPr lang="en-US" i="1" dirty="0"/>
                  <a:t>M</a:t>
                </a:r>
                <a:r>
                  <a:rPr lang="en-US" dirty="0"/>
                  <a:t> on good </a:t>
                </a:r>
                <a:r>
                  <a:rPr lang="en-US" i="1" dirty="0"/>
                  <a:t>Y</a:t>
                </a:r>
                <a:r>
                  <a:rPr lang="en-US" dirty="0"/>
                  <a:t>?</a:t>
                </a:r>
              </a:p>
              <a:p>
                <a:pPr lvl="1"/>
                <a:r>
                  <a:rPr lang="en-US" dirty="0"/>
                  <a:t>How many units of good </a:t>
                </a:r>
                <a:r>
                  <a:rPr lang="en-US" i="1" dirty="0"/>
                  <a:t>X</a:t>
                </a:r>
                <a:r>
                  <a:rPr lang="en-US" dirty="0"/>
                  <a:t> can you buy if you spent </a:t>
                </a:r>
                <a:r>
                  <a:rPr lang="en-US" i="1" dirty="0"/>
                  <a:t>M</a:t>
                </a:r>
                <a:r>
                  <a:rPr lang="en-US" dirty="0"/>
                  <a:t> on good </a:t>
                </a:r>
                <a:r>
                  <a:rPr lang="en-US" i="1" dirty="0"/>
                  <a:t>X</a:t>
                </a:r>
                <a:r>
                  <a:rPr lang="en-US" dirty="0"/>
                  <a:t>?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What is the slope of the budget line?</a:t>
                </a:r>
              </a:p>
              <a:p>
                <a:pPr lvl="3"/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𝑆𝑙𝑜𝑝𝑒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𝑌</m:t>
                          </m:r>
                        </m:num>
                        <m:den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</m:den>
                      </m:f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box>
                            <m:box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boxPr>
                            <m:e>
                              <m:argPr>
                                <m:argSz m:val="-1"/>
                              </m:argPr>
                              <m:f>
                                <m:f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</m:e>
                                    <m:sub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−0</m:t>
                              </m:r>
                            </m:e>
                          </m:box>
                        </m:num>
                        <m:den>
                          <m:box>
                            <m:box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boxPr>
                            <m:e>
                              <m:argPr>
                                <m:argSz m:val="-1"/>
                              </m:argPr>
                              <m:r>
                                <m:rPr>
                                  <m:brk m:alnAt="63"/>
                                </m:r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</m:e>
                                    <m:sub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box>
                        </m:den>
                      </m:f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000" dirty="0"/>
              </a:p>
              <a:p>
                <a:pPr lvl="3"/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1E350FFB-42B5-B29E-A980-1E467F8DAF5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 l="-2038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DDE47C-E91F-7742-DFE4-D2D0245BF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ECON 300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EA9372-2964-97AA-6491-CC4E230FE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16D75D-BD52-D314-AC1A-04FF4CC6B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25</a:t>
            </a:fld>
            <a:endParaRPr lang="en-US"/>
          </a:p>
        </p:txBody>
      </p:sp>
      <p:pic>
        <p:nvPicPr>
          <p:cNvPr id="15" name="Content Placeholder 14" descr="A line with a point&#10;&#10;Description automatically generated">
            <a:extLst>
              <a:ext uri="{FF2B5EF4-FFF2-40B4-BE49-F238E27FC236}">
                <a16:creationId xmlns:a16="http://schemas.microsoft.com/office/drawing/2014/main" id="{A26EC638-F644-5304-471E-D62940EC6E6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  <p:pic>
        <p:nvPicPr>
          <p:cNvPr id="19" name="Content Placeholder 16">
            <a:extLst>
              <a:ext uri="{FF2B5EF4-FFF2-40B4-BE49-F238E27FC236}">
                <a16:creationId xmlns:a16="http://schemas.microsoft.com/office/drawing/2014/main" id="{BFC0A055-A026-570D-EFA2-905AF26AB7C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  <p:pic>
        <p:nvPicPr>
          <p:cNvPr id="20" name="Content Placeholder 20" descr="A graph of a line with a red line&#10;&#10;Description automatically generated">
            <a:extLst>
              <a:ext uri="{FF2B5EF4-FFF2-40B4-BE49-F238E27FC236}">
                <a16:creationId xmlns:a16="http://schemas.microsoft.com/office/drawing/2014/main" id="{B09DCD9B-08EA-4BEC-16D0-892B4292827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71117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7612BF3-A2C2-3B03-6615-C76F002661FD}"/>
              </a:ext>
            </a:extLst>
          </p:cNvPr>
          <p:cNvSpPr/>
          <p:nvPr/>
        </p:nvSpPr>
        <p:spPr>
          <a:xfrm>
            <a:off x="1178350" y="2467466"/>
            <a:ext cx="6834434" cy="105816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8A65BA-AF82-B754-9907-5B0418DB1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Slope of the Budget Constraint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E448ED-591A-E549-1DD9-7991655D49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How to interpret the slope of the budget constraint?</a:t>
            </a:r>
          </a:p>
          <a:p>
            <a:pPr lvl="4"/>
            <a:endParaRPr lang="en-US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b="1" dirty="0">
                <a:solidFill>
                  <a:schemeClr val="bg1"/>
                </a:solidFill>
              </a:rPr>
              <a:t>“How many units of good Y do you need to give up </a:t>
            </a:r>
          </a:p>
          <a:p>
            <a:pPr marL="0" indent="0" algn="ctr">
              <a:buNone/>
            </a:pPr>
            <a:r>
              <a:rPr lang="en-US" b="1" dirty="0">
                <a:solidFill>
                  <a:schemeClr val="bg1"/>
                </a:solidFill>
              </a:rPr>
              <a:t>to be able to afford an additional unit of good X.”</a:t>
            </a:r>
          </a:p>
          <a:p>
            <a:pPr lvl="4"/>
            <a:endParaRPr lang="en-US" dirty="0"/>
          </a:p>
          <a:p>
            <a:r>
              <a:rPr lang="en-US" dirty="0"/>
              <a:t>What does the slope of the budget constraint represent?</a:t>
            </a:r>
          </a:p>
          <a:p>
            <a:pPr lvl="3"/>
            <a:endParaRPr lang="en-US" dirty="0"/>
          </a:p>
          <a:p>
            <a:pPr lvl="1"/>
            <a:r>
              <a:rPr lang="en-US" b="1" dirty="0"/>
              <a:t>Objective Rate of Exchange</a:t>
            </a:r>
            <a:r>
              <a:rPr lang="en-US" dirty="0"/>
              <a:t>: What the market dictates.</a:t>
            </a:r>
          </a:p>
          <a:p>
            <a:pPr lvl="4"/>
            <a:endParaRPr lang="en-US" dirty="0"/>
          </a:p>
          <a:p>
            <a:pPr lvl="1"/>
            <a:r>
              <a:rPr lang="en-US" b="1" dirty="0"/>
              <a:t>Opportunity Cost</a:t>
            </a:r>
            <a:r>
              <a:rPr lang="en-US" dirty="0"/>
              <a:t>: Giving up purchasing one good for the other.</a:t>
            </a:r>
          </a:p>
          <a:p>
            <a:pPr lvl="1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9CE93F-E358-7FB4-0E9A-1AC5251C1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ECON 300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C4869B-58EB-75CA-D1F8-2FEAFD159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D37BC6-DD8A-7FE2-A51E-13221EED0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160554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A65BA-AF82-B754-9907-5B0418DB1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Comparative Statics: An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E448ED-591A-E549-1DD9-7991655D49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Comparative statics is “the examination of a change in outcome in response to a change in underlying economic parameters.”</a:t>
            </a:r>
            <a:endParaRPr lang="en-US" b="1" dirty="0"/>
          </a:p>
          <a:p>
            <a:pPr lvl="4"/>
            <a:endParaRPr lang="en-US" dirty="0"/>
          </a:p>
          <a:p>
            <a:r>
              <a:rPr lang="en-US" dirty="0"/>
              <a:t>We are going to change some values and see how our model reacts.</a:t>
            </a:r>
          </a:p>
          <a:p>
            <a:pPr lvl="1"/>
            <a:r>
              <a:rPr lang="en-US" dirty="0"/>
              <a:t>Consumer’s income, and</a:t>
            </a:r>
          </a:p>
          <a:p>
            <a:pPr lvl="1"/>
            <a:r>
              <a:rPr lang="en-US" dirty="0"/>
              <a:t>Market Price(s)</a:t>
            </a:r>
          </a:p>
          <a:p>
            <a:pPr lvl="3"/>
            <a:endParaRPr lang="en-US" dirty="0"/>
          </a:p>
          <a:p>
            <a:r>
              <a:rPr lang="en-US" dirty="0"/>
              <a:t>Ceteris Paribus: “With other conditions remaining the same.”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9CE93F-E358-7FB4-0E9A-1AC5251C1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ECON 300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C4869B-58EB-75CA-D1F8-2FEAFD159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D37BC6-DD8A-7FE2-A51E-13221EED0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826143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A941C9-F1B9-C503-26FE-C3234A6B6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Comparative Statics: Income ↓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269FAC-7E76-AB99-82E7-70A853B9ADE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happens when the amount of money the consumer has decreases?</a:t>
            </a:r>
          </a:p>
          <a:p>
            <a:pPr lvl="3"/>
            <a:endParaRPr lang="en-US" dirty="0"/>
          </a:p>
          <a:p>
            <a:r>
              <a:rPr lang="en-US" dirty="0"/>
              <a:t>What happens to the once “not affordable” commodity bundles?</a:t>
            </a:r>
          </a:p>
          <a:p>
            <a:pPr lvl="3"/>
            <a:endParaRPr lang="en-US" dirty="0"/>
          </a:p>
          <a:p>
            <a:r>
              <a:rPr lang="en-US" dirty="0"/>
              <a:t>Budget line “shifts down”</a:t>
            </a:r>
          </a:p>
          <a:p>
            <a:pPr lvl="3"/>
            <a:endParaRPr lang="en-US" dirty="0"/>
          </a:p>
          <a:p>
            <a:r>
              <a:rPr lang="en-US" dirty="0"/>
              <a:t>Slope does not change.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A879A3-C4F3-1EAC-5CAB-7AA48B7E5B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ECON 300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7C1487-5A25-705A-6258-8883747406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BDEAB3-6FF2-FCE4-E9DE-C0266DE9B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28</a:t>
            </a:fld>
            <a:endParaRPr lang="en-US"/>
          </a:p>
        </p:txBody>
      </p:sp>
      <p:pic>
        <p:nvPicPr>
          <p:cNvPr id="14" name="Content Placeholder 13" descr="A graph of a function&#10;&#10;Description automatically generated">
            <a:extLst>
              <a:ext uri="{FF2B5EF4-FFF2-40B4-BE49-F238E27FC236}">
                <a16:creationId xmlns:a16="http://schemas.microsoft.com/office/drawing/2014/main" id="{7727A9CF-7CE9-0471-6A89-3DD92A3D85B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  <p:pic>
        <p:nvPicPr>
          <p:cNvPr id="15" name="Content Placeholder 9" descr="A graph of a budget line&#10;&#10;Description automatically generated with medium confidence">
            <a:extLst>
              <a:ext uri="{FF2B5EF4-FFF2-40B4-BE49-F238E27FC236}">
                <a16:creationId xmlns:a16="http://schemas.microsoft.com/office/drawing/2014/main" id="{7F51D75A-6A85-9A31-3CA1-1995527505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39909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A941C9-F1B9-C503-26FE-C3234A6B6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Comparative Statics: Price ↓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269FAC-7E76-AB99-82E7-70A853B9ADE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What happens when the price of good </a:t>
            </a:r>
            <a:r>
              <a:rPr lang="en-US" i="1" dirty="0"/>
              <a:t>Y</a:t>
            </a:r>
            <a:r>
              <a:rPr lang="en-US" dirty="0"/>
              <a:t> decreases?</a:t>
            </a:r>
          </a:p>
          <a:p>
            <a:pPr lvl="1"/>
            <a:r>
              <a:rPr lang="en-US" dirty="0"/>
              <a:t>What happens when you spend </a:t>
            </a:r>
            <a:r>
              <a:rPr lang="en-US" i="1" dirty="0"/>
              <a:t>M</a:t>
            </a:r>
            <a:r>
              <a:rPr lang="en-US" dirty="0"/>
              <a:t> on the now cheaper good </a:t>
            </a:r>
            <a:r>
              <a:rPr lang="en-US" i="1" dirty="0"/>
              <a:t>Y</a:t>
            </a:r>
            <a:r>
              <a:rPr lang="en-US" dirty="0"/>
              <a:t>?</a:t>
            </a:r>
          </a:p>
          <a:p>
            <a:pPr lvl="1"/>
            <a:r>
              <a:rPr lang="en-US" dirty="0"/>
              <a:t>What happens when you spend </a:t>
            </a:r>
            <a:r>
              <a:rPr lang="en-US" i="1" dirty="0"/>
              <a:t>M</a:t>
            </a:r>
            <a:r>
              <a:rPr lang="en-US" dirty="0"/>
              <a:t> on good </a:t>
            </a:r>
            <a:r>
              <a:rPr lang="en-US" i="1" dirty="0"/>
              <a:t>X</a:t>
            </a:r>
            <a:r>
              <a:rPr lang="en-US" dirty="0"/>
              <a:t> which had no price change?</a:t>
            </a:r>
          </a:p>
          <a:p>
            <a:pPr lvl="3"/>
            <a:endParaRPr lang="en-US" dirty="0"/>
          </a:p>
          <a:p>
            <a:r>
              <a:rPr lang="en-US" dirty="0"/>
              <a:t>The budget line “pivots.”</a:t>
            </a:r>
          </a:p>
          <a:p>
            <a:pPr lvl="3"/>
            <a:endParaRPr lang="en-US" dirty="0"/>
          </a:p>
          <a:p>
            <a:r>
              <a:rPr lang="en-US" dirty="0"/>
              <a:t>Slope is now steeper.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A879A3-C4F3-1EAC-5CAB-7AA48B7E5B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ECON 300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7C1487-5A25-705A-6258-8883747406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BDEAB3-6FF2-FCE4-E9DE-C0266DE9B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29</a:t>
            </a:fld>
            <a:endParaRPr lang="en-US"/>
          </a:p>
        </p:txBody>
      </p:sp>
      <p:pic>
        <p:nvPicPr>
          <p:cNvPr id="12" name="Content Placeholder 11" descr="A graph of a function&#10;&#10;Description automatically generated">
            <a:extLst>
              <a:ext uri="{FF2B5EF4-FFF2-40B4-BE49-F238E27FC236}">
                <a16:creationId xmlns:a16="http://schemas.microsoft.com/office/drawing/2014/main" id="{98F30800-D1A6-3B9A-6D7D-9A410E72754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  <p:pic>
        <p:nvPicPr>
          <p:cNvPr id="13" name="Content Placeholder 9" descr="A graph of a budget line&#10;&#10;Description automatically generated with medium confidence">
            <a:extLst>
              <a:ext uri="{FF2B5EF4-FFF2-40B4-BE49-F238E27FC236}">
                <a16:creationId xmlns:a16="http://schemas.microsoft.com/office/drawing/2014/main" id="{05225674-747B-8221-B890-8774F26D01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07019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A941C9-F1B9-C503-26FE-C3234A6B6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Comparative Statics: Price ↑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269FAC-7E76-AB99-82E7-70A853B9ADE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What happens when the price of good </a:t>
            </a:r>
            <a:r>
              <a:rPr lang="en-US" i="1" dirty="0"/>
              <a:t>Y</a:t>
            </a:r>
            <a:r>
              <a:rPr lang="en-US" dirty="0"/>
              <a:t> increases?</a:t>
            </a:r>
          </a:p>
          <a:p>
            <a:pPr lvl="1"/>
            <a:r>
              <a:rPr lang="en-US" dirty="0"/>
              <a:t>What happens when you spend </a:t>
            </a:r>
            <a:r>
              <a:rPr lang="en-US" i="1" dirty="0"/>
              <a:t>M</a:t>
            </a:r>
            <a:r>
              <a:rPr lang="en-US" dirty="0"/>
              <a:t> on the now more expensive good </a:t>
            </a:r>
            <a:r>
              <a:rPr lang="en-US" i="1" dirty="0"/>
              <a:t>Y</a:t>
            </a:r>
            <a:r>
              <a:rPr lang="en-US" dirty="0"/>
              <a:t>?</a:t>
            </a:r>
          </a:p>
          <a:p>
            <a:pPr lvl="1"/>
            <a:r>
              <a:rPr lang="en-US" dirty="0"/>
              <a:t>What happens when you spend </a:t>
            </a:r>
            <a:r>
              <a:rPr lang="en-US" i="1" dirty="0"/>
              <a:t>M</a:t>
            </a:r>
            <a:r>
              <a:rPr lang="en-US" dirty="0"/>
              <a:t> on good </a:t>
            </a:r>
            <a:r>
              <a:rPr lang="en-US" i="1" dirty="0"/>
              <a:t>X</a:t>
            </a:r>
            <a:r>
              <a:rPr lang="en-US" dirty="0"/>
              <a:t> which had no price change?</a:t>
            </a:r>
          </a:p>
          <a:p>
            <a:pPr lvl="3"/>
            <a:endParaRPr lang="en-US" dirty="0"/>
          </a:p>
          <a:p>
            <a:r>
              <a:rPr lang="en-US" dirty="0"/>
              <a:t>The budget line “pivots.”</a:t>
            </a:r>
          </a:p>
          <a:p>
            <a:pPr lvl="3"/>
            <a:endParaRPr lang="en-US" dirty="0"/>
          </a:p>
          <a:p>
            <a:r>
              <a:rPr lang="en-US" dirty="0"/>
              <a:t>Slope is now less steep.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A879A3-C4F3-1EAC-5CAB-7AA48B7E5B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ECON 300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7C1487-5A25-705A-6258-8883747406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BDEAB3-6FF2-FCE4-E9DE-C0266DE9B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30</a:t>
            </a:fld>
            <a:endParaRPr lang="en-US"/>
          </a:p>
        </p:txBody>
      </p:sp>
      <p:pic>
        <p:nvPicPr>
          <p:cNvPr id="10" name="Content Placeholder 9" descr="A graph of a function&#10;&#10;Description automatically generated">
            <a:extLst>
              <a:ext uri="{FF2B5EF4-FFF2-40B4-BE49-F238E27FC236}">
                <a16:creationId xmlns:a16="http://schemas.microsoft.com/office/drawing/2014/main" id="{E7203426-1027-6B3F-2132-B0DEEB5C316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  <p:pic>
        <p:nvPicPr>
          <p:cNvPr id="11" name="Content Placeholder 10" descr="A graph of a budget line&#10;&#10;Description automatically generated">
            <a:extLst>
              <a:ext uri="{FF2B5EF4-FFF2-40B4-BE49-F238E27FC236}">
                <a16:creationId xmlns:a16="http://schemas.microsoft.com/office/drawing/2014/main" id="{C772B2CA-6C71-ADB1-B586-0CC5E3941B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52614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A941C9-F1B9-C503-26FE-C3234A6B6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Comparative Statics: Prices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269FAC-7E76-AB99-82E7-70A853B9ADE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What happens when prices of both good </a:t>
            </a:r>
            <a:r>
              <a:rPr lang="en-US" i="1" dirty="0"/>
              <a:t>X</a:t>
            </a:r>
            <a:r>
              <a:rPr lang="en-US" dirty="0"/>
              <a:t> and </a:t>
            </a:r>
            <a:r>
              <a:rPr lang="en-US" i="1" dirty="0"/>
              <a:t>Y</a:t>
            </a:r>
            <a:r>
              <a:rPr lang="en-US" dirty="0"/>
              <a:t> change?</a:t>
            </a:r>
          </a:p>
          <a:p>
            <a:pPr lvl="1"/>
            <a:r>
              <a:rPr lang="en-US" dirty="0"/>
              <a:t>Suppose that the price of good </a:t>
            </a:r>
            <a:r>
              <a:rPr lang="en-US" i="1" dirty="0"/>
              <a:t>X</a:t>
            </a:r>
            <a:r>
              <a:rPr lang="en-US" dirty="0"/>
              <a:t> increases, and</a:t>
            </a:r>
          </a:p>
          <a:p>
            <a:pPr lvl="1"/>
            <a:r>
              <a:rPr lang="en-US" dirty="0"/>
              <a:t>Suppose that the price of good </a:t>
            </a:r>
            <a:r>
              <a:rPr lang="en-US" i="1" dirty="0"/>
              <a:t>Y</a:t>
            </a:r>
            <a:r>
              <a:rPr lang="en-US" dirty="0"/>
              <a:t> decreases.</a:t>
            </a:r>
          </a:p>
          <a:p>
            <a:pPr lvl="3"/>
            <a:endParaRPr lang="en-US" dirty="0"/>
          </a:p>
          <a:p>
            <a:r>
              <a:rPr lang="en-US" dirty="0"/>
              <a:t>The budget line will… “change” in some way.</a:t>
            </a:r>
          </a:p>
          <a:p>
            <a:pPr lvl="3"/>
            <a:endParaRPr lang="en-US" dirty="0"/>
          </a:p>
          <a:p>
            <a:r>
              <a:rPr lang="en-US" dirty="0"/>
              <a:t>The slope may or may not change.</a:t>
            </a:r>
          </a:p>
          <a:p>
            <a:pPr lvl="3"/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A879A3-C4F3-1EAC-5CAB-7AA48B7E5B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ECON 300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7C1487-5A25-705A-6258-8883747406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BDEAB3-6FF2-FCE4-E9DE-C0266DE9B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31</a:t>
            </a:fld>
            <a:endParaRPr lang="en-US"/>
          </a:p>
        </p:txBody>
      </p:sp>
      <p:pic>
        <p:nvPicPr>
          <p:cNvPr id="10" name="Content Placeholder 9" descr="A graph of a function&#10;&#10;Description automatically generated">
            <a:extLst>
              <a:ext uri="{FF2B5EF4-FFF2-40B4-BE49-F238E27FC236}">
                <a16:creationId xmlns:a16="http://schemas.microsoft.com/office/drawing/2014/main" id="{E7203426-1027-6B3F-2132-B0DEEB5C316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  <p:pic>
        <p:nvPicPr>
          <p:cNvPr id="3" name="Content Placeholder 10" descr="A graph of a budget line&#10;&#10;Description automatically generated">
            <a:extLst>
              <a:ext uri="{FF2B5EF4-FFF2-40B4-BE49-F238E27FC236}">
                <a16:creationId xmlns:a16="http://schemas.microsoft.com/office/drawing/2014/main" id="{59D6DA8B-C2DB-48F1-07F4-8EF2ED10F7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08825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A65BA-AF82-B754-9907-5B0418DB1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Comparative Statics: Recap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E448ED-591A-E549-1DD9-7991655D49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When the consumer’s income…</a:t>
            </a:r>
          </a:p>
          <a:p>
            <a:pPr lvl="1"/>
            <a:r>
              <a:rPr lang="en-US" dirty="0"/>
              <a:t>Increases, the budget line “shifts up” or “expands outward.”</a:t>
            </a:r>
          </a:p>
          <a:p>
            <a:pPr lvl="1"/>
            <a:r>
              <a:rPr lang="en-US" dirty="0"/>
              <a:t>Decreases, the budget line “shifts down” or “contracts inward.”</a:t>
            </a:r>
          </a:p>
          <a:p>
            <a:pPr lvl="1"/>
            <a:endParaRPr lang="en-US" dirty="0"/>
          </a:p>
          <a:p>
            <a:r>
              <a:rPr lang="en-US" dirty="0"/>
              <a:t>When the market price of one good changes…</a:t>
            </a:r>
          </a:p>
          <a:p>
            <a:pPr lvl="1"/>
            <a:r>
              <a:rPr lang="en-US" dirty="0"/>
              <a:t>The budget line “pivots” either clockwise or anti-clockwise depending on the circumstances.</a:t>
            </a:r>
          </a:p>
          <a:p>
            <a:pPr lvl="1"/>
            <a:r>
              <a:rPr lang="en-US" dirty="0"/>
              <a:t>The fixed pivot point will be the intercept of the good whose price did </a:t>
            </a:r>
            <a:r>
              <a:rPr lang="en-US" u="sng" dirty="0"/>
              <a:t>not</a:t>
            </a:r>
            <a:r>
              <a:rPr lang="en-US" dirty="0"/>
              <a:t> change.</a:t>
            </a:r>
          </a:p>
          <a:p>
            <a:pPr lvl="3"/>
            <a:endParaRPr lang="en-US" dirty="0"/>
          </a:p>
          <a:p>
            <a:r>
              <a:rPr lang="en-US" dirty="0"/>
              <a:t>When the market price of two goods change…</a:t>
            </a:r>
          </a:p>
          <a:p>
            <a:pPr lvl="1"/>
            <a:r>
              <a:rPr lang="en-US" dirty="0"/>
              <a:t>It is not clear what will happen until we plot the result.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9CE93F-E358-7FB4-0E9A-1AC5251C1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ECON 300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C4869B-58EB-75CA-D1F8-2FEAFD159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D37BC6-DD8A-7FE2-A51E-13221EED0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660770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A65BA-AF82-B754-9907-5B0418DB1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Real-World 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E448ED-591A-E549-1DD9-7991655D49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There are some cases in the real world where producers or governments create situations where the budget constraint is not a neat line.</a:t>
            </a:r>
          </a:p>
          <a:p>
            <a:pPr lvl="3"/>
            <a:endParaRPr lang="en-US" dirty="0"/>
          </a:p>
          <a:p>
            <a:r>
              <a:rPr lang="en-US" dirty="0"/>
              <a:t>Sometimes, these constraints come from the consumers themselves.</a:t>
            </a:r>
          </a:p>
          <a:p>
            <a:pPr lvl="3"/>
            <a:endParaRPr lang="en-US" dirty="0"/>
          </a:p>
          <a:p>
            <a:r>
              <a:rPr lang="en-US" dirty="0"/>
              <a:t>Three examples:</a:t>
            </a:r>
          </a:p>
          <a:p>
            <a:pPr lvl="1"/>
            <a:r>
              <a:rPr lang="en-US" dirty="0"/>
              <a:t>Governments: Supplemental Nutrition Assistance Program</a:t>
            </a:r>
          </a:p>
          <a:p>
            <a:pPr lvl="1"/>
            <a:r>
              <a:rPr lang="en-US" dirty="0"/>
              <a:t>Producers: Bulk Purchase Discounts</a:t>
            </a:r>
          </a:p>
          <a:p>
            <a:pPr lvl="1"/>
            <a:r>
              <a:rPr lang="en-US" dirty="0"/>
              <a:t>Consumers: Time Constraints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9CE93F-E358-7FB4-0E9A-1AC5251C1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ECON 300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C4869B-58EB-75CA-D1F8-2FEAFD159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D37BC6-DD8A-7FE2-A51E-13221EED0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98363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D39667-81D9-4AC2-457B-E509CCC9AC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Supplemental Nutrition </a:t>
            </a:r>
            <a:br>
              <a:rPr lang="en-US" dirty="0"/>
            </a:br>
            <a:r>
              <a:rPr lang="en-US" dirty="0"/>
              <a:t>Assistance Program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2DAE81-CC4E-6F6B-6CC7-990765022F4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dirty="0"/>
              <a:t>Formerly called the “Food Stamp Program”</a:t>
            </a:r>
          </a:p>
          <a:p>
            <a:pPr lvl="3"/>
            <a:endParaRPr lang="en-US" dirty="0"/>
          </a:p>
          <a:p>
            <a:r>
              <a:rPr lang="en-US" dirty="0"/>
              <a:t>Provides a subsidy to qualifying American households.</a:t>
            </a:r>
          </a:p>
          <a:p>
            <a:pPr lvl="3"/>
            <a:endParaRPr lang="en-US" dirty="0"/>
          </a:p>
          <a:p>
            <a:r>
              <a:rPr lang="en-US" dirty="0"/>
              <a:t>Limited to food for the household.</a:t>
            </a:r>
          </a:p>
          <a:p>
            <a:pPr lvl="1"/>
            <a:r>
              <a:rPr lang="en-US" dirty="0"/>
              <a:t>Alcohol, Tobacco, Health Supplements, Nonfood Necessities excluded.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E4518F-46BD-C42D-8CB0-0C636469F6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ECON 300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04CFC8-84EA-ADC9-5480-A2E5B50F6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9D8765-0BAD-1707-1203-7D2907E0D5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34</a:t>
            </a:fld>
            <a:endParaRPr lang="en-US"/>
          </a:p>
        </p:txBody>
      </p:sp>
      <p:pic>
        <p:nvPicPr>
          <p:cNvPr id="13" name="Content Placeholder 12" descr="A green bag full of food&#10;&#10;Description automatically generated">
            <a:extLst>
              <a:ext uri="{FF2B5EF4-FFF2-40B4-BE49-F238E27FC236}">
                <a16:creationId xmlns:a16="http://schemas.microsoft.com/office/drawing/2014/main" id="{CC051BFB-1984-3CE2-8A93-8C889D9AA70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2783618"/>
            <a:ext cx="3886200" cy="2435352"/>
          </a:xfrm>
        </p:spPr>
      </p:pic>
    </p:spTree>
    <p:extLst>
      <p:ext uri="{BB962C8B-B14F-4D97-AF65-F5344CB8AC3E}">
        <p14:creationId xmlns:p14="http://schemas.microsoft.com/office/powerpoint/2010/main" val="3580567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A65BA-AF82-B754-9907-5B0418DB1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SNAP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E448ED-591A-E549-1DD9-7991655D49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market consists of Apples and Books.</a:t>
            </a:r>
          </a:p>
          <a:p>
            <a:pPr lvl="3"/>
            <a:endParaRPr lang="en-US" dirty="0"/>
          </a:p>
          <a:p>
            <a:r>
              <a:rPr lang="en-US" dirty="0"/>
              <a:t>The market price of an apple is $4, and the market price of books is $5.</a:t>
            </a:r>
          </a:p>
          <a:p>
            <a:pPr lvl="3"/>
            <a:endParaRPr lang="en-US" dirty="0"/>
          </a:p>
          <a:p>
            <a:r>
              <a:rPr lang="en-US" dirty="0"/>
              <a:t>The consumer’s budget is $300.</a:t>
            </a:r>
          </a:p>
          <a:p>
            <a:pPr lvl="3"/>
            <a:endParaRPr lang="en-US" dirty="0"/>
          </a:p>
          <a:p>
            <a:r>
              <a:rPr lang="en-US" dirty="0"/>
              <a:t>The government will be providing this consumer with SNAP benefits of $100, which can be used to purchase apples, but not books.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9CE93F-E358-7FB4-0E9A-1AC5251C1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ECON 300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C4869B-58EB-75CA-D1F8-2FEAFD159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D37BC6-DD8A-7FE2-A51E-13221EED0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3908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D9003-2FFC-F2BD-58E6-AA3A69FBF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Budget Constraint: Pre - SNAP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9BE5E2-B650-CBA8-D272-3BCE324B78C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It is often helpful to think about the budget constraint before SNAP.</a:t>
            </a:r>
          </a:p>
          <a:p>
            <a:pPr lvl="3"/>
            <a:endParaRPr lang="en-US" dirty="0"/>
          </a:p>
          <a:p>
            <a:r>
              <a:rPr lang="en-US" dirty="0"/>
              <a:t>What is the maximum number of apples this consumer can afford before SNAP?</a:t>
            </a:r>
          </a:p>
          <a:p>
            <a:pPr lvl="3"/>
            <a:endParaRPr lang="en-US" dirty="0"/>
          </a:p>
          <a:p>
            <a:r>
              <a:rPr lang="en-US" dirty="0"/>
              <a:t>What is the maximum number of books this consumer can afford before SNAP?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835B0F-5E5A-0A9E-CD20-C866794D55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ECON 300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D775DF-6F46-2449-380A-8EE9965F5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223C12-8BBB-08FD-ABB5-A3123EBBA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36</a:t>
            </a:fld>
            <a:endParaRPr lang="en-US"/>
          </a:p>
        </p:txBody>
      </p:sp>
      <p:pic>
        <p:nvPicPr>
          <p:cNvPr id="23" name="Content Placeholder 22" descr="A line graph with text&#10;&#10;Description automatically generated with medium confidence">
            <a:extLst>
              <a:ext uri="{FF2B5EF4-FFF2-40B4-BE49-F238E27FC236}">
                <a16:creationId xmlns:a16="http://schemas.microsoft.com/office/drawing/2014/main" id="{76C777EE-3F41-ACB3-97D6-C5266856134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  <p:pic>
        <p:nvPicPr>
          <p:cNvPr id="25" name="Content Placeholder 9" descr="A graph of a line&#10;&#10;Description automatically generated">
            <a:extLst>
              <a:ext uri="{FF2B5EF4-FFF2-40B4-BE49-F238E27FC236}">
                <a16:creationId xmlns:a16="http://schemas.microsoft.com/office/drawing/2014/main" id="{424B42B7-1C45-C48B-3504-A78E0C060A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45529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D9003-2FFC-F2BD-58E6-AA3A69FBF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Budget Constraint: Post - SNAP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9BE5E2-B650-CBA8-D272-3BCE324B78C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dirty="0"/>
              <a:t>With SNAP, what is the maximum number of apples the consumer can purchase?</a:t>
            </a:r>
          </a:p>
          <a:p>
            <a:pPr lvl="3"/>
            <a:endParaRPr lang="en-US" dirty="0"/>
          </a:p>
          <a:p>
            <a:r>
              <a:rPr lang="en-US" dirty="0"/>
              <a:t>With SNAP, how many apples can the consumer purchase when they already consumed 60 books?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835B0F-5E5A-0A9E-CD20-C866794D55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ECON 300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D775DF-6F46-2449-380A-8EE9965F5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223C12-8BBB-08FD-ABB5-A3123EBBA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37</a:t>
            </a:fld>
            <a:endParaRPr lang="en-US"/>
          </a:p>
        </p:txBody>
      </p:sp>
      <p:pic>
        <p:nvPicPr>
          <p:cNvPr id="18" name="Content Placeholder 17" descr="A graph of a line&#10;&#10;Description automatically generated">
            <a:extLst>
              <a:ext uri="{FF2B5EF4-FFF2-40B4-BE49-F238E27FC236}">
                <a16:creationId xmlns:a16="http://schemas.microsoft.com/office/drawing/2014/main" id="{C4198362-A707-08B6-E6D6-AD39CC9EE6D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  <p:pic>
        <p:nvPicPr>
          <p:cNvPr id="19" name="Content Placeholder 9" descr="A graph of a line with numbers and a line&#10;&#10;Description automatically generated with medium confidence">
            <a:extLst>
              <a:ext uri="{FF2B5EF4-FFF2-40B4-BE49-F238E27FC236}">
                <a16:creationId xmlns:a16="http://schemas.microsoft.com/office/drawing/2014/main" id="{C75E062F-6724-5354-EF16-66EB23B382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  <p:pic>
        <p:nvPicPr>
          <p:cNvPr id="20" name="Content Placeholder 14" descr="A graph of a line&#10;&#10;Description automatically generated">
            <a:extLst>
              <a:ext uri="{FF2B5EF4-FFF2-40B4-BE49-F238E27FC236}">
                <a16:creationId xmlns:a16="http://schemas.microsoft.com/office/drawing/2014/main" id="{D6BD7DEF-ECD6-13AC-6AAA-1EFA95D7995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  <p:pic>
        <p:nvPicPr>
          <p:cNvPr id="21" name="Content Placeholder 18" descr="A graph of a line&#10;&#10;Description automatically generated with medium confidence">
            <a:extLst>
              <a:ext uri="{FF2B5EF4-FFF2-40B4-BE49-F238E27FC236}">
                <a16:creationId xmlns:a16="http://schemas.microsoft.com/office/drawing/2014/main" id="{4E055BF5-9D6C-C297-847B-DE856247898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0921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A65BA-AF82-B754-9907-5B0418DB1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Bulk Order Discount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E448ED-591A-E549-1DD9-7991655D49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market consists of Apples and Books.</a:t>
            </a:r>
          </a:p>
          <a:p>
            <a:pPr lvl="3"/>
            <a:endParaRPr lang="en-US" dirty="0"/>
          </a:p>
          <a:p>
            <a:r>
              <a:rPr lang="en-US" dirty="0"/>
              <a:t>The market price of an apple is $4, and the market price of books is $5.</a:t>
            </a:r>
          </a:p>
          <a:p>
            <a:pPr lvl="3"/>
            <a:endParaRPr lang="en-US" dirty="0"/>
          </a:p>
          <a:p>
            <a:r>
              <a:rPr lang="en-US" dirty="0"/>
              <a:t>The consumer’s budget is $300.</a:t>
            </a:r>
          </a:p>
          <a:p>
            <a:pPr lvl="3"/>
            <a:endParaRPr lang="en-US" dirty="0"/>
          </a:p>
          <a:p>
            <a:r>
              <a:rPr lang="en-US" dirty="0"/>
              <a:t>The publisher offers to provide a discounted price of $2.5 per book for any book following their 40</a:t>
            </a:r>
            <a:r>
              <a:rPr lang="en-US" baseline="30000" dirty="0"/>
              <a:t>th</a:t>
            </a:r>
            <a:r>
              <a:rPr lang="en-US" dirty="0"/>
              <a:t> unit purchased.</a:t>
            </a:r>
          </a:p>
          <a:p>
            <a:pPr lvl="1"/>
            <a:r>
              <a:rPr lang="en-US" dirty="0"/>
              <a:t>Up to 40 books, the price is $5 per book.</a:t>
            </a:r>
          </a:p>
          <a:p>
            <a:pPr lvl="1"/>
            <a:r>
              <a:rPr lang="en-US" dirty="0"/>
              <a:t>Above 40 books, the price is $2.5 per book.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9CE93F-E358-7FB4-0E9A-1AC5251C1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ECON 300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C4869B-58EB-75CA-D1F8-2FEAFD159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D37BC6-DD8A-7FE2-A51E-13221EED0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64578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ACA487D-11B9-3CCB-FD93-6CDEC80A0E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ECON 300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8C974AF-CE14-9B20-A417-B2FD9EA6FF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11CAB1-DB51-7615-8B0F-995D1E910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39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CA17A6A-971C-15AD-CB00-2BF6F74965B1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261892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4A5EDCF-0F0F-8AE8-4E7B-2E8FEA9F37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ECON 300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247E673-0048-A52E-993C-DD4201AE8F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CEC8DB-24D7-075F-B84E-CC99FDD98C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40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4C211BA-7F91-D3A5-0FC7-8CEED0C0FA96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415267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D9003-2FFC-F2BD-58E6-AA3A69FBF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Budget Constraint: Bulk Discount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9BE5E2-B650-CBA8-D272-3BCE324B78C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dirty="0"/>
              <a:t>Up to the point where the consumer purchases 40 books, the situation remains unchanged.</a:t>
            </a:r>
          </a:p>
          <a:p>
            <a:pPr lvl="3"/>
            <a:endParaRPr lang="en-US" dirty="0"/>
          </a:p>
          <a:p>
            <a:r>
              <a:rPr lang="en-US" dirty="0"/>
              <a:t>Upon purchase of the 40</a:t>
            </a:r>
            <a:r>
              <a:rPr lang="en-US" baseline="30000" dirty="0"/>
              <a:t>th</a:t>
            </a:r>
            <a:r>
              <a:rPr lang="en-US" dirty="0"/>
              <a:t> book, the consumer faces new market prices.</a:t>
            </a:r>
          </a:p>
          <a:p>
            <a:pPr lvl="3"/>
            <a:endParaRPr lang="en-US" dirty="0"/>
          </a:p>
          <a:p>
            <a:r>
              <a:rPr lang="en-US" dirty="0"/>
              <a:t>What is the maximum quantity of books that the consumer can purchase?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835B0F-5E5A-0A9E-CD20-C866794D55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ECON 300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D775DF-6F46-2449-380A-8EE9965F5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223C12-8BBB-08FD-ABB5-A3123EBBA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41</a:t>
            </a:fld>
            <a:endParaRPr lang="en-US"/>
          </a:p>
        </p:txBody>
      </p:sp>
      <p:pic>
        <p:nvPicPr>
          <p:cNvPr id="10" name="Content Placeholder 9" descr="A graph of a line&#10;&#10;Description automatically generated">
            <a:extLst>
              <a:ext uri="{FF2B5EF4-FFF2-40B4-BE49-F238E27FC236}">
                <a16:creationId xmlns:a16="http://schemas.microsoft.com/office/drawing/2014/main" id="{EBCAEDB3-2F85-31B6-D949-B926CB1D0DA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  <p:pic>
        <p:nvPicPr>
          <p:cNvPr id="11" name="Content Placeholder 10" descr="A graph of a line&#10;&#10;Description automatically generated">
            <a:extLst>
              <a:ext uri="{FF2B5EF4-FFF2-40B4-BE49-F238E27FC236}">
                <a16:creationId xmlns:a16="http://schemas.microsoft.com/office/drawing/2014/main" id="{FB2F4CF9-1F96-F539-5C20-09AB002C78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3202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731442E-B2B5-8D0F-3D3C-E60DCCF68E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ECON 300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F54DD4D-10A6-87E6-0BCF-69B271CDA1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35A1C7-268B-F8C6-7C3B-F75F16B0E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42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DB3C5CE-C74A-3E4F-0976-9CBAF745D15A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356908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B0067A-CEFF-5372-8B9C-EB482DAD2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ECON 300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61CCB46-A87F-810A-F3B7-B1AFC3616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E0DE8C-C091-27BA-0C69-968A58BF8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43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B9A4AE9-91B0-820B-BB87-7B584DE11C92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562451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D9003-2FFC-F2BD-58E6-AA3A69FBF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Budget Constraint: Bulk Discount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9BE5E2-B650-CBA8-D272-3BCE324B78C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dirty="0"/>
              <a:t>Up to the point where the consumer purchases 40 books, the situation remains unchanged.</a:t>
            </a:r>
          </a:p>
          <a:p>
            <a:pPr lvl="3"/>
            <a:endParaRPr lang="en-US" dirty="0"/>
          </a:p>
          <a:p>
            <a:r>
              <a:rPr lang="en-US" dirty="0"/>
              <a:t>Upon purchase of the 40</a:t>
            </a:r>
            <a:r>
              <a:rPr lang="en-US" baseline="30000" dirty="0"/>
              <a:t>th</a:t>
            </a:r>
            <a:r>
              <a:rPr lang="en-US" dirty="0"/>
              <a:t> book, the consumer faces new market prices.</a:t>
            </a:r>
          </a:p>
          <a:p>
            <a:pPr marL="1371600" lvl="3" indent="0">
              <a:buNone/>
            </a:pP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835B0F-5E5A-0A9E-CD20-C866794D55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ECON 300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D775DF-6F46-2449-380A-8EE9965F5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223C12-8BBB-08FD-ABB5-A3123EBBA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44</a:t>
            </a:fld>
            <a:endParaRPr lang="en-US"/>
          </a:p>
        </p:txBody>
      </p:sp>
      <p:pic>
        <p:nvPicPr>
          <p:cNvPr id="13" name="Content Placeholder 12" descr="A graph of a line&#10;&#10;Description automatically generated">
            <a:extLst>
              <a:ext uri="{FF2B5EF4-FFF2-40B4-BE49-F238E27FC236}">
                <a16:creationId xmlns:a16="http://schemas.microsoft.com/office/drawing/2014/main" id="{9B78B21F-C3FD-1A93-0775-90BC5DE724A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</p:spTree>
    <p:extLst>
      <p:ext uri="{BB962C8B-B14F-4D97-AF65-F5344CB8AC3E}">
        <p14:creationId xmlns:p14="http://schemas.microsoft.com/office/powerpoint/2010/main" val="2466323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A65BA-AF82-B754-9907-5B0418DB1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 Constraints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E448ED-591A-E549-1DD9-7991655D49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market consists of Apples and Books.</a:t>
            </a:r>
          </a:p>
          <a:p>
            <a:pPr lvl="3"/>
            <a:endParaRPr lang="en-US" dirty="0"/>
          </a:p>
          <a:p>
            <a:r>
              <a:rPr lang="en-US" dirty="0"/>
              <a:t>The market price of an apple is $4, and the market price of books is $5.</a:t>
            </a:r>
          </a:p>
          <a:p>
            <a:pPr lvl="3"/>
            <a:endParaRPr lang="en-US" dirty="0"/>
          </a:p>
          <a:p>
            <a:r>
              <a:rPr lang="en-US" dirty="0"/>
              <a:t>The consumer’s budget is $300.</a:t>
            </a:r>
          </a:p>
          <a:p>
            <a:pPr lvl="3"/>
            <a:endParaRPr lang="en-US" dirty="0"/>
          </a:p>
          <a:p>
            <a:r>
              <a:rPr lang="en-US" dirty="0"/>
              <a:t>For simplicity, suppose that the consumer has 100 hours in a term, and can consume one apple every 1 hour, and read one book every 2 hours.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9CE93F-E358-7FB4-0E9A-1AC5251C1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ECON 300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C4869B-58EB-75CA-D1F8-2FEAFD159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D37BC6-DD8A-7FE2-A51E-13221EED0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0974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D9003-2FFC-F2BD-58E6-AA3A69FBF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Budget Constraint with Time: Lines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9BE5E2-B650-CBA8-D272-3BCE324B78C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dirty="0"/>
              <a:t>We start off with the original budget constraint.</a:t>
            </a:r>
          </a:p>
          <a:p>
            <a:pPr lvl="3"/>
            <a:endParaRPr lang="en-US" dirty="0"/>
          </a:p>
          <a:p>
            <a:r>
              <a:rPr lang="en-US" dirty="0"/>
              <a:t>We then overlay the time constraint.</a:t>
            </a:r>
          </a:p>
          <a:p>
            <a:pPr lvl="1"/>
            <a:r>
              <a:rPr lang="en-US" dirty="0"/>
              <a:t>How many books can this consumer read in 100 hours?</a:t>
            </a:r>
          </a:p>
          <a:p>
            <a:pPr lvl="1"/>
            <a:r>
              <a:rPr lang="en-US" dirty="0"/>
              <a:t>How many apples can this consumer eat in 100 hours?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835B0F-5E5A-0A9E-CD20-C866794D55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ECON 300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D775DF-6F46-2449-380A-8EE9965F5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223C12-8BBB-08FD-ABB5-A3123EBBA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46</a:t>
            </a:fld>
            <a:endParaRPr lang="en-US"/>
          </a:p>
        </p:txBody>
      </p:sp>
      <p:pic>
        <p:nvPicPr>
          <p:cNvPr id="17" name="Content Placeholder 16" descr="A graph of a line&#10;&#10;Description automatically generated">
            <a:extLst>
              <a:ext uri="{FF2B5EF4-FFF2-40B4-BE49-F238E27FC236}">
                <a16:creationId xmlns:a16="http://schemas.microsoft.com/office/drawing/2014/main" id="{3973A081-47E5-D0D9-D45E-06EEAA83002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  <p:pic>
        <p:nvPicPr>
          <p:cNvPr id="20" name="Content Placeholder 13" descr="A graph with a line and a line&#10;&#10;Description automatically generated">
            <a:extLst>
              <a:ext uri="{FF2B5EF4-FFF2-40B4-BE49-F238E27FC236}">
                <a16:creationId xmlns:a16="http://schemas.microsoft.com/office/drawing/2014/main" id="{58E685A8-6640-AD93-E89F-45481FDF05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22174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D9003-2FFC-F2BD-58E6-AA3A69FBF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Budget Constraint with Time: Region 1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9BE5E2-B650-CBA8-D272-3BCE324B78C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dirty="0"/>
              <a:t>Consider each of the 4 “regions” created by the two lines…</a:t>
            </a:r>
          </a:p>
          <a:p>
            <a:pPr lvl="3"/>
            <a:endParaRPr lang="en-US" dirty="0"/>
          </a:p>
          <a:p>
            <a:r>
              <a:rPr lang="en-US" dirty="0"/>
              <a:t>Can the you consume and bundle in this region?</a:t>
            </a:r>
          </a:p>
          <a:p>
            <a:pPr lvl="3"/>
            <a:endParaRPr lang="en-US" dirty="0"/>
          </a:p>
          <a:p>
            <a:r>
              <a:rPr lang="en-US" dirty="0"/>
              <a:t>Can purchase 60 books?</a:t>
            </a:r>
          </a:p>
          <a:p>
            <a:pPr lvl="3"/>
            <a:endParaRPr lang="en-US" dirty="0"/>
          </a:p>
          <a:p>
            <a:r>
              <a:rPr lang="en-US" dirty="0"/>
              <a:t>Can read 60 books?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835B0F-5E5A-0A9E-CD20-C866794D55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ECON 300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D775DF-6F46-2449-380A-8EE9965F5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223C12-8BBB-08FD-ABB5-A3123EBBA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47</a:t>
            </a:fld>
            <a:endParaRPr lang="en-US"/>
          </a:p>
        </p:txBody>
      </p:sp>
      <p:pic>
        <p:nvPicPr>
          <p:cNvPr id="19" name="Content Placeholder 18" descr="A graph with a line and a line&#10;&#10;Description automatically generated with medium confidence">
            <a:extLst>
              <a:ext uri="{FF2B5EF4-FFF2-40B4-BE49-F238E27FC236}">
                <a16:creationId xmlns:a16="http://schemas.microsoft.com/office/drawing/2014/main" id="{4A9CB9C3-3F19-5E39-2381-9B12E37C303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</p:spTree>
    <p:extLst>
      <p:ext uri="{BB962C8B-B14F-4D97-AF65-F5344CB8AC3E}">
        <p14:creationId xmlns:p14="http://schemas.microsoft.com/office/powerpoint/2010/main" val="15812304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D9003-2FFC-F2BD-58E6-AA3A69FBF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Budget Constraint with Time: Region 2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9BE5E2-B650-CBA8-D272-3BCE324B78C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dirty="0"/>
              <a:t>Consider each of the 4 “regions” created by the two lines…</a:t>
            </a:r>
          </a:p>
          <a:p>
            <a:pPr lvl="3"/>
            <a:endParaRPr lang="en-US" dirty="0"/>
          </a:p>
          <a:p>
            <a:r>
              <a:rPr lang="en-US" dirty="0"/>
              <a:t>Can the you consume and bundle in this region?</a:t>
            </a:r>
          </a:p>
          <a:p>
            <a:pPr lvl="3"/>
            <a:endParaRPr lang="en-US" dirty="0"/>
          </a:p>
          <a:p>
            <a:r>
              <a:rPr lang="en-US" dirty="0"/>
              <a:t>Can eat 100 apples?</a:t>
            </a:r>
          </a:p>
          <a:p>
            <a:pPr lvl="3"/>
            <a:endParaRPr lang="en-US" dirty="0"/>
          </a:p>
          <a:p>
            <a:r>
              <a:rPr lang="en-US" dirty="0"/>
              <a:t>Can buy 100 apples?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835B0F-5E5A-0A9E-CD20-C866794D55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ECON 300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D775DF-6F46-2449-380A-8EE9965F5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223C12-8BBB-08FD-ABB5-A3123EBBA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48</a:t>
            </a:fld>
            <a:endParaRPr lang="en-US"/>
          </a:p>
        </p:txBody>
      </p:sp>
      <p:pic>
        <p:nvPicPr>
          <p:cNvPr id="10" name="Content Placeholder 9" descr="A graph with a line and a line&#10;&#10;Description automatically generated with medium confidence">
            <a:extLst>
              <a:ext uri="{FF2B5EF4-FFF2-40B4-BE49-F238E27FC236}">
                <a16:creationId xmlns:a16="http://schemas.microsoft.com/office/drawing/2014/main" id="{A70BC708-56FE-54F5-E9E5-51622993505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</p:spTree>
    <p:extLst>
      <p:ext uri="{BB962C8B-B14F-4D97-AF65-F5344CB8AC3E}">
        <p14:creationId xmlns:p14="http://schemas.microsoft.com/office/powerpoint/2010/main" val="39247119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D9003-2FFC-F2BD-58E6-AA3A69FBF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Budget Constraint with Time: Region 3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9BE5E2-B650-CBA8-D272-3BCE324B78C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dirty="0"/>
              <a:t>Consider each of the 4 “regions” created by the two lines…</a:t>
            </a:r>
          </a:p>
          <a:p>
            <a:pPr lvl="3"/>
            <a:endParaRPr lang="en-US" dirty="0"/>
          </a:p>
          <a:p>
            <a:r>
              <a:rPr lang="en-US" dirty="0"/>
              <a:t>Can the you consume and bundle in this region?</a:t>
            </a:r>
          </a:p>
          <a:p>
            <a:pPr lvl="3"/>
            <a:endParaRPr lang="en-US" dirty="0"/>
          </a:p>
          <a:p>
            <a:r>
              <a:rPr lang="en-US" dirty="0"/>
              <a:t>Can eat 100 apples </a:t>
            </a:r>
            <a:r>
              <a:rPr lang="en-US" u="sng" dirty="0"/>
              <a:t>and</a:t>
            </a:r>
            <a:r>
              <a:rPr lang="en-US" dirty="0"/>
              <a:t> read 60 books?</a:t>
            </a:r>
          </a:p>
          <a:p>
            <a:pPr lvl="3"/>
            <a:endParaRPr lang="en-US" dirty="0"/>
          </a:p>
          <a:p>
            <a:r>
              <a:rPr lang="en-US" dirty="0"/>
              <a:t>Can buy 100 apples </a:t>
            </a:r>
            <a:r>
              <a:rPr lang="en-US" u="sng" dirty="0"/>
              <a:t>and</a:t>
            </a:r>
            <a:r>
              <a:rPr lang="en-US" dirty="0"/>
              <a:t> buy 60 books?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835B0F-5E5A-0A9E-CD20-C866794D55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ECON 300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D775DF-6F46-2449-380A-8EE9965F5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223C12-8BBB-08FD-ABB5-A3123EBBA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49</a:t>
            </a:fld>
            <a:endParaRPr lang="en-US"/>
          </a:p>
        </p:txBody>
      </p:sp>
      <p:pic>
        <p:nvPicPr>
          <p:cNvPr id="15" name="Content Placeholder 14" descr="A graph with a line and a line&#10;&#10;Description automatically generated with medium confidence">
            <a:extLst>
              <a:ext uri="{FF2B5EF4-FFF2-40B4-BE49-F238E27FC236}">
                <a16:creationId xmlns:a16="http://schemas.microsoft.com/office/drawing/2014/main" id="{A6F7653F-DE55-64E1-8E51-885B0E1AD60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</p:spTree>
    <p:extLst>
      <p:ext uri="{BB962C8B-B14F-4D97-AF65-F5344CB8AC3E}">
        <p14:creationId xmlns:p14="http://schemas.microsoft.com/office/powerpoint/2010/main" val="19200466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D9003-2FFC-F2BD-58E6-AA3A69FBF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Budget Constraint with Time: Region 4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9BE5E2-B650-CBA8-D272-3BCE324B78C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dirty="0"/>
              <a:t>Can the you consume and bundle in this region?</a:t>
            </a:r>
          </a:p>
          <a:p>
            <a:pPr lvl="3"/>
            <a:endParaRPr lang="en-US" dirty="0"/>
          </a:p>
          <a:p>
            <a:r>
              <a:rPr lang="en-US" dirty="0"/>
              <a:t>Can eat 30 apples </a:t>
            </a:r>
            <a:r>
              <a:rPr lang="en-US" u="sng" dirty="0"/>
              <a:t>and</a:t>
            </a:r>
            <a:r>
              <a:rPr lang="en-US" dirty="0"/>
              <a:t> read 30 books?</a:t>
            </a:r>
          </a:p>
          <a:p>
            <a:pPr lvl="3"/>
            <a:endParaRPr lang="en-US" dirty="0"/>
          </a:p>
          <a:p>
            <a:r>
              <a:rPr lang="en-US" dirty="0"/>
              <a:t>Can buy 30 apples </a:t>
            </a:r>
            <a:r>
              <a:rPr lang="en-US" u="sng" dirty="0"/>
              <a:t>and</a:t>
            </a:r>
            <a:r>
              <a:rPr lang="en-US" dirty="0"/>
              <a:t> buy 30 books?</a:t>
            </a:r>
          </a:p>
          <a:p>
            <a:pPr lvl="3"/>
            <a:endParaRPr lang="en-US" dirty="0"/>
          </a:p>
          <a:p>
            <a:r>
              <a:rPr lang="en-US" dirty="0"/>
              <a:t>We have found the joint budget-time constraint!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835B0F-5E5A-0A9E-CD20-C866794D55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ECON 300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D775DF-6F46-2449-380A-8EE9965F5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223C12-8BBB-08FD-ABB5-A3123EBBA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50</a:t>
            </a:fld>
            <a:endParaRPr lang="en-US"/>
          </a:p>
        </p:txBody>
      </p:sp>
      <p:pic>
        <p:nvPicPr>
          <p:cNvPr id="14" name="Content Placeholder 13" descr="A graph with a line and a line&#10;&#10;Description automatically generated with medium confidence">
            <a:extLst>
              <a:ext uri="{FF2B5EF4-FFF2-40B4-BE49-F238E27FC236}">
                <a16:creationId xmlns:a16="http://schemas.microsoft.com/office/drawing/2014/main" id="{78426478-6254-0592-17CD-3E8A0332184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  <p:pic>
        <p:nvPicPr>
          <p:cNvPr id="16" name="Content Placeholder 14" descr="A graph with red line and blue line&#10;&#10;Description automatically generated">
            <a:extLst>
              <a:ext uri="{FF2B5EF4-FFF2-40B4-BE49-F238E27FC236}">
                <a16:creationId xmlns:a16="http://schemas.microsoft.com/office/drawing/2014/main" id="{97473D4F-5BAE-648A-8BB6-9D18557C80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4670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A65BA-AF82-B754-9907-5B0418DB1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Endowment in Goods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E448ED-591A-E549-1DD9-7991655D49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market consists of Apples and Books.</a:t>
            </a:r>
          </a:p>
          <a:p>
            <a:pPr lvl="3"/>
            <a:endParaRPr lang="en-US" dirty="0"/>
          </a:p>
          <a:p>
            <a:r>
              <a:rPr lang="en-US" dirty="0"/>
              <a:t>The market price of an apple is $4, and the market price of books is $5.</a:t>
            </a:r>
          </a:p>
          <a:p>
            <a:pPr lvl="3"/>
            <a:endParaRPr lang="en-US" dirty="0"/>
          </a:p>
          <a:p>
            <a:r>
              <a:rPr lang="en-US" dirty="0"/>
              <a:t>The consumer is given 50 apples and 20 books as an endowment.</a:t>
            </a:r>
          </a:p>
          <a:p>
            <a:pPr lvl="3"/>
            <a:endParaRPr lang="en-US" dirty="0"/>
          </a:p>
          <a:p>
            <a:r>
              <a:rPr lang="en-US" dirty="0"/>
              <a:t>The consumer is free to sell their endowment and purchase desired goods in the market at the market price.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9CE93F-E358-7FB4-0E9A-1AC5251C1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ECON 300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C4869B-58EB-75CA-D1F8-2FEAFD159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D37BC6-DD8A-7FE2-A51E-13221EED0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1700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D9003-2FFC-F2BD-58E6-AA3A69FBF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Budget Constraint with Endowments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9BE5E2-B650-CBA8-D272-3BCE324B78C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dirty="0"/>
              <a:t>We start off by plotting the consumer’s endowment.</a:t>
            </a:r>
          </a:p>
          <a:p>
            <a:pPr lvl="3"/>
            <a:endParaRPr lang="en-US" dirty="0"/>
          </a:p>
          <a:p>
            <a:r>
              <a:rPr lang="en-US" dirty="0"/>
              <a:t>Then we calculate the max units of apples and books the consumer can purchase.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835B0F-5E5A-0A9E-CD20-C866794D55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ECON 300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D775DF-6F46-2449-380A-8EE9965F5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223C12-8BBB-08FD-ABB5-A3123EBBA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52</a:t>
            </a:fld>
            <a:endParaRPr lang="en-US"/>
          </a:p>
        </p:txBody>
      </p:sp>
      <p:pic>
        <p:nvPicPr>
          <p:cNvPr id="19" name="Content Placeholder 18" descr="A graph with a red dot and a line&#10;&#10;Description automatically generated">
            <a:extLst>
              <a:ext uri="{FF2B5EF4-FFF2-40B4-BE49-F238E27FC236}">
                <a16:creationId xmlns:a16="http://schemas.microsoft.com/office/drawing/2014/main" id="{172C820F-CC91-B62E-3B1C-D318192106D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</p:spTree>
    <p:extLst>
      <p:ext uri="{BB962C8B-B14F-4D97-AF65-F5344CB8AC3E}">
        <p14:creationId xmlns:p14="http://schemas.microsoft.com/office/powerpoint/2010/main" val="415135320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60A15B-2D35-5F0A-A1FB-897F3AEF34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ECON 300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AFAD1F7-8FF3-7BFA-C24B-7BF568ECE4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CDCDDA-F8BA-AEC8-F599-A2704222E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53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D0F373E-D060-0F5A-93DE-EC1C3FDC8FF3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786693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1081DD9-C230-F3D1-3FC0-684D9900BB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ECON 300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03819A5-1D25-44D2-08FB-112E08477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AD5636-696D-529C-27CA-B3531F45B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54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774A0BA-4DD2-2804-F586-7283BB40D090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295585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D9003-2FFC-F2BD-58E6-AA3A69FBF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Budget Constraint with Endowments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9BE5E2-B650-CBA8-D272-3BCE324B78C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dirty="0"/>
              <a:t>We start off by plotting the consumer’s endowment.</a:t>
            </a:r>
          </a:p>
          <a:p>
            <a:pPr lvl="3"/>
            <a:endParaRPr lang="en-US" dirty="0"/>
          </a:p>
          <a:p>
            <a:r>
              <a:rPr lang="en-US" dirty="0"/>
              <a:t>Then we calculate the max units of apples and books the consumer can purchase.</a:t>
            </a:r>
          </a:p>
          <a:p>
            <a:pPr lvl="1"/>
            <a:r>
              <a:rPr lang="en-US" dirty="0"/>
              <a:t>75 Apples</a:t>
            </a:r>
          </a:p>
          <a:p>
            <a:pPr lvl="1"/>
            <a:r>
              <a:rPr lang="en-US" dirty="0"/>
              <a:t>60 Books</a:t>
            </a:r>
          </a:p>
          <a:p>
            <a:pPr lvl="3"/>
            <a:endParaRPr lang="en-US" dirty="0"/>
          </a:p>
          <a:p>
            <a:r>
              <a:rPr lang="en-US" dirty="0"/>
              <a:t>Identical to prior cases.</a:t>
            </a:r>
          </a:p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835B0F-5E5A-0A9E-CD20-C866794D55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ECON 300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D775DF-6F46-2449-380A-8EE9965F5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223C12-8BBB-08FD-ABB5-A3123EBBA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55</a:t>
            </a:fld>
            <a:endParaRPr lang="en-US"/>
          </a:p>
        </p:txBody>
      </p:sp>
      <p:pic>
        <p:nvPicPr>
          <p:cNvPr id="10" name="Content Placeholder 9" descr="A graph with a red line&#10;&#10;Description automatically generated">
            <a:extLst>
              <a:ext uri="{FF2B5EF4-FFF2-40B4-BE49-F238E27FC236}">
                <a16:creationId xmlns:a16="http://schemas.microsoft.com/office/drawing/2014/main" id="{13E949CC-4581-8A13-17B9-993B89EC6C0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</p:spTree>
    <p:extLst>
      <p:ext uri="{BB962C8B-B14F-4D97-AF65-F5344CB8AC3E}">
        <p14:creationId xmlns:p14="http://schemas.microsoft.com/office/powerpoint/2010/main" val="21906985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D9003-2FFC-F2BD-58E6-AA3A69FBF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Budget Constraint with Endowments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9BE5E2-B650-CBA8-D272-3BCE324B78C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would happen when prices change?</a:t>
            </a:r>
          </a:p>
          <a:p>
            <a:pPr lvl="3"/>
            <a:endParaRPr lang="en-US" dirty="0"/>
          </a:p>
          <a:p>
            <a:r>
              <a:rPr lang="en-US" dirty="0"/>
              <a:t>Suppose that the price of books fall to $4 per unit.</a:t>
            </a:r>
          </a:p>
          <a:p>
            <a:pPr lvl="3"/>
            <a:endParaRPr lang="en-US" dirty="0"/>
          </a:p>
          <a:p>
            <a:r>
              <a:rPr lang="en-US" dirty="0"/>
              <a:t>What is the “money equivalent” of the consumer’s endowment?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835B0F-5E5A-0A9E-CD20-C866794D55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ECON 300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D775DF-6F46-2449-380A-8EE9965F5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223C12-8BBB-08FD-ABB5-A3123EBBA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56</a:t>
            </a:fld>
            <a:endParaRPr lang="en-US"/>
          </a:p>
        </p:txBody>
      </p:sp>
      <p:pic>
        <p:nvPicPr>
          <p:cNvPr id="10" name="Content Placeholder 9" descr="A graph with a red line&#10;&#10;Description automatically generated">
            <a:extLst>
              <a:ext uri="{FF2B5EF4-FFF2-40B4-BE49-F238E27FC236}">
                <a16:creationId xmlns:a16="http://schemas.microsoft.com/office/drawing/2014/main" id="{13E949CC-4581-8A13-17B9-993B89EC6C0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</p:spTree>
    <p:extLst>
      <p:ext uri="{BB962C8B-B14F-4D97-AF65-F5344CB8AC3E}">
        <p14:creationId xmlns:p14="http://schemas.microsoft.com/office/powerpoint/2010/main" val="244130732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0EBEE58-445E-AF88-87CE-D55FA8C7A2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ECON 300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7B1E30-9E41-4D14-73E6-E0E4CF6AE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E9C72D-5696-1E22-41E7-993BD5732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57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1649A14-9EFB-4AC9-5947-DA06773BD272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651727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E5881A-7B3D-4DCC-2A3B-22ECEDAB4D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ECON 300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A4D802B-AC68-D369-71A7-FACDAF07C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BFEFC1-719B-FB2F-1FEE-F52C404E7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58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5C41583-F2D3-8383-C49B-881EA82E3488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051767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D9003-2FFC-F2BD-58E6-AA3A69FBF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Budget Constraint with Endowments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9BE5E2-B650-CBA8-D272-3BCE324B78C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would happen when prices change?</a:t>
            </a:r>
          </a:p>
          <a:p>
            <a:pPr lvl="3"/>
            <a:endParaRPr lang="en-US" dirty="0"/>
          </a:p>
          <a:p>
            <a:r>
              <a:rPr lang="en-US" dirty="0"/>
              <a:t>Suppose that the price of books fall to $4 per unit.</a:t>
            </a:r>
          </a:p>
          <a:p>
            <a:pPr lvl="3"/>
            <a:endParaRPr lang="en-US" dirty="0"/>
          </a:p>
          <a:p>
            <a:r>
              <a:rPr lang="en-US" dirty="0"/>
              <a:t>What is the “money equivalent” of the consumer’s endowment?</a:t>
            </a:r>
          </a:p>
          <a:p>
            <a:pPr lvl="1"/>
            <a:r>
              <a:rPr lang="en-US" dirty="0"/>
              <a:t>Now the consumer “has” $280 instead of $300.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835B0F-5E5A-0A9E-CD20-C866794D55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ECON 300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D775DF-6F46-2449-380A-8EE9965F5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223C12-8BBB-08FD-ABB5-A3123EBBA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59</a:t>
            </a:fld>
            <a:endParaRPr lang="en-US"/>
          </a:p>
        </p:txBody>
      </p:sp>
      <p:pic>
        <p:nvPicPr>
          <p:cNvPr id="10" name="Content Placeholder 9" descr="A graph with a red line&#10;&#10;Description automatically generated">
            <a:extLst>
              <a:ext uri="{FF2B5EF4-FFF2-40B4-BE49-F238E27FC236}">
                <a16:creationId xmlns:a16="http://schemas.microsoft.com/office/drawing/2014/main" id="{13E949CC-4581-8A13-17B9-993B89EC6C0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</p:spTree>
    <p:extLst>
      <p:ext uri="{BB962C8B-B14F-4D97-AF65-F5344CB8AC3E}">
        <p14:creationId xmlns:p14="http://schemas.microsoft.com/office/powerpoint/2010/main" val="117948057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D9003-2FFC-F2BD-58E6-AA3A69FBF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Budget Constraint with Endowments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9BE5E2-B650-CBA8-D272-3BCE324B78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4014518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The “normal” budget line shifts when income changes.</a:t>
            </a:r>
          </a:p>
          <a:p>
            <a:pPr lvl="3"/>
            <a:endParaRPr lang="en-US" dirty="0"/>
          </a:p>
          <a:p>
            <a:r>
              <a:rPr lang="en-US" dirty="0"/>
              <a:t>Can that happen to this budget line with goods as endowments?</a:t>
            </a:r>
          </a:p>
          <a:p>
            <a:pPr lvl="3"/>
            <a:endParaRPr lang="en-US" dirty="0"/>
          </a:p>
          <a:p>
            <a:r>
              <a:rPr lang="en-US" dirty="0"/>
              <a:t>No. The original endowment will always be available!</a:t>
            </a:r>
          </a:p>
          <a:p>
            <a:pPr lvl="3"/>
            <a:endParaRPr lang="en-US" dirty="0"/>
          </a:p>
          <a:p>
            <a:r>
              <a:rPr lang="en-US" dirty="0"/>
              <a:t>Budget line “pivots” around the endowment point.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835B0F-5E5A-0A9E-CD20-C866794D55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ECON 300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D775DF-6F46-2449-380A-8EE9965F5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223C12-8BBB-08FD-ABB5-A3123EBBA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60</a:t>
            </a:fld>
            <a:endParaRPr lang="en-US"/>
          </a:p>
        </p:txBody>
      </p:sp>
      <p:pic>
        <p:nvPicPr>
          <p:cNvPr id="15" name="Content Placeholder 14" descr="A graph with a red line&#10;&#10;Description automatically generated">
            <a:extLst>
              <a:ext uri="{FF2B5EF4-FFF2-40B4-BE49-F238E27FC236}">
                <a16:creationId xmlns:a16="http://schemas.microsoft.com/office/drawing/2014/main" id="{2087188A-930F-F93F-45B6-2939E74825B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  <p:pic>
        <p:nvPicPr>
          <p:cNvPr id="16" name="Content Placeholder 9" descr="A graph with a red line&#10;&#10;Description automatically generated">
            <a:extLst>
              <a:ext uri="{FF2B5EF4-FFF2-40B4-BE49-F238E27FC236}">
                <a16:creationId xmlns:a16="http://schemas.microsoft.com/office/drawing/2014/main" id="{40CA49B2-FBCE-AADF-F88F-5E3CFB308D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48374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D9003-2FFC-F2BD-58E6-AA3A69FBF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Budget Constraint with Endowments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9BE5E2-B650-CBA8-D272-3BCE324B78C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would happen when the endowment changes?</a:t>
            </a:r>
          </a:p>
          <a:p>
            <a:pPr lvl="3"/>
            <a:endParaRPr lang="en-US" dirty="0"/>
          </a:p>
          <a:p>
            <a:r>
              <a:rPr lang="en-US" dirty="0"/>
              <a:t>Suppose that the endowment is now 20 books and 40 apples.</a:t>
            </a:r>
          </a:p>
          <a:p>
            <a:pPr lvl="3"/>
            <a:endParaRPr lang="en-US" dirty="0"/>
          </a:p>
          <a:p>
            <a:r>
              <a:rPr lang="en-US" dirty="0"/>
              <a:t>What is the “money equivalent” of the consumer’s endowment when apples are $4 and books $5?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835B0F-5E5A-0A9E-CD20-C866794D55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ECON 300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D775DF-6F46-2449-380A-8EE9965F5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223C12-8BBB-08FD-ABB5-A3123EBBA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61</a:t>
            </a:fld>
            <a:endParaRPr lang="en-US"/>
          </a:p>
        </p:txBody>
      </p:sp>
      <p:pic>
        <p:nvPicPr>
          <p:cNvPr id="17" name="Content Placeholder 16" descr="A graph with a red line&#10;&#10;Description automatically generated">
            <a:extLst>
              <a:ext uri="{FF2B5EF4-FFF2-40B4-BE49-F238E27FC236}">
                <a16:creationId xmlns:a16="http://schemas.microsoft.com/office/drawing/2014/main" id="{9A3F670C-13A6-BC40-CB11-B85690D2D88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  <p:pic>
        <p:nvPicPr>
          <p:cNvPr id="19" name="Content Placeholder 26" descr="A graph of a line&#10;&#10;Description automatically generated">
            <a:extLst>
              <a:ext uri="{FF2B5EF4-FFF2-40B4-BE49-F238E27FC236}">
                <a16:creationId xmlns:a16="http://schemas.microsoft.com/office/drawing/2014/main" id="{C3F5BDF1-31DD-AF3B-41C0-FBAC46F066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9791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AAF9C7B-7CFD-1DE0-3535-227EF8882A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ECON 300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E4E71F6-423F-6091-D7AF-542CA5C15C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8FEF47-9A56-EA88-7FF6-3AC1A8E57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62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8E9CB6A-8A8D-5E94-AA55-178F76E6881F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823972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C6E55E-E4FA-5C20-0367-E07CF388F5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ECON 300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E68EB0-B983-DB43-B731-52068F3A1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4F079E-6CA6-D3A6-10FD-D7BC6E24F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63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DB44317-7513-BEC8-F7E1-CC7DD420FD49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795233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D9003-2FFC-F2BD-58E6-AA3A69FBF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Budget Constraint with Endowments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9BE5E2-B650-CBA8-D272-3BCE324B78C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consumer now “has” $260 as their endowment.</a:t>
            </a:r>
          </a:p>
          <a:p>
            <a:pPr lvl="3"/>
            <a:endParaRPr lang="en-US" dirty="0"/>
          </a:p>
          <a:p>
            <a:r>
              <a:rPr lang="en-US" dirty="0"/>
              <a:t>Plotting the new budget constraint…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835B0F-5E5A-0A9E-CD20-C866794D55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ECON 300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D775DF-6F46-2449-380A-8EE9965F5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223C12-8BBB-08FD-ABB5-A3123EBBA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64</a:t>
            </a:fld>
            <a:endParaRPr lang="en-US"/>
          </a:p>
        </p:txBody>
      </p:sp>
      <p:pic>
        <p:nvPicPr>
          <p:cNvPr id="27" name="Content Placeholder 26" descr="A graph of a line&#10;&#10;Description automatically generated">
            <a:extLst>
              <a:ext uri="{FF2B5EF4-FFF2-40B4-BE49-F238E27FC236}">
                <a16:creationId xmlns:a16="http://schemas.microsoft.com/office/drawing/2014/main" id="{1192A81A-375F-3A17-E34B-81D6893D59E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  <p:pic>
        <p:nvPicPr>
          <p:cNvPr id="28" name="Content Placeholder 9" descr="A graph with a red line&#10;&#10;Description automatically generated">
            <a:extLst>
              <a:ext uri="{FF2B5EF4-FFF2-40B4-BE49-F238E27FC236}">
                <a16:creationId xmlns:a16="http://schemas.microsoft.com/office/drawing/2014/main" id="{23AAFDA9-C209-5A8F-8DC2-EF834BFC36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1687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A65BA-AF82-B754-9907-5B0418DB1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Recap: Budget Constraint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E448ED-591A-E549-1DD9-7991655D49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budget constraint tells us which commodity bundles are feasible, and which are not feasible.</a:t>
            </a:r>
          </a:p>
          <a:p>
            <a:pPr lvl="3"/>
            <a:endParaRPr lang="en-US" dirty="0"/>
          </a:p>
          <a:p>
            <a:r>
              <a:rPr lang="en-US" dirty="0"/>
              <a:t>The slope of the budget constraint represents the objective rate of exchange determined by the market.</a:t>
            </a:r>
          </a:p>
          <a:p>
            <a:pPr lvl="3"/>
            <a:endParaRPr lang="en-US" dirty="0"/>
          </a:p>
          <a:p>
            <a:r>
              <a:rPr lang="en-US" dirty="0"/>
              <a:t>When income changes, the budget line (usually) shifts.</a:t>
            </a:r>
          </a:p>
          <a:p>
            <a:pPr lvl="3"/>
            <a:endParaRPr lang="en-US" dirty="0"/>
          </a:p>
          <a:p>
            <a:r>
              <a:rPr lang="en-US" dirty="0"/>
              <a:t>When prices change, the budget line (usually) pivots.</a:t>
            </a:r>
          </a:p>
          <a:p>
            <a:pPr lvl="3"/>
            <a:endParaRPr lang="en-US" dirty="0"/>
          </a:p>
          <a:p>
            <a:r>
              <a:rPr lang="en-US" dirty="0"/>
              <a:t>The budget line is not always one straight line.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9CE93F-E358-7FB4-0E9A-1AC5251C1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ECON 300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C4869B-58EB-75CA-D1F8-2FEAFD159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D37BC6-DD8A-7FE2-A51E-13221EED0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061056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2e1f1730-3e76-40c2-991b-f27098d5c57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8dd39330-ac75-4943-b87b-d10bbd68e226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50c4bc41-5f0f-4835-9540-001d61a89502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05d50803-fc92-47c0-b6a7-b7821ccd6be3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0781b773-e24a-4b27-8a62-1d54920c1805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677bac6f-cee2-41fb-8a97-f5cc0169d145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249f91f5-da67-4faa-88b8-73372396faf7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327bf26a-4fc7-4e0c-9390-809a51763b8c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1df5d3e9-8357-4005-900e-7c6b65e3508a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d073066f-90f3-426b-b5d8-2ef1df79a17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86359c85-dcbc-4101-88cc-2b42616a311a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df1897e9-9386-496a-8723-9b0727a8eb56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051fa12a-d086-443e-9383-6ccc8bfc86d8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5b48f2d2-5a25-4205-854c-358795f84559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8df1bea5-1001-432d-a70e-242803acff72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edd439df-78c5-4447-a9a4-96903fd1a902"/>
</p:tagLst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2" id="{CF630E01-D107-42E5-8DFC-48302BB3DFE2}" vid="{4BEE81CA-F64C-419F-A97B-23D16F4EA3D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mc-presentation-template</Template>
  <TotalTime>1424</TotalTime>
  <Words>4746</Words>
  <Application>Microsoft Office PowerPoint</Application>
  <PresentationFormat>On-screen Show (4:3)</PresentationFormat>
  <Paragraphs>617</Paragraphs>
  <Slides>65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65</vt:i4>
      </vt:variant>
    </vt:vector>
  </HeadingPairs>
  <TitlesOfParts>
    <vt:vector size="70" baseType="lpstr">
      <vt:lpstr>Arial</vt:lpstr>
      <vt:lpstr>Calibri</vt:lpstr>
      <vt:lpstr>Cambria Math</vt:lpstr>
      <vt:lpstr>Franklin Gothic Book</vt:lpstr>
      <vt:lpstr>Office Theme</vt:lpstr>
      <vt:lpstr>Consumer Theory:  The Budget Constraint</vt:lpstr>
      <vt:lpstr>PollEv.com/brianpark046</vt:lpstr>
      <vt:lpstr>Economics</vt:lpstr>
      <vt:lpstr>Scarcity</vt:lpstr>
      <vt:lpstr>Scarcity</vt:lpstr>
      <vt:lpstr>Budget Constraint in Words</vt:lpstr>
      <vt:lpstr>The Budget Constraint as a Graph</vt:lpstr>
      <vt:lpstr>“Commodity Plane”</vt:lpstr>
      <vt:lpstr>PowerPoint Presentation</vt:lpstr>
      <vt:lpstr>PowerPoint Presentation</vt:lpstr>
      <vt:lpstr>Checking Affordability (1)</vt:lpstr>
      <vt:lpstr>PowerPoint Presentation</vt:lpstr>
      <vt:lpstr>PowerPoint Presentation</vt:lpstr>
      <vt:lpstr>Checking Affordability (2)</vt:lpstr>
      <vt:lpstr>PowerPoint Presentation</vt:lpstr>
      <vt:lpstr>PowerPoint Presentation</vt:lpstr>
      <vt:lpstr>Checking Affordability (3)</vt:lpstr>
      <vt:lpstr>“Budget Set”</vt:lpstr>
      <vt:lpstr>The Budget Constraint with “Math”</vt:lpstr>
      <vt:lpstr>The Two Goods</vt:lpstr>
      <vt:lpstr>The Market Prices</vt:lpstr>
      <vt:lpstr>The Expenditure</vt:lpstr>
      <vt:lpstr>The Income</vt:lpstr>
      <vt:lpstr>The Budget Constraint / Line</vt:lpstr>
      <vt:lpstr>Examining the Budget Constraint</vt:lpstr>
      <vt:lpstr>The Slope of the Budget Constraint</vt:lpstr>
      <vt:lpstr>Comparative Statics: An Overview</vt:lpstr>
      <vt:lpstr>Comparative Statics: Income ↓</vt:lpstr>
      <vt:lpstr>Comparative Statics: Price ↓</vt:lpstr>
      <vt:lpstr>Comparative Statics: Price ↑</vt:lpstr>
      <vt:lpstr>Comparative Statics: Prices</vt:lpstr>
      <vt:lpstr>Comparative Statics: Recap</vt:lpstr>
      <vt:lpstr>Real-World Examples</vt:lpstr>
      <vt:lpstr>Supplemental Nutrition  Assistance Program</vt:lpstr>
      <vt:lpstr>SNAP</vt:lpstr>
      <vt:lpstr>Budget Constraint: Pre - SNAP</vt:lpstr>
      <vt:lpstr>Budget Constraint: Post - SNAP</vt:lpstr>
      <vt:lpstr>Bulk Order Discount</vt:lpstr>
      <vt:lpstr>PowerPoint Presentation</vt:lpstr>
      <vt:lpstr>PowerPoint Presentation</vt:lpstr>
      <vt:lpstr>Budget Constraint: Bulk Discount</vt:lpstr>
      <vt:lpstr>PowerPoint Presentation</vt:lpstr>
      <vt:lpstr>PowerPoint Presentation</vt:lpstr>
      <vt:lpstr>Budget Constraint: Bulk Discount</vt:lpstr>
      <vt:lpstr>Time Constraints</vt:lpstr>
      <vt:lpstr>Budget Constraint with Time: Lines</vt:lpstr>
      <vt:lpstr>Budget Constraint with Time: Region 1</vt:lpstr>
      <vt:lpstr>Budget Constraint with Time: Region 2</vt:lpstr>
      <vt:lpstr>Budget Constraint with Time: Region 3</vt:lpstr>
      <vt:lpstr>Budget Constraint with Time: Region 4</vt:lpstr>
      <vt:lpstr>Endowment in Goods</vt:lpstr>
      <vt:lpstr>Budget Constraint with Endowments</vt:lpstr>
      <vt:lpstr>PowerPoint Presentation</vt:lpstr>
      <vt:lpstr>PowerPoint Presentation</vt:lpstr>
      <vt:lpstr>Budget Constraint with Endowments</vt:lpstr>
      <vt:lpstr>Budget Constraint with Endowments</vt:lpstr>
      <vt:lpstr>PowerPoint Presentation</vt:lpstr>
      <vt:lpstr>PowerPoint Presentation</vt:lpstr>
      <vt:lpstr>Budget Constraint with Endowments</vt:lpstr>
      <vt:lpstr>Budget Constraint with Endowments</vt:lpstr>
      <vt:lpstr>Budget Constraint with Endowments</vt:lpstr>
      <vt:lpstr>PowerPoint Presentation</vt:lpstr>
      <vt:lpstr>PowerPoint Presentation</vt:lpstr>
      <vt:lpstr>Budget Constraint with Endowments</vt:lpstr>
      <vt:lpstr>Recap: Budget Constraint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Intermediate Price Theory</dc:title>
  <dc:creator>Brian Park</dc:creator>
  <cp:lastModifiedBy>Park, Brian</cp:lastModifiedBy>
  <cp:revision>33</cp:revision>
  <dcterms:created xsi:type="dcterms:W3CDTF">2023-08-17T23:00:51Z</dcterms:created>
  <dcterms:modified xsi:type="dcterms:W3CDTF">2024-08-25T14:36:27Z</dcterms:modified>
</cp:coreProperties>
</file>