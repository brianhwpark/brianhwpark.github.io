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notesMasterIdLst>
    <p:notesMasterId r:id="rId15"/>
  </p:notesMasterIdLst>
  <p:sldIdLst>
    <p:sldId id="256" r:id="rId2"/>
    <p:sldId id="273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  <p:sldId id="284" r:id="rId13"/>
    <p:sldId id="285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282F"/>
    <a:srgbClr val="F5CFD0"/>
    <a:srgbClr val="E05F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79" autoAdjust="0"/>
    <p:restoredTop sz="94660"/>
  </p:normalViewPr>
  <p:slideViewPr>
    <p:cSldViewPr snapToGrid="0">
      <p:cViewPr varScale="1">
        <p:scale>
          <a:sx n="96" d="100"/>
          <a:sy n="96" d="100"/>
        </p:scale>
        <p:origin x="178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0A6441-4E79-42FF-805B-86C90BDFD38D}" type="datetimeFigureOut">
              <a:rPr lang="en-US" smtClean="0"/>
              <a:t>9/3/2024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A29054-221E-4755-818D-C35A08AFDBE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785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2;p13">
            <a:extLst>
              <a:ext uri="{FF2B5EF4-FFF2-40B4-BE49-F238E27FC236}">
                <a16:creationId xmlns:a16="http://schemas.microsoft.com/office/drawing/2014/main" id="{BF16982E-3E38-0665-4F07-437DD3F0D5A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13549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859BA894-242B-5A6C-EFD3-428444AAFEC4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973558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>
            <a:normAutofit/>
          </a:bodyPr>
          <a:lstStyle>
            <a:lvl1pPr marL="0" indent="0" algn="ctr">
              <a:buNone/>
              <a:defRPr sz="32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92;p13">
            <a:extLst>
              <a:ext uri="{FF2B5EF4-FFF2-40B4-BE49-F238E27FC236}">
                <a16:creationId xmlns:a16="http://schemas.microsoft.com/office/drawing/2014/main" id="{A5DC9873-6BF3-A825-551C-17B7FBCA97F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634323" y="228601"/>
            <a:ext cx="1875353" cy="99059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0585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F820AB4E-4F46-3C81-9BD0-65A4D2A2DBEC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94596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>
            <a:no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2024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0" name="Google Shape;101;p14">
            <a:extLst>
              <a:ext uri="{FF2B5EF4-FFF2-40B4-BE49-F238E27FC236}">
                <a16:creationId xmlns:a16="http://schemas.microsoft.com/office/drawing/2014/main" id="{C854E680-04A2-EA76-C6A6-8EF6A2AD0BB9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142575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2024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6" name="Google Shape;101;p14">
            <a:extLst>
              <a:ext uri="{FF2B5EF4-FFF2-40B4-BE49-F238E27FC236}">
                <a16:creationId xmlns:a16="http://schemas.microsoft.com/office/drawing/2014/main" id="{0E4BED26-AE3D-9FD7-372D-89389F76110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1955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2024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5" name="Google Shape;101;p14">
            <a:extLst>
              <a:ext uri="{FF2B5EF4-FFF2-40B4-BE49-F238E27FC236}">
                <a16:creationId xmlns:a16="http://schemas.microsoft.com/office/drawing/2014/main" id="{63FB725D-7839-2629-E2FD-4289B983E673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4983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ADE22408-2DD9-F1EF-2438-A0546996FB22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633184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2024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8" name="Google Shape;101;p14">
            <a:extLst>
              <a:ext uri="{FF2B5EF4-FFF2-40B4-BE49-F238E27FC236}">
                <a16:creationId xmlns:a16="http://schemas.microsoft.com/office/drawing/2014/main" id="{19CEB84E-A1D1-9AFA-DEC7-31056DF6BFAD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51165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1F852EF2-DB2E-EDA3-947F-AD7E6C19EBD8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8102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FALL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/>
          <a:lstStyle/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101;p14">
            <a:extLst>
              <a:ext uri="{FF2B5EF4-FFF2-40B4-BE49-F238E27FC236}">
                <a16:creationId xmlns:a16="http://schemas.microsoft.com/office/drawing/2014/main" id="{297A800C-E47B-35AC-0EA8-24F3738049A6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291293" y="228603"/>
            <a:ext cx="459642" cy="76199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02633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  <a:cs typeface="Forte Forward" panose="020F0502020204030204" pitchFamily="2" charset="0"/>
              </a:defRPr>
            </a:lvl1pPr>
          </a:lstStyle>
          <a:p>
            <a:r>
              <a:rPr lang="en-US"/>
              <a:t>FALL 2024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0777" y="6356351"/>
            <a:ext cx="576244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00" b="1">
                <a:solidFill>
                  <a:schemeClr val="tx1"/>
                </a:solidFill>
                <a:latin typeface="Franklin Gothic Book" panose="020B0503020102020204" pitchFamily="34" charset="0"/>
              </a:defRPr>
            </a:lvl1pPr>
          </a:lstStyle>
          <a:p>
            <a:fld id="{1A980C56-831A-4EAB-9EDE-57C090F4F877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7" name="Google Shape;91;p13">
            <a:extLst>
              <a:ext uri="{FF2B5EF4-FFF2-40B4-BE49-F238E27FC236}">
                <a16:creationId xmlns:a16="http://schemas.microsoft.com/office/drawing/2014/main" id="{9C136CE5-665B-2FA1-3A31-86C4E8EC1DBB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4230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259553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Franklin Gothic Book" panose="020B05030201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Franklin Gothic Book" panose="020B05030201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calendly.com/brianhwpark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981AA-C880-955A-8ACC-D4284C4A79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585" y="1122363"/>
            <a:ext cx="8108830" cy="2387600"/>
          </a:xfrm>
        </p:spPr>
        <p:txBody>
          <a:bodyPr>
            <a:normAutofit/>
          </a:bodyPr>
          <a:lstStyle/>
          <a:p>
            <a:r>
              <a:rPr lang="en-US" dirty="0"/>
              <a:t>Quiz #1 Review</a:t>
            </a:r>
            <a:endParaRPr lang="en-US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868834-9371-0482-209B-C2EBDB2D93F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ECON 300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3A60A-CBE6-B5CE-B9CE-C7DC93869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DF44A7-8470-0B18-F1D2-F47845ECB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6BCC6C-06D2-CC1B-BC1A-B87124A36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63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E1D0-AC50-75BC-2F86-0F207240C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#1 “Recovery” Office Hours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4D1D4-EA4B-DF09-BAF9-16891DCF1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https://calendly.com/brianhwpark</a:t>
            </a:r>
            <a:endParaRPr lang="en-US" dirty="0"/>
          </a:p>
          <a:p>
            <a:pPr lvl="4"/>
            <a:endParaRPr lang="en-US" dirty="0"/>
          </a:p>
          <a:p>
            <a:r>
              <a:rPr lang="en-US" dirty="0"/>
              <a:t>Venue: Rm. 248 Center for Science and Business</a:t>
            </a:r>
          </a:p>
          <a:p>
            <a:pPr lvl="3"/>
            <a:endParaRPr lang="en-US" dirty="0"/>
          </a:p>
          <a:p>
            <a:r>
              <a:rPr lang="en-US" dirty="0"/>
              <a:t>Dates: Sep. 9</a:t>
            </a:r>
            <a:r>
              <a:rPr lang="en-US" baseline="30000" dirty="0"/>
              <a:t>th</a:t>
            </a:r>
            <a:r>
              <a:rPr lang="en-US" dirty="0"/>
              <a:t> ~ Sep. 13</a:t>
            </a:r>
            <a:r>
              <a:rPr lang="en-US" baseline="30000" dirty="0"/>
              <a:t>th</a:t>
            </a:r>
            <a:r>
              <a:rPr lang="en-US" dirty="0"/>
              <a:t>, 2024</a:t>
            </a:r>
          </a:p>
          <a:p>
            <a:pPr lvl="3"/>
            <a:endParaRPr lang="en-US" dirty="0"/>
          </a:p>
          <a:p>
            <a:r>
              <a:rPr lang="en-US" dirty="0"/>
              <a:t>Length: 30 Minutes per Session</a:t>
            </a:r>
          </a:p>
          <a:p>
            <a:pPr lvl="3"/>
            <a:endParaRPr lang="en-US" dirty="0"/>
          </a:p>
          <a:p>
            <a:r>
              <a:rPr lang="en-US" dirty="0"/>
              <a:t>Use the Whiteboard / Paper to correct your answers.</a:t>
            </a:r>
          </a:p>
          <a:p>
            <a:pPr lvl="3"/>
            <a:endParaRPr lang="en-US" dirty="0"/>
          </a:p>
          <a:p>
            <a:r>
              <a:rPr lang="en-US" dirty="0"/>
              <a:t>Recovery Rate: 50%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B0351-3B31-0A13-EF20-C4A3CC07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33D7A-D6BD-BE76-F1E0-6547AA8CC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92573-8F29-6580-AFF7-797F8A981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312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E1D0-AC50-75BC-2F86-0F207240C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1.A.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B4D1D4-EA4B-DF09-BAF9-16891DCF12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You are walking into a pizzeria that sells slices of pizza and soft drinks. Each slice of pizza costs $6, and a soft drink costs $4, and your budget is $60.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If you are only interested in pizza, how many slices can you afford?</a:t>
                </a:r>
              </a:p>
              <a:p>
                <a:endParaRPr lang="en-US" sz="1600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$60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$6</m:t>
                        </m:r>
                      </m:den>
                    </m:f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 lvl="4"/>
                <a:endParaRPr lang="en-US" dirty="0">
                  <a:solidFill>
                    <a:srgbClr val="FF0000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Spending all your money on pizza, you can purchase 10 slices of pizza.</a:t>
                </a:r>
              </a:p>
              <a:p>
                <a:pPr lvl="1"/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B4D1D4-EA4B-DF09-BAF9-16891DCF12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B0351-3B31-0A13-EF20-C4A3CC07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33D7A-D6BD-BE76-F1E0-6547AA8CC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92573-8F29-6580-AFF7-797F8A981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203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E1D0-AC50-75BC-2F86-0F207240C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1.B.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B4D1D4-EA4B-DF09-BAF9-16891DCF12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You are walking into a pizzeria that sells slices of pizza and soft drinks. Each slice of pizza costs $6, and a soft drink costs $4, and your budget is $60.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If you are only interested in soft drinks, how many cups can you afford?</a:t>
                </a:r>
              </a:p>
              <a:p>
                <a:endParaRPr lang="en-US" sz="1600" dirty="0"/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$60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$4</m:t>
                        </m:r>
                      </m:den>
                    </m:f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=15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 lvl="4"/>
                <a:endParaRPr lang="en-US" dirty="0">
                  <a:solidFill>
                    <a:srgbClr val="FF0000"/>
                  </a:solidFill>
                </a:endParaRPr>
              </a:p>
              <a:p>
                <a:pPr lvl="1"/>
                <a:r>
                  <a:rPr lang="en-US" dirty="0">
                    <a:solidFill>
                      <a:srgbClr val="FF0000"/>
                    </a:solidFill>
                  </a:rPr>
                  <a:t>Spending all your money on soft drinks, you can purchase 15 cups.</a:t>
                </a:r>
              </a:p>
              <a:p>
                <a:pPr lvl="1"/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B4D1D4-EA4B-DF09-BAF9-16891DCF12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B0351-3B31-0A13-EF20-C4A3CC07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33D7A-D6BD-BE76-F1E0-6547AA8CC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92573-8F29-6580-AFF7-797F8A981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5716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E1D0-AC50-75BC-2F86-0F207240C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1.C.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4D1D4-EA4B-DF09-BAF9-16891DCF1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your answers from 1.A. and 1.B., plot your budget constraint below:</a:t>
            </a:r>
          </a:p>
          <a:p>
            <a:endParaRPr lang="en-US" sz="1600" dirty="0"/>
          </a:p>
          <a:p>
            <a:pPr lvl="1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B0351-3B31-0A13-EF20-C4A3CC07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33D7A-D6BD-BE76-F1E0-6547AA8CC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92573-8F29-6580-AFF7-797F8A981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5</a:t>
            </a:fld>
            <a:endParaRPr lang="en-US" dirty="0"/>
          </a:p>
        </p:txBody>
      </p:sp>
      <p:pic>
        <p:nvPicPr>
          <p:cNvPr id="10" name="Picture 9" descr="A red line graph on a white background&#10;&#10;Description automatically generated">
            <a:extLst>
              <a:ext uri="{FF2B5EF4-FFF2-40B4-BE49-F238E27FC236}">
                <a16:creationId xmlns:a16="http://schemas.microsoft.com/office/drawing/2014/main" id="{B39920AD-33FA-4B22-F707-590740A829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2654299"/>
            <a:ext cx="36576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2564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E1D0-AC50-75BC-2F86-0F207240C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1.D.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B4D1D4-EA4B-DF09-BAF9-16891DCF12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You are walking into a pizzeria that sells slices of pizza and soft drinks. Each slice of pizza costs $6, and a soft drink costs $4, and your budget is $60.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Express your budget constraint formally.</a:t>
                </a:r>
                <a:endParaRPr lang="en-US" b="0" dirty="0">
                  <a:solidFill>
                    <a:srgbClr val="FF0000"/>
                  </a:solidFill>
                </a:endParaRPr>
              </a:p>
              <a:p>
                <a:pPr marL="457200" lvl="1" indent="0">
                  <a:buNone/>
                </a:pPr>
                <a:endParaRPr lang="en-US" sz="160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6×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𝑃𝑖𝑧𝑧𝑎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+4×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𝑆𝑜𝑓𝑡𝐷𝑟𝑖𝑛𝑘𝑠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=60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B4D1D4-EA4B-DF09-BAF9-16891DCF12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B0351-3B31-0A13-EF20-C4A3CC07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33D7A-D6BD-BE76-F1E0-6547AA8CC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92573-8F29-6580-AFF7-797F8A981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01598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E1D0-AC50-75BC-2F86-0F207240C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1.E.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B4D1D4-EA4B-DF09-BAF9-16891DCF12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You are walking into a pizzeria that sells slices of pizza and soft drinks. Each slice of pizza costs $6, and a soft drink costs $4, and your budget is $60.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Calculate the slope of the budget line.</a:t>
                </a:r>
                <a:endParaRPr lang="en-US" b="0" dirty="0">
                  <a:solidFill>
                    <a:srgbClr val="FF0000"/>
                  </a:solidFill>
                </a:endParaRPr>
              </a:p>
              <a:p>
                <a:pPr marL="457200" lvl="1" indent="0">
                  <a:buNone/>
                </a:pPr>
                <a:endParaRPr lang="en-US" sz="160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𝑅𝑖𝑠𝑒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𝑅𝑢𝑛</m:t>
                        </m:r>
                      </m:den>
                    </m:f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−15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B4D1D4-EA4B-DF09-BAF9-16891DCF12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B0351-3B31-0A13-EF20-C4A3CC07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33D7A-D6BD-BE76-F1E0-6547AA8CC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92573-8F29-6580-AFF7-797F8A981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9930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E1D0-AC50-75BC-2F86-0F207240C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1.F.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4D1D4-EA4B-DF09-BAF9-16891DCF1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are walking into a pizzeria that sells slices of pizza and soft drinks. Each slice of pizza costs $6, and a soft drink costs $4, and your budget is $60.</a:t>
            </a:r>
          </a:p>
          <a:p>
            <a:pPr lvl="3"/>
            <a:endParaRPr lang="en-US" dirty="0"/>
          </a:p>
          <a:p>
            <a:r>
              <a:rPr lang="en-US" dirty="0"/>
              <a:t>In your own words, explain how you would interpret the slope of the budget line.</a:t>
            </a:r>
            <a:endParaRPr lang="en-US" b="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endParaRPr lang="en-US" sz="1600" i="1" dirty="0">
              <a:solidFill>
                <a:srgbClr val="FF0000"/>
              </a:solidFill>
              <a:latin typeface="Cambria Math" panose="02040503050406030204" pitchFamily="18" charset="0"/>
            </a:endParaRPr>
          </a:p>
          <a:p>
            <a:pPr lvl="1"/>
            <a:r>
              <a:rPr lang="en-US" dirty="0">
                <a:solidFill>
                  <a:srgbClr val="FF0000"/>
                </a:solidFill>
              </a:rPr>
              <a:t>The slope of the budget line represents the cups of soft drinks that you must give up to purchase one slice of pizza.</a:t>
            </a:r>
          </a:p>
          <a:p>
            <a:pPr lvl="3"/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dirty="0">
                <a:solidFill>
                  <a:srgbClr val="FF0000"/>
                </a:solidFill>
              </a:rPr>
              <a:t>“Market Rate of Exchange,” or the “Objective Rate of Exchange.”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B0351-3B31-0A13-EF20-C4A3CC07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33D7A-D6BD-BE76-F1E0-6547AA8CC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92573-8F29-6580-AFF7-797F8A981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431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E1D0-AC50-75BC-2F86-0F207240C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2.A.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4D1D4-EA4B-DF09-BAF9-16891DCF1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return to the pizzeria that sells slices of pizza and soft drinks. Now, each slice of pizza costs $6, and a soft drink costs $6, and your budget is still $60.</a:t>
            </a:r>
          </a:p>
          <a:p>
            <a:pPr lvl="3"/>
            <a:endParaRPr lang="en-US" dirty="0"/>
          </a:p>
          <a:p>
            <a:r>
              <a:rPr lang="en-US" dirty="0"/>
              <a:t>Did your budget set shrink or expand? Why?</a:t>
            </a:r>
            <a:endParaRPr lang="en-US" b="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endParaRPr lang="en-US" sz="1600" i="1" dirty="0">
              <a:solidFill>
                <a:srgbClr val="FF0000"/>
              </a:solidFill>
              <a:latin typeface="Cambria Math" panose="02040503050406030204" pitchFamily="18" charset="0"/>
            </a:endParaRPr>
          </a:p>
          <a:p>
            <a:pPr lvl="1"/>
            <a:r>
              <a:rPr lang="en-US" dirty="0">
                <a:solidFill>
                  <a:srgbClr val="FF0000"/>
                </a:solidFill>
              </a:rPr>
              <a:t>The budget set, which are the bundles that you can afford, will shrink since the price of goods has increased.</a:t>
            </a:r>
          </a:p>
          <a:p>
            <a:pPr lvl="3"/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B0351-3B31-0A13-EF20-C4A3CC07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33D7A-D6BD-BE76-F1E0-6547AA8CC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92573-8F29-6580-AFF7-797F8A981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768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E1D0-AC50-75BC-2F86-0F207240C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2.B.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B4D1D4-EA4B-DF09-BAF9-16891DCF12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You return to the pizzeria that sells slices of pizza and soft drinks. Now, each slice of pizza costs $6, and a soft drink costs $6, and your budget is still $60.</a:t>
                </a:r>
              </a:p>
              <a:p>
                <a:pPr lvl="3"/>
                <a:endParaRPr lang="en-US" dirty="0"/>
              </a:p>
              <a:p>
                <a:r>
                  <a:rPr lang="en-US" dirty="0"/>
                  <a:t>Express your new budget constraint formally.</a:t>
                </a:r>
                <a:endParaRPr lang="en-US" b="0" dirty="0">
                  <a:solidFill>
                    <a:srgbClr val="FF0000"/>
                  </a:solidFill>
                </a:endParaRPr>
              </a:p>
              <a:p>
                <a:pPr marL="457200" lvl="1" indent="0">
                  <a:buNone/>
                </a:pPr>
                <a:endParaRPr lang="en-US" sz="1600" i="1" dirty="0">
                  <a:solidFill>
                    <a:srgbClr val="FF0000"/>
                  </a:solidFill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6×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𝑃𝑖𝑧𝑧𝑎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+6×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𝑆𝑜𝑓𝑡𝐷𝑟𝑖𝑛𝑘𝑠</m:t>
                    </m:r>
                    <m:r>
                      <a:rPr lang="en-US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=60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8B4D1D4-EA4B-DF09-BAF9-16891DCF12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821" r="-1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B0351-3B31-0A13-EF20-C4A3CC07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33D7A-D6BD-BE76-F1E0-6547AA8CC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92573-8F29-6580-AFF7-797F8A981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0365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E1D0-AC50-75BC-2F86-0F207240C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2.C.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4D1D4-EA4B-DF09-BAF9-16891DCF1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Plot and label your old and new budget constraints below.</a:t>
            </a:r>
            <a:endParaRPr lang="en-US" sz="1600" i="1" dirty="0">
              <a:solidFill>
                <a:srgbClr val="FF0000"/>
              </a:solidFill>
              <a:latin typeface="Cambria Math" panose="020405030504060302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B0351-3B31-0A13-EF20-C4A3CC07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33D7A-D6BD-BE76-F1E0-6547AA8CC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92573-8F29-6580-AFF7-797F8A981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11</a:t>
            </a:fld>
            <a:endParaRPr lang="en-US" dirty="0"/>
          </a:p>
        </p:txBody>
      </p:sp>
      <p:pic>
        <p:nvPicPr>
          <p:cNvPr id="8" name="Picture 7" descr="A graph of a drink and pizza&#10;&#10;Description automatically generated">
            <a:extLst>
              <a:ext uri="{FF2B5EF4-FFF2-40B4-BE49-F238E27FC236}">
                <a16:creationId xmlns:a16="http://schemas.microsoft.com/office/drawing/2014/main" id="{632D23D6-99EE-4AFC-37AA-7085BD0EAC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2519363"/>
            <a:ext cx="36576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7364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E1D0-AC50-75BC-2F86-0F207240C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2.D.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4D1D4-EA4B-DF09-BAF9-16891DCF1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return to the pizzeria that sells slices of pizza and soft drinks. Now, each slice of pizza costs $6, and a soft drink costs $6, and your budget is still $60.</a:t>
            </a:r>
          </a:p>
          <a:p>
            <a:pPr lvl="3"/>
            <a:endParaRPr lang="en-US" dirty="0"/>
          </a:p>
          <a:p>
            <a:r>
              <a:rPr lang="en-US" dirty="0"/>
              <a:t>Would you have been happy with this change if you were the customer? Why?</a:t>
            </a:r>
            <a:endParaRPr lang="en-US" b="0" dirty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endParaRPr lang="en-US" sz="1600" i="1" dirty="0">
              <a:solidFill>
                <a:srgbClr val="FF0000"/>
              </a:solidFill>
              <a:latin typeface="Cambria Math" panose="02040503050406030204" pitchFamily="18" charset="0"/>
            </a:endParaRPr>
          </a:p>
          <a:p>
            <a:pPr lvl="1"/>
            <a:r>
              <a:rPr lang="en-US" dirty="0">
                <a:solidFill>
                  <a:srgbClr val="FF0000"/>
                </a:solidFill>
              </a:rPr>
              <a:t>In general, you would not be happy with this change, as your budget set is now smaller: you can afford less stuff.</a:t>
            </a:r>
          </a:p>
          <a:p>
            <a:pPr lvl="3"/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dirty="0">
                <a:solidFill>
                  <a:srgbClr val="FF0000"/>
                </a:solidFill>
              </a:rPr>
              <a:t>Exception being if you absolutely hate soft drinks, to the point that consuming them would cause discomfort. That is, if soft drinks are “bads” not “goods.”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B0351-3B31-0A13-EF20-C4A3CC07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33D7A-D6BD-BE76-F1E0-6547AA8CC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92573-8F29-6580-AFF7-797F8A981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7017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5E1D0-AC50-75BC-2F86-0F207240C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2.E.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4D1D4-EA4B-DF09-BAF9-16891DCF12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You return to the pizzeria that sells slices of pizza and soft drinks. Now, each slice of pizza costs $6, and a soft drink costs $6, and your budget is still $60.</a:t>
            </a:r>
          </a:p>
          <a:p>
            <a:pPr lvl="3"/>
            <a:endParaRPr lang="en-US" dirty="0"/>
          </a:p>
          <a:p>
            <a:r>
              <a:rPr lang="en-US" dirty="0"/>
              <a:t>If you had no information about someone’s preferences, would you be able to tell if they were more or less happy due to this change in prices? How? Why?</a:t>
            </a:r>
          </a:p>
          <a:p>
            <a:endParaRPr lang="en-US" sz="1600" i="1" dirty="0">
              <a:solidFill>
                <a:srgbClr val="FF0000"/>
              </a:solidFill>
              <a:latin typeface="Cambria Math" panose="02040503050406030204" pitchFamily="18" charset="0"/>
            </a:endParaRPr>
          </a:p>
          <a:p>
            <a:pPr lvl="1"/>
            <a:r>
              <a:rPr lang="en-US" dirty="0">
                <a:solidFill>
                  <a:srgbClr val="FF0000"/>
                </a:solidFill>
              </a:rPr>
              <a:t>Effectively the same question as problem 2.D.</a:t>
            </a:r>
          </a:p>
          <a:p>
            <a:pPr lvl="4"/>
            <a:endParaRPr lang="en-US" dirty="0">
              <a:solidFill>
                <a:srgbClr val="FF0000"/>
              </a:solidFill>
            </a:endParaRPr>
          </a:p>
          <a:p>
            <a:pPr lvl="1"/>
            <a:r>
              <a:rPr lang="en-US" dirty="0">
                <a:solidFill>
                  <a:srgbClr val="FF0000"/>
                </a:solidFill>
              </a:rPr>
              <a:t>The only difference is that you can’t determine if soft drinks are goods or bads for the consumer.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FB0351-3B31-0A13-EF20-C4A3CC072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2024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33D7A-D6BD-BE76-F1E0-6547AA8CC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DEPARTMENT OF BUSINESS &amp; ECONOMICS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92573-8F29-6580-AFF7-797F8A9819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980C56-831A-4EAB-9EDE-57C090F4F87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6377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CF630E01-D107-42E5-8DFC-48302BB3DFE2}" vid="{4BEE81CA-F64C-419F-A97B-23D16F4EA3D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mc-presentation-template</Template>
  <TotalTime>3474</TotalTime>
  <Words>938</Words>
  <Application>Microsoft Office PowerPoint</Application>
  <PresentationFormat>On-screen Show (4:3)</PresentationFormat>
  <Paragraphs>121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 Math</vt:lpstr>
      <vt:lpstr>Franklin Gothic Book</vt:lpstr>
      <vt:lpstr>Office Theme</vt:lpstr>
      <vt:lpstr>Quiz #1 Review</vt:lpstr>
      <vt:lpstr>Quiz #1 “Recovery” Office Hours</vt:lpstr>
      <vt:lpstr>Problem 1.A.</vt:lpstr>
      <vt:lpstr>Problem 1.B.</vt:lpstr>
      <vt:lpstr>Problem 1.C.</vt:lpstr>
      <vt:lpstr>Problem 1.D.</vt:lpstr>
      <vt:lpstr>Problem 1.E.</vt:lpstr>
      <vt:lpstr>Problem 1.F.</vt:lpstr>
      <vt:lpstr>Problem 2.A.</vt:lpstr>
      <vt:lpstr>Problem 2.B.</vt:lpstr>
      <vt:lpstr>Problem 2.C.</vt:lpstr>
      <vt:lpstr>Problem 2.D.</vt:lpstr>
      <vt:lpstr>Problem 2.E.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Intermediate Price Theory</dc:title>
  <dc:creator>Brian Park</dc:creator>
  <cp:lastModifiedBy>Brian Park</cp:lastModifiedBy>
  <cp:revision>69</cp:revision>
  <dcterms:created xsi:type="dcterms:W3CDTF">2023-08-17T23:00:51Z</dcterms:created>
  <dcterms:modified xsi:type="dcterms:W3CDTF">2024-09-03T23:16:26Z</dcterms:modified>
</cp:coreProperties>
</file>