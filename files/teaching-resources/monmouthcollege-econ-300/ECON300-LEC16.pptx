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20" r:id="rId1"/>
  </p:sldMasterIdLst>
  <p:notesMasterIdLst>
    <p:notesMasterId r:id="rId52"/>
  </p:notesMasterIdLst>
  <p:sldIdLst>
    <p:sldId id="256" r:id="rId2"/>
    <p:sldId id="358" r:id="rId3"/>
    <p:sldId id="359" r:id="rId4"/>
    <p:sldId id="360" r:id="rId5"/>
    <p:sldId id="361" r:id="rId6"/>
    <p:sldId id="362" r:id="rId7"/>
    <p:sldId id="364" r:id="rId8"/>
    <p:sldId id="363" r:id="rId9"/>
    <p:sldId id="365" r:id="rId10"/>
    <p:sldId id="366" r:id="rId11"/>
    <p:sldId id="367" r:id="rId12"/>
    <p:sldId id="368" r:id="rId13"/>
    <p:sldId id="370" r:id="rId14"/>
    <p:sldId id="369" r:id="rId15"/>
    <p:sldId id="372" r:id="rId16"/>
    <p:sldId id="373" r:id="rId17"/>
    <p:sldId id="378" r:id="rId18"/>
    <p:sldId id="379" r:id="rId19"/>
    <p:sldId id="371" r:id="rId20"/>
    <p:sldId id="375" r:id="rId21"/>
    <p:sldId id="376" r:id="rId22"/>
    <p:sldId id="377" r:id="rId23"/>
    <p:sldId id="380" r:id="rId24"/>
    <p:sldId id="381" r:id="rId25"/>
    <p:sldId id="382" r:id="rId26"/>
    <p:sldId id="383" r:id="rId27"/>
    <p:sldId id="384" r:id="rId28"/>
    <p:sldId id="387" r:id="rId29"/>
    <p:sldId id="385" r:id="rId30"/>
    <p:sldId id="386" r:id="rId31"/>
    <p:sldId id="388" r:id="rId32"/>
    <p:sldId id="393" r:id="rId33"/>
    <p:sldId id="392" r:id="rId34"/>
    <p:sldId id="389" r:id="rId35"/>
    <p:sldId id="394" r:id="rId36"/>
    <p:sldId id="390" r:id="rId37"/>
    <p:sldId id="395" r:id="rId38"/>
    <p:sldId id="396" r:id="rId39"/>
    <p:sldId id="398" r:id="rId40"/>
    <p:sldId id="401" r:id="rId41"/>
    <p:sldId id="397" r:id="rId42"/>
    <p:sldId id="399" r:id="rId43"/>
    <p:sldId id="400" r:id="rId44"/>
    <p:sldId id="451" r:id="rId45"/>
    <p:sldId id="452" r:id="rId46"/>
    <p:sldId id="453" r:id="rId47"/>
    <p:sldId id="454" r:id="rId48"/>
    <p:sldId id="455" r:id="rId49"/>
    <p:sldId id="456" r:id="rId50"/>
    <p:sldId id="465" r:id="rId51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D4282F"/>
    <a:srgbClr val="00FF00"/>
    <a:srgbClr val="9C5BCD"/>
    <a:srgbClr val="00FFFF"/>
    <a:srgbClr val="E05F65"/>
    <a:srgbClr val="F5CFD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85BE263C-DBD7-4A20-BB59-AAB30ACAA65A}" styleName="Medium Style 3 - Accent 2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37CE84F3-28C3-443E-9E96-99CF82512B78}" styleName="Dark Style 1 - Accent 2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2"/>
          </a:solidFill>
        </a:fill>
      </a:tcStyle>
    </a:wholeTbl>
    <a:band1H>
      <a:tcStyle>
        <a:tcBdr/>
        <a:fill>
          <a:solidFill>
            <a:schemeClr val="accent2">
              <a:shade val="60000"/>
            </a:schemeClr>
          </a:solidFill>
        </a:fill>
      </a:tcStyle>
    </a:band1H>
    <a:band1V>
      <a:tcStyle>
        <a:tcBdr/>
        <a:fill>
          <a:solidFill>
            <a:schemeClr val="accent2">
              <a:shade val="6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accent2">
              <a:shade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accent2">
              <a:shade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accent2">
              <a:shade val="4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284E427A-3D55-4303-BF80-6455036E1DE7}" styleName="Themed Style 1 - Accent 2">
    <a:tblBg>
      <a:fillRef idx="2">
        <a:schemeClr val="accent2"/>
      </a:fillRef>
      <a:effectRef idx="1">
        <a:schemeClr val="accent2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Ref idx="1">
              <a:schemeClr val="accent2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</a:tcBdr>
        <a:fill>
          <a:solidFill>
            <a:schemeClr val="accent2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2"/>
            </a:lnRef>
          </a:left>
          <a:right>
            <a:lnRef idx="2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2">
              <a:schemeClr val="accent2"/>
            </a:lnRef>
          </a:top>
          <a:bottom>
            <a:lnRef idx="2">
              <a:schemeClr val="accent2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2"/>
          </a:solidFill>
        </a:fill>
      </a:tcStyle>
    </a:firstRow>
  </a:tblStyle>
  <a:tblStyle styleId="{72833802-FEF1-4C79-8D5D-14CF1EAF98D9}" styleName="Light Style 2 - Accent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</a:tcBdr>
      </a:tcStyle>
    </a:band1H>
    <a:band1V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</a:tcBdr>
      </a:tcStyle>
    </a:band1V>
    <a:band2V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2"/>
        </a:fillRef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F2DE63D5-997A-4646-A377-4702673A728D}" styleName="Light Style 2 - Accent 3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</a:tcStyle>
    </a:band1H>
    <a:band1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1V>
    <a:band2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3"/>
        </a:fillRef>
      </a:tcStyle>
    </a:firstRow>
  </a:tblStyle>
  <a:tblStyle styleId="{9D7B26C5-4107-4FEC-AEDC-1716B250A1EF}" styleName="Light Style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7E9639D4-E3E2-4D34-9284-5A2195B3D0D7}" styleName="Light Style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  <a:top>
            <a:lnRef idx="1">
              <a:schemeClr val="tx1"/>
            </a:lnRef>
          </a:top>
          <a:bottom>
            <a:lnRef idx="1">
              <a:schemeClr val="tx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tx1"/>
            </a:lnRef>
          </a:top>
          <a:bottom>
            <a:lnRef idx="1">
              <a:schemeClr val="tx1"/>
            </a:lnRef>
          </a:bottom>
        </a:tcBdr>
      </a:tcStyle>
    </a:band1H>
    <a:band1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1V>
    <a:band2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tx1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0084" autoAdjust="0"/>
    <p:restoredTop sz="94660"/>
  </p:normalViewPr>
  <p:slideViewPr>
    <p:cSldViewPr snapToGrid="0">
      <p:cViewPr varScale="1">
        <p:scale>
          <a:sx n="111" d="100"/>
          <a:sy n="111" d="100"/>
        </p:scale>
        <p:origin x="1932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theme" Target="theme/theme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tableStyles" Target="tableStyles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E0A6441-4E79-42FF-805B-86C90BDFD38D}" type="datetimeFigureOut">
              <a:rPr lang="en-US" smtClean="0"/>
              <a:t>10/21/2023</a:t>
            </a:fld>
            <a:endParaRPr lang="en-US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4A29054-221E-4755-818D-C35A08AFDBE7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4278534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122363"/>
            <a:ext cx="7772400" cy="2387600"/>
          </a:xfrm>
        </p:spPr>
        <p:txBody>
          <a:bodyPr anchor="b">
            <a:normAutofit/>
          </a:bodyPr>
          <a:lstStyle>
            <a:lvl1pPr algn="ctr">
              <a:defRPr sz="4400">
                <a:solidFill>
                  <a:srgbClr val="C00000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43000" y="3602038"/>
            <a:ext cx="6858000" cy="1655762"/>
          </a:xfrm>
        </p:spPr>
        <p:txBody>
          <a:bodyPr>
            <a:normAutofit/>
          </a:bodyPr>
          <a:lstStyle>
            <a:lvl1pPr marL="0" indent="0" algn="ctr">
              <a:buNone/>
              <a:defRPr sz="3200" b="1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r>
              <a:rPr lang="en-US" dirty="0"/>
              <a:t>Fall 2023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DEPARTMENT OF BUSINESS &amp; ECONOMICS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fld id="{1A980C56-831A-4EAB-9EDE-57C090F4F877}" type="slidenum">
              <a:rPr lang="en-US" smtClean="0"/>
              <a:t>‹#›</a:t>
            </a:fld>
            <a:endParaRPr lang="en-US" dirty="0"/>
          </a:p>
        </p:txBody>
      </p:sp>
      <p:pic>
        <p:nvPicPr>
          <p:cNvPr id="7" name="Google Shape;92;p13">
            <a:extLst>
              <a:ext uri="{FF2B5EF4-FFF2-40B4-BE49-F238E27FC236}">
                <a16:creationId xmlns:a16="http://schemas.microsoft.com/office/drawing/2014/main" id="{BF16982E-3E38-0665-4F07-437DD3F0D5A4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3634323" y="228601"/>
            <a:ext cx="1875353" cy="990599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81354969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r>
              <a:rPr lang="en-US" dirty="0"/>
              <a:t>Fall 2023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DEPARTMENT OF BUSINESS &amp; ECONOMICS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fld id="{1A980C56-831A-4EAB-9EDE-57C090F4F877}" type="slidenum">
              <a:rPr lang="en-US" smtClean="0"/>
              <a:t>‹#›</a:t>
            </a:fld>
            <a:endParaRPr lang="en-US" dirty="0"/>
          </a:p>
        </p:txBody>
      </p:sp>
      <p:pic>
        <p:nvPicPr>
          <p:cNvPr id="7" name="Google Shape;101;p14">
            <a:extLst>
              <a:ext uri="{FF2B5EF4-FFF2-40B4-BE49-F238E27FC236}">
                <a16:creationId xmlns:a16="http://schemas.microsoft.com/office/drawing/2014/main" id="{859BA894-242B-5A6C-EFD3-428444AAFEC4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8291293" y="228603"/>
            <a:ext cx="459642" cy="761998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419735581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888" y="1709739"/>
            <a:ext cx="7886700" cy="2852737"/>
          </a:xfrm>
        </p:spPr>
        <p:txBody>
          <a:bodyPr anchor="b">
            <a:normAutofit/>
          </a:bodyPr>
          <a:lstStyle>
            <a:lvl1pPr>
              <a:defRPr sz="4400">
                <a:solidFill>
                  <a:srgbClr val="C00000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3888" y="4589464"/>
            <a:ext cx="7886700" cy="1500187"/>
          </a:xfrm>
        </p:spPr>
        <p:txBody>
          <a:bodyPr>
            <a:normAutofit/>
          </a:bodyPr>
          <a:lstStyle>
            <a:lvl1pPr marL="0" indent="0" algn="ctr">
              <a:buNone/>
              <a:defRPr sz="3200" b="1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r>
              <a:rPr lang="en-US" dirty="0"/>
              <a:t>Fall 2023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DEPARTMENT OF BUSINESS &amp; ECONOMICS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fld id="{1A980C56-831A-4EAB-9EDE-57C090F4F877}" type="slidenum">
              <a:rPr lang="en-US" smtClean="0"/>
              <a:t>‹#›</a:t>
            </a:fld>
            <a:endParaRPr lang="en-US" dirty="0"/>
          </a:p>
        </p:txBody>
      </p:sp>
      <p:pic>
        <p:nvPicPr>
          <p:cNvPr id="8" name="Google Shape;92;p13">
            <a:extLst>
              <a:ext uri="{FF2B5EF4-FFF2-40B4-BE49-F238E27FC236}">
                <a16:creationId xmlns:a16="http://schemas.microsoft.com/office/drawing/2014/main" id="{A5DC9873-6BF3-A825-551C-17B7FBCA97F5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3634323" y="228601"/>
            <a:ext cx="1875353" cy="990599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315058561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28650" y="1825625"/>
            <a:ext cx="3886200" cy="4351338"/>
          </a:xfrm>
        </p:spPr>
        <p:txBody>
          <a:bodyPr>
            <a:normAutofit/>
          </a:bodyPr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29150" y="1825625"/>
            <a:ext cx="3886200" cy="4351338"/>
          </a:xfrm>
        </p:spPr>
        <p:txBody>
          <a:bodyPr>
            <a:normAutofit/>
          </a:bodyPr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r>
              <a:rPr lang="en-US" dirty="0"/>
              <a:t>Fall 2023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DEPARTMENT OF BUSINESS &amp; ECONOMICS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fld id="{1A980C56-831A-4EAB-9EDE-57C090F4F877}" type="slidenum">
              <a:rPr lang="en-US" smtClean="0"/>
              <a:t>‹#›</a:t>
            </a:fld>
            <a:endParaRPr lang="en-US" dirty="0"/>
          </a:p>
        </p:txBody>
      </p:sp>
      <p:pic>
        <p:nvPicPr>
          <p:cNvPr id="8" name="Google Shape;101;p14">
            <a:extLst>
              <a:ext uri="{FF2B5EF4-FFF2-40B4-BE49-F238E27FC236}">
                <a16:creationId xmlns:a16="http://schemas.microsoft.com/office/drawing/2014/main" id="{F820AB4E-4F46-3C81-9BD0-65A4D2A2DBEC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8291293" y="228603"/>
            <a:ext cx="459642" cy="761998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199459624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365126"/>
            <a:ext cx="78867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9842" y="1681163"/>
            <a:ext cx="3868340" cy="823912"/>
          </a:xfrm>
        </p:spPr>
        <p:txBody>
          <a:bodyPr anchor="b">
            <a:noAutofit/>
          </a:bodyPr>
          <a:lstStyle>
            <a:lvl1pPr marL="0" indent="0">
              <a:buNone/>
              <a:defRPr sz="28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9842" y="2505075"/>
            <a:ext cx="3868340" cy="3684588"/>
          </a:xfrm>
        </p:spPr>
        <p:txBody>
          <a:bodyPr>
            <a:normAutofit/>
          </a:bodyPr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29150" y="1681163"/>
            <a:ext cx="3887391" cy="823912"/>
          </a:xfrm>
        </p:spPr>
        <p:txBody>
          <a:bodyPr anchor="b">
            <a:noAutofit/>
          </a:bodyPr>
          <a:lstStyle>
            <a:lvl1pPr marL="0" indent="0">
              <a:buNone/>
              <a:defRPr sz="28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29150" y="2505075"/>
            <a:ext cx="3887391" cy="3684588"/>
          </a:xfrm>
        </p:spPr>
        <p:txBody>
          <a:bodyPr>
            <a:normAutofit/>
          </a:bodyPr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r>
              <a:rPr lang="en-US" dirty="0"/>
              <a:t>Fall 2023</a:t>
            </a:r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DEPARTMENT OF BUSINESS &amp; ECONOMICS</a:t>
            </a:r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fld id="{1A980C56-831A-4EAB-9EDE-57C090F4F877}" type="slidenum">
              <a:rPr lang="en-US" smtClean="0"/>
              <a:t>‹#›</a:t>
            </a:fld>
            <a:endParaRPr lang="en-US" dirty="0"/>
          </a:p>
        </p:txBody>
      </p:sp>
      <p:pic>
        <p:nvPicPr>
          <p:cNvPr id="10" name="Google Shape;101;p14">
            <a:extLst>
              <a:ext uri="{FF2B5EF4-FFF2-40B4-BE49-F238E27FC236}">
                <a16:creationId xmlns:a16="http://schemas.microsoft.com/office/drawing/2014/main" id="{C854E680-04A2-EA76-C6A6-8EF6A2AD0BB9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8291293" y="228603"/>
            <a:ext cx="459642" cy="761998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51425751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r>
              <a:rPr lang="en-US" dirty="0"/>
              <a:t>Fall 2023</a:t>
            </a: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DEPARTMENT OF BUSINESS &amp; ECONOMICS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fld id="{1A980C56-831A-4EAB-9EDE-57C090F4F877}" type="slidenum">
              <a:rPr lang="en-US" smtClean="0"/>
              <a:t>‹#›</a:t>
            </a:fld>
            <a:endParaRPr lang="en-US" dirty="0"/>
          </a:p>
        </p:txBody>
      </p:sp>
      <p:pic>
        <p:nvPicPr>
          <p:cNvPr id="6" name="Google Shape;101;p14">
            <a:extLst>
              <a:ext uri="{FF2B5EF4-FFF2-40B4-BE49-F238E27FC236}">
                <a16:creationId xmlns:a16="http://schemas.microsoft.com/office/drawing/2014/main" id="{0E4BED26-AE3D-9FD7-372D-89389F761105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8291293" y="228603"/>
            <a:ext cx="459642" cy="761998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155195565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r>
              <a:rPr lang="en-US" dirty="0"/>
              <a:t>Fall 2023</a:t>
            </a:r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DEPARTMENT OF BUSINESS &amp; ECONOMICS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fld id="{1A980C56-831A-4EAB-9EDE-57C090F4F877}" type="slidenum">
              <a:rPr lang="en-US" smtClean="0"/>
              <a:t>‹#›</a:t>
            </a:fld>
            <a:endParaRPr lang="en-US" dirty="0"/>
          </a:p>
        </p:txBody>
      </p:sp>
      <p:pic>
        <p:nvPicPr>
          <p:cNvPr id="5" name="Google Shape;101;p14">
            <a:extLst>
              <a:ext uri="{FF2B5EF4-FFF2-40B4-BE49-F238E27FC236}">
                <a16:creationId xmlns:a16="http://schemas.microsoft.com/office/drawing/2014/main" id="{63FB725D-7839-2629-E2FD-4289B983E673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8291293" y="228603"/>
            <a:ext cx="459642" cy="761998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37498305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87391" y="987426"/>
            <a:ext cx="4629150" cy="4873625"/>
          </a:xfrm>
        </p:spPr>
        <p:txBody>
          <a:bodyPr>
            <a:normAutofit/>
          </a:bodyPr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r>
              <a:rPr lang="en-US" dirty="0"/>
              <a:t>Fall 2023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DEPARTMENT OF BUSINESS &amp; ECONOMICS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fld id="{1A980C56-831A-4EAB-9EDE-57C090F4F877}" type="slidenum">
              <a:rPr lang="en-US" smtClean="0"/>
              <a:t>‹#›</a:t>
            </a:fld>
            <a:endParaRPr lang="en-US" dirty="0"/>
          </a:p>
        </p:txBody>
      </p:sp>
      <p:pic>
        <p:nvPicPr>
          <p:cNvPr id="8" name="Google Shape;101;p14">
            <a:extLst>
              <a:ext uri="{FF2B5EF4-FFF2-40B4-BE49-F238E27FC236}">
                <a16:creationId xmlns:a16="http://schemas.microsoft.com/office/drawing/2014/main" id="{ADE22408-2DD9-F1EF-2438-A0546996FB22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8291293" y="228603"/>
            <a:ext cx="459642" cy="761998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263318460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887391" y="987426"/>
            <a:ext cx="462915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r>
              <a:rPr lang="en-US" dirty="0"/>
              <a:t>Fall 2023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DEPARTMENT OF BUSINESS &amp; ECONOMICS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fld id="{1A980C56-831A-4EAB-9EDE-57C090F4F877}" type="slidenum">
              <a:rPr lang="en-US" smtClean="0"/>
              <a:t>‹#›</a:t>
            </a:fld>
            <a:endParaRPr lang="en-US" dirty="0"/>
          </a:p>
        </p:txBody>
      </p:sp>
      <p:pic>
        <p:nvPicPr>
          <p:cNvPr id="8" name="Google Shape;101;p14">
            <a:extLst>
              <a:ext uri="{FF2B5EF4-FFF2-40B4-BE49-F238E27FC236}">
                <a16:creationId xmlns:a16="http://schemas.microsoft.com/office/drawing/2014/main" id="{19CEB84E-A1D1-9AFA-DEC7-31056DF6BFAD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8291293" y="228603"/>
            <a:ext cx="459642" cy="761998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235116564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>
            <a:normAutofit/>
          </a:bodyPr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r>
              <a:rPr lang="en-US" dirty="0"/>
              <a:t>Fall 2023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DEPARTMENT OF BUSINESS &amp; ECONOMICS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fld id="{1A980C56-831A-4EAB-9EDE-57C090F4F877}" type="slidenum">
              <a:rPr lang="en-US" smtClean="0"/>
              <a:t>‹#›</a:t>
            </a:fld>
            <a:endParaRPr lang="en-US" dirty="0"/>
          </a:p>
        </p:txBody>
      </p:sp>
      <p:pic>
        <p:nvPicPr>
          <p:cNvPr id="7" name="Google Shape;101;p14">
            <a:extLst>
              <a:ext uri="{FF2B5EF4-FFF2-40B4-BE49-F238E27FC236}">
                <a16:creationId xmlns:a16="http://schemas.microsoft.com/office/drawing/2014/main" id="{1F852EF2-DB2E-EDA3-947F-AD7E6C19EBD8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8291293" y="228603"/>
            <a:ext cx="459642" cy="761998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393810247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543675" y="365125"/>
            <a:ext cx="1971675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28650" y="365125"/>
            <a:ext cx="5800725" cy="5811838"/>
          </a:xfrm>
        </p:spPr>
        <p:txBody>
          <a:bodyPr vert="eaVert"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r>
              <a:rPr lang="en-US" dirty="0"/>
              <a:t>Fall 2023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DEPARTMENT OF BUSINESS &amp; ECONOMICS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fld id="{1A980C56-831A-4EAB-9EDE-57C090F4F877}" type="slidenum">
              <a:rPr lang="en-US" smtClean="0"/>
              <a:t>‹#›</a:t>
            </a:fld>
            <a:endParaRPr lang="en-US" dirty="0"/>
          </a:p>
        </p:txBody>
      </p:sp>
      <p:pic>
        <p:nvPicPr>
          <p:cNvPr id="7" name="Google Shape;101;p14">
            <a:extLst>
              <a:ext uri="{FF2B5EF4-FFF2-40B4-BE49-F238E27FC236}">
                <a16:creationId xmlns:a16="http://schemas.microsoft.com/office/drawing/2014/main" id="{297A800C-E47B-35AC-0EA8-24F3738049A6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8291293" y="228603"/>
            <a:ext cx="459642" cy="761998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90263333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8650" y="1825625"/>
            <a:ext cx="78867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300" b="1">
                <a:solidFill>
                  <a:schemeClr val="tx1"/>
                </a:solidFill>
                <a:latin typeface="Franklin Gothic Book" panose="020B0503020102020204" pitchFamily="34" charset="0"/>
                <a:cs typeface="Forte Forward" panose="020F0502020204030204" pitchFamily="2" charset="0"/>
              </a:defRPr>
            </a:lvl1pPr>
          </a:lstStyle>
          <a:p>
            <a:r>
              <a:rPr lang="en-US" dirty="0"/>
              <a:t>Fall 2023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690777" y="6356351"/>
            <a:ext cx="5762446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300" b="1">
                <a:solidFill>
                  <a:schemeClr val="tx1"/>
                </a:solidFill>
                <a:latin typeface="Franklin Gothic Book" panose="020B0503020102020204" pitchFamily="34" charset="0"/>
              </a:defRPr>
            </a:lvl1pPr>
          </a:lstStyle>
          <a:p>
            <a:r>
              <a:rPr lang="en-US" dirty="0"/>
              <a:t>DEPARTMENT OF BUSINESS &amp; ECONOMICS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300" b="1">
                <a:solidFill>
                  <a:schemeClr val="tx1"/>
                </a:solidFill>
                <a:latin typeface="Franklin Gothic Book" panose="020B0503020102020204" pitchFamily="34" charset="0"/>
              </a:defRPr>
            </a:lvl1pPr>
          </a:lstStyle>
          <a:p>
            <a:fld id="{1A980C56-831A-4EAB-9EDE-57C090F4F877}" type="slidenum">
              <a:rPr lang="en-US" smtClean="0"/>
              <a:t>‹#›</a:t>
            </a:fld>
            <a:endParaRPr lang="en-US" dirty="0"/>
          </a:p>
        </p:txBody>
      </p:sp>
      <p:pic>
        <p:nvPicPr>
          <p:cNvPr id="7" name="Google Shape;91;p13">
            <a:extLst>
              <a:ext uri="{FF2B5EF4-FFF2-40B4-BE49-F238E27FC236}">
                <a16:creationId xmlns:a16="http://schemas.microsoft.com/office/drawing/2014/main" id="{9C136CE5-665B-2FA1-3A31-86C4E8EC1DBB}"/>
              </a:ext>
            </a:extLst>
          </p:cNvPr>
          <p:cNvPicPr preferRelativeResize="0"/>
          <p:nvPr/>
        </p:nvPicPr>
        <p:blipFill rotWithShape="1">
          <a:blip r:embed="rId13">
            <a:alphaModFix/>
          </a:blip>
          <a:srcRect/>
          <a:stretch/>
        </p:blipFill>
        <p:spPr>
          <a:xfrm>
            <a:off x="0" y="0"/>
            <a:ext cx="9144000" cy="423060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382595532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21" r:id="rId1"/>
    <p:sldLayoutId id="2147483722" r:id="rId2"/>
    <p:sldLayoutId id="2147483723" r:id="rId3"/>
    <p:sldLayoutId id="2147483724" r:id="rId4"/>
    <p:sldLayoutId id="2147483725" r:id="rId5"/>
    <p:sldLayoutId id="2147483726" r:id="rId6"/>
    <p:sldLayoutId id="2147483727" r:id="rId7"/>
    <p:sldLayoutId id="2147483728" r:id="rId8"/>
    <p:sldLayoutId id="2147483729" r:id="rId9"/>
    <p:sldLayoutId id="2147483730" r:id="rId10"/>
    <p:sldLayoutId id="2147483731" r:id="rId11"/>
  </p:sldLayoutIdLst>
  <p:hf hdr="0"/>
  <p:txStyles>
    <p:titleStyle>
      <a:lvl1pPr algn="ctr" defTabSz="914400" rtl="0" eaLnBrk="1" latinLnBrk="0" hangingPunct="1">
        <a:lnSpc>
          <a:spcPct val="90000"/>
        </a:lnSpc>
        <a:spcBef>
          <a:spcPct val="0"/>
        </a:spcBef>
        <a:buNone/>
        <a:defRPr sz="3600" b="1" kern="1200">
          <a:solidFill>
            <a:schemeClr val="tx1"/>
          </a:solidFill>
          <a:latin typeface="Franklin Gothic Book" panose="020B0503020102020204" pitchFamily="34" charset="0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Franklin Gothic Book" panose="020B0503020102020204" pitchFamily="34" charset="0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Franklin Gothic Book" panose="020B0503020102020204" pitchFamily="34" charset="0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Franklin Gothic Book" panose="020B0503020102020204" pitchFamily="34" charset="0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Franklin Gothic Book" panose="020B0503020102020204" pitchFamily="34" charset="0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Franklin Gothic Book" panose="020B0503020102020204" pitchFamily="34" charset="0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5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4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4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4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4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4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4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4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4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4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4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4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4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4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png"/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4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png"/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4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.png"/><Relationship Id="rId2" Type="http://schemas.openxmlformats.org/officeDocument/2006/relationships/image" Target="../media/image44.png"/><Relationship Id="rId1" Type="http://schemas.openxmlformats.org/officeDocument/2006/relationships/slideLayout" Target="../slideLayouts/slideLayout4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7.png"/><Relationship Id="rId2" Type="http://schemas.openxmlformats.org/officeDocument/2006/relationships/image" Target="../media/image46.png"/><Relationship Id="rId1" Type="http://schemas.openxmlformats.org/officeDocument/2006/relationships/slideLayout" Target="../slideLayouts/slideLayout4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9.png"/><Relationship Id="rId2" Type="http://schemas.openxmlformats.org/officeDocument/2006/relationships/image" Target="../media/image48.png"/><Relationship Id="rId1" Type="http://schemas.openxmlformats.org/officeDocument/2006/relationships/slideLayout" Target="../slideLayouts/slideLayout4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1.png"/><Relationship Id="rId2" Type="http://schemas.openxmlformats.org/officeDocument/2006/relationships/image" Target="../media/image50.png"/><Relationship Id="rId1" Type="http://schemas.openxmlformats.org/officeDocument/2006/relationships/slideLayout" Target="../slideLayouts/slideLayout4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2.png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3.png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4.png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5.png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6.png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7.png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8.png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9.png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1.png"/><Relationship Id="rId2" Type="http://schemas.openxmlformats.org/officeDocument/2006/relationships/image" Target="../media/image60.png"/><Relationship Id="rId1" Type="http://schemas.openxmlformats.org/officeDocument/2006/relationships/slideLayout" Target="../slideLayouts/slideLayout5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2.png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4.png"/><Relationship Id="rId2" Type="http://schemas.openxmlformats.org/officeDocument/2006/relationships/image" Target="../media/image63.png"/><Relationship Id="rId1" Type="http://schemas.openxmlformats.org/officeDocument/2006/relationships/slideLayout" Target="../slideLayouts/slideLayout5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6.png"/><Relationship Id="rId2" Type="http://schemas.openxmlformats.org/officeDocument/2006/relationships/image" Target="../media/image65.png"/><Relationship Id="rId1" Type="http://schemas.openxmlformats.org/officeDocument/2006/relationships/slideLayout" Target="../slideLayouts/slideLayout4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7.png"/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8.png"/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0.png"/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9.png"/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0.png"/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image" Target="../media/image71.png"/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3.png"/><Relationship Id="rId2" Type="http://schemas.openxmlformats.org/officeDocument/2006/relationships/image" Target="../media/image72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74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0981AA-C880-955A-8ACC-D4284C4A793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17585" y="1122363"/>
            <a:ext cx="8108830" cy="2387600"/>
          </a:xfrm>
        </p:spPr>
        <p:txBody>
          <a:bodyPr>
            <a:normAutofit/>
          </a:bodyPr>
          <a:lstStyle/>
          <a:p>
            <a:r>
              <a:rPr lang="en-US" sz="4200" dirty="0"/>
              <a:t>Consumer Theory: </a:t>
            </a:r>
            <a:br>
              <a:rPr lang="en-US" sz="4200" dirty="0"/>
            </a:br>
            <a:r>
              <a:rPr lang="en-US" sz="4200" dirty="0"/>
              <a:t>Review Slides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7868834-9371-0482-209B-C2EBDB2D93F1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>
            <a:normAutofit/>
          </a:bodyPr>
          <a:lstStyle/>
          <a:p>
            <a:r>
              <a:rPr lang="en-US" sz="3200" dirty="0"/>
              <a:t>ECON 300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343A60A-CBE6-B5CE-B9CE-C7DC9386921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dirty="0"/>
              <a:t>Fall 2023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EDF44A7-8470-0B18-F1D2-F47845ECB75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DEPARTMENT OF BUSINESS &amp; ECONOMICS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86BCC6C-06D2-CC1B-BC1A-B87124A36D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980C56-831A-4EAB-9EDE-57C090F4F877}" type="slidenum">
              <a:rPr lang="en-US" smtClean="0"/>
              <a:t>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0580638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8E3986-575B-B929-0562-1561C73A78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Topics in Consumer Theory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A717BAA-D4BA-C7EB-5696-203603829C7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The Budget Constraint</a:t>
            </a:r>
          </a:p>
          <a:p>
            <a:endParaRPr lang="en-US" dirty="0"/>
          </a:p>
          <a:p>
            <a:r>
              <a:rPr lang="en-US" dirty="0"/>
              <a:t>Preferences, Utility Functions, and Indifference Curves</a:t>
            </a:r>
          </a:p>
          <a:p>
            <a:endParaRPr lang="en-US" dirty="0"/>
          </a:p>
          <a:p>
            <a:r>
              <a:rPr lang="en-US" dirty="0"/>
              <a:t>Utility Maximization Problem</a:t>
            </a:r>
          </a:p>
          <a:p>
            <a:endParaRPr lang="en-US" dirty="0"/>
          </a:p>
          <a:p>
            <a:r>
              <a:rPr lang="en-US" dirty="0"/>
              <a:t>Comparative Statics of the Utility Maximization Problem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09CFCAE-B4E3-649B-FDB7-488E4E51258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dirty="0"/>
              <a:t>Fall 2023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2AC4525-C5C8-8596-B2EA-0E2C534430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DEPARTMENT OF BUSINESS &amp; ECONOMICS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E261E69-6082-7B91-F48A-C4702A4B50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980C56-831A-4EAB-9EDE-57C090F4F877}" type="slidenum">
              <a:rPr lang="en-US" smtClean="0"/>
              <a:t>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03351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8E3986-575B-B929-0562-1561C73A78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Budget Constraints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A717BAA-D4BA-C7EB-5696-203603829C7C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r>
                  <a:rPr lang="en-US" dirty="0"/>
                  <a:t>The first element in the consumer’s problem.</a:t>
                </a:r>
              </a:p>
              <a:p>
                <a:pPr lvl="3"/>
                <a:endParaRPr lang="en-US" dirty="0"/>
              </a:p>
              <a:p>
                <a:r>
                  <a:rPr lang="en-US" dirty="0"/>
                  <a:t>Tells us which bundles are feasible, and which aren’t.</a:t>
                </a:r>
              </a:p>
              <a:p>
                <a:pPr lvl="3"/>
                <a:endParaRPr lang="en-US" dirty="0"/>
              </a:p>
              <a:p>
                <a:r>
                  <a:rPr lang="en-US" dirty="0"/>
                  <a:t>The total amount of money spent on goods must be (less than or) equal to the amount of money the consumer has.</a:t>
                </a:r>
              </a:p>
              <a:p>
                <a:pPr lvl="3"/>
                <a:endParaRPr lang="en-US" dirty="0"/>
              </a:p>
              <a:p>
                <a:r>
                  <a:rPr lang="en-US" dirty="0"/>
                  <a:t>When the market has goods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en-US" dirty="0"/>
                  <a:t> and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𝑦</m:t>
                    </m:r>
                  </m:oMath>
                </a14:m>
                <a:r>
                  <a:rPr lang="en-US" dirty="0"/>
                  <a:t> with prices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sub>
                    </m:sSub>
                  </m:oMath>
                </a14:m>
                <a:r>
                  <a:rPr lang="en-US" dirty="0"/>
                  <a:t> and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</m:sub>
                    </m:sSub>
                  </m:oMath>
                </a14:m>
                <a:r>
                  <a:rPr lang="en-US" dirty="0"/>
                  <a:t>, and the consumer has income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𝑀</m:t>
                    </m:r>
                  </m:oMath>
                </a14:m>
                <a:r>
                  <a:rPr lang="en-US" dirty="0"/>
                  <a:t>…</a:t>
                </a:r>
              </a:p>
              <a:p>
                <a:endParaRPr lang="en-US" sz="50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⋅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⋅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𝑀</m:t>
                      </m:r>
                    </m:oMath>
                  </m:oMathPara>
                </a14:m>
                <a:endParaRPr lang="en-US" dirty="0"/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A717BAA-D4BA-C7EB-5696-203603829C7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05" t="-1821" r="-46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09CFCAE-B4E3-649B-FDB7-488E4E51258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dirty="0"/>
              <a:t>Fall 2023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2AC4525-C5C8-8596-B2EA-0E2C534430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DEPARTMENT OF BUSINESS &amp; ECONOMICS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E261E69-6082-7B91-F48A-C4702A4B50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980C56-831A-4EAB-9EDE-57C090F4F877}" type="slidenum">
              <a:rPr lang="en-US" smtClean="0"/>
              <a:t>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2991966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F8C9C0D-1910-6C24-160C-142DA7790F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Budget Constraints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49E33CE3-D649-D8F5-E1EA-27E5E12AA490}"/>
                  </a:ext>
                </a:extLst>
              </p:cNvPr>
              <p:cNvSpPr>
                <a:spLocks noGrp="1"/>
              </p:cNvSpPr>
              <p:nvPr>
                <p:ph sz="half" idx="2"/>
              </p:nvPr>
            </p:nvSpPr>
            <p:spPr/>
            <p:txBody>
              <a:bodyPr/>
              <a:lstStyle/>
              <a:p>
                <a:r>
                  <a:rPr lang="en-US" dirty="0"/>
                  <a:t>The budget constraint graphically belongs on  a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−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𝑦</m:t>
                    </m:r>
                  </m:oMath>
                </a14:m>
                <a:r>
                  <a:rPr lang="en-US" dirty="0"/>
                  <a:t> plane where each axis represent the quantity of goods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en-US" dirty="0"/>
                  <a:t> and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𝑦</m:t>
                    </m:r>
                  </m:oMath>
                </a14:m>
                <a:r>
                  <a:rPr lang="en-US" dirty="0"/>
                  <a:t>.</a:t>
                </a:r>
              </a:p>
              <a:p>
                <a:pPr lvl="3"/>
                <a:endParaRPr lang="en-US" dirty="0"/>
              </a:p>
              <a:p>
                <a:r>
                  <a:rPr lang="en-US" dirty="0"/>
                  <a:t>If the budget constraint is given as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𝑦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𝑀</m:t>
                    </m:r>
                  </m:oMath>
                </a14:m>
                <a:r>
                  <a:rPr lang="en-US" dirty="0"/>
                  <a:t>, the budget line takes the form displayed to the left. </a:t>
                </a:r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49E33CE3-D649-D8F5-E1EA-27E5E12AA49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2"/>
              </p:nvPr>
            </p:nvSpPr>
            <p:spPr>
              <a:blipFill>
                <a:blip r:embed="rId3"/>
                <a:stretch>
                  <a:fillRect l="-2038" t="-1821" r="-109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E01B5E1-D1AA-B028-6963-3CE3E9702B8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Fall 2023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067FA1F-2D51-8784-F1AD-F6DE7F5A3BE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DEPARTMENT OF BUSINESS &amp; ECONOMICS</a:t>
            </a:r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F700FC9-C36A-7A2A-9447-B2E51FBB8F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980C56-831A-4EAB-9EDE-57C090F4F877}" type="slidenum">
              <a:rPr lang="en-US" smtClean="0"/>
              <a:t>4</a:t>
            </a:fld>
            <a:endParaRPr lang="en-US" dirty="0"/>
          </a:p>
        </p:txBody>
      </p:sp>
      <p:pic>
        <p:nvPicPr>
          <p:cNvPr id="10" name="Content Placeholder 9" descr="A graph of a budget line&#10;&#10;Description automatically generated">
            <a:extLst>
              <a:ext uri="{FF2B5EF4-FFF2-40B4-BE49-F238E27FC236}">
                <a16:creationId xmlns:a16="http://schemas.microsoft.com/office/drawing/2014/main" id="{2E0A7B4A-599A-2860-1E86-CE751FDD9B73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8650" y="1842294"/>
            <a:ext cx="3886200" cy="4318000"/>
          </a:xfrm>
        </p:spPr>
      </p:pic>
    </p:spTree>
    <p:extLst>
      <p:ext uri="{BB962C8B-B14F-4D97-AF65-F5344CB8AC3E}">
        <p14:creationId xmlns:p14="http://schemas.microsoft.com/office/powerpoint/2010/main" val="387335385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F8C9C0D-1910-6C24-160C-142DA7790F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Budget Constraints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9E33CE3-D649-D8F5-E1EA-27E5E12AA490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r>
              <a:rPr lang="en-US" dirty="0"/>
              <a:t>The area below the budget line represent bundles that are feasible.</a:t>
            </a:r>
          </a:p>
          <a:p>
            <a:pPr lvl="3"/>
            <a:endParaRPr lang="en-US" dirty="0"/>
          </a:p>
          <a:p>
            <a:r>
              <a:rPr lang="en-US" dirty="0"/>
              <a:t>The area above the budget line represent bundles that are not feasible. </a:t>
            </a:r>
          </a:p>
          <a:p>
            <a:pPr lvl="3"/>
            <a:endParaRPr lang="en-US" dirty="0"/>
          </a:p>
          <a:p>
            <a:r>
              <a:rPr lang="en-US" dirty="0"/>
              <a:t>Any bundle on the budget line will exhaust the consumer’s income.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E01B5E1-D1AA-B028-6963-3CE3E9702B8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Fall 2023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067FA1F-2D51-8784-F1AD-F6DE7F5A3BE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DEPARTMENT OF BUSINESS &amp; ECONOMICS</a:t>
            </a:r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F700FC9-C36A-7A2A-9447-B2E51FBB8F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980C56-831A-4EAB-9EDE-57C090F4F877}" type="slidenum">
              <a:rPr lang="en-US" smtClean="0"/>
              <a:t>5</a:t>
            </a:fld>
            <a:endParaRPr lang="en-US" dirty="0"/>
          </a:p>
        </p:txBody>
      </p:sp>
      <p:pic>
        <p:nvPicPr>
          <p:cNvPr id="11" name="Content Placeholder 10" descr="A diagram of a budget line&#10;&#10;Description automatically generated">
            <a:extLst>
              <a:ext uri="{FF2B5EF4-FFF2-40B4-BE49-F238E27FC236}">
                <a16:creationId xmlns:a16="http://schemas.microsoft.com/office/drawing/2014/main" id="{27D50F56-5D20-66CC-B801-3665D8BBEB9D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8650" y="1842294"/>
            <a:ext cx="3886200" cy="4318000"/>
          </a:xfrm>
        </p:spPr>
      </p:pic>
    </p:spTree>
    <p:extLst>
      <p:ext uri="{BB962C8B-B14F-4D97-AF65-F5344CB8AC3E}">
        <p14:creationId xmlns:p14="http://schemas.microsoft.com/office/powerpoint/2010/main" val="327786926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F8C9C0D-1910-6C24-160C-142DA7790F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Budget Constraints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49E33CE3-D649-D8F5-E1EA-27E5E12AA490}"/>
                  </a:ext>
                </a:extLst>
              </p:cNvPr>
              <p:cNvSpPr>
                <a:spLocks noGrp="1"/>
              </p:cNvSpPr>
              <p:nvPr>
                <p:ph sz="half" idx="2"/>
              </p:nvPr>
            </p:nvSpPr>
            <p:spPr/>
            <p:txBody>
              <a:bodyPr>
                <a:normAutofit/>
              </a:bodyPr>
              <a:lstStyle/>
              <a:p>
                <a:r>
                  <a:rPr lang="en-US" dirty="0"/>
                  <a:t>If the price of good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en-US" dirty="0"/>
                  <a:t> falls, the budget line will pivot outward.</a:t>
                </a:r>
              </a:p>
              <a:p>
                <a:pPr lvl="3"/>
                <a:endParaRPr lang="en-US" dirty="0"/>
              </a:p>
              <a:p>
                <a:r>
                  <a:rPr lang="en-US" dirty="0"/>
                  <a:t>The maximum amount of good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en-US" dirty="0"/>
                  <a:t> the consumer can purchase increases.</a:t>
                </a:r>
              </a:p>
              <a:p>
                <a:pPr lvl="3"/>
                <a:endParaRPr lang="en-US" dirty="0"/>
              </a:p>
              <a:p>
                <a:r>
                  <a:rPr lang="en-US" dirty="0"/>
                  <a:t>The maximum amount of good </a:t>
                </a:r>
                <a14:m>
                  <m:oMath xmlns:m="http://schemas.openxmlformats.org/officeDocument/2006/math"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𝑦</m:t>
                    </m:r>
                  </m:oMath>
                </a14:m>
                <a:r>
                  <a:rPr lang="en-US" dirty="0"/>
                  <a:t> the consumer can purchase doesn’t change.</a:t>
                </a:r>
              </a:p>
            </p:txBody>
          </p:sp>
        </mc:Choice>
        <mc:Fallback xmlns=""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49E33CE3-D649-D8F5-E1EA-27E5E12AA49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2"/>
              </p:nvPr>
            </p:nvSpPr>
            <p:spPr>
              <a:blipFill>
                <a:blip r:embed="rId2"/>
                <a:stretch>
                  <a:fillRect l="-2038" t="-1821" r="-94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E01B5E1-D1AA-B028-6963-3CE3E9702B8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Fall 2023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067FA1F-2D51-8784-F1AD-F6DE7F5A3BE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DEPARTMENT OF BUSINESS &amp; ECONOMICS</a:t>
            </a:r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F700FC9-C36A-7A2A-9447-B2E51FBB8F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980C56-831A-4EAB-9EDE-57C090F4F877}" type="slidenum">
              <a:rPr lang="en-US" smtClean="0"/>
              <a:t>6</a:t>
            </a:fld>
            <a:endParaRPr lang="en-US" dirty="0"/>
          </a:p>
        </p:txBody>
      </p:sp>
      <p:pic>
        <p:nvPicPr>
          <p:cNvPr id="19" name="Content Placeholder 18" descr="A graph of a function&#10;&#10;Description automatically generated">
            <a:extLst>
              <a:ext uri="{FF2B5EF4-FFF2-40B4-BE49-F238E27FC236}">
                <a16:creationId xmlns:a16="http://schemas.microsoft.com/office/drawing/2014/main" id="{3DB3C003-0079-CA8D-D377-E9D7610CC774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8650" y="1842294"/>
            <a:ext cx="3886200" cy="4318000"/>
          </a:xfrm>
        </p:spPr>
      </p:pic>
    </p:spTree>
    <p:extLst>
      <p:ext uri="{BB962C8B-B14F-4D97-AF65-F5344CB8AC3E}">
        <p14:creationId xmlns:p14="http://schemas.microsoft.com/office/powerpoint/2010/main" val="201203986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F8C9C0D-1910-6C24-160C-142DA7790F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Budget Constraints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49E33CE3-D649-D8F5-E1EA-27E5E12AA490}"/>
                  </a:ext>
                </a:extLst>
              </p:cNvPr>
              <p:cNvSpPr>
                <a:spLocks noGrp="1"/>
              </p:cNvSpPr>
              <p:nvPr>
                <p:ph sz="half" idx="2"/>
              </p:nvPr>
            </p:nvSpPr>
            <p:spPr/>
            <p:txBody>
              <a:bodyPr>
                <a:normAutofit/>
              </a:bodyPr>
              <a:lstStyle/>
              <a:p>
                <a:r>
                  <a:rPr lang="en-US" dirty="0"/>
                  <a:t>If the price of good </a:t>
                </a:r>
                <a14:m>
                  <m:oMath xmlns:m="http://schemas.openxmlformats.org/officeDocument/2006/math">
                    <m:r>
                      <a:rPr lang="en-US" i="1" dirty="0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en-US" dirty="0"/>
                  <a:t> rises, the budget line will pivot inward.</a:t>
                </a:r>
              </a:p>
              <a:p>
                <a:pPr lvl="3"/>
                <a:endParaRPr lang="en-US" dirty="0"/>
              </a:p>
              <a:p>
                <a:r>
                  <a:rPr lang="en-US" dirty="0"/>
                  <a:t>The maximum amount of good </a:t>
                </a:r>
                <a14:m>
                  <m:oMath xmlns:m="http://schemas.openxmlformats.org/officeDocument/2006/math">
                    <m:r>
                      <a:rPr lang="en-US" i="1" dirty="0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en-US" dirty="0"/>
                  <a:t> the consumer can purchase decreases.</a:t>
                </a:r>
              </a:p>
              <a:p>
                <a:pPr lvl="3"/>
                <a:endParaRPr lang="en-US" dirty="0"/>
              </a:p>
              <a:p>
                <a:r>
                  <a:rPr lang="en-US" dirty="0"/>
                  <a:t>The maximum amount of good </a:t>
                </a:r>
                <a14:m>
                  <m:oMath xmlns:m="http://schemas.openxmlformats.org/officeDocument/2006/math">
                    <m:r>
                      <a:rPr lang="en-US" i="1" dirty="0">
                        <a:latin typeface="Cambria Math" panose="02040503050406030204" pitchFamily="18" charset="0"/>
                      </a:rPr>
                      <m:t>𝑦</m:t>
                    </m:r>
                  </m:oMath>
                </a14:m>
                <a:r>
                  <a:rPr lang="en-US" dirty="0"/>
                  <a:t> the consumer can purchase doesn’t change.</a:t>
                </a:r>
              </a:p>
            </p:txBody>
          </p:sp>
        </mc:Choice>
        <mc:Fallback xmlns=""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49E33CE3-D649-D8F5-E1EA-27E5E12AA49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2"/>
              </p:nvPr>
            </p:nvSpPr>
            <p:spPr>
              <a:blipFill>
                <a:blip r:embed="rId2"/>
                <a:stretch>
                  <a:fillRect l="-2038" t="-1821" r="-297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E01B5E1-D1AA-B028-6963-3CE3E9702B8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Fall 2023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067FA1F-2D51-8784-F1AD-F6DE7F5A3BE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DEPARTMENT OF BUSINESS &amp; ECONOMICS</a:t>
            </a:r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F700FC9-C36A-7A2A-9447-B2E51FBB8F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980C56-831A-4EAB-9EDE-57C090F4F877}" type="slidenum">
              <a:rPr lang="en-US" smtClean="0"/>
              <a:t>7</a:t>
            </a:fld>
            <a:endParaRPr lang="en-US" dirty="0"/>
          </a:p>
        </p:txBody>
      </p:sp>
      <p:pic>
        <p:nvPicPr>
          <p:cNvPr id="15" name="Content Placeholder 14" descr="A graph of a function&#10;&#10;Description automatically generated">
            <a:extLst>
              <a:ext uri="{FF2B5EF4-FFF2-40B4-BE49-F238E27FC236}">
                <a16:creationId xmlns:a16="http://schemas.microsoft.com/office/drawing/2014/main" id="{DDF0F515-DA49-B376-55F9-66043D225942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8650" y="1842294"/>
            <a:ext cx="3886200" cy="4318000"/>
          </a:xfrm>
        </p:spPr>
      </p:pic>
    </p:spTree>
    <p:extLst>
      <p:ext uri="{BB962C8B-B14F-4D97-AF65-F5344CB8AC3E}">
        <p14:creationId xmlns:p14="http://schemas.microsoft.com/office/powerpoint/2010/main" val="148885607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F8C9C0D-1910-6C24-160C-142DA7790F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Budget Constraints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49E33CE3-D649-D8F5-E1EA-27E5E12AA490}"/>
                  </a:ext>
                </a:extLst>
              </p:cNvPr>
              <p:cNvSpPr>
                <a:spLocks noGrp="1"/>
              </p:cNvSpPr>
              <p:nvPr>
                <p:ph sz="half" idx="2"/>
              </p:nvPr>
            </p:nvSpPr>
            <p:spPr/>
            <p:txBody>
              <a:bodyPr/>
              <a:lstStyle/>
              <a:p>
                <a:r>
                  <a:rPr lang="en-US" dirty="0"/>
                  <a:t>When the consumer’s income increases, the budget line will shift outward.</a:t>
                </a:r>
              </a:p>
              <a:p>
                <a:pPr lvl="4"/>
                <a:endParaRPr lang="en-US" dirty="0"/>
              </a:p>
              <a:p>
                <a:r>
                  <a:rPr lang="en-US" dirty="0"/>
                  <a:t>The maximum amount of good </a:t>
                </a:r>
                <a14:m>
                  <m:oMath xmlns:m="http://schemas.openxmlformats.org/officeDocument/2006/math">
                    <m:r>
                      <a:rPr lang="en-US" i="1" dirty="0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en-US" dirty="0"/>
                  <a:t> the consumer can purchase increases.</a:t>
                </a:r>
              </a:p>
              <a:p>
                <a:pPr lvl="4"/>
                <a:endParaRPr lang="en-US" dirty="0"/>
              </a:p>
              <a:p>
                <a:r>
                  <a:rPr lang="en-US" dirty="0"/>
                  <a:t>The maximum amount of good </a:t>
                </a:r>
                <a14:m>
                  <m:oMath xmlns:m="http://schemas.openxmlformats.org/officeDocument/2006/math">
                    <m:r>
                      <a:rPr lang="en-US" i="1" dirty="0">
                        <a:latin typeface="Cambria Math" panose="02040503050406030204" pitchFamily="18" charset="0"/>
                      </a:rPr>
                      <m:t>𝑦</m:t>
                    </m:r>
                  </m:oMath>
                </a14:m>
                <a:r>
                  <a:rPr lang="en-US" dirty="0"/>
                  <a:t> the consumer can purchase increases.</a:t>
                </a:r>
              </a:p>
              <a:p>
                <a:endParaRPr lang="en-US" dirty="0"/>
              </a:p>
              <a:p>
                <a:endParaRPr lang="en-US" dirty="0"/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49E33CE3-D649-D8F5-E1EA-27E5E12AA49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2"/>
              </p:nvPr>
            </p:nvSpPr>
            <p:spPr>
              <a:blipFill>
                <a:blip r:embed="rId2"/>
                <a:stretch>
                  <a:fillRect l="-2038" t="-182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E01B5E1-D1AA-B028-6963-3CE3E9702B8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Fall 2023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067FA1F-2D51-8784-F1AD-F6DE7F5A3BE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DEPARTMENT OF BUSINESS &amp; ECONOMICS</a:t>
            </a:r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F700FC9-C36A-7A2A-9447-B2E51FBB8F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980C56-831A-4EAB-9EDE-57C090F4F877}" type="slidenum">
              <a:rPr lang="en-US" smtClean="0"/>
              <a:t>8</a:t>
            </a:fld>
            <a:endParaRPr lang="en-US" dirty="0"/>
          </a:p>
        </p:txBody>
      </p:sp>
      <p:pic>
        <p:nvPicPr>
          <p:cNvPr id="9" name="Content Placeholder 8" descr="A graph of a function&#10;&#10;Description automatically generated">
            <a:extLst>
              <a:ext uri="{FF2B5EF4-FFF2-40B4-BE49-F238E27FC236}">
                <a16:creationId xmlns:a16="http://schemas.microsoft.com/office/drawing/2014/main" id="{0186D07A-F7DE-D8E4-793E-77EDCD5E8406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8650" y="1842294"/>
            <a:ext cx="3886200" cy="4318000"/>
          </a:xfrm>
        </p:spPr>
      </p:pic>
    </p:spTree>
    <p:extLst>
      <p:ext uri="{BB962C8B-B14F-4D97-AF65-F5344CB8AC3E}">
        <p14:creationId xmlns:p14="http://schemas.microsoft.com/office/powerpoint/2010/main" val="101321384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F8C9C0D-1910-6C24-160C-142DA7790F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Budget Constraints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49E33CE3-D649-D8F5-E1EA-27E5E12AA490}"/>
                  </a:ext>
                </a:extLst>
              </p:cNvPr>
              <p:cNvSpPr>
                <a:spLocks noGrp="1"/>
              </p:cNvSpPr>
              <p:nvPr>
                <p:ph sz="half" idx="2"/>
              </p:nvPr>
            </p:nvSpPr>
            <p:spPr/>
            <p:txBody>
              <a:bodyPr/>
              <a:lstStyle/>
              <a:p>
                <a:r>
                  <a:rPr lang="en-US" dirty="0"/>
                  <a:t>When the consumer’s income increases, the budget line will shift inward.</a:t>
                </a:r>
              </a:p>
              <a:p>
                <a:pPr lvl="4"/>
                <a:endParaRPr lang="en-US" dirty="0"/>
              </a:p>
              <a:p>
                <a:r>
                  <a:rPr lang="en-US" dirty="0"/>
                  <a:t>The maximum amount of good </a:t>
                </a:r>
                <a14:m>
                  <m:oMath xmlns:m="http://schemas.openxmlformats.org/officeDocument/2006/math">
                    <m:r>
                      <a:rPr lang="en-US" i="1" dirty="0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en-US" dirty="0"/>
                  <a:t> the consumer can purchase decreases.</a:t>
                </a:r>
              </a:p>
              <a:p>
                <a:pPr lvl="4"/>
                <a:endParaRPr lang="en-US" dirty="0"/>
              </a:p>
              <a:p>
                <a:r>
                  <a:rPr lang="en-US" dirty="0"/>
                  <a:t>The maximum amount of good </a:t>
                </a:r>
                <a14:m>
                  <m:oMath xmlns:m="http://schemas.openxmlformats.org/officeDocument/2006/math">
                    <m:r>
                      <a:rPr lang="en-US" i="1" dirty="0">
                        <a:latin typeface="Cambria Math" panose="02040503050406030204" pitchFamily="18" charset="0"/>
                      </a:rPr>
                      <m:t>𝑦</m:t>
                    </m:r>
                  </m:oMath>
                </a14:m>
                <a:r>
                  <a:rPr lang="en-US" dirty="0"/>
                  <a:t> the consumer can purchase decreases.</a:t>
                </a:r>
              </a:p>
              <a:p>
                <a:endParaRPr lang="en-US" dirty="0"/>
              </a:p>
              <a:p>
                <a:endParaRPr lang="en-US" dirty="0"/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49E33CE3-D649-D8F5-E1EA-27E5E12AA49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2"/>
              </p:nvPr>
            </p:nvSpPr>
            <p:spPr>
              <a:blipFill>
                <a:blip r:embed="rId2"/>
                <a:stretch>
                  <a:fillRect l="-2038" t="-182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E01B5E1-D1AA-B028-6963-3CE3E9702B8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Fall 2023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067FA1F-2D51-8784-F1AD-F6DE7F5A3BE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DEPARTMENT OF BUSINESS &amp; ECONOMICS</a:t>
            </a:r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F700FC9-C36A-7A2A-9447-B2E51FBB8F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980C56-831A-4EAB-9EDE-57C090F4F877}" type="slidenum">
              <a:rPr lang="en-US" smtClean="0"/>
              <a:t>9</a:t>
            </a:fld>
            <a:endParaRPr lang="en-US" dirty="0"/>
          </a:p>
        </p:txBody>
      </p:sp>
      <p:pic>
        <p:nvPicPr>
          <p:cNvPr id="11" name="Content Placeholder 10" descr="A graph of a function&#10;&#10;Description automatically generated">
            <a:extLst>
              <a:ext uri="{FF2B5EF4-FFF2-40B4-BE49-F238E27FC236}">
                <a16:creationId xmlns:a16="http://schemas.microsoft.com/office/drawing/2014/main" id="{C02CBD34-C3E1-B1CF-D60A-3C51B4124384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8650" y="1842294"/>
            <a:ext cx="3886200" cy="4318000"/>
          </a:xfrm>
        </p:spPr>
      </p:pic>
    </p:spTree>
    <p:extLst>
      <p:ext uri="{BB962C8B-B14F-4D97-AF65-F5344CB8AC3E}">
        <p14:creationId xmlns:p14="http://schemas.microsoft.com/office/powerpoint/2010/main" val="244745712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F8C9C0D-1910-6C24-160C-142DA7790F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Budget Constraints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49E33CE3-D649-D8F5-E1EA-27E5E12AA490}"/>
                  </a:ext>
                </a:extLst>
              </p:cNvPr>
              <p:cNvSpPr>
                <a:spLocks noGrp="1"/>
              </p:cNvSpPr>
              <p:nvPr>
                <p:ph sz="half" idx="2"/>
              </p:nvPr>
            </p:nvSpPr>
            <p:spPr/>
            <p:txBody>
              <a:bodyPr>
                <a:normAutofit/>
              </a:bodyPr>
              <a:lstStyle/>
              <a:p>
                <a:r>
                  <a:rPr lang="en-US" dirty="0"/>
                  <a:t>Calculate the slope using the formula to find any slope:</a:t>
                </a:r>
              </a:p>
              <a:p>
                <a:endParaRPr lang="en-US" sz="50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𝑆𝑙𝑜𝑝𝑒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𝑅𝑖𝑠𝑒</m:t>
                          </m:r>
                        </m:num>
                        <m:den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𝑅𝑢𝑛</m:t>
                          </m:r>
                        </m:den>
                      </m:f>
                    </m:oMath>
                  </m:oMathPara>
                </a14:m>
                <a:endParaRPr lang="en-US" dirty="0"/>
              </a:p>
              <a:p>
                <a:pPr lvl="4"/>
                <a:endParaRPr lang="en-US" dirty="0"/>
              </a:p>
              <a:p>
                <a:r>
                  <a:rPr lang="en-US" dirty="0"/>
                  <a:t>The slope of the budget line will be:</a:t>
                </a:r>
              </a:p>
              <a:p>
                <a:endParaRPr lang="en-US" sz="50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𝑆𝑙𝑜𝑝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𝐵𝐶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𝑃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sub>
                          </m:sSub>
                        </m:num>
                        <m:den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𝑃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  <a:endParaRPr lang="en-US" dirty="0"/>
              </a:p>
              <a:p>
                <a:pPr marL="0" indent="0" algn="ctr">
                  <a:buNone/>
                </a:pPr>
                <a:r>
                  <a:rPr lang="en-US" sz="1200" dirty="0"/>
                  <a:t>Note that we are ignoring the signs for simplicity.</a:t>
                </a:r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49E33CE3-D649-D8F5-E1EA-27E5E12AA49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2"/>
              </p:nvPr>
            </p:nvSpPr>
            <p:spPr>
              <a:blipFill>
                <a:blip r:embed="rId2"/>
                <a:stretch>
                  <a:fillRect l="-2038" t="-182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E01B5E1-D1AA-B028-6963-3CE3E9702B8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Fall 2023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067FA1F-2D51-8784-F1AD-F6DE7F5A3BE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DEPARTMENT OF BUSINESS &amp; ECONOMICS</a:t>
            </a:r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F700FC9-C36A-7A2A-9447-B2E51FBB8F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980C56-831A-4EAB-9EDE-57C090F4F877}" type="slidenum">
              <a:rPr lang="en-US" smtClean="0"/>
              <a:t>10</a:t>
            </a:fld>
            <a:endParaRPr lang="en-US" dirty="0"/>
          </a:p>
        </p:txBody>
      </p:sp>
      <p:pic>
        <p:nvPicPr>
          <p:cNvPr id="11" name="Content Placeholder 10" descr="A graph of a budget line&#10;&#10;Description automatically generated">
            <a:extLst>
              <a:ext uri="{FF2B5EF4-FFF2-40B4-BE49-F238E27FC236}">
                <a16:creationId xmlns:a16="http://schemas.microsoft.com/office/drawing/2014/main" id="{4D9E705E-0146-9F90-9607-A8B1CE20C8E6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8650" y="1842294"/>
            <a:ext cx="3886200" cy="4318000"/>
          </a:xfrm>
        </p:spPr>
      </p:pic>
    </p:spTree>
    <p:extLst>
      <p:ext uri="{BB962C8B-B14F-4D97-AF65-F5344CB8AC3E}">
        <p14:creationId xmlns:p14="http://schemas.microsoft.com/office/powerpoint/2010/main" val="45452870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F8C9C0D-1910-6C24-160C-142DA7790F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Budget Constraints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49E33CE3-D649-D8F5-E1EA-27E5E12AA490}"/>
                  </a:ext>
                </a:extLst>
              </p:cNvPr>
              <p:cNvSpPr>
                <a:spLocks noGrp="1"/>
              </p:cNvSpPr>
              <p:nvPr>
                <p:ph sz="half" idx="2"/>
              </p:nvPr>
            </p:nvSpPr>
            <p:spPr>
              <a:xfrm>
                <a:off x="4629149" y="1825625"/>
                <a:ext cx="3954133" cy="4351338"/>
              </a:xfrm>
            </p:spPr>
            <p:txBody>
              <a:bodyPr>
                <a:normAutofit lnSpcReduction="10000"/>
              </a:bodyPr>
              <a:lstStyle/>
              <a:p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𝑆𝑙𝑜𝑝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𝐵𝐶</m:t>
                        </m:r>
                      </m:sub>
                    </m:sSub>
                  </m:oMath>
                </a14:m>
                <a:r>
                  <a:rPr lang="en-US" dirty="0"/>
                  <a:t> is the “objective (market) rate of exchange.”</a:t>
                </a:r>
                <a:endParaRPr lang="en-US" sz="1200" dirty="0"/>
              </a:p>
              <a:p>
                <a:pPr lvl="3"/>
                <a:endParaRPr lang="en-US" dirty="0"/>
              </a:p>
              <a:p>
                <a:r>
                  <a:rPr lang="en-US" dirty="0"/>
                  <a:t>If the consumer is already spending on the budget line</a:t>
                </a:r>
              </a:p>
              <a:p>
                <a:pPr lvl="3"/>
                <a:endParaRPr lang="en-US" dirty="0"/>
              </a:p>
              <a:p>
                <a:r>
                  <a:rPr lang="en-US" dirty="0"/>
                  <a:t>For the consumer to buy 1 extra unit of good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en-US" dirty="0"/>
                  <a:t>…</a:t>
                </a:r>
              </a:p>
              <a:p>
                <a:pPr lvl="3"/>
                <a:endParaRPr lang="en-US" dirty="0"/>
              </a:p>
              <a:p>
                <a:r>
                  <a:rPr lang="en-US" dirty="0"/>
                  <a:t>The consumer must sell </a:t>
                </a:r>
                <a14:m>
                  <m:oMath xmlns:m="http://schemas.openxmlformats.org/officeDocument/2006/math">
                    <m:box>
                      <m:box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boxPr>
                      <m:e>
                        <m:argPr>
                          <m:argSz m:val="-1"/>
                        </m:argPr>
                        <m:f>
                          <m:f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sSub>
                              <m:sSub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𝑃</m:t>
                                </m:r>
                              </m:e>
                              <m:sub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sub>
                            </m:sSub>
                          </m:num>
                          <m:den>
                            <m:sSub>
                              <m:sSub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𝑃</m:t>
                                </m:r>
                              </m:e>
                              <m:sub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</m:sub>
                            </m:sSub>
                          </m:den>
                        </m:f>
                      </m:e>
                    </m:box>
                  </m:oMath>
                </a14:m>
                <a:r>
                  <a:rPr lang="en-US" dirty="0"/>
                  <a:t> units of good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𝑦</m:t>
                    </m:r>
                  </m:oMath>
                </a14:m>
                <a:r>
                  <a:rPr lang="en-US" dirty="0"/>
                  <a:t>.”</a:t>
                </a:r>
              </a:p>
              <a:p>
                <a:pPr lvl="3"/>
                <a:endParaRPr lang="en-US" dirty="0"/>
              </a:p>
            </p:txBody>
          </p:sp>
        </mc:Choice>
        <mc:Fallback xmlns=""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49E33CE3-D649-D8F5-E1EA-27E5E12AA49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2"/>
              </p:nvPr>
            </p:nvSpPr>
            <p:spPr>
              <a:xfrm>
                <a:off x="4629149" y="1825625"/>
                <a:ext cx="3954133" cy="4351338"/>
              </a:xfrm>
              <a:blipFill>
                <a:blip r:embed="rId2"/>
                <a:stretch>
                  <a:fillRect l="-2003" t="-2661" r="-107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E01B5E1-D1AA-B028-6963-3CE3E9702B8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Fall 2023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067FA1F-2D51-8784-F1AD-F6DE7F5A3BE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DEPARTMENT OF BUSINESS &amp; ECONOMICS</a:t>
            </a:r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F700FC9-C36A-7A2A-9447-B2E51FBB8F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980C56-831A-4EAB-9EDE-57C090F4F877}" type="slidenum">
              <a:rPr lang="en-US" smtClean="0"/>
              <a:t>11</a:t>
            </a:fld>
            <a:endParaRPr lang="en-US" dirty="0"/>
          </a:p>
        </p:txBody>
      </p:sp>
      <p:pic>
        <p:nvPicPr>
          <p:cNvPr id="15" name="Content Placeholder 14" descr="A diagram of a budget line&#10;&#10;Description automatically generated">
            <a:extLst>
              <a:ext uri="{FF2B5EF4-FFF2-40B4-BE49-F238E27FC236}">
                <a16:creationId xmlns:a16="http://schemas.microsoft.com/office/drawing/2014/main" id="{853FF18B-D89E-DB72-DB6F-59933F72AF54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8650" y="1842294"/>
            <a:ext cx="3886200" cy="4318000"/>
          </a:xfrm>
        </p:spPr>
      </p:pic>
    </p:spTree>
    <p:extLst>
      <p:ext uri="{BB962C8B-B14F-4D97-AF65-F5344CB8AC3E}">
        <p14:creationId xmlns:p14="http://schemas.microsoft.com/office/powerpoint/2010/main" val="148851818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8E3986-575B-B929-0562-1561C73A78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Preferences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A717BAA-D4BA-C7EB-5696-203603829C7C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r>
                  <a:rPr lang="en-US" dirty="0"/>
                  <a:t>Consumers are endowed with a preference relation </a:t>
                </a:r>
                <a14:m>
                  <m:oMath xmlns:m="http://schemas.openxmlformats.org/officeDocument/2006/math">
                    <m:r>
                      <a:rPr lang="en-US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≿</m:t>
                    </m:r>
                  </m:oMath>
                </a14:m>
                <a:r>
                  <a:rPr lang="en-US" dirty="0"/>
                  <a:t> that does not change over time.</a:t>
                </a:r>
              </a:p>
              <a:p>
                <a:pPr lvl="3"/>
                <a:endParaRPr lang="en-US" dirty="0"/>
              </a:p>
              <a:p>
                <a:r>
                  <a:rPr lang="en-US" dirty="0"/>
                  <a:t>Suppose there are two bundles of goods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en-US" dirty="0"/>
                  <a:t> and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𝑦</m:t>
                    </m:r>
                  </m:oMath>
                </a14:m>
                <a:r>
                  <a:rPr lang="en-US" dirty="0"/>
                  <a:t> each named bundle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𝐴</m:t>
                    </m:r>
                  </m:oMath>
                </a14:m>
                <a:r>
                  <a:rPr lang="en-US" dirty="0"/>
                  <a:t> and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𝐵</m:t>
                    </m:r>
                  </m:oMath>
                </a14:m>
                <a:r>
                  <a:rPr lang="en-US" dirty="0"/>
                  <a:t>.</a:t>
                </a:r>
              </a:p>
              <a:p>
                <a:pPr lvl="1"/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∼</m:t>
                    </m:r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𝐵</m:t>
                    </m:r>
                  </m:oMath>
                </a14:m>
                <a:r>
                  <a:rPr lang="en-US" dirty="0"/>
                  <a:t>: The consumer prefers bundles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𝐴</m:t>
                    </m:r>
                  </m:oMath>
                </a14:m>
                <a:r>
                  <a:rPr lang="en-US" dirty="0"/>
                  <a:t> and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𝐵</m:t>
                    </m:r>
                  </m:oMath>
                </a14:m>
                <a:r>
                  <a:rPr lang="en-US" dirty="0"/>
                  <a:t> equally.</a:t>
                </a:r>
              </a:p>
              <a:p>
                <a:pPr lvl="1"/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≻</m:t>
                    </m:r>
                    <m:r>
                      <a:rPr lang="en-US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𝐵</m:t>
                    </m:r>
                  </m:oMath>
                </a14:m>
                <a:r>
                  <a:rPr lang="en-US" dirty="0"/>
                  <a:t>: The consumer strictly prefers bundle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𝐴</m:t>
                    </m:r>
                  </m:oMath>
                </a14:m>
                <a:r>
                  <a:rPr lang="en-US" dirty="0"/>
                  <a:t> over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𝐵</m:t>
                    </m:r>
                  </m:oMath>
                </a14:m>
                <a:r>
                  <a:rPr lang="en-US" dirty="0"/>
                  <a:t>.</a:t>
                </a:r>
              </a:p>
              <a:p>
                <a:pPr lvl="1"/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≿</m:t>
                    </m:r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𝐵</m:t>
                    </m:r>
                  </m:oMath>
                </a14:m>
                <a:r>
                  <a:rPr lang="en-US" dirty="0"/>
                  <a:t>: The consumer thinks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𝐴</m:t>
                    </m:r>
                  </m:oMath>
                </a14:m>
                <a:r>
                  <a:rPr lang="en-US" dirty="0"/>
                  <a:t> is at least as good as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𝐵</m:t>
                    </m:r>
                  </m:oMath>
                </a14:m>
                <a:r>
                  <a:rPr lang="en-US" dirty="0"/>
                  <a:t>.</a:t>
                </a:r>
              </a:p>
              <a:p>
                <a:pPr lvl="3"/>
                <a:endParaRPr lang="en-US" dirty="0"/>
              </a:p>
              <a:p>
                <a:r>
                  <a:rPr lang="en-US" dirty="0"/>
                  <a:t>Very similar to the relations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</m:oMath>
                </a14:m>
                <a:r>
                  <a:rPr lang="en-US" dirty="0"/>
                  <a:t>,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&gt;</m:t>
                    </m:r>
                  </m:oMath>
                </a14:m>
                <a:r>
                  <a:rPr lang="en-US" dirty="0"/>
                  <a:t>, and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≥</m:t>
                    </m:r>
                  </m:oMath>
                </a14:m>
                <a:r>
                  <a:rPr lang="en-US" dirty="0"/>
                  <a:t>, respectively.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A717BAA-D4BA-C7EB-5696-203603829C7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05" t="-1821" r="-85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09CFCAE-B4E3-649B-FDB7-488E4E51258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dirty="0"/>
              <a:t>Fall 2023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2AC4525-C5C8-8596-B2EA-0E2C534430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DEPARTMENT OF BUSINESS &amp; ECONOMICS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E261E69-6082-7B91-F48A-C4702A4B50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980C56-831A-4EAB-9EDE-57C090F4F877}" type="slidenum">
              <a:rPr lang="en-US" smtClean="0"/>
              <a:t>12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0732420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F8C9C0D-1910-6C24-160C-142DA7790F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Preferences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49E33CE3-D649-D8F5-E1EA-27E5E12AA490}"/>
                  </a:ext>
                </a:extLst>
              </p:cNvPr>
              <p:cNvSpPr>
                <a:spLocks noGrp="1"/>
              </p:cNvSpPr>
              <p:nvPr>
                <p:ph sz="half" idx="2"/>
              </p:nvPr>
            </p:nvSpPr>
            <p:spPr>
              <a:xfrm>
                <a:off x="4629149" y="1825625"/>
                <a:ext cx="3954133" cy="4351338"/>
              </a:xfrm>
            </p:spPr>
            <p:txBody>
              <a:bodyPr>
                <a:normAutofit/>
              </a:bodyPr>
              <a:lstStyle/>
              <a:p>
                <a:r>
                  <a:rPr lang="en-US" dirty="0"/>
                  <a:t>We evaluating “bundles,” which are collections of goods.</a:t>
                </a:r>
              </a:p>
              <a:p>
                <a:pPr lvl="3"/>
                <a:endParaRPr lang="en-US" b="0" i="1" dirty="0">
                  <a:latin typeface="Cambria Math" panose="02040503050406030204" pitchFamily="18" charset="0"/>
                </a:endParaRPr>
              </a:p>
              <a:p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∼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𝐵</m:t>
                    </m:r>
                  </m:oMath>
                </a14:m>
                <a:r>
                  <a:rPr lang="en-US" dirty="0"/>
                  <a:t> when the consumer thinks that bundles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𝐴</m:t>
                    </m:r>
                  </m:oMath>
                </a14:m>
                <a:r>
                  <a:rPr lang="en-US" dirty="0"/>
                  <a:t> and </a:t>
                </a:r>
                <a14:m>
                  <m:oMath xmlns:m="http://schemas.openxmlformats.org/officeDocument/2006/math">
                    <m:r>
                      <a:rPr lang="en-US" i="1" dirty="0">
                        <a:latin typeface="Cambria Math" panose="02040503050406030204" pitchFamily="18" charset="0"/>
                      </a:rPr>
                      <m:t>𝐵</m:t>
                    </m:r>
                  </m:oMath>
                </a14:m>
                <a:r>
                  <a:rPr lang="en-US" dirty="0"/>
                  <a:t> are equally desirable.</a:t>
                </a:r>
              </a:p>
              <a:p>
                <a:pPr lvl="3"/>
                <a:endParaRPr lang="en-US" dirty="0"/>
              </a:p>
              <a:p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≻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𝐵</m:t>
                    </m:r>
                  </m:oMath>
                </a14:m>
                <a:r>
                  <a:rPr lang="en-US" dirty="0"/>
                  <a:t> when the consumer thinks that bundle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𝐴</m:t>
                    </m:r>
                  </m:oMath>
                </a14:m>
                <a:r>
                  <a:rPr lang="en-US" dirty="0"/>
                  <a:t> is superior to </a:t>
                </a:r>
                <a14:m>
                  <m:oMath xmlns:m="http://schemas.openxmlformats.org/officeDocument/2006/math">
                    <m:r>
                      <a:rPr lang="en-US" i="1" dirty="0">
                        <a:latin typeface="Cambria Math" panose="02040503050406030204" pitchFamily="18" charset="0"/>
                      </a:rPr>
                      <m:t>𝐵</m:t>
                    </m:r>
                  </m:oMath>
                </a14:m>
                <a:r>
                  <a:rPr lang="en-US" dirty="0"/>
                  <a:t>.</a:t>
                </a:r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49E33CE3-D649-D8F5-E1EA-27E5E12AA49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2"/>
              </p:nvPr>
            </p:nvSpPr>
            <p:spPr>
              <a:xfrm>
                <a:off x="4629149" y="1825625"/>
                <a:ext cx="3954133" cy="4351338"/>
              </a:xfrm>
              <a:blipFill>
                <a:blip r:embed="rId2"/>
                <a:stretch>
                  <a:fillRect l="-2003" t="-1821" r="-12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E01B5E1-D1AA-B028-6963-3CE3E9702B8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Fall 2023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067FA1F-2D51-8784-F1AD-F6DE7F5A3BE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DEPARTMENT OF BUSINESS &amp; ECONOMICS</a:t>
            </a:r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F700FC9-C36A-7A2A-9447-B2E51FBB8F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980C56-831A-4EAB-9EDE-57C090F4F877}" type="slidenum">
              <a:rPr lang="en-US" smtClean="0"/>
              <a:t>13</a:t>
            </a:fld>
            <a:endParaRPr lang="en-US" dirty="0"/>
          </a:p>
        </p:txBody>
      </p:sp>
      <p:pic>
        <p:nvPicPr>
          <p:cNvPr id="10" name="Content Placeholder 9" descr="A graph of a function&#10;&#10;Description automatically generated">
            <a:extLst>
              <a:ext uri="{FF2B5EF4-FFF2-40B4-BE49-F238E27FC236}">
                <a16:creationId xmlns:a16="http://schemas.microsoft.com/office/drawing/2014/main" id="{E9CFEC5F-4A1B-F051-A724-8E8D12243FBF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8650" y="1842294"/>
            <a:ext cx="3886200" cy="4318000"/>
          </a:xfrm>
        </p:spPr>
      </p:pic>
    </p:spTree>
    <p:extLst>
      <p:ext uri="{BB962C8B-B14F-4D97-AF65-F5344CB8AC3E}">
        <p14:creationId xmlns:p14="http://schemas.microsoft.com/office/powerpoint/2010/main" val="403694846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8E3986-575B-B929-0562-1561C73A78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Preferences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A717BAA-D4BA-C7EB-5696-203603829C7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Baseline assumptions about the consumers’ preference.</a:t>
            </a:r>
          </a:p>
          <a:p>
            <a:pPr lvl="3"/>
            <a:endParaRPr lang="en-US" dirty="0"/>
          </a:p>
          <a:p>
            <a:r>
              <a:rPr lang="en-US" dirty="0"/>
              <a:t>We deal with preferences that are said to be:</a:t>
            </a:r>
          </a:p>
          <a:p>
            <a:pPr lvl="1"/>
            <a:r>
              <a:rPr lang="en-US" dirty="0"/>
              <a:t>Complete: Any bundle can be evaluated.</a:t>
            </a:r>
          </a:p>
          <a:p>
            <a:pPr lvl="1"/>
            <a:r>
              <a:rPr lang="en-US" dirty="0"/>
              <a:t>Transitive: No circular preferences allowed.</a:t>
            </a:r>
          </a:p>
          <a:p>
            <a:pPr lvl="1"/>
            <a:r>
              <a:rPr lang="en-US" dirty="0"/>
              <a:t>Reflexive: Anything is as good as itself.</a:t>
            </a:r>
          </a:p>
          <a:p>
            <a:pPr lvl="1"/>
            <a:r>
              <a:rPr lang="en-US" dirty="0"/>
              <a:t>Continuous: No sudden jumps in preferences.</a:t>
            </a:r>
          </a:p>
          <a:p>
            <a:pPr lvl="1"/>
            <a:r>
              <a:rPr lang="en-US" dirty="0"/>
              <a:t>Monotone: The more the better.</a:t>
            </a:r>
          </a:p>
          <a:p>
            <a:pPr lvl="1"/>
            <a:r>
              <a:rPr lang="en-US" dirty="0"/>
              <a:t>Convex: Consumers prefer diverse bundles.</a:t>
            </a:r>
          </a:p>
          <a:p>
            <a:pPr lvl="3"/>
            <a:endParaRPr lang="en-US" dirty="0"/>
          </a:p>
          <a:p>
            <a:r>
              <a:rPr lang="en-US" dirty="0"/>
              <a:t>Complete and Transitive preferences are “Rational.”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09CFCAE-B4E3-649B-FDB7-488E4E51258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dirty="0"/>
              <a:t>Fall 2023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2AC4525-C5C8-8596-B2EA-0E2C534430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DEPARTMENT OF BUSINESS &amp; ECONOMICS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E261E69-6082-7B91-F48A-C4702A4B50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980C56-831A-4EAB-9EDE-57C090F4F877}" type="slidenum">
              <a:rPr lang="en-US" smtClean="0"/>
              <a:t>14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8284796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8E3986-575B-B929-0562-1561C73A78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Utility and Utility Functions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A717BAA-D4BA-C7EB-5696-203603829C7C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r>
                  <a:rPr lang="en-US" dirty="0"/>
                  <a:t>Utility is a numerical representation of the consumers’ subjective level of satisfaction they get from consuming a bundle of goods.</a:t>
                </a:r>
              </a:p>
              <a:p>
                <a:pPr lvl="3"/>
                <a:endParaRPr lang="en-US" dirty="0"/>
              </a:p>
              <a:p>
                <a:r>
                  <a:rPr lang="en-US" dirty="0"/>
                  <a:t>Utility is “Ordinal.”</a:t>
                </a:r>
              </a:p>
              <a:p>
                <a:pPr lvl="1"/>
                <a:r>
                  <a:rPr lang="en-US" dirty="0"/>
                  <a:t>If bundle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𝐴</m:t>
                    </m:r>
                  </m:oMath>
                </a14:m>
                <a:r>
                  <a:rPr lang="en-US" dirty="0"/>
                  <a:t> gives 2 utility, and bundle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𝐵</m:t>
                    </m:r>
                  </m:oMath>
                </a14:m>
                <a:r>
                  <a:rPr lang="en-US" dirty="0"/>
                  <a:t> gives 10 utility…</a:t>
                </a:r>
              </a:p>
              <a:p>
                <a:pPr lvl="1"/>
                <a:r>
                  <a:rPr lang="en-US" dirty="0"/>
                  <a:t>Cardinal Utility: “Consumer thinks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𝐴</m:t>
                    </m:r>
                  </m:oMath>
                </a14:m>
                <a:r>
                  <a:rPr lang="en-US" dirty="0"/>
                  <a:t> is 5 times better than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𝐵</m:t>
                    </m:r>
                  </m:oMath>
                </a14:m>
                <a:r>
                  <a:rPr lang="en-US" dirty="0"/>
                  <a:t>.”</a:t>
                </a:r>
              </a:p>
              <a:p>
                <a:pPr lvl="1"/>
                <a:r>
                  <a:rPr lang="en-US" dirty="0"/>
                  <a:t>Ordinal Utility: “Consumer strictly prefers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𝐴</m:t>
                    </m:r>
                  </m:oMath>
                </a14:m>
                <a:r>
                  <a:rPr lang="en-US" dirty="0"/>
                  <a:t> over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𝐵</m:t>
                    </m:r>
                  </m:oMath>
                </a14:m>
                <a:r>
                  <a:rPr lang="en-US" dirty="0"/>
                  <a:t>.”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A717BAA-D4BA-C7EB-5696-203603829C7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05" t="-1821" r="-30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09CFCAE-B4E3-649B-FDB7-488E4E51258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dirty="0"/>
              <a:t>Fall 2023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2AC4525-C5C8-8596-B2EA-0E2C534430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DEPARTMENT OF BUSINESS &amp; ECONOMICS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E261E69-6082-7B91-F48A-C4702A4B50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980C56-831A-4EAB-9EDE-57C090F4F877}" type="slidenum">
              <a:rPr lang="en-US" smtClean="0"/>
              <a:t>15</a:t>
            </a:fld>
            <a:endParaRPr lang="en-US" dirty="0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2741D1DE-9C4C-164B-D4D9-5A2FE5C1F0D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98154420"/>
              </p:ext>
            </p:extLst>
          </p:nvPr>
        </p:nvGraphicFramePr>
        <p:xfrm>
          <a:off x="1524000" y="4752673"/>
          <a:ext cx="6096000" cy="1112520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368983341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52497971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23346204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Rank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Magnitude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3314384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Ordinal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Matters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Does not Matter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98216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Cardinal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Matters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Matters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2230999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95809581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8E3986-575B-B929-0562-1561C73A78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Utility and Utility Functions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A717BAA-D4BA-C7EB-5696-203603829C7C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r>
                  <a:rPr lang="en-US" dirty="0"/>
                  <a:t>We need a tool to “translate” preferences over bundles (multiple dimensions) to numbers (single dimension).</a:t>
                </a:r>
              </a:p>
              <a:p>
                <a:pPr lvl="3"/>
                <a:endParaRPr lang="en-US" dirty="0"/>
              </a:p>
              <a:p>
                <a:r>
                  <a:rPr lang="en-US" dirty="0"/>
                  <a:t>Utility functions translates bundles of goods to utility.</a:t>
                </a:r>
              </a:p>
              <a:p>
                <a:endParaRPr lang="en-US" sz="50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𝑢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m:rPr>
                              <m:nor/>
                            </m:rPr>
                            <a:rPr lang="en-US" b="0" i="0" smtClean="0">
                              <a:latin typeface="Cambria Math" panose="02040503050406030204" pitchFamily="18" charset="0"/>
                            </a:rPr>
                            <m:t>Bundle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m:rPr>
                          <m:nor/>
                        </m:rPr>
                        <a:rPr lang="en-US" b="0" i="0" smtClean="0">
                          <a:latin typeface="Cambria Math" panose="02040503050406030204" pitchFamily="18" charset="0"/>
                        </a:rPr>
                        <m:t>Utility</m:t>
                      </m:r>
                    </m:oMath>
                  </m:oMathPara>
                </a14:m>
                <a:endParaRPr lang="en-US" dirty="0"/>
              </a:p>
              <a:p>
                <a:pPr marL="0" indent="0">
                  <a:buNone/>
                </a:pPr>
                <a:endParaRPr lang="en-US" sz="500" dirty="0"/>
              </a:p>
              <a:p>
                <a:r>
                  <a:rPr lang="en-US" dirty="0"/>
                  <a:t>Some basic rules for utility functions:</a:t>
                </a:r>
              </a:p>
              <a:p>
                <a:pPr lvl="1"/>
                <a:r>
                  <a:rPr lang="en-US" dirty="0"/>
                  <a:t>If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∼</m:t>
                    </m:r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𝐵</m:t>
                    </m:r>
                  </m:oMath>
                </a14:m>
                <a:r>
                  <a:rPr lang="en-US" dirty="0"/>
                  <a:t> then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𝑢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𝑢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𝐵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.</a:t>
                </a:r>
              </a:p>
              <a:p>
                <a:pPr lvl="1"/>
                <a:r>
                  <a:rPr lang="en-US" dirty="0"/>
                  <a:t>If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≻</m:t>
                    </m:r>
                    <m:r>
                      <a:rPr lang="en-US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𝐵</m:t>
                    </m:r>
                  </m:oMath>
                </a14:m>
                <a:r>
                  <a:rPr lang="en-US" dirty="0"/>
                  <a:t> then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𝑢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&gt;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𝑢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𝐵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. </a:t>
                </a:r>
                <a:endParaRPr lang="en-US" i="1" dirty="0">
                  <a:latin typeface="Cambria Math" panose="02040503050406030204" pitchFamily="18" charset="0"/>
                </a:endParaRPr>
              </a:p>
              <a:p>
                <a:pPr lvl="1"/>
                <a:r>
                  <a:rPr lang="en-US" dirty="0"/>
                  <a:t>If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≿</m:t>
                    </m:r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𝐵</m:t>
                    </m:r>
                  </m:oMath>
                </a14:m>
                <a:r>
                  <a:rPr lang="en-US" dirty="0"/>
                  <a:t> then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𝑢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≥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𝑢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𝐵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A717BAA-D4BA-C7EB-5696-203603829C7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05" t="-182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09CFCAE-B4E3-649B-FDB7-488E4E51258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dirty="0"/>
              <a:t>Fall 2023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2AC4525-C5C8-8596-B2EA-0E2C534430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DEPARTMENT OF BUSINESS &amp; ECONOMICS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E261E69-6082-7B91-F48A-C4702A4B50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980C56-831A-4EAB-9EDE-57C090F4F877}" type="slidenum">
              <a:rPr lang="en-US" smtClean="0"/>
              <a:t>16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5445054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F8C9C0D-1910-6C24-160C-142DA7790F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Utility and Utility Functions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49E33CE3-D649-D8F5-E1EA-27E5E12AA490}"/>
                  </a:ext>
                </a:extLst>
              </p:cNvPr>
              <p:cNvSpPr>
                <a:spLocks noGrp="1"/>
              </p:cNvSpPr>
              <p:nvPr>
                <p:ph sz="half" idx="2"/>
              </p:nvPr>
            </p:nvSpPr>
            <p:spPr>
              <a:xfrm>
                <a:off x="4629150" y="1825625"/>
                <a:ext cx="3886200" cy="4351338"/>
              </a:xfrm>
            </p:spPr>
            <p:txBody>
              <a:bodyPr>
                <a:normAutofit/>
              </a:bodyPr>
              <a:lstStyle/>
              <a:p>
                <a:r>
                  <a:rPr lang="en-US" dirty="0"/>
                  <a:t>Marginal utility is the slope of the utility function.</a:t>
                </a:r>
              </a:p>
              <a:p>
                <a:endParaRPr lang="en-US" sz="50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𝑀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𝑈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𝜕</m:t>
                          </m:r>
                        </m:num>
                        <m:den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𝜕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𝑥</m:t>
                          </m:r>
                        </m:den>
                      </m:f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𝑢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</m:d>
                    </m:oMath>
                  </m:oMathPara>
                </a14:m>
                <a:endParaRPr lang="en-US" dirty="0"/>
              </a:p>
              <a:p>
                <a:pPr lvl="3"/>
                <a:endParaRPr lang="en-US" dirty="0"/>
              </a:p>
              <a:p>
                <a:r>
                  <a:rPr lang="en-US" dirty="0"/>
                  <a:t>“Amount of additional utility the consumer can gain by adding a very small amount of good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en-US" dirty="0"/>
                  <a:t>.”</a:t>
                </a:r>
              </a:p>
              <a:p>
                <a:pPr lvl="3"/>
                <a:endParaRPr lang="en-US" dirty="0"/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49E33CE3-D649-D8F5-E1EA-27E5E12AA49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2"/>
              </p:nvPr>
            </p:nvSpPr>
            <p:spPr>
              <a:xfrm>
                <a:off x="4629150" y="1825625"/>
                <a:ext cx="3886200" cy="4351338"/>
              </a:xfrm>
              <a:blipFill>
                <a:blip r:embed="rId2"/>
                <a:stretch>
                  <a:fillRect l="-2038" t="-1821" r="-423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E01B5E1-D1AA-B028-6963-3CE3E9702B8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Fall 2023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067FA1F-2D51-8784-F1AD-F6DE7F5A3BE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DEPARTMENT OF BUSINESS &amp; ECONOMICS</a:t>
            </a:r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F700FC9-C36A-7A2A-9447-B2E51FBB8F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980C56-831A-4EAB-9EDE-57C090F4F877}" type="slidenum">
              <a:rPr lang="en-US" smtClean="0"/>
              <a:t>17</a:t>
            </a:fld>
            <a:endParaRPr lang="en-US" dirty="0"/>
          </a:p>
        </p:txBody>
      </p:sp>
      <p:pic>
        <p:nvPicPr>
          <p:cNvPr id="10" name="Content Placeholder 9" descr="A graph of a function&#10;&#10;Description automatically generated">
            <a:extLst>
              <a:ext uri="{FF2B5EF4-FFF2-40B4-BE49-F238E27FC236}">
                <a16:creationId xmlns:a16="http://schemas.microsoft.com/office/drawing/2014/main" id="{CAFE6E73-4C30-3CE7-971F-713FAFDCD81A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8650" y="1842294"/>
            <a:ext cx="3886200" cy="4318000"/>
          </a:xfrm>
        </p:spPr>
      </p:pic>
    </p:spTree>
    <p:extLst>
      <p:ext uri="{BB962C8B-B14F-4D97-AF65-F5344CB8AC3E}">
        <p14:creationId xmlns:p14="http://schemas.microsoft.com/office/powerpoint/2010/main" val="163316622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F8C9C0D-1910-6C24-160C-142DA7790F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Utility and Utility Functions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49E33CE3-D649-D8F5-E1EA-27E5E12AA490}"/>
                  </a:ext>
                </a:extLst>
              </p:cNvPr>
              <p:cNvSpPr>
                <a:spLocks noGrp="1"/>
              </p:cNvSpPr>
              <p:nvPr>
                <p:ph sz="half" idx="2"/>
              </p:nvPr>
            </p:nvSpPr>
            <p:spPr>
              <a:xfrm>
                <a:off x="4629150" y="1825625"/>
                <a:ext cx="3886200" cy="4351338"/>
              </a:xfrm>
            </p:spPr>
            <p:txBody>
              <a:bodyPr>
                <a:normAutofit/>
              </a:bodyPr>
              <a:lstStyle/>
              <a:p>
                <a:r>
                  <a:rPr lang="en-US" dirty="0"/>
                  <a:t>Law of diminishing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𝑀𝑈</m:t>
                    </m:r>
                  </m:oMath>
                </a14:m>
                <a:r>
                  <a:rPr lang="en-US" dirty="0"/>
                  <a:t> states that “the more of some good you already have, the less you will value an extra unit.”</a:t>
                </a:r>
              </a:p>
              <a:p>
                <a:pPr lvl="3"/>
                <a:endParaRPr lang="en-US" dirty="0"/>
              </a:p>
              <a:p>
                <a:r>
                  <a:rPr lang="en-US" dirty="0"/>
                  <a:t>If someone gets $100</a:t>
                </a:r>
              </a:p>
              <a:p>
                <a:pPr lvl="1"/>
                <a:r>
                  <a:rPr lang="en-US" dirty="0"/>
                  <a:t>If they are a billionaire?</a:t>
                </a:r>
              </a:p>
              <a:p>
                <a:pPr lvl="1"/>
                <a:r>
                  <a:rPr lang="en-US" dirty="0"/>
                  <a:t>If they are middle-class?</a:t>
                </a:r>
              </a:p>
              <a:p>
                <a:pPr lvl="1"/>
                <a:r>
                  <a:rPr lang="en-US" dirty="0"/>
                  <a:t>Who is happier to get the extra $100?</a:t>
                </a:r>
              </a:p>
            </p:txBody>
          </p:sp>
        </mc:Choice>
        <mc:Fallback xmlns=""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49E33CE3-D649-D8F5-E1EA-27E5E12AA49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2"/>
              </p:nvPr>
            </p:nvSpPr>
            <p:spPr>
              <a:xfrm>
                <a:off x="4629150" y="1825625"/>
                <a:ext cx="3886200" cy="4351338"/>
              </a:xfrm>
              <a:blipFill>
                <a:blip r:embed="rId2"/>
                <a:stretch>
                  <a:fillRect l="-2038" t="-182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E01B5E1-D1AA-B028-6963-3CE3E9702B8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Fall 2023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067FA1F-2D51-8784-F1AD-F6DE7F5A3BE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DEPARTMENT OF BUSINESS &amp; ECONOMICS</a:t>
            </a:r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F700FC9-C36A-7A2A-9447-B2E51FBB8F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980C56-831A-4EAB-9EDE-57C090F4F877}" type="slidenum">
              <a:rPr lang="en-US" smtClean="0"/>
              <a:t>18</a:t>
            </a:fld>
            <a:endParaRPr lang="en-US" dirty="0"/>
          </a:p>
        </p:txBody>
      </p:sp>
      <p:pic>
        <p:nvPicPr>
          <p:cNvPr id="15" name="Content Placeholder 14" descr="A diagram of a line&#10;&#10;Description automatically generated">
            <a:extLst>
              <a:ext uri="{FF2B5EF4-FFF2-40B4-BE49-F238E27FC236}">
                <a16:creationId xmlns:a16="http://schemas.microsoft.com/office/drawing/2014/main" id="{F47A292F-C35A-C34E-3FBC-53E214CF4B99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8650" y="1842294"/>
            <a:ext cx="3886200" cy="4318000"/>
          </a:xfrm>
        </p:spPr>
      </p:pic>
    </p:spTree>
    <p:extLst>
      <p:ext uri="{BB962C8B-B14F-4D97-AF65-F5344CB8AC3E}">
        <p14:creationId xmlns:p14="http://schemas.microsoft.com/office/powerpoint/2010/main" val="2085053864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F8C9C0D-1910-6C24-160C-142DA7790F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Indifference Curves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49E33CE3-D649-D8F5-E1EA-27E5E12AA490}"/>
                  </a:ext>
                </a:extLst>
              </p:cNvPr>
              <p:cNvSpPr>
                <a:spLocks noGrp="1"/>
              </p:cNvSpPr>
              <p:nvPr>
                <p:ph sz="half" idx="2"/>
              </p:nvPr>
            </p:nvSpPr>
            <p:spPr>
              <a:xfrm>
                <a:off x="4629150" y="1825625"/>
                <a:ext cx="3886200" cy="4351338"/>
              </a:xfrm>
            </p:spPr>
            <p:txBody>
              <a:bodyPr>
                <a:normAutofit/>
              </a:bodyPr>
              <a:lstStyle/>
              <a:p>
                <a:r>
                  <a:rPr lang="en-US" dirty="0"/>
                  <a:t>Utility functions are used to plot indifference curves.</a:t>
                </a:r>
              </a:p>
              <a:p>
                <a:pPr lvl="3"/>
                <a:endParaRPr lang="en-US" dirty="0"/>
              </a:p>
              <a:p>
                <a:r>
                  <a:rPr lang="en-US" dirty="0"/>
                  <a:t>Indifference curves are a collection of bundles that give the consumer the same level of utility.</a:t>
                </a:r>
              </a:p>
              <a:p>
                <a:pPr lvl="3"/>
                <a:endParaRPr lang="en-US" dirty="0"/>
              </a:p>
              <a:p>
                <a:r>
                  <a:rPr lang="en-US" dirty="0"/>
                  <a:t>Bundles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𝐴</m:t>
                    </m:r>
                  </m:oMath>
                </a14:m>
                <a:r>
                  <a:rPr lang="en-US" dirty="0"/>
                  <a:t>,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𝐵</m:t>
                    </m:r>
                  </m:oMath>
                </a14:m>
                <a:r>
                  <a:rPr lang="en-US" dirty="0"/>
                  <a:t>, and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𝐶</m:t>
                    </m:r>
                  </m:oMath>
                </a14:m>
                <a:r>
                  <a:rPr lang="en-US" dirty="0"/>
                  <a:t> are on the same indifference curve, so they are equally preferred by the consumer.</a:t>
                </a:r>
              </a:p>
            </p:txBody>
          </p:sp>
        </mc:Choice>
        <mc:Fallback xmlns=""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49E33CE3-D649-D8F5-E1EA-27E5E12AA49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2"/>
              </p:nvPr>
            </p:nvSpPr>
            <p:spPr>
              <a:xfrm>
                <a:off x="4629150" y="1825625"/>
                <a:ext cx="3886200" cy="4351338"/>
              </a:xfrm>
              <a:blipFill>
                <a:blip r:embed="rId2"/>
                <a:stretch>
                  <a:fillRect l="-2038" t="-1821" r="-203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E01B5E1-D1AA-B028-6963-3CE3E9702B8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Fall 2023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067FA1F-2D51-8784-F1AD-F6DE7F5A3BE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DEPARTMENT OF BUSINESS &amp; ECONOMICS</a:t>
            </a:r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F700FC9-C36A-7A2A-9447-B2E51FBB8F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980C56-831A-4EAB-9EDE-57C090F4F877}" type="slidenum">
              <a:rPr lang="en-US" smtClean="0"/>
              <a:t>19</a:t>
            </a:fld>
            <a:endParaRPr lang="en-US" dirty="0"/>
          </a:p>
        </p:txBody>
      </p:sp>
      <p:pic>
        <p:nvPicPr>
          <p:cNvPr id="11" name="Content Placeholder 10" descr="A graph with lines and points&#10;&#10;Description automatically generated">
            <a:extLst>
              <a:ext uri="{FF2B5EF4-FFF2-40B4-BE49-F238E27FC236}">
                <a16:creationId xmlns:a16="http://schemas.microsoft.com/office/drawing/2014/main" id="{DA2B5AA7-FB55-95B1-475F-1CBEE635B625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8650" y="1842294"/>
            <a:ext cx="3886200" cy="4318000"/>
          </a:xfrm>
        </p:spPr>
      </p:pic>
    </p:spTree>
    <p:extLst>
      <p:ext uri="{BB962C8B-B14F-4D97-AF65-F5344CB8AC3E}">
        <p14:creationId xmlns:p14="http://schemas.microsoft.com/office/powerpoint/2010/main" val="3865185270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F8C9C0D-1910-6C24-160C-142DA7790F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Indifference Curves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9E33CE3-D649-D8F5-E1EA-27E5E12AA49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4629150" y="1825625"/>
            <a:ext cx="3886200" cy="4351338"/>
          </a:xfrm>
        </p:spPr>
        <p:txBody>
          <a:bodyPr>
            <a:normAutofit lnSpcReduction="10000"/>
          </a:bodyPr>
          <a:lstStyle/>
          <a:p>
            <a:r>
              <a:rPr lang="en-US" dirty="0"/>
              <a:t>The area below the indifference curve consist of bundles that give the consumer lower utility than any bundle on the indifference curve.</a:t>
            </a:r>
          </a:p>
          <a:p>
            <a:pPr lvl="3"/>
            <a:endParaRPr lang="en-US" dirty="0"/>
          </a:p>
          <a:p>
            <a:r>
              <a:rPr lang="en-US" dirty="0"/>
              <a:t>The area above the indifference curve consist of bundles that give the consumer greater utility than any bundle on the indifference curve.</a:t>
            </a:r>
          </a:p>
          <a:p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E01B5E1-D1AA-B028-6963-3CE3E9702B8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Fall 2023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067FA1F-2D51-8784-F1AD-F6DE7F5A3BE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DEPARTMENT OF BUSINESS &amp; ECONOMICS</a:t>
            </a:r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F700FC9-C36A-7A2A-9447-B2E51FBB8F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980C56-831A-4EAB-9EDE-57C090F4F877}" type="slidenum">
              <a:rPr lang="en-US" smtClean="0"/>
              <a:t>20</a:t>
            </a:fld>
            <a:endParaRPr lang="en-US" dirty="0"/>
          </a:p>
        </p:txBody>
      </p:sp>
      <p:pic>
        <p:nvPicPr>
          <p:cNvPr id="10" name="Content Placeholder 9" descr="A diagram of a function&#10;&#10;Description automatically generated with medium confidence">
            <a:extLst>
              <a:ext uri="{FF2B5EF4-FFF2-40B4-BE49-F238E27FC236}">
                <a16:creationId xmlns:a16="http://schemas.microsoft.com/office/drawing/2014/main" id="{9BD38419-9956-5D5B-D42C-315E000E7CED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8650" y="1842294"/>
            <a:ext cx="3886200" cy="4318000"/>
          </a:xfrm>
        </p:spPr>
      </p:pic>
    </p:spTree>
    <p:extLst>
      <p:ext uri="{BB962C8B-B14F-4D97-AF65-F5344CB8AC3E}">
        <p14:creationId xmlns:p14="http://schemas.microsoft.com/office/powerpoint/2010/main" val="215971538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F8C9C0D-1910-6C24-160C-142DA7790F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Indifference Curves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49E33CE3-D649-D8F5-E1EA-27E5E12AA490}"/>
                  </a:ext>
                </a:extLst>
              </p:cNvPr>
              <p:cNvSpPr>
                <a:spLocks noGrp="1"/>
              </p:cNvSpPr>
              <p:nvPr>
                <p:ph sz="half" idx="2"/>
              </p:nvPr>
            </p:nvSpPr>
            <p:spPr>
              <a:xfrm>
                <a:off x="4629150" y="1825625"/>
                <a:ext cx="3886200" cy="4351338"/>
              </a:xfrm>
            </p:spPr>
            <p:txBody>
              <a:bodyPr>
                <a:normAutofit/>
              </a:bodyPr>
              <a:lstStyle/>
              <a:p>
                <a:r>
                  <a:rPr lang="en-US" dirty="0"/>
                  <a:t>Comparing the three bundles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𝐴</m:t>
                    </m:r>
                  </m:oMath>
                </a14:m>
                <a:r>
                  <a:rPr lang="en-US" dirty="0"/>
                  <a:t>,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𝐵</m:t>
                    </m:r>
                  </m:oMath>
                </a14:m>
                <a:r>
                  <a:rPr lang="en-US" dirty="0"/>
                  <a:t>, and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𝐶</m:t>
                    </m:r>
                  </m:oMath>
                </a14:m>
                <a:r>
                  <a:rPr lang="en-US" dirty="0"/>
                  <a:t>…</a:t>
                </a:r>
              </a:p>
              <a:p>
                <a:pPr lvl="3"/>
                <a:endParaRPr lang="en-US" dirty="0"/>
              </a:p>
              <a:p>
                <a:r>
                  <a:rPr lang="en-US" dirty="0"/>
                  <a:t>Bundle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𝐵</m:t>
                    </m:r>
                  </m:oMath>
                </a14:m>
                <a:r>
                  <a:rPr lang="en-US" dirty="0"/>
                  <a:t> is preferred over bundle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𝐴</m:t>
                    </m:r>
                  </m:oMath>
                </a14:m>
                <a:r>
                  <a:rPr lang="en-US" dirty="0"/>
                  <a:t>, as it lies on an indifference curve further away from the origin.</a:t>
                </a:r>
              </a:p>
              <a:p>
                <a:pPr lvl="3"/>
                <a:endParaRPr lang="en-US" dirty="0"/>
              </a:p>
              <a:p>
                <a:r>
                  <a:rPr lang="en-US" dirty="0"/>
                  <a:t>Bundle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𝐶</m:t>
                    </m:r>
                  </m:oMath>
                </a14:m>
                <a:r>
                  <a:rPr lang="en-US" dirty="0"/>
                  <a:t> is less preferred than bundle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𝐴</m:t>
                    </m:r>
                  </m:oMath>
                </a14:m>
                <a:r>
                  <a:rPr lang="en-US" dirty="0"/>
                  <a:t>, since it lies on an indifference curve closer to the origin.</a:t>
                </a:r>
              </a:p>
            </p:txBody>
          </p:sp>
        </mc:Choice>
        <mc:Fallback xmlns=""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49E33CE3-D649-D8F5-E1EA-27E5E12AA49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2"/>
              </p:nvPr>
            </p:nvSpPr>
            <p:spPr>
              <a:xfrm>
                <a:off x="4629150" y="1825625"/>
                <a:ext cx="3886200" cy="4351338"/>
              </a:xfrm>
              <a:blipFill>
                <a:blip r:embed="rId2"/>
                <a:stretch>
                  <a:fillRect l="-2038" t="-1821" r="-266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E01B5E1-D1AA-B028-6963-3CE3E9702B8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Fall 2023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067FA1F-2D51-8784-F1AD-F6DE7F5A3BE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DEPARTMENT OF BUSINESS &amp; ECONOMICS</a:t>
            </a:r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F700FC9-C36A-7A2A-9447-B2E51FBB8F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980C56-831A-4EAB-9EDE-57C090F4F877}" type="slidenum">
              <a:rPr lang="en-US" smtClean="0"/>
              <a:t>21</a:t>
            </a:fld>
            <a:endParaRPr lang="en-US" dirty="0"/>
          </a:p>
        </p:txBody>
      </p:sp>
      <p:pic>
        <p:nvPicPr>
          <p:cNvPr id="15" name="Content Placeholder 14" descr="A graph of a function&#10;&#10;Description automatically generated with medium confidence">
            <a:extLst>
              <a:ext uri="{FF2B5EF4-FFF2-40B4-BE49-F238E27FC236}">
                <a16:creationId xmlns:a16="http://schemas.microsoft.com/office/drawing/2014/main" id="{3CB1F61A-13ED-BDFF-B1BF-72C4855EFF06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8650" y="1842294"/>
            <a:ext cx="3886200" cy="4318000"/>
          </a:xfrm>
        </p:spPr>
      </p:pic>
    </p:spTree>
    <p:extLst>
      <p:ext uri="{BB962C8B-B14F-4D97-AF65-F5344CB8AC3E}">
        <p14:creationId xmlns:p14="http://schemas.microsoft.com/office/powerpoint/2010/main" val="1282194780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F8C9C0D-1910-6C24-160C-142DA7790F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Indifference Curves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49E33CE3-D649-D8F5-E1EA-27E5E12AA490}"/>
                  </a:ext>
                </a:extLst>
              </p:cNvPr>
              <p:cNvSpPr>
                <a:spLocks noGrp="1"/>
              </p:cNvSpPr>
              <p:nvPr>
                <p:ph sz="half" idx="2"/>
              </p:nvPr>
            </p:nvSpPr>
            <p:spPr>
              <a:xfrm>
                <a:off x="4629150" y="1825625"/>
                <a:ext cx="3886200" cy="4351338"/>
              </a:xfrm>
            </p:spPr>
            <p:txBody>
              <a:bodyPr>
                <a:normAutofit/>
              </a:bodyPr>
              <a:lstStyle/>
              <a:p>
                <a:r>
                  <a:rPr lang="en-US" dirty="0"/>
                  <a:t>The slope of indifference curves are called the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𝑀𝑅𝑆</m:t>
                    </m:r>
                  </m:oMath>
                </a14:m>
                <a:r>
                  <a:rPr lang="en-US" dirty="0"/>
                  <a:t>, or the “marginal rate of substitution.”</a:t>
                </a:r>
              </a:p>
              <a:p>
                <a:endParaRPr lang="en-US" sz="50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𝑀𝑅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𝑆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𝑥𝑦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𝑀</m:t>
                          </m:r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𝑈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sub>
                          </m:sSub>
                        </m:num>
                        <m:den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𝑀</m:t>
                          </m:r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𝑈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  <a:endParaRPr lang="en-US" dirty="0"/>
              </a:p>
              <a:p>
                <a:pPr lvl="3"/>
                <a:endParaRPr lang="en-US" dirty="0"/>
              </a:p>
              <a:p>
                <a:r>
                  <a:rPr lang="en-US" dirty="0"/>
                  <a:t>“Maximum amount of good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𝑦</m:t>
                    </m:r>
                  </m:oMath>
                </a14:m>
                <a:r>
                  <a:rPr lang="en-US" dirty="0"/>
                  <a:t> that the consumer is willing to give up for 1 unit of good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en-US" dirty="0"/>
                  <a:t>.”</a:t>
                </a:r>
              </a:p>
            </p:txBody>
          </p:sp>
        </mc:Choice>
        <mc:Fallback xmlns=""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49E33CE3-D649-D8F5-E1EA-27E5E12AA49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2"/>
              </p:nvPr>
            </p:nvSpPr>
            <p:spPr>
              <a:xfrm>
                <a:off x="4629150" y="1825625"/>
                <a:ext cx="3886200" cy="4351338"/>
              </a:xfrm>
              <a:blipFill>
                <a:blip r:embed="rId2"/>
                <a:stretch>
                  <a:fillRect l="-2038" t="-1821" r="-391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E01B5E1-D1AA-B028-6963-3CE3E9702B8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Fall 2023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067FA1F-2D51-8784-F1AD-F6DE7F5A3BE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DEPARTMENT OF BUSINESS &amp; ECONOMICS</a:t>
            </a:r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F700FC9-C36A-7A2A-9447-B2E51FBB8F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980C56-831A-4EAB-9EDE-57C090F4F877}" type="slidenum">
              <a:rPr lang="en-US" smtClean="0"/>
              <a:t>22</a:t>
            </a:fld>
            <a:endParaRPr lang="en-US" dirty="0"/>
          </a:p>
        </p:txBody>
      </p:sp>
      <p:pic>
        <p:nvPicPr>
          <p:cNvPr id="10" name="Content Placeholder 9" descr="A graph of a function&#10;&#10;Description automatically generated">
            <a:extLst>
              <a:ext uri="{FF2B5EF4-FFF2-40B4-BE49-F238E27FC236}">
                <a16:creationId xmlns:a16="http://schemas.microsoft.com/office/drawing/2014/main" id="{B033E378-D8DF-1FAD-5121-343EC378DAD7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8650" y="1842294"/>
            <a:ext cx="3886200" cy="4318000"/>
          </a:xfrm>
        </p:spPr>
      </p:pic>
    </p:spTree>
    <p:extLst>
      <p:ext uri="{BB962C8B-B14F-4D97-AF65-F5344CB8AC3E}">
        <p14:creationId xmlns:p14="http://schemas.microsoft.com/office/powerpoint/2010/main" val="333614686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F8C9C0D-1910-6C24-160C-142DA7790F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Indifference Curves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49E33CE3-D649-D8F5-E1EA-27E5E12AA490}"/>
                  </a:ext>
                </a:extLst>
              </p:cNvPr>
              <p:cNvSpPr>
                <a:spLocks noGrp="1"/>
              </p:cNvSpPr>
              <p:nvPr>
                <p:ph sz="half" idx="2"/>
              </p:nvPr>
            </p:nvSpPr>
            <p:spPr>
              <a:xfrm>
                <a:off x="4629150" y="1825625"/>
                <a:ext cx="3886200" cy="4351338"/>
              </a:xfrm>
            </p:spPr>
            <p:txBody>
              <a:bodyPr>
                <a:normAutofit/>
              </a:bodyPr>
              <a:lstStyle/>
              <a:p>
                <a:r>
                  <a:rPr lang="en-US" dirty="0"/>
                  <a:t>The consumer will be willing to “sell” up to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𝑀𝑅𝑆</m:t>
                    </m:r>
                  </m:oMath>
                </a14:m>
                <a:r>
                  <a:rPr lang="en-US" dirty="0"/>
                  <a:t> units of good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𝑦</m:t>
                    </m:r>
                  </m:oMath>
                </a14:m>
                <a:r>
                  <a:rPr lang="en-US" dirty="0"/>
                  <a:t> for “1” unit of good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en-US" dirty="0"/>
                  <a:t>.</a:t>
                </a:r>
              </a:p>
              <a:p>
                <a:pPr lvl="3"/>
                <a:endParaRPr lang="en-US" dirty="0"/>
              </a:p>
              <a:p>
                <a:r>
                  <a:rPr lang="en-US" dirty="0"/>
                  <a:t>If they give up any more than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𝑀𝑅𝑆</m:t>
                    </m:r>
                  </m:oMath>
                </a14:m>
                <a:r>
                  <a:rPr lang="en-US" dirty="0"/>
                  <a:t> units, their utility will drop below the level they secured while consuming bundle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𝐴</m:t>
                    </m:r>
                  </m:oMath>
                </a14:m>
                <a:r>
                  <a:rPr lang="en-US" dirty="0"/>
                  <a:t>.</a:t>
                </a:r>
              </a:p>
            </p:txBody>
          </p:sp>
        </mc:Choice>
        <mc:Fallback xmlns=""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49E33CE3-D649-D8F5-E1EA-27E5E12AA49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2"/>
              </p:nvPr>
            </p:nvSpPr>
            <p:spPr>
              <a:xfrm>
                <a:off x="4629150" y="1825625"/>
                <a:ext cx="3886200" cy="4351338"/>
              </a:xfrm>
              <a:blipFill>
                <a:blip r:embed="rId2"/>
                <a:stretch>
                  <a:fillRect l="-2038" t="-1821" r="-282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E01B5E1-D1AA-B028-6963-3CE3E9702B8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Fall 2023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067FA1F-2D51-8784-F1AD-F6DE7F5A3BE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DEPARTMENT OF BUSINESS &amp; ECONOMICS</a:t>
            </a:r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F700FC9-C36A-7A2A-9447-B2E51FBB8F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980C56-831A-4EAB-9EDE-57C090F4F877}" type="slidenum">
              <a:rPr lang="en-US" smtClean="0"/>
              <a:t>23</a:t>
            </a:fld>
            <a:endParaRPr lang="en-US" dirty="0"/>
          </a:p>
        </p:txBody>
      </p:sp>
      <p:pic>
        <p:nvPicPr>
          <p:cNvPr id="11" name="Content Placeholder 10" descr="A graph of a function&#10;&#10;Description automatically generated">
            <a:extLst>
              <a:ext uri="{FF2B5EF4-FFF2-40B4-BE49-F238E27FC236}">
                <a16:creationId xmlns:a16="http://schemas.microsoft.com/office/drawing/2014/main" id="{ACCD81B3-8505-B0F3-A02E-C1BB7F602F2F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8650" y="1842294"/>
            <a:ext cx="3886200" cy="4318000"/>
          </a:xfrm>
        </p:spPr>
      </p:pic>
    </p:spTree>
    <p:extLst>
      <p:ext uri="{BB962C8B-B14F-4D97-AF65-F5344CB8AC3E}">
        <p14:creationId xmlns:p14="http://schemas.microsoft.com/office/powerpoint/2010/main" val="550840938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F8C9C0D-1910-6C24-160C-142DA7790F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Indifference Curves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49E33CE3-D649-D8F5-E1EA-27E5E12AA490}"/>
                  </a:ext>
                </a:extLst>
              </p:cNvPr>
              <p:cNvSpPr>
                <a:spLocks noGrp="1"/>
              </p:cNvSpPr>
              <p:nvPr>
                <p:ph sz="half" idx="2"/>
              </p:nvPr>
            </p:nvSpPr>
            <p:spPr>
              <a:xfrm>
                <a:off x="4629150" y="1825625"/>
                <a:ext cx="3886200" cy="4351338"/>
              </a:xfrm>
            </p:spPr>
            <p:txBody>
              <a:bodyPr>
                <a:normAutofit/>
              </a:bodyPr>
              <a:lstStyle/>
              <a:p>
                <a:r>
                  <a:rPr lang="en-US" dirty="0"/>
                  <a:t>Law of diminishing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𝑀𝑅𝑆</m:t>
                    </m:r>
                  </m:oMath>
                </a14:m>
                <a:r>
                  <a:rPr lang="en-US" dirty="0"/>
                  <a:t> states that the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𝑀𝑅𝑆</m:t>
                    </m:r>
                  </m:oMath>
                </a14:m>
                <a:r>
                  <a:rPr lang="en-US" dirty="0"/>
                  <a:t> falls when one consumes more units of good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en-US" dirty="0"/>
                  <a:t>.</a:t>
                </a:r>
              </a:p>
              <a:p>
                <a:pPr lvl="3"/>
                <a:endParaRPr lang="en-US" dirty="0"/>
              </a:p>
              <a:p>
                <a:r>
                  <a:rPr lang="en-US" dirty="0"/>
                  <a:t>Compare bundle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𝐴</m:t>
                    </m:r>
                  </m:oMath>
                </a14:m>
                <a:r>
                  <a:rPr lang="en-US" dirty="0"/>
                  <a:t> to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𝐵</m:t>
                    </m:r>
                  </m:oMath>
                </a14:m>
                <a:r>
                  <a:rPr lang="en-US" dirty="0"/>
                  <a:t>…</a:t>
                </a:r>
              </a:p>
              <a:p>
                <a:pPr lvl="1"/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𝐴</m:t>
                    </m:r>
                  </m:oMath>
                </a14:m>
                <a:r>
                  <a:rPr lang="en-US" dirty="0"/>
                  <a:t>: Good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𝑦</m:t>
                    </m:r>
                  </m:oMath>
                </a14:m>
                <a:r>
                  <a:rPr lang="en-US" dirty="0"/>
                  <a:t> is “scarce.”</a:t>
                </a:r>
              </a:p>
              <a:p>
                <a:pPr lvl="1"/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𝐵</m:t>
                    </m:r>
                  </m:oMath>
                </a14:m>
                <a:r>
                  <a:rPr lang="en-US" dirty="0"/>
                  <a:t>: Good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𝑦</m:t>
                    </m:r>
                  </m:oMath>
                </a14:m>
                <a:r>
                  <a:rPr lang="en-US" dirty="0"/>
                  <a:t> is less “scarce.”</a:t>
                </a:r>
              </a:p>
              <a:p>
                <a:pPr lvl="1"/>
                <a:r>
                  <a:rPr lang="en-US" dirty="0"/>
                  <a:t>So, the consumer should be willing to “sell” more units of good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𝑦</m:t>
                    </m:r>
                  </m:oMath>
                </a14:m>
                <a:r>
                  <a:rPr lang="en-US" dirty="0"/>
                  <a:t> for one good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en-US" dirty="0"/>
                  <a:t> when they are at bundle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𝐴</m:t>
                    </m:r>
                  </m:oMath>
                </a14:m>
                <a:r>
                  <a:rPr lang="en-US" dirty="0"/>
                  <a:t>.</a:t>
                </a:r>
              </a:p>
            </p:txBody>
          </p:sp>
        </mc:Choice>
        <mc:Fallback xmlns=""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49E33CE3-D649-D8F5-E1EA-27E5E12AA49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2"/>
              </p:nvPr>
            </p:nvSpPr>
            <p:spPr>
              <a:xfrm>
                <a:off x="4629150" y="1825625"/>
                <a:ext cx="3886200" cy="4351338"/>
              </a:xfrm>
              <a:blipFill>
                <a:blip r:embed="rId2"/>
                <a:stretch>
                  <a:fillRect l="-2038" t="-1821" r="-282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E01B5E1-D1AA-B028-6963-3CE3E9702B8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Fall 2023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067FA1F-2D51-8784-F1AD-F6DE7F5A3BE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DEPARTMENT OF BUSINESS &amp; ECONOMICS</a:t>
            </a:r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F700FC9-C36A-7A2A-9447-B2E51FBB8F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980C56-831A-4EAB-9EDE-57C090F4F877}" type="slidenum">
              <a:rPr lang="en-US" smtClean="0"/>
              <a:t>24</a:t>
            </a:fld>
            <a:endParaRPr lang="en-US" dirty="0"/>
          </a:p>
        </p:txBody>
      </p:sp>
      <p:pic>
        <p:nvPicPr>
          <p:cNvPr id="10" name="Content Placeholder 9" descr="A graph of a function&#10;&#10;Description automatically generated">
            <a:extLst>
              <a:ext uri="{FF2B5EF4-FFF2-40B4-BE49-F238E27FC236}">
                <a16:creationId xmlns:a16="http://schemas.microsoft.com/office/drawing/2014/main" id="{8A6E0273-9EF2-EE8A-52AB-58A43393E000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8650" y="1842294"/>
            <a:ext cx="3886200" cy="4318000"/>
          </a:xfrm>
        </p:spPr>
      </p:pic>
    </p:spTree>
    <p:extLst>
      <p:ext uri="{BB962C8B-B14F-4D97-AF65-F5344CB8AC3E}">
        <p14:creationId xmlns:p14="http://schemas.microsoft.com/office/powerpoint/2010/main" val="1102672720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7C38C32-16EF-7A19-879E-7BB3EBF173B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Types of Utility Functions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9A0AC515-368D-9360-980E-154F761CB77E}"/>
                  </a:ext>
                </a:extLst>
              </p:cNvPr>
              <p:cNvSpPr>
                <a:spLocks noGrp="1"/>
              </p:cNvSpPr>
              <p:nvPr>
                <p:ph sz="half" idx="2"/>
              </p:nvPr>
            </p:nvSpPr>
            <p:spPr/>
            <p:txBody>
              <a:bodyPr/>
              <a:lstStyle/>
              <a:p>
                <a:r>
                  <a:rPr lang="en-US" dirty="0"/>
                  <a:t>Linear Utility Functions:</a:t>
                </a:r>
              </a:p>
              <a:p>
                <a:endParaRPr lang="en-US" sz="50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𝑢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𝑎𝑥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𝑏𝑦</m:t>
                      </m:r>
                    </m:oMath>
                  </m:oMathPara>
                </a14:m>
                <a:endParaRPr lang="en-US" dirty="0"/>
              </a:p>
              <a:p>
                <a:pPr lvl="3"/>
                <a:endParaRPr lang="en-US" dirty="0"/>
              </a:p>
              <a:p>
                <a:r>
                  <a:rPr lang="en-US" dirty="0"/>
                  <a:t>Good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en-US" dirty="0"/>
                  <a:t> and good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𝑦</m:t>
                    </m:r>
                  </m:oMath>
                </a14:m>
                <a:r>
                  <a:rPr lang="en-US" dirty="0"/>
                  <a:t> are perfect substitutes.</a:t>
                </a:r>
              </a:p>
              <a:p>
                <a:pPr lvl="3"/>
                <a:endParaRPr lang="en-US" dirty="0"/>
              </a:p>
              <a:p>
                <a:r>
                  <a:rPr lang="en-US" dirty="0"/>
                  <a:t>Indifference curves further away from the origin represent a higher utility.</a:t>
                </a:r>
              </a:p>
            </p:txBody>
          </p:sp>
        </mc:Choice>
        <mc:Fallback xmlns=""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9A0AC515-368D-9360-980E-154F761CB77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2"/>
              </p:nvPr>
            </p:nvSpPr>
            <p:spPr>
              <a:blipFill>
                <a:blip r:embed="rId2"/>
                <a:stretch>
                  <a:fillRect l="-2038" t="-1821" r="-313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AB0AD5D-99C3-5994-3CB3-9EB209290F9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Fall 2023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E617879-88F0-9990-C275-DE5F8E77E8A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DEPARTMENT OF BUSINESS &amp; ECONOMICS</a:t>
            </a:r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6AA5E09-19BC-0270-FFFC-560172614F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980C56-831A-4EAB-9EDE-57C090F4F877}" type="slidenum">
              <a:rPr lang="en-US" smtClean="0"/>
              <a:t>25</a:t>
            </a:fld>
            <a:endParaRPr lang="en-US" dirty="0"/>
          </a:p>
        </p:txBody>
      </p:sp>
      <p:pic>
        <p:nvPicPr>
          <p:cNvPr id="13" name="Content Placeholder 12" descr="A graph of lines and numbers&#10;&#10;Description automatically generated with medium confidence">
            <a:extLst>
              <a:ext uri="{FF2B5EF4-FFF2-40B4-BE49-F238E27FC236}">
                <a16:creationId xmlns:a16="http://schemas.microsoft.com/office/drawing/2014/main" id="{1705D5D3-A912-19BD-5077-8FF82F5E02D9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8650" y="1842294"/>
            <a:ext cx="3886200" cy="4318000"/>
          </a:xfrm>
        </p:spPr>
      </p:pic>
    </p:spTree>
    <p:extLst>
      <p:ext uri="{BB962C8B-B14F-4D97-AF65-F5344CB8AC3E}">
        <p14:creationId xmlns:p14="http://schemas.microsoft.com/office/powerpoint/2010/main" val="2896660100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7C38C32-16EF-7A19-879E-7BB3EBF173B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Types of Utility Functions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9A0AC515-368D-9360-980E-154F761CB77E}"/>
                  </a:ext>
                </a:extLst>
              </p:cNvPr>
              <p:cNvSpPr>
                <a:spLocks noGrp="1"/>
              </p:cNvSpPr>
              <p:nvPr>
                <p:ph sz="half" idx="2"/>
              </p:nvPr>
            </p:nvSpPr>
            <p:spPr/>
            <p:txBody>
              <a:bodyPr/>
              <a:lstStyle/>
              <a:p>
                <a:r>
                  <a:rPr lang="en-US" dirty="0"/>
                  <a:t>Leontief Utility Functions:</a:t>
                </a:r>
              </a:p>
              <a:p>
                <a:endParaRPr lang="en-US" sz="50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latin typeface="Cambria Math" panose="02040503050406030204" pitchFamily="18" charset="0"/>
                        </a:rPr>
                        <m:t>𝑢</m:t>
                      </m:r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</m:d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m:rPr>
                          <m:sty m:val="p"/>
                        </m:rPr>
                        <a:rPr lang="en-US">
                          <a:latin typeface="Cambria Math" panose="02040503050406030204" pitchFamily="18" charset="0"/>
                        </a:rPr>
                        <m:t>min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⁡{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𝑎𝑥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𝑏𝑦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}</m:t>
                      </m:r>
                    </m:oMath>
                  </m:oMathPara>
                </a14:m>
                <a:endParaRPr lang="en-US" dirty="0"/>
              </a:p>
              <a:p>
                <a:pPr lvl="3"/>
                <a:endParaRPr lang="en-US" dirty="0"/>
              </a:p>
              <a:p>
                <a:r>
                  <a:rPr lang="en-US" dirty="0"/>
                  <a:t>Good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en-US" dirty="0"/>
                  <a:t> and good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𝑦</m:t>
                    </m:r>
                  </m:oMath>
                </a14:m>
                <a:r>
                  <a:rPr lang="en-US" dirty="0"/>
                  <a:t> are perfect complements.</a:t>
                </a:r>
              </a:p>
              <a:p>
                <a:pPr lvl="3"/>
                <a:endParaRPr lang="en-US" dirty="0"/>
              </a:p>
              <a:p>
                <a:r>
                  <a:rPr lang="en-US" dirty="0"/>
                  <a:t>Indifference curves further away from the origin represent a higher utility.</a:t>
                </a:r>
              </a:p>
            </p:txBody>
          </p:sp>
        </mc:Choice>
        <mc:Fallback xmlns=""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9A0AC515-368D-9360-980E-154F761CB77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2"/>
              </p:nvPr>
            </p:nvSpPr>
            <p:spPr>
              <a:blipFill>
                <a:blip r:embed="rId2"/>
                <a:stretch>
                  <a:fillRect l="-2038" t="-1821" r="-313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AB0AD5D-99C3-5994-3CB3-9EB209290F9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Fall 2023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E617879-88F0-9990-C275-DE5F8E77E8A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DEPARTMENT OF BUSINESS &amp; ECONOMICS</a:t>
            </a:r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6AA5E09-19BC-0270-FFFC-560172614F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980C56-831A-4EAB-9EDE-57C090F4F877}" type="slidenum">
              <a:rPr lang="en-US" smtClean="0"/>
              <a:t>26</a:t>
            </a:fld>
            <a:endParaRPr lang="en-US" dirty="0"/>
          </a:p>
        </p:txBody>
      </p:sp>
      <p:pic>
        <p:nvPicPr>
          <p:cNvPr id="15" name="Content Placeholder 14" descr="A graph of colored lines&#10;&#10;Description automatically generated">
            <a:extLst>
              <a:ext uri="{FF2B5EF4-FFF2-40B4-BE49-F238E27FC236}">
                <a16:creationId xmlns:a16="http://schemas.microsoft.com/office/drawing/2014/main" id="{26C9FA7A-EECE-ABDD-E0D1-B77A3BF95954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8650" y="1842294"/>
            <a:ext cx="3886200" cy="4318000"/>
          </a:xfrm>
        </p:spPr>
      </p:pic>
    </p:spTree>
    <p:extLst>
      <p:ext uri="{BB962C8B-B14F-4D97-AF65-F5344CB8AC3E}">
        <p14:creationId xmlns:p14="http://schemas.microsoft.com/office/powerpoint/2010/main" val="176916346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7C38C32-16EF-7A19-879E-7BB3EBF173B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Types of Utility Functions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9A0AC515-368D-9360-980E-154F761CB77E}"/>
                  </a:ext>
                </a:extLst>
              </p:cNvPr>
              <p:cNvSpPr>
                <a:spLocks noGrp="1"/>
              </p:cNvSpPr>
              <p:nvPr>
                <p:ph sz="half" idx="2"/>
              </p:nvPr>
            </p:nvSpPr>
            <p:spPr/>
            <p:txBody>
              <a:bodyPr/>
              <a:lstStyle/>
              <a:p>
                <a:r>
                  <a:rPr lang="en-US" dirty="0"/>
                  <a:t>Cobb-Douglas Utility:</a:t>
                </a:r>
              </a:p>
              <a:p>
                <a:endParaRPr lang="en-US" sz="50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𝑢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𝑐</m:t>
                      </m:r>
                      <m:sSup>
                        <m:sSup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</m:sup>
                      </m:sSup>
                      <m:sSup>
                        <m:sSup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</m:sup>
                      </m:sSup>
                    </m:oMath>
                  </m:oMathPara>
                </a14:m>
                <a:endParaRPr lang="en-US" dirty="0"/>
              </a:p>
              <a:p>
                <a:pPr lvl="3"/>
                <a:endParaRPr lang="en-US" dirty="0"/>
              </a:p>
              <a:p>
                <a:r>
                  <a:rPr lang="en-US" dirty="0"/>
                  <a:t>Good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en-US" dirty="0"/>
                  <a:t> and good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𝑦</m:t>
                    </m:r>
                  </m:oMath>
                </a14:m>
                <a:r>
                  <a:rPr lang="en-US" dirty="0"/>
                  <a:t> substitute each other, but the consumer also wants a mix of the two goods.</a:t>
                </a:r>
              </a:p>
              <a:p>
                <a:pPr lvl="3"/>
                <a:endParaRPr lang="en-US" dirty="0"/>
              </a:p>
              <a:p>
                <a:r>
                  <a:rPr lang="en-US" dirty="0"/>
                  <a:t>Indifference curves further away from the origin represent a higher utility.</a:t>
                </a:r>
              </a:p>
            </p:txBody>
          </p:sp>
        </mc:Choice>
        <mc:Fallback xmlns=""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9A0AC515-368D-9360-980E-154F761CB77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2"/>
              </p:nvPr>
            </p:nvSpPr>
            <p:spPr>
              <a:blipFill>
                <a:blip r:embed="rId2"/>
                <a:stretch>
                  <a:fillRect l="-2038" t="-1821" r="-391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AB0AD5D-99C3-5994-3CB3-9EB209290F9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Fall 2023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E617879-88F0-9990-C275-DE5F8E77E8A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DEPARTMENT OF BUSINESS &amp; ECONOMICS</a:t>
            </a:r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6AA5E09-19BC-0270-FFFC-560172614F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980C56-831A-4EAB-9EDE-57C090F4F877}" type="slidenum">
              <a:rPr lang="en-US" smtClean="0"/>
              <a:t>27</a:t>
            </a:fld>
            <a:endParaRPr lang="en-US" dirty="0"/>
          </a:p>
        </p:txBody>
      </p:sp>
      <p:pic>
        <p:nvPicPr>
          <p:cNvPr id="11" name="Content Placeholder 10" descr="A graph of a graph&#10;&#10;Description automatically generated with medium confidence">
            <a:extLst>
              <a:ext uri="{FF2B5EF4-FFF2-40B4-BE49-F238E27FC236}">
                <a16:creationId xmlns:a16="http://schemas.microsoft.com/office/drawing/2014/main" id="{2D170E20-E82F-E267-AB6A-44C34D616152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8650" y="1842294"/>
            <a:ext cx="3886200" cy="4318000"/>
          </a:xfrm>
        </p:spPr>
      </p:pic>
    </p:spTree>
    <p:extLst>
      <p:ext uri="{BB962C8B-B14F-4D97-AF65-F5344CB8AC3E}">
        <p14:creationId xmlns:p14="http://schemas.microsoft.com/office/powerpoint/2010/main" val="1187149727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7C38C32-16EF-7A19-879E-7BB3EBF173B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Utility Maximization Problem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9A0AC515-368D-9360-980E-154F761CB77E}"/>
                  </a:ext>
                </a:extLst>
              </p:cNvPr>
              <p:cNvSpPr>
                <a:spLocks noGrp="1"/>
              </p:cNvSpPr>
              <p:nvPr>
                <p:ph sz="half" idx="2"/>
              </p:nvPr>
            </p:nvSpPr>
            <p:spPr/>
            <p:txBody>
              <a:bodyPr/>
              <a:lstStyle/>
              <a:p>
                <a:r>
                  <a:rPr lang="en-US" dirty="0"/>
                  <a:t>Interpreting imbalances…</a:t>
                </a:r>
              </a:p>
              <a:p>
                <a:endParaRPr lang="en-US" sz="50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𝑀𝑅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𝑆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𝑥𝑦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𝑃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sub>
                          </m:sSub>
                        </m:num>
                        <m:den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𝑃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  <a:endParaRPr lang="en-US" dirty="0"/>
              </a:p>
              <a:p>
                <a:pPr lvl="3"/>
                <a:endParaRPr lang="en-US" dirty="0"/>
              </a:p>
              <a:p>
                <a:r>
                  <a:rPr lang="en-US" dirty="0"/>
                  <a:t>Achieved when the slope of the indifference curve matches the slope of the budget line.</a:t>
                </a:r>
              </a:p>
            </p:txBody>
          </p:sp>
        </mc:Choice>
        <mc:Fallback xmlns=""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9A0AC515-368D-9360-980E-154F761CB77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2"/>
              </p:nvPr>
            </p:nvSpPr>
            <p:spPr>
              <a:blipFill>
                <a:blip r:embed="rId2"/>
                <a:stretch>
                  <a:fillRect l="-2038" t="-182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AB0AD5D-99C3-5994-3CB3-9EB209290F9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Fall 2023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E617879-88F0-9990-C275-DE5F8E77E8A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DEPARTMENT OF BUSINESS &amp; ECONOMICS</a:t>
            </a:r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6AA5E09-19BC-0270-FFFC-560172614F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980C56-831A-4EAB-9EDE-57C090F4F877}" type="slidenum">
              <a:rPr lang="en-US" smtClean="0"/>
              <a:t>28</a:t>
            </a:fld>
            <a:endParaRPr lang="en-US" dirty="0"/>
          </a:p>
        </p:txBody>
      </p:sp>
      <p:pic>
        <p:nvPicPr>
          <p:cNvPr id="8" name="Content Placeholder 7" descr="A graph of a function&#10;&#10;Description automatically generated">
            <a:extLst>
              <a:ext uri="{FF2B5EF4-FFF2-40B4-BE49-F238E27FC236}">
                <a16:creationId xmlns:a16="http://schemas.microsoft.com/office/drawing/2014/main" id="{04093344-D767-52A9-9A8E-13289C381E9E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8650" y="1842294"/>
            <a:ext cx="3886200" cy="4318000"/>
          </a:xfrm>
        </p:spPr>
      </p:pic>
    </p:spTree>
    <p:extLst>
      <p:ext uri="{BB962C8B-B14F-4D97-AF65-F5344CB8AC3E}">
        <p14:creationId xmlns:p14="http://schemas.microsoft.com/office/powerpoint/2010/main" val="4097894541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7C38C32-16EF-7A19-879E-7BB3EBF173B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Utility Maximization Problem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9A0AC515-368D-9360-980E-154F761CB77E}"/>
                  </a:ext>
                </a:extLst>
              </p:cNvPr>
              <p:cNvSpPr>
                <a:spLocks noGrp="1"/>
              </p:cNvSpPr>
              <p:nvPr>
                <p:ph sz="half" idx="2"/>
              </p:nvPr>
            </p:nvSpPr>
            <p:spPr/>
            <p:txBody>
              <a:bodyPr/>
              <a:lstStyle/>
              <a:p>
                <a:r>
                  <a:rPr lang="en-US" dirty="0"/>
                  <a:t>Interpreting imbalances…</a:t>
                </a:r>
              </a:p>
              <a:p>
                <a:endParaRPr lang="en-US" sz="50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𝑀𝑅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𝑆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𝑥𝑦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&gt;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𝑃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sub>
                          </m:sSub>
                        </m:num>
                        <m:den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𝑃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  <a:endParaRPr lang="en-US" dirty="0"/>
              </a:p>
              <a:p>
                <a:pPr lvl="3"/>
                <a:endParaRPr lang="en-US" dirty="0"/>
              </a:p>
              <a:p>
                <a:r>
                  <a:rPr lang="en-US" dirty="0"/>
                  <a:t>The consumer is willing to “pay” more units of good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𝑦</m:t>
                    </m:r>
                  </m:oMath>
                </a14:m>
                <a:r>
                  <a:rPr lang="en-US" dirty="0"/>
                  <a:t> for 1 unit of good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en-US" dirty="0"/>
                  <a:t> than is required by the market.</a:t>
                </a:r>
              </a:p>
              <a:p>
                <a:pPr lvl="3"/>
                <a:endParaRPr lang="en-US" dirty="0"/>
              </a:p>
              <a:p>
                <a:r>
                  <a:rPr lang="en-US" dirty="0"/>
                  <a:t>“Sell some good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𝑦</m:t>
                    </m:r>
                  </m:oMath>
                </a14:m>
                <a:r>
                  <a:rPr lang="en-US" dirty="0"/>
                  <a:t> to buy more of good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en-US" dirty="0"/>
                  <a:t>.”</a:t>
                </a:r>
              </a:p>
            </p:txBody>
          </p:sp>
        </mc:Choice>
        <mc:Fallback xmlns=""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9A0AC515-368D-9360-980E-154F761CB77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2"/>
              </p:nvPr>
            </p:nvSpPr>
            <p:spPr>
              <a:blipFill>
                <a:blip r:embed="rId2"/>
                <a:stretch>
                  <a:fillRect l="-2038" t="-1821" r="-250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AB0AD5D-99C3-5994-3CB3-9EB209290F9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Fall 2023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E617879-88F0-9990-C275-DE5F8E77E8A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DEPARTMENT OF BUSINESS &amp; ECONOMICS</a:t>
            </a:r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6AA5E09-19BC-0270-FFFC-560172614F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980C56-831A-4EAB-9EDE-57C090F4F877}" type="slidenum">
              <a:rPr lang="en-US" smtClean="0"/>
              <a:t>29</a:t>
            </a:fld>
            <a:endParaRPr lang="en-US" dirty="0"/>
          </a:p>
        </p:txBody>
      </p:sp>
      <p:pic>
        <p:nvPicPr>
          <p:cNvPr id="35" name="Content Placeholder 34" descr="A graph of a function&#10;&#10;Description automatically generated">
            <a:extLst>
              <a:ext uri="{FF2B5EF4-FFF2-40B4-BE49-F238E27FC236}">
                <a16:creationId xmlns:a16="http://schemas.microsoft.com/office/drawing/2014/main" id="{FF647757-46A2-84DD-E5FC-FF862B3AE915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8650" y="1842294"/>
            <a:ext cx="3886200" cy="4318000"/>
          </a:xfrm>
        </p:spPr>
      </p:pic>
    </p:spTree>
    <p:extLst>
      <p:ext uri="{BB962C8B-B14F-4D97-AF65-F5344CB8AC3E}">
        <p14:creationId xmlns:p14="http://schemas.microsoft.com/office/powerpoint/2010/main" val="3571311502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7C38C32-16EF-7A19-879E-7BB3EBF173B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Utility Maximization Problem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9A0AC515-368D-9360-980E-154F761CB77E}"/>
                  </a:ext>
                </a:extLst>
              </p:cNvPr>
              <p:cNvSpPr>
                <a:spLocks noGrp="1"/>
              </p:cNvSpPr>
              <p:nvPr>
                <p:ph sz="half" idx="2"/>
              </p:nvPr>
            </p:nvSpPr>
            <p:spPr/>
            <p:txBody>
              <a:bodyPr/>
              <a:lstStyle/>
              <a:p>
                <a:r>
                  <a:rPr lang="en-US" dirty="0"/>
                  <a:t>Interpreting imbalances…</a:t>
                </a:r>
              </a:p>
              <a:p>
                <a:endParaRPr lang="en-US" sz="50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𝑀𝑅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𝑆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𝑥𝑦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&lt;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𝑃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sub>
                          </m:sSub>
                        </m:num>
                        <m:den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𝑃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  <a:endParaRPr lang="en-US" dirty="0"/>
              </a:p>
              <a:p>
                <a:pPr lvl="3"/>
                <a:endParaRPr lang="en-US" dirty="0"/>
              </a:p>
              <a:p>
                <a:r>
                  <a:rPr lang="en-US" dirty="0"/>
                  <a:t>The consumer assigns a higher value on good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𝑦</m:t>
                    </m:r>
                  </m:oMath>
                </a14:m>
                <a:r>
                  <a:rPr lang="en-US" dirty="0"/>
                  <a:t> than the market valuation of good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𝑦</m:t>
                    </m:r>
                  </m:oMath>
                </a14:m>
                <a:r>
                  <a:rPr lang="en-US" dirty="0"/>
                  <a:t>.</a:t>
                </a:r>
              </a:p>
              <a:p>
                <a:pPr lvl="3"/>
                <a:endParaRPr lang="en-US" dirty="0"/>
              </a:p>
              <a:p>
                <a:r>
                  <a:rPr lang="en-US" dirty="0"/>
                  <a:t>“Sell some good </a:t>
                </a:r>
                <a14:m>
                  <m:oMath xmlns:m="http://schemas.openxmlformats.org/officeDocument/2006/math"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en-US" dirty="0"/>
                  <a:t> to buy more of good </a:t>
                </a:r>
                <a14:m>
                  <m:oMath xmlns:m="http://schemas.openxmlformats.org/officeDocument/2006/math"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𝑦</m:t>
                    </m:r>
                  </m:oMath>
                </a14:m>
                <a:r>
                  <a:rPr lang="en-US" dirty="0"/>
                  <a:t>.”</a:t>
                </a:r>
              </a:p>
            </p:txBody>
          </p:sp>
        </mc:Choice>
        <mc:Fallback xmlns=""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9A0AC515-368D-9360-980E-154F761CB77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2"/>
              </p:nvPr>
            </p:nvSpPr>
            <p:spPr>
              <a:blipFill>
                <a:blip r:embed="rId2"/>
                <a:stretch>
                  <a:fillRect l="-2038" t="-1821" r="-47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AB0AD5D-99C3-5994-3CB3-9EB209290F9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Fall 2023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E617879-88F0-9990-C275-DE5F8E77E8A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DEPARTMENT OF BUSINESS &amp; ECONOMICS</a:t>
            </a:r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6AA5E09-19BC-0270-FFFC-560172614F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980C56-831A-4EAB-9EDE-57C090F4F877}" type="slidenum">
              <a:rPr lang="en-US" smtClean="0"/>
              <a:t>30</a:t>
            </a:fld>
            <a:endParaRPr lang="en-US" dirty="0"/>
          </a:p>
        </p:txBody>
      </p:sp>
      <p:pic>
        <p:nvPicPr>
          <p:cNvPr id="8" name="Content Placeholder 7" descr="A graph of a function&#10;&#10;Description automatically generated">
            <a:extLst>
              <a:ext uri="{FF2B5EF4-FFF2-40B4-BE49-F238E27FC236}">
                <a16:creationId xmlns:a16="http://schemas.microsoft.com/office/drawing/2014/main" id="{BEF6C0A4-FDFD-9CF1-FCB5-3B72CD314ABC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8650" y="1842294"/>
            <a:ext cx="3886200" cy="4318000"/>
          </a:xfrm>
        </p:spPr>
      </p:pic>
    </p:spTree>
    <p:extLst>
      <p:ext uri="{BB962C8B-B14F-4D97-AF65-F5344CB8AC3E}">
        <p14:creationId xmlns:p14="http://schemas.microsoft.com/office/powerpoint/2010/main" val="2477506368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8E3986-575B-B929-0562-1561C73A78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UMP: Cobb-Douglas Utility Functions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A717BAA-D4BA-C7EB-5696-203603829C7C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628650" y="1825626"/>
                <a:ext cx="7886700" cy="4394020"/>
              </a:xfrm>
            </p:spPr>
            <p:txBody>
              <a:bodyPr>
                <a:normAutofit lnSpcReduction="10000"/>
              </a:bodyPr>
              <a:lstStyle/>
              <a:p>
                <a:r>
                  <a:rPr lang="en-US" b="0" dirty="0"/>
                  <a:t>When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𝑢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𝑐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𝑎</m:t>
                        </m:r>
                      </m:sup>
                    </m:sSup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𝑏</m:t>
                        </m:r>
                      </m:sup>
                    </m:sSup>
                  </m:oMath>
                </a14:m>
                <a:endParaRPr lang="en-US" dirty="0"/>
              </a:p>
              <a:p>
                <a:pPr marL="457200" indent="-457200">
                  <a:buFont typeface="+mj-lt"/>
                  <a:buAutoNum type="arabicPeriod"/>
                </a:pPr>
                <a:endParaRPr lang="en-US" sz="1600" dirty="0"/>
              </a:p>
              <a:p>
                <a:pPr marL="457200" indent="-457200">
                  <a:buFont typeface="+mj-lt"/>
                  <a:buAutoNum type="arabicPeriod"/>
                </a:pPr>
                <a:r>
                  <a:rPr lang="en-US" dirty="0"/>
                  <a:t>Find the Marginal Utility of each good.</a:t>
                </a:r>
              </a:p>
              <a:p>
                <a:pPr marL="457200" indent="-457200">
                  <a:buFont typeface="+mj-lt"/>
                  <a:buAutoNum type="arabicPeriod"/>
                </a:pPr>
                <a:endParaRPr lang="en-US" sz="1600" dirty="0"/>
              </a:p>
              <a:p>
                <a:pPr marL="457200" indent="-457200">
                  <a:buFont typeface="+mj-lt"/>
                  <a:buAutoNum type="arabicPeriod"/>
                </a:pPr>
                <a:r>
                  <a:rPr lang="en-US" dirty="0"/>
                  <a:t>Find the Marginal Rate of Substitution.</a:t>
                </a:r>
              </a:p>
              <a:p>
                <a:pPr marL="457200" indent="-457200">
                  <a:buFont typeface="+mj-lt"/>
                  <a:buAutoNum type="arabicPeriod"/>
                </a:pPr>
                <a:endParaRPr lang="en-US" sz="1600" dirty="0"/>
              </a:p>
              <a:p>
                <a:pPr marL="457200" indent="-457200">
                  <a:buFont typeface="+mj-lt"/>
                  <a:buAutoNum type="arabicPeriod"/>
                </a:pPr>
                <a:r>
                  <a:rPr lang="en-US" dirty="0"/>
                  <a:t>Find the optimal ratio of the goods.</a:t>
                </a:r>
              </a:p>
              <a:p>
                <a:pPr marL="457200" indent="-457200">
                  <a:buFont typeface="+mj-lt"/>
                  <a:buAutoNum type="arabicPeriod"/>
                </a:pPr>
                <a:endParaRPr lang="en-US" sz="1600" dirty="0"/>
              </a:p>
              <a:p>
                <a:pPr marL="457200" indent="-457200">
                  <a:buFont typeface="+mj-lt"/>
                  <a:buAutoNum type="arabicPeriod"/>
                </a:pPr>
                <a:r>
                  <a:rPr lang="en-US" dirty="0"/>
                  <a:t>Combine the optimal ratio and the budget constraint.</a:t>
                </a:r>
              </a:p>
              <a:p>
                <a:pPr marL="457200" indent="-457200">
                  <a:buFont typeface="+mj-lt"/>
                  <a:buAutoNum type="arabicPeriod"/>
                </a:pPr>
                <a:endParaRPr lang="en-US" sz="1600" dirty="0"/>
              </a:p>
              <a:p>
                <a:pPr marL="457200" indent="-457200">
                  <a:buFont typeface="+mj-lt"/>
                  <a:buAutoNum type="arabicPeriod"/>
                </a:pPr>
                <a:r>
                  <a:rPr lang="en-US" dirty="0"/>
                  <a:t>Find the optimal bundle.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A717BAA-D4BA-C7EB-5696-203603829C7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628650" y="1825626"/>
                <a:ext cx="7886700" cy="4394020"/>
              </a:xfrm>
              <a:blipFill>
                <a:blip r:embed="rId2"/>
                <a:stretch>
                  <a:fillRect l="-1082" t="-263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09CFCAE-B4E3-649B-FDB7-488E4E51258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dirty="0"/>
              <a:t>Fall 2023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2AC4525-C5C8-8596-B2EA-0E2C534430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DEPARTMENT OF BUSINESS &amp; ECONOMICS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E261E69-6082-7B91-F48A-C4702A4B50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980C56-831A-4EAB-9EDE-57C090F4F877}" type="slidenum">
              <a:rPr lang="en-US" smtClean="0"/>
              <a:t>31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90959254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8E3986-575B-B929-0562-1561C73A78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UMP: Cobb-Douglas Utility Functions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A717BAA-D4BA-C7EB-5696-203603829C7C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628650" y="1825626"/>
                <a:ext cx="7886700" cy="4394020"/>
              </a:xfrm>
            </p:spPr>
            <p:txBody>
              <a:bodyPr>
                <a:normAutofit/>
              </a:bodyPr>
              <a:lstStyle/>
              <a:p>
                <a:r>
                  <a:rPr lang="en-US" b="1" dirty="0"/>
                  <a:t>ex) </a:t>
                </a:r>
                <a14:m>
                  <m:oMath xmlns:m="http://schemas.openxmlformats.org/officeDocument/2006/math">
                    <m:r>
                      <a:rPr lang="en-US" b="1" i="1" smtClean="0">
                        <a:latin typeface="Cambria Math" panose="02040503050406030204" pitchFamily="18" charset="0"/>
                      </a:rPr>
                      <m:t>𝒖</m:t>
                    </m:r>
                    <m:d>
                      <m:dPr>
                        <m:ctrlPr>
                          <a:rPr lang="en-US" b="1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en-US" b="1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b="1" i="1" smtClean="0">
                            <a:latin typeface="Cambria Math" panose="02040503050406030204" pitchFamily="18" charset="0"/>
                          </a:rPr>
                          <m:t>𝒚</m:t>
                        </m:r>
                      </m:e>
                    </m:d>
                    <m:r>
                      <a:rPr lang="en-US" b="1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1" i="1" smtClean="0">
                        <a:latin typeface="Cambria Math" panose="02040503050406030204" pitchFamily="18" charset="0"/>
                      </a:rPr>
                      <m:t>𝟑</m:t>
                    </m:r>
                    <m:sSup>
                      <m:sSupPr>
                        <m:ctrlPr>
                          <a:rPr lang="en-US" b="1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  <m:sup>
                        <m:r>
                          <a:rPr lang="en-US" b="1" i="1" smtClean="0">
                            <a:latin typeface="Cambria Math" panose="02040503050406030204" pitchFamily="18" charset="0"/>
                          </a:rPr>
                          <m:t>𝟔</m:t>
                        </m:r>
                      </m:sup>
                    </m:sSup>
                    <m:sSup>
                      <m:sSupPr>
                        <m:ctrlPr>
                          <a:rPr lang="en-US" b="1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1" i="1" smtClean="0">
                            <a:latin typeface="Cambria Math" panose="02040503050406030204" pitchFamily="18" charset="0"/>
                          </a:rPr>
                          <m:t>𝒚</m:t>
                        </m:r>
                      </m:e>
                      <m:sup>
                        <m:r>
                          <a:rPr lang="en-US" b="1" i="1" smtClean="0">
                            <a:latin typeface="Cambria Math" panose="02040503050406030204" pitchFamily="18" charset="0"/>
                          </a:rPr>
                          <m:t>𝟒</m:t>
                        </m:r>
                      </m:sup>
                    </m:sSup>
                  </m:oMath>
                </a14:m>
                <a:r>
                  <a:rPr lang="en-US" b="1" dirty="0"/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1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1" smtClean="0">
                            <a:latin typeface="Cambria Math" panose="02040503050406030204" pitchFamily="18" charset="0"/>
                          </a:rPr>
                          <m:t>𝑷</m:t>
                        </m:r>
                      </m:e>
                      <m:sub>
                        <m:r>
                          <a:rPr lang="en-US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</m:sub>
                    </m:sSub>
                    <m:r>
                      <a:rPr lang="en-US" b="1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1" i="1" smtClean="0">
                        <a:latin typeface="Cambria Math" panose="02040503050406030204" pitchFamily="18" charset="0"/>
                      </a:rPr>
                      <m:t>𝟏𝟎</m:t>
                    </m:r>
                  </m:oMath>
                </a14:m>
                <a:r>
                  <a:rPr lang="en-US" b="1" dirty="0"/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1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1">
                            <a:latin typeface="Cambria Math" panose="02040503050406030204" pitchFamily="18" charset="0"/>
                          </a:rPr>
                          <m:t>𝑷</m:t>
                        </m:r>
                      </m:e>
                      <m:sub>
                        <m:r>
                          <a:rPr lang="en-US" b="1" i="1" smtClean="0">
                            <a:latin typeface="Cambria Math" panose="02040503050406030204" pitchFamily="18" charset="0"/>
                          </a:rPr>
                          <m:t>𝒚</m:t>
                        </m:r>
                      </m:sub>
                    </m:sSub>
                    <m:r>
                      <a:rPr lang="en-US" b="1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1" i="1" smtClean="0">
                        <a:latin typeface="Cambria Math" panose="02040503050406030204" pitchFamily="18" charset="0"/>
                      </a:rPr>
                      <m:t>𝟖</m:t>
                    </m:r>
                  </m:oMath>
                </a14:m>
                <a:r>
                  <a:rPr lang="en-US" b="1" dirty="0"/>
                  <a:t>, </a:t>
                </a:r>
                <a14:m>
                  <m:oMath xmlns:m="http://schemas.openxmlformats.org/officeDocument/2006/math">
                    <m:r>
                      <a:rPr lang="en-US" b="1" i="1" smtClean="0">
                        <a:latin typeface="Cambria Math" panose="02040503050406030204" pitchFamily="18" charset="0"/>
                      </a:rPr>
                      <m:t>𝑴</m:t>
                    </m:r>
                    <m:r>
                      <a:rPr lang="en-US" b="1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1" i="1">
                        <a:latin typeface="Cambria Math" panose="02040503050406030204" pitchFamily="18" charset="0"/>
                      </a:rPr>
                      <m:t>𝟏𝟎𝟎</m:t>
                    </m:r>
                  </m:oMath>
                </a14:m>
                <a:endParaRPr lang="en-US" b="1" dirty="0"/>
              </a:p>
              <a:p>
                <a:pPr marL="457200" indent="-457200">
                  <a:buFont typeface="+mj-lt"/>
                  <a:buAutoNum type="arabicPeriod"/>
                </a:pPr>
                <a:endParaRPr lang="en-US" sz="500" dirty="0"/>
              </a:p>
              <a:p>
                <a:pPr marL="0" indent="0">
                  <a:buNone/>
                </a:pPr>
                <a:r>
                  <a:rPr lang="en-US" dirty="0"/>
                  <a:t>1. Find the Marginal Utility of each good.</a:t>
                </a:r>
              </a:p>
              <a:p>
                <a:pPr lvl="1"/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𝑀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𝑈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𝜕</m:t>
                        </m:r>
                      </m:num>
                      <m:den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𝜕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𝑥</m:t>
                        </m:r>
                      </m:den>
                    </m:f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3</m:t>
                        </m:r>
                        <m:sSup>
                          <m:sSup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p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6</m:t>
                            </m:r>
                          </m:sup>
                        </m:sSup>
                        <m:sSup>
                          <m:sSup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  <m:sup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4</m:t>
                            </m:r>
                          </m:sup>
                        </m:sSup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=18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5</m:t>
                        </m:r>
                      </m:sup>
                    </m:sSup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4</m:t>
                        </m:r>
                      </m:sup>
                    </m:sSup>
                  </m:oMath>
                </a14:m>
                <a:endParaRPr lang="en-US" dirty="0"/>
              </a:p>
              <a:p>
                <a:pPr lvl="1"/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𝑀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𝑈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𝜕</m:t>
                        </m:r>
                      </m:num>
                      <m:den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𝜕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𝑦</m:t>
                        </m:r>
                      </m:den>
                    </m:f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3</m:t>
                        </m:r>
                        <m:sSup>
                          <m:sSup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p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6</m:t>
                            </m:r>
                          </m:sup>
                        </m:sSup>
                        <m:sSup>
                          <m:sSup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  <m:sup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4</m:t>
                            </m:r>
                          </m:sup>
                        </m:sSup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=12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6</m:t>
                        </m:r>
                      </m:sup>
                    </m:sSup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3</m:t>
                        </m:r>
                      </m:sup>
                    </m:sSup>
                  </m:oMath>
                </a14:m>
                <a:endParaRPr lang="en-US" dirty="0"/>
              </a:p>
              <a:p>
                <a:pPr lvl="1"/>
                <a:endParaRPr lang="en-US" sz="500" dirty="0"/>
              </a:p>
              <a:p>
                <a:pPr marL="0" indent="0">
                  <a:buNone/>
                </a:pPr>
                <a:r>
                  <a:rPr lang="en-US" dirty="0"/>
                  <a:t>2. Find the Marginal Rate of Substitution.</a:t>
                </a:r>
              </a:p>
              <a:p>
                <a:pPr lvl="1"/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𝑀𝑅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𝑥𝑦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𝑀</m:t>
                        </m:r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𝑈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sub>
                        </m:sSub>
                      </m:num>
                      <m:den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𝑀</m:t>
                        </m:r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𝑈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𝑦</m:t>
                            </m:r>
                          </m:sub>
                        </m:sSub>
                      </m:den>
                    </m:f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i="1">
                            <a:latin typeface="Cambria Math" panose="02040503050406030204" pitchFamily="18" charset="0"/>
                          </a:rPr>
                          <m:t>18</m:t>
                        </m:r>
                        <m:sSup>
                          <m:sSup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p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5</m:t>
                            </m:r>
                          </m:sup>
                        </m:sSup>
                        <m:sSup>
                          <m:sSup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  <m:sup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4</m:t>
                            </m:r>
                          </m:sup>
                        </m:sSup>
                      </m:num>
                      <m:den>
                        <m:r>
                          <a:rPr lang="en-US" i="1">
                            <a:latin typeface="Cambria Math" panose="02040503050406030204" pitchFamily="18" charset="0"/>
                          </a:rPr>
                          <m:t>12</m:t>
                        </m:r>
                        <m:sSup>
                          <m:sSup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p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6</m:t>
                            </m:r>
                          </m:sup>
                        </m:sSup>
                        <m:sSup>
                          <m:sSup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  <m:sup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3</m:t>
                            </m:r>
                          </m:sup>
                        </m:sSup>
                      </m:den>
                    </m:f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3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</m:num>
                      <m:den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den>
                    </m:f>
                  </m:oMath>
                </a14:m>
                <a:endParaRPr lang="en-US" dirty="0"/>
              </a:p>
              <a:p>
                <a:pPr lvl="1"/>
                <a:endParaRPr lang="en-US" sz="500" dirty="0"/>
              </a:p>
              <a:p>
                <a:pPr marL="0" indent="0">
                  <a:buNone/>
                </a:pPr>
                <a:r>
                  <a:rPr lang="en-US" dirty="0"/>
                  <a:t>3. Find the optimal ratio of the goods.</a:t>
                </a:r>
              </a:p>
              <a:p>
                <a:pPr lvl="1"/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𝑀𝑅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𝑥𝑦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𝑃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sub>
                        </m:sSub>
                      </m:num>
                      <m:den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𝑃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𝑦</m:t>
                            </m:r>
                          </m:sub>
                        </m:sSub>
                      </m:den>
                    </m:f>
                    <m:r>
                      <a:rPr lang="en-US" b="0" i="1" smtClean="0">
                        <a:latin typeface="Cambria Math" panose="02040503050406030204" pitchFamily="18" charset="0"/>
                      </a:rPr>
                      <m:t>   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⟹   </m:t>
                    </m:r>
                    <m:f>
                      <m:f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3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𝑦</m:t>
                        </m:r>
                      </m:num>
                      <m:den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𝑥</m:t>
                        </m:r>
                      </m:den>
                    </m:f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10</m:t>
                        </m:r>
                      </m:num>
                      <m:den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8</m:t>
                        </m:r>
                      </m:den>
                    </m:f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  </m:t>
                    </m:r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⟹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  24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𝑦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=20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𝑥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  ⟹   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𝑦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5</m:t>
                        </m:r>
                      </m:num>
                      <m:den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6</m:t>
                        </m:r>
                      </m:den>
                    </m:f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𝑥</m:t>
                    </m:r>
                  </m:oMath>
                </a14:m>
                <a:endParaRPr lang="en-US" b="0" dirty="0"/>
              </a:p>
              <a:p>
                <a:pPr marL="457200" indent="-457200">
                  <a:buFont typeface="+mj-lt"/>
                  <a:buAutoNum type="arabicPeriod"/>
                </a:pPr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A717BAA-D4BA-C7EB-5696-203603829C7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628650" y="1825626"/>
                <a:ext cx="7886700" cy="4394020"/>
              </a:xfrm>
              <a:blipFill>
                <a:blip r:embed="rId2"/>
                <a:stretch>
                  <a:fillRect l="-1159" t="-180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09CFCAE-B4E3-649B-FDB7-488E4E51258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dirty="0"/>
              <a:t>Fall 2023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2AC4525-C5C8-8596-B2EA-0E2C534430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DEPARTMENT OF BUSINESS &amp; ECONOMICS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E261E69-6082-7B91-F48A-C4702A4B50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980C56-831A-4EAB-9EDE-57C090F4F877}" type="slidenum">
              <a:rPr lang="en-US" smtClean="0"/>
              <a:t>32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73480386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8E3986-575B-B929-0562-1561C73A78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UMP: Cobb-Douglas Utility Functions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A717BAA-D4BA-C7EB-5696-203603829C7C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628650" y="1825626"/>
                <a:ext cx="7886700" cy="4394020"/>
              </a:xfrm>
            </p:spPr>
            <p:txBody>
              <a:bodyPr>
                <a:normAutofit/>
              </a:bodyPr>
              <a:lstStyle/>
              <a:p>
                <a:r>
                  <a:rPr lang="en-US" b="1" dirty="0"/>
                  <a:t>ex) </a:t>
                </a:r>
                <a14:m>
                  <m:oMath xmlns:m="http://schemas.openxmlformats.org/officeDocument/2006/math">
                    <m:r>
                      <a:rPr lang="en-US" b="1" i="1" smtClean="0">
                        <a:latin typeface="Cambria Math" panose="02040503050406030204" pitchFamily="18" charset="0"/>
                      </a:rPr>
                      <m:t>𝒖</m:t>
                    </m:r>
                    <m:d>
                      <m:dPr>
                        <m:ctrlPr>
                          <a:rPr lang="en-US" b="1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en-US" b="1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b="1" i="1" smtClean="0">
                            <a:latin typeface="Cambria Math" panose="02040503050406030204" pitchFamily="18" charset="0"/>
                          </a:rPr>
                          <m:t>𝒚</m:t>
                        </m:r>
                      </m:e>
                    </m:d>
                    <m:r>
                      <a:rPr lang="en-US" b="1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1" i="1" smtClean="0">
                        <a:latin typeface="Cambria Math" panose="02040503050406030204" pitchFamily="18" charset="0"/>
                      </a:rPr>
                      <m:t>𝟑</m:t>
                    </m:r>
                    <m:sSup>
                      <m:sSupPr>
                        <m:ctrlPr>
                          <a:rPr lang="en-US" b="1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  <m:sup>
                        <m:r>
                          <a:rPr lang="en-US" b="1" i="1" smtClean="0">
                            <a:latin typeface="Cambria Math" panose="02040503050406030204" pitchFamily="18" charset="0"/>
                          </a:rPr>
                          <m:t>𝟔</m:t>
                        </m:r>
                      </m:sup>
                    </m:sSup>
                    <m:sSup>
                      <m:sSupPr>
                        <m:ctrlPr>
                          <a:rPr lang="en-US" b="1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1" i="1" smtClean="0">
                            <a:latin typeface="Cambria Math" panose="02040503050406030204" pitchFamily="18" charset="0"/>
                          </a:rPr>
                          <m:t>𝒚</m:t>
                        </m:r>
                      </m:e>
                      <m:sup>
                        <m:r>
                          <a:rPr lang="en-US" b="1" i="1" smtClean="0">
                            <a:latin typeface="Cambria Math" panose="02040503050406030204" pitchFamily="18" charset="0"/>
                          </a:rPr>
                          <m:t>𝟒</m:t>
                        </m:r>
                      </m:sup>
                    </m:sSup>
                  </m:oMath>
                </a14:m>
                <a:r>
                  <a:rPr lang="en-US" b="1" dirty="0"/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1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1" smtClean="0">
                            <a:latin typeface="Cambria Math" panose="02040503050406030204" pitchFamily="18" charset="0"/>
                          </a:rPr>
                          <m:t>𝑷</m:t>
                        </m:r>
                      </m:e>
                      <m:sub>
                        <m:r>
                          <a:rPr lang="en-US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</m:sub>
                    </m:sSub>
                    <m:r>
                      <a:rPr lang="en-US" b="1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1" i="1" smtClean="0">
                        <a:latin typeface="Cambria Math" panose="02040503050406030204" pitchFamily="18" charset="0"/>
                      </a:rPr>
                      <m:t>𝟏𝟎</m:t>
                    </m:r>
                  </m:oMath>
                </a14:m>
                <a:r>
                  <a:rPr lang="en-US" b="1" dirty="0"/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1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1">
                            <a:latin typeface="Cambria Math" panose="02040503050406030204" pitchFamily="18" charset="0"/>
                          </a:rPr>
                          <m:t>𝑷</m:t>
                        </m:r>
                      </m:e>
                      <m:sub>
                        <m:r>
                          <a:rPr lang="en-US" b="1" i="1" smtClean="0">
                            <a:latin typeface="Cambria Math" panose="02040503050406030204" pitchFamily="18" charset="0"/>
                          </a:rPr>
                          <m:t>𝒚</m:t>
                        </m:r>
                      </m:sub>
                    </m:sSub>
                    <m:r>
                      <a:rPr lang="en-US" b="1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1" i="1" smtClean="0">
                        <a:latin typeface="Cambria Math" panose="02040503050406030204" pitchFamily="18" charset="0"/>
                      </a:rPr>
                      <m:t>𝟖</m:t>
                    </m:r>
                  </m:oMath>
                </a14:m>
                <a:r>
                  <a:rPr lang="en-US" b="1" dirty="0"/>
                  <a:t>, </a:t>
                </a:r>
                <a14:m>
                  <m:oMath xmlns:m="http://schemas.openxmlformats.org/officeDocument/2006/math">
                    <m:r>
                      <a:rPr lang="en-US" b="1" i="1" smtClean="0">
                        <a:latin typeface="Cambria Math" panose="02040503050406030204" pitchFamily="18" charset="0"/>
                      </a:rPr>
                      <m:t>𝑴</m:t>
                    </m:r>
                    <m:r>
                      <a:rPr lang="en-US" b="1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1" i="1">
                        <a:latin typeface="Cambria Math" panose="02040503050406030204" pitchFamily="18" charset="0"/>
                      </a:rPr>
                      <m:t>𝟏𝟎𝟎</m:t>
                    </m:r>
                  </m:oMath>
                </a14:m>
                <a:endParaRPr lang="en-US" sz="500" dirty="0"/>
              </a:p>
              <a:p>
                <a:pPr lvl="1"/>
                <a:endParaRPr lang="en-US" sz="500" dirty="0"/>
              </a:p>
              <a:p>
                <a:pPr marL="0" indent="0">
                  <a:buNone/>
                </a:pPr>
                <a:r>
                  <a:rPr lang="en-US" dirty="0"/>
                  <a:t>4. Combine the optimal ratio and the budget constraint.</a:t>
                </a:r>
              </a:p>
              <a:p>
                <a:pPr lvl="1"/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10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+8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𝑦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=100   ⟹   10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𝑥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+8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f>
                          <m:fPr>
                            <m:ctrlP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5</m:t>
                            </m:r>
                          </m:num>
                          <m:den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6</m:t>
                            </m:r>
                          </m:den>
                        </m:f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𝑥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=100   </m:t>
                    </m:r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⟹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  </m:t>
                    </m:r>
                    <m:f>
                      <m:fPr>
                        <m:ctrlPr>
                          <a:rPr lang="en-US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50</m:t>
                        </m:r>
                      </m:num>
                      <m:den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3</m:t>
                        </m:r>
                      </m:den>
                    </m:f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𝑥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=100</m:t>
                    </m:r>
                  </m:oMath>
                </a14:m>
                <a:endParaRPr lang="en-US" dirty="0"/>
              </a:p>
              <a:p>
                <a:pPr lvl="1"/>
                <a:endParaRPr lang="en-US" sz="500" dirty="0"/>
              </a:p>
              <a:p>
                <a:pPr marL="0" indent="0">
                  <a:buNone/>
                </a:pPr>
                <a:r>
                  <a:rPr lang="en-US" dirty="0"/>
                  <a:t>5. Find the optimal bundle.</a:t>
                </a:r>
              </a:p>
              <a:p>
                <a:pPr lvl="1"/>
                <a14:m>
                  <m:oMath xmlns:m="http://schemas.openxmlformats.org/officeDocument/2006/math"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</a:rPr>
                      <m:t>=6   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⟹   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𝑦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∗</m:t>
                        </m:r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5</m:t>
                        </m:r>
                      </m:num>
                      <m:den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6</m:t>
                        </m:r>
                      </m:den>
                    </m:f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𝑥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∗</m:t>
                        </m:r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  </m:t>
                    </m:r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⟹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  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𝑦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∗</m:t>
                        </m:r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=5</m:t>
                    </m:r>
                  </m:oMath>
                </a14:m>
                <a:endParaRPr lang="en-US" dirty="0"/>
              </a:p>
              <a:p>
                <a:pPr marL="457200" lvl="1" indent="0">
                  <a:buNone/>
                </a:pPr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A717BAA-D4BA-C7EB-5696-203603829C7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628650" y="1825626"/>
                <a:ext cx="7886700" cy="4394020"/>
              </a:xfrm>
              <a:blipFill>
                <a:blip r:embed="rId2"/>
                <a:stretch>
                  <a:fillRect l="-1159" t="-180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09CFCAE-B4E3-649B-FDB7-488E4E51258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dirty="0"/>
              <a:t>Fall 2023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2AC4525-C5C8-8596-B2EA-0E2C534430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DEPARTMENT OF BUSINESS &amp; ECONOMICS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E261E69-6082-7B91-F48A-C4702A4B50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980C56-831A-4EAB-9EDE-57C090F4F877}" type="slidenum">
              <a:rPr lang="en-US" smtClean="0"/>
              <a:t>33</a:t>
            </a:fld>
            <a:endParaRPr lang="en-US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B1F6DB61-3F41-DAA6-23B1-58FB8E194CBC}"/>
              </a:ext>
            </a:extLst>
          </p:cNvPr>
          <p:cNvSpPr/>
          <p:nvPr/>
        </p:nvSpPr>
        <p:spPr>
          <a:xfrm>
            <a:off x="1345721" y="3985403"/>
            <a:ext cx="836762" cy="327804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F20997F4-533D-4231-7F67-106440398601}"/>
              </a:ext>
            </a:extLst>
          </p:cNvPr>
          <p:cNvSpPr/>
          <p:nvPr/>
        </p:nvSpPr>
        <p:spPr>
          <a:xfrm>
            <a:off x="4596078" y="3985403"/>
            <a:ext cx="836762" cy="327804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0049980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8E3986-575B-B929-0562-1561C73A78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UMP: Linear Utility Functions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A717BAA-D4BA-C7EB-5696-203603829C7C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r>
                  <a:rPr lang="en-US" b="0" dirty="0"/>
                  <a:t>When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𝑢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𝑎𝑥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𝑏𝑦</m:t>
                    </m:r>
                  </m:oMath>
                </a14:m>
                <a:endParaRPr lang="en-US" dirty="0"/>
              </a:p>
              <a:p>
                <a:pPr marL="457200" indent="-457200">
                  <a:buFont typeface="+mj-lt"/>
                  <a:buAutoNum type="arabicPeriod"/>
                </a:pPr>
                <a:endParaRPr lang="en-US" sz="1600" dirty="0"/>
              </a:p>
              <a:p>
                <a:pPr marL="457200" indent="-457200">
                  <a:buFont typeface="+mj-lt"/>
                  <a:buAutoNum type="arabicPeriod"/>
                </a:pPr>
                <a:r>
                  <a:rPr lang="en-US" dirty="0"/>
                  <a:t>Find the Marginal Utility of each good.</a:t>
                </a:r>
              </a:p>
              <a:p>
                <a:pPr marL="457200" indent="-457200">
                  <a:buFont typeface="+mj-lt"/>
                  <a:buAutoNum type="arabicPeriod"/>
                </a:pPr>
                <a:endParaRPr lang="en-US" sz="1600" dirty="0"/>
              </a:p>
              <a:p>
                <a:pPr marL="457200" indent="-457200">
                  <a:buFont typeface="+mj-lt"/>
                  <a:buAutoNum type="arabicPeriod"/>
                </a:pPr>
                <a:r>
                  <a:rPr lang="en-US" dirty="0"/>
                  <a:t>Find the “Rule” to follow.</a:t>
                </a:r>
              </a:p>
              <a:p>
                <a:pPr lvl="1"/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𝑀𝑅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𝑥𝑦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𝑃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sub>
                        </m:sSub>
                      </m:num>
                      <m:den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𝑃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𝑦</m:t>
                            </m:r>
                          </m:sub>
                        </m:sSub>
                      </m:den>
                    </m:f>
                  </m:oMath>
                </a14:m>
                <a:r>
                  <a:rPr lang="en-US" dirty="0"/>
                  <a:t>     or    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𝑀𝑈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sub>
                        </m:sSub>
                      </m:num>
                      <m:den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𝑃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sub>
                        </m:sSub>
                      </m:den>
                    </m:f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𝑀𝑈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𝑦</m:t>
                            </m:r>
                          </m:sub>
                        </m:sSub>
                      </m:num>
                      <m:den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𝑃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𝑦</m:t>
                            </m:r>
                          </m:sub>
                        </m:sSub>
                      </m:den>
                    </m:f>
                  </m:oMath>
                </a14:m>
                <a:endParaRPr lang="en-US" sz="2400" dirty="0"/>
              </a:p>
              <a:p>
                <a:pPr lvl="1"/>
                <a:endParaRPr lang="en-US" sz="1600" dirty="0"/>
              </a:p>
              <a:p>
                <a:pPr marL="457200" indent="-457200">
                  <a:buFont typeface="+mj-lt"/>
                  <a:buAutoNum type="arabicPeriod"/>
                </a:pPr>
                <a:r>
                  <a:rPr lang="en-US" dirty="0"/>
                  <a:t>Find the optimal bundle.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A717BAA-D4BA-C7EB-5696-203603829C7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82" t="-182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09CFCAE-B4E3-649B-FDB7-488E4E51258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dirty="0"/>
              <a:t>Fall 2023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2AC4525-C5C8-8596-B2EA-0E2C534430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DEPARTMENT OF BUSINESS &amp; ECONOMICS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E261E69-6082-7B91-F48A-C4702A4B50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980C56-831A-4EAB-9EDE-57C090F4F877}" type="slidenum">
              <a:rPr lang="en-US" smtClean="0"/>
              <a:t>34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04289119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8E3986-575B-B929-0562-1561C73A78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UMP: Linear Utility Functions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A717BAA-D4BA-C7EB-5696-203603829C7C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628650" y="1825626"/>
                <a:ext cx="7886700" cy="4394020"/>
              </a:xfrm>
            </p:spPr>
            <p:txBody>
              <a:bodyPr>
                <a:normAutofit/>
              </a:bodyPr>
              <a:lstStyle/>
              <a:p>
                <a:r>
                  <a:rPr lang="en-US" b="1" dirty="0"/>
                  <a:t>ex) </a:t>
                </a:r>
                <a14:m>
                  <m:oMath xmlns:m="http://schemas.openxmlformats.org/officeDocument/2006/math">
                    <m:r>
                      <a:rPr lang="en-US" b="1" i="1" smtClean="0">
                        <a:latin typeface="Cambria Math" panose="02040503050406030204" pitchFamily="18" charset="0"/>
                      </a:rPr>
                      <m:t>𝒖</m:t>
                    </m:r>
                    <m:d>
                      <m:dPr>
                        <m:ctrlPr>
                          <a:rPr lang="en-US" b="1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en-US" b="1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b="1" i="1" smtClean="0">
                            <a:latin typeface="Cambria Math" panose="02040503050406030204" pitchFamily="18" charset="0"/>
                          </a:rPr>
                          <m:t>𝒚</m:t>
                        </m:r>
                      </m:e>
                    </m:d>
                    <m:r>
                      <a:rPr lang="en-US" b="1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1" i="1" smtClean="0">
                        <a:latin typeface="Cambria Math" panose="02040503050406030204" pitchFamily="18" charset="0"/>
                      </a:rPr>
                      <m:t>𝟕</m:t>
                    </m:r>
                    <m:r>
                      <a:rPr lang="en-US" b="1" i="1" smtClean="0">
                        <a:latin typeface="Cambria Math" panose="02040503050406030204" pitchFamily="18" charset="0"/>
                      </a:rPr>
                      <m:t>𝒙</m:t>
                    </m:r>
                    <m:r>
                      <a:rPr lang="en-US" b="1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b="1" i="1" smtClean="0">
                        <a:latin typeface="Cambria Math" panose="02040503050406030204" pitchFamily="18" charset="0"/>
                      </a:rPr>
                      <m:t>𝟓</m:t>
                    </m:r>
                    <m:r>
                      <a:rPr lang="en-US" b="1" i="1" smtClean="0">
                        <a:latin typeface="Cambria Math" panose="02040503050406030204" pitchFamily="18" charset="0"/>
                      </a:rPr>
                      <m:t>𝒚</m:t>
                    </m:r>
                  </m:oMath>
                </a14:m>
                <a:r>
                  <a:rPr lang="en-US" b="1" dirty="0"/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1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1" smtClean="0">
                            <a:latin typeface="Cambria Math" panose="02040503050406030204" pitchFamily="18" charset="0"/>
                          </a:rPr>
                          <m:t>𝑷</m:t>
                        </m:r>
                      </m:e>
                      <m:sub>
                        <m:r>
                          <a:rPr lang="en-US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</m:sub>
                    </m:sSub>
                    <m:r>
                      <a:rPr lang="en-US" b="1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1" i="1" smtClean="0">
                        <a:latin typeface="Cambria Math" panose="02040503050406030204" pitchFamily="18" charset="0"/>
                      </a:rPr>
                      <m:t>𝟏𝟎</m:t>
                    </m:r>
                  </m:oMath>
                </a14:m>
                <a:r>
                  <a:rPr lang="en-US" b="1" dirty="0"/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1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1">
                            <a:latin typeface="Cambria Math" panose="02040503050406030204" pitchFamily="18" charset="0"/>
                          </a:rPr>
                          <m:t>𝑷</m:t>
                        </m:r>
                      </m:e>
                      <m:sub>
                        <m:r>
                          <a:rPr lang="en-US" b="1" i="1" smtClean="0">
                            <a:latin typeface="Cambria Math" panose="02040503050406030204" pitchFamily="18" charset="0"/>
                          </a:rPr>
                          <m:t>𝒚</m:t>
                        </m:r>
                      </m:sub>
                    </m:sSub>
                    <m:r>
                      <a:rPr lang="en-US" b="1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1" i="1" smtClean="0">
                        <a:latin typeface="Cambria Math" panose="02040503050406030204" pitchFamily="18" charset="0"/>
                      </a:rPr>
                      <m:t>𝟖</m:t>
                    </m:r>
                  </m:oMath>
                </a14:m>
                <a:r>
                  <a:rPr lang="en-US" b="1" dirty="0"/>
                  <a:t>, </a:t>
                </a:r>
                <a14:m>
                  <m:oMath xmlns:m="http://schemas.openxmlformats.org/officeDocument/2006/math">
                    <m:r>
                      <a:rPr lang="en-US" b="1" i="1" smtClean="0">
                        <a:latin typeface="Cambria Math" panose="02040503050406030204" pitchFamily="18" charset="0"/>
                      </a:rPr>
                      <m:t>𝑴</m:t>
                    </m:r>
                    <m:r>
                      <a:rPr lang="en-US" b="1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1" i="1">
                        <a:latin typeface="Cambria Math" panose="02040503050406030204" pitchFamily="18" charset="0"/>
                      </a:rPr>
                      <m:t>𝟏𝟎𝟎</m:t>
                    </m:r>
                  </m:oMath>
                </a14:m>
                <a:endParaRPr lang="en-US" b="1" dirty="0"/>
              </a:p>
              <a:p>
                <a:pPr marL="457200" indent="-457200">
                  <a:buFont typeface="+mj-lt"/>
                  <a:buAutoNum type="arabicPeriod"/>
                </a:pPr>
                <a:endParaRPr lang="en-US" sz="500" dirty="0"/>
              </a:p>
              <a:p>
                <a:pPr marL="0" indent="0">
                  <a:buNone/>
                </a:pPr>
                <a:r>
                  <a:rPr lang="en-US" dirty="0"/>
                  <a:t>1. Find the Marginal Utility of each good.</a:t>
                </a:r>
              </a:p>
              <a:p>
                <a:pPr lvl="1"/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𝑀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𝑈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𝜕</m:t>
                        </m:r>
                      </m:num>
                      <m:den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𝜕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𝑥</m:t>
                        </m:r>
                      </m:den>
                    </m:f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7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+5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=7</m:t>
                    </m:r>
                  </m:oMath>
                </a14:m>
                <a:endParaRPr lang="en-US" dirty="0"/>
              </a:p>
              <a:p>
                <a:pPr lvl="1"/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𝑀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𝑈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𝜕</m:t>
                        </m:r>
                      </m:num>
                      <m:den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𝜕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𝑦</m:t>
                        </m:r>
                      </m:den>
                    </m:f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7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+5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=5</m:t>
                    </m:r>
                  </m:oMath>
                </a14:m>
                <a:endParaRPr lang="en-US" dirty="0"/>
              </a:p>
              <a:p>
                <a:pPr lvl="1"/>
                <a:endParaRPr lang="en-US" sz="500" dirty="0"/>
              </a:p>
              <a:p>
                <a:pPr marL="0" indent="0">
                  <a:buNone/>
                </a:pPr>
                <a:r>
                  <a:rPr lang="en-US" dirty="0"/>
                  <a:t>2. Find the “Rule” to follow.</a:t>
                </a:r>
              </a:p>
              <a:p>
                <a:pPr lvl="1"/>
                <a14:m>
                  <m:oMath xmlns:m="http://schemas.openxmlformats.org/officeDocument/2006/math">
                    <m:f>
                      <m:f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𝑀</m:t>
                        </m:r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𝑈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sub>
                        </m:sSub>
                      </m:num>
                      <m:den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𝑃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sub>
                        </m:sSub>
                      </m:den>
                    </m:f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7</m:t>
                        </m:r>
                      </m:num>
                      <m:den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10</m:t>
                        </m:r>
                      </m:den>
                    </m:f>
                    <m:r>
                      <a:rPr lang="en-US" b="0" i="1" smtClean="0">
                        <a:latin typeface="Cambria Math" panose="02040503050406030204" pitchFamily="18" charset="0"/>
                      </a:rPr>
                      <m:t>&gt;</m:t>
                    </m:r>
                    <m:f>
                      <m:f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5</m:t>
                        </m:r>
                      </m:num>
                      <m:den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8</m:t>
                        </m:r>
                      </m:den>
                    </m:f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i="1">
                            <a:latin typeface="Cambria Math" panose="02040503050406030204" pitchFamily="18" charset="0"/>
                          </a:rPr>
                          <m:t>𝑀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𝑈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𝑦</m:t>
                            </m:r>
                          </m:sub>
                        </m:sSub>
                      </m:num>
                      <m:den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𝑃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𝑦</m:t>
                            </m:r>
                          </m:sub>
                        </m:sSub>
                      </m:den>
                    </m:f>
                  </m:oMath>
                </a14:m>
                <a:r>
                  <a:rPr lang="en-US" dirty="0"/>
                  <a:t>, so exclusively  consume good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en-US" dirty="0"/>
                  <a:t>.</a:t>
                </a:r>
              </a:p>
              <a:p>
                <a:pPr marL="457200" indent="-457200">
                  <a:buFont typeface="+mj-lt"/>
                  <a:buAutoNum type="arabicPeriod"/>
                </a:pPr>
                <a:endParaRPr lang="en-US" sz="500" dirty="0"/>
              </a:p>
              <a:p>
                <a:pPr marL="0" indent="0">
                  <a:buNone/>
                </a:pPr>
                <a:r>
                  <a:rPr lang="en-US" dirty="0"/>
                  <a:t>3. Find the optimal bundle.</a:t>
                </a:r>
              </a:p>
              <a:p>
                <a:pPr lvl="1"/>
                <a14:m>
                  <m:oMath xmlns:m="http://schemas.openxmlformats.org/officeDocument/2006/math"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</a:rPr>
                      <m:t>=10</m:t>
                    </m:r>
                  </m:oMath>
                </a14:m>
                <a:r>
                  <a:rPr lang="en-US" dirty="0"/>
                  <a:t>,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A717BAA-D4BA-C7EB-5696-203603829C7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628650" y="1825626"/>
                <a:ext cx="7886700" cy="4394020"/>
              </a:xfrm>
              <a:blipFill>
                <a:blip r:embed="rId2"/>
                <a:stretch>
                  <a:fillRect l="-1159" t="-180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09CFCAE-B4E3-649B-FDB7-488E4E51258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dirty="0"/>
              <a:t>Fall 2023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2AC4525-C5C8-8596-B2EA-0E2C534430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DEPARTMENT OF BUSINESS &amp; ECONOMICS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E261E69-6082-7B91-F48A-C4702A4B50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980C56-831A-4EAB-9EDE-57C090F4F877}" type="slidenum">
              <a:rPr lang="en-US" smtClean="0"/>
              <a:t>35</a:t>
            </a:fld>
            <a:endParaRPr lang="en-US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9690F60C-8F03-D234-22FC-7F5729CB2306}"/>
              </a:ext>
            </a:extLst>
          </p:cNvPr>
          <p:cNvSpPr/>
          <p:nvPr/>
        </p:nvSpPr>
        <p:spPr>
          <a:xfrm>
            <a:off x="1354347" y="5667551"/>
            <a:ext cx="1828800" cy="327804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95097514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8E3986-575B-B929-0562-1561C73A78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UMP: Leontief Utility Functions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A717BAA-D4BA-C7EB-5696-203603829C7C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r>
                  <a:rPr lang="en-US" b="0" dirty="0"/>
                  <a:t>When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𝑢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func>
                      <m:func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min</m:t>
                        </m:r>
                      </m:fName>
                      <m:e>
                        <m:d>
                          <m:dPr>
                            <m:begChr m:val="{"/>
                            <m:endChr m:val="}"/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𝑎𝑥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𝑏𝑦</m:t>
                            </m:r>
                          </m:e>
                        </m:d>
                      </m:e>
                    </m:func>
                  </m:oMath>
                </a14:m>
                <a:endParaRPr lang="en-US" dirty="0"/>
              </a:p>
              <a:p>
                <a:endParaRPr lang="en-US" sz="1600" dirty="0"/>
              </a:p>
              <a:p>
                <a:pPr marL="457200" indent="-457200">
                  <a:buFont typeface="+mj-lt"/>
                  <a:buAutoNum type="arabicPeriod"/>
                </a:pPr>
                <a:r>
                  <a:rPr lang="en-US" dirty="0"/>
                  <a:t>Find the “Rule” to follow.</a:t>
                </a:r>
              </a:p>
              <a:p>
                <a:pPr lvl="1"/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𝑎𝑥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𝑏𝑦</m:t>
                    </m:r>
                  </m:oMath>
                </a14:m>
                <a:endParaRPr lang="en-US" sz="1600" dirty="0"/>
              </a:p>
              <a:p>
                <a:pPr lvl="1"/>
                <a:endParaRPr lang="en-US" sz="1600" dirty="0"/>
              </a:p>
              <a:p>
                <a:pPr marL="457200" indent="-457200">
                  <a:buFont typeface="+mj-lt"/>
                  <a:buAutoNum type="arabicPeriod"/>
                </a:pPr>
                <a:r>
                  <a:rPr lang="en-US" dirty="0"/>
                  <a:t>Combine the “Rule” and the budget constraint.</a:t>
                </a:r>
              </a:p>
              <a:p>
                <a:pPr marL="457200" indent="-457200">
                  <a:buFont typeface="+mj-lt"/>
                  <a:buAutoNum type="arabicPeriod"/>
                </a:pPr>
                <a:endParaRPr lang="en-US" sz="1600" dirty="0"/>
              </a:p>
              <a:p>
                <a:pPr marL="457200" indent="-457200">
                  <a:buFont typeface="+mj-lt"/>
                  <a:buAutoNum type="arabicPeriod"/>
                </a:pPr>
                <a:r>
                  <a:rPr lang="en-US" dirty="0"/>
                  <a:t>Find the optimal bundle.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A717BAA-D4BA-C7EB-5696-203603829C7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82" t="-182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09CFCAE-B4E3-649B-FDB7-488E4E51258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dirty="0"/>
              <a:t>Fall 2023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2AC4525-C5C8-8596-B2EA-0E2C534430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DEPARTMENT OF BUSINESS &amp; ECONOMICS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E261E69-6082-7B91-F48A-C4702A4B50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980C56-831A-4EAB-9EDE-57C090F4F877}" type="slidenum">
              <a:rPr lang="en-US" smtClean="0"/>
              <a:t>36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25179502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8E3986-575B-B929-0562-1561C73A78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UMP: Leontief Utility Functions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A717BAA-D4BA-C7EB-5696-203603829C7C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628650" y="1825626"/>
                <a:ext cx="7886700" cy="4394020"/>
              </a:xfrm>
            </p:spPr>
            <p:txBody>
              <a:bodyPr>
                <a:normAutofit/>
              </a:bodyPr>
              <a:lstStyle/>
              <a:p>
                <a:r>
                  <a:rPr lang="en-US" b="1" dirty="0"/>
                  <a:t>ex) </a:t>
                </a:r>
                <a14:m>
                  <m:oMath xmlns:m="http://schemas.openxmlformats.org/officeDocument/2006/math">
                    <m:r>
                      <a:rPr lang="en-US" b="1" i="1" smtClean="0">
                        <a:latin typeface="Cambria Math" panose="02040503050406030204" pitchFamily="18" charset="0"/>
                      </a:rPr>
                      <m:t>𝒖</m:t>
                    </m:r>
                    <m:d>
                      <m:dPr>
                        <m:ctrlPr>
                          <a:rPr lang="en-US" b="1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en-US" b="1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b="1" i="1" smtClean="0">
                            <a:latin typeface="Cambria Math" panose="02040503050406030204" pitchFamily="18" charset="0"/>
                          </a:rPr>
                          <m:t>𝒚</m:t>
                        </m:r>
                      </m:e>
                    </m:d>
                    <m:r>
                      <a:rPr lang="en-US" b="1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1" i="0" smtClean="0">
                        <a:latin typeface="Cambria Math" panose="02040503050406030204" pitchFamily="18" charset="0"/>
                      </a:rPr>
                      <m:t>𝐦𝐢𝐧</m:t>
                    </m:r>
                    <m:r>
                      <a:rPr lang="en-US" b="1" i="1" smtClean="0">
                        <a:latin typeface="Cambria Math" panose="02040503050406030204" pitchFamily="18" charset="0"/>
                      </a:rPr>
                      <m:t>{</m:t>
                    </m:r>
                    <m:r>
                      <a:rPr lang="en-US" b="1" i="1" smtClean="0">
                        <a:latin typeface="Cambria Math" panose="02040503050406030204" pitchFamily="18" charset="0"/>
                      </a:rPr>
                      <m:t>𝟓</m:t>
                    </m:r>
                    <m:r>
                      <a:rPr lang="en-US" b="1" i="1" smtClean="0">
                        <a:latin typeface="Cambria Math" panose="02040503050406030204" pitchFamily="18" charset="0"/>
                      </a:rPr>
                      <m:t>𝒙</m:t>
                    </m:r>
                    <m:r>
                      <a:rPr lang="en-US" b="1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b="1" i="1" smtClean="0">
                        <a:latin typeface="Cambria Math" panose="02040503050406030204" pitchFamily="18" charset="0"/>
                      </a:rPr>
                      <m:t>𝟒</m:t>
                    </m:r>
                    <m:r>
                      <a:rPr lang="en-US" b="1" i="1" smtClean="0">
                        <a:latin typeface="Cambria Math" panose="02040503050406030204" pitchFamily="18" charset="0"/>
                      </a:rPr>
                      <m:t>𝒚</m:t>
                    </m:r>
                    <m:r>
                      <a:rPr lang="en-US" b="1" i="1" smtClean="0">
                        <a:latin typeface="Cambria Math" panose="02040503050406030204" pitchFamily="18" charset="0"/>
                      </a:rPr>
                      <m:t>}</m:t>
                    </m:r>
                  </m:oMath>
                </a14:m>
                <a:r>
                  <a:rPr lang="en-US" b="1" dirty="0"/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1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1" smtClean="0">
                            <a:latin typeface="Cambria Math" panose="02040503050406030204" pitchFamily="18" charset="0"/>
                          </a:rPr>
                          <m:t>𝑷</m:t>
                        </m:r>
                      </m:e>
                      <m:sub>
                        <m:r>
                          <a:rPr lang="en-US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</m:sub>
                    </m:sSub>
                    <m:r>
                      <a:rPr lang="en-US" b="1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1" i="1" smtClean="0">
                        <a:latin typeface="Cambria Math" panose="02040503050406030204" pitchFamily="18" charset="0"/>
                      </a:rPr>
                      <m:t>𝟏𝟎</m:t>
                    </m:r>
                  </m:oMath>
                </a14:m>
                <a:r>
                  <a:rPr lang="en-US" b="1" dirty="0"/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1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1">
                            <a:latin typeface="Cambria Math" panose="02040503050406030204" pitchFamily="18" charset="0"/>
                          </a:rPr>
                          <m:t>𝑷</m:t>
                        </m:r>
                      </m:e>
                      <m:sub>
                        <m:r>
                          <a:rPr lang="en-US" b="1" i="1" smtClean="0">
                            <a:latin typeface="Cambria Math" panose="02040503050406030204" pitchFamily="18" charset="0"/>
                          </a:rPr>
                          <m:t>𝒚</m:t>
                        </m:r>
                      </m:sub>
                    </m:sSub>
                    <m:r>
                      <a:rPr lang="en-US" b="1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1" i="1" smtClean="0">
                        <a:latin typeface="Cambria Math" panose="02040503050406030204" pitchFamily="18" charset="0"/>
                      </a:rPr>
                      <m:t>𝟖</m:t>
                    </m:r>
                  </m:oMath>
                </a14:m>
                <a:r>
                  <a:rPr lang="en-US" b="1" dirty="0"/>
                  <a:t>, </a:t>
                </a:r>
                <a14:m>
                  <m:oMath xmlns:m="http://schemas.openxmlformats.org/officeDocument/2006/math">
                    <m:r>
                      <a:rPr lang="en-US" b="1" i="1" smtClean="0">
                        <a:latin typeface="Cambria Math" panose="02040503050406030204" pitchFamily="18" charset="0"/>
                      </a:rPr>
                      <m:t>𝑴</m:t>
                    </m:r>
                    <m:r>
                      <a:rPr lang="en-US" b="1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1" i="1">
                        <a:latin typeface="Cambria Math" panose="02040503050406030204" pitchFamily="18" charset="0"/>
                      </a:rPr>
                      <m:t>𝟏𝟎𝟎</m:t>
                    </m:r>
                  </m:oMath>
                </a14:m>
                <a:endParaRPr lang="en-US" b="1" dirty="0"/>
              </a:p>
              <a:p>
                <a:pPr marL="457200" indent="-457200">
                  <a:buFont typeface="+mj-lt"/>
                  <a:buAutoNum type="arabicPeriod"/>
                </a:pPr>
                <a:endParaRPr lang="en-US" sz="500" dirty="0"/>
              </a:p>
              <a:p>
                <a:pPr marL="0" indent="0">
                  <a:buNone/>
                </a:pPr>
                <a:r>
                  <a:rPr lang="en-US" dirty="0"/>
                  <a:t>1. Find the “Rule” to follow.</a:t>
                </a:r>
              </a:p>
              <a:p>
                <a:pPr lvl="1"/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5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=4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𝑦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   ⟹   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𝑦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5</m:t>
                        </m:r>
                      </m:num>
                      <m:den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4</m:t>
                        </m:r>
                      </m:den>
                    </m:f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𝑥</m:t>
                    </m:r>
                  </m:oMath>
                </a14:m>
                <a:endParaRPr lang="en-US" sz="500" dirty="0"/>
              </a:p>
              <a:p>
                <a:pPr lvl="1"/>
                <a:endParaRPr lang="en-US" sz="500" dirty="0"/>
              </a:p>
              <a:p>
                <a:pPr marL="0" indent="0">
                  <a:buNone/>
                </a:pPr>
                <a:r>
                  <a:rPr lang="en-US" dirty="0"/>
                  <a:t>2. Combine the “Rule” and the budget constraint.</a:t>
                </a:r>
              </a:p>
              <a:p>
                <a:pPr lvl="1"/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10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+8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𝑦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=100   ⟹   10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𝑥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+8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f>
                          <m:fPr>
                            <m:ctrlP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5</m:t>
                            </m:r>
                          </m:num>
                          <m:den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4</m:t>
                            </m:r>
                          </m:den>
                        </m:f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𝑥</m:t>
                        </m:r>
                        <m:r>
                          <m:rPr>
                            <m:nor/>
                          </m:rPr>
                          <a:rPr lang="en-US" sz="500" dirty="0"/>
                          <m:t> 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=100   </m:t>
                    </m:r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⟹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  20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𝑥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=100</m:t>
                    </m:r>
                  </m:oMath>
                </a14:m>
                <a:endParaRPr lang="en-US" sz="500" dirty="0"/>
              </a:p>
              <a:p>
                <a:pPr lvl="1"/>
                <a:endParaRPr lang="en-US" sz="500" dirty="0"/>
              </a:p>
              <a:p>
                <a:pPr marL="0" indent="0">
                  <a:buNone/>
                </a:pPr>
                <a:r>
                  <a:rPr lang="en-US" dirty="0"/>
                  <a:t>3. Find the optimal bundle.</a:t>
                </a:r>
              </a:p>
              <a:p>
                <a:pPr lvl="1"/>
                <a14:m>
                  <m:oMath xmlns:m="http://schemas.openxmlformats.org/officeDocument/2006/math"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p>
                        <m:r>
                          <a:rPr lang="en-US" i="1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  <m:r>
                      <a:rPr lang="en-US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i="1" smtClean="0">
                        <a:latin typeface="Cambria Math" panose="02040503050406030204" pitchFamily="18" charset="0"/>
                      </a:rPr>
                      <m:t>5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   </m:t>
                    </m:r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⟹   </m:t>
                    </m:r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𝑦</m:t>
                        </m:r>
                      </m:e>
                      <m:sup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∗</m:t>
                        </m:r>
                      </m:sup>
                    </m:sSup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5</m:t>
                        </m:r>
                      </m:num>
                      <m:den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4</m:t>
                        </m:r>
                      </m:den>
                    </m:f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𝑥</m:t>
                        </m:r>
                      </m:e>
                      <m:sup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∗</m:t>
                        </m:r>
                      </m:sup>
                    </m:sSup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  ⟹   </m:t>
                    </m:r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𝑦</m:t>
                        </m:r>
                      </m:e>
                      <m:sup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∗</m:t>
                        </m:r>
                      </m:sup>
                    </m:sSup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25</m:t>
                        </m:r>
                      </m:num>
                      <m:den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4</m:t>
                        </m:r>
                      </m:den>
                    </m:f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A717BAA-D4BA-C7EB-5696-203603829C7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628650" y="1825626"/>
                <a:ext cx="7886700" cy="4394020"/>
              </a:xfrm>
              <a:blipFill>
                <a:blip r:embed="rId2"/>
                <a:stretch>
                  <a:fillRect l="-1159" t="-180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09CFCAE-B4E3-649B-FDB7-488E4E51258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dirty="0"/>
              <a:t>Fall 2023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2AC4525-C5C8-8596-B2EA-0E2C534430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DEPARTMENT OF BUSINESS &amp; ECONOMICS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E261E69-6082-7B91-F48A-C4702A4B50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980C56-831A-4EAB-9EDE-57C090F4F877}" type="slidenum">
              <a:rPr lang="en-US" smtClean="0"/>
              <a:t>37</a:t>
            </a:fld>
            <a:endParaRPr lang="en-US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9690F60C-8F03-D234-22FC-7F5729CB2306}"/>
              </a:ext>
            </a:extLst>
          </p:cNvPr>
          <p:cNvSpPr/>
          <p:nvPr/>
        </p:nvSpPr>
        <p:spPr>
          <a:xfrm>
            <a:off x="1354347" y="5080961"/>
            <a:ext cx="819510" cy="327804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E8AF4C3B-1167-F49A-1E95-363EDCBD3F89}"/>
              </a:ext>
            </a:extLst>
          </p:cNvPr>
          <p:cNvSpPr/>
          <p:nvPr/>
        </p:nvSpPr>
        <p:spPr>
          <a:xfrm>
            <a:off x="4572000" y="4968815"/>
            <a:ext cx="1000664" cy="603848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4546700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8E3986-575B-B929-0562-1561C73A78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Comparative Statics of the UMP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A717BAA-D4BA-C7EB-5696-203603829C7C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628650" y="1825626"/>
                <a:ext cx="7886700" cy="4394020"/>
              </a:xfrm>
            </p:spPr>
            <p:txBody>
              <a:bodyPr>
                <a:normAutofit/>
              </a:bodyPr>
              <a:lstStyle/>
              <a:p>
                <a:r>
                  <a:rPr lang="en-US" dirty="0"/>
                  <a:t>Changes in the Consumers’ Income.</a:t>
                </a:r>
              </a:p>
              <a:p>
                <a:pPr lvl="3"/>
                <a:endParaRPr lang="en-US" sz="500" dirty="0"/>
              </a:p>
              <a:p>
                <a:r>
                  <a:rPr lang="en-US" dirty="0"/>
                  <a:t>Normal Goods: Income Elasticity is Positive.</a:t>
                </a:r>
                <a:endParaRPr lang="en-US" b="0" i="1" dirty="0">
                  <a:latin typeface="Cambria Math" panose="02040503050406030204" pitchFamily="18" charset="0"/>
                </a:endParaRPr>
              </a:p>
              <a:p>
                <a:pPr lvl="1"/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↑</m:t>
                    </m:r>
                  </m:oMath>
                </a14:m>
                <a:r>
                  <a:rPr lang="en-US" dirty="0"/>
                  <a:t> when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𝑀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↑</m:t>
                    </m:r>
                  </m:oMath>
                </a14:m>
                <a:r>
                  <a:rPr lang="en-US" dirty="0"/>
                  <a:t> </a:t>
                </a:r>
              </a:p>
              <a:p>
                <a:pPr lvl="1"/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↓</m:t>
                    </m:r>
                  </m:oMath>
                </a14:m>
                <a:r>
                  <a:rPr lang="en-US" dirty="0"/>
                  <a:t> when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𝑀</m:t>
                    </m:r>
                    <m:r>
                      <a:rPr lang="en-US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↓</m:t>
                    </m:r>
                  </m:oMath>
                </a14:m>
                <a:endParaRPr lang="en-US" dirty="0"/>
              </a:p>
              <a:p>
                <a:pPr lvl="4"/>
                <a:endParaRPr lang="en-US" sz="500" dirty="0"/>
              </a:p>
              <a:p>
                <a:r>
                  <a:rPr lang="en-US" dirty="0"/>
                  <a:t>Inferior Goods: Income Elasticity is Negative.</a:t>
                </a:r>
                <a:endParaRPr lang="en-US" b="0" i="1" dirty="0">
                  <a:latin typeface="Cambria Math" panose="02040503050406030204" pitchFamily="18" charset="0"/>
                </a:endParaRPr>
              </a:p>
              <a:p>
                <a:pPr lvl="1"/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↓</m:t>
                    </m:r>
                  </m:oMath>
                </a14:m>
                <a:r>
                  <a:rPr lang="en-US" dirty="0"/>
                  <a:t> when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𝑀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↑</m:t>
                    </m:r>
                  </m:oMath>
                </a14:m>
                <a:endParaRPr lang="en-US" b="0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pPr lvl="1"/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↑</m:t>
                    </m:r>
                  </m:oMath>
                </a14:m>
                <a:r>
                  <a:rPr lang="en-US" dirty="0"/>
                  <a:t> when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𝑀</m:t>
                    </m:r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↓</m:t>
                    </m:r>
                  </m:oMath>
                </a14:m>
                <a:r>
                  <a:rPr lang="en-US" dirty="0"/>
                  <a:t> </a:t>
                </a:r>
              </a:p>
              <a:p>
                <a:pPr lvl="4"/>
                <a:endParaRPr lang="en-US" sz="500" dirty="0"/>
              </a:p>
              <a:p>
                <a:r>
                  <a:rPr lang="en-US" dirty="0"/>
                  <a:t>The Income Consumption Curve and the Engel Curve.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A717BAA-D4BA-C7EB-5696-203603829C7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628650" y="1825626"/>
                <a:ext cx="7886700" cy="4394020"/>
              </a:xfrm>
              <a:blipFill>
                <a:blip r:embed="rId2"/>
                <a:stretch>
                  <a:fillRect l="-1005" t="-180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09CFCAE-B4E3-649B-FDB7-488E4E51258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dirty="0"/>
              <a:t>Fall 2023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2AC4525-C5C8-8596-B2EA-0E2C534430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DEPARTMENT OF BUSINESS &amp; ECONOMICS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E261E69-6082-7B91-F48A-C4702A4B50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980C56-831A-4EAB-9EDE-57C090F4F877}" type="slidenum">
              <a:rPr lang="en-US" smtClean="0"/>
              <a:t>38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86493148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03F85D-5E59-7560-369F-3CA32946F91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Comparative Statics of the UMP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4D14C26-6C60-18BA-68F9-1D2E1F7C412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anchor="t"/>
          <a:lstStyle/>
          <a:p>
            <a:pPr algn="ctr"/>
            <a:r>
              <a:rPr lang="en-US" dirty="0"/>
              <a:t>Income Consumption Curve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1DD6247-AC7F-DE4C-8696-AB1DC56416E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 anchor="t"/>
          <a:lstStyle/>
          <a:p>
            <a:pPr algn="ctr"/>
            <a:r>
              <a:rPr lang="en-US" dirty="0"/>
              <a:t>Engel Curve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0DA40677-BA46-9F53-E996-0CAF9003858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Fall 2023</a:t>
            </a:r>
            <a:endParaRPr lang="en-US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4D30E17C-ACFA-7B73-EDE0-5FDE2F932C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DEPARTMENT OF BUSINESS &amp; ECONOMICS</a:t>
            </a:r>
            <a:endParaRPr lang="en-US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677D3E8E-14ED-B341-EA6D-D09A9ABCF9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980C56-831A-4EAB-9EDE-57C090F4F877}" type="slidenum">
              <a:rPr lang="en-US" smtClean="0"/>
              <a:t>39</a:t>
            </a:fld>
            <a:endParaRPr lang="en-US" dirty="0"/>
          </a:p>
        </p:txBody>
      </p:sp>
      <p:pic>
        <p:nvPicPr>
          <p:cNvPr id="15" name="Content Placeholder 14" descr="A diagram of a graph&#10;&#10;Description automatically generated">
            <a:extLst>
              <a:ext uri="{FF2B5EF4-FFF2-40B4-BE49-F238E27FC236}">
                <a16:creationId xmlns:a16="http://schemas.microsoft.com/office/drawing/2014/main" id="{E44C5835-9D8F-F8FC-3284-68406A92D0E6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6542" y="2505075"/>
            <a:ext cx="3316129" cy="3684588"/>
          </a:xfrm>
        </p:spPr>
      </p:pic>
      <p:pic>
        <p:nvPicPr>
          <p:cNvPr id="21" name="Content Placeholder 20" descr="A graph of a function&#10;&#10;Description automatically generated">
            <a:extLst>
              <a:ext uri="{FF2B5EF4-FFF2-40B4-BE49-F238E27FC236}">
                <a16:creationId xmlns:a16="http://schemas.microsoft.com/office/drawing/2014/main" id="{51C62EDF-4D17-006C-77CB-E46015BFEB54}"/>
              </a:ext>
            </a:extLst>
          </p:cNvPr>
          <p:cNvPicPr>
            <a:picLocks noGrp="1" noChangeAspect="1"/>
          </p:cNvPicPr>
          <p:nvPr>
            <p:ph sz="quarter" idx="4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914979" y="2505075"/>
            <a:ext cx="3316129" cy="3684588"/>
          </a:xfrm>
        </p:spPr>
      </p:pic>
    </p:spTree>
    <p:extLst>
      <p:ext uri="{BB962C8B-B14F-4D97-AF65-F5344CB8AC3E}">
        <p14:creationId xmlns:p14="http://schemas.microsoft.com/office/powerpoint/2010/main" val="2756951436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8E3986-575B-B929-0562-1561C73A78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Comparative Statics of the UMP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A717BAA-D4BA-C7EB-5696-203603829C7C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628650" y="1825626"/>
                <a:ext cx="7886700" cy="4394020"/>
              </a:xfrm>
            </p:spPr>
            <p:txBody>
              <a:bodyPr>
                <a:normAutofit/>
              </a:bodyPr>
              <a:lstStyle/>
              <a:p>
                <a:r>
                  <a:rPr lang="en-US" dirty="0"/>
                  <a:t>Changes in the Market Price of a Good.</a:t>
                </a:r>
              </a:p>
              <a:p>
                <a:pPr lvl="3"/>
                <a:endParaRPr lang="en-US" sz="500" dirty="0"/>
              </a:p>
              <a:p>
                <a:r>
                  <a:rPr lang="en-US" dirty="0"/>
                  <a:t>Ordinary Goods: Price Elasticity is Negative.</a:t>
                </a:r>
                <a:endParaRPr lang="en-US" b="0" i="1" dirty="0">
                  <a:latin typeface="Cambria Math" panose="02040503050406030204" pitchFamily="18" charset="0"/>
                </a:endParaRPr>
              </a:p>
              <a:p>
                <a:pPr lvl="1"/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↑</m:t>
                    </m:r>
                  </m:oMath>
                </a14:m>
                <a:r>
                  <a:rPr lang="en-US" dirty="0"/>
                  <a:t> when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𝑥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↓</m:t>
                    </m:r>
                  </m:oMath>
                </a14:m>
                <a:r>
                  <a:rPr lang="en-US" dirty="0"/>
                  <a:t> </a:t>
                </a:r>
              </a:p>
              <a:p>
                <a:pPr lvl="1"/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↓</m:t>
                    </m:r>
                  </m:oMath>
                </a14:m>
                <a:r>
                  <a:rPr lang="en-US" dirty="0"/>
                  <a:t> when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𝑥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↑</m:t>
                    </m:r>
                  </m:oMath>
                </a14:m>
                <a:endParaRPr lang="en-US" dirty="0"/>
              </a:p>
              <a:p>
                <a:pPr lvl="3"/>
                <a:endParaRPr lang="en-US" sz="500" dirty="0"/>
              </a:p>
              <a:p>
                <a:r>
                  <a:rPr lang="en-US" dirty="0" err="1"/>
                  <a:t>Giffen</a:t>
                </a:r>
                <a:r>
                  <a:rPr lang="en-US" dirty="0"/>
                  <a:t> Goods: Price Elasticity is Positive.</a:t>
                </a:r>
              </a:p>
              <a:p>
                <a:pPr lvl="1"/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↓</m:t>
                    </m:r>
                  </m:oMath>
                </a14:m>
                <a:r>
                  <a:rPr lang="en-US" dirty="0"/>
                  <a:t> when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𝑥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↓</m:t>
                    </m:r>
                  </m:oMath>
                </a14:m>
                <a:endParaRPr lang="en-US" dirty="0">
                  <a:ea typeface="Cambria Math" panose="02040503050406030204" pitchFamily="18" charset="0"/>
                </a:endParaRPr>
              </a:p>
              <a:p>
                <a:pPr lvl="1"/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↑</m:t>
                    </m:r>
                  </m:oMath>
                </a14:m>
                <a:r>
                  <a:rPr lang="en-US" dirty="0"/>
                  <a:t> when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𝑥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↑</m:t>
                    </m:r>
                  </m:oMath>
                </a14:m>
                <a:endParaRPr lang="en-US" dirty="0"/>
              </a:p>
              <a:p>
                <a:pPr lvl="3"/>
                <a:endParaRPr lang="en-US" sz="500" dirty="0"/>
              </a:p>
              <a:p>
                <a:r>
                  <a:rPr lang="en-US" dirty="0"/>
                  <a:t>The Price Consumption Curve and the Demand Curve.</a:t>
                </a:r>
              </a:p>
              <a:p>
                <a:pPr lvl="3"/>
                <a:endParaRPr lang="en-US" sz="500" dirty="0"/>
              </a:p>
              <a:p>
                <a:r>
                  <a:rPr lang="en-US" dirty="0"/>
                  <a:t>Price, Substitution, and Income Effects.</a:t>
                </a:r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A717BAA-D4BA-C7EB-5696-203603829C7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628650" y="1825626"/>
                <a:ext cx="7886700" cy="4394020"/>
              </a:xfrm>
              <a:blipFill>
                <a:blip r:embed="rId2"/>
                <a:stretch>
                  <a:fillRect l="-1005" t="-180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09CFCAE-B4E3-649B-FDB7-488E4E51258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dirty="0"/>
              <a:t>Fall 2023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2AC4525-C5C8-8596-B2EA-0E2C534430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DEPARTMENT OF BUSINESS &amp; ECONOMICS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E261E69-6082-7B91-F48A-C4702A4B50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980C56-831A-4EAB-9EDE-57C090F4F877}" type="slidenum">
              <a:rPr lang="en-US" smtClean="0"/>
              <a:t>40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6972684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03F85D-5E59-7560-369F-3CA32946F91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Comparative Statics of the UMP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4D14C26-6C60-18BA-68F9-1D2E1F7C412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anchor="t"/>
          <a:lstStyle/>
          <a:p>
            <a:pPr algn="ctr"/>
            <a:r>
              <a:rPr lang="en-US" dirty="0"/>
              <a:t>Price Consumption Curve</a:t>
            </a:r>
          </a:p>
        </p:txBody>
      </p:sp>
      <p:pic>
        <p:nvPicPr>
          <p:cNvPr id="11" name="Content Placeholder 10" descr="A diagram of a function&#10;&#10;Description automatically generated">
            <a:extLst>
              <a:ext uri="{FF2B5EF4-FFF2-40B4-BE49-F238E27FC236}">
                <a16:creationId xmlns:a16="http://schemas.microsoft.com/office/drawing/2014/main" id="{31DC1C48-C852-E06B-31F3-29E8C194C023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6542" y="2505075"/>
            <a:ext cx="3316129" cy="3684588"/>
          </a:xfrm>
        </p:spPr>
      </p:pic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1DD6247-AC7F-DE4C-8696-AB1DC56416E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 anchor="t"/>
          <a:lstStyle/>
          <a:p>
            <a:pPr algn="ctr"/>
            <a:r>
              <a:rPr lang="en-US" dirty="0"/>
              <a:t>Demand Curve</a:t>
            </a:r>
          </a:p>
        </p:txBody>
      </p:sp>
      <p:pic>
        <p:nvPicPr>
          <p:cNvPr id="13" name="Content Placeholder 12" descr="A graph of a function&#10;&#10;Description automatically generated">
            <a:extLst>
              <a:ext uri="{FF2B5EF4-FFF2-40B4-BE49-F238E27FC236}">
                <a16:creationId xmlns:a16="http://schemas.microsoft.com/office/drawing/2014/main" id="{A4534F3A-B416-1F1A-52BD-8AC565E7176D}"/>
              </a:ext>
            </a:extLst>
          </p:cNvPr>
          <p:cNvPicPr>
            <a:picLocks noGrp="1" noChangeAspect="1"/>
          </p:cNvPicPr>
          <p:nvPr>
            <p:ph sz="quarter" idx="4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914979" y="2505075"/>
            <a:ext cx="3316129" cy="3684588"/>
          </a:xfrm>
        </p:spPr>
      </p:pic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0DA40677-BA46-9F53-E996-0CAF9003858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Fall 2023</a:t>
            </a:r>
            <a:endParaRPr lang="en-US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4D30E17C-ACFA-7B73-EDE0-5FDE2F932C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DEPARTMENT OF BUSINESS &amp; ECONOMICS</a:t>
            </a:r>
            <a:endParaRPr lang="en-US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677D3E8E-14ED-B341-EA6D-D09A9ABCF9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980C56-831A-4EAB-9EDE-57C090F4F877}" type="slidenum">
              <a:rPr lang="en-US" smtClean="0"/>
              <a:t>41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28878961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8E3986-575B-B929-0562-1561C73A78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Comparative Statics of the UMP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A717BAA-D4BA-C7EB-5696-203603829C7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8650" y="1825626"/>
            <a:ext cx="7886700" cy="4394020"/>
          </a:xfrm>
        </p:spPr>
        <p:txBody>
          <a:bodyPr>
            <a:normAutofit/>
          </a:bodyPr>
          <a:lstStyle/>
          <a:p>
            <a:r>
              <a:rPr lang="en-US" dirty="0"/>
              <a:t>When the market price of a good changes…</a:t>
            </a:r>
          </a:p>
          <a:p>
            <a:pPr lvl="1"/>
            <a:r>
              <a:rPr lang="en-US" dirty="0"/>
              <a:t>One good gets “relatively more expensive,” and</a:t>
            </a:r>
          </a:p>
          <a:p>
            <a:pPr lvl="1"/>
            <a:r>
              <a:rPr lang="en-US" dirty="0"/>
              <a:t>The other good gets “relatively cheaper,”, and</a:t>
            </a:r>
          </a:p>
          <a:p>
            <a:pPr lvl="1"/>
            <a:r>
              <a:rPr lang="en-US" dirty="0"/>
              <a:t>The consumer’s perceived purchasing power will change.</a:t>
            </a:r>
          </a:p>
          <a:p>
            <a:pPr lvl="3"/>
            <a:endParaRPr lang="en-US" dirty="0"/>
          </a:p>
          <a:p>
            <a:r>
              <a:rPr lang="en-US" dirty="0"/>
              <a:t>The Price Effect, Substitution Effect, and Income Effect</a:t>
            </a:r>
          </a:p>
          <a:p>
            <a:pPr lvl="1"/>
            <a:r>
              <a:rPr lang="en-US" dirty="0"/>
              <a:t>Price Effect: Aggregate Effect of Changes in Price</a:t>
            </a:r>
          </a:p>
          <a:p>
            <a:pPr lvl="1"/>
            <a:r>
              <a:rPr lang="en-US" dirty="0"/>
              <a:t>Substitution Effect: Isolated Effect of Changes in Relative Prices</a:t>
            </a:r>
          </a:p>
          <a:p>
            <a:pPr lvl="1"/>
            <a:r>
              <a:rPr lang="en-US" dirty="0"/>
              <a:t>Income Effect: Isolated Effect of Changes in Purchasing Power</a:t>
            </a:r>
          </a:p>
          <a:p>
            <a:pPr lvl="3"/>
            <a:endParaRPr lang="en-US" dirty="0"/>
          </a:p>
          <a:p>
            <a:r>
              <a:rPr lang="en-US" dirty="0"/>
              <a:t>The Slutsky Equation</a:t>
            </a:r>
          </a:p>
          <a:p>
            <a:pPr lvl="1"/>
            <a:r>
              <a:rPr lang="en-US" dirty="0"/>
              <a:t>Price Effect = Substitution Effect + Income Effect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09CFCAE-B4E3-649B-FDB7-488E4E51258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dirty="0"/>
              <a:t>Fall 2023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2AC4525-C5C8-8596-B2EA-0E2C534430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DEPARTMENT OF BUSINESS &amp; ECONOMICS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E261E69-6082-7B91-F48A-C4702A4B50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980C56-831A-4EAB-9EDE-57C090F4F877}" type="slidenum">
              <a:rPr lang="en-US" smtClean="0"/>
              <a:t>42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35550706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D8741E-7041-0E46-F74D-EC2B656D20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Comparative Statics of the UMP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DA06FC38-661F-13E9-BD40-59F00BDFCDF5}"/>
                  </a:ext>
                </a:extLst>
              </p:cNvPr>
              <p:cNvSpPr>
                <a:spLocks noGrp="1"/>
              </p:cNvSpPr>
              <p:nvPr>
                <p:ph sz="half" idx="2"/>
              </p:nvPr>
            </p:nvSpPr>
            <p:spPr/>
            <p:txBody>
              <a:bodyPr/>
              <a:lstStyle/>
              <a:p>
                <a:r>
                  <a:rPr lang="en-US" dirty="0"/>
                  <a:t>Diagram when good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en-US" dirty="0"/>
                  <a:t> is an ordinary good, and market price increased.</a:t>
                </a:r>
              </a:p>
              <a:p>
                <a:pPr lvl="3"/>
                <a:endParaRPr lang="en-US" dirty="0"/>
              </a:p>
              <a:p>
                <a:r>
                  <a:rPr lang="en-US" dirty="0"/>
                  <a:t>“New Prices, Old Utility.”</a:t>
                </a:r>
              </a:p>
              <a:p>
                <a:pPr lvl="3"/>
                <a:endParaRPr lang="en-US" dirty="0"/>
              </a:p>
              <a:p>
                <a:r>
                  <a:rPr lang="en-US" dirty="0"/>
                  <a:t>The Breakdown</a:t>
                </a:r>
              </a:p>
              <a:p>
                <a:pPr lvl="1"/>
                <a:r>
                  <a:rPr lang="en-US" dirty="0"/>
                  <a:t>Substitution Effect: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en-US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→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𝐻</m:t>
                        </m:r>
                      </m:sub>
                    </m:sSub>
                  </m:oMath>
                </a14:m>
                <a:endParaRPr lang="en-US" dirty="0"/>
              </a:p>
              <a:p>
                <a:pPr lvl="1"/>
                <a:r>
                  <a:rPr lang="en-US" dirty="0"/>
                  <a:t>Income Effect: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𝐻</m:t>
                        </m:r>
                      </m:sub>
                    </m:sSub>
                    <m:r>
                      <a:rPr lang="en-US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→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endParaRPr lang="en-US" b="0" dirty="0"/>
              </a:p>
              <a:p>
                <a:pPr lvl="1"/>
                <a:r>
                  <a:rPr lang="en-US" dirty="0"/>
                  <a:t>Price Effect: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en-US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→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endParaRPr lang="en-US" dirty="0"/>
              </a:p>
              <a:p>
                <a:pPr lvl="1"/>
                <a:endParaRPr lang="en-US" dirty="0"/>
              </a:p>
            </p:txBody>
          </p:sp>
        </mc:Choice>
        <mc:Fallback xmlns=""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DA06FC38-661F-13E9-BD40-59F00BDFCDF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2"/>
              </p:nvPr>
            </p:nvSpPr>
            <p:spPr>
              <a:blipFill>
                <a:blip r:embed="rId2"/>
                <a:stretch>
                  <a:fillRect l="-2038" t="-182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A7643AB-47B1-C8B3-53D5-4C68AA658A0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Fall 2023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D04CAC8-2D99-AE2D-7D44-02302A8B0E5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DEPARTMENT OF BUSINESS &amp; ECONOMICS</a:t>
            </a:r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30C05FC-9ACA-0DBB-0CA9-B916440804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980C56-831A-4EAB-9EDE-57C090F4F877}" type="slidenum">
              <a:rPr lang="en-US" smtClean="0"/>
              <a:t>43</a:t>
            </a:fld>
            <a:endParaRPr lang="en-US" dirty="0"/>
          </a:p>
        </p:txBody>
      </p:sp>
      <p:pic>
        <p:nvPicPr>
          <p:cNvPr id="13" name="Content Placeholder 12" descr="A diagram of different colored lines&#10;&#10;Description automatically generated">
            <a:extLst>
              <a:ext uri="{FF2B5EF4-FFF2-40B4-BE49-F238E27FC236}">
                <a16:creationId xmlns:a16="http://schemas.microsoft.com/office/drawing/2014/main" id="{FB9A8704-1A35-90C5-9EF0-F25A8BD7A663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8650" y="1842294"/>
            <a:ext cx="3886200" cy="4318000"/>
          </a:xfrm>
        </p:spPr>
      </p:pic>
    </p:spTree>
    <p:extLst>
      <p:ext uri="{BB962C8B-B14F-4D97-AF65-F5344CB8AC3E}">
        <p14:creationId xmlns:p14="http://schemas.microsoft.com/office/powerpoint/2010/main" val="1264499174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C46AAE-EEE1-D2DA-8674-E995BC02130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Own Price Elasticity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FEEA153-8CA9-0014-D4B5-03555F7BB91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Fall 2023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8337B50-6954-7168-503C-84A90B0A37B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DEPARTMENT OF BUSINESS &amp; ECONOMICS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C51450C-C79E-E641-EA31-5803822329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980C56-831A-4EAB-9EDE-57C090F4F877}" type="slidenum">
              <a:rPr lang="en-US" smtClean="0"/>
              <a:t>44</a:t>
            </a:fld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Content Placeholder 6">
                <a:extLst>
                  <a:ext uri="{FF2B5EF4-FFF2-40B4-BE49-F238E27FC236}">
                    <a16:creationId xmlns:a16="http://schemas.microsoft.com/office/drawing/2014/main" id="{237D8012-2069-A213-AED7-ACFF75B45E46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/>
                  <a:t>The measure of “how sensitive is the quantity demanded of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en-US" dirty="0"/>
                  <a:t> to changes in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 dirty="0" smtClean="0"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r>
                          <a:rPr lang="en-US" i="1" dirty="0" smtClean="0">
                            <a:latin typeface="Cambria Math" panose="02040503050406030204" pitchFamily="18" charset="0"/>
                          </a:rPr>
                          <m:t>𝑥</m:t>
                        </m:r>
                      </m:sub>
                    </m:sSub>
                  </m:oMath>
                </a14:m>
                <a:r>
                  <a:rPr lang="en-US" dirty="0"/>
                  <a:t>.”</a:t>
                </a:r>
              </a:p>
              <a:p>
                <a:pPr lvl="3"/>
                <a:endParaRPr lang="en-US" sz="500" dirty="0"/>
              </a:p>
              <a:p>
                <a:r>
                  <a:rPr lang="en-US" dirty="0"/>
                  <a:t>The (own) price elasticity is defined as:</a:t>
                </a:r>
              </a:p>
              <a:p>
                <a:endParaRPr lang="en-US" sz="50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𝜀</m:t>
                          </m:r>
                        </m:e>
                        <m:sub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𝑥𝑝</m:t>
                          </m:r>
                        </m:sub>
                      </m:sSub>
                      <m:r>
                        <a:rPr lang="en-US" sz="2000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sz="20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% </m:t>
                          </m:r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𝐶h𝑎𝑛𝑔𝑒</m:t>
                          </m:r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𝑜𝑓</m:t>
                          </m:r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𝑥</m:t>
                          </m:r>
                        </m:num>
                        <m:den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% </m:t>
                          </m:r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𝐶h𝑎𝑛𝑔𝑒</m:t>
                          </m:r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𝑜𝑓</m:t>
                          </m:r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 </m:t>
                          </m:r>
                          <m:sSub>
                            <m:sSubPr>
                              <m:ctrlPr>
                                <a:rPr lang="en-US" sz="20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𝑃</m:t>
                              </m:r>
                            </m:e>
                            <m:sub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sub>
                          </m:sSub>
                        </m:den>
                      </m:f>
                      <m:r>
                        <a:rPr lang="en-US" sz="2000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sz="20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𝜕</m:t>
                          </m:r>
                          <m:r>
                            <a:rPr lang="en-US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𝑥</m:t>
                          </m:r>
                        </m:num>
                        <m:den>
                          <m:r>
                            <a:rPr lang="en-US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𝜕</m:t>
                          </m:r>
                          <m:sSub>
                            <m:sSubPr>
                              <m:ctrlPr>
                                <a:rPr lang="en-US" sz="20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0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𝑝</m:t>
                              </m:r>
                            </m:e>
                            <m:sub>
                              <m:r>
                                <a:rPr lang="en-US" sz="20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𝑥</m:t>
                              </m:r>
                            </m:sub>
                          </m:sSub>
                        </m:den>
                      </m:f>
                      <m:r>
                        <a:rPr lang="en-US" sz="2000" i="1">
                          <a:latin typeface="Cambria Math" panose="02040503050406030204" pitchFamily="18" charset="0"/>
                        </a:rPr>
                        <m:t>⋅</m:t>
                      </m:r>
                      <m:f>
                        <m:fPr>
                          <m:ctrlPr>
                            <a:rPr lang="en-US" sz="20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en-US" sz="20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𝑃</m:t>
                              </m:r>
                            </m:e>
                            <m:sub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sub>
                          </m:sSub>
                        </m:num>
                        <m:den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𝑥</m:t>
                          </m:r>
                        </m:den>
                      </m:f>
                    </m:oMath>
                  </m:oMathPara>
                </a14:m>
                <a:endParaRPr lang="en-US" sz="2000" dirty="0"/>
              </a:p>
              <a:p>
                <a:pPr marL="0" indent="0">
                  <a:buNone/>
                </a:pPr>
                <a:endParaRPr lang="en-US" sz="500" dirty="0"/>
              </a:p>
              <a:p>
                <a:pPr marL="914400" lvl="1" indent="-457200">
                  <a:buFont typeface="+mj-lt"/>
                  <a:buAutoNum type="arabicPeriod"/>
                </a:pPr>
                <a:r>
                  <a:rPr lang="en-US" dirty="0"/>
                  <a:t>When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𝜀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𝑥𝑝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&lt;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0</m:t>
                    </m:r>
                  </m:oMath>
                </a14:m>
                <a:r>
                  <a:rPr lang="en-US" dirty="0"/>
                  <a:t>, good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en-US" dirty="0"/>
                  <a:t> is an Ordinary Good.</a:t>
                </a:r>
              </a:p>
              <a:p>
                <a:pPr marL="914400" lvl="1" indent="-457200">
                  <a:buFont typeface="+mj-lt"/>
                  <a:buAutoNum type="arabicPeriod"/>
                </a:pPr>
                <a:r>
                  <a:rPr lang="en-US" dirty="0"/>
                  <a:t>When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𝜀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𝑥𝑝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&gt;0</m:t>
                    </m:r>
                  </m:oMath>
                </a14:m>
                <a:r>
                  <a:rPr lang="en-US" dirty="0"/>
                  <a:t>, good </a:t>
                </a:r>
                <a14:m>
                  <m:oMath xmlns:m="http://schemas.openxmlformats.org/officeDocument/2006/math">
                    <m:r>
                      <a:rPr lang="en-US" i="1" dirty="0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en-US" dirty="0"/>
                  <a:t> is a </a:t>
                </a:r>
                <a:r>
                  <a:rPr lang="en-US" dirty="0" err="1"/>
                  <a:t>Giffen</a:t>
                </a:r>
                <a:r>
                  <a:rPr lang="en-US" dirty="0"/>
                  <a:t> Good.</a:t>
                </a:r>
              </a:p>
              <a:p>
                <a:pPr marL="914400" lvl="1" indent="-457200">
                  <a:buFont typeface="+mj-lt"/>
                  <a:buAutoNum type="arabicPeriod"/>
                </a:pPr>
                <a:r>
                  <a:rPr lang="en-US" dirty="0"/>
                  <a:t>When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𝜀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𝑥𝑝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&lt;−1</m:t>
                    </m:r>
                  </m:oMath>
                </a14:m>
                <a:r>
                  <a:rPr lang="en-US" dirty="0"/>
                  <a:t>, good </a:t>
                </a:r>
                <a14:m>
                  <m:oMath xmlns:m="http://schemas.openxmlformats.org/officeDocument/2006/math">
                    <m:r>
                      <a:rPr lang="en-US" i="1" dirty="0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en-US" dirty="0"/>
                  <a:t> is said to be “Elastic.”</a:t>
                </a:r>
              </a:p>
              <a:p>
                <a:pPr marL="914400" lvl="1" indent="-457200">
                  <a:buFont typeface="+mj-lt"/>
                  <a:buAutoNum type="arabicPeriod"/>
                </a:pPr>
                <a:r>
                  <a:rPr lang="en-US" dirty="0"/>
                  <a:t>When</a:t>
                </a:r>
                <a14:m>
                  <m:oMath xmlns:m="http://schemas.openxmlformats.org/officeDocument/2006/math">
                    <m:r>
                      <a:rPr lang="en-US" b="0" i="0" smtClean="0">
                        <a:latin typeface="Cambria Math" panose="02040503050406030204" pitchFamily="18" charset="0"/>
                      </a:rPr>
                      <m:t> 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𝜀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𝑥𝑝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−1</m:t>
                    </m:r>
                  </m:oMath>
                </a14:m>
                <a:r>
                  <a:rPr lang="en-US" dirty="0"/>
                  <a:t>, good </a:t>
                </a:r>
                <a14:m>
                  <m:oMath xmlns:m="http://schemas.openxmlformats.org/officeDocument/2006/math">
                    <m:r>
                      <a:rPr lang="en-US" i="1" dirty="0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en-US" dirty="0"/>
                  <a:t> is said to be “Unit Elastic.”</a:t>
                </a:r>
              </a:p>
              <a:p>
                <a:pPr marL="914400" lvl="1" indent="-457200">
                  <a:buFont typeface="+mj-lt"/>
                  <a:buAutoNum type="arabicPeriod"/>
                </a:pPr>
                <a:r>
                  <a:rPr lang="en-US" dirty="0"/>
                  <a:t>When </a:t>
                </a:r>
                <a14:m>
                  <m:oMath xmlns:m="http://schemas.openxmlformats.org/officeDocument/2006/math">
                    <m:r>
                      <a:rPr lang="en-US" b="0" i="0" smtClean="0">
                        <a:latin typeface="Cambria Math" panose="02040503050406030204" pitchFamily="18" charset="0"/>
                      </a:rPr>
                      <m:t>−1&lt;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𝜀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𝑥𝑝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</a:rPr>
                      <m:t>&lt;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0</m:t>
                    </m:r>
                  </m:oMath>
                </a14:m>
                <a:r>
                  <a:rPr lang="en-US" dirty="0"/>
                  <a:t>, good </a:t>
                </a:r>
                <a14:m>
                  <m:oMath xmlns:m="http://schemas.openxmlformats.org/officeDocument/2006/math">
                    <m:r>
                      <a:rPr lang="en-US" i="1" dirty="0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en-US" dirty="0"/>
                  <a:t> is said to be “Inelastic.”</a:t>
                </a:r>
              </a:p>
            </p:txBody>
          </p:sp>
        </mc:Choice>
        <mc:Fallback xmlns="">
          <p:sp>
            <p:nvSpPr>
              <p:cNvPr id="7" name="Content Placeholder 6">
                <a:extLst>
                  <a:ext uri="{FF2B5EF4-FFF2-40B4-BE49-F238E27FC236}">
                    <a16:creationId xmlns:a16="http://schemas.microsoft.com/office/drawing/2014/main" id="{237D8012-2069-A213-AED7-ACFF75B45E4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05" t="-182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088978483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C46AAE-EEE1-D2DA-8674-E995BC02130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Income Elasticity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FEEA153-8CA9-0014-D4B5-03555F7BB91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Fall 2023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8337B50-6954-7168-503C-84A90B0A37B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DEPARTMENT OF BUSINESS &amp; ECONOMICS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C51450C-C79E-E641-EA31-5803822329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980C56-831A-4EAB-9EDE-57C090F4F877}" type="slidenum">
              <a:rPr lang="en-US" smtClean="0"/>
              <a:t>45</a:t>
            </a:fld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Content Placeholder 6">
                <a:extLst>
                  <a:ext uri="{FF2B5EF4-FFF2-40B4-BE49-F238E27FC236}">
                    <a16:creationId xmlns:a16="http://schemas.microsoft.com/office/drawing/2014/main" id="{237D8012-2069-A213-AED7-ACFF75B45E46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r>
                  <a:rPr lang="en-US" dirty="0"/>
                  <a:t>The measure of “how sensitive is the quantity demanded of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en-US" dirty="0"/>
                  <a:t> to changes in </a:t>
                </a:r>
                <a14:m>
                  <m:oMath xmlns:m="http://schemas.openxmlformats.org/officeDocument/2006/math"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𝑀</m:t>
                    </m:r>
                  </m:oMath>
                </a14:m>
                <a:r>
                  <a:rPr lang="en-US" dirty="0"/>
                  <a:t>.”</a:t>
                </a:r>
              </a:p>
              <a:p>
                <a:pPr lvl="3"/>
                <a:endParaRPr lang="en-US" sz="500" dirty="0"/>
              </a:p>
              <a:p>
                <a:r>
                  <a:rPr lang="en-US" dirty="0"/>
                  <a:t>The income elasticity is defined as:</a:t>
                </a:r>
              </a:p>
              <a:p>
                <a:endParaRPr lang="en-US" sz="50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𝜀</m:t>
                          </m:r>
                        </m:e>
                        <m:sub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𝑀</m:t>
                          </m:r>
                        </m:sub>
                      </m:sSub>
                      <m:r>
                        <a:rPr lang="en-US" sz="2000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sz="20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% </m:t>
                          </m:r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𝐶h𝑎𝑛𝑔𝑒</m:t>
                          </m:r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𝑜𝑓</m:t>
                          </m:r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𝑥</m:t>
                          </m:r>
                        </m:num>
                        <m:den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% </m:t>
                          </m:r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𝐶h𝑎𝑛𝑔𝑒</m:t>
                          </m:r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𝑜𝑓</m:t>
                          </m:r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𝑀</m:t>
                          </m:r>
                        </m:den>
                      </m:f>
                      <m:r>
                        <a:rPr lang="en-US" sz="2000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sz="20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𝜕</m:t>
                          </m:r>
                          <m:r>
                            <a:rPr lang="en-US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𝑥</m:t>
                          </m:r>
                        </m:num>
                        <m:den>
                          <m:r>
                            <a:rPr lang="en-US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𝜕</m:t>
                          </m:r>
                          <m:r>
                            <a:rPr lang="en-US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𝑀</m:t>
                          </m:r>
                        </m:den>
                      </m:f>
                      <m:r>
                        <a:rPr lang="en-US" sz="2000" i="1">
                          <a:latin typeface="Cambria Math" panose="02040503050406030204" pitchFamily="18" charset="0"/>
                        </a:rPr>
                        <m:t>⋅</m:t>
                      </m:r>
                      <m:f>
                        <m:fPr>
                          <m:ctrlPr>
                            <a:rPr lang="en-US" sz="20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𝑀</m:t>
                          </m:r>
                        </m:num>
                        <m:den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𝑥</m:t>
                          </m:r>
                        </m:den>
                      </m:f>
                    </m:oMath>
                  </m:oMathPara>
                </a14:m>
                <a:endParaRPr lang="en-US" sz="2000" dirty="0"/>
              </a:p>
              <a:p>
                <a:pPr marL="0" indent="0">
                  <a:buNone/>
                </a:pPr>
                <a:endParaRPr lang="en-US" sz="500" dirty="0"/>
              </a:p>
              <a:p>
                <a:pPr marL="914400" lvl="1" indent="-457200">
                  <a:buFont typeface="+mj-lt"/>
                  <a:buAutoNum type="arabicPeriod"/>
                </a:pPr>
                <a:r>
                  <a:rPr lang="en-US" dirty="0"/>
                  <a:t>When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𝜀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𝑥𝑀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&gt;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0</m:t>
                    </m:r>
                  </m:oMath>
                </a14:m>
                <a:r>
                  <a:rPr lang="en-US" dirty="0"/>
                  <a:t>, Good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en-US" dirty="0"/>
                  <a:t> is a Normal Good.</a:t>
                </a:r>
              </a:p>
              <a:p>
                <a:pPr marL="914400" lvl="1" indent="-457200">
                  <a:buFont typeface="+mj-lt"/>
                  <a:buAutoNum type="arabicPeriod"/>
                </a:pPr>
                <a:r>
                  <a:rPr lang="en-US" dirty="0"/>
                  <a:t>When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𝜀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𝑥𝑀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&lt;0</m:t>
                    </m:r>
                  </m:oMath>
                </a14:m>
                <a:r>
                  <a:rPr lang="en-US" dirty="0"/>
                  <a:t>, Good </a:t>
                </a:r>
                <a14:m>
                  <m:oMath xmlns:m="http://schemas.openxmlformats.org/officeDocument/2006/math">
                    <m:r>
                      <a:rPr lang="en-US" i="1" dirty="0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en-US" dirty="0"/>
                  <a:t> is an Inferior Good.</a:t>
                </a:r>
              </a:p>
              <a:p>
                <a:pPr marL="914400" lvl="1" indent="-457200">
                  <a:buFont typeface="+mj-lt"/>
                  <a:buAutoNum type="arabicPeriod"/>
                </a:pPr>
                <a:r>
                  <a:rPr lang="en-US" dirty="0"/>
                  <a:t>When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𝜀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𝑥𝑀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</a:rPr>
                      <m:t>&gt;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1</m:t>
                    </m:r>
                  </m:oMath>
                </a14:m>
                <a:r>
                  <a:rPr lang="en-US" dirty="0"/>
                  <a:t>, Good </a:t>
                </a:r>
                <a14:m>
                  <m:oMath xmlns:m="http://schemas.openxmlformats.org/officeDocument/2006/math">
                    <m:r>
                      <a:rPr lang="en-US" i="1" dirty="0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en-US" dirty="0"/>
                  <a:t> is a Luxury Good.</a:t>
                </a:r>
              </a:p>
              <a:p>
                <a:pPr marL="914400" lvl="1" indent="-457200">
                  <a:buFont typeface="+mj-lt"/>
                  <a:buAutoNum type="arabicPeriod"/>
                </a:pPr>
                <a:r>
                  <a:rPr lang="en-US" dirty="0"/>
                  <a:t>When 0&lt;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𝜀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𝑥𝑀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&lt;1</m:t>
                    </m:r>
                  </m:oMath>
                </a14:m>
                <a:r>
                  <a:rPr lang="en-US" dirty="0"/>
                  <a:t>, Good </a:t>
                </a:r>
                <a14:m>
                  <m:oMath xmlns:m="http://schemas.openxmlformats.org/officeDocument/2006/math">
                    <m:r>
                      <a:rPr lang="en-US" i="1" dirty="0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en-US" dirty="0"/>
                  <a:t> is a Necessary Good.</a:t>
                </a:r>
              </a:p>
              <a:p>
                <a:pPr marL="914400" lvl="1" indent="-457200">
                  <a:buFont typeface="+mj-lt"/>
                  <a:buAutoNum type="arabicPeriod"/>
                </a:pPr>
                <a:endParaRPr lang="en-US" sz="500" dirty="0"/>
              </a:p>
            </p:txBody>
          </p:sp>
        </mc:Choice>
        <mc:Fallback xmlns="">
          <p:sp>
            <p:nvSpPr>
              <p:cNvPr id="7" name="Content Placeholder 6">
                <a:extLst>
                  <a:ext uri="{FF2B5EF4-FFF2-40B4-BE49-F238E27FC236}">
                    <a16:creationId xmlns:a16="http://schemas.microsoft.com/office/drawing/2014/main" id="{237D8012-2069-A213-AED7-ACFF75B45E4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05" t="-182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472985678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C46AAE-EEE1-D2DA-8674-E995BC02130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Cross-Price Elasticity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FEEA153-8CA9-0014-D4B5-03555F7BB91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Fall 2023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8337B50-6954-7168-503C-84A90B0A37B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DEPARTMENT OF BUSINESS &amp; ECONOMICS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C51450C-C79E-E641-EA31-5803822329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980C56-831A-4EAB-9EDE-57C090F4F877}" type="slidenum">
              <a:rPr lang="en-US" smtClean="0"/>
              <a:t>46</a:t>
            </a:fld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Content Placeholder 6">
                <a:extLst>
                  <a:ext uri="{FF2B5EF4-FFF2-40B4-BE49-F238E27FC236}">
                    <a16:creationId xmlns:a16="http://schemas.microsoft.com/office/drawing/2014/main" id="{237D8012-2069-A213-AED7-ACFF75B45E46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r>
                  <a:rPr lang="en-US" dirty="0"/>
                  <a:t>The measure of “how sensitive is the quantity demanded of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en-US" dirty="0"/>
                  <a:t> to changes in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𝑦</m:t>
                        </m:r>
                      </m:sub>
                    </m:sSub>
                  </m:oMath>
                </a14:m>
                <a:r>
                  <a:rPr lang="en-US" dirty="0"/>
                  <a:t>.”</a:t>
                </a:r>
              </a:p>
              <a:p>
                <a:pPr lvl="3"/>
                <a:endParaRPr lang="en-US" sz="500" dirty="0"/>
              </a:p>
              <a:p>
                <a:r>
                  <a:rPr lang="en-US" dirty="0"/>
                  <a:t>The cross-price elasticity is defined as:</a:t>
                </a:r>
              </a:p>
              <a:p>
                <a:endParaRPr lang="en-US" sz="50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𝜀</m:t>
                          </m:r>
                        </m:e>
                        <m:sub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sub>
                      </m:sSub>
                      <m:r>
                        <a:rPr lang="en-US" sz="2000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sz="20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% </m:t>
                          </m:r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𝐶h𝑎𝑛𝑔𝑒</m:t>
                          </m:r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𝑜𝑓</m:t>
                          </m:r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𝑥</m:t>
                          </m:r>
                        </m:num>
                        <m:den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% </m:t>
                          </m:r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𝐶h𝑎𝑛𝑔𝑒</m:t>
                          </m:r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𝑜𝑓</m:t>
                          </m:r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 </m:t>
                          </m:r>
                          <m:sSub>
                            <m:sSubPr>
                              <m:ctrlP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𝑃</m:t>
                              </m:r>
                            </m:e>
                            <m:sub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sub>
                          </m:sSub>
                        </m:den>
                      </m:f>
                      <m:r>
                        <a:rPr lang="en-US" sz="2000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sz="20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𝜕</m:t>
                          </m:r>
                          <m:r>
                            <a:rPr lang="en-US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𝑥</m:t>
                          </m:r>
                        </m:num>
                        <m:den>
                          <m:r>
                            <a:rPr lang="en-US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𝜕</m:t>
                          </m:r>
                          <m:sSub>
                            <m:sSubPr>
                              <m:ctrlPr>
                                <a:rPr lang="en-US" sz="20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𝑃</m:t>
                              </m:r>
                            </m:e>
                            <m:sub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sub>
                          </m:sSub>
                        </m:den>
                      </m:f>
                      <m:r>
                        <a:rPr lang="en-US" sz="2000" i="1">
                          <a:latin typeface="Cambria Math" panose="02040503050406030204" pitchFamily="18" charset="0"/>
                        </a:rPr>
                        <m:t>⋅</m:t>
                      </m:r>
                      <m:f>
                        <m:fPr>
                          <m:ctrlPr>
                            <a:rPr lang="en-US" sz="20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en-US" sz="20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𝑃</m:t>
                              </m:r>
                            </m:e>
                            <m:sub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sub>
                          </m:sSub>
                        </m:num>
                        <m:den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𝑥</m:t>
                          </m:r>
                        </m:den>
                      </m:f>
                    </m:oMath>
                  </m:oMathPara>
                </a14:m>
                <a:endParaRPr lang="en-US" sz="2000" dirty="0"/>
              </a:p>
              <a:p>
                <a:pPr marL="0" indent="0">
                  <a:buNone/>
                </a:pPr>
                <a:endParaRPr lang="en-US" sz="500" dirty="0"/>
              </a:p>
              <a:p>
                <a:pPr marL="914400" lvl="1" indent="-457200">
                  <a:buFont typeface="+mj-lt"/>
                  <a:buAutoNum type="arabicPeriod"/>
                </a:pPr>
                <a:r>
                  <a:rPr lang="en-US" dirty="0"/>
                  <a:t>When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𝜀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𝑥𝑦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&gt;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0</m:t>
                    </m:r>
                  </m:oMath>
                </a14:m>
                <a:r>
                  <a:rPr lang="en-US" dirty="0"/>
                  <a:t>, Good </a:t>
                </a:r>
                <a14:m>
                  <m:oMath xmlns:m="http://schemas.openxmlformats.org/officeDocument/2006/math"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𝑦</m:t>
                    </m:r>
                  </m:oMath>
                </a14:m>
                <a:r>
                  <a:rPr lang="en-US" dirty="0"/>
                  <a:t> is a Substitute to Good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en-US" dirty="0"/>
                  <a:t>.</a:t>
                </a:r>
              </a:p>
              <a:p>
                <a:pPr marL="914400" lvl="1" indent="-457200">
                  <a:buFont typeface="+mj-lt"/>
                  <a:buAutoNum type="arabicPeriod"/>
                </a:pPr>
                <a:r>
                  <a:rPr lang="en-US" dirty="0"/>
                  <a:t>When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𝜀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lang="en-US" dirty="0"/>
                  <a:t>, Good </a:t>
                </a:r>
                <a14:m>
                  <m:oMath xmlns:m="http://schemas.openxmlformats.org/officeDocument/2006/math"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𝑦</m:t>
                    </m:r>
                  </m:oMath>
                </a14:m>
                <a:r>
                  <a:rPr lang="en-US" dirty="0"/>
                  <a:t> and Good </a:t>
                </a:r>
                <a14:m>
                  <m:oMath xmlns:m="http://schemas.openxmlformats.org/officeDocument/2006/math">
                    <m:r>
                      <a:rPr lang="en-US" i="1" dirty="0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en-US" dirty="0"/>
                  <a:t> are Independent.</a:t>
                </a:r>
              </a:p>
              <a:p>
                <a:pPr marL="914400" lvl="1" indent="-457200">
                  <a:buFont typeface="+mj-lt"/>
                  <a:buAutoNum type="arabicPeriod"/>
                </a:pPr>
                <a:r>
                  <a:rPr lang="en-US" dirty="0"/>
                  <a:t>When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𝜀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𝑥𝑦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</a:rPr>
                      <m:t>&lt;0</m:t>
                    </m:r>
                  </m:oMath>
                </a14:m>
                <a:r>
                  <a:rPr lang="en-US" dirty="0"/>
                  <a:t>, Good </a:t>
                </a:r>
                <a14:m>
                  <m:oMath xmlns:m="http://schemas.openxmlformats.org/officeDocument/2006/math">
                    <m:r>
                      <a:rPr lang="en-US" i="1" dirty="0">
                        <a:latin typeface="Cambria Math" panose="02040503050406030204" pitchFamily="18" charset="0"/>
                      </a:rPr>
                      <m:t>𝑦</m:t>
                    </m:r>
                  </m:oMath>
                </a14:m>
                <a:r>
                  <a:rPr lang="en-US" dirty="0"/>
                  <a:t> is a Complement to Good </a:t>
                </a:r>
                <a14:m>
                  <m:oMath xmlns:m="http://schemas.openxmlformats.org/officeDocument/2006/math">
                    <m:r>
                      <a:rPr lang="en-US" i="1" dirty="0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en-US" dirty="0"/>
                  <a:t>.</a:t>
                </a:r>
              </a:p>
              <a:p>
                <a:pPr marL="914400" lvl="1" indent="-457200">
                  <a:buFont typeface="+mj-lt"/>
                  <a:buAutoNum type="arabicPeriod"/>
                </a:pPr>
                <a:endParaRPr lang="en-US" dirty="0"/>
              </a:p>
            </p:txBody>
          </p:sp>
        </mc:Choice>
        <mc:Fallback xmlns="">
          <p:sp>
            <p:nvSpPr>
              <p:cNvPr id="7" name="Content Placeholder 6">
                <a:extLst>
                  <a:ext uri="{FF2B5EF4-FFF2-40B4-BE49-F238E27FC236}">
                    <a16:creationId xmlns:a16="http://schemas.microsoft.com/office/drawing/2014/main" id="{237D8012-2069-A213-AED7-ACFF75B45E4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05" t="-182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65172207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5DA7C5-AD0B-2C35-B9A5-E475C7DE4F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Total Revenue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8D481CE-C956-B80C-EC4C-69F3185027D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/>
                  <a:t>Total Revenue is the amount of money that the seller receives from consumers by selling their products.</a:t>
                </a:r>
              </a:p>
              <a:p>
                <a:endParaRPr lang="en-US" sz="1600" dirty="0"/>
              </a:p>
              <a:p>
                <a:r>
                  <a:rPr lang="en-US" dirty="0"/>
                  <a:t>Total Revenue is defined as:</a:t>
                </a:r>
              </a:p>
              <a:p>
                <a:endParaRPr lang="en-US" sz="50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𝑇𝑅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⋅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𝑥</m:t>
                      </m:r>
                    </m:oMath>
                  </m:oMathPara>
                </a14:m>
                <a:endParaRPr lang="en-US" dirty="0"/>
              </a:p>
              <a:p>
                <a:endParaRPr lang="en-US" sz="1600" dirty="0"/>
              </a:p>
              <a:p>
                <a:r>
                  <a:rPr lang="en-US" dirty="0"/>
                  <a:t>Marginal Revenue is the extra amount of revenue the producer gets when they increase production by a small amount: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𝑀𝑅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𝑑</m:t>
                          </m:r>
                        </m:num>
                        <m:den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𝑑𝑥</m:t>
                          </m:r>
                        </m:den>
                      </m:f>
                      <m:r>
                        <a:rPr lang="en-US" i="1">
                          <a:latin typeface="Cambria Math" panose="02040503050406030204" pitchFamily="18" charset="0"/>
                        </a:rPr>
                        <m:t>𝑇𝑅</m:t>
                      </m:r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8D481CE-C956-B80C-EC4C-69F3185027D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05" t="-182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532E567-8BC9-E10E-E8E8-ABAC41A49D5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Fall 2023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1149B54-3245-361D-EB73-BC93C10F126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DEPARTMENT OF BUSINESS &amp; ECONOMICS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D489769-337E-6357-C335-BFA3EDCD71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980C56-831A-4EAB-9EDE-57C090F4F877}" type="slidenum">
              <a:rPr lang="en-US" smtClean="0"/>
              <a:t>47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30386205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5DA7C5-AD0B-2C35-B9A5-E475C7DE4F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Total Revenue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8D481CE-C956-B80C-EC4C-69F3185027D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b="1" dirty="0"/>
                  <a:t>ex) When the (inverse) demand function is: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1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1" smtClean="0">
                            <a:latin typeface="Cambria Math" panose="02040503050406030204" pitchFamily="18" charset="0"/>
                          </a:rPr>
                          <m:t>𝑷</m:t>
                        </m:r>
                      </m:e>
                      <m:sub>
                        <m:r>
                          <a:rPr lang="en-US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</m:sub>
                    </m:sSub>
                    <m:r>
                      <a:rPr lang="en-US" b="1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1" i="1" smtClean="0">
                        <a:latin typeface="Cambria Math" panose="02040503050406030204" pitchFamily="18" charset="0"/>
                      </a:rPr>
                      <m:t>𝒂</m:t>
                    </m:r>
                    <m:r>
                      <a:rPr lang="en-US" b="1" i="1" smtClean="0">
                        <a:latin typeface="Cambria Math" panose="02040503050406030204" pitchFamily="18" charset="0"/>
                      </a:rPr>
                      <m:t>−</m:t>
                    </m:r>
                    <m:r>
                      <a:rPr lang="en-US" b="1" i="1" smtClean="0">
                        <a:latin typeface="Cambria Math" panose="02040503050406030204" pitchFamily="18" charset="0"/>
                      </a:rPr>
                      <m:t>𝒃𝒙</m:t>
                    </m:r>
                  </m:oMath>
                </a14:m>
                <a:endParaRPr lang="en-US" b="1" dirty="0"/>
              </a:p>
              <a:p>
                <a:endParaRPr lang="en-US" sz="1600" dirty="0"/>
              </a:p>
              <a:p>
                <a:r>
                  <a:rPr lang="en-US" dirty="0"/>
                  <a:t>Total Revenue: </a:t>
                </a:r>
              </a:p>
              <a:p>
                <a:endParaRPr lang="en-US" sz="500" b="0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𝑇𝑅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⋅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𝑏𝑥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⋅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𝑎𝑥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𝑏</m:t>
                      </m:r>
                      <m:sSup>
                        <m:sSup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</m:oMath>
                  </m:oMathPara>
                </a14:m>
                <a:endParaRPr lang="en-US" dirty="0"/>
              </a:p>
              <a:p>
                <a:endParaRPr lang="en-US" sz="1600" dirty="0"/>
              </a:p>
              <a:p>
                <a:r>
                  <a:rPr lang="en-US" dirty="0"/>
                  <a:t>Marginal Revenue:</a:t>
                </a:r>
              </a:p>
              <a:p>
                <a:endParaRPr lang="en-US" sz="50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𝑀𝑅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𝑑</m:t>
                          </m:r>
                        </m:num>
                        <m:den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𝑑𝑥</m:t>
                          </m:r>
                        </m:den>
                      </m:f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𝑇𝑅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𝑑</m:t>
                          </m:r>
                        </m:num>
                        <m:den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𝑑𝑥</m:t>
                          </m:r>
                        </m:den>
                      </m:f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𝑎𝑥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  <m:sSup>
                            <m:sSup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p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𝑎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−2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𝑏𝑥</m:t>
                      </m:r>
                    </m:oMath>
                  </m:oMathPara>
                </a14:m>
                <a:endParaRPr lang="en-US" dirty="0"/>
              </a:p>
              <a:p>
                <a:endParaRPr lang="en-US"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8D481CE-C956-B80C-EC4C-69F3185027D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05" t="-182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532E567-8BC9-E10E-E8E8-ABAC41A49D5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Fall 2023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1149B54-3245-361D-EB73-BC93C10F126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DEPARTMENT OF BUSINESS &amp; ECONOMICS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D489769-337E-6357-C335-BFA3EDCD71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980C56-831A-4EAB-9EDE-57C090F4F877}" type="slidenum">
              <a:rPr lang="en-US" smtClean="0"/>
              <a:t>48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63472010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5DA7C5-AD0B-2C35-B9A5-E475C7DE4F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Total Revenue and Price Elasticity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8D481CE-C956-B80C-EC4C-69F3185027D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/>
                  <a:t>Marginal Revenue is: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𝑀𝑅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⋅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1+</m:t>
                          </m:r>
                          <m:f>
                            <m:f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𝜀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𝑥𝑝</m:t>
                                  </m:r>
                                </m:sub>
                              </m:sSub>
                            </m:den>
                          </m:f>
                        </m:e>
                      </m:d>
                    </m:oMath>
                  </m:oMathPara>
                </a14:m>
                <a:endParaRPr lang="en-US" dirty="0"/>
              </a:p>
              <a:p>
                <a:endParaRPr lang="en-US" sz="1600" dirty="0"/>
              </a:p>
              <a:p>
                <a:pPr lvl="1"/>
                <a:r>
                  <a:rPr lang="en-US" dirty="0"/>
                  <a:t>When demand is elastic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b="0" i="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𝜀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𝑥𝑝</m:t>
                            </m:r>
                          </m:sub>
                        </m:s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&lt;−1</m:t>
                        </m:r>
                      </m:e>
                    </m:d>
                  </m:oMath>
                </a14:m>
                <a:r>
                  <a:rPr lang="en-US" dirty="0"/>
                  <a:t>, marginal revenue is positive, and firms should increase production to increase total revenue.</a:t>
                </a:r>
              </a:p>
              <a:p>
                <a:pPr lvl="1"/>
                <a:endParaRPr lang="en-US" sz="500" dirty="0"/>
              </a:p>
              <a:p>
                <a:pPr lvl="1"/>
                <a:r>
                  <a:rPr lang="en-US" dirty="0"/>
                  <a:t>When demand is inelastic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−1&lt;</m:t>
                        </m:r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𝜀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𝑥𝑝</m:t>
                            </m:r>
                          </m:sub>
                        </m:s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&lt;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e>
                    </m:d>
                  </m:oMath>
                </a14:m>
                <a:r>
                  <a:rPr lang="en-US" dirty="0"/>
                  <a:t>, marginal revenue is negative, and firms should decrease production to increase total revenue.</a:t>
                </a:r>
              </a:p>
              <a:p>
                <a:pPr lvl="1"/>
                <a:endParaRPr lang="en-US"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8D481CE-C956-B80C-EC4C-69F3185027D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05" t="-182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532E567-8BC9-E10E-E8E8-ABAC41A49D5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Fall 2023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1149B54-3245-361D-EB73-BC93C10F126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DEPARTMENT OF BUSINESS &amp; ECONOMICS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D489769-337E-6357-C335-BFA3EDCD71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980C56-831A-4EAB-9EDE-57C090F4F877}" type="slidenum">
              <a:rPr lang="en-US" smtClean="0"/>
              <a:t>49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36068449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D5E117-8400-6A86-DBB3-5AFECD4580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Total Revenue and Price Elasticity</a:t>
            </a:r>
          </a:p>
        </p:txBody>
      </p:sp>
      <p:pic>
        <p:nvPicPr>
          <p:cNvPr id="9" name="Content Placeholder 8" descr="A diagram of a line&#10;&#10;Description automatically generated">
            <a:extLst>
              <a:ext uri="{FF2B5EF4-FFF2-40B4-BE49-F238E27FC236}">
                <a16:creationId xmlns:a16="http://schemas.microsoft.com/office/drawing/2014/main" id="{4EEEF989-C929-0D2D-5523-AD009E98624F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8650" y="1842294"/>
            <a:ext cx="3886200" cy="4318000"/>
          </a:xfrm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DE8BCA18-67C5-3059-B521-F28BE627D21E}"/>
                  </a:ext>
                </a:extLst>
              </p:cNvPr>
              <p:cNvSpPr>
                <a:spLocks noGrp="1"/>
              </p:cNvSpPr>
              <p:nvPr>
                <p:ph sz="half" idx="2"/>
              </p:nvPr>
            </p:nvSpPr>
            <p:spPr/>
            <p:txBody>
              <a:bodyPr>
                <a:normAutofit/>
              </a:bodyPr>
              <a:lstStyle/>
              <a:p>
                <a:r>
                  <a:rPr lang="en-US" dirty="0"/>
                  <a:t>Plot the demand and marginal revenue curves.</a:t>
                </a:r>
              </a:p>
              <a:p>
                <a:pPr lvl="1"/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𝑥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−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𝑏𝑥</m:t>
                    </m:r>
                  </m:oMath>
                </a14:m>
                <a:endParaRPr lang="en-US" dirty="0"/>
              </a:p>
              <a:p>
                <a:pPr lvl="1"/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𝑀𝑅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)=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−2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𝑏𝑥</m:t>
                    </m:r>
                  </m:oMath>
                </a14:m>
                <a:endParaRPr lang="en-US" dirty="0"/>
              </a:p>
              <a:p>
                <a:pPr lvl="1"/>
                <a:endParaRPr lang="en-US" sz="500" dirty="0"/>
              </a:p>
              <a:p>
                <a:r>
                  <a:rPr lang="en-US" dirty="0"/>
                  <a:t>From the previous slide:</a:t>
                </a:r>
              </a:p>
              <a:p>
                <a:pPr lvl="1"/>
                <a:r>
                  <a:rPr lang="en-US" dirty="0"/>
                  <a:t>When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𝜀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𝑥𝑝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&lt;−1</m:t>
                    </m:r>
                  </m:oMath>
                </a14:m>
                <a:r>
                  <a:rPr lang="en-US" dirty="0"/>
                  <a:t>, decrease production to increase revenue.</a:t>
                </a:r>
              </a:p>
              <a:p>
                <a:pPr lvl="1"/>
                <a:r>
                  <a:rPr lang="en-US" dirty="0"/>
                  <a:t>When </a:t>
                </a:r>
                <a14:m>
                  <m:oMath xmlns:m="http://schemas.openxmlformats.org/officeDocument/2006/math">
                    <m:r>
                      <a:rPr lang="en-US" b="0" i="0" smtClean="0">
                        <a:latin typeface="Cambria Math" panose="02040503050406030204" pitchFamily="18" charset="0"/>
                      </a:rPr>
                      <m:t>−1&lt;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𝜀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𝑥𝑝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&lt;0</m:t>
                    </m:r>
                  </m:oMath>
                </a14:m>
                <a:r>
                  <a:rPr lang="en-US" dirty="0"/>
                  <a:t>, increase production to increase revenue</a:t>
                </a:r>
              </a:p>
            </p:txBody>
          </p:sp>
        </mc:Choice>
        <mc:Fallback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DE8BCA18-67C5-3059-B521-F28BE627D21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2"/>
              </p:nvPr>
            </p:nvSpPr>
            <p:spPr>
              <a:blipFill>
                <a:blip r:embed="rId3"/>
                <a:stretch>
                  <a:fillRect l="-2038" t="-182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6A55F97-D69D-BC6B-22BD-231C08FF141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Fall 2023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864176B-C271-BC56-C031-7E2B3D1FB12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DEPARTMENT OF BUSINESS &amp; ECONOMICS</a:t>
            </a:r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3D1AF88-85B7-3CCC-AFF9-10B2CA42DA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980C56-831A-4EAB-9EDE-57C090F4F877}" type="slidenum">
              <a:rPr lang="en-US" smtClean="0"/>
              <a:t>50</a:t>
            </a:fld>
            <a:endParaRPr lang="en-US" dirty="0"/>
          </a:p>
        </p:txBody>
      </p:sp>
      <p:pic>
        <p:nvPicPr>
          <p:cNvPr id="10" name="Content Placeholder 10">
            <a:extLst>
              <a:ext uri="{FF2B5EF4-FFF2-40B4-BE49-F238E27FC236}">
                <a16:creationId xmlns:a16="http://schemas.microsoft.com/office/drawing/2014/main" id="{0BD8131E-9156-7571-96BB-6375929D7D2A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8650" y="1842294"/>
            <a:ext cx="3886200" cy="431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5165121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Presentation2" id="{CF630E01-D107-42E5-8DFC-48302BB3DFE2}" vid="{4BEE81CA-F64C-419F-A97B-23D16F4EA3D9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mc-presentation-template</Template>
  <TotalTime>8983</TotalTime>
  <Words>3113</Words>
  <Application>Microsoft Office PowerPoint</Application>
  <PresentationFormat>On-screen Show (4:3)</PresentationFormat>
  <Paragraphs>562</Paragraphs>
  <Slides>50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50</vt:i4>
      </vt:variant>
    </vt:vector>
  </HeadingPairs>
  <TitlesOfParts>
    <vt:vector size="55" baseType="lpstr">
      <vt:lpstr>Arial</vt:lpstr>
      <vt:lpstr>Calibri</vt:lpstr>
      <vt:lpstr>Cambria Math</vt:lpstr>
      <vt:lpstr>Franklin Gothic Book</vt:lpstr>
      <vt:lpstr>Office Theme</vt:lpstr>
      <vt:lpstr>Consumer Theory:  Review Slides</vt:lpstr>
      <vt:lpstr>Topics in Consumer Theory</vt:lpstr>
      <vt:lpstr>Budget Constraints</vt:lpstr>
      <vt:lpstr>Budget Constraints</vt:lpstr>
      <vt:lpstr>Budget Constraints</vt:lpstr>
      <vt:lpstr>Budget Constraints</vt:lpstr>
      <vt:lpstr>Budget Constraints</vt:lpstr>
      <vt:lpstr>Budget Constraints</vt:lpstr>
      <vt:lpstr>Budget Constraints</vt:lpstr>
      <vt:lpstr>Budget Constraints</vt:lpstr>
      <vt:lpstr>Budget Constraints</vt:lpstr>
      <vt:lpstr>Preferences</vt:lpstr>
      <vt:lpstr>Preferences</vt:lpstr>
      <vt:lpstr>Preferences</vt:lpstr>
      <vt:lpstr>Utility and Utility Functions</vt:lpstr>
      <vt:lpstr>Utility and Utility Functions</vt:lpstr>
      <vt:lpstr>Utility and Utility Functions</vt:lpstr>
      <vt:lpstr>Utility and Utility Functions</vt:lpstr>
      <vt:lpstr>Indifference Curves</vt:lpstr>
      <vt:lpstr>Indifference Curves</vt:lpstr>
      <vt:lpstr>Indifference Curves</vt:lpstr>
      <vt:lpstr>Indifference Curves</vt:lpstr>
      <vt:lpstr>Indifference Curves</vt:lpstr>
      <vt:lpstr>Indifference Curves</vt:lpstr>
      <vt:lpstr>Types of Utility Functions</vt:lpstr>
      <vt:lpstr>Types of Utility Functions</vt:lpstr>
      <vt:lpstr>Types of Utility Functions</vt:lpstr>
      <vt:lpstr>Utility Maximization Problem</vt:lpstr>
      <vt:lpstr>Utility Maximization Problem</vt:lpstr>
      <vt:lpstr>Utility Maximization Problem</vt:lpstr>
      <vt:lpstr>UMP: Cobb-Douglas Utility Functions</vt:lpstr>
      <vt:lpstr>UMP: Cobb-Douglas Utility Functions</vt:lpstr>
      <vt:lpstr>UMP: Cobb-Douglas Utility Functions</vt:lpstr>
      <vt:lpstr>UMP: Linear Utility Functions</vt:lpstr>
      <vt:lpstr>UMP: Linear Utility Functions</vt:lpstr>
      <vt:lpstr>UMP: Leontief Utility Functions</vt:lpstr>
      <vt:lpstr>UMP: Leontief Utility Functions</vt:lpstr>
      <vt:lpstr>Comparative Statics of the UMP</vt:lpstr>
      <vt:lpstr>Comparative Statics of the UMP</vt:lpstr>
      <vt:lpstr>Comparative Statics of the UMP</vt:lpstr>
      <vt:lpstr>Comparative Statics of the UMP</vt:lpstr>
      <vt:lpstr>Comparative Statics of the UMP</vt:lpstr>
      <vt:lpstr>Comparative Statics of the UMP</vt:lpstr>
      <vt:lpstr>Own Price Elasticity</vt:lpstr>
      <vt:lpstr>Income Elasticity</vt:lpstr>
      <vt:lpstr>Cross-Price Elasticity</vt:lpstr>
      <vt:lpstr>Total Revenue</vt:lpstr>
      <vt:lpstr>Total Revenue</vt:lpstr>
      <vt:lpstr>Total Revenue and Price Elasticity</vt:lpstr>
      <vt:lpstr>Total Revenue and Price Elasticity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Intermediate Price Theory</dc:title>
  <dc:creator>Brian Park</dc:creator>
  <cp:lastModifiedBy>Park, Brian</cp:lastModifiedBy>
  <cp:revision>126</cp:revision>
  <dcterms:created xsi:type="dcterms:W3CDTF">2023-08-17T23:00:51Z</dcterms:created>
  <dcterms:modified xsi:type="dcterms:W3CDTF">2023-10-22T00:57:22Z</dcterms:modified>
</cp:coreProperties>
</file>