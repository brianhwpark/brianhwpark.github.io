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2"/>
  </p:notesMasterIdLst>
  <p:sldIdLst>
    <p:sldId id="256" r:id="rId2"/>
    <p:sldId id="358" r:id="rId3"/>
    <p:sldId id="359" r:id="rId4"/>
    <p:sldId id="360" r:id="rId5"/>
    <p:sldId id="361" r:id="rId6"/>
    <p:sldId id="362" r:id="rId7"/>
    <p:sldId id="364" r:id="rId8"/>
    <p:sldId id="363" r:id="rId9"/>
    <p:sldId id="365" r:id="rId10"/>
    <p:sldId id="366" r:id="rId11"/>
    <p:sldId id="367" r:id="rId12"/>
    <p:sldId id="368" r:id="rId13"/>
    <p:sldId id="370" r:id="rId14"/>
    <p:sldId id="369" r:id="rId15"/>
    <p:sldId id="372" r:id="rId16"/>
    <p:sldId id="373" r:id="rId17"/>
    <p:sldId id="378" r:id="rId18"/>
    <p:sldId id="379" r:id="rId19"/>
    <p:sldId id="371" r:id="rId20"/>
    <p:sldId id="375" r:id="rId21"/>
    <p:sldId id="376" r:id="rId22"/>
    <p:sldId id="377" r:id="rId23"/>
    <p:sldId id="380" r:id="rId24"/>
    <p:sldId id="381" r:id="rId25"/>
    <p:sldId id="382" r:id="rId26"/>
    <p:sldId id="383" r:id="rId27"/>
    <p:sldId id="384" r:id="rId28"/>
    <p:sldId id="387" r:id="rId29"/>
    <p:sldId id="385" r:id="rId30"/>
    <p:sldId id="386" r:id="rId31"/>
    <p:sldId id="388" r:id="rId32"/>
    <p:sldId id="393" r:id="rId33"/>
    <p:sldId id="392" r:id="rId34"/>
    <p:sldId id="389" r:id="rId35"/>
    <p:sldId id="394" r:id="rId36"/>
    <p:sldId id="390" r:id="rId37"/>
    <p:sldId id="395" r:id="rId38"/>
    <p:sldId id="396" r:id="rId39"/>
    <p:sldId id="398" r:id="rId40"/>
    <p:sldId id="401" r:id="rId41"/>
    <p:sldId id="397" r:id="rId42"/>
    <p:sldId id="399" r:id="rId43"/>
    <p:sldId id="400" r:id="rId44"/>
    <p:sldId id="451" r:id="rId45"/>
    <p:sldId id="452" r:id="rId46"/>
    <p:sldId id="453" r:id="rId47"/>
    <p:sldId id="454" r:id="rId48"/>
    <p:sldId id="455" r:id="rId49"/>
    <p:sldId id="456" r:id="rId50"/>
    <p:sldId id="46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Review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in Consumer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Budget Constraint</a:t>
            </a:r>
          </a:p>
          <a:p>
            <a:endParaRPr lang="en-US" dirty="0"/>
          </a:p>
          <a:p>
            <a:r>
              <a:rPr lang="en-US" dirty="0"/>
              <a:t>Preferences, Utility Functions, and Indifference Curves</a:t>
            </a:r>
          </a:p>
          <a:p>
            <a:endParaRPr lang="en-US" dirty="0"/>
          </a:p>
          <a:p>
            <a:r>
              <a:rPr lang="en-US" dirty="0"/>
              <a:t>Utility Maximization Problem</a:t>
            </a:r>
          </a:p>
          <a:p>
            <a:endParaRPr lang="en-US" dirty="0"/>
          </a:p>
          <a:p>
            <a:r>
              <a:rPr lang="en-US" dirty="0"/>
              <a:t>Comparative Statics of the Utility Maximization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first element in the consumer’s problem.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Tells us which bundles are feasible, and which aren’t.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total amount of money spent on goods must be (less than or) equal to the amount of money the consumer has.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market has goods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and the consumer has income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1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The budget constraint graphically belongs on 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plane where each axis represent the quantity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the budget constraint is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the budget line takes the form displayed to the left.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9" descr="A graph of a budget line&#10;&#10;Description automatically generated">
            <a:extLst>
              <a:ext uri="{FF2B5EF4-FFF2-40B4-BE49-F238E27FC236}">
                <a16:creationId xmlns:a16="http://schemas.microsoft.com/office/drawing/2014/main" id="{2E0A7B4A-599A-2860-1E86-CE751FDD9B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87335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33CE3-D649-D8F5-E1EA-27E5E12AA4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area below the budget line represent bundles that are feasible.</a:t>
            </a:r>
          </a:p>
          <a:p>
            <a:pPr lvl="3"/>
            <a:endParaRPr lang="en-US" dirty="0"/>
          </a:p>
          <a:p>
            <a:r>
              <a:rPr lang="en-US" dirty="0"/>
              <a:t>The area above the budget line represent bundles that are not feasible. </a:t>
            </a:r>
          </a:p>
          <a:p>
            <a:pPr lvl="3"/>
            <a:endParaRPr lang="en-US" dirty="0"/>
          </a:p>
          <a:p>
            <a:r>
              <a:rPr lang="en-US" dirty="0"/>
              <a:t>Any bundle on the budget line will exhaust the consumer’s income.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Content Placeholder 10" descr="A diagram of a budget line&#10;&#10;Description automatically generated">
            <a:extLst>
              <a:ext uri="{FF2B5EF4-FFF2-40B4-BE49-F238E27FC236}">
                <a16:creationId xmlns:a16="http://schemas.microsoft.com/office/drawing/2014/main" id="{27D50F56-5D20-66CC-B801-3665D8BBEB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27786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falls, the budget line will pivot outward.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doesn’t change.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9" name="Content Placeholder 18" descr="A graph of a function&#10;&#10;Description automatically generated">
            <a:extLst>
              <a:ext uri="{FF2B5EF4-FFF2-40B4-BE49-F238E27FC236}">
                <a16:creationId xmlns:a16="http://schemas.microsoft.com/office/drawing/2014/main" id="{3DB3C003-0079-CA8D-D377-E9D7610CC7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203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price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rises, the budget line will pivot inward.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doesn’t change.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DDF0F515-DA49-B376-55F9-66043D2259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48885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When the consumer’s income increases, the budget line will shift outward.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increases.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0186D07A-F7DE-D8E4-793E-77EDCD5E84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01321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When the consumer’s income increases, the budget line will shift inward.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maximum amount of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the consumer can purchase decreases.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C02CBD34-C3E1-B1CF-D60A-3C51B41243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47457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Calculate the slope using the formula to find any slope: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𝑅𝑖𝑠𝑒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𝑅𝑢𝑛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The slope of the budget line will be: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sz="1200" dirty="0"/>
                  <a:t>Note that we are ignoring the signs for simplicity.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1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4D9E705E-0146-9F90-9607-A8B1CE20C8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5452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sub>
                    </m:sSub>
                  </m:oMath>
                </a14:m>
                <a:r>
                  <a:rPr lang="en-US" dirty="0"/>
                  <a:t> is the “objective (market) rate of exchange.”</a:t>
                </a:r>
                <a:endParaRPr lang="en-US" sz="12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If the consumer is already spending on the budget line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the consumer to buy 1 extra unit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must sell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2661" r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5" name="Content Placeholder 14" descr="A diagram of a budget line&#10;&#10;Description automatically generated">
            <a:extLst>
              <a:ext uri="{FF2B5EF4-FFF2-40B4-BE49-F238E27FC236}">
                <a16:creationId xmlns:a16="http://schemas.microsoft.com/office/drawing/2014/main" id="{853FF18B-D89E-DB72-DB6F-59933F72AF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48851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Consumers are endowed with a preference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</m:oMath>
                </a14:m>
                <a:r>
                  <a:rPr lang="en-US" dirty="0"/>
                  <a:t> that does not change over time.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there are two bundles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each named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prefers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equally.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strictly prefers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The consumer thinks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Very similar to the relations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, respectively.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2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evaluating “bundles,” which are collections of goods.</a:t>
                </a:r>
              </a:p>
              <a:p>
                <a:pPr lvl="3"/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when the consumer thinks that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equally desirable.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when the consumer thinks that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superior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9CFEC5F-4A1B-F051-A724-8E8D12243F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3694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Baseline assumptions about the consumers’ preference.</a:t>
            </a:r>
          </a:p>
          <a:p>
            <a:pPr lvl="3"/>
            <a:endParaRPr lang="en-US" dirty="0"/>
          </a:p>
          <a:p>
            <a:r>
              <a:rPr lang="en-US" dirty="0"/>
              <a:t>We deal with preferences that are said to be:</a:t>
            </a:r>
          </a:p>
          <a:p>
            <a:pPr lvl="1"/>
            <a:r>
              <a:rPr lang="en-US" dirty="0"/>
              <a:t>Complete: Any bundle can be evaluated.</a:t>
            </a:r>
          </a:p>
          <a:p>
            <a:pPr lvl="1"/>
            <a:r>
              <a:rPr lang="en-US" dirty="0"/>
              <a:t>Transitive: No circular preferences allowed.</a:t>
            </a:r>
          </a:p>
          <a:p>
            <a:pPr lvl="1"/>
            <a:r>
              <a:rPr lang="en-US" dirty="0"/>
              <a:t>Reflexive: Anything is as good as itself.</a:t>
            </a:r>
          </a:p>
          <a:p>
            <a:pPr lvl="1"/>
            <a:r>
              <a:rPr lang="en-US" dirty="0"/>
              <a:t>Continuous: No sudden jumps in preferences.</a:t>
            </a:r>
          </a:p>
          <a:p>
            <a:pPr lvl="1"/>
            <a:r>
              <a:rPr lang="en-US" dirty="0"/>
              <a:t>Monotone: The more the better.</a:t>
            </a:r>
          </a:p>
          <a:p>
            <a:pPr lvl="1"/>
            <a:r>
              <a:rPr lang="en-US" dirty="0"/>
              <a:t>Convex: Consumers prefer diverse bundles.</a:t>
            </a:r>
          </a:p>
          <a:p>
            <a:pPr lvl="3"/>
            <a:endParaRPr lang="en-US" dirty="0"/>
          </a:p>
          <a:p>
            <a:r>
              <a:rPr lang="en-US" dirty="0"/>
              <a:t>Complete and Transitive preferences are “Rational.”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4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Utility is a numerical representation of the consumers’ subjective level of satisfaction they get from consuming a bundle of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Utility is “Ordinal.”</a:t>
                </a:r>
              </a:p>
              <a:p>
                <a:pPr lvl="1"/>
                <a:r>
                  <a:rPr lang="en-US" dirty="0"/>
                  <a:t>If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gives 2 utility, and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gives 10 utility…</a:t>
                </a:r>
              </a:p>
              <a:p>
                <a:pPr lvl="1"/>
                <a:r>
                  <a:rPr lang="en-US" dirty="0"/>
                  <a:t>Cardinal Utility: “Consumer thinks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5 times better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1"/>
                <a:r>
                  <a:rPr lang="en-US" dirty="0"/>
                  <a:t>Ordinal Utility: “Consumer strictly prefers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41D1DE-9C4C-164B-D4D9-5A2FE5C1F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154420"/>
              </p:ext>
            </p:extLst>
          </p:nvPr>
        </p:nvGraphicFramePr>
        <p:xfrm>
          <a:off x="1524000" y="4752673"/>
          <a:ext cx="6096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89833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49797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33462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Magnitude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4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Does not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09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9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need a tool to “translate” preferences over bundles (multiple dimensions) to numbers (single dimension).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Utility functions translates bundles of goods to utility.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Bundle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Utility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Some basic rules for utility functions: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50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Marginal utility is the slope of the utility function.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“Amount of additional utility the consumer can gain by adding a very small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CAFE6E73-4C30-3CE7-971F-713FAFDCD8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633166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and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𝑀𝑈</m:t>
                    </m:r>
                  </m:oMath>
                </a14:m>
                <a:r>
                  <a:rPr lang="en-US" dirty="0"/>
                  <a:t> states that “the more of some good you already have, the less you will value an extra unit.”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someone gets $100</a:t>
                </a:r>
              </a:p>
              <a:p>
                <a:pPr lvl="1"/>
                <a:r>
                  <a:rPr lang="en-US" dirty="0"/>
                  <a:t>If they are a billionaire?</a:t>
                </a:r>
              </a:p>
              <a:p>
                <a:pPr lvl="1"/>
                <a:r>
                  <a:rPr lang="en-US" dirty="0"/>
                  <a:t>If they are middle-class?</a:t>
                </a:r>
              </a:p>
              <a:p>
                <a:pPr lvl="1"/>
                <a:r>
                  <a:rPr lang="en-US" dirty="0"/>
                  <a:t>Who is happier to get the extra $100?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5" name="Content Placeholder 14" descr="A diagram of a line&#10;&#10;Description automatically generated">
            <a:extLst>
              <a:ext uri="{FF2B5EF4-FFF2-40B4-BE49-F238E27FC236}">
                <a16:creationId xmlns:a16="http://schemas.microsoft.com/office/drawing/2014/main" id="{F47A292F-C35A-C34E-3FBC-53E214CF4B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85053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Utility functions are used to plot indifference curves.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are a collection of bundles that give the consumer the same level of utility.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on the same indifference curve, so they are equally preferred by the consumer.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1" name="Content Placeholder 10" descr="A graph with lines and points&#10;&#10;Description automatically generated">
            <a:extLst>
              <a:ext uri="{FF2B5EF4-FFF2-40B4-BE49-F238E27FC236}">
                <a16:creationId xmlns:a16="http://schemas.microsoft.com/office/drawing/2014/main" id="{DA2B5AA7-FB55-95B1-475F-1CBEE635B6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865185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33CE3-D649-D8F5-E1EA-27E5E12AA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area below the indifference curve consist of bundles that give the consumer lower utility than any bundle on the indifference curve.</a:t>
            </a:r>
          </a:p>
          <a:p>
            <a:pPr lvl="3"/>
            <a:endParaRPr lang="en-US" dirty="0"/>
          </a:p>
          <a:p>
            <a:r>
              <a:rPr lang="en-US" dirty="0"/>
              <a:t>The area above the indifference curve consist of bundles that give the consumer greater utility than any bundle on the indifference curve.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Content Placeholder 9" descr="A diagram of a function&#10;&#10;Description automatically generated with medium confidence">
            <a:extLst>
              <a:ext uri="{FF2B5EF4-FFF2-40B4-BE49-F238E27FC236}">
                <a16:creationId xmlns:a16="http://schemas.microsoft.com/office/drawing/2014/main" id="{9BD38419-9956-5D5B-D42C-315E000E7C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5971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Comparing the three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preferred over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as it lies on an indifference curve further away from the origin.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less preferred than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since it lies on an indifference curve closer to the origin.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CB1F61A-13ED-BDFF-B1BF-72C4855EFF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28219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slope of indifference curves are called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, or the “marginal rate of substitution.”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“Maximum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that the consumer is willing to give up for 1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B033E378-D8DF-1FAD-5121-343EC378DA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33614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consumer will be willing to “sell”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“1”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they give up any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units, their utility will drop below the level they secured while consuming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1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ACCD81B3-8505-B0F3-A02E-C1BB7F602F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55084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C0D-1910-6C24-160C-142DA779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states that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𝑀𝑅𝑆</m:t>
                    </m:r>
                  </m:oMath>
                </a14:m>
                <a:r>
                  <a:rPr lang="en-US" dirty="0"/>
                  <a:t> falls when one consumes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Compare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“scarce.”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less “scarce.”</a:t>
                </a:r>
              </a:p>
              <a:p>
                <a:pPr lvl="1"/>
                <a:r>
                  <a:rPr lang="en-US" dirty="0"/>
                  <a:t>So, the consumer should be willing to “sell”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one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when they are at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E33CE3-D649-D8F5-E1EA-27E5E12AA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B5E1-D1AA-B028-6963-3CE3E97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7FA1F-2D51-8784-F1AD-F6DE7F5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0FC9-C36A-7A2A-9447-B2E51FB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8A6E0273-9EF2-EE8A-52AB-58A43393E0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02672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Linear Utility Functions: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perfect substitutes.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3" name="Content Placeholder 12" descr="A graph of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1705D5D3-A912-19BD-5077-8FF82F5E02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96660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Leontief Utility Functions: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perfect complements.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15" name="Content Placeholder 14" descr="A graph of colored lines&#10;&#10;Description automatically generated">
            <a:extLst>
              <a:ext uri="{FF2B5EF4-FFF2-40B4-BE49-F238E27FC236}">
                <a16:creationId xmlns:a16="http://schemas.microsoft.com/office/drawing/2014/main" id="{26C9FA7A-EECE-ABDD-E0D1-B77A3BF959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76916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Cobb-Douglas Utility: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substitute each other, but the consumer also wants a mix of the two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Indifference curves further away from the origin represent a higher utility.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1" name="Content Placeholder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D170E20-E82F-E267-AB6A-44C34D6161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87149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Condition for optimality…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Achieved when the slope of the indifference curve matches the slope of the budget line.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04093344-D767-52A9-9A8E-13289C381E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9789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Interpreting imbalances…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is willing to “pay” more units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1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than is required by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“Sell some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to buy more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35" name="Content Placeholder 34" descr="A graph of a function&#10;&#10;Description automatically generated">
            <a:extLst>
              <a:ext uri="{FF2B5EF4-FFF2-40B4-BE49-F238E27FC236}">
                <a16:creationId xmlns:a16="http://schemas.microsoft.com/office/drawing/2014/main" id="{FF647757-46A2-84DD-E5FC-FF862B3AE9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571311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8C32-16EF-7A19-879E-7BB3EBF1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Maximization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Interpreting imbalances…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assigns a higher value on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than the market valuation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“Sell some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buy more of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AC515-368D-9360-980E-154F761CB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0AD5D-99C3-5994-3CB3-9EB20929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17879-88F0-9990-C275-DE5F8E7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A5E09-19BC-0270-FFFC-56017261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BEF6C0A4-FDFD-9CF1-FCB5-3B72CD314A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77506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Utility of each good.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Rate of Substitution.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ratio of the goods.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Combine the optimal ratio and the budget constraint.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82" t="-2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59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Marginal Utility of each good.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=18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Find the Marginal Rate of Substitution.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ratio of the goods.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24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80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Cobb-Douglas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4. Combine the optimal ratio and the budget constraint.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   ⟹   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5.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=6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6DB61-3F41-DAA6-23B1-58FB8E194CBC}"/>
              </a:ext>
            </a:extLst>
          </p:cNvPr>
          <p:cNvSpPr/>
          <p:nvPr/>
        </p:nvSpPr>
        <p:spPr>
          <a:xfrm>
            <a:off x="1345721" y="3985403"/>
            <a:ext cx="836762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997F4-533D-4231-7F67-106440398601}"/>
              </a:ext>
            </a:extLst>
          </p:cNvPr>
          <p:cNvSpPr/>
          <p:nvPr/>
        </p:nvSpPr>
        <p:spPr>
          <a:xfrm>
            <a:off x="4596078" y="3985403"/>
            <a:ext cx="836762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9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Utility of each good.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   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1"/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89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Marginal Utility of each good.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Find the “Rule” to follow.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so exclusively 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0F60C-8F03-D234-22FC-7F5729CB2306}"/>
              </a:ext>
            </a:extLst>
          </p:cNvPr>
          <p:cNvSpPr/>
          <p:nvPr/>
        </p:nvSpPr>
        <p:spPr>
          <a:xfrm>
            <a:off x="1354347" y="5667551"/>
            <a:ext cx="1828800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97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1600" dirty="0"/>
              </a:p>
              <a:p>
                <a:pPr lvl="1"/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Combine the “Rule” and the budget constraint.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79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UMP: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ex)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1. Find the “Rule” to follow.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2. Combine the “Rule” and the budget constraint.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   ⟹   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500" dirty="0"/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lang="en-US" sz="500" dirty="0"/>
              </a:p>
              <a:p>
                <a:pPr lvl="1"/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3. Find the optimal bundle.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15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0F60C-8F03-D234-22FC-7F5729CB2306}"/>
              </a:ext>
            </a:extLst>
          </p:cNvPr>
          <p:cNvSpPr/>
          <p:nvPr/>
        </p:nvSpPr>
        <p:spPr>
          <a:xfrm>
            <a:off x="1354347" y="5080961"/>
            <a:ext cx="819510" cy="3278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F4C3B-1167-F49A-1E95-363EDCBD3F89}"/>
              </a:ext>
            </a:extLst>
          </p:cNvPr>
          <p:cNvSpPr/>
          <p:nvPr/>
        </p:nvSpPr>
        <p:spPr>
          <a:xfrm>
            <a:off x="4572000" y="4968815"/>
            <a:ext cx="1000664" cy="603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46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Changes in the Consumers’ Income.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Normal Goods: Income Elasticity is Positive.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4"/>
                <a:endParaRPr lang="en-US" sz="500" dirty="0"/>
              </a:p>
              <a:p>
                <a:r>
                  <a:rPr lang="en-US" dirty="0"/>
                  <a:t>Inferior Goods: Income Elasticity is Negative.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4"/>
                <a:endParaRPr lang="en-US" sz="500" dirty="0"/>
              </a:p>
              <a:p>
                <a:r>
                  <a:rPr lang="en-US" dirty="0"/>
                  <a:t>The Income Consumption Curve and the Engel Curve.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93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F85D-5E59-7560-369F-3CA32946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14C26-6C60-18BA-68F9-1D2E1F7C4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Income Consumption Curve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D6247-AC7F-DE4C-8696-AB1DC564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Engel Curve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40677-BA46-9F53-E996-0CAF900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0E17C-ACFA-7B73-EDE0-5FDE2F93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3E8E-14ED-B341-EA6D-D09A9AB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15" name="Content Placeholder 14" descr="A diagram of a graph&#10;&#10;Description automatically generated">
            <a:extLst>
              <a:ext uri="{FF2B5EF4-FFF2-40B4-BE49-F238E27FC236}">
                <a16:creationId xmlns:a16="http://schemas.microsoft.com/office/drawing/2014/main" id="{E44C5835-9D8F-F8FC-3284-68406A92D0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1" name="Content Placeholder 20" descr="A graph of a function&#10;&#10;Description automatically generated">
            <a:extLst>
              <a:ext uri="{FF2B5EF4-FFF2-40B4-BE49-F238E27FC236}">
                <a16:creationId xmlns:a16="http://schemas.microsoft.com/office/drawing/2014/main" id="{51C62EDF-4D17-006C-77CB-E46015BFEB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2756951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Changes in the Market Price of a Good.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Ordinary Goods: Price Elasticity is Negative.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 err="1"/>
                  <a:t>Giffen</a:t>
                </a:r>
                <a:r>
                  <a:rPr lang="en-US" dirty="0"/>
                  <a:t> Goods: Price Elasticity is Positive.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Price Consumption Curve and the Demand Curve.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Price, Substitution, and Income Effects.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394020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72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F85D-5E59-7560-369F-3CA32946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14C26-6C60-18BA-68F9-1D2E1F7C4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Price Consumption Curve</a:t>
            </a:r>
          </a:p>
        </p:txBody>
      </p:sp>
      <p:pic>
        <p:nvPicPr>
          <p:cNvPr id="11" name="Content Placeholder 10" descr="A diagram of a function&#10;&#10;Description automatically generated">
            <a:extLst>
              <a:ext uri="{FF2B5EF4-FFF2-40B4-BE49-F238E27FC236}">
                <a16:creationId xmlns:a16="http://schemas.microsoft.com/office/drawing/2014/main" id="{31DC1C48-C852-E06B-31F3-29E8C194C0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D6247-AC7F-DE4C-8696-AB1DC564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Demand Curve</a:t>
            </a:r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A4534F3A-B416-1F1A-52BD-8AC565E717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40677-BA46-9F53-E996-0CAF900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0E17C-ACFA-7B73-EDE0-5FDE2F93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3E8E-14ED-B341-EA6D-D09A9AB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78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394020"/>
          </a:xfrm>
        </p:spPr>
        <p:txBody>
          <a:bodyPr>
            <a:normAutofit/>
          </a:bodyPr>
          <a:lstStyle/>
          <a:p>
            <a:r>
              <a:rPr lang="en-US" dirty="0"/>
              <a:t>When the market price of a good changes…</a:t>
            </a:r>
          </a:p>
          <a:p>
            <a:pPr lvl="1"/>
            <a:r>
              <a:rPr lang="en-US" dirty="0"/>
              <a:t>One good gets “relatively more expensive,” and</a:t>
            </a:r>
          </a:p>
          <a:p>
            <a:pPr lvl="1"/>
            <a:r>
              <a:rPr lang="en-US" dirty="0"/>
              <a:t>The other good gets “relatively cheaper,”, and</a:t>
            </a:r>
          </a:p>
          <a:p>
            <a:pPr lvl="1"/>
            <a:r>
              <a:rPr lang="en-US" dirty="0"/>
              <a:t>The consumer’s perceived purchasing power will change.</a:t>
            </a:r>
          </a:p>
          <a:p>
            <a:pPr lvl="3"/>
            <a:endParaRPr lang="en-US" dirty="0"/>
          </a:p>
          <a:p>
            <a:r>
              <a:rPr lang="en-US" dirty="0"/>
              <a:t>The Price Effect, Substitution Effect, and Income Effect</a:t>
            </a:r>
          </a:p>
          <a:p>
            <a:pPr lvl="1"/>
            <a:r>
              <a:rPr lang="en-US" dirty="0"/>
              <a:t>Price Effect: Aggregate Effect of Changes in Price</a:t>
            </a:r>
          </a:p>
          <a:p>
            <a:pPr lvl="1"/>
            <a:r>
              <a:rPr lang="en-US" dirty="0"/>
              <a:t>Substitution Effect: Isolated Effect of Changes in Relative Prices</a:t>
            </a:r>
          </a:p>
          <a:p>
            <a:pPr lvl="1"/>
            <a:r>
              <a:rPr lang="en-US" dirty="0"/>
              <a:t>Income Effect: Isolated Effect of Changes in Purchasing Power</a:t>
            </a:r>
          </a:p>
          <a:p>
            <a:pPr lvl="3"/>
            <a:endParaRPr lang="en-US" dirty="0"/>
          </a:p>
          <a:p>
            <a:r>
              <a:rPr lang="en-US" dirty="0"/>
              <a:t>The Slutsky Equation</a:t>
            </a:r>
          </a:p>
          <a:p>
            <a:pPr lvl="1"/>
            <a:r>
              <a:rPr lang="en-US" dirty="0"/>
              <a:t>Price Effect = Substitution Effect + Income Effect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50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741E-7041-0E46-F74D-EC2B656D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 of the UMP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06FC38-661F-13E9-BD40-59F00BDFCD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Diagram when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good, and market price increased.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“New Prices, Old Utility.”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Breakdown</a:t>
                </a:r>
              </a:p>
              <a:p>
                <a:pPr lvl="1"/>
                <a:r>
                  <a:rPr lang="en-US" dirty="0"/>
                  <a:t>Substitution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Income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Price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06FC38-661F-13E9-BD40-59F00BDFC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643AB-47B1-C8B3-53D5-4C68AA65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4CAC8-2D99-AE2D-7D44-02302A8B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05FC-9ACA-0DBB-0CA9-B9164408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 dirty="0"/>
          </a:p>
        </p:txBody>
      </p:sp>
      <p:pic>
        <p:nvPicPr>
          <p:cNvPr id="13" name="Content Placeholder 12" descr="A diagram of different colored lines&#10;&#10;Description automatically generated">
            <a:extLst>
              <a:ext uri="{FF2B5EF4-FFF2-40B4-BE49-F238E27FC236}">
                <a16:creationId xmlns:a16="http://schemas.microsoft.com/office/drawing/2014/main" id="{FB9A8704-1A35-90C5-9EF0-F25A8BD7A6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264499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 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(own) 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 err="1"/>
                  <a:t>Giffen</a:t>
                </a:r>
                <a:r>
                  <a:rPr lang="en-US" dirty="0"/>
                  <a:t>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“Unit 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“Inelastic.”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78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income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Normal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Inferior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Luxury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Necessary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85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cross-price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Substitute to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Independent.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Complement to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72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Revenue is the amount of money that the seller receives from consumers by selling their products.</a:t>
                </a:r>
              </a:p>
              <a:p>
                <a:endParaRPr lang="en-US" sz="1600" dirty="0"/>
              </a:p>
              <a:p>
                <a:r>
                  <a:rPr lang="en-US" dirty="0"/>
                  <a:t>Total Revenue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Marginal Revenue is the extra amount of revenue the producer gets when they increase production by a small amount: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86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ex) When the (inverse) demand function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𝒃𝒙</m:t>
                    </m:r>
                  </m:oMath>
                </a14:m>
                <a:endParaRPr lang="en-US" b="1" dirty="0"/>
              </a:p>
              <a:p>
                <a:endParaRPr lang="en-US" sz="1600" dirty="0"/>
              </a:p>
              <a:p>
                <a:r>
                  <a:rPr lang="en-US" dirty="0"/>
                  <a:t>Total Revenue: </a:t>
                </a:r>
              </a:p>
              <a:p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Marginal Revenue: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72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7C5-AD0B-2C35-B9A5-E475C7DE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 and Price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Marginal Revenue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pPr lvl="1"/>
                <a:r>
                  <a:rPr lang="en-US" dirty="0"/>
                  <a:t>When demand is 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&lt;−1</m:t>
                        </m:r>
                      </m:e>
                    </m:d>
                  </m:oMath>
                </a14:m>
                <a:r>
                  <a:rPr lang="en-US" dirty="0"/>
                  <a:t>, marginal revenue is positive, and firms should increase production to increase total revenue.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When demand is inelastic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e>
                    </m:d>
                  </m:oMath>
                </a14:m>
                <a:r>
                  <a:rPr lang="en-US" dirty="0"/>
                  <a:t>, marginal revenue is negative, and firms should decrease production to increase total revenue.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D481CE-C956-B80C-EC4C-69F318502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E567-8BC9-E10E-E8E8-ABAC41A4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9B54-3245-361D-EB73-BC93C10F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9769-337E-6357-C335-BFA3EDCD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068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E117-8400-6A86-DBB3-5AFECD45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 and Price Elasticity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4EEEF989-C929-0D2D-5523-AD009E9862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Plot the demand and marginal revenue curves.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r>
                  <a:rPr lang="en-US" dirty="0"/>
                  <a:t>From the previous slide: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decrease production to increase revenue.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increase production to increase revenue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55F97-D69D-BC6B-22BD-231C08F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176B-C271-BC56-C031-7E2B3D1F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1AF88-85B7-3CCC-AFF9-10B2CA4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50</a:t>
            </a:fld>
            <a:endParaRPr lang="en-US" dirty="0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0BD8131E-9156-7571-96BB-6375929D7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5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9114</TotalTime>
  <Words>3114</Words>
  <Application>Microsoft Office PowerPoint</Application>
  <PresentationFormat>On-screen Show (4:3)</PresentationFormat>
  <Paragraphs>562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Franklin Gothic Book</vt:lpstr>
      <vt:lpstr>Office Theme</vt:lpstr>
      <vt:lpstr>Consumer Theory:  Review Slides</vt:lpstr>
      <vt:lpstr>Topics in Consumer Theory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Budget Constraints</vt:lpstr>
      <vt:lpstr>Preferences</vt:lpstr>
      <vt:lpstr>Preferences</vt:lpstr>
      <vt:lpstr>Preferences</vt:lpstr>
      <vt:lpstr>Utility and Utility Functions</vt:lpstr>
      <vt:lpstr>Utility and Utility Functions</vt:lpstr>
      <vt:lpstr>Utility and Utility Functions</vt:lpstr>
      <vt:lpstr>Utility and Utility Functions</vt:lpstr>
      <vt:lpstr>Indifference Curves</vt:lpstr>
      <vt:lpstr>Indifference Curves</vt:lpstr>
      <vt:lpstr>Indifference Curves</vt:lpstr>
      <vt:lpstr>Indifference Curves</vt:lpstr>
      <vt:lpstr>Indifference Curves</vt:lpstr>
      <vt:lpstr>Indifference Curves</vt:lpstr>
      <vt:lpstr>Types of Utility Functions</vt:lpstr>
      <vt:lpstr>Types of Utility Functions</vt:lpstr>
      <vt:lpstr>Types of Utility Functions</vt:lpstr>
      <vt:lpstr>Utility Maximization Problem</vt:lpstr>
      <vt:lpstr>Utility Maximization Problem</vt:lpstr>
      <vt:lpstr>Utility Maximization Problem</vt:lpstr>
      <vt:lpstr>UMP: Cobb-Douglas Utility Functions</vt:lpstr>
      <vt:lpstr>UMP: Cobb-Douglas Utility Functions</vt:lpstr>
      <vt:lpstr>UMP: Cobb-Douglas Utility Functions</vt:lpstr>
      <vt:lpstr>UMP: Linear Utility Functions</vt:lpstr>
      <vt:lpstr>UMP: Linear Utility Functions</vt:lpstr>
      <vt:lpstr>UMP: Leontief Utility Functions</vt:lpstr>
      <vt:lpstr>UMP: Leontief Utility Functions</vt:lpstr>
      <vt:lpstr>Comparative Statics of the UMP</vt:lpstr>
      <vt:lpstr>Comparative Statics of the UMP</vt:lpstr>
      <vt:lpstr>Comparative Statics of the UMP</vt:lpstr>
      <vt:lpstr>Comparative Statics of the UMP</vt:lpstr>
      <vt:lpstr>Comparative Statics of the UMP</vt:lpstr>
      <vt:lpstr>Comparative Statics of the UMP</vt:lpstr>
      <vt:lpstr>Own Price Elasticity</vt:lpstr>
      <vt:lpstr>Income Elasticity</vt:lpstr>
      <vt:lpstr>Cross-Price Elasticity</vt:lpstr>
      <vt:lpstr>Total Revenue</vt:lpstr>
      <vt:lpstr>Total Revenue</vt:lpstr>
      <vt:lpstr>Total Revenue and Price Elasticity</vt:lpstr>
      <vt:lpstr>Total Revenue and Price Elasticity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128</cp:revision>
  <dcterms:created xsi:type="dcterms:W3CDTF">2023-08-17T23:00:51Z</dcterms:created>
  <dcterms:modified xsi:type="dcterms:W3CDTF">2023-10-23T16:08:17Z</dcterms:modified>
</cp:coreProperties>
</file>