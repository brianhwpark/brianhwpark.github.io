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Quiz #2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#2 “Recovery”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Venue: Rm. 248 Center for Science and Business</a:t>
            </a:r>
          </a:p>
          <a:p>
            <a:pPr lvl="3"/>
            <a:endParaRPr lang="en-US" dirty="0"/>
          </a:p>
          <a:p>
            <a:r>
              <a:rPr lang="en-US" dirty="0"/>
              <a:t>Dates: Sep. 25</a:t>
            </a:r>
            <a:r>
              <a:rPr lang="en-US" baseline="30000" dirty="0"/>
              <a:t>th</a:t>
            </a:r>
            <a:r>
              <a:rPr lang="en-US" dirty="0"/>
              <a:t> ~ Sep 29</a:t>
            </a:r>
            <a:r>
              <a:rPr lang="en-US" baseline="30000" dirty="0"/>
              <a:t>th</a:t>
            </a:r>
            <a:r>
              <a:rPr lang="en-US" dirty="0"/>
              <a:t>, 2023 (Mon ~ Fri)</a:t>
            </a:r>
          </a:p>
          <a:p>
            <a:pPr lvl="3"/>
            <a:endParaRPr lang="en-US" dirty="0"/>
          </a:p>
          <a:p>
            <a:r>
              <a:rPr lang="en-US" dirty="0"/>
              <a:t>Length: 10 Minutes per Session</a:t>
            </a:r>
          </a:p>
          <a:p>
            <a:pPr lvl="3"/>
            <a:endParaRPr lang="en-US" dirty="0"/>
          </a:p>
          <a:p>
            <a:r>
              <a:rPr lang="en-US" dirty="0"/>
              <a:t>Use the Whiteboard / Paper to correct your answers.</a:t>
            </a:r>
          </a:p>
          <a:p>
            <a:pPr lvl="3"/>
            <a:endParaRPr lang="en-US" dirty="0"/>
          </a:p>
          <a:p>
            <a:r>
              <a:rPr lang="en-US" dirty="0"/>
              <a:t>Recovery Rate: 80%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1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#2: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Pre-recovery Statistics</a:t>
            </a:r>
          </a:p>
          <a:p>
            <a:pPr lvl="1"/>
            <a:r>
              <a:rPr lang="en-US" dirty="0"/>
              <a:t>Average: 83</a:t>
            </a:r>
          </a:p>
          <a:p>
            <a:pPr lvl="1"/>
            <a:r>
              <a:rPr lang="en-US" dirty="0"/>
              <a:t>Standard Deviation: 14.1</a:t>
            </a:r>
          </a:p>
          <a:p>
            <a:pPr lvl="1"/>
            <a:r>
              <a:rPr lang="en-US" dirty="0"/>
              <a:t>Median: 85</a:t>
            </a:r>
          </a:p>
          <a:p>
            <a:pPr lvl="3"/>
            <a:endParaRPr lang="en-US" dirty="0"/>
          </a:p>
          <a:p>
            <a:r>
              <a:rPr lang="en-US" dirty="0"/>
              <a:t>Post-recovery (Potential) Statistics</a:t>
            </a:r>
          </a:p>
          <a:p>
            <a:pPr lvl="1"/>
            <a:r>
              <a:rPr lang="en-US" dirty="0"/>
              <a:t>Average: 98.3</a:t>
            </a:r>
          </a:p>
          <a:p>
            <a:pPr lvl="1"/>
            <a:r>
              <a:rPr lang="en-US" dirty="0"/>
              <a:t>Standard Deviation: 1.41</a:t>
            </a:r>
          </a:p>
          <a:p>
            <a:pPr lvl="1"/>
            <a:r>
              <a:rPr lang="en-US" dirty="0"/>
              <a:t>Median: 98.5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2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Select the preference axiom that states “if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.”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Completeness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Transitivity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Strong Monotonicity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Convexity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4" y="2898483"/>
            <a:ext cx="1751163" cy="336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the preference axiom that states “consumers prefer diversity in consumption.”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Completeness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Transitivity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Strong Monotonicity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Convexity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5" y="3571341"/>
            <a:ext cx="1664898" cy="336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4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are the axioms that are required for the preference to be </a:t>
            </a:r>
            <a:r>
              <a:rPr lang="en-US" i="1" dirty="0"/>
              <a:t>rational</a:t>
            </a:r>
            <a:r>
              <a:rPr lang="en-US" dirty="0"/>
              <a:t>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Completeness and Transitivity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Completeness and Convexity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Transitivity and Reflexivity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Transitivity and Strong Monotonicity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5" y="2553427"/>
            <a:ext cx="3838754" cy="336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which of the following must be true?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5" y="2907108"/>
            <a:ext cx="2027207" cy="336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                                              Which of the functions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(·)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(·)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(·) </m:t>
                    </m:r>
                  </m:oMath>
                </a14:m>
                <a:r>
                  <a:rPr lang="en-US" dirty="0"/>
                  <a:t>are valid utility functions?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US" i="1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864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5" y="4710027"/>
            <a:ext cx="2113471" cy="3364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D08896-00CE-3220-038E-B4F9C5CF2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868" y="2948608"/>
            <a:ext cx="4658264" cy="14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6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correct expression of the Marginal Rate of Substitution,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286000" lvl="4" indent="-457200">
                  <a:buFont typeface="+mj-lt"/>
                  <a:buAutoNum type="alphaLcParenR"/>
                </a:pPr>
                <a:endParaRPr lang="en-US" sz="500" b="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 sz="500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95556" y="2544798"/>
            <a:ext cx="1328468" cy="6038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1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Which of the following is </a:t>
                </a:r>
                <a:r>
                  <a:rPr lang="en-US" u="sng" dirty="0"/>
                  <a:t>NOT</a:t>
                </a:r>
                <a:r>
                  <a:rPr lang="en-US" dirty="0"/>
                  <a:t> true?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Two indifference curves from the same consumer cannot intersect.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The marginal rate of substitution between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increases as the consumer moves along the indifference curve to bundles with increased amounts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The slope of the indifference curve represents the consumer’s subjective rate of exchange between the two goods x and y.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Lexicographic preference is an example of a preference that violates the axiom of continuity.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AB527-E1FE-5334-F190-11B3EF527C3B}"/>
              </a:ext>
            </a:extLst>
          </p:cNvPr>
          <p:cNvSpPr/>
          <p:nvPr/>
        </p:nvSpPr>
        <p:spPr>
          <a:xfrm>
            <a:off x="1086928" y="2846723"/>
            <a:ext cx="7341080" cy="87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Explain in your own words the Law of Diminishing Marginal Utility.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“The marginal utility from consuming a good will decrease as you increase the consumption of said good.”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In math: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516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Economists consider utility to be ordinal. What does this mean?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“The only information you can get from utility values is the relative </a:t>
            </a:r>
            <a:r>
              <a:rPr lang="en-US" i="1" dirty="0">
                <a:solidFill>
                  <a:srgbClr val="FF0000"/>
                </a:solidFill>
              </a:rPr>
              <a:t>order</a:t>
            </a:r>
            <a:r>
              <a:rPr lang="en-US" dirty="0">
                <a:solidFill>
                  <a:srgbClr val="FF0000"/>
                </a:solidFill>
              </a:rPr>
              <a:t> of bundles that a consumer values. The fact that one bundle gives 100 utility, while another gives 10 does not mean that the former is 10 times more desirable.”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29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two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the market are perfect complements, what utility function would most accurately reflect the consumer’s preferences?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“The Leontief Utility Function”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8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the slope of the indifference curve represent?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“The Subjective Rate of Exchange”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“The Marginal Rate of Substitution”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72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3.B.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Assuming that the consumer is currently consuming at bundle A, is it possible to make changes to the quantity of goods x and y to reach a higher level of utility? If so, what changes should the consumer make to increase their utility?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297B93-C0EE-9C7A-7B24-CC608BFB0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3" y="3678991"/>
            <a:ext cx="3569814" cy="2677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28E4FB-237C-D7BB-955B-55F94A6187EF}"/>
                  </a:ext>
                </a:extLst>
              </p:cNvPr>
              <p:cNvSpPr txBox="1"/>
              <p:nvPr/>
            </p:nvSpPr>
            <p:spPr>
              <a:xfrm>
                <a:off x="4673045" y="3683304"/>
                <a:ext cx="384230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“Increase consumption of good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decrease the consumption of good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.”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28E4FB-237C-D7BB-955B-55F94A618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045" y="3683304"/>
                <a:ext cx="3842305" cy="1200329"/>
              </a:xfrm>
              <a:prstGeom prst="rect">
                <a:avLst/>
              </a:prstGeom>
              <a:blipFill>
                <a:blip r:embed="rId3"/>
                <a:stretch>
                  <a:fillRect l="-2540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707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3.C.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Justify your verdict from question 3.B.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“At bundle A, the marginal rate of substitution is greater than the market rate of substitution. That means that for one extra unit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the consumer is willing to give up more of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than the market requires. So, the consumer should take advantage of this, decrease their consumption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and increase their consumption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76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Credit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4"/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116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3049</TotalTime>
  <Words>893</Words>
  <Application>Microsoft Office PowerPoint</Application>
  <PresentationFormat>On-screen Show (4:3)</PresentationFormat>
  <Paragraphs>160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Franklin Gothic Book</vt:lpstr>
      <vt:lpstr>Office Theme</vt:lpstr>
      <vt:lpstr>Quiz #2 Review</vt:lpstr>
      <vt:lpstr>Quiz #2 “Recovery” Office Hours</vt:lpstr>
      <vt:lpstr>Quiz #2: Statistics</vt:lpstr>
      <vt:lpstr>Problem 1.A.</vt:lpstr>
      <vt:lpstr>Problem 1.B.</vt:lpstr>
      <vt:lpstr>Problem 1.C.</vt:lpstr>
      <vt:lpstr>Problem 1.D.</vt:lpstr>
      <vt:lpstr>Problem 1.E.</vt:lpstr>
      <vt:lpstr>Problem 1.F.</vt:lpstr>
      <vt:lpstr>Problem 1.G.</vt:lpstr>
      <vt:lpstr>Problem 2.A.</vt:lpstr>
      <vt:lpstr>Problem 2.B.</vt:lpstr>
      <vt:lpstr>Problem 2.C.</vt:lpstr>
      <vt:lpstr>Problem 3.A.</vt:lpstr>
      <vt:lpstr>Problem 3.B.</vt:lpstr>
      <vt:lpstr>Problem 3.C.</vt:lpstr>
      <vt:lpstr>Extra Credit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48</cp:revision>
  <dcterms:created xsi:type="dcterms:W3CDTF">2023-08-17T23:00:51Z</dcterms:created>
  <dcterms:modified xsi:type="dcterms:W3CDTF">2023-09-18T21:19:17Z</dcterms:modified>
</cp:coreProperties>
</file>