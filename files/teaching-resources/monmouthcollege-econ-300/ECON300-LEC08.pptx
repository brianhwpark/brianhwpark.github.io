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25"/>
  </p:notesMasterIdLst>
  <p:sldIdLst>
    <p:sldId id="256" r:id="rId2"/>
    <p:sldId id="358" r:id="rId3"/>
    <p:sldId id="359" r:id="rId4"/>
    <p:sldId id="360" r:id="rId5"/>
    <p:sldId id="361" r:id="rId6"/>
    <p:sldId id="363" r:id="rId7"/>
    <p:sldId id="366" r:id="rId8"/>
    <p:sldId id="367" r:id="rId9"/>
    <p:sldId id="368" r:id="rId10"/>
    <p:sldId id="365" r:id="rId11"/>
    <p:sldId id="369" r:id="rId12"/>
    <p:sldId id="370" r:id="rId13"/>
    <p:sldId id="372" r:id="rId14"/>
    <p:sldId id="373" r:id="rId15"/>
    <p:sldId id="371" r:id="rId16"/>
    <p:sldId id="374" r:id="rId17"/>
    <p:sldId id="375" r:id="rId18"/>
    <p:sldId id="376" r:id="rId19"/>
    <p:sldId id="377" r:id="rId20"/>
    <p:sldId id="378" r:id="rId21"/>
    <p:sldId id="379" r:id="rId22"/>
    <p:sldId id="380" r:id="rId23"/>
    <p:sldId id="381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FF"/>
    <a:srgbClr val="E05F65"/>
    <a:srgbClr val="F5CFD0"/>
    <a:srgbClr val="D4282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08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19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0A6441-4E79-42FF-805B-86C90BDFD38D}" type="datetimeFigureOut">
              <a:rPr lang="en-US" smtClean="0"/>
              <a:t>9/12/2023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A29054-221E-4755-818D-C35A08AFDB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785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2;p13">
            <a:extLst>
              <a:ext uri="{FF2B5EF4-FFF2-40B4-BE49-F238E27FC236}">
                <a16:creationId xmlns:a16="http://schemas.microsoft.com/office/drawing/2014/main" id="{BF16982E-3E38-0665-4F07-437DD3F0D5A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3549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859BA894-242B-5A6C-EFD3-428444AAFEC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97355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>
            <a:normAutofit/>
          </a:bodyPr>
          <a:lstStyle>
            <a:lvl1pPr marL="0" indent="0" algn="ctr">
              <a:buNone/>
              <a:defRPr sz="3200" b="1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92;p13">
            <a:extLst>
              <a:ext uri="{FF2B5EF4-FFF2-40B4-BE49-F238E27FC236}">
                <a16:creationId xmlns:a16="http://schemas.microsoft.com/office/drawing/2014/main" id="{A5DC9873-6BF3-A825-551C-17B7FBCA97F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50585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F820AB4E-4F46-3C81-9BD0-65A4D2A2DBE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4596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0" name="Google Shape;101;p14">
            <a:extLst>
              <a:ext uri="{FF2B5EF4-FFF2-40B4-BE49-F238E27FC236}">
                <a16:creationId xmlns:a16="http://schemas.microsoft.com/office/drawing/2014/main" id="{C854E680-04A2-EA76-C6A6-8EF6A2AD0B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425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6" name="Google Shape;101;p14">
            <a:extLst>
              <a:ext uri="{FF2B5EF4-FFF2-40B4-BE49-F238E27FC236}">
                <a16:creationId xmlns:a16="http://schemas.microsoft.com/office/drawing/2014/main" id="{0E4BED26-AE3D-9FD7-372D-89389F76110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1955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5" name="Google Shape;101;p14">
            <a:extLst>
              <a:ext uri="{FF2B5EF4-FFF2-40B4-BE49-F238E27FC236}">
                <a16:creationId xmlns:a16="http://schemas.microsoft.com/office/drawing/2014/main" id="{63FB725D-7839-2629-E2FD-4289B983E67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983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ADE22408-2DD9-F1EF-2438-A0546996FB2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3184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19CEB84E-A1D1-9AFA-DEC7-31056DF6BFA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51165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1F852EF2-DB2E-EDA3-947F-AD7E6C19EB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38102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297A800C-E47B-35AC-0EA8-24F3738049A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2633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  <a:cs typeface="Forte Forward" panose="020F0502020204030204" pitchFamily="2" charset="0"/>
              </a:defRPr>
            </a:lvl1pPr>
          </a:lstStyle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0777" y="6356351"/>
            <a:ext cx="57624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1;p13">
            <a:extLst>
              <a:ext uri="{FF2B5EF4-FFF2-40B4-BE49-F238E27FC236}">
                <a16:creationId xmlns:a16="http://schemas.microsoft.com/office/drawing/2014/main" id="{9C136CE5-665B-2FA1-3A31-86C4E8EC1DBB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0" y="0"/>
            <a:ext cx="9144000" cy="4230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25955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Franklin Gothic Book" panose="020B0503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81AA-C880-955A-8ACC-D4284C4A79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585" y="1122363"/>
            <a:ext cx="8108830" cy="2387600"/>
          </a:xfrm>
        </p:spPr>
        <p:txBody>
          <a:bodyPr>
            <a:normAutofit/>
          </a:bodyPr>
          <a:lstStyle/>
          <a:p>
            <a:r>
              <a:rPr lang="en-US" dirty="0"/>
              <a:t>Consumer Theory: </a:t>
            </a:r>
            <a:br>
              <a:rPr lang="en-US" dirty="0"/>
            </a:br>
            <a:r>
              <a:rPr lang="en-US" dirty="0"/>
              <a:t>The Utility Maximization Problem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868834-9371-0482-209B-C2EBDB2D93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ECON 300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3A60A-CBE6-B5CE-B9CE-C7DC93869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F44A7-8470-0B18-F1D2-F47845ECB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BCC6C-06D2-CC1B-BC1A-B87124A36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80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of Previous Lecture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Law of Diminishing Marginal Utility.</a:t>
            </a:r>
          </a:p>
          <a:p>
            <a:endParaRPr lang="en-US" dirty="0"/>
          </a:p>
          <a:p>
            <a:r>
              <a:rPr lang="en-US" dirty="0"/>
              <a:t>Marginal Rate of Substitution.</a:t>
            </a:r>
          </a:p>
          <a:p>
            <a:endParaRPr lang="en-US" dirty="0"/>
          </a:p>
          <a:p>
            <a:r>
              <a:rPr lang="en-US" dirty="0"/>
              <a:t> Cobb-Douglas Utility Functions.</a:t>
            </a:r>
          </a:p>
          <a:p>
            <a:endParaRPr lang="en-US" dirty="0"/>
          </a:p>
          <a:p>
            <a:r>
              <a:rPr lang="en-US" dirty="0"/>
              <a:t>Linear Utility Functions.</a:t>
            </a:r>
          </a:p>
          <a:p>
            <a:endParaRPr lang="en-US" dirty="0"/>
          </a:p>
          <a:p>
            <a:r>
              <a:rPr lang="en-US" dirty="0"/>
              <a:t>Leontief Utility Functions.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33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Utility Maximization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consumer has preferences when it comes to consumption, represented by the utility function, which is visualized as the indifference curves.</a:t>
            </a:r>
          </a:p>
          <a:p>
            <a:pPr lvl="3"/>
            <a:endParaRPr lang="en-US" dirty="0"/>
          </a:p>
          <a:p>
            <a:r>
              <a:rPr lang="en-US" dirty="0"/>
              <a:t>The consumer also has a limiting factor, the budget constraint, which sets a cap on the consumer’s wants based on the consumer’s income and price of goods.</a:t>
            </a:r>
          </a:p>
          <a:p>
            <a:pPr lvl="3"/>
            <a:endParaRPr lang="en-US" dirty="0"/>
          </a:p>
          <a:p>
            <a:r>
              <a:rPr lang="en-US" dirty="0"/>
              <a:t>The consumer wants to find the commodity bundle that maximizes their utility, while not violating the budget constraint.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38707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Utility Maximization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consumer’s problem in math is expressed as:</a:t>
                </a:r>
              </a:p>
              <a:p>
                <a:pPr lvl="4"/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≥0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en-US" sz="5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US" sz="1800" dirty="0"/>
              </a:p>
              <a:p>
                <a:endParaRPr lang="en-US" dirty="0"/>
              </a:p>
              <a:p>
                <a:r>
                  <a:rPr lang="en-US" dirty="0"/>
                  <a:t>In words, we can read this out loud as:</a:t>
                </a:r>
              </a:p>
              <a:p>
                <a:pPr lvl="3"/>
                <a:endParaRPr lang="en-US" sz="500" dirty="0"/>
              </a:p>
              <a:p>
                <a:pPr marL="0" indent="0" algn="ctr">
                  <a:buNone/>
                </a:pPr>
                <a:r>
                  <a:rPr lang="en-US" dirty="0"/>
                  <a:t>“Find the non-negative values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That maximize the utility function’s value, </a:t>
                </a:r>
              </a:p>
              <a:p>
                <a:pPr marL="0" indent="0" algn="ctr">
                  <a:buNone/>
                </a:pPr>
                <a:r>
                  <a:rPr lang="en-US" dirty="0"/>
                  <a:t>subject to the consumer’s budget constraint.”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545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F8E94-2E36-676B-09F4-6E56825E7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Budget Constraint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24555C-B959-62A0-0591-2B5898F36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CF2B05-EF11-79EF-8187-AD2811A93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8B9CA5-0838-8890-C6BB-15555142E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5</a:t>
            </a:fld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4CB74470-CD75-497A-F0E3-9C2570DE1E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49" y="1825625"/>
            <a:ext cx="3962759" cy="4351338"/>
          </a:xfrm>
        </p:spPr>
        <p:txBody>
          <a:bodyPr/>
          <a:lstStyle/>
          <a:p>
            <a:r>
              <a:rPr lang="en-US" dirty="0"/>
              <a:t>Recall what the budget constraint looks like when it is plotted in the commodity space.</a:t>
            </a:r>
          </a:p>
          <a:p>
            <a:pPr lvl="3"/>
            <a:endParaRPr lang="en-US" dirty="0"/>
          </a:p>
          <a:p>
            <a:r>
              <a:rPr lang="en-US" dirty="0"/>
              <a:t>The budget line “splits” the commodity space into two sections: </a:t>
            </a:r>
          </a:p>
          <a:p>
            <a:pPr lvl="1"/>
            <a:r>
              <a:rPr lang="en-US" dirty="0">
                <a:solidFill>
                  <a:srgbClr val="92D050"/>
                </a:solidFill>
              </a:rPr>
              <a:t>The affordable budget set</a:t>
            </a:r>
          </a:p>
          <a:p>
            <a:pPr lvl="1"/>
            <a:r>
              <a:rPr lang="en-US" dirty="0">
                <a:solidFill>
                  <a:srgbClr val="E05F65"/>
                </a:solidFill>
              </a:rPr>
              <a:t>The non affordable zone.</a:t>
            </a:r>
          </a:p>
        </p:txBody>
      </p:sp>
      <p:pic>
        <p:nvPicPr>
          <p:cNvPr id="16" name="Content Placeholder 15" descr="A diagram of a line&#10;&#10;Description automatically generated">
            <a:extLst>
              <a:ext uri="{FF2B5EF4-FFF2-40B4-BE49-F238E27FC236}">
                <a16:creationId xmlns:a16="http://schemas.microsoft.com/office/drawing/2014/main" id="{42072195-66EF-78FD-CAAC-CB07D45CCC2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7" name="Content Placeholder 8" descr="A diagram of a budget set&#10;&#10;Description automatically generated">
            <a:extLst>
              <a:ext uri="{FF2B5EF4-FFF2-40B4-BE49-F238E27FC236}">
                <a16:creationId xmlns:a16="http://schemas.microsoft.com/office/drawing/2014/main" id="{8126F07D-AB15-3EC0-B777-CACC137324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72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F8E94-2E36-676B-09F4-6E56825E7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Indifference Curve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24555C-B959-62A0-0591-2B5898F36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CF2B05-EF11-79EF-8187-AD2811A93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8B9CA5-0838-8890-C6BB-15555142E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6</a:t>
            </a:fld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4CB74470-CD75-497A-F0E3-9C2570DE1E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49" y="1825625"/>
            <a:ext cx="3962759" cy="4351338"/>
          </a:xfrm>
        </p:spPr>
        <p:txBody>
          <a:bodyPr/>
          <a:lstStyle/>
          <a:p>
            <a:r>
              <a:rPr lang="en-US" dirty="0"/>
              <a:t>Similarly, the indifference curve can be plotted on the commodity space.</a:t>
            </a:r>
          </a:p>
          <a:p>
            <a:pPr lvl="3"/>
            <a:endParaRPr lang="en-US" dirty="0"/>
          </a:p>
          <a:p>
            <a:r>
              <a:rPr lang="en-US" dirty="0"/>
              <a:t>The indifference curve also “splits” the commodity space into two sections:</a:t>
            </a:r>
          </a:p>
          <a:p>
            <a:pPr lvl="1"/>
            <a:r>
              <a:rPr lang="en-US" dirty="0">
                <a:solidFill>
                  <a:schemeClr val="accent6"/>
                </a:solidFill>
              </a:rPr>
              <a:t>The “better off” bundles</a:t>
            </a:r>
          </a:p>
          <a:p>
            <a:pPr lvl="1"/>
            <a:r>
              <a:rPr lang="en-US" dirty="0">
                <a:solidFill>
                  <a:srgbClr val="E05F65"/>
                </a:solidFill>
              </a:rPr>
              <a:t>The “worse off” bundles</a:t>
            </a:r>
          </a:p>
        </p:txBody>
      </p:sp>
      <p:pic>
        <p:nvPicPr>
          <p:cNvPr id="11" name="Content Placeholder 10" descr="A red line on a white background&#10;&#10;Description automatically generated">
            <a:extLst>
              <a:ext uri="{FF2B5EF4-FFF2-40B4-BE49-F238E27FC236}">
                <a16:creationId xmlns:a16="http://schemas.microsoft.com/office/drawing/2014/main" id="{1CEF3E93-4BB0-C0B5-14E2-E850A48FB2D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3EE11C3E-E8B5-6043-85F7-48D1530BF5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12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F8E94-2E36-676B-09F4-6E56825E7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Indifference Curve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24555C-B959-62A0-0591-2B5898F36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CF2B05-EF11-79EF-8187-AD2811A93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8B9CA5-0838-8890-C6BB-15555142E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7</a:t>
            </a:fld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4CB74470-CD75-497A-F0E3-9C2570DE1E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49" y="1825625"/>
            <a:ext cx="3962759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Recall that the indifference curves are analogous to contour lines on a map.</a:t>
            </a:r>
          </a:p>
          <a:p>
            <a:pPr lvl="3"/>
            <a:endParaRPr lang="en-US" dirty="0"/>
          </a:p>
          <a:p>
            <a:r>
              <a:rPr lang="en-US" dirty="0"/>
              <a:t>The “lower” indifference curves are the bundles that provide “lower” utility to the consumer.</a:t>
            </a:r>
          </a:p>
          <a:p>
            <a:pPr lvl="3"/>
            <a:endParaRPr lang="en-US" dirty="0"/>
          </a:p>
          <a:p>
            <a:r>
              <a:rPr lang="en-US" dirty="0"/>
              <a:t>The “higher” indifference curves are the bundles that provide a “higher” utility to the consumer.</a:t>
            </a:r>
          </a:p>
        </p:txBody>
      </p:sp>
      <p:pic>
        <p:nvPicPr>
          <p:cNvPr id="9" name="Content Placeholder 8" descr="A graph of a graph with different colored lines&#10;&#10;Description automatically generated with medium confidence">
            <a:extLst>
              <a:ext uri="{FF2B5EF4-FFF2-40B4-BE49-F238E27FC236}">
                <a16:creationId xmlns:a16="http://schemas.microsoft.com/office/drawing/2014/main" id="{17FFA392-049C-E4EF-CF10-EC9C900DE9C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5357360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Utility Maximization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consumers’ budget constraint remains fixed.</a:t>
                </a:r>
              </a:p>
              <a:p>
                <a:pPr lvl="1"/>
                <a:r>
                  <a:rPr lang="en-US" dirty="0"/>
                  <a:t>Typically defined by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Occasionally may have external constraints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consumers must choose the bundle that gives them the highest utility, given these constraints.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Graphically, it is equivalent to choosing the indifference curve that is “tangent to” the budget line.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We will see why…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31832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E9910-6052-E7EA-2FE0-14EB792D7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Utility Maximization Problem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601EEA-8B62-E557-B794-B96AFEF43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C44A98-5FC8-F311-C9F3-BDF960275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85CB9A-8F9C-DA16-3A9D-BDCB14E31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9</a:t>
            </a:fld>
            <a:endParaRPr lang="en-US" dirty="0"/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A8284D7D-F9DA-B303-861E-576ACB56328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Suppose that the consumer chooses the </a:t>
            </a:r>
            <a:r>
              <a:rPr lang="en-US" b="1" dirty="0">
                <a:solidFill>
                  <a:srgbClr val="00FFFF"/>
                </a:solidFill>
              </a:rPr>
              <a:t>cyan</a:t>
            </a:r>
            <a:r>
              <a:rPr lang="en-US" dirty="0"/>
              <a:t> indifference curve.</a:t>
            </a:r>
          </a:p>
          <a:p>
            <a:pPr lvl="3"/>
            <a:endParaRPr lang="en-US" dirty="0"/>
          </a:p>
          <a:p>
            <a:r>
              <a:rPr lang="en-US" dirty="0"/>
              <a:t>None of the bundles on this indifference curve are feasible for the consumer.</a:t>
            </a:r>
          </a:p>
          <a:p>
            <a:pPr lvl="3"/>
            <a:endParaRPr lang="en-US" dirty="0"/>
          </a:p>
          <a:p>
            <a:r>
              <a:rPr lang="en-US" dirty="0"/>
              <a:t>The consumer cannot reach this level of utility, so they must adjust.</a:t>
            </a:r>
          </a:p>
        </p:txBody>
      </p:sp>
      <p:pic>
        <p:nvPicPr>
          <p:cNvPr id="28" name="Content Placeholder 27" descr="A graph of a budget line&#10;&#10;Description automatically generated">
            <a:extLst>
              <a:ext uri="{FF2B5EF4-FFF2-40B4-BE49-F238E27FC236}">
                <a16:creationId xmlns:a16="http://schemas.microsoft.com/office/drawing/2014/main" id="{890E722A-81C0-4F53-9C30-C4CAA616B22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29" name="Content Placeholder 8" descr="A graph of a budget line&#10;&#10;Description automatically generated">
            <a:extLst>
              <a:ext uri="{FF2B5EF4-FFF2-40B4-BE49-F238E27FC236}">
                <a16:creationId xmlns:a16="http://schemas.microsoft.com/office/drawing/2014/main" id="{3958D073-1F03-3E8B-D831-973EB9C445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27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E9910-6052-E7EA-2FE0-14EB792D7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Utility Maximization Problem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601EEA-8B62-E557-B794-B96AFEF43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C44A98-5FC8-F311-C9F3-BDF960275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85CB9A-8F9C-DA16-3A9D-BDCB14E31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10</a:t>
            </a:fld>
            <a:endParaRPr lang="en-US" dirty="0"/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A8284D7D-F9DA-B303-861E-576ACB56328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Suppose that the consumer chooses the </a:t>
            </a:r>
            <a:r>
              <a:rPr lang="en-US" b="1" dirty="0">
                <a:solidFill>
                  <a:srgbClr val="0070C0"/>
                </a:solidFill>
              </a:rPr>
              <a:t>blue</a:t>
            </a:r>
            <a:r>
              <a:rPr lang="en-US" dirty="0"/>
              <a:t> indifference curve.</a:t>
            </a:r>
          </a:p>
          <a:p>
            <a:pPr lvl="3"/>
            <a:endParaRPr lang="en-US" dirty="0"/>
          </a:p>
          <a:p>
            <a:r>
              <a:rPr lang="en-US" dirty="0"/>
              <a:t>There is ample room for improvement.</a:t>
            </a:r>
          </a:p>
          <a:p>
            <a:pPr lvl="3"/>
            <a:endParaRPr lang="en-US" dirty="0"/>
          </a:p>
          <a:p>
            <a:r>
              <a:rPr lang="en-US" dirty="0"/>
              <a:t>Any bundle in the shaded area provides the consumer with greater utility, while meeting the constraints.</a:t>
            </a:r>
          </a:p>
        </p:txBody>
      </p:sp>
      <p:pic>
        <p:nvPicPr>
          <p:cNvPr id="33" name="Content Placeholder 32" descr="A graph of a budget line&#10;&#10;Description automatically generated">
            <a:extLst>
              <a:ext uri="{FF2B5EF4-FFF2-40B4-BE49-F238E27FC236}">
                <a16:creationId xmlns:a16="http://schemas.microsoft.com/office/drawing/2014/main" id="{7837A627-FAB7-8C89-E3B1-1630F94DD60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34" name="Content Placeholder 8" descr="A graph of a budget line&#10;&#10;Description automatically generated">
            <a:extLst>
              <a:ext uri="{FF2B5EF4-FFF2-40B4-BE49-F238E27FC236}">
                <a16:creationId xmlns:a16="http://schemas.microsoft.com/office/drawing/2014/main" id="{7D372BDD-D1A8-1E65-361D-925F9CD5F1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324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E9910-6052-E7EA-2FE0-14EB792D7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Utility Maximization Problem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601EEA-8B62-E557-B794-B96AFEF43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C44A98-5FC8-F311-C9F3-BDF960275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85CB9A-8F9C-DA16-3A9D-BDCB14E31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11</a:t>
            </a:fld>
            <a:endParaRPr lang="en-US" dirty="0"/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A8284D7D-F9DA-B303-861E-576ACB56328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 natural conclusion we reach is that the </a:t>
            </a:r>
            <a:r>
              <a:rPr lang="en-US" b="1" u="sng" dirty="0"/>
              <a:t>consumer may maximize their utility when their indifference curve is “tangent to” the budget line</a:t>
            </a:r>
            <a:r>
              <a:rPr lang="en-US" dirty="0"/>
              <a:t>.</a:t>
            </a:r>
          </a:p>
          <a:p>
            <a:pPr lvl="3"/>
            <a:endParaRPr lang="en-US" dirty="0"/>
          </a:p>
          <a:p>
            <a:r>
              <a:rPr lang="en-US" dirty="0"/>
              <a:t>The “tangent point” is the bundle that guarantees the highest feasible utility to the consumer.</a:t>
            </a:r>
          </a:p>
        </p:txBody>
      </p:sp>
      <p:pic>
        <p:nvPicPr>
          <p:cNvPr id="14" name="Content Placeholder 13" descr="A graph of a function&#10;&#10;Description automatically generated">
            <a:extLst>
              <a:ext uri="{FF2B5EF4-FFF2-40B4-BE49-F238E27FC236}">
                <a16:creationId xmlns:a16="http://schemas.microsoft.com/office/drawing/2014/main" id="{9BE77C0E-A6E9-4A7A-B369-4AA313FCC8F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5" name="Content Placeholder 17">
            <a:extLst>
              <a:ext uri="{FF2B5EF4-FFF2-40B4-BE49-F238E27FC236}">
                <a16:creationId xmlns:a16="http://schemas.microsoft.com/office/drawing/2014/main" id="{6A87CC3A-BC7C-EC6F-C815-036D69C2E9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290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E9910-6052-E7EA-2FE0-14EB792D7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Utility Maximization Problem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601EEA-8B62-E557-B794-B96AFEF43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C44A98-5FC8-F311-C9F3-BDF960275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85CB9A-8F9C-DA16-3A9D-BDCB14E31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12</a:t>
            </a:fld>
            <a:endParaRPr lang="en-US" dirty="0"/>
          </a:p>
        </p:txBody>
      </p:sp>
      <p:pic>
        <p:nvPicPr>
          <p:cNvPr id="13" name="Content Placeholder 12" descr="A graph of a function&#10;&#10;Description automatically generated">
            <a:extLst>
              <a:ext uri="{FF2B5EF4-FFF2-40B4-BE49-F238E27FC236}">
                <a16:creationId xmlns:a16="http://schemas.microsoft.com/office/drawing/2014/main" id="{3DF10D92-0ACC-0676-4097-098ACC91D0C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23" name="Content Placeholder 18">
            <a:extLst>
              <a:ext uri="{FF2B5EF4-FFF2-40B4-BE49-F238E27FC236}">
                <a16:creationId xmlns:a16="http://schemas.microsoft.com/office/drawing/2014/main" id="{C173D715-9A4A-E737-B9F9-5DDE232A20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00DA0CD8-4264-4B4E-8373-4D3B4059435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997265" cy="435133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All bundles that are feasible provide a lower utility level for the consumer.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All bundles that provide greater utility are not feasible.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Any bundle that will give a higher level of utility than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does not belong in the set of affordable bundles.</a:t>
                </a:r>
              </a:p>
            </p:txBody>
          </p:sp>
        </mc:Choice>
        <mc:Fallback xmlns=""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00DA0CD8-4264-4B4E-8373-4D3B405943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997265" cy="4351338"/>
              </a:xfrm>
              <a:blipFill>
                <a:blip r:embed="rId4"/>
                <a:stretch>
                  <a:fillRect l="-1982" t="-2661" r="-42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8" name="Content Placeholder 24" descr="A diagram of a budget line&#10;&#10;Description automatically generated">
            <a:extLst>
              <a:ext uri="{FF2B5EF4-FFF2-40B4-BE49-F238E27FC236}">
                <a16:creationId xmlns:a16="http://schemas.microsoft.com/office/drawing/2014/main" id="{E43612B3-0FBE-B031-73A9-FE98BD6222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966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Utility Maximization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Graphically speaking, the UMP boils down to finding the indifference curve that is tangent to the budget line, and then finding the unique bundle that maximizes the consumer’s utility.</a:t>
            </a:r>
          </a:p>
          <a:p>
            <a:pPr lvl="3"/>
            <a:endParaRPr lang="en-US" dirty="0"/>
          </a:p>
          <a:p>
            <a:r>
              <a:rPr lang="en-US" dirty="0"/>
              <a:t>How does all this link back to the slopes?</a:t>
            </a:r>
          </a:p>
          <a:p>
            <a:pPr lvl="1"/>
            <a:endParaRPr lang="en-US" sz="100" dirty="0"/>
          </a:p>
          <a:p>
            <a:pPr lvl="1"/>
            <a:r>
              <a:rPr lang="en-US" dirty="0"/>
              <a:t>Budget Line: Relative Prices</a:t>
            </a:r>
          </a:p>
          <a:p>
            <a:pPr lvl="1"/>
            <a:endParaRPr lang="en-US" sz="100" dirty="0"/>
          </a:p>
          <a:p>
            <a:pPr lvl="1"/>
            <a:r>
              <a:rPr lang="en-US" dirty="0"/>
              <a:t>Indifference Curve: Marginal Rate of Substitution</a:t>
            </a:r>
          </a:p>
          <a:p>
            <a:pPr lvl="4"/>
            <a:endParaRPr lang="en-US" dirty="0"/>
          </a:p>
          <a:p>
            <a:r>
              <a:rPr lang="en-US" dirty="0"/>
              <a:t>The optimal bundle happens to coincide with the point where those slopes match.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1975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E9910-6052-E7EA-2FE0-14EB792D7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UMP: The Slopes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601EEA-8B62-E557-B794-B96AFEF43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C44A98-5FC8-F311-C9F3-BDF960275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85CB9A-8F9C-DA16-3A9D-BDCB14E31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14</a:t>
            </a:fld>
            <a:endParaRPr lang="en-US" dirty="0"/>
          </a:p>
        </p:txBody>
      </p:sp>
      <p:pic>
        <p:nvPicPr>
          <p:cNvPr id="19" name="Content Placeholder 18" descr="A graph of a function&#10;&#10;Description automatically generated">
            <a:extLst>
              <a:ext uri="{FF2B5EF4-FFF2-40B4-BE49-F238E27FC236}">
                <a16:creationId xmlns:a16="http://schemas.microsoft.com/office/drawing/2014/main" id="{1998B602-C5BE-B8FF-FECE-24F04B7890B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25" name="Content Placeholder 20" descr="A graph of a function&#10;&#10;Description automatically generated">
            <a:extLst>
              <a:ext uri="{FF2B5EF4-FFF2-40B4-BE49-F238E27FC236}">
                <a16:creationId xmlns:a16="http://schemas.microsoft.com/office/drawing/2014/main" id="{90B319F1-BEC1-33E1-5911-686488CAB7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30">
                <a:extLst>
                  <a:ext uri="{FF2B5EF4-FFF2-40B4-BE49-F238E27FC236}">
                    <a16:creationId xmlns:a16="http://schemas.microsoft.com/office/drawing/2014/main" id="{9C10D1CD-E318-6F9E-8403-C0A5B3E0BDD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886200" cy="4351338"/>
              </a:xfrm>
            </p:spPr>
            <p:txBody>
              <a:bodyPr/>
              <a:lstStyle/>
              <a:p>
                <a:r>
                  <a:rPr lang="en-US" dirty="0"/>
                  <a:t>Let us return to a previous example, in which the consumer was undershooting.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Consider the points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where the indifference curve intersects the budget line.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Now consider the slopes!</a:t>
                </a:r>
              </a:p>
            </p:txBody>
          </p:sp>
        </mc:Choice>
        <mc:Fallback xmlns="">
          <p:sp>
            <p:nvSpPr>
              <p:cNvPr id="31" name="Content Placeholder 30">
                <a:extLst>
                  <a:ext uri="{FF2B5EF4-FFF2-40B4-BE49-F238E27FC236}">
                    <a16:creationId xmlns:a16="http://schemas.microsoft.com/office/drawing/2014/main" id="{9C10D1CD-E318-6F9E-8403-C0A5B3E0BD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886200" cy="4351338"/>
              </a:xfrm>
              <a:blipFill>
                <a:blip r:embed="rId4"/>
                <a:stretch>
                  <a:fillRect l="-2038" t="-1821" r="-1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3" name="Content Placeholder 8">
            <a:extLst>
              <a:ext uri="{FF2B5EF4-FFF2-40B4-BE49-F238E27FC236}">
                <a16:creationId xmlns:a16="http://schemas.microsoft.com/office/drawing/2014/main" id="{BA489B6C-FF87-9613-0AAB-E13B9CA2ED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833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E9910-6052-E7EA-2FE0-14EB792D7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UMP: The Slopes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601EEA-8B62-E557-B794-B96AFEF43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C44A98-5FC8-F311-C9F3-BDF960275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85CB9A-8F9C-DA16-3A9D-BDCB14E31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30">
                <a:extLst>
                  <a:ext uri="{FF2B5EF4-FFF2-40B4-BE49-F238E27FC236}">
                    <a16:creationId xmlns:a16="http://schemas.microsoft.com/office/drawing/2014/main" id="{9C10D1CD-E318-6F9E-8403-C0A5B3E0BDD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886200" cy="435133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Zooming in on bundle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…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Recall what each slope represents…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slope of the budget line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the objective rate of exchange.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slope of the indifference curve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𝑀𝑅𝑆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the subjective rate of exchange.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1" name="Content Placeholder 30">
                <a:extLst>
                  <a:ext uri="{FF2B5EF4-FFF2-40B4-BE49-F238E27FC236}">
                    <a16:creationId xmlns:a16="http://schemas.microsoft.com/office/drawing/2014/main" id="{9C10D1CD-E318-6F9E-8403-C0A5B3E0BD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886200" cy="4351338"/>
              </a:xfrm>
              <a:blipFill>
                <a:blip r:embed="rId2"/>
                <a:stretch>
                  <a:fillRect l="-2038" t="-2661" r="-12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1" name="Content Placeholder 40" descr="A graph of a graph with a red line and blue line&#10;&#10;Description automatically generated">
            <a:extLst>
              <a:ext uri="{FF2B5EF4-FFF2-40B4-BE49-F238E27FC236}">
                <a16:creationId xmlns:a16="http://schemas.microsoft.com/office/drawing/2014/main" id="{DE7433C1-DAC2-E4D9-E087-30D4007CC19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38718494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A4034-8961-0DAE-D64F-704B10620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Marginal Rate of Substitution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4C4547-ABA5-D4D1-A926-841829300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6DE2A-A7A7-FAD2-20C9-2B8B82C9A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288777-2CBD-1763-05FA-718A49D98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12">
                <a:extLst>
                  <a:ext uri="{FF2B5EF4-FFF2-40B4-BE49-F238E27FC236}">
                    <a16:creationId xmlns:a16="http://schemas.microsoft.com/office/drawing/2014/main" id="{6CEC1235-7D5D-5E8F-8049-95DAA6C4990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Examining the slope of the indifference curve, we can measure </a:t>
                </a:r>
                <a:r>
                  <a:rPr lang="en-US" b="1" u="sng" dirty="0"/>
                  <a:t>“how many units of good </a:t>
                </a:r>
                <a14:m>
                  <m:oMath xmlns:m="http://schemas.openxmlformats.org/officeDocument/2006/math">
                    <m:r>
                      <a:rPr lang="en-US" b="1" i="1" u="sng" dirty="0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b="1" u="sng" dirty="0"/>
                  <a:t> is the consumer willing to part with if they get one more of good </a:t>
                </a:r>
                <a14:m>
                  <m:oMath xmlns:m="http://schemas.openxmlformats.org/officeDocument/2006/math">
                    <m:r>
                      <a:rPr lang="en-US" b="1" i="1" u="sng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u="sng" dirty="0"/>
                  <a:t>?”</a:t>
                </a:r>
              </a:p>
              <a:p>
                <a:pPr lvl="3"/>
                <a:endParaRPr lang="en-US" b="1" u="sng" dirty="0"/>
              </a:p>
              <a:p>
                <a:r>
                  <a:rPr lang="en-US" dirty="0"/>
                  <a:t>We can see that the consumer is willing to part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𝑀𝑅𝑆</m:t>
                    </m:r>
                  </m:oMath>
                </a14:m>
                <a:r>
                  <a:rPr lang="en-US" dirty="0"/>
                  <a:t> units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for one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13" name="Content Placeholder 12">
                <a:extLst>
                  <a:ext uri="{FF2B5EF4-FFF2-40B4-BE49-F238E27FC236}">
                    <a16:creationId xmlns:a16="http://schemas.microsoft.com/office/drawing/2014/main" id="{6CEC1235-7D5D-5E8F-8049-95DAA6C499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 r="-18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Content Placeholder 17" descr="A graph of a graph with a red line and blue line&#10;&#10;Description automatically generated">
            <a:extLst>
              <a:ext uri="{FF2B5EF4-FFF2-40B4-BE49-F238E27FC236}">
                <a16:creationId xmlns:a16="http://schemas.microsoft.com/office/drawing/2014/main" id="{46DEC1D0-C1B4-34E8-DF8A-2E82685898C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9" name="Content Placeholder 8" descr="A graph of a line&#10;&#10;Description automatically generated with medium confidence">
            <a:extLst>
              <a:ext uri="{FF2B5EF4-FFF2-40B4-BE49-F238E27FC236}">
                <a16:creationId xmlns:a16="http://schemas.microsoft.com/office/drawing/2014/main" id="{41A011D8-1004-9831-5CCD-16DF1302E7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20" name="Content Placeholder 10" descr="A diagram of a graph&#10;&#10;Description automatically generated">
            <a:extLst>
              <a:ext uri="{FF2B5EF4-FFF2-40B4-BE49-F238E27FC236}">
                <a16:creationId xmlns:a16="http://schemas.microsoft.com/office/drawing/2014/main" id="{0658B700-C8CC-B653-A276-DAD799BA82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34251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388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A4034-8961-0DAE-D64F-704B10620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Relative Price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4C4547-ABA5-D4D1-A926-841829300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6DE2A-A7A7-FAD2-20C9-2B8B82C9A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288777-2CBD-1763-05FA-718A49D98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17</a:t>
            </a:fld>
            <a:endParaRPr lang="en-US" dirty="0"/>
          </a:p>
        </p:txBody>
      </p:sp>
      <p:pic>
        <p:nvPicPr>
          <p:cNvPr id="19" name="Content Placeholder 18" descr="A graph of a graph with a red line and blue line&#10;&#10;Description automatically generated">
            <a:extLst>
              <a:ext uri="{FF2B5EF4-FFF2-40B4-BE49-F238E27FC236}">
                <a16:creationId xmlns:a16="http://schemas.microsoft.com/office/drawing/2014/main" id="{39BA29C6-DC38-660D-9D70-DC589F19800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24" name="Content Placeholder 20" descr="A graph of a line&#10;&#10;Description automatically generated with medium confidence">
            <a:extLst>
              <a:ext uri="{FF2B5EF4-FFF2-40B4-BE49-F238E27FC236}">
                <a16:creationId xmlns:a16="http://schemas.microsoft.com/office/drawing/2014/main" id="{D2E86B3A-9227-D995-E442-D9CC1D6CB9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27">
                <a:extLst>
                  <a:ext uri="{FF2B5EF4-FFF2-40B4-BE49-F238E27FC236}">
                    <a16:creationId xmlns:a16="http://schemas.microsoft.com/office/drawing/2014/main" id="{86FC3BBE-2D73-1D02-3B2E-AD71F5719DB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The slope of the budget line tells us </a:t>
                </a:r>
                <a:r>
                  <a:rPr lang="en-US" b="1" u="sng" dirty="0"/>
                  <a:t>“how many units of good </a:t>
                </a:r>
                <a14:m>
                  <m:oMath xmlns:m="http://schemas.openxmlformats.org/officeDocument/2006/math">
                    <m:r>
                      <a:rPr lang="en-US" b="1" i="1" u="sng" dirty="0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b="1" u="sng" dirty="0"/>
                  <a:t> that the consumer has to give up to purchase one more unit of good </a:t>
                </a:r>
                <a14:m>
                  <m:oMath xmlns:m="http://schemas.openxmlformats.org/officeDocument/2006/math">
                    <m:r>
                      <a:rPr lang="en-US" b="1" i="1" u="sng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u="sng" dirty="0"/>
                  <a:t>.”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consumer has to part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dirty="0"/>
                  <a:t> units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to get one more unit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28" name="Content Placeholder 27">
                <a:extLst>
                  <a:ext uri="{FF2B5EF4-FFF2-40B4-BE49-F238E27FC236}">
                    <a16:creationId xmlns:a16="http://schemas.microsoft.com/office/drawing/2014/main" id="{86FC3BBE-2D73-1D02-3B2E-AD71F5719D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4"/>
                <a:stretch>
                  <a:fillRect l="-2038" t="-1821" r="-40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9" name="Content Placeholder 25" descr="A graph of a function&#10;&#10;Description automatically generated with medium confidence">
            <a:extLst>
              <a:ext uri="{FF2B5EF4-FFF2-40B4-BE49-F238E27FC236}">
                <a16:creationId xmlns:a16="http://schemas.microsoft.com/office/drawing/2014/main" id="{F454EDD7-FA09-DF72-23A7-CE06C1BFED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34251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892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AF58100-69EC-FD98-B358-A7BC5BFFEEE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UMP when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𝑴𝑹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𝒙𝒚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AF58100-69EC-FD98-B358-A7BC5BFFEE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BFC50-FC63-7AA8-7FEA-A9491A5E0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anchor="ctr"/>
          <a:lstStyle/>
          <a:p>
            <a:pPr algn="ctr"/>
            <a:r>
              <a:rPr lang="en-US" dirty="0"/>
              <a:t>Marginal Rate of Substitution</a:t>
            </a:r>
          </a:p>
        </p:txBody>
      </p:sp>
      <p:pic>
        <p:nvPicPr>
          <p:cNvPr id="11" name="Content Placeholder 10" descr="A diagram of a graph&#10;&#10;Description automatically generated">
            <a:extLst>
              <a:ext uri="{FF2B5EF4-FFF2-40B4-BE49-F238E27FC236}">
                <a16:creationId xmlns:a16="http://schemas.microsoft.com/office/drawing/2014/main" id="{A88FFACF-ADBF-CA4F-1836-A8FEEDFFC6C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542" y="2505075"/>
            <a:ext cx="3316129" cy="3684588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1091E1-10FE-A3E4-3313-AF197CDFF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 anchor="ctr"/>
          <a:lstStyle/>
          <a:p>
            <a:pPr algn="ctr"/>
            <a:r>
              <a:rPr lang="en-US" dirty="0"/>
              <a:t>Relative Prices</a:t>
            </a:r>
          </a:p>
        </p:txBody>
      </p:sp>
      <p:pic>
        <p:nvPicPr>
          <p:cNvPr id="13" name="Content Placeholder 12" descr="A graph of a function&#10;&#10;Description automatically generated with medium confidence">
            <a:extLst>
              <a:ext uri="{FF2B5EF4-FFF2-40B4-BE49-F238E27FC236}">
                <a16:creationId xmlns:a16="http://schemas.microsoft.com/office/drawing/2014/main" id="{3ABF8FDC-40DA-3672-2840-BAB595990F1C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79" y="2505075"/>
            <a:ext cx="3316129" cy="3684588"/>
          </a:xfr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523A93-081A-1D17-9116-219A03DDF3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6460CA-6B31-7022-D341-DBCC16D1E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037A41-80A5-A2D6-5776-ADF4C3CB2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4323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Utility Maximization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𝑀𝑅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dirty="0"/>
                  <a:t>…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We ask the consumer “we will give you one unit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how many units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are you willing to part with?”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If the consumer is willing to give up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𝑀𝑅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</m:oMath>
                </a14:m>
                <a:r>
                  <a:rPr lang="en-US" dirty="0"/>
                  <a:t> units, but the market requires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dirty="0"/>
                  <a:t> units…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Then the consumer should take that deal, move to a bundle with more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and less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to achieve a higher level of utility.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20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78193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AF58100-69EC-FD98-B358-A7BC5BFFEEE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When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𝑴𝑹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𝒙𝒚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AF58100-69EC-FD98-B358-A7BC5BFFEE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BFC50-FC63-7AA8-7FEA-A9491A5E0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anchor="ctr"/>
          <a:lstStyle/>
          <a:p>
            <a:pPr algn="ctr"/>
            <a:r>
              <a:rPr lang="en-US" dirty="0"/>
              <a:t>Marginal Rate of Substitution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1091E1-10FE-A3E4-3313-AF197CDFF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 anchor="ctr"/>
          <a:lstStyle/>
          <a:p>
            <a:pPr algn="ctr"/>
            <a:r>
              <a:rPr lang="en-US" dirty="0"/>
              <a:t>Relative Prices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523A93-081A-1D17-9116-219A03DDF3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6460CA-6B31-7022-D341-DBCC16D1E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037A41-80A5-A2D6-5776-ADF4C3CB2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20</a:t>
            </a:fld>
            <a:endParaRPr lang="en-US" dirty="0"/>
          </a:p>
        </p:txBody>
      </p:sp>
      <p:pic>
        <p:nvPicPr>
          <p:cNvPr id="15" name="Content Placeholder 14" descr="A diagram of a line&#10;&#10;Description automatically generated">
            <a:extLst>
              <a:ext uri="{FF2B5EF4-FFF2-40B4-BE49-F238E27FC236}">
                <a16:creationId xmlns:a16="http://schemas.microsoft.com/office/drawing/2014/main" id="{400457BF-6E46-D4C8-CAC8-BBD67735C6E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542" y="2505075"/>
            <a:ext cx="3316129" cy="3684588"/>
          </a:xfrm>
        </p:spPr>
      </p:pic>
      <p:pic>
        <p:nvPicPr>
          <p:cNvPr id="17" name="Content Placeholder 16" descr="A diagram of a line&#10;&#10;Description automatically generated">
            <a:extLst>
              <a:ext uri="{FF2B5EF4-FFF2-40B4-BE49-F238E27FC236}">
                <a16:creationId xmlns:a16="http://schemas.microsoft.com/office/drawing/2014/main" id="{71DBB351-72E0-FD90-456C-E78FD69ED7A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79" y="2505075"/>
            <a:ext cx="3316129" cy="3684588"/>
          </a:xfrm>
        </p:spPr>
      </p:pic>
    </p:spTree>
    <p:extLst>
      <p:ext uri="{BB962C8B-B14F-4D97-AF65-F5344CB8AC3E}">
        <p14:creationId xmlns:p14="http://schemas.microsoft.com/office/powerpoint/2010/main" val="25632520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D8E3986-575B-B929-0562-1561C73A78D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UMP when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𝑴𝑹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𝒙𝒚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D8E3986-575B-B929-0562-1561C73A78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𝑀𝑅𝑆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dirty="0"/>
                  <a:t>…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We ask the consumer “if we take away one unit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how many units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do you need to stay equally happy?”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If the consumer is wants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𝑀𝑅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</m:oMath>
                </a14:m>
                <a:r>
                  <a:rPr lang="en-US" dirty="0"/>
                  <a:t> units, but the market will allow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dirty="0"/>
                  <a:t> units…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Then the consumer should take that deal, move to a bundle with less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and more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to achieve a higher level of utility.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05" t="-2521" r="-20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31922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Utility Maximization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𝑀𝑅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dirty="0"/>
                  <a:t>…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amount that the consumer is willing to give up, and the amount that the market demands that it give up are identical.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No adjustment to the commodity bundle of choice can elevate utility further by exploiting the differences between the exchange rates.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Therefore, the consumer’s utility is maximized!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61230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Preview of Next Lecture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Optimization when the Utility Functions are Special</a:t>
            </a:r>
          </a:p>
          <a:p>
            <a:pPr lvl="1"/>
            <a:r>
              <a:rPr lang="en-US" dirty="0"/>
              <a:t>The Linear Utility Function</a:t>
            </a:r>
          </a:p>
          <a:p>
            <a:pPr lvl="1"/>
            <a:r>
              <a:rPr lang="en-US" dirty="0"/>
              <a:t>The Leontief Utility Function</a:t>
            </a:r>
          </a:p>
          <a:p>
            <a:pPr lvl="3"/>
            <a:endParaRPr lang="en-US" dirty="0"/>
          </a:p>
          <a:p>
            <a:r>
              <a:rPr lang="en-US" dirty="0"/>
              <a:t>Optimization in Math</a:t>
            </a:r>
          </a:p>
          <a:p>
            <a:pPr lvl="3"/>
            <a:endParaRPr lang="en-US" dirty="0"/>
          </a:p>
          <a:p>
            <a:r>
              <a:rPr lang="en-US" dirty="0"/>
              <a:t>Comparative Statics of Consumer Choice</a:t>
            </a:r>
          </a:p>
          <a:p>
            <a:pPr lvl="1"/>
            <a:r>
              <a:rPr lang="en-US" dirty="0"/>
              <a:t>Changes in the consumer’s income</a:t>
            </a:r>
          </a:p>
          <a:p>
            <a:pPr lvl="1"/>
            <a:r>
              <a:rPr lang="en-US" dirty="0"/>
              <a:t>Changes in the market prices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64890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" id="{CF630E01-D107-42E5-8DFC-48302BB3DFE2}" vid="{4BEE81CA-F64C-419F-A97B-23D16F4EA3D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mc-presentation-template</Template>
  <TotalTime>3543</TotalTime>
  <Words>1336</Words>
  <Application>Microsoft Office PowerPoint</Application>
  <PresentationFormat>On-screen Show (4:3)</PresentationFormat>
  <Paragraphs>221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Cambria Math</vt:lpstr>
      <vt:lpstr>Franklin Gothic Book</vt:lpstr>
      <vt:lpstr>Office Theme</vt:lpstr>
      <vt:lpstr>Consumer Theory:  The Utility Maximization Problem</vt:lpstr>
      <vt:lpstr>Review of Previous Lecture</vt:lpstr>
      <vt:lpstr>The Utility Maximization Problem</vt:lpstr>
      <vt:lpstr>The Utility Maximization Problem</vt:lpstr>
      <vt:lpstr>Recap: Budget Constraint</vt:lpstr>
      <vt:lpstr>Recap: Indifference Curve</vt:lpstr>
      <vt:lpstr>Recap: Indifference Curve</vt:lpstr>
      <vt:lpstr>The Utility Maximization Problem</vt:lpstr>
      <vt:lpstr>The Utility Maximization Problem</vt:lpstr>
      <vt:lpstr>The Utility Maximization Problem</vt:lpstr>
      <vt:lpstr>The Utility Maximization Problem</vt:lpstr>
      <vt:lpstr>The Utility Maximization Problem</vt:lpstr>
      <vt:lpstr>The Utility Maximization Problem</vt:lpstr>
      <vt:lpstr>UMP: The Slopes</vt:lpstr>
      <vt:lpstr>UMP: The Slopes</vt:lpstr>
      <vt:lpstr>The Marginal Rate of Substitution</vt:lpstr>
      <vt:lpstr>The Relative Price</vt:lpstr>
      <vt:lpstr>UMP when MRS_xy&gt;P_x/P_y</vt:lpstr>
      <vt:lpstr>The Utility Maximization Problem</vt:lpstr>
      <vt:lpstr>When MRS_xy&lt;P_x/P_y</vt:lpstr>
      <vt:lpstr>UMP when MRS_xy&lt;P_x/P_y</vt:lpstr>
      <vt:lpstr>The Utility Maximization Problem</vt:lpstr>
      <vt:lpstr>Preview of Next Lecture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Price Theory</dc:title>
  <dc:creator>Brian Park</dc:creator>
  <cp:lastModifiedBy>Park, Brian</cp:lastModifiedBy>
  <cp:revision>53</cp:revision>
  <dcterms:created xsi:type="dcterms:W3CDTF">2023-08-17T23:00:51Z</dcterms:created>
  <dcterms:modified xsi:type="dcterms:W3CDTF">2023-09-12T21:39:23Z</dcterms:modified>
</cp:coreProperties>
</file>