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44"/>
  </p:notesMasterIdLst>
  <p:sldIdLst>
    <p:sldId id="256" r:id="rId2"/>
    <p:sldId id="486" r:id="rId3"/>
    <p:sldId id="509" r:id="rId4"/>
    <p:sldId id="508" r:id="rId5"/>
    <p:sldId id="495" r:id="rId6"/>
    <p:sldId id="500" r:id="rId7"/>
    <p:sldId id="511" r:id="rId8"/>
    <p:sldId id="510" r:id="rId9"/>
    <p:sldId id="512" r:id="rId10"/>
    <p:sldId id="504" r:id="rId11"/>
    <p:sldId id="505" r:id="rId12"/>
    <p:sldId id="395" r:id="rId13"/>
    <p:sldId id="507" r:id="rId14"/>
    <p:sldId id="513" r:id="rId15"/>
    <p:sldId id="514" r:id="rId16"/>
    <p:sldId id="516" r:id="rId17"/>
    <p:sldId id="515" r:id="rId18"/>
    <p:sldId id="473" r:id="rId19"/>
    <p:sldId id="518" r:id="rId20"/>
    <p:sldId id="520" r:id="rId21"/>
    <p:sldId id="519" r:id="rId22"/>
    <p:sldId id="522" r:id="rId23"/>
    <p:sldId id="523" r:id="rId24"/>
    <p:sldId id="524" r:id="rId25"/>
    <p:sldId id="525" r:id="rId26"/>
    <p:sldId id="527" r:id="rId27"/>
    <p:sldId id="528" r:id="rId28"/>
    <p:sldId id="529" r:id="rId29"/>
    <p:sldId id="542" r:id="rId30"/>
    <p:sldId id="531" r:id="rId31"/>
    <p:sldId id="517" r:id="rId32"/>
    <p:sldId id="536" r:id="rId33"/>
    <p:sldId id="537" r:id="rId34"/>
    <p:sldId id="538" r:id="rId35"/>
    <p:sldId id="534" r:id="rId36"/>
    <p:sldId id="540" r:id="rId37"/>
    <p:sldId id="535" r:id="rId38"/>
    <p:sldId id="539" r:id="rId39"/>
    <p:sldId id="541" r:id="rId40"/>
    <p:sldId id="526" r:id="rId41"/>
    <p:sldId id="421" r:id="rId42"/>
    <p:sldId id="422" r:id="rId43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7122C"/>
    <a:srgbClr val="FDB913"/>
    <a:srgbClr val="B8964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481" autoAdjust="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516" y="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Book1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Garamond" panose="02020404030301010803" pitchFamily="18" charset="0"/>
                <a:ea typeface="+mn-ea"/>
                <a:cs typeface="+mn-cs"/>
              </a:defRPr>
            </a:pPr>
            <a:r>
              <a:rPr lang="en-US" sz="1400" b="0" i="0" u="none" strike="noStrike" baseline="0"/>
              <a:t> Probability Distribution of Flight Cancellations</a:t>
            </a:r>
            <a:endParaRPr lang="en-US">
              <a:latin typeface="Rockwell" panose="02060603020205020403" pitchFamily="18" charset="0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Garamond" panose="02020404030301010803" pitchFamily="18" charset="0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1"/>
          <c:order val="0"/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numRef>
              <c:f>Sheet1!$C$3:$C$7</c:f>
              <c:numCache>
                <c:formatCode>General</c:formatCode>
                <c:ptCount val="5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</c:numCache>
            </c:numRef>
          </c:cat>
          <c:val>
            <c:numRef>
              <c:f>Sheet1!$E$3:$E$7</c:f>
              <c:numCache>
                <c:formatCode>General</c:formatCode>
                <c:ptCount val="5"/>
                <c:pt idx="0">
                  <c:v>0.23333333333333334</c:v>
                </c:pt>
                <c:pt idx="1">
                  <c:v>0.26666666666666666</c:v>
                </c:pt>
                <c:pt idx="2">
                  <c:v>0.23333333333333334</c:v>
                </c:pt>
                <c:pt idx="3">
                  <c:v>0.16666666666666666</c:v>
                </c:pt>
                <c:pt idx="4">
                  <c:v>0.1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132-4A5B-9A53-6B185AB290F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869586224"/>
        <c:axId val="1672072176"/>
      </c:barChart>
      <c:catAx>
        <c:axId val="1869586224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Garamond" panose="02020404030301010803" pitchFamily="18" charset="0"/>
                    <a:ea typeface="+mn-ea"/>
                    <a:cs typeface="+mn-cs"/>
                  </a:defRPr>
                </a:pPr>
                <a:r>
                  <a:rPr lang="en-US" baseline="0" dirty="0"/>
                  <a:t>Flight Cancellations (x)</a:t>
                </a:r>
                <a:endParaRPr lang="en-US" dirty="0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Garamond" panose="02020404030301010803" pitchFamily="18" charset="0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Garamond" panose="02020404030301010803" pitchFamily="18" charset="0"/>
                <a:ea typeface="+mn-ea"/>
                <a:cs typeface="+mn-cs"/>
              </a:defRPr>
            </a:pPr>
            <a:endParaRPr lang="en-US"/>
          </a:p>
        </c:txPr>
        <c:crossAx val="1672072176"/>
        <c:crosses val="autoZero"/>
        <c:auto val="1"/>
        <c:lblAlgn val="ctr"/>
        <c:lblOffset val="100"/>
        <c:noMultiLvlLbl val="0"/>
      </c:catAx>
      <c:valAx>
        <c:axId val="167207217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Garamond" panose="02020404030301010803" pitchFamily="18" charset="0"/>
                    <a:ea typeface="+mn-ea"/>
                    <a:cs typeface="+mn-cs"/>
                  </a:defRPr>
                </a:pPr>
                <a:r>
                  <a:rPr lang="en-US" dirty="0"/>
                  <a:t>P(X=x)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Garamond" panose="02020404030301010803" pitchFamily="18" charset="0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Garamond" panose="02020404030301010803" pitchFamily="18" charset="0"/>
                <a:ea typeface="+mn-ea"/>
                <a:cs typeface="+mn-cs"/>
              </a:defRPr>
            </a:pPr>
            <a:endParaRPr lang="en-US"/>
          </a:p>
        </c:txPr>
        <c:crossAx val="186958622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latin typeface="Garamond" panose="02020404030301010803" pitchFamily="18" charset="0"/>
        </a:defRPr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359EC7-19C7-4638-A61A-0E2B59861576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987AAC7-CF25-414B-93E7-2A61E431E8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2823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
Do not modify the notes in this section to avoid tampering with the Poll Everywhere activity.
More info at polleverywhere.com/support
Which value of $$P(2)$$ makes this a valid probability function?
https://www.polleverywhere.com/multiple_choice_polls/Or9lVhCzRKy2A1ygfhLHN?state=opened&amp;flow=Default&amp;onscreen=persist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87AAC7-CF25-414B-93E7-2A61E431E831}" type="slidenum">
              <a:rPr lang="en-US" smtClean="0"/>
              <a:t>9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B4B106E-1675-B814-1E49-2C10A5E951A6}"/>
              </a:ext>
            </a:extLst>
          </p:cNvPr>
          <p:cNvSpPr txBox="1"/>
          <p:nvPr/>
        </p:nvSpPr>
        <p:spPr>
          <a:xfrm>
            <a:off x="0" y="0"/>
            <a:ext cx="3810000" cy="127000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89317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47A80A-D5D2-49AE-A844-588E4255EDC7}" type="datetime1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BUSN 320 Business Statistics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380916-4781-41E1-812B-F7EE09E7EC54}" type="datetime1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BUSN 320 Business Statistics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4F0C0A-9C35-410E-849D-9EEF5817A513}" type="datetime1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BUSN 320 Business Statistics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B32F21-B93A-4F6F-BB58-7315062EDE8F}" type="datetime1">
              <a:rPr lang="en-US" smtClean="0"/>
              <a:t>9/24/2026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BUSN 320 Business Statistics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8F068-B914-460D-9179-BFF897ADE07D}" type="datetime1">
              <a:rPr lang="en-US" smtClean="0"/>
              <a:t>9/24/2026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BUSN 320 Business Statistics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21F716-81BD-4BA4-B31F-E45934BDA10B}" type="datetime1">
              <a:rPr lang="en-US" smtClean="0"/>
              <a:t>9/24/2026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BUSN 320 Business Statistics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D6429A-3A32-4FA5-8083-C1241B40DC91}" type="datetime1">
              <a:rPr lang="en-US" smtClean="0"/>
              <a:t>9/24/2026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BUSN 320 Business Statistics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3B8681-8559-4041-8182-1523BFD54070}" type="datetime1">
              <a:rPr lang="en-US" smtClean="0"/>
              <a:t>9/24/2026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BUSN 320 Business Statistics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AE741E-05A6-4FBA-B93A-7A6F416D9C37}" type="datetime1">
              <a:rPr lang="en-US" smtClean="0"/>
              <a:t>9/24/2026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BUSN 320 Business Statistics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5895A3-83FA-4B14-A4CD-DB213D15B8AB}" type="datetime1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BUSN 320 Business Statistics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A4B72-8FE6-4D0E-A593-D1637FA9144D}" type="datetime1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BUSN 320 Business Statistics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66473EE-CD09-4566-AB4B-2AE3BA2B94C1}" type="datetime1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BUSN 320 Business Statistics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dt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1.xml"/><Relationship Id="rId4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0.png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jp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0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jp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jp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712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2650659"/>
            <a:ext cx="1218882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DB913"/>
                </a:solidFill>
                <a:latin typeface="Garamond"/>
              </a:defRPr>
            </a:pPr>
            <a:r>
              <a:rPr lang="en-US" sz="4800" dirty="0"/>
              <a:t>B</a:t>
            </a:r>
            <a:r>
              <a:rPr lang="en-US" sz="4400" dirty="0"/>
              <a:t>USINESS </a:t>
            </a:r>
            <a:r>
              <a:rPr lang="en-US" sz="4800" dirty="0"/>
              <a:t>S</a:t>
            </a:r>
            <a:r>
              <a:rPr lang="en-US" sz="4400" dirty="0"/>
              <a:t>TATISTICS</a:t>
            </a:r>
            <a:endParaRPr sz="4400" dirty="0"/>
          </a:p>
        </p:txBody>
      </p:sp>
      <p:sp>
        <p:nvSpPr>
          <p:cNvPr id="3" name="TextBox 2"/>
          <p:cNvSpPr txBox="1"/>
          <p:nvPr/>
        </p:nvSpPr>
        <p:spPr>
          <a:xfrm>
            <a:off x="-1" y="3657600"/>
            <a:ext cx="1218882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>
                <a:solidFill>
                  <a:srgbClr val="FFFFFF"/>
                </a:solidFill>
                <a:latin typeface="Garamond"/>
              </a:defRPr>
            </a:pPr>
            <a:r>
              <a:rPr lang="en-US" dirty="0"/>
              <a:t>Chapter 5: Discrete Probability Distributions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7BDF11-216F-8957-350E-B8F6AA5C71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F6C4B8-76F0-273A-D316-B441684BB6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199" y="1300900"/>
            <a:ext cx="11189855" cy="5081046"/>
          </a:xfrm>
        </p:spPr>
        <p:txBody>
          <a:bodyPr>
            <a:normAutofit/>
          </a:bodyPr>
          <a:lstStyle/>
          <a:p>
            <a:pPr>
              <a:spcBef>
                <a:spcPts val="1000"/>
              </a:spcBef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A </a:t>
            </a:r>
            <a:r>
              <a:rPr lang="en-US" altLang="zh-TW" sz="2400" b="1" dirty="0"/>
              <a:t>random variable</a:t>
            </a:r>
            <a:r>
              <a:rPr lang="en-US" altLang="zh-TW" sz="2400" dirty="0"/>
              <a:t> is a numerical description of the outcome of an experiment.</a:t>
            </a:r>
          </a:p>
          <a:p>
            <a:pPr lvl="1">
              <a:spcBef>
                <a:spcPts val="1000"/>
              </a:spcBef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000" dirty="0"/>
              <a:t>A random variable assigns a numerical value to each possible outcome of an experiment.</a:t>
            </a:r>
          </a:p>
          <a:p>
            <a:pPr lvl="1">
              <a:spcBef>
                <a:spcPts val="1000"/>
              </a:spcBef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000" dirty="0"/>
              <a:t>The value of the random variable depends on the outcome that occurs.</a:t>
            </a:r>
          </a:p>
          <a:p>
            <a:pPr marL="1828800" lvl="4" indent="0">
              <a:spcBef>
                <a:spcPts val="1000"/>
              </a:spcBef>
              <a:buNone/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1200" dirty="0"/>
          </a:p>
          <a:p>
            <a:pPr>
              <a:spcBef>
                <a:spcPts val="1000"/>
              </a:spcBef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Example: The random experiment of tossing two fair coins in succession.</a:t>
            </a:r>
          </a:p>
          <a:p>
            <a:pPr lvl="1">
              <a:spcBef>
                <a:spcPts val="1000"/>
              </a:spcBef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000" dirty="0"/>
              <a:t>Let </a:t>
            </a:r>
            <a:r>
              <a:rPr lang="en-US" altLang="zh-TW" sz="2000" dirty="0">
                <a:latin typeface="Rockwell" panose="02060603020205020403" pitchFamily="18" charset="0"/>
              </a:rPr>
              <a:t>x</a:t>
            </a:r>
            <a:r>
              <a:rPr lang="en-US" altLang="zh-TW" sz="2000" dirty="0"/>
              <a:t> denote the number of tails observed.</a:t>
            </a:r>
          </a:p>
          <a:p>
            <a:pPr lvl="1">
              <a:spcBef>
                <a:spcPts val="1000"/>
              </a:spcBef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000" dirty="0"/>
              <a:t>The possible outcomes and corresponding values of </a:t>
            </a:r>
            <a:r>
              <a:rPr lang="en-US" altLang="zh-TW" sz="2000" dirty="0">
                <a:latin typeface="Rockwell" panose="02060603020205020403" pitchFamily="18" charset="0"/>
              </a:rPr>
              <a:t>x </a:t>
            </a:r>
            <a:r>
              <a:rPr lang="en-US" altLang="zh-TW" sz="2000" dirty="0"/>
              <a:t>are shown below.</a:t>
            </a:r>
          </a:p>
          <a:p>
            <a:pPr lvl="1">
              <a:spcBef>
                <a:spcPts val="1000"/>
              </a:spcBef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2000" dirty="0"/>
          </a:p>
          <a:p>
            <a:pPr lvl="1">
              <a:spcBef>
                <a:spcPts val="1000"/>
              </a:spcBef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2000" dirty="0"/>
          </a:p>
          <a:p>
            <a:pPr lvl="3">
              <a:spcBef>
                <a:spcPts val="1000"/>
              </a:spcBef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1200" dirty="0"/>
          </a:p>
          <a:p>
            <a:pPr>
              <a:spcBef>
                <a:spcPts val="1000"/>
              </a:spcBef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The outcome is what happens, and the random variable is the numerical value assigned to that outcome.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4E61B19-02A2-7C0B-8ECD-C6379281411A}"/>
              </a:ext>
            </a:extLst>
          </p:cNvPr>
          <p:cNvSpPr/>
          <p:nvPr/>
        </p:nvSpPr>
        <p:spPr>
          <a:xfrm>
            <a:off x="0" y="0"/>
            <a:ext cx="12188825" cy="923636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FCE2B44-0C02-4D4D-9EB9-8F1036544C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88825" cy="923636"/>
          </a:xfrm>
        </p:spPr>
        <p:txBody>
          <a:bodyPr>
            <a:normAutofit/>
          </a:bodyPr>
          <a:lstStyle/>
          <a:p>
            <a:pPr algn="l">
              <a:defRPr sz="4000" b="1">
                <a:solidFill>
                  <a:srgbClr val="FDB913"/>
                </a:solidFill>
                <a:latin typeface="Garamond"/>
              </a:defRPr>
            </a:pPr>
            <a:r>
              <a:rPr lang="en-US" sz="4000" dirty="0">
                <a:solidFill>
                  <a:schemeClr val="bg1"/>
                </a:solidFill>
              </a:rPr>
              <a:t>  Random Variables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05B158E-6B18-AD26-B53F-88A06B3BA4A1}"/>
              </a:ext>
            </a:extLst>
          </p:cNvPr>
          <p:cNvSpPr/>
          <p:nvPr/>
        </p:nvSpPr>
        <p:spPr>
          <a:xfrm>
            <a:off x="-1" y="6503428"/>
            <a:ext cx="12188825" cy="354572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9BBB2A-B0E3-E739-410F-B9C789AF54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1" y="6503428"/>
            <a:ext cx="2895600" cy="354572"/>
          </a:xfrm>
        </p:spPr>
        <p:txBody>
          <a:bodyPr/>
          <a:lstStyle/>
          <a:p>
            <a:pPr algn="l"/>
            <a:r>
              <a:rPr lang="en-US">
                <a:solidFill>
                  <a:schemeClr val="bg1"/>
                </a:solidFill>
                <a:latin typeface="Garamond" panose="02020404030301010803" pitchFamily="18" charset="0"/>
              </a:rPr>
              <a:t>BUSN 320 Business Statistics</a:t>
            </a:r>
            <a:endParaRPr lang="en-US" dirty="0">
              <a:solidFill>
                <a:schemeClr val="bg1"/>
              </a:solidFill>
              <a:latin typeface="Garamond" panose="02020404030301010803" pitchFamily="18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CCD2810-F90A-806E-8F3E-F812CD4643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55225" y="6503428"/>
            <a:ext cx="2133600" cy="354572"/>
          </a:xfrm>
        </p:spPr>
        <p:txBody>
          <a:bodyPr/>
          <a:lstStyle/>
          <a:p>
            <a:fld id="{C1FF6DA9-008F-8B48-92A6-B652298478BF}" type="slidenum">
              <a:rPr lang="en-US" b="1" smtClean="0">
                <a:solidFill>
                  <a:schemeClr val="bg1"/>
                </a:solidFill>
                <a:latin typeface="Garamond" panose="02020404030301010803" pitchFamily="18" charset="0"/>
              </a:rPr>
              <a:t>2</a:t>
            </a:fld>
            <a:r>
              <a:rPr lang="en-US" b="1" dirty="0">
                <a:solidFill>
                  <a:schemeClr val="bg1"/>
                </a:solidFill>
                <a:latin typeface="Garamond" panose="02020404030301010803" pitchFamily="18" charset="0"/>
              </a:rPr>
              <a:t>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8" name="Table 7">
                <a:extLst>
                  <a:ext uri="{FF2B5EF4-FFF2-40B4-BE49-F238E27FC236}">
                    <a16:creationId xmlns:a16="http://schemas.microsoft.com/office/drawing/2014/main" id="{C6D560D0-CF8D-08DD-2BC2-E2137C4609A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830022257"/>
                  </p:ext>
                </p:extLst>
              </p:nvPr>
            </p:nvGraphicFramePr>
            <p:xfrm>
              <a:off x="1989183" y="4444580"/>
              <a:ext cx="8125885" cy="7416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625177">
                      <a:extLst>
                        <a:ext uri="{9D8B030D-6E8A-4147-A177-3AD203B41FA5}">
                          <a16:colId xmlns:a16="http://schemas.microsoft.com/office/drawing/2014/main" val="4239761759"/>
                        </a:ext>
                      </a:extLst>
                    </a:gridCol>
                    <a:gridCol w="1625177">
                      <a:extLst>
                        <a:ext uri="{9D8B030D-6E8A-4147-A177-3AD203B41FA5}">
                          <a16:colId xmlns:a16="http://schemas.microsoft.com/office/drawing/2014/main" val="2061257628"/>
                        </a:ext>
                      </a:extLst>
                    </a:gridCol>
                    <a:gridCol w="1625177">
                      <a:extLst>
                        <a:ext uri="{9D8B030D-6E8A-4147-A177-3AD203B41FA5}">
                          <a16:colId xmlns:a16="http://schemas.microsoft.com/office/drawing/2014/main" val="556558892"/>
                        </a:ext>
                      </a:extLst>
                    </a:gridCol>
                    <a:gridCol w="1625177">
                      <a:extLst>
                        <a:ext uri="{9D8B030D-6E8A-4147-A177-3AD203B41FA5}">
                          <a16:colId xmlns:a16="http://schemas.microsoft.com/office/drawing/2014/main" val="2958263266"/>
                        </a:ext>
                      </a:extLst>
                    </a:gridCol>
                    <a:gridCol w="1625177">
                      <a:extLst>
                        <a:ext uri="{9D8B030D-6E8A-4147-A177-3AD203B41FA5}">
                          <a16:colId xmlns:a16="http://schemas.microsoft.com/office/drawing/2014/main" val="2856993790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Garamond" panose="02020404030301010803" pitchFamily="18" charset="0"/>
                            </a:rPr>
                            <a:t>Outcome</a:t>
                          </a:r>
                        </a:p>
                      </a:txBody>
                      <a:tcPr anchor="ctr">
                        <a:solidFill>
                          <a:srgbClr val="77122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Garamond" panose="02020404030301010803" pitchFamily="18" charset="0"/>
                            </a:rPr>
                            <a:t>H,H</a:t>
                          </a:r>
                        </a:p>
                      </a:txBody>
                      <a:tcPr anchor="ctr">
                        <a:solidFill>
                          <a:srgbClr val="77122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Garamond" panose="02020404030301010803" pitchFamily="18" charset="0"/>
                            </a:rPr>
                            <a:t>H,T</a:t>
                          </a:r>
                        </a:p>
                      </a:txBody>
                      <a:tcPr anchor="ctr">
                        <a:solidFill>
                          <a:srgbClr val="77122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Garamond" panose="02020404030301010803" pitchFamily="18" charset="0"/>
                            </a:rPr>
                            <a:t>T,H</a:t>
                          </a:r>
                        </a:p>
                      </a:txBody>
                      <a:tcPr anchor="ctr">
                        <a:solidFill>
                          <a:srgbClr val="77122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Garamond" panose="02020404030301010803" pitchFamily="18" charset="0"/>
                            </a:rPr>
                            <a:t>T,T</a:t>
                          </a:r>
                        </a:p>
                      </a:txBody>
                      <a:tcPr anchor="ctr">
                        <a:solidFill>
                          <a:srgbClr val="77122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3142481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r>
                                  <m:rPr>
                                    <m:nor/>
                                  </m:rPr>
                                  <a:rPr lang="en-US" altLang="zh-TW" sz="1800" i="0" dirty="0" smtClean="0">
                                    <a:latin typeface="Rockwell" panose="02060603020205020403" pitchFamily="18" charset="0"/>
                                  </a:rPr>
                                  <m:t>x</m:t>
                                </m:r>
                              </m:oMath>
                            </m:oMathPara>
                          </a14:m>
                          <a:endParaRPr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Garamond" panose="02020404030301010803" pitchFamily="18" charset="0"/>
                            </a:rPr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Garamond" panose="02020404030301010803" pitchFamily="18" charset="0"/>
                            </a:rPr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Garamond" panose="02020404030301010803" pitchFamily="18" charset="0"/>
                            </a:rPr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Garamond" panose="02020404030301010803" pitchFamily="18" charset="0"/>
                            </a:rPr>
                            <a:t>2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04301148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8" name="Table 7">
                <a:extLst>
                  <a:ext uri="{FF2B5EF4-FFF2-40B4-BE49-F238E27FC236}">
                    <a16:creationId xmlns:a16="http://schemas.microsoft.com/office/drawing/2014/main" id="{C6D560D0-CF8D-08DD-2BC2-E2137C4609A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830022257"/>
                  </p:ext>
                </p:extLst>
              </p:nvPr>
            </p:nvGraphicFramePr>
            <p:xfrm>
              <a:off x="1989183" y="4444580"/>
              <a:ext cx="8125885" cy="7416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625177">
                      <a:extLst>
                        <a:ext uri="{9D8B030D-6E8A-4147-A177-3AD203B41FA5}">
                          <a16:colId xmlns:a16="http://schemas.microsoft.com/office/drawing/2014/main" val="4239761759"/>
                        </a:ext>
                      </a:extLst>
                    </a:gridCol>
                    <a:gridCol w="1625177">
                      <a:extLst>
                        <a:ext uri="{9D8B030D-6E8A-4147-A177-3AD203B41FA5}">
                          <a16:colId xmlns:a16="http://schemas.microsoft.com/office/drawing/2014/main" val="2061257628"/>
                        </a:ext>
                      </a:extLst>
                    </a:gridCol>
                    <a:gridCol w="1625177">
                      <a:extLst>
                        <a:ext uri="{9D8B030D-6E8A-4147-A177-3AD203B41FA5}">
                          <a16:colId xmlns:a16="http://schemas.microsoft.com/office/drawing/2014/main" val="556558892"/>
                        </a:ext>
                      </a:extLst>
                    </a:gridCol>
                    <a:gridCol w="1625177">
                      <a:extLst>
                        <a:ext uri="{9D8B030D-6E8A-4147-A177-3AD203B41FA5}">
                          <a16:colId xmlns:a16="http://schemas.microsoft.com/office/drawing/2014/main" val="2958263266"/>
                        </a:ext>
                      </a:extLst>
                    </a:gridCol>
                    <a:gridCol w="1625177">
                      <a:extLst>
                        <a:ext uri="{9D8B030D-6E8A-4147-A177-3AD203B41FA5}">
                          <a16:colId xmlns:a16="http://schemas.microsoft.com/office/drawing/2014/main" val="2856993790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Garamond" panose="02020404030301010803" pitchFamily="18" charset="0"/>
                            </a:rPr>
                            <a:t>Outcome</a:t>
                          </a:r>
                        </a:p>
                      </a:txBody>
                      <a:tcPr anchor="ctr">
                        <a:solidFill>
                          <a:srgbClr val="77122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Garamond" panose="02020404030301010803" pitchFamily="18" charset="0"/>
                            </a:rPr>
                            <a:t>H,H</a:t>
                          </a:r>
                        </a:p>
                      </a:txBody>
                      <a:tcPr anchor="ctr">
                        <a:solidFill>
                          <a:srgbClr val="77122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Garamond" panose="02020404030301010803" pitchFamily="18" charset="0"/>
                            </a:rPr>
                            <a:t>H,T</a:t>
                          </a:r>
                        </a:p>
                      </a:txBody>
                      <a:tcPr anchor="ctr">
                        <a:solidFill>
                          <a:srgbClr val="77122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Garamond" panose="02020404030301010803" pitchFamily="18" charset="0"/>
                            </a:rPr>
                            <a:t>T,H</a:t>
                          </a:r>
                        </a:p>
                      </a:txBody>
                      <a:tcPr anchor="ctr">
                        <a:solidFill>
                          <a:srgbClr val="77122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Garamond" panose="02020404030301010803" pitchFamily="18" charset="0"/>
                            </a:rPr>
                            <a:t>T,T</a:t>
                          </a:r>
                        </a:p>
                      </a:txBody>
                      <a:tcPr anchor="ctr">
                        <a:solidFill>
                          <a:srgbClr val="77122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3142481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75" t="-108197" r="-401124" b="-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Garamond" panose="02020404030301010803" pitchFamily="18" charset="0"/>
                            </a:rPr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Garamond" panose="02020404030301010803" pitchFamily="18" charset="0"/>
                            </a:rPr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Garamond" panose="02020404030301010803" pitchFamily="18" charset="0"/>
                            </a:rPr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Garamond" panose="02020404030301010803" pitchFamily="18" charset="0"/>
                            </a:rPr>
                            <a:t>2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043011484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3829301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821F6E-2CE6-0CBC-9904-8FF5160568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A4FC14-193D-15F7-F4C2-26BB8A8209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199" y="1300900"/>
            <a:ext cx="11189855" cy="5081046"/>
          </a:xfrm>
        </p:spPr>
        <p:txBody>
          <a:bodyPr>
            <a:normAutofit/>
          </a:bodyPr>
          <a:lstStyle/>
          <a:p>
            <a:pPr>
              <a:spcBef>
                <a:spcPts val="1000"/>
              </a:spcBef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A </a:t>
            </a:r>
            <a:r>
              <a:rPr lang="en-US" altLang="zh-TW" sz="2400" b="1" dirty="0"/>
              <a:t>continuous random variable </a:t>
            </a:r>
            <a:r>
              <a:rPr lang="en-US" altLang="zh-TW" sz="2400" dirty="0"/>
              <a:t>is a random variable that can take any value within a range of values.</a:t>
            </a:r>
          </a:p>
          <a:p>
            <a:pPr lvl="3">
              <a:spcBef>
                <a:spcPts val="1000"/>
              </a:spcBef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1200" dirty="0"/>
          </a:p>
          <a:p>
            <a:pPr>
              <a:spcBef>
                <a:spcPts val="1000"/>
              </a:spcBef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Some examples of continuous random variables:</a:t>
            </a:r>
          </a:p>
          <a:p>
            <a:pPr lvl="1">
              <a:spcBef>
                <a:spcPts val="1000"/>
              </a:spcBef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000" dirty="0"/>
              <a:t>The time a student spends studying statistics.</a:t>
            </a:r>
          </a:p>
          <a:p>
            <a:pPr lvl="1">
              <a:spcBef>
                <a:spcPts val="1000"/>
              </a:spcBef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000" dirty="0"/>
              <a:t>The amount of water used at the local café today.</a:t>
            </a:r>
          </a:p>
          <a:p>
            <a:pPr lvl="1">
              <a:spcBef>
                <a:spcPts val="1000"/>
              </a:spcBef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000" dirty="0"/>
              <a:t>The weight of defective items in a shipment.</a:t>
            </a:r>
          </a:p>
          <a:p>
            <a:pPr lvl="4">
              <a:spcBef>
                <a:spcPts val="1000"/>
              </a:spcBef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1200" dirty="0"/>
          </a:p>
          <a:p>
            <a:pPr>
              <a:spcBef>
                <a:spcPts val="1000"/>
              </a:spcBef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We return to discuss continuous random variables in Chapter 6.</a:t>
            </a:r>
          </a:p>
          <a:p>
            <a:pPr>
              <a:spcBef>
                <a:spcPts val="1000"/>
              </a:spcBef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24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7BE069E-7BC8-79A0-BA20-B37AA1DA35E5}"/>
              </a:ext>
            </a:extLst>
          </p:cNvPr>
          <p:cNvSpPr/>
          <p:nvPr/>
        </p:nvSpPr>
        <p:spPr>
          <a:xfrm>
            <a:off x="0" y="0"/>
            <a:ext cx="12188825" cy="923636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47E4D26-6DC8-DB75-EAEB-AD3A031B5B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88825" cy="923636"/>
          </a:xfrm>
        </p:spPr>
        <p:txBody>
          <a:bodyPr>
            <a:normAutofit/>
          </a:bodyPr>
          <a:lstStyle/>
          <a:p>
            <a:pPr algn="l">
              <a:defRPr sz="4000" b="1">
                <a:solidFill>
                  <a:srgbClr val="FDB913"/>
                </a:solidFill>
                <a:latin typeface="Garamond"/>
              </a:defRPr>
            </a:pPr>
            <a:r>
              <a:rPr lang="en-US" sz="4000" dirty="0">
                <a:solidFill>
                  <a:schemeClr val="bg1"/>
                </a:solidFill>
              </a:rPr>
              <a:t>  Continuous Random Variables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3FB76CB-2B36-CDFD-ACA1-64B6BB893DA3}"/>
              </a:ext>
            </a:extLst>
          </p:cNvPr>
          <p:cNvSpPr/>
          <p:nvPr/>
        </p:nvSpPr>
        <p:spPr>
          <a:xfrm>
            <a:off x="-1" y="6503428"/>
            <a:ext cx="12188825" cy="354572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CD029D-85A8-1305-96DB-56899787C1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1" y="6503428"/>
            <a:ext cx="2895600" cy="354572"/>
          </a:xfrm>
        </p:spPr>
        <p:txBody>
          <a:bodyPr/>
          <a:lstStyle/>
          <a:p>
            <a:pPr algn="l"/>
            <a:r>
              <a:rPr lang="en-US">
                <a:solidFill>
                  <a:schemeClr val="bg1"/>
                </a:solidFill>
                <a:latin typeface="Garamond" panose="02020404030301010803" pitchFamily="18" charset="0"/>
              </a:rPr>
              <a:t>BUSN 320 Business Statistics</a:t>
            </a:r>
            <a:endParaRPr lang="en-US" dirty="0">
              <a:solidFill>
                <a:schemeClr val="bg1"/>
              </a:solidFill>
              <a:latin typeface="Garamond" panose="02020404030301010803" pitchFamily="18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F6FB0B5-6D1B-342F-BCE3-6D6B778CF4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55225" y="6503428"/>
            <a:ext cx="2133600" cy="354572"/>
          </a:xfrm>
        </p:spPr>
        <p:txBody>
          <a:bodyPr/>
          <a:lstStyle/>
          <a:p>
            <a:fld id="{C1FF6DA9-008F-8B48-92A6-B652298478BF}" type="slidenum">
              <a:rPr lang="en-US" b="1" smtClean="0">
                <a:solidFill>
                  <a:schemeClr val="bg1"/>
                </a:solidFill>
                <a:latin typeface="Garamond" panose="02020404030301010803" pitchFamily="18" charset="0"/>
              </a:rPr>
              <a:t>3</a:t>
            </a:fld>
            <a:r>
              <a:rPr lang="en-US" b="1" dirty="0">
                <a:solidFill>
                  <a:schemeClr val="bg1"/>
                </a:solidFill>
                <a:latin typeface="Garamond" panose="02020404030301010803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146810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D8CF6F-FFEE-D973-3521-6DC53916CE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0FC355-ED1A-6ED5-64BF-9CFD60D02A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199" y="1300900"/>
            <a:ext cx="11189855" cy="5081046"/>
          </a:xfrm>
        </p:spPr>
        <p:txBody>
          <a:bodyPr>
            <a:normAutofit/>
          </a:bodyPr>
          <a:lstStyle/>
          <a:p>
            <a:pPr>
              <a:spcBef>
                <a:spcPts val="1000"/>
              </a:spcBef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A </a:t>
            </a:r>
            <a:r>
              <a:rPr lang="en-US" altLang="zh-TW" sz="2400" b="1" dirty="0"/>
              <a:t>discrete random variable </a:t>
            </a:r>
            <a:r>
              <a:rPr lang="en-US" altLang="zh-TW" sz="2400" dirty="0"/>
              <a:t>is a random variable that can take on a finite number of values or a countably infinite number of values.</a:t>
            </a:r>
          </a:p>
          <a:p>
            <a:pPr lvl="1">
              <a:spcBef>
                <a:spcPts val="1000"/>
              </a:spcBef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000" dirty="0"/>
              <a:t> Discrete random variables arise from counting and can take only specific numerical values.</a:t>
            </a:r>
          </a:p>
          <a:p>
            <a:pPr lvl="3">
              <a:spcBef>
                <a:spcPts val="1000"/>
              </a:spcBef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1200" dirty="0"/>
          </a:p>
          <a:p>
            <a:pPr>
              <a:spcBef>
                <a:spcPts val="1000"/>
              </a:spcBef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Some examples of discrete random variables:</a:t>
            </a:r>
          </a:p>
          <a:p>
            <a:pPr lvl="1">
              <a:spcBef>
                <a:spcPts val="1000"/>
              </a:spcBef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000" dirty="0"/>
              <a:t>Number of students who receive an A in BUSN 320.</a:t>
            </a:r>
          </a:p>
          <a:p>
            <a:pPr lvl="1">
              <a:spcBef>
                <a:spcPts val="1000"/>
              </a:spcBef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000" dirty="0"/>
              <a:t>Number of cups of coffee sold at the local café today.</a:t>
            </a:r>
          </a:p>
          <a:p>
            <a:pPr lvl="1">
              <a:spcBef>
                <a:spcPts val="1000"/>
              </a:spcBef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000" dirty="0"/>
              <a:t>Number of defective items in a shipment.</a:t>
            </a:r>
          </a:p>
          <a:p>
            <a:pPr lvl="4">
              <a:spcBef>
                <a:spcPts val="1000"/>
              </a:spcBef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1200" dirty="0"/>
          </a:p>
          <a:p>
            <a:pPr>
              <a:spcBef>
                <a:spcPts val="1000"/>
              </a:spcBef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Since discrete random variables can take only specific values, we can assign a probability to each possible value.</a:t>
            </a:r>
          </a:p>
          <a:p>
            <a:pPr>
              <a:spcBef>
                <a:spcPts val="1000"/>
              </a:spcBef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24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B0D0BEC-A50D-C567-85B7-FD7A8E2E512A}"/>
              </a:ext>
            </a:extLst>
          </p:cNvPr>
          <p:cNvSpPr/>
          <p:nvPr/>
        </p:nvSpPr>
        <p:spPr>
          <a:xfrm>
            <a:off x="0" y="0"/>
            <a:ext cx="12188825" cy="923636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3B3C45A-39A3-F0D6-5A3A-9DB4A0D478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88825" cy="923636"/>
          </a:xfrm>
        </p:spPr>
        <p:txBody>
          <a:bodyPr>
            <a:normAutofit/>
          </a:bodyPr>
          <a:lstStyle/>
          <a:p>
            <a:pPr algn="l">
              <a:defRPr sz="4000" b="1">
                <a:solidFill>
                  <a:srgbClr val="FDB913"/>
                </a:solidFill>
                <a:latin typeface="Garamond"/>
              </a:defRPr>
            </a:pPr>
            <a:r>
              <a:rPr lang="en-US" sz="4000" dirty="0">
                <a:solidFill>
                  <a:schemeClr val="bg1"/>
                </a:solidFill>
              </a:rPr>
              <a:t>  Discrete Random Variables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68D2075-B1F0-81BC-1D38-82326D06FADD}"/>
              </a:ext>
            </a:extLst>
          </p:cNvPr>
          <p:cNvSpPr/>
          <p:nvPr/>
        </p:nvSpPr>
        <p:spPr>
          <a:xfrm>
            <a:off x="-1" y="6503428"/>
            <a:ext cx="12188825" cy="354572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763FB5-6EF6-0DB8-5819-9758F6A393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1" y="6503428"/>
            <a:ext cx="2895600" cy="354572"/>
          </a:xfrm>
        </p:spPr>
        <p:txBody>
          <a:bodyPr/>
          <a:lstStyle/>
          <a:p>
            <a:pPr algn="l"/>
            <a:r>
              <a:rPr lang="en-US">
                <a:solidFill>
                  <a:schemeClr val="bg1"/>
                </a:solidFill>
                <a:latin typeface="Garamond" panose="02020404030301010803" pitchFamily="18" charset="0"/>
              </a:rPr>
              <a:t>BUSN 320 Business Statistics</a:t>
            </a:r>
            <a:endParaRPr lang="en-US" dirty="0">
              <a:solidFill>
                <a:schemeClr val="bg1"/>
              </a:solidFill>
              <a:latin typeface="Garamond" panose="02020404030301010803" pitchFamily="18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05E7F3-15F1-7935-055C-EB1D955695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55225" y="6503428"/>
            <a:ext cx="2133600" cy="354572"/>
          </a:xfrm>
        </p:spPr>
        <p:txBody>
          <a:bodyPr/>
          <a:lstStyle/>
          <a:p>
            <a:fld id="{C1FF6DA9-008F-8B48-92A6-B652298478BF}" type="slidenum">
              <a:rPr lang="en-US" b="1" smtClean="0">
                <a:solidFill>
                  <a:schemeClr val="bg1"/>
                </a:solidFill>
                <a:latin typeface="Garamond" panose="02020404030301010803" pitchFamily="18" charset="0"/>
              </a:rPr>
              <a:t>4</a:t>
            </a:fld>
            <a:r>
              <a:rPr lang="en-US" b="1" dirty="0">
                <a:solidFill>
                  <a:schemeClr val="bg1"/>
                </a:solidFill>
                <a:latin typeface="Garamond" panose="02020404030301010803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7615336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7122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1AF7BBA-CAE5-36F2-1543-2337B66B7E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B8EE085-5BA4-E08C-5853-CB8139659B59}"/>
              </a:ext>
            </a:extLst>
          </p:cNvPr>
          <p:cNvSpPr txBox="1"/>
          <p:nvPr/>
        </p:nvSpPr>
        <p:spPr>
          <a:xfrm>
            <a:off x="0" y="3044279"/>
            <a:ext cx="12188825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DB913"/>
                </a:solidFill>
                <a:latin typeface="Garamond"/>
              </a:defRPr>
            </a:pPr>
            <a:r>
              <a:rPr lang="en-US" sz="4400" dirty="0">
                <a:solidFill>
                  <a:schemeClr val="bg1"/>
                </a:solidFill>
              </a:rPr>
              <a:t>Discrete Probability Distributions</a:t>
            </a:r>
            <a:endParaRPr sz="4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2739843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D25AB5-BEC0-A4DD-D980-D0ADAE2737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7A5A280-3D28-2885-4E5A-240D4D795DE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57199" y="1300900"/>
                <a:ext cx="11189855" cy="5081046"/>
              </a:xfrm>
            </p:spPr>
            <p:txBody>
              <a:bodyPr>
                <a:normAutofit/>
              </a:bodyPr>
              <a:lstStyle/>
              <a:p>
                <a:pPr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400" dirty="0"/>
                  <a:t>The </a:t>
                </a:r>
                <a:r>
                  <a:rPr lang="en-US" altLang="zh-TW" sz="2400" b="1" dirty="0"/>
                  <a:t>probability distribution </a:t>
                </a:r>
                <a:r>
                  <a:rPr lang="en-US" altLang="zh-TW" sz="2400" dirty="0"/>
                  <a:t>describes the probability associated with each possible value of a random variable.</a:t>
                </a:r>
              </a:p>
              <a:p>
                <a:pPr lvl="3"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1200" dirty="0"/>
              </a:p>
              <a:p>
                <a:pPr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400" dirty="0"/>
                  <a:t>Example: The probability distribution for the number of tails resulting from tossing two fair coins in succession is shown below.</a:t>
                </a:r>
              </a:p>
              <a:p>
                <a:pPr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2400" dirty="0"/>
              </a:p>
              <a:p>
                <a:pPr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2400" dirty="0"/>
              </a:p>
              <a:p>
                <a:pPr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2400" dirty="0"/>
              </a:p>
              <a:p>
                <a:pPr lvl="1"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000" dirty="0"/>
                  <a:t>Because all four outcomes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TW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𝐻</m:t>
                        </m:r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</m:d>
                    <m:r>
                      <a:rPr lang="en-US" altLang="zh-TW" sz="2000" i="1">
                        <a:latin typeface="Cambria Math" panose="02040503050406030204" pitchFamily="18" charset="0"/>
                      </a:rPr>
                      <m:t>, </m:t>
                    </m:r>
                    <m:d>
                      <m:dPr>
                        <m:ctrlPr>
                          <a:rPr lang="en-US" altLang="zh-TW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𝐻</m:t>
                        </m:r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</m:d>
                    <m:r>
                      <a:rPr lang="en-US" altLang="zh-TW" sz="2000" i="1">
                        <a:latin typeface="Cambria Math" panose="02040503050406030204" pitchFamily="18" charset="0"/>
                      </a:rPr>
                      <m:t>,</m:t>
                    </m:r>
                    <m:d>
                      <m:dPr>
                        <m:ctrlPr>
                          <a:rPr lang="en-US" altLang="zh-TW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𝑇</m:t>
                        </m:r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</m:d>
                    <m:r>
                      <a:rPr lang="en-US" altLang="zh-TW" sz="2000" i="1">
                        <a:latin typeface="Cambria Math" panose="02040503050406030204" pitchFamily="18" charset="0"/>
                      </a:rPr>
                      <m:t>,</m:t>
                    </m:r>
                    <m:d>
                      <m:dPr>
                        <m:ctrlPr>
                          <a:rPr lang="en-US" altLang="zh-TW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𝑇</m:t>
                        </m:r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</m:d>
                    <m:r>
                      <a:rPr lang="en-US" altLang="zh-TW" sz="20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zh-TW" sz="2000" dirty="0"/>
                  <a:t>are equally likely, we use the classical method of assigning probabilities.</a:t>
                </a:r>
              </a:p>
              <a:p>
                <a:pPr lvl="1"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000" dirty="0"/>
                  <a:t>When a large amount of data is available, these probabilities can be estimated using the relative frequency method.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7A5A280-3D28-2885-4E5A-240D4D795DE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199" y="1300900"/>
                <a:ext cx="11189855" cy="5081046"/>
              </a:xfrm>
              <a:blipFill>
                <a:blip r:embed="rId2"/>
                <a:stretch>
                  <a:fillRect l="-708" t="-95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85E37C33-5C0F-303C-E93E-34BC724B9730}"/>
              </a:ext>
            </a:extLst>
          </p:cNvPr>
          <p:cNvSpPr/>
          <p:nvPr/>
        </p:nvSpPr>
        <p:spPr>
          <a:xfrm>
            <a:off x="0" y="0"/>
            <a:ext cx="12188825" cy="923636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83E8F03-70D1-EEB7-62F7-1C712C9ADD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88825" cy="923636"/>
          </a:xfrm>
        </p:spPr>
        <p:txBody>
          <a:bodyPr>
            <a:normAutofit/>
          </a:bodyPr>
          <a:lstStyle/>
          <a:p>
            <a:pPr algn="l">
              <a:defRPr sz="4000" b="1">
                <a:solidFill>
                  <a:srgbClr val="FDB913"/>
                </a:solidFill>
                <a:latin typeface="Garamond"/>
              </a:defRPr>
            </a:pPr>
            <a:r>
              <a:rPr lang="en-US" sz="4000" dirty="0">
                <a:solidFill>
                  <a:schemeClr val="bg1"/>
                </a:solidFill>
              </a:rPr>
              <a:t>  Discrete Probability Distributions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8733F4A-D90F-5E39-23A4-480E15D75A1C}"/>
              </a:ext>
            </a:extLst>
          </p:cNvPr>
          <p:cNvSpPr/>
          <p:nvPr/>
        </p:nvSpPr>
        <p:spPr>
          <a:xfrm>
            <a:off x="-1" y="6503428"/>
            <a:ext cx="12188825" cy="354572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F0374B9-7AEC-37A0-1061-0EDE0CDE21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1" y="6503428"/>
            <a:ext cx="2895600" cy="354572"/>
          </a:xfrm>
        </p:spPr>
        <p:txBody>
          <a:bodyPr/>
          <a:lstStyle/>
          <a:p>
            <a:pPr algn="l"/>
            <a:r>
              <a:rPr lang="en-US">
                <a:solidFill>
                  <a:schemeClr val="bg1"/>
                </a:solidFill>
                <a:latin typeface="Garamond" panose="02020404030301010803" pitchFamily="18" charset="0"/>
              </a:rPr>
              <a:t>BUSN 320 Business Statistics</a:t>
            </a:r>
            <a:endParaRPr lang="en-US" dirty="0">
              <a:solidFill>
                <a:schemeClr val="bg1"/>
              </a:solidFill>
              <a:latin typeface="Garamond" panose="02020404030301010803" pitchFamily="18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51C074-E528-44F6-6AB6-85F1CBA5A8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55225" y="6503428"/>
            <a:ext cx="2133600" cy="354572"/>
          </a:xfrm>
        </p:spPr>
        <p:txBody>
          <a:bodyPr/>
          <a:lstStyle/>
          <a:p>
            <a:fld id="{C1FF6DA9-008F-8B48-92A6-B652298478BF}" type="slidenum">
              <a:rPr lang="en-US" b="1" smtClean="0">
                <a:solidFill>
                  <a:schemeClr val="bg1"/>
                </a:solidFill>
                <a:latin typeface="Garamond" panose="02020404030301010803" pitchFamily="18" charset="0"/>
              </a:rPr>
              <a:t>6</a:t>
            </a:fld>
            <a:r>
              <a:rPr lang="en-US" b="1" dirty="0">
                <a:solidFill>
                  <a:schemeClr val="bg1"/>
                </a:solidFill>
                <a:latin typeface="Garamond" panose="02020404030301010803" pitchFamily="18" charset="0"/>
              </a:rPr>
              <a:t>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9" name="Table 8">
                <a:extLst>
                  <a:ext uri="{FF2B5EF4-FFF2-40B4-BE49-F238E27FC236}">
                    <a16:creationId xmlns:a16="http://schemas.microsoft.com/office/drawing/2014/main" id="{9FD6BEE0-32B1-1ADB-2059-5AA9F5C2BAF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309210150"/>
                  </p:ext>
                </p:extLst>
              </p:nvPr>
            </p:nvGraphicFramePr>
            <p:xfrm>
              <a:off x="2031469" y="3310128"/>
              <a:ext cx="8125884" cy="14833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62942">
                      <a:extLst>
                        <a:ext uri="{9D8B030D-6E8A-4147-A177-3AD203B41FA5}">
                          <a16:colId xmlns:a16="http://schemas.microsoft.com/office/drawing/2014/main" val="595536492"/>
                        </a:ext>
                      </a:extLst>
                    </a:gridCol>
                    <a:gridCol w="4062942">
                      <a:extLst>
                        <a:ext uri="{9D8B030D-6E8A-4147-A177-3AD203B41FA5}">
                          <a16:colId xmlns:a16="http://schemas.microsoft.com/office/drawing/2014/main" val="919588220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r>
                                  <m:rPr>
                                    <m:nor/>
                                  </m:rPr>
                                  <a:rPr lang="en-US" altLang="zh-TW" sz="1800" b="0" i="0" dirty="0" smtClean="0">
                                    <a:latin typeface="Rockwell" panose="02060603020205020403" pitchFamily="18" charset="0"/>
                                  </a:rPr>
                                  <m:t>x</m:t>
                                </m:r>
                              </m:oMath>
                            </m:oMathPara>
                          </a14:m>
                          <a:endParaRPr b="0" dirty="0"/>
                        </a:p>
                      </a:txBody>
                      <a:tcPr anchor="ctr">
                        <a:solidFill>
                          <a:srgbClr val="77122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>
                              <a:latin typeface="Garamond" panose="02020404030301010803" pitchFamily="18" charset="0"/>
                            </a:rPr>
                            <a:t>Probability of </a:t>
                          </a:r>
                          <a14:m>
                            <m:oMath xmlns:m="http://schemas.openxmlformats.org/officeDocument/2006/math">
                              <m:r>
                                <m:rPr>
                                  <m:nor/>
                                </m:rPr>
                                <a:rPr lang="en-US" altLang="zh-TW" sz="1800" b="0" i="0" dirty="0" smtClean="0">
                                  <a:latin typeface="Rockwell" panose="02060603020205020403" pitchFamily="18" charset="0"/>
                                </a:rPr>
                                <m:t>x</m:t>
                              </m:r>
                            </m:oMath>
                          </a14:m>
                          <a:r>
                            <a:rPr lang="en-US" dirty="0">
                              <a:latin typeface="Garamond" panose="02020404030301010803" pitchFamily="18" charset="0"/>
                            </a:rPr>
                            <a:t> occuring</a:t>
                          </a:r>
                          <a:endParaRPr lang="en-US" dirty="0"/>
                        </a:p>
                      </a:txBody>
                      <a:tcPr anchor="ctr">
                        <a:solidFill>
                          <a:srgbClr val="77122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248721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Garamond" panose="02020404030301010803" pitchFamily="18" charset="0"/>
                            </a:rPr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Garamond" panose="02020404030301010803" pitchFamily="18" charset="0"/>
                            </a:rPr>
                            <a:t>1/4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14147061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Garamond" panose="02020404030301010803" pitchFamily="18" charset="0"/>
                            </a:rPr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Garamond" panose="02020404030301010803" pitchFamily="18" charset="0"/>
                            </a:rPr>
                            <a:t>1/2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09383667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Garamond" panose="02020404030301010803" pitchFamily="18" charset="0"/>
                            </a:rPr>
                            <a:t>2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Garamond" panose="02020404030301010803" pitchFamily="18" charset="0"/>
                            </a:rPr>
                            <a:t>1/4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51150840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9" name="Table 8">
                <a:extLst>
                  <a:ext uri="{FF2B5EF4-FFF2-40B4-BE49-F238E27FC236}">
                    <a16:creationId xmlns:a16="http://schemas.microsoft.com/office/drawing/2014/main" id="{9FD6BEE0-32B1-1ADB-2059-5AA9F5C2BAF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309210150"/>
                  </p:ext>
                </p:extLst>
              </p:nvPr>
            </p:nvGraphicFramePr>
            <p:xfrm>
              <a:off x="2031469" y="3310128"/>
              <a:ext cx="8125884" cy="14833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62942">
                      <a:extLst>
                        <a:ext uri="{9D8B030D-6E8A-4147-A177-3AD203B41FA5}">
                          <a16:colId xmlns:a16="http://schemas.microsoft.com/office/drawing/2014/main" val="595536492"/>
                        </a:ext>
                      </a:extLst>
                    </a:gridCol>
                    <a:gridCol w="4062942">
                      <a:extLst>
                        <a:ext uri="{9D8B030D-6E8A-4147-A177-3AD203B41FA5}">
                          <a16:colId xmlns:a16="http://schemas.microsoft.com/office/drawing/2014/main" val="919588220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50" t="-6557" r="-100600" b="-3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00150" t="-6557" r="-600" b="-32459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248721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Garamond" panose="02020404030301010803" pitchFamily="18" charset="0"/>
                            </a:rPr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Garamond" panose="02020404030301010803" pitchFamily="18" charset="0"/>
                            </a:rPr>
                            <a:t>1/4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14147061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Garamond" panose="02020404030301010803" pitchFamily="18" charset="0"/>
                            </a:rPr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Garamond" panose="02020404030301010803" pitchFamily="18" charset="0"/>
                            </a:rPr>
                            <a:t>1/2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09383667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Garamond" panose="02020404030301010803" pitchFamily="18" charset="0"/>
                            </a:rPr>
                            <a:t>2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Garamond" panose="02020404030301010803" pitchFamily="18" charset="0"/>
                            </a:rPr>
                            <a:t>1/4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511508406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42152007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7A0260-D6A7-8A36-30A8-695C960850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223F57-E738-A586-06C6-98EC714A9B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199" y="1300900"/>
            <a:ext cx="11189855" cy="5081046"/>
          </a:xfrm>
        </p:spPr>
        <p:txBody>
          <a:bodyPr>
            <a:normAutofit/>
          </a:bodyPr>
          <a:lstStyle/>
          <a:p>
            <a:pPr>
              <a:spcBef>
                <a:spcPts val="1000"/>
              </a:spcBef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An </a:t>
            </a:r>
            <a:r>
              <a:rPr lang="en-US" altLang="zh-TW" sz="2400" b="1" dirty="0"/>
              <a:t>empirical discrete distribution </a:t>
            </a:r>
            <a:r>
              <a:rPr lang="en-US" altLang="zh-TW" sz="2400" dirty="0"/>
              <a:t>is obtained by estimating probabilities from observed data using the relative frequency method.</a:t>
            </a:r>
          </a:p>
          <a:p>
            <a:pPr lvl="3">
              <a:spcBef>
                <a:spcPts val="1000"/>
              </a:spcBef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1200" dirty="0"/>
          </a:p>
          <a:p>
            <a:pPr>
              <a:spcBef>
                <a:spcPts val="1000"/>
              </a:spcBef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Example: Daily flight cancellations at Chicago O’Hare International Airport (ORD).</a:t>
            </a:r>
          </a:p>
          <a:p>
            <a:pPr lvl="1">
              <a:spcBef>
                <a:spcPts val="1000"/>
              </a:spcBef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2000" dirty="0"/>
          </a:p>
          <a:p>
            <a:pPr>
              <a:spcBef>
                <a:spcPts val="1000"/>
              </a:spcBef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24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52BA02B-5D4A-E753-FA89-B357E1BFB357}"/>
              </a:ext>
            </a:extLst>
          </p:cNvPr>
          <p:cNvSpPr/>
          <p:nvPr/>
        </p:nvSpPr>
        <p:spPr>
          <a:xfrm>
            <a:off x="0" y="0"/>
            <a:ext cx="12188825" cy="923636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0D1A6F3-0050-2047-89A9-70FD8C622F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88825" cy="923636"/>
          </a:xfrm>
        </p:spPr>
        <p:txBody>
          <a:bodyPr>
            <a:normAutofit/>
          </a:bodyPr>
          <a:lstStyle/>
          <a:p>
            <a:pPr algn="l">
              <a:defRPr sz="4000" b="1">
                <a:solidFill>
                  <a:srgbClr val="FDB913"/>
                </a:solidFill>
                <a:latin typeface="Garamond"/>
              </a:defRPr>
            </a:pPr>
            <a:r>
              <a:rPr lang="en-US" sz="4000" dirty="0">
                <a:solidFill>
                  <a:schemeClr val="bg1"/>
                </a:solidFill>
              </a:rPr>
              <a:t>  Empirical Probability Distributions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DEA6857-8C8C-26E4-FB59-85810ACB542A}"/>
              </a:ext>
            </a:extLst>
          </p:cNvPr>
          <p:cNvSpPr/>
          <p:nvPr/>
        </p:nvSpPr>
        <p:spPr>
          <a:xfrm>
            <a:off x="-1" y="6503428"/>
            <a:ext cx="12188825" cy="354572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EFFD8FB-6A7E-CDBE-C028-A810B8F8E1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1" y="6503428"/>
            <a:ext cx="2895600" cy="354572"/>
          </a:xfrm>
        </p:spPr>
        <p:txBody>
          <a:bodyPr/>
          <a:lstStyle/>
          <a:p>
            <a:pPr algn="l"/>
            <a:r>
              <a:rPr lang="en-US">
                <a:solidFill>
                  <a:schemeClr val="bg1"/>
                </a:solidFill>
                <a:latin typeface="Garamond" panose="02020404030301010803" pitchFamily="18" charset="0"/>
              </a:rPr>
              <a:t>BUSN 320 Business Statistics</a:t>
            </a:r>
            <a:endParaRPr lang="en-US" dirty="0">
              <a:solidFill>
                <a:schemeClr val="bg1"/>
              </a:solidFill>
              <a:latin typeface="Garamond" panose="02020404030301010803" pitchFamily="18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F81BC88-7146-0DB0-B21F-3622F9D49D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55225" y="6503428"/>
            <a:ext cx="2133600" cy="354572"/>
          </a:xfrm>
        </p:spPr>
        <p:txBody>
          <a:bodyPr/>
          <a:lstStyle/>
          <a:p>
            <a:fld id="{C1FF6DA9-008F-8B48-92A6-B652298478BF}" type="slidenum">
              <a:rPr lang="en-US" b="1" smtClean="0">
                <a:solidFill>
                  <a:schemeClr val="bg1"/>
                </a:solidFill>
                <a:latin typeface="Garamond" panose="02020404030301010803" pitchFamily="18" charset="0"/>
              </a:rPr>
              <a:t>7</a:t>
            </a:fld>
            <a:r>
              <a:rPr lang="en-US" b="1" dirty="0">
                <a:solidFill>
                  <a:schemeClr val="bg1"/>
                </a:solidFill>
                <a:latin typeface="Garamond" panose="02020404030301010803" pitchFamily="18" charset="0"/>
              </a:rPr>
              <a:t>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8" name="Table 7">
                <a:extLst>
                  <a:ext uri="{FF2B5EF4-FFF2-40B4-BE49-F238E27FC236}">
                    <a16:creationId xmlns:a16="http://schemas.microsoft.com/office/drawing/2014/main" id="{CAC1EE2B-8D71-75BE-DBFC-33353DEBEB4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226774934"/>
                  </p:ext>
                </p:extLst>
              </p:nvPr>
            </p:nvGraphicFramePr>
            <p:xfrm>
              <a:off x="1016486" y="3004368"/>
              <a:ext cx="9581409" cy="25958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193803">
                      <a:extLst>
                        <a:ext uri="{9D8B030D-6E8A-4147-A177-3AD203B41FA5}">
                          <a16:colId xmlns:a16="http://schemas.microsoft.com/office/drawing/2014/main" val="3269318500"/>
                        </a:ext>
                      </a:extLst>
                    </a:gridCol>
                    <a:gridCol w="3193803">
                      <a:extLst>
                        <a:ext uri="{9D8B030D-6E8A-4147-A177-3AD203B41FA5}">
                          <a16:colId xmlns:a16="http://schemas.microsoft.com/office/drawing/2014/main" val="1084937839"/>
                        </a:ext>
                      </a:extLst>
                    </a:gridCol>
                    <a:gridCol w="3193803">
                      <a:extLst>
                        <a:ext uri="{9D8B030D-6E8A-4147-A177-3AD203B41FA5}">
                          <a16:colId xmlns:a16="http://schemas.microsoft.com/office/drawing/2014/main" val="4200844973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Garamond" panose="02020404030301010803" pitchFamily="18" charset="0"/>
                            </a:rPr>
                            <a:t>Number of Cancellations </a:t>
                          </a:r>
                          <a14:m>
                            <m:oMath xmlns:m="http://schemas.openxmlformats.org/officeDocument/2006/math">
                              <m:r>
                                <a:rPr lang="en-US" i="1" dirty="0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m:rPr>
                                  <m:nor/>
                                </m:rPr>
                                <a:rPr lang="en-US" altLang="zh-TW" sz="1800" b="0" i="0" dirty="0" smtClean="0">
                                  <a:latin typeface="Rockwell" panose="02060603020205020403" pitchFamily="18" charset="0"/>
                                </a:rPr>
                                <m:t>x</m:t>
                              </m:r>
                              <m:r>
                                <a:rPr lang="en-US" i="1" dirty="0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oMath>
                          </a14:m>
                          <a:endParaRPr lang="en-US" dirty="0">
                            <a:latin typeface="Garamond" panose="02020404030301010803" pitchFamily="18" charset="0"/>
                          </a:endParaRPr>
                        </a:p>
                      </a:txBody>
                      <a:tcPr anchor="ctr">
                        <a:solidFill>
                          <a:srgbClr val="77122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Garamond" panose="02020404030301010803" pitchFamily="18" charset="0"/>
                            </a:rPr>
                            <a:t>Number of Occurrences</a:t>
                          </a:r>
                        </a:p>
                      </a:txBody>
                      <a:tcPr anchor="ctr">
                        <a:solidFill>
                          <a:srgbClr val="77122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>
                              <a:latin typeface="Garamond" panose="02020404030301010803" pitchFamily="18" charset="0"/>
                            </a:rPr>
                            <a:t>Estimated Probability of </a:t>
                          </a:r>
                          <a:r>
                            <a:rPr lang="en-US" altLang="zh-TW" sz="1800" b="0" dirty="0">
                              <a:latin typeface="Rockwell" panose="02060603020205020403" pitchFamily="18" charset="0"/>
                            </a:rPr>
                            <a:t>x</a:t>
                          </a:r>
                          <a:endParaRPr lang="en-US" b="0" dirty="0"/>
                        </a:p>
                      </a:txBody>
                      <a:tcPr anchor="ctr">
                        <a:solidFill>
                          <a:srgbClr val="77122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28335293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Garamond" panose="02020404030301010803" pitchFamily="18" charset="0"/>
                            </a:rPr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Garamond" panose="02020404030301010803" pitchFamily="18" charset="0"/>
                            </a:rPr>
                            <a:t>7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>
                              <a:latin typeface="Garamond" panose="02020404030301010803" pitchFamily="18" charset="0"/>
                            </a:rPr>
                            <a:t>7/30 ≈ 0.23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86434689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Garamond" panose="02020404030301010803" pitchFamily="18" charset="0"/>
                            </a:rPr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Garamond" panose="02020404030301010803" pitchFamily="18" charset="0"/>
                            </a:rPr>
                            <a:t>8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>
                              <a:latin typeface="Garamond" panose="02020404030301010803" pitchFamily="18" charset="0"/>
                            </a:rPr>
                            <a:t>8/30 ≈ 0.27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7368346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Garamond" panose="02020404030301010803" pitchFamily="18" charset="0"/>
                            </a:rPr>
                            <a:t>2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Garamond" panose="02020404030301010803" pitchFamily="18" charset="0"/>
                            </a:rPr>
                            <a:t>7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Garamond" panose="02020404030301010803" pitchFamily="18" charset="0"/>
                            </a:rPr>
                            <a:t>7/30 ≈ 0.23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28412386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Garamond" panose="02020404030301010803" pitchFamily="18" charset="0"/>
                            </a:rPr>
                            <a:t>3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Garamond" panose="02020404030301010803" pitchFamily="18" charset="0"/>
                            </a:rPr>
                            <a:t>5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Garamond" panose="02020404030301010803" pitchFamily="18" charset="0"/>
                            </a:rPr>
                            <a:t>5/30 ≈ 0.17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49561823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Garamond" panose="02020404030301010803" pitchFamily="18" charset="0"/>
                            </a:rPr>
                            <a:t>4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Garamond" panose="02020404030301010803" pitchFamily="18" charset="0"/>
                            </a:rPr>
                            <a:t>3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Garamond" panose="02020404030301010803" pitchFamily="18" charset="0"/>
                            </a:rPr>
                            <a:t>3/30 = 0.10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42584031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Garamond" panose="02020404030301010803" pitchFamily="18" charset="0"/>
                            </a:rPr>
                            <a:t>Total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Garamond" panose="02020404030301010803" pitchFamily="18" charset="0"/>
                            </a:rPr>
                            <a:t>30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Garamond" panose="02020404030301010803" pitchFamily="18" charset="0"/>
                            </a:rPr>
                            <a:t>1.00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55062058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8" name="Table 7">
                <a:extLst>
                  <a:ext uri="{FF2B5EF4-FFF2-40B4-BE49-F238E27FC236}">
                    <a16:creationId xmlns:a16="http://schemas.microsoft.com/office/drawing/2014/main" id="{CAC1EE2B-8D71-75BE-DBFC-33353DEBEB4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226774934"/>
                  </p:ext>
                </p:extLst>
              </p:nvPr>
            </p:nvGraphicFramePr>
            <p:xfrm>
              <a:off x="1016486" y="3004368"/>
              <a:ext cx="9581409" cy="25958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193803">
                      <a:extLst>
                        <a:ext uri="{9D8B030D-6E8A-4147-A177-3AD203B41FA5}">
                          <a16:colId xmlns:a16="http://schemas.microsoft.com/office/drawing/2014/main" val="3269318500"/>
                        </a:ext>
                      </a:extLst>
                    </a:gridCol>
                    <a:gridCol w="3193803">
                      <a:extLst>
                        <a:ext uri="{9D8B030D-6E8A-4147-A177-3AD203B41FA5}">
                          <a16:colId xmlns:a16="http://schemas.microsoft.com/office/drawing/2014/main" val="1084937839"/>
                        </a:ext>
                      </a:extLst>
                    </a:gridCol>
                    <a:gridCol w="3193803">
                      <a:extLst>
                        <a:ext uri="{9D8B030D-6E8A-4147-A177-3AD203B41FA5}">
                          <a16:colId xmlns:a16="http://schemas.microsoft.com/office/drawing/2014/main" val="4200844973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91" t="-8197" r="-200954" b="-6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Garamond" panose="02020404030301010803" pitchFamily="18" charset="0"/>
                            </a:rPr>
                            <a:t>Number of Occurrences</a:t>
                          </a:r>
                        </a:p>
                      </a:txBody>
                      <a:tcPr anchor="ctr">
                        <a:solidFill>
                          <a:srgbClr val="77122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>
                              <a:latin typeface="Garamond" panose="02020404030301010803" pitchFamily="18" charset="0"/>
                            </a:rPr>
                            <a:t>Estimated Probability of </a:t>
                          </a:r>
                          <a:r>
                            <a:rPr lang="en-US" altLang="zh-TW" sz="1800" b="0" dirty="0">
                              <a:latin typeface="Rockwell" panose="02060603020205020403" pitchFamily="18" charset="0"/>
                            </a:rPr>
                            <a:t>x</a:t>
                          </a:r>
                          <a:endParaRPr lang="en-US" b="0" dirty="0"/>
                        </a:p>
                      </a:txBody>
                      <a:tcPr anchor="ctr">
                        <a:solidFill>
                          <a:srgbClr val="77122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28335293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Garamond" panose="02020404030301010803" pitchFamily="18" charset="0"/>
                            </a:rPr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Garamond" panose="02020404030301010803" pitchFamily="18" charset="0"/>
                            </a:rPr>
                            <a:t>7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>
                              <a:latin typeface="Garamond" panose="02020404030301010803" pitchFamily="18" charset="0"/>
                            </a:rPr>
                            <a:t>7/30 ≈ 0.23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86434689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Garamond" panose="02020404030301010803" pitchFamily="18" charset="0"/>
                            </a:rPr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Garamond" panose="02020404030301010803" pitchFamily="18" charset="0"/>
                            </a:rPr>
                            <a:t>8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>
                              <a:latin typeface="Garamond" panose="02020404030301010803" pitchFamily="18" charset="0"/>
                            </a:rPr>
                            <a:t>8/30 ≈ 0.27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7368346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Garamond" panose="02020404030301010803" pitchFamily="18" charset="0"/>
                            </a:rPr>
                            <a:t>2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Garamond" panose="02020404030301010803" pitchFamily="18" charset="0"/>
                            </a:rPr>
                            <a:t>7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Garamond" panose="02020404030301010803" pitchFamily="18" charset="0"/>
                            </a:rPr>
                            <a:t>7/30 ≈ 0.23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28412386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Garamond" panose="02020404030301010803" pitchFamily="18" charset="0"/>
                            </a:rPr>
                            <a:t>3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Garamond" panose="02020404030301010803" pitchFamily="18" charset="0"/>
                            </a:rPr>
                            <a:t>5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Garamond" panose="02020404030301010803" pitchFamily="18" charset="0"/>
                            </a:rPr>
                            <a:t>5/30 ≈ 0.17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49561823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Garamond" panose="02020404030301010803" pitchFamily="18" charset="0"/>
                            </a:rPr>
                            <a:t>4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Garamond" panose="02020404030301010803" pitchFamily="18" charset="0"/>
                            </a:rPr>
                            <a:t>3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Garamond" panose="02020404030301010803" pitchFamily="18" charset="0"/>
                            </a:rPr>
                            <a:t>3/30 = 0.10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42584031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Garamond" panose="02020404030301010803" pitchFamily="18" charset="0"/>
                            </a:rPr>
                            <a:t>Total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Garamond" panose="02020404030301010803" pitchFamily="18" charset="0"/>
                            </a:rPr>
                            <a:t>30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Garamond" panose="02020404030301010803" pitchFamily="18" charset="0"/>
                            </a:rPr>
                            <a:t>1.00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550620581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42441592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33AE6A-5C49-9B94-ACDA-42C52C7583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EC60B6C-2726-B812-A8C8-C6A1B37232F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57199" y="1300900"/>
                <a:ext cx="11274553" cy="5081046"/>
              </a:xfrm>
            </p:spPr>
            <p:txBody>
              <a:bodyPr>
                <a:normAutofit/>
              </a:bodyPr>
              <a:lstStyle/>
              <a:p>
                <a:pPr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400" dirty="0"/>
                  <a:t>A </a:t>
                </a:r>
                <a:r>
                  <a:rPr lang="en-US" altLang="zh-TW" sz="2400" b="1" dirty="0"/>
                  <a:t>probability mass function</a:t>
                </a:r>
                <a:r>
                  <a:rPr lang="en-US" altLang="zh-TW" sz="2400" dirty="0"/>
                  <a:t>, denoted by </a:t>
                </a:r>
                <a14:m>
                  <m:oMath xmlns:m="http://schemas.openxmlformats.org/officeDocument/2006/math">
                    <m:r>
                      <a:rPr lang="en-US" altLang="zh-TW" sz="2400" b="0" i="1" dirty="0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altLang="zh-TW" sz="2400" b="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nor/>
                      </m:rPr>
                      <a:rPr lang="en-US" altLang="zh-TW" sz="2400" i="0" dirty="0">
                        <a:latin typeface="Rockwell" panose="02060603020205020403" pitchFamily="18" charset="0"/>
                      </a:rPr>
                      <m:t>x</m:t>
                    </m:r>
                    <m:r>
                      <a:rPr lang="en-US" altLang="zh-TW" sz="2400" b="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TW" sz="2400" dirty="0"/>
                  <a:t>,</a:t>
                </a:r>
                <a:r>
                  <a:rPr lang="en-US" altLang="zh-TW" sz="2400" b="1" dirty="0"/>
                  <a:t> </a:t>
                </a:r>
                <a:r>
                  <a:rPr lang="en-US" altLang="zh-TW" sz="2400" dirty="0"/>
                  <a:t>for a discrete random variable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altLang="zh-TW" sz="2400" b="0" i="0" dirty="0" smtClean="0">
                        <a:latin typeface="Rockwell" panose="02060603020205020403" pitchFamily="18" charset="0"/>
                      </a:rPr>
                      <m:t>X</m:t>
                    </m:r>
                  </m:oMath>
                </a14:m>
                <a:r>
                  <a:rPr lang="en-US" altLang="zh-TW" sz="2400" dirty="0"/>
                  <a:t> gives the probability associated with each value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altLang="zh-TW" sz="2400" i="0" dirty="0">
                        <a:latin typeface="Rockwell" panose="02060603020205020403" pitchFamily="18" charset="0"/>
                      </a:rPr>
                      <m:t>x</m:t>
                    </m:r>
                  </m:oMath>
                </a14:m>
                <a:r>
                  <a:rPr lang="en-US" altLang="zh-TW" sz="2400" dirty="0"/>
                  <a:t> of the random variable.</a:t>
                </a:r>
              </a:p>
              <a:p>
                <a:pPr lvl="3"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1200" dirty="0"/>
              </a:p>
              <a:p>
                <a:pPr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400" dirty="0"/>
                  <a:t>Requirements for a discrete probability function:</a:t>
                </a:r>
              </a:p>
              <a:p>
                <a:pPr lvl="3"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1200" dirty="0"/>
              </a:p>
              <a:p>
                <a:pPr lvl="3"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1200" dirty="0"/>
              </a:p>
              <a:p>
                <a:pPr lvl="3"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1200" dirty="0"/>
              </a:p>
              <a:p>
                <a:pPr lvl="3"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1200" dirty="0"/>
              </a:p>
              <a:p>
                <a:pPr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400" dirty="0"/>
                  <a:t>Example: The random experiment of tossing two fair coins in succession.</a:t>
                </a:r>
              </a:p>
              <a:p>
                <a:pPr lvl="1"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altLang="zh-TW" sz="2000" i="0" dirty="0" smtClean="0">
                        <a:latin typeface="Rockwell" panose="02060603020205020403" pitchFamily="18" charset="0"/>
                      </a:rPr>
                      <m:t>x</m:t>
                    </m:r>
                  </m:oMath>
                </a14:m>
                <a:r>
                  <a:rPr lang="en-US" dirty="0"/>
                  <a:t> is the number of tails observed, and </a:t>
                </a:r>
                <a14:m>
                  <m:oMath xmlns:m="http://schemas.openxmlformats.org/officeDocument/2006/math">
                    <m:r>
                      <a:rPr lang="en-US" altLang="zh-TW" sz="2000" i="1" dirty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altLang="zh-TW" sz="2000" i="0" dirty="0">
                            <a:latin typeface="Rockwell" panose="02060603020205020403" pitchFamily="18" charset="0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en-US" altLang="zh-TW" sz="2000" i="0" dirty="0">
                            <a:latin typeface="Rockwell" panose="02060603020205020403" pitchFamily="18" charset="0"/>
                          </a:rPr>
                          <m:t>x</m:t>
                        </m:r>
                      </m:e>
                    </m:d>
                  </m:oMath>
                </a14:m>
                <a:r>
                  <a:rPr lang="en-US" dirty="0"/>
                  <a:t> is the probability that the random variable takes the value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altLang="zh-TW" sz="2000" i="0" dirty="0">
                        <a:latin typeface="Rockwell" panose="02060603020205020403" pitchFamily="18" charset="0"/>
                      </a:rPr>
                      <m:t>x</m:t>
                    </m:r>
                  </m:oMath>
                </a14:m>
                <a:r>
                  <a:rPr lang="en-US" dirty="0"/>
                  <a:t>.</a:t>
                </a:r>
              </a:p>
              <a:p>
                <a:pPr lvl="1"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20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EC60B6C-2726-B812-A8C8-C6A1B37232F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199" y="1300900"/>
                <a:ext cx="11274553" cy="5081046"/>
              </a:xfrm>
              <a:blipFill>
                <a:blip r:embed="rId2"/>
                <a:stretch>
                  <a:fillRect l="-703" t="-95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84F34DBD-F1C0-DD88-7BBC-AA247B2492CE}"/>
              </a:ext>
            </a:extLst>
          </p:cNvPr>
          <p:cNvSpPr/>
          <p:nvPr/>
        </p:nvSpPr>
        <p:spPr>
          <a:xfrm>
            <a:off x="0" y="0"/>
            <a:ext cx="12188825" cy="923636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D3FC242-0E12-C59E-C66C-65299F1C38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88825" cy="923636"/>
          </a:xfrm>
        </p:spPr>
        <p:txBody>
          <a:bodyPr>
            <a:normAutofit/>
          </a:bodyPr>
          <a:lstStyle/>
          <a:p>
            <a:pPr algn="l">
              <a:defRPr sz="4000" b="1">
                <a:solidFill>
                  <a:srgbClr val="FDB913"/>
                </a:solidFill>
                <a:latin typeface="Garamond"/>
              </a:defRPr>
            </a:pPr>
            <a:r>
              <a:rPr lang="en-US" sz="4000" dirty="0">
                <a:solidFill>
                  <a:schemeClr val="bg1"/>
                </a:solidFill>
              </a:rPr>
              <a:t>  Discrete Probability Functions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8955DB9-71AC-8881-F87D-ABCC7FD62B9D}"/>
              </a:ext>
            </a:extLst>
          </p:cNvPr>
          <p:cNvSpPr/>
          <p:nvPr/>
        </p:nvSpPr>
        <p:spPr>
          <a:xfrm>
            <a:off x="-1" y="6503428"/>
            <a:ext cx="12188825" cy="354572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D47B3C5-0908-AB54-FC94-860445CAB9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1" y="6503428"/>
            <a:ext cx="2895600" cy="354572"/>
          </a:xfrm>
        </p:spPr>
        <p:txBody>
          <a:bodyPr/>
          <a:lstStyle/>
          <a:p>
            <a:pPr algn="l"/>
            <a:r>
              <a:rPr lang="en-US">
                <a:solidFill>
                  <a:schemeClr val="bg1"/>
                </a:solidFill>
                <a:latin typeface="Garamond" panose="02020404030301010803" pitchFamily="18" charset="0"/>
              </a:rPr>
              <a:t>BUSN 320 Business Statistics</a:t>
            </a:r>
            <a:endParaRPr lang="en-US" dirty="0">
              <a:solidFill>
                <a:schemeClr val="bg1"/>
              </a:solidFill>
              <a:latin typeface="Garamond" panose="02020404030301010803" pitchFamily="18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FBFFC11-6D3F-4048-8348-A7600C9634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55225" y="6503428"/>
            <a:ext cx="2133600" cy="354572"/>
          </a:xfrm>
        </p:spPr>
        <p:txBody>
          <a:bodyPr/>
          <a:lstStyle/>
          <a:p>
            <a:fld id="{C1FF6DA9-008F-8B48-92A6-B652298478BF}" type="slidenum">
              <a:rPr lang="en-US" b="1" smtClean="0">
                <a:solidFill>
                  <a:schemeClr val="bg1"/>
                </a:solidFill>
                <a:latin typeface="Garamond" panose="02020404030301010803" pitchFamily="18" charset="0"/>
              </a:rPr>
              <a:t>8</a:t>
            </a:fld>
            <a:r>
              <a:rPr lang="en-US" b="1" dirty="0">
                <a:solidFill>
                  <a:schemeClr val="bg1"/>
                </a:solidFill>
                <a:latin typeface="Garamond" panose="02020404030301010803" pitchFamily="18" charset="0"/>
              </a:rPr>
              <a:t>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8" name="Table 7">
                <a:extLst>
                  <a:ext uri="{FF2B5EF4-FFF2-40B4-BE49-F238E27FC236}">
                    <a16:creationId xmlns:a16="http://schemas.microsoft.com/office/drawing/2014/main" id="{9B8D6E7D-AE50-9506-0776-85562F58758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822668889"/>
                  </p:ext>
                </p:extLst>
              </p:nvPr>
            </p:nvGraphicFramePr>
            <p:xfrm>
              <a:off x="1989183" y="5102948"/>
              <a:ext cx="8125885" cy="11125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625177">
                      <a:extLst>
                        <a:ext uri="{9D8B030D-6E8A-4147-A177-3AD203B41FA5}">
                          <a16:colId xmlns:a16="http://schemas.microsoft.com/office/drawing/2014/main" val="4239761759"/>
                        </a:ext>
                      </a:extLst>
                    </a:gridCol>
                    <a:gridCol w="1625177">
                      <a:extLst>
                        <a:ext uri="{9D8B030D-6E8A-4147-A177-3AD203B41FA5}">
                          <a16:colId xmlns:a16="http://schemas.microsoft.com/office/drawing/2014/main" val="2061257628"/>
                        </a:ext>
                      </a:extLst>
                    </a:gridCol>
                    <a:gridCol w="1625177">
                      <a:extLst>
                        <a:ext uri="{9D8B030D-6E8A-4147-A177-3AD203B41FA5}">
                          <a16:colId xmlns:a16="http://schemas.microsoft.com/office/drawing/2014/main" val="556558892"/>
                        </a:ext>
                      </a:extLst>
                    </a:gridCol>
                    <a:gridCol w="1625177">
                      <a:extLst>
                        <a:ext uri="{9D8B030D-6E8A-4147-A177-3AD203B41FA5}">
                          <a16:colId xmlns:a16="http://schemas.microsoft.com/office/drawing/2014/main" val="2958263266"/>
                        </a:ext>
                      </a:extLst>
                    </a:gridCol>
                    <a:gridCol w="1625177">
                      <a:extLst>
                        <a:ext uri="{9D8B030D-6E8A-4147-A177-3AD203B41FA5}">
                          <a16:colId xmlns:a16="http://schemas.microsoft.com/office/drawing/2014/main" val="2856993790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Garamond" panose="02020404030301010803" pitchFamily="18" charset="0"/>
                            </a:rPr>
                            <a:t>Outcome</a:t>
                          </a:r>
                        </a:p>
                      </a:txBody>
                      <a:tcPr anchor="ctr">
                        <a:solidFill>
                          <a:srgbClr val="77122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Garamond" panose="02020404030301010803" pitchFamily="18" charset="0"/>
                            </a:rPr>
                            <a:t>H,H</a:t>
                          </a:r>
                        </a:p>
                      </a:txBody>
                      <a:tcPr anchor="ctr">
                        <a:solidFill>
                          <a:srgbClr val="77122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Garamond" panose="02020404030301010803" pitchFamily="18" charset="0"/>
                            </a:rPr>
                            <a:t>H,T</a:t>
                          </a:r>
                        </a:p>
                      </a:txBody>
                      <a:tcPr anchor="ctr">
                        <a:solidFill>
                          <a:srgbClr val="77122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Garamond" panose="02020404030301010803" pitchFamily="18" charset="0"/>
                            </a:rPr>
                            <a:t>T,H</a:t>
                          </a:r>
                        </a:p>
                      </a:txBody>
                      <a:tcPr anchor="ctr">
                        <a:solidFill>
                          <a:srgbClr val="77122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Garamond" panose="02020404030301010803" pitchFamily="18" charset="0"/>
                            </a:rPr>
                            <a:t>T,T</a:t>
                          </a:r>
                        </a:p>
                      </a:txBody>
                      <a:tcPr anchor="ctr">
                        <a:solidFill>
                          <a:srgbClr val="77122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3142481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oMath>
                            </m:oMathPara>
                          </a14:m>
                          <a:endParaRPr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Garamond" panose="02020404030301010803" pitchFamily="18" charset="0"/>
                            </a:rPr>
                            <a:t>0</a:t>
                          </a:r>
                        </a:p>
                      </a:txBody>
                      <a:tcPr anchor="ctr"/>
                    </a:tc>
                    <a:tc gridSpan="2"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Garamond" panose="02020404030301010803" pitchFamily="18" charset="0"/>
                            </a:rPr>
                            <a:t>1</a:t>
                          </a:r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endParaRPr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Garamond" panose="02020404030301010803" pitchFamily="18" charset="0"/>
                            </a:rPr>
                            <a:t>2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04301148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en-US" altLang="zh-TW" sz="1800" b="0" i="1" dirty="0" smtClean="0"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  <m:r>
                                  <a:rPr lang="en-US" altLang="zh-TW" sz="1800" b="0" i="1" dirty="0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1800" i="0" dirty="0">
                                    <a:latin typeface="Rockwell" panose="02060603020205020403" pitchFamily="18" charset="0"/>
                                  </a:rPr>
                                  <m:t>x</m:t>
                                </m:r>
                                <m:r>
                                  <a:rPr lang="en-US" altLang="zh-TW" sz="1800" b="0" i="1" dirty="0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Garamond" panose="02020404030301010803" pitchFamily="18" charset="0"/>
                            </a:rPr>
                            <a:t>0.25</a:t>
                          </a:r>
                        </a:p>
                      </a:txBody>
                      <a:tcPr anchor="ctr"/>
                    </a:tc>
                    <a:tc gridSpan="2"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Garamond" panose="02020404030301010803" pitchFamily="18" charset="0"/>
                            </a:rPr>
                            <a:t>0.5</a:t>
                          </a:r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dirty="0">
                            <a:latin typeface="Garamond" panose="02020404030301010803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Garamond" panose="02020404030301010803" pitchFamily="18" charset="0"/>
                            </a:rPr>
                            <a:t>0.25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95889735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8" name="Table 7">
                <a:extLst>
                  <a:ext uri="{FF2B5EF4-FFF2-40B4-BE49-F238E27FC236}">
                    <a16:creationId xmlns:a16="http://schemas.microsoft.com/office/drawing/2014/main" id="{9B8D6E7D-AE50-9506-0776-85562F58758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822668889"/>
                  </p:ext>
                </p:extLst>
              </p:nvPr>
            </p:nvGraphicFramePr>
            <p:xfrm>
              <a:off x="1989183" y="5102948"/>
              <a:ext cx="8125885" cy="11125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625177">
                      <a:extLst>
                        <a:ext uri="{9D8B030D-6E8A-4147-A177-3AD203B41FA5}">
                          <a16:colId xmlns:a16="http://schemas.microsoft.com/office/drawing/2014/main" val="4239761759"/>
                        </a:ext>
                      </a:extLst>
                    </a:gridCol>
                    <a:gridCol w="1625177">
                      <a:extLst>
                        <a:ext uri="{9D8B030D-6E8A-4147-A177-3AD203B41FA5}">
                          <a16:colId xmlns:a16="http://schemas.microsoft.com/office/drawing/2014/main" val="2061257628"/>
                        </a:ext>
                      </a:extLst>
                    </a:gridCol>
                    <a:gridCol w="1625177">
                      <a:extLst>
                        <a:ext uri="{9D8B030D-6E8A-4147-A177-3AD203B41FA5}">
                          <a16:colId xmlns:a16="http://schemas.microsoft.com/office/drawing/2014/main" val="556558892"/>
                        </a:ext>
                      </a:extLst>
                    </a:gridCol>
                    <a:gridCol w="1625177">
                      <a:extLst>
                        <a:ext uri="{9D8B030D-6E8A-4147-A177-3AD203B41FA5}">
                          <a16:colId xmlns:a16="http://schemas.microsoft.com/office/drawing/2014/main" val="2958263266"/>
                        </a:ext>
                      </a:extLst>
                    </a:gridCol>
                    <a:gridCol w="1625177">
                      <a:extLst>
                        <a:ext uri="{9D8B030D-6E8A-4147-A177-3AD203B41FA5}">
                          <a16:colId xmlns:a16="http://schemas.microsoft.com/office/drawing/2014/main" val="2856993790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Garamond" panose="02020404030301010803" pitchFamily="18" charset="0"/>
                            </a:rPr>
                            <a:t>Outcome</a:t>
                          </a:r>
                        </a:p>
                      </a:txBody>
                      <a:tcPr anchor="ctr">
                        <a:solidFill>
                          <a:srgbClr val="77122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Garamond" panose="02020404030301010803" pitchFamily="18" charset="0"/>
                            </a:rPr>
                            <a:t>H,H</a:t>
                          </a:r>
                        </a:p>
                      </a:txBody>
                      <a:tcPr anchor="ctr">
                        <a:solidFill>
                          <a:srgbClr val="77122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Garamond" panose="02020404030301010803" pitchFamily="18" charset="0"/>
                            </a:rPr>
                            <a:t>H,T</a:t>
                          </a:r>
                        </a:p>
                      </a:txBody>
                      <a:tcPr anchor="ctr">
                        <a:solidFill>
                          <a:srgbClr val="77122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Garamond" panose="02020404030301010803" pitchFamily="18" charset="0"/>
                            </a:rPr>
                            <a:t>T,H</a:t>
                          </a:r>
                        </a:p>
                      </a:txBody>
                      <a:tcPr anchor="ctr">
                        <a:solidFill>
                          <a:srgbClr val="77122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Garamond" panose="02020404030301010803" pitchFamily="18" charset="0"/>
                            </a:rPr>
                            <a:t>T,T</a:t>
                          </a:r>
                        </a:p>
                      </a:txBody>
                      <a:tcPr anchor="ctr">
                        <a:solidFill>
                          <a:srgbClr val="77122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3142481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375" t="-108197" r="-401124" b="-1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Garamond" panose="02020404030301010803" pitchFamily="18" charset="0"/>
                            </a:rPr>
                            <a:t>0</a:t>
                          </a:r>
                        </a:p>
                      </a:txBody>
                      <a:tcPr anchor="ctr"/>
                    </a:tc>
                    <a:tc gridSpan="2"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Garamond" panose="02020404030301010803" pitchFamily="18" charset="0"/>
                            </a:rPr>
                            <a:t>1</a:t>
                          </a:r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endParaRPr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Garamond" panose="02020404030301010803" pitchFamily="18" charset="0"/>
                            </a:rPr>
                            <a:t>2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04301148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375" t="-208197" r="-401124" b="-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Garamond" panose="02020404030301010803" pitchFamily="18" charset="0"/>
                            </a:rPr>
                            <a:t>0.25</a:t>
                          </a:r>
                        </a:p>
                      </a:txBody>
                      <a:tcPr anchor="ctr"/>
                    </a:tc>
                    <a:tc gridSpan="2"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Garamond" panose="02020404030301010803" pitchFamily="18" charset="0"/>
                            </a:rPr>
                            <a:t>0.5</a:t>
                          </a:r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dirty="0">
                            <a:latin typeface="Garamond" panose="02020404030301010803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Garamond" panose="02020404030301010803" pitchFamily="18" charset="0"/>
                            </a:rPr>
                            <a:t>0.25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958897354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: Rounded Corners 8">
                <a:extLst>
                  <a:ext uri="{FF2B5EF4-FFF2-40B4-BE49-F238E27FC236}">
                    <a16:creationId xmlns:a16="http://schemas.microsoft.com/office/drawing/2014/main" id="{22B49667-58F9-98AA-B2A9-A3516E62308C}"/>
                  </a:ext>
                </a:extLst>
              </p:cNvPr>
              <p:cNvSpPr/>
              <p:nvPr/>
            </p:nvSpPr>
            <p:spPr>
              <a:xfrm>
                <a:off x="1266379" y="2926931"/>
                <a:ext cx="9656064" cy="950126"/>
              </a:xfrm>
              <a:prstGeom prst="roundRect">
                <a:avLst/>
              </a:prstGeom>
              <a:solidFill>
                <a:srgbClr val="77122C"/>
              </a:solidFill>
              <a:ln>
                <a:solidFill>
                  <a:srgbClr val="77122C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marL="457200" indent="-457200">
                  <a:spcBef>
                    <a:spcPts val="1000"/>
                  </a:spcBef>
                  <a:buFont typeface="+mj-lt"/>
                  <a:buAutoNum type="arabicPeriod"/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000" dirty="0">
                    <a:solidFill>
                      <a:schemeClr val="bg1"/>
                    </a:solidFill>
                  </a:rPr>
                  <a:t>The probability assigned to each value must be nonnegative: </a:t>
                </a:r>
                <a14:m>
                  <m:oMath xmlns:m="http://schemas.openxmlformats.org/officeDocument/2006/math">
                    <m:r>
                      <a:rPr lang="en-US" altLang="zh-TW" sz="20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altLang="zh-TW" sz="2000" i="0" dirty="0">
                            <a:solidFill>
                              <a:schemeClr val="bg1"/>
                            </a:solidFill>
                            <a:latin typeface="Rockwell" panose="02060603020205020403" pitchFamily="18" charset="0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en-US" altLang="zh-TW" sz="2000" i="0" dirty="0">
                            <a:solidFill>
                              <a:schemeClr val="bg1"/>
                            </a:solidFill>
                            <a:latin typeface="Rockwell" panose="02060603020205020403" pitchFamily="18" charset="0"/>
                          </a:rPr>
                          <m:t>x</m:t>
                        </m:r>
                      </m:e>
                    </m:d>
                    <m:r>
                      <a:rPr lang="en-US" altLang="zh-TW" sz="200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≥0</m:t>
                    </m:r>
                  </m:oMath>
                </a14:m>
                <a:r>
                  <a:rPr lang="en-US" altLang="zh-TW" sz="2000" dirty="0">
                    <a:solidFill>
                      <a:schemeClr val="bg1"/>
                    </a:solidFill>
                  </a:rPr>
                  <a:t> for all values of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altLang="zh-TW" sz="2000" i="0" dirty="0">
                        <a:solidFill>
                          <a:schemeClr val="bg1"/>
                        </a:solidFill>
                        <a:latin typeface="Rockwell" panose="02060603020205020403" pitchFamily="18" charset="0"/>
                      </a:rPr>
                      <m:t>x</m:t>
                    </m:r>
                  </m:oMath>
                </a14:m>
                <a:r>
                  <a:rPr lang="en-US" altLang="zh-TW" sz="2000" dirty="0">
                    <a:solidFill>
                      <a:schemeClr val="bg1"/>
                    </a:solidFill>
                  </a:rPr>
                  <a:t>.</a:t>
                </a:r>
              </a:p>
              <a:p>
                <a:pPr marL="457200" indent="-457200">
                  <a:spcBef>
                    <a:spcPts val="1000"/>
                  </a:spcBef>
                  <a:buFont typeface="+mj-lt"/>
                  <a:buAutoNum type="arabicPeriod"/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000" dirty="0">
                    <a:solidFill>
                      <a:schemeClr val="bg1"/>
                    </a:solidFill>
                  </a:rPr>
                  <a:t>The probabilities must add up to 1: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supHide m:val="on"/>
                        <m:ctrlPr>
                          <a:rPr lang="en-US" altLang="zh-TW" sz="2000" i="0" dirty="0" smtClean="0">
                            <a:solidFill>
                              <a:schemeClr val="bg1"/>
                            </a:solidFill>
                            <a:latin typeface="Rockwell" panose="02060603020205020403" pitchFamily="18" charset="0"/>
                          </a:rPr>
                        </m:ctrlPr>
                      </m:naryPr>
                      <m:sub>
                        <m:r>
                          <m:rPr>
                            <m:nor/>
                          </m:rPr>
                          <a:rPr lang="en-US" altLang="zh-TW" sz="2000" i="0" dirty="0" smtClean="0">
                            <a:solidFill>
                              <a:schemeClr val="bg1"/>
                            </a:solidFill>
                            <a:latin typeface="Rockwell" panose="02060603020205020403" pitchFamily="18" charset="0"/>
                          </a:rPr>
                          <m:t>x</m:t>
                        </m:r>
                      </m:sub>
                      <m:sup/>
                      <m:e>
                        <m:r>
                          <a:rPr lang="en-US" altLang="zh-TW" sz="2000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en-US" altLang="zh-TW" sz="2000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nor/>
                          </m:rPr>
                          <a:rPr lang="en-US" altLang="zh-TW" sz="2000" i="0" dirty="0" smtClean="0">
                            <a:solidFill>
                              <a:schemeClr val="bg1"/>
                            </a:solidFill>
                            <a:latin typeface="Rockwell" panose="02060603020205020403" pitchFamily="18" charset="0"/>
                          </a:rPr>
                          <m:t>x</m:t>
                        </m:r>
                        <m:r>
                          <a:rPr lang="en-US" altLang="zh-TW" sz="2000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nary>
                    <m:r>
                      <a:rPr lang="en-US" altLang="zh-TW" sz="200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US" altLang="zh-TW" sz="2000" dirty="0">
                    <a:solidFill>
                      <a:schemeClr val="bg1"/>
                    </a:solidFill>
                  </a:rPr>
                  <a:t> </a:t>
                </a:r>
              </a:p>
              <a:p>
                <a:pPr algn="ctr"/>
                <a:endParaRPr lang="en-US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9" name="Rectangle: Rounded Corners 8">
                <a:extLst>
                  <a:ext uri="{FF2B5EF4-FFF2-40B4-BE49-F238E27FC236}">
                    <a16:creationId xmlns:a16="http://schemas.microsoft.com/office/drawing/2014/main" id="{22B49667-58F9-98AA-B2A9-A3516E62308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66379" y="2926931"/>
                <a:ext cx="9656064" cy="950126"/>
              </a:xfrm>
              <a:prstGeom prst="round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solidFill>
                  <a:srgbClr val="77122C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864689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FE0309-2533-E2A8-4C63-59EF9FF04A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>
                <a:solidFill>
                  <a:srgbClr val="000000">
                    <a:alpha val="0"/>
                  </a:srgbClr>
                </a:solidFill>
              </a:rPr>
              <a:t>Poll Everywhere multiple choice poll activity
Activity Title: Which value of $$P(2)$$ makes this a valid probability function?
Slide 11</a:t>
            </a:r>
          </a:p>
        </p:txBody>
      </p:sp>
      <p:sp>
        <p:nvSpPr>
          <p:cNvPr id="3" name="Footer Placeholder 2" descr="Poll Everywhere multiple choice poll activity&#10;Activity Title: Which value of $$P(2)$$ makes this a valid probability function?">
            <a:extLst>
              <a:ext uri="{FF2B5EF4-FFF2-40B4-BE49-F238E27FC236}">
                <a16:creationId xmlns:a16="http://schemas.microsoft.com/office/drawing/2014/main" id="{1F26C6AF-1555-A0EA-CAFA-26E99C5A53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BUSN 320 Business Statistics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800D699-493A-7C40-A576-388051E16F53}"/>
              </a:ext>
            </a:extLst>
          </p:cNvPr>
          <p:cNvPicPr>
            <a:picLocks/>
          </p:cNvPicPr>
          <p:nvPr>
            <p:custDataLst>
              <p:tags r:id="rId1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190500" y="190500"/>
            <a:ext cx="11798300" cy="647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1190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B16A47-4536-3002-17D4-00B398DC2C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FDFF381-77B1-4D3E-D680-090737850AA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57199" y="1300900"/>
                <a:ext cx="11189855" cy="5081046"/>
              </a:xfrm>
            </p:spPr>
            <p:txBody>
              <a:bodyPr>
                <a:normAutofit/>
              </a:bodyPr>
              <a:lstStyle/>
              <a:p>
                <a:pPr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400" dirty="0"/>
                  <a:t>Recall the two requirements for a probability function:</a:t>
                </a:r>
              </a:p>
              <a:p>
                <a:pPr lvl="1"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000" dirty="0"/>
                  <a:t>The probabilities must be nonnegative.</a:t>
                </a:r>
              </a:p>
              <a:p>
                <a:pPr lvl="1"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000" dirty="0"/>
                  <a:t>The probabilities must add up to 1.</a:t>
                </a:r>
              </a:p>
              <a:p>
                <a:pPr lvl="4"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1200" dirty="0"/>
              </a:p>
              <a:p>
                <a:pPr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400" dirty="0"/>
                  <a:t>Applying these rules, we find that:</a:t>
                </a:r>
              </a:p>
              <a:p>
                <a:pPr marL="0" indent="0">
                  <a:spcBef>
                    <a:spcPts val="1000"/>
                  </a:spcBef>
                  <a:buNone/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400" b="0" dirty="0"/>
                  <a:t>					  </a:t>
                </a:r>
                <a14:m>
                  <m:oMath xmlns:m="http://schemas.openxmlformats.org/officeDocument/2006/math">
                    <m:r>
                      <a:rPr lang="en-US" altLang="zh-TW" sz="2400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TW" sz="2400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US" altLang="zh-TW" sz="24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TW" sz="2400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en-US" altLang="zh-TW" sz="24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TW" sz="2400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  <m:r>
                      <a:rPr lang="en-US" altLang="zh-TW" sz="24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TW" sz="2400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d>
                    <m:r>
                      <a:rPr lang="en-US" altLang="zh-TW" sz="24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TW" sz="2400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e>
                    </m:d>
                    <m:r>
                      <a:rPr lang="en-US" altLang="zh-TW" sz="2400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endParaRPr lang="en-US" altLang="zh-TW" sz="2400" b="0" i="1" dirty="0">
                  <a:latin typeface="Cambria Math" panose="02040503050406030204" pitchFamily="18" charset="0"/>
                </a:endParaRPr>
              </a:p>
              <a:p>
                <a:pPr marL="0" indent="0">
                  <a:spcBef>
                    <a:spcPts val="1000"/>
                  </a:spcBef>
                  <a:buNone/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400" b="0" dirty="0">
                    <a:ea typeface="Cambria Math" panose="02040503050406030204" pitchFamily="18" charset="0"/>
                  </a:rPr>
                  <a:t>				 </a:t>
                </a:r>
                <a14:m>
                  <m:oMath xmlns:m="http://schemas.openxmlformats.org/officeDocument/2006/math">
                    <m:r>
                      <a:rPr lang="en-US" altLang="zh-TW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⟹  </m:t>
                    </m:r>
                    <m:r>
                      <a:rPr lang="en-US" altLang="zh-TW" sz="2400" i="1">
                        <a:latin typeface="Cambria Math" panose="02040503050406030204" pitchFamily="18" charset="0"/>
                      </a:rPr>
                      <m:t>0.1</m:t>
                    </m:r>
                    <m:r>
                      <a:rPr lang="en-US" altLang="zh-TW" sz="2400" b="0" i="1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altLang="zh-TW" sz="2400" i="1">
                        <a:latin typeface="Cambria Math" panose="02040503050406030204" pitchFamily="18" charset="0"/>
                      </a:rPr>
                      <m:t>+0.25+</m:t>
                    </m:r>
                    <m:r>
                      <a:rPr lang="en-US" altLang="zh-TW" sz="2400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altLang="zh-TW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  <m:r>
                      <a:rPr lang="en-US" altLang="zh-TW" sz="2400" b="0" i="1" smtClean="0">
                        <a:latin typeface="Cambria Math" panose="02040503050406030204" pitchFamily="18" charset="0"/>
                      </a:rPr>
                      <m:t>+0.30+0.35=1</m:t>
                    </m:r>
                  </m:oMath>
                </a14:m>
                <a:endParaRPr lang="en-US" altLang="zh-TW" sz="2400" dirty="0"/>
              </a:p>
              <a:p>
                <a:pPr marL="0" indent="0">
                  <a:spcBef>
                    <a:spcPts val="1000"/>
                  </a:spcBef>
                  <a:buNone/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400" dirty="0">
                    <a:ea typeface="Cambria Math" panose="02040503050406030204" pitchFamily="18" charset="0"/>
                  </a:rPr>
                  <a:t>				 </a:t>
                </a:r>
                <a14:m>
                  <m:oMath xmlns:m="http://schemas.openxmlformats.org/officeDocument/2006/math">
                    <m:r>
                      <a:rPr lang="en-US" altLang="zh-TW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⟹</m:t>
                    </m:r>
                    <m:r>
                      <a:rPr lang="en-US" altLang="zh-TW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</m:t>
                    </m:r>
                    <m:r>
                      <a:rPr lang="en-US" altLang="zh-TW" sz="2400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altLang="zh-TW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  <m:r>
                      <a:rPr lang="en-US" altLang="zh-TW" sz="24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TW" sz="2400" b="0" i="1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lang="en-US" altLang="zh-TW" sz="2400" dirty="0"/>
              </a:p>
              <a:p>
                <a:pPr lvl="3"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1200" dirty="0"/>
              </a:p>
              <a:p>
                <a:pPr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400" dirty="0"/>
                  <a:t>A probability of 0 is allowed because probabilities must be nonnegative (not strictly positive)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FDFF381-77B1-4D3E-D680-090737850AA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199" y="1300900"/>
                <a:ext cx="11189855" cy="5081046"/>
              </a:xfrm>
              <a:blipFill>
                <a:blip r:embed="rId2"/>
                <a:stretch>
                  <a:fillRect l="-708" t="-95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7FA28E56-9DAB-5151-BFDA-D45D3657E172}"/>
              </a:ext>
            </a:extLst>
          </p:cNvPr>
          <p:cNvSpPr/>
          <p:nvPr/>
        </p:nvSpPr>
        <p:spPr>
          <a:xfrm>
            <a:off x="0" y="0"/>
            <a:ext cx="12188825" cy="923636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BB049E0-393C-1C42-CCA8-8439AA718E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88825" cy="923636"/>
          </a:xfrm>
        </p:spPr>
        <p:txBody>
          <a:bodyPr>
            <a:normAutofit/>
          </a:bodyPr>
          <a:lstStyle/>
          <a:p>
            <a:pPr algn="l">
              <a:defRPr sz="4000" b="1">
                <a:solidFill>
                  <a:srgbClr val="FDB913"/>
                </a:solidFill>
                <a:latin typeface="Garamond"/>
              </a:defRPr>
            </a:pPr>
            <a:r>
              <a:rPr lang="en-US" sz="4000" dirty="0">
                <a:solidFill>
                  <a:schemeClr val="bg1"/>
                </a:solidFill>
              </a:rPr>
              <a:t>  Solution to In-class Poll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29ADB34-29E7-6C3B-64DB-CA785FE5AA11}"/>
              </a:ext>
            </a:extLst>
          </p:cNvPr>
          <p:cNvSpPr/>
          <p:nvPr/>
        </p:nvSpPr>
        <p:spPr>
          <a:xfrm>
            <a:off x="-1" y="6503428"/>
            <a:ext cx="12188825" cy="354572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C23B179-8FC0-6DD8-2642-6D02A046A0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1" y="6503428"/>
            <a:ext cx="2895600" cy="354572"/>
          </a:xfrm>
        </p:spPr>
        <p:txBody>
          <a:bodyPr/>
          <a:lstStyle/>
          <a:p>
            <a:pPr algn="l"/>
            <a:r>
              <a:rPr lang="en-US">
                <a:solidFill>
                  <a:schemeClr val="bg1"/>
                </a:solidFill>
                <a:latin typeface="Garamond" panose="02020404030301010803" pitchFamily="18" charset="0"/>
              </a:rPr>
              <a:t>BUSN 320 Business Statistics</a:t>
            </a:r>
            <a:endParaRPr lang="en-US" dirty="0">
              <a:solidFill>
                <a:schemeClr val="bg1"/>
              </a:solidFill>
              <a:latin typeface="Garamond" panose="02020404030301010803" pitchFamily="18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23C2040-4A59-4C27-1B89-7E486B4D4F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55225" y="6503428"/>
            <a:ext cx="2133600" cy="354572"/>
          </a:xfrm>
        </p:spPr>
        <p:txBody>
          <a:bodyPr/>
          <a:lstStyle/>
          <a:p>
            <a:fld id="{C1FF6DA9-008F-8B48-92A6-B652298478BF}" type="slidenum">
              <a:rPr lang="en-US" b="1" smtClean="0">
                <a:solidFill>
                  <a:schemeClr val="bg1"/>
                </a:solidFill>
                <a:latin typeface="Garamond" panose="02020404030301010803" pitchFamily="18" charset="0"/>
              </a:rPr>
              <a:t>10</a:t>
            </a:fld>
            <a:r>
              <a:rPr lang="en-US" b="1" dirty="0">
                <a:solidFill>
                  <a:schemeClr val="bg1"/>
                </a:solidFill>
                <a:latin typeface="Garamond" panose="02020404030301010803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2578827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5E28BB-8BD6-E49A-5144-B83FC30513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6AD49C-5332-5CE8-C156-C94457A768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199" y="1300900"/>
            <a:ext cx="11189855" cy="5081046"/>
          </a:xfrm>
        </p:spPr>
        <p:txBody>
          <a:bodyPr>
            <a:normAutofit/>
          </a:bodyPr>
          <a:lstStyle/>
          <a:p>
            <a:pPr>
              <a:spcBef>
                <a:spcPts val="1000"/>
              </a:spcBef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The standard way to graphically represent a discrete probability distribution is to:</a:t>
            </a:r>
          </a:p>
          <a:p>
            <a:pPr lvl="1">
              <a:spcBef>
                <a:spcPts val="1000"/>
              </a:spcBef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000" dirty="0"/>
              <a:t>Plot the values of the random variable on the horizontal axis, and </a:t>
            </a:r>
          </a:p>
          <a:p>
            <a:pPr lvl="1">
              <a:spcBef>
                <a:spcPts val="1000"/>
              </a:spcBef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000" dirty="0"/>
              <a:t>Plot the corresponding probabilities on the vertical axis.</a:t>
            </a:r>
          </a:p>
          <a:p>
            <a:pPr lvl="1">
              <a:spcBef>
                <a:spcPts val="1000"/>
              </a:spcBef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20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7A4A4DC-99D1-CC1C-1C5E-43DEC9A21A4D}"/>
              </a:ext>
            </a:extLst>
          </p:cNvPr>
          <p:cNvSpPr/>
          <p:nvPr/>
        </p:nvSpPr>
        <p:spPr>
          <a:xfrm>
            <a:off x="0" y="0"/>
            <a:ext cx="12188825" cy="923636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474A76D-4AC1-00F9-4872-61A77C4285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88825" cy="923636"/>
          </a:xfrm>
        </p:spPr>
        <p:txBody>
          <a:bodyPr>
            <a:normAutofit/>
          </a:bodyPr>
          <a:lstStyle/>
          <a:p>
            <a:pPr algn="l">
              <a:defRPr sz="4000" b="1">
                <a:solidFill>
                  <a:srgbClr val="FDB913"/>
                </a:solidFill>
                <a:latin typeface="Garamond"/>
              </a:defRPr>
            </a:pPr>
            <a:r>
              <a:rPr lang="en-US" sz="4000" dirty="0">
                <a:solidFill>
                  <a:schemeClr val="bg1"/>
                </a:solidFill>
              </a:rPr>
              <a:t>  Graphical Representation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59F75E4-4359-F968-C739-26FB4F853110}"/>
              </a:ext>
            </a:extLst>
          </p:cNvPr>
          <p:cNvSpPr/>
          <p:nvPr/>
        </p:nvSpPr>
        <p:spPr>
          <a:xfrm>
            <a:off x="-1" y="6503428"/>
            <a:ext cx="12188825" cy="354572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BD67636-1DE7-66C3-B087-356BD62955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1" y="6503428"/>
            <a:ext cx="2895600" cy="354572"/>
          </a:xfrm>
        </p:spPr>
        <p:txBody>
          <a:bodyPr/>
          <a:lstStyle/>
          <a:p>
            <a:pPr algn="l"/>
            <a:r>
              <a:rPr lang="en-US">
                <a:solidFill>
                  <a:schemeClr val="bg1"/>
                </a:solidFill>
                <a:latin typeface="Garamond" panose="02020404030301010803" pitchFamily="18" charset="0"/>
              </a:rPr>
              <a:t>BUSN 320 Business Statistics</a:t>
            </a:r>
            <a:endParaRPr lang="en-US" dirty="0">
              <a:solidFill>
                <a:schemeClr val="bg1"/>
              </a:solidFill>
              <a:latin typeface="Garamond" panose="02020404030301010803" pitchFamily="18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282EF79-EF75-738B-9303-BC1F778C87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55225" y="6503428"/>
            <a:ext cx="2133600" cy="354572"/>
          </a:xfrm>
        </p:spPr>
        <p:txBody>
          <a:bodyPr/>
          <a:lstStyle/>
          <a:p>
            <a:fld id="{C1FF6DA9-008F-8B48-92A6-B652298478BF}" type="slidenum">
              <a:rPr lang="en-US" b="1" smtClean="0">
                <a:solidFill>
                  <a:schemeClr val="bg1"/>
                </a:solidFill>
                <a:latin typeface="Garamond" panose="02020404030301010803" pitchFamily="18" charset="0"/>
              </a:rPr>
              <a:t>11</a:t>
            </a:fld>
            <a:r>
              <a:rPr lang="en-US" b="1" dirty="0">
                <a:solidFill>
                  <a:schemeClr val="bg1"/>
                </a:solidFill>
                <a:latin typeface="Garamond" panose="02020404030301010803" pitchFamily="18" charset="0"/>
              </a:rPr>
              <a:t>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8" name="Table 7">
                <a:extLst>
                  <a:ext uri="{FF2B5EF4-FFF2-40B4-BE49-F238E27FC236}">
                    <a16:creationId xmlns:a16="http://schemas.microsoft.com/office/drawing/2014/main" id="{3D191E48-E750-A0FA-0C3C-D538ED227EF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693509627"/>
                  </p:ext>
                </p:extLst>
              </p:nvPr>
            </p:nvGraphicFramePr>
            <p:xfrm>
              <a:off x="1016483" y="2708035"/>
              <a:ext cx="5583858" cy="25958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791929">
                      <a:extLst>
                        <a:ext uri="{9D8B030D-6E8A-4147-A177-3AD203B41FA5}">
                          <a16:colId xmlns:a16="http://schemas.microsoft.com/office/drawing/2014/main" val="3269318500"/>
                        </a:ext>
                      </a:extLst>
                    </a:gridCol>
                    <a:gridCol w="2791929">
                      <a:extLst>
                        <a:ext uri="{9D8B030D-6E8A-4147-A177-3AD203B41FA5}">
                          <a16:colId xmlns:a16="http://schemas.microsoft.com/office/drawing/2014/main" val="4200844973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Garamond" panose="02020404030301010803" pitchFamily="18" charset="0"/>
                            </a:rPr>
                            <a:t>Flight Cancellations </a:t>
                          </a:r>
                          <a14:m>
                            <m:oMath xmlns:m="http://schemas.openxmlformats.org/officeDocument/2006/math">
                              <m:r>
                                <a:rPr lang="en-US" i="1" dirty="0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m:rPr>
                                  <m:nor/>
                                </m:rPr>
                                <a:rPr lang="en-US" altLang="zh-TW" sz="1800" b="0" i="0" dirty="0" smtClean="0">
                                  <a:latin typeface="Rockwell" panose="02060603020205020403" pitchFamily="18" charset="0"/>
                                </a:rPr>
                                <m:t>X</m:t>
                              </m:r>
                              <m:r>
                                <a:rPr lang="en-US" i="1" dirty="0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oMath>
                          </a14:m>
                          <a:endParaRPr lang="en-US" dirty="0">
                            <a:latin typeface="Garamond" panose="02020404030301010803" pitchFamily="18" charset="0"/>
                          </a:endParaRPr>
                        </a:p>
                      </a:txBody>
                      <a:tcPr anchor="ctr">
                        <a:solidFill>
                          <a:srgbClr val="77122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>
                              <a:latin typeface="Garamond" panose="02020404030301010803" pitchFamily="18" charset="0"/>
                            </a:rPr>
                            <a:t>P(</a:t>
                          </a:r>
                          <a:r>
                            <a:rPr lang="en-US" b="0" dirty="0">
                              <a:latin typeface="Rockwell" panose="02060603020205020403" pitchFamily="18" charset="0"/>
                            </a:rPr>
                            <a:t>X</a:t>
                          </a:r>
                          <a:r>
                            <a:rPr lang="en-US" dirty="0">
                              <a:latin typeface="Garamond" panose="02020404030301010803" pitchFamily="18" charset="0"/>
                            </a:rPr>
                            <a:t>=</a:t>
                          </a:r>
                          <a:r>
                            <a:rPr lang="en-US" altLang="zh-TW" sz="1800" b="0" dirty="0">
                              <a:latin typeface="Rockwell" panose="02060603020205020403" pitchFamily="18" charset="0"/>
                            </a:rPr>
                            <a:t>x)</a:t>
                          </a:r>
                          <a:endParaRPr lang="en-US" b="0" dirty="0"/>
                        </a:p>
                      </a:txBody>
                      <a:tcPr anchor="ctr">
                        <a:solidFill>
                          <a:srgbClr val="77122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28335293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Garamond" panose="02020404030301010803" pitchFamily="18" charset="0"/>
                            </a:rPr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>
                              <a:latin typeface="Garamond" panose="02020404030301010803" pitchFamily="18" charset="0"/>
                            </a:rPr>
                            <a:t>7/30 ≈ 0.23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86434689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Garamond" panose="02020404030301010803" pitchFamily="18" charset="0"/>
                            </a:rPr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>
                              <a:latin typeface="Garamond" panose="02020404030301010803" pitchFamily="18" charset="0"/>
                            </a:rPr>
                            <a:t>8/30 ≈ 0.27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7368346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Garamond" panose="02020404030301010803" pitchFamily="18" charset="0"/>
                            </a:rPr>
                            <a:t>2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Garamond" panose="02020404030301010803" pitchFamily="18" charset="0"/>
                            </a:rPr>
                            <a:t>7/30 ≈ 0.23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28412386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Garamond" panose="02020404030301010803" pitchFamily="18" charset="0"/>
                            </a:rPr>
                            <a:t>3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Garamond" panose="02020404030301010803" pitchFamily="18" charset="0"/>
                            </a:rPr>
                            <a:t>5/30 ≈ 0.17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49561823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Garamond" panose="02020404030301010803" pitchFamily="18" charset="0"/>
                            </a:rPr>
                            <a:t>4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Garamond" panose="02020404030301010803" pitchFamily="18" charset="0"/>
                            </a:rPr>
                            <a:t>3/30 = 0.10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42584031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Garamond" panose="02020404030301010803" pitchFamily="18" charset="0"/>
                            </a:rPr>
                            <a:t>Total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Garamond" panose="02020404030301010803" pitchFamily="18" charset="0"/>
                            </a:rPr>
                            <a:t>1.00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55062058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8" name="Table 7">
                <a:extLst>
                  <a:ext uri="{FF2B5EF4-FFF2-40B4-BE49-F238E27FC236}">
                    <a16:creationId xmlns:a16="http://schemas.microsoft.com/office/drawing/2014/main" id="{3D191E48-E750-A0FA-0C3C-D538ED227EF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693509627"/>
                  </p:ext>
                </p:extLst>
              </p:nvPr>
            </p:nvGraphicFramePr>
            <p:xfrm>
              <a:off x="1016483" y="2708035"/>
              <a:ext cx="5583858" cy="25958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791929">
                      <a:extLst>
                        <a:ext uri="{9D8B030D-6E8A-4147-A177-3AD203B41FA5}">
                          <a16:colId xmlns:a16="http://schemas.microsoft.com/office/drawing/2014/main" val="3269318500"/>
                        </a:ext>
                      </a:extLst>
                    </a:gridCol>
                    <a:gridCol w="2791929">
                      <a:extLst>
                        <a:ext uri="{9D8B030D-6E8A-4147-A177-3AD203B41FA5}">
                          <a16:colId xmlns:a16="http://schemas.microsoft.com/office/drawing/2014/main" val="4200844973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18" t="-9836" r="-100654" b="-6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>
                              <a:latin typeface="Garamond" panose="02020404030301010803" pitchFamily="18" charset="0"/>
                            </a:rPr>
                            <a:t>P(</a:t>
                          </a:r>
                          <a:r>
                            <a:rPr lang="en-US" b="0" dirty="0">
                              <a:latin typeface="Rockwell" panose="02060603020205020403" pitchFamily="18" charset="0"/>
                            </a:rPr>
                            <a:t>X</a:t>
                          </a:r>
                          <a:r>
                            <a:rPr lang="en-US" dirty="0">
                              <a:latin typeface="Garamond" panose="02020404030301010803" pitchFamily="18" charset="0"/>
                            </a:rPr>
                            <a:t>=</a:t>
                          </a:r>
                          <a:r>
                            <a:rPr lang="en-US" altLang="zh-TW" sz="1800" b="0" dirty="0">
                              <a:latin typeface="Rockwell" panose="02060603020205020403" pitchFamily="18" charset="0"/>
                            </a:rPr>
                            <a:t>x)</a:t>
                          </a:r>
                          <a:endParaRPr lang="en-US" b="0" dirty="0"/>
                        </a:p>
                      </a:txBody>
                      <a:tcPr anchor="ctr">
                        <a:solidFill>
                          <a:srgbClr val="77122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28335293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Garamond" panose="02020404030301010803" pitchFamily="18" charset="0"/>
                            </a:rPr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>
                              <a:latin typeface="Garamond" panose="02020404030301010803" pitchFamily="18" charset="0"/>
                            </a:rPr>
                            <a:t>7/30 ≈ 0.23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86434689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Garamond" panose="02020404030301010803" pitchFamily="18" charset="0"/>
                            </a:rPr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>
                              <a:latin typeface="Garamond" panose="02020404030301010803" pitchFamily="18" charset="0"/>
                            </a:rPr>
                            <a:t>8/30 ≈ 0.27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7368346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Garamond" panose="02020404030301010803" pitchFamily="18" charset="0"/>
                            </a:rPr>
                            <a:t>2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Garamond" panose="02020404030301010803" pitchFamily="18" charset="0"/>
                            </a:rPr>
                            <a:t>7/30 ≈ 0.23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28412386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Garamond" panose="02020404030301010803" pitchFamily="18" charset="0"/>
                            </a:rPr>
                            <a:t>3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Garamond" panose="02020404030301010803" pitchFamily="18" charset="0"/>
                            </a:rPr>
                            <a:t>5/30 ≈ 0.17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49561823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Garamond" panose="02020404030301010803" pitchFamily="18" charset="0"/>
                            </a:rPr>
                            <a:t>4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Garamond" panose="02020404030301010803" pitchFamily="18" charset="0"/>
                            </a:rPr>
                            <a:t>3/30 = 0.10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42584031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Garamond" panose="02020404030301010803" pitchFamily="18" charset="0"/>
                            </a:rPr>
                            <a:t>Total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Garamond" panose="02020404030301010803" pitchFamily="18" charset="0"/>
                            </a:rPr>
                            <a:t>1.00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550620581"/>
                      </a:ext>
                    </a:extLst>
                  </a:tr>
                </a:tbl>
              </a:graphicData>
            </a:graphic>
          </p:graphicFrame>
        </mc:Fallback>
      </mc:AlternateContent>
      <p:graphicFrame>
        <p:nvGraphicFramePr>
          <p:cNvPr id="9" name="Chart 8">
            <a:extLst>
              <a:ext uri="{FF2B5EF4-FFF2-40B4-BE49-F238E27FC236}">
                <a16:creationId xmlns:a16="http://schemas.microsoft.com/office/drawing/2014/main" id="{009CFBAE-CD01-CF12-A4AE-64D34751ED5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923298457"/>
              </p:ext>
            </p:extLst>
          </p:nvPr>
        </p:nvGraphicFramePr>
        <p:xfrm>
          <a:off x="6600341" y="2708035"/>
          <a:ext cx="45720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19062452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9" grpId="0">
        <p:bldAsOne/>
      </p:bldGraphic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7122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655E424-38D5-625F-D13B-76DC97B085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0DE12ED-8A05-C3FD-86EF-C022244421B5}"/>
              </a:ext>
            </a:extLst>
          </p:cNvPr>
          <p:cNvSpPr txBox="1"/>
          <p:nvPr/>
        </p:nvSpPr>
        <p:spPr>
          <a:xfrm>
            <a:off x="0" y="3044279"/>
            <a:ext cx="12188825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DB913"/>
                </a:solidFill>
                <a:latin typeface="Garamond"/>
              </a:defRPr>
            </a:pPr>
            <a:r>
              <a:rPr lang="en-US" sz="4400" dirty="0">
                <a:solidFill>
                  <a:schemeClr val="bg1"/>
                </a:solidFill>
              </a:rPr>
              <a:t>Expected Value and Variance</a:t>
            </a:r>
          </a:p>
        </p:txBody>
      </p:sp>
    </p:spTree>
    <p:extLst>
      <p:ext uri="{BB962C8B-B14F-4D97-AF65-F5344CB8AC3E}">
        <p14:creationId xmlns:p14="http://schemas.microsoft.com/office/powerpoint/2010/main" val="138795577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D88CA6-90F5-ACAD-1D40-7CBB3C35A0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74B7ABA-9625-3A8B-F3C9-4EF7413D220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57199" y="1300900"/>
                <a:ext cx="11189855" cy="5081046"/>
              </a:xfrm>
            </p:spPr>
            <p:txBody>
              <a:bodyPr>
                <a:normAutofit/>
              </a:bodyPr>
              <a:lstStyle/>
              <a:p>
                <a:pPr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400" dirty="0"/>
                  <a:t>The </a:t>
                </a:r>
                <a:r>
                  <a:rPr lang="en-US" altLang="zh-TW" sz="2400" b="1" dirty="0"/>
                  <a:t>expected value</a:t>
                </a:r>
                <a:r>
                  <a:rPr lang="en-US" altLang="zh-TW" sz="2400" dirty="0"/>
                  <a:t>, denoted by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altLang="zh-TW" sz="2400" i="0" dirty="0">
                        <a:latin typeface="Rockwell" panose="02060603020205020403" pitchFamily="18" charset="0"/>
                      </a:rPr>
                      <m:t>E</m:t>
                    </m:r>
                    <m:d>
                      <m:dPr>
                        <m:ctrlPr>
                          <a:rPr lang="en-US" altLang="zh-TW" sz="2400" b="0" i="0" dirty="0" smtClean="0">
                            <a:latin typeface="Rockwell" panose="02060603020205020403" pitchFamily="18" charset="0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en-US" altLang="zh-TW" sz="2400" b="0" i="0" dirty="0" smtClean="0">
                            <a:latin typeface="Rockwell" panose="02060603020205020403" pitchFamily="18" charset="0"/>
                          </a:rPr>
                          <m:t>X</m:t>
                        </m:r>
                      </m:e>
                    </m:d>
                  </m:oMath>
                </a14:m>
                <a:r>
                  <a:rPr lang="en-US" altLang="zh-TW" sz="2400" dirty="0"/>
                  <a:t> 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TW" sz="2400" i="1" dirty="0">
                        <a:latin typeface="Cambria Math" panose="02040503050406030204" pitchFamily="18" charset="0"/>
                      </a:rPr>
                      <m:t>μ</m:t>
                    </m:r>
                  </m:oMath>
                </a14:m>
                <a:r>
                  <a:rPr lang="en-US" altLang="zh-TW" sz="2400" dirty="0"/>
                  <a:t>, is a weighted average of the possible values of a random variable, where the weights are the corresponding probabilities.</a:t>
                </a:r>
              </a:p>
              <a:p>
                <a:pPr lvl="1"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altLang="zh-TW" sz="2000" i="0" dirty="0">
                        <a:latin typeface="Rockwell" panose="02060603020205020403" pitchFamily="18" charset="0"/>
                      </a:rPr>
                      <m:t>X</m:t>
                    </m:r>
                  </m:oMath>
                </a14:m>
                <a:r>
                  <a:rPr lang="en-US" altLang="zh-TW" sz="2000" dirty="0"/>
                  <a:t> represents the random variable.</a:t>
                </a:r>
              </a:p>
              <a:p>
                <a:pPr lvl="1"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altLang="zh-TW" sz="2000" i="0" dirty="0" smtClean="0">
                        <a:latin typeface="Rockwell" panose="02060603020205020403" pitchFamily="18" charset="0"/>
                      </a:rPr>
                      <m:t>x</m:t>
                    </m:r>
                  </m:oMath>
                </a14:m>
                <a:r>
                  <a:rPr lang="en-US" altLang="zh-TW" sz="2000" dirty="0"/>
                  <a:t> represents a possible value of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altLang="zh-TW" sz="2000" i="0" dirty="0">
                        <a:latin typeface="Rockwell" panose="02060603020205020403" pitchFamily="18" charset="0"/>
                      </a:rPr>
                      <m:t>X</m:t>
                    </m:r>
                  </m:oMath>
                </a14:m>
                <a:r>
                  <a:rPr lang="en-US" altLang="zh-TW" sz="2000" dirty="0"/>
                  <a:t>.</a:t>
                </a:r>
              </a:p>
              <a:p>
                <a:pPr lvl="3"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1200" dirty="0"/>
              </a:p>
              <a:p>
                <a:pPr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400" dirty="0"/>
                  <a:t>The expected value of a discrete random variable can be calculated using the formula:</a:t>
                </a:r>
              </a:p>
              <a:p>
                <a:pPr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2400" dirty="0"/>
              </a:p>
              <a:p>
                <a:pPr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2400" dirty="0"/>
              </a:p>
              <a:p>
                <a:pPr lvl="3"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1200" dirty="0"/>
              </a:p>
              <a:p>
                <a:pPr lvl="1"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000" dirty="0"/>
                  <a:t>Think of this as an average where some values count more than others where values with larger probabilities receive larger weights.</a:t>
                </a:r>
              </a:p>
              <a:p>
                <a:pPr lvl="1"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000" dirty="0"/>
                  <a:t>The expected value does not have to be one of the possible values of the random variable.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74B7ABA-9625-3A8B-F3C9-4EF7413D220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199" y="1300900"/>
                <a:ext cx="11189855" cy="5081046"/>
              </a:xfrm>
              <a:blipFill>
                <a:blip r:embed="rId2"/>
                <a:stretch>
                  <a:fillRect l="-708" t="-95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1DC9303C-5534-39E1-557A-470B55B58896}"/>
              </a:ext>
            </a:extLst>
          </p:cNvPr>
          <p:cNvSpPr/>
          <p:nvPr/>
        </p:nvSpPr>
        <p:spPr>
          <a:xfrm>
            <a:off x="0" y="0"/>
            <a:ext cx="12188825" cy="923636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3929187-DCCF-829F-FE71-0EB16DEFC2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88825" cy="923636"/>
          </a:xfrm>
        </p:spPr>
        <p:txBody>
          <a:bodyPr>
            <a:normAutofit/>
          </a:bodyPr>
          <a:lstStyle/>
          <a:p>
            <a:pPr algn="l">
              <a:defRPr sz="4000" b="1">
                <a:solidFill>
                  <a:srgbClr val="FDB913"/>
                </a:solidFill>
                <a:latin typeface="Garamond"/>
              </a:defRPr>
            </a:pPr>
            <a:r>
              <a:rPr lang="en-US" sz="4000" dirty="0">
                <a:solidFill>
                  <a:schemeClr val="bg1"/>
                </a:solidFill>
              </a:rPr>
              <a:t>  Expected Value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AF21272-AABD-DE51-6A41-11A94663F541}"/>
              </a:ext>
            </a:extLst>
          </p:cNvPr>
          <p:cNvSpPr/>
          <p:nvPr/>
        </p:nvSpPr>
        <p:spPr>
          <a:xfrm>
            <a:off x="-1" y="6503428"/>
            <a:ext cx="12188825" cy="354572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C6FB5B-555A-F8AE-94D2-EFC35CFD43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1" y="6503428"/>
            <a:ext cx="2895600" cy="354572"/>
          </a:xfrm>
        </p:spPr>
        <p:txBody>
          <a:bodyPr/>
          <a:lstStyle/>
          <a:p>
            <a:pPr algn="l"/>
            <a:r>
              <a:rPr lang="en-US">
                <a:solidFill>
                  <a:schemeClr val="bg1"/>
                </a:solidFill>
                <a:latin typeface="Garamond" panose="02020404030301010803" pitchFamily="18" charset="0"/>
              </a:rPr>
              <a:t>BUSN 320 Business Statistics</a:t>
            </a:r>
            <a:endParaRPr lang="en-US" dirty="0">
              <a:solidFill>
                <a:schemeClr val="bg1"/>
              </a:solidFill>
              <a:latin typeface="Garamond" panose="02020404030301010803" pitchFamily="18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3216CA8-77A3-B175-A1CD-D5AB21F0DB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55225" y="6503428"/>
            <a:ext cx="2133600" cy="354572"/>
          </a:xfrm>
        </p:spPr>
        <p:txBody>
          <a:bodyPr/>
          <a:lstStyle/>
          <a:p>
            <a:fld id="{C1FF6DA9-008F-8B48-92A6-B652298478BF}" type="slidenum">
              <a:rPr lang="en-US" b="1" smtClean="0">
                <a:solidFill>
                  <a:schemeClr val="bg1"/>
                </a:solidFill>
                <a:latin typeface="Garamond" panose="02020404030301010803" pitchFamily="18" charset="0"/>
              </a:rPr>
              <a:t>13</a:t>
            </a:fld>
            <a:r>
              <a:rPr lang="en-US" b="1" dirty="0">
                <a:solidFill>
                  <a:schemeClr val="bg1"/>
                </a:solidFill>
                <a:latin typeface="Garamond" panose="02020404030301010803" pitchFamily="18" charset="0"/>
              </a:rPr>
              <a:t>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: Rounded Corners 7">
                <a:extLst>
                  <a:ext uri="{FF2B5EF4-FFF2-40B4-BE49-F238E27FC236}">
                    <a16:creationId xmlns:a16="http://schemas.microsoft.com/office/drawing/2014/main" id="{1646D71D-37C2-542B-1C16-F50F6372E17D}"/>
                  </a:ext>
                </a:extLst>
              </p:cNvPr>
              <p:cNvSpPr/>
              <p:nvPr/>
            </p:nvSpPr>
            <p:spPr>
              <a:xfrm>
                <a:off x="4142232" y="3813898"/>
                <a:ext cx="3904358" cy="1078141"/>
              </a:xfrm>
              <a:prstGeom prst="roundRect">
                <a:avLst/>
              </a:prstGeom>
              <a:solidFill>
                <a:srgbClr val="77122C"/>
              </a:solidFill>
              <a:ln>
                <a:solidFill>
                  <a:srgbClr val="77122C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m:rPr>
                          <m:nor/>
                        </m:rPr>
                        <a:rPr lang="en-US" altLang="zh-TW" sz="2400" b="0" i="0" dirty="0" smtClean="0">
                          <a:latin typeface="Rockwell" panose="02060603020205020403" pitchFamily="18" charset="0"/>
                        </a:rPr>
                        <m:t>E</m:t>
                      </m:r>
                      <m:d>
                        <m:dPr>
                          <m:ctrlPr>
                            <a:rPr lang="en-US" altLang="zh-TW" sz="2400" i="0" dirty="0">
                              <a:latin typeface="Rockwell" panose="02060603020205020403" pitchFamily="18" charset="0"/>
                            </a:rPr>
                          </m:ctrlPr>
                        </m:dPr>
                        <m:e>
                          <m:r>
                            <m:rPr>
                              <m:nor/>
                            </m:rPr>
                            <a:rPr lang="en-US" altLang="zh-TW" sz="2400" i="0" dirty="0">
                              <a:latin typeface="Rockwell" panose="02060603020205020403" pitchFamily="18" charset="0"/>
                            </a:rPr>
                            <m:t>X</m:t>
                          </m:r>
                        </m:e>
                      </m:d>
                      <m:r>
                        <a:rPr lang="en-US" sz="24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subSup"/>
                          <m:supHide m:val="on"/>
                          <m:ctrlPr>
                            <a:rPr lang="en-US" altLang="zh-TW" sz="2400" i="0" dirty="0">
                              <a:latin typeface="Rockwell" panose="02060603020205020403" pitchFamily="18" charset="0"/>
                            </a:rPr>
                          </m:ctrlPr>
                        </m:naryPr>
                        <m:sub>
                          <m:r>
                            <m:rPr>
                              <m:nor/>
                            </m:rPr>
                            <a:rPr lang="en-US" altLang="zh-TW" sz="2400" i="0" dirty="0">
                              <a:latin typeface="Rockwell" panose="02060603020205020403" pitchFamily="18" charset="0"/>
                            </a:rPr>
                            <m:t>x</m:t>
                          </m:r>
                        </m:sub>
                        <m:sup/>
                        <m:e>
                          <m:r>
                            <m:rPr>
                              <m:nor/>
                            </m:rPr>
                            <a:rPr lang="en-US" altLang="zh-TW" sz="2400" i="0" dirty="0">
                              <a:latin typeface="Rockwell" panose="02060603020205020403" pitchFamily="18" charset="0"/>
                            </a:rPr>
                            <m:t>x</m:t>
                          </m:r>
                          <m:r>
                            <a:rPr lang="en-US" sz="2400" b="1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⋅</m:t>
                          </m:r>
                          <m:r>
                            <a:rPr lang="en-US" sz="2400" b="1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𝑷</m:t>
                          </m:r>
                          <m:d>
                            <m:dPr>
                              <m:ctrlPr>
                                <a:rPr lang="en-US" altLang="zh-TW" sz="2400" i="0" dirty="0">
                                  <a:latin typeface="Rockwell" panose="02060603020205020403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nor/>
                                </m:rPr>
                                <a:rPr lang="en-US" altLang="zh-TW" sz="2400" i="0" dirty="0">
                                  <a:latin typeface="Rockwell" panose="02060603020205020403" pitchFamily="18" charset="0"/>
                                </a:rPr>
                                <m:t>x</m:t>
                              </m:r>
                            </m:e>
                          </m:d>
                        </m:e>
                      </m:nary>
                    </m:oMath>
                  </m:oMathPara>
                </a14:m>
                <a:endParaRPr lang="en-US" sz="2400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8" name="Rectangle: Rounded Corners 7">
                <a:extLst>
                  <a:ext uri="{FF2B5EF4-FFF2-40B4-BE49-F238E27FC236}">
                    <a16:creationId xmlns:a16="http://schemas.microsoft.com/office/drawing/2014/main" id="{1646D71D-37C2-542B-1C16-F50F6372E17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42232" y="3813898"/>
                <a:ext cx="3904358" cy="1078141"/>
              </a:xfrm>
              <a:prstGeom prst="round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solidFill>
                  <a:srgbClr val="77122C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120245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EB413E-2AF8-B9DB-49CA-6861D745AD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8F7350-54A0-0BEF-8C0B-C35665DF00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199" y="1300900"/>
            <a:ext cx="11189855" cy="5081046"/>
          </a:xfrm>
        </p:spPr>
        <p:txBody>
          <a:bodyPr>
            <a:normAutofit/>
          </a:bodyPr>
          <a:lstStyle/>
          <a:p>
            <a:pPr>
              <a:spcBef>
                <a:spcPts val="1000"/>
              </a:spcBef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Calculate the expected number of absences:</a:t>
            </a:r>
          </a:p>
          <a:p>
            <a:pPr lvl="1">
              <a:spcBef>
                <a:spcPts val="1000"/>
              </a:spcBef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2000" dirty="0"/>
          </a:p>
          <a:p>
            <a:pPr lvl="1">
              <a:spcBef>
                <a:spcPts val="1000"/>
              </a:spcBef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2000" dirty="0"/>
          </a:p>
          <a:p>
            <a:pPr lvl="1">
              <a:spcBef>
                <a:spcPts val="1000"/>
              </a:spcBef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2000" dirty="0"/>
          </a:p>
          <a:p>
            <a:pPr lvl="1">
              <a:spcBef>
                <a:spcPts val="1000"/>
              </a:spcBef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2000" dirty="0"/>
          </a:p>
          <a:p>
            <a:pPr lvl="1">
              <a:spcBef>
                <a:spcPts val="1000"/>
              </a:spcBef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2000" dirty="0"/>
          </a:p>
          <a:p>
            <a:pPr>
              <a:spcBef>
                <a:spcPts val="1000"/>
              </a:spcBef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2400" dirty="0"/>
          </a:p>
          <a:p>
            <a:pPr>
              <a:spcBef>
                <a:spcPts val="1000"/>
              </a:spcBef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2400" dirty="0"/>
          </a:p>
          <a:p>
            <a:pPr>
              <a:spcBef>
                <a:spcPts val="1000"/>
              </a:spcBef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The expected number of absences is approximately 1.63 per class meeting.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B6F3D71-7975-5668-DE06-5BF994B2B56E}"/>
              </a:ext>
            </a:extLst>
          </p:cNvPr>
          <p:cNvSpPr/>
          <p:nvPr/>
        </p:nvSpPr>
        <p:spPr>
          <a:xfrm>
            <a:off x="0" y="0"/>
            <a:ext cx="12188825" cy="923636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53F2C0A-53A8-0EA7-50A5-A2C5871B38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88825" cy="923636"/>
          </a:xfrm>
        </p:spPr>
        <p:txBody>
          <a:bodyPr>
            <a:normAutofit/>
          </a:bodyPr>
          <a:lstStyle/>
          <a:p>
            <a:pPr algn="l">
              <a:defRPr sz="4000" b="1">
                <a:solidFill>
                  <a:srgbClr val="FDB913"/>
                </a:solidFill>
                <a:latin typeface="Garamond"/>
              </a:defRPr>
            </a:pPr>
            <a:r>
              <a:rPr lang="en-US" sz="4000" dirty="0">
                <a:solidFill>
                  <a:schemeClr val="bg1"/>
                </a:solidFill>
              </a:rPr>
              <a:t>  Exercise: Expected Value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A0AD9CC-1B74-11E9-60D3-A0D2FC2E19E7}"/>
              </a:ext>
            </a:extLst>
          </p:cNvPr>
          <p:cNvSpPr/>
          <p:nvPr/>
        </p:nvSpPr>
        <p:spPr>
          <a:xfrm>
            <a:off x="-1" y="6503428"/>
            <a:ext cx="12188825" cy="354572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1568B20-DFC2-4C22-9C4A-098B1C9EB9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1" y="6503428"/>
            <a:ext cx="2895600" cy="354572"/>
          </a:xfrm>
        </p:spPr>
        <p:txBody>
          <a:bodyPr/>
          <a:lstStyle/>
          <a:p>
            <a:pPr algn="l"/>
            <a:r>
              <a:rPr lang="en-US">
                <a:solidFill>
                  <a:schemeClr val="bg1"/>
                </a:solidFill>
                <a:latin typeface="Garamond" panose="02020404030301010803" pitchFamily="18" charset="0"/>
              </a:rPr>
              <a:t>BUSN 320 Business Statistics</a:t>
            </a:r>
            <a:endParaRPr lang="en-US" dirty="0">
              <a:solidFill>
                <a:schemeClr val="bg1"/>
              </a:solidFill>
              <a:latin typeface="Garamond" panose="02020404030301010803" pitchFamily="18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7569B3-A1F0-0C5E-350B-FA7112CC8F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55225" y="6503428"/>
            <a:ext cx="2133600" cy="354572"/>
          </a:xfrm>
        </p:spPr>
        <p:txBody>
          <a:bodyPr/>
          <a:lstStyle/>
          <a:p>
            <a:fld id="{C1FF6DA9-008F-8B48-92A6-B652298478BF}" type="slidenum">
              <a:rPr lang="en-US" b="1" smtClean="0">
                <a:solidFill>
                  <a:schemeClr val="bg1"/>
                </a:solidFill>
                <a:latin typeface="Garamond" panose="02020404030301010803" pitchFamily="18" charset="0"/>
              </a:rPr>
              <a:t>14</a:t>
            </a:fld>
            <a:r>
              <a:rPr lang="en-US" b="1" dirty="0">
                <a:solidFill>
                  <a:schemeClr val="bg1"/>
                </a:solidFill>
                <a:latin typeface="Garamond" panose="02020404030301010803" pitchFamily="18" charset="0"/>
              </a:rPr>
              <a:t>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0" name="Table 9">
                <a:extLst>
                  <a:ext uri="{FF2B5EF4-FFF2-40B4-BE49-F238E27FC236}">
                    <a16:creationId xmlns:a16="http://schemas.microsoft.com/office/drawing/2014/main" id="{43E0984B-1002-A674-CFFD-3F8356DF585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148680569"/>
                  </p:ext>
                </p:extLst>
              </p:nvPr>
            </p:nvGraphicFramePr>
            <p:xfrm>
              <a:off x="1016486" y="1769928"/>
              <a:ext cx="9581409" cy="25958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193803">
                      <a:extLst>
                        <a:ext uri="{9D8B030D-6E8A-4147-A177-3AD203B41FA5}">
                          <a16:colId xmlns:a16="http://schemas.microsoft.com/office/drawing/2014/main" val="3269318500"/>
                        </a:ext>
                      </a:extLst>
                    </a:gridCol>
                    <a:gridCol w="3193803">
                      <a:extLst>
                        <a:ext uri="{9D8B030D-6E8A-4147-A177-3AD203B41FA5}">
                          <a16:colId xmlns:a16="http://schemas.microsoft.com/office/drawing/2014/main" val="1084937839"/>
                        </a:ext>
                      </a:extLst>
                    </a:gridCol>
                    <a:gridCol w="3193803">
                      <a:extLst>
                        <a:ext uri="{9D8B030D-6E8A-4147-A177-3AD203B41FA5}">
                          <a16:colId xmlns:a16="http://schemas.microsoft.com/office/drawing/2014/main" val="4200844973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r>
                                  <m:rPr>
                                    <m:nor/>
                                  </m:rPr>
                                  <a:rPr lang="en-US" altLang="zh-TW" sz="1800" b="0" i="0" dirty="0" smtClean="0">
                                    <a:latin typeface="Rockwell" panose="02060603020205020403" pitchFamily="18" charset="0"/>
                                  </a:rPr>
                                  <m:t>x</m:t>
                                </m:r>
                              </m:oMath>
                            </m:oMathPara>
                          </a14:m>
                          <a:endParaRPr lang="en-US" b="0" dirty="0">
                            <a:latin typeface="Garamond" panose="02020404030301010803" pitchFamily="18" charset="0"/>
                          </a:endParaRPr>
                        </a:p>
                      </a:txBody>
                      <a:tcPr anchor="ctr">
                        <a:solidFill>
                          <a:srgbClr val="77122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en-US" b="1" i="1" dirty="0" smtClean="0">
                                    <a:latin typeface="Cambria Math" panose="02040503050406030204" pitchFamily="18" charset="0"/>
                                  </a:rPr>
                                  <m:t>𝑷</m:t>
                                </m:r>
                                <m:d>
                                  <m:dPr>
                                    <m:ctrlPr>
                                      <a:rPr lang="en-US" altLang="zh-TW" sz="1800" b="0" i="0" dirty="0" smtClean="0">
                                        <a:latin typeface="Rockwell" panose="02060603020205020403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m:rPr>
                                        <m:nor/>
                                      </m:rPr>
                                      <a:rPr lang="en-US" altLang="zh-TW" sz="1800" b="0" i="0" dirty="0" smtClean="0">
                                        <a:latin typeface="Rockwell" panose="02060603020205020403" pitchFamily="18" charset="0"/>
                                      </a:rPr>
                                      <m:t>x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US" dirty="0">
                            <a:latin typeface="Garamond" panose="02020404030301010803" pitchFamily="18" charset="0"/>
                          </a:endParaRPr>
                        </a:p>
                      </a:txBody>
                      <a:tcPr anchor="ctr">
                        <a:solidFill>
                          <a:srgbClr val="77122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m:rPr>
                                    <m:nor/>
                                  </m:rPr>
                                  <a:rPr lang="en-US" altLang="zh-TW" sz="1800" b="0" i="0" dirty="0" smtClean="0">
                                    <a:latin typeface="Rockwell" panose="02060603020205020403" pitchFamily="18" charset="0"/>
                                  </a:rPr>
                                  <m:t>x</m:t>
                                </m:r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⋅</m:t>
                                </m:r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  <m:d>
                                  <m:dPr>
                                    <m:ctrlPr>
                                      <a:rPr lang="en-US" altLang="zh-TW" sz="1800" b="0" i="0" dirty="0" smtClean="0">
                                        <a:latin typeface="Rockwell" panose="02060603020205020403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m:rPr>
                                        <m:nor/>
                                      </m:rPr>
                                      <a:rPr lang="en-US" altLang="zh-TW" sz="1800" b="0" i="0" dirty="0" smtClean="0">
                                        <a:latin typeface="Rockwell" panose="02060603020205020403" pitchFamily="18" charset="0"/>
                                      </a:rPr>
                                      <m:t>x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US" b="0" dirty="0">
                            <a:latin typeface="Garamond" panose="02020404030301010803" pitchFamily="18" charset="0"/>
                          </a:endParaRPr>
                        </a:p>
                      </a:txBody>
                      <a:tcPr anchor="ctr">
                        <a:solidFill>
                          <a:srgbClr val="77122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28335293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Garamond" panose="02020404030301010803" pitchFamily="18" charset="0"/>
                            </a:rPr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>
                              <a:latin typeface="Garamond" panose="02020404030301010803" pitchFamily="18" charset="0"/>
                            </a:rPr>
                            <a:t>7/30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>
                              <a:latin typeface="Garamond" panose="02020404030301010803" pitchFamily="18" charset="0"/>
                            </a:rPr>
                            <a:t>0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86434689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Garamond" panose="02020404030301010803" pitchFamily="18" charset="0"/>
                            </a:rPr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>
                              <a:latin typeface="Garamond" panose="02020404030301010803" pitchFamily="18" charset="0"/>
                            </a:rPr>
                            <a:t>8/30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>
                              <a:latin typeface="Garamond" panose="02020404030301010803" pitchFamily="18" charset="0"/>
                            </a:rPr>
                            <a:t>8/30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7368346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Garamond" panose="02020404030301010803" pitchFamily="18" charset="0"/>
                            </a:rPr>
                            <a:t>2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Garamond" panose="02020404030301010803" pitchFamily="18" charset="0"/>
                            </a:rPr>
                            <a:t>7/30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Garamond" panose="02020404030301010803" pitchFamily="18" charset="0"/>
                            </a:rPr>
                            <a:t>14/30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28412386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Garamond" panose="02020404030301010803" pitchFamily="18" charset="0"/>
                            </a:rPr>
                            <a:t>3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Garamond" panose="02020404030301010803" pitchFamily="18" charset="0"/>
                            </a:rPr>
                            <a:t>5/30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Garamond" panose="02020404030301010803" pitchFamily="18" charset="0"/>
                            </a:rPr>
                            <a:t>15/30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49561823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Garamond" panose="02020404030301010803" pitchFamily="18" charset="0"/>
                            </a:rPr>
                            <a:t>4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Garamond" panose="02020404030301010803" pitchFamily="18" charset="0"/>
                            </a:rPr>
                            <a:t>3/30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Garamond" panose="02020404030301010803" pitchFamily="18" charset="0"/>
                            </a:rPr>
                            <a:t>12/30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42584031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Garamond" panose="02020404030301010803" pitchFamily="18" charset="0"/>
                            </a:rPr>
                            <a:t>Total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nary>
                                <m:naryPr>
                                  <m:chr m:val="∑"/>
                                  <m:limLoc m:val="subSup"/>
                                  <m:supHide m:val="on"/>
                                  <m:ctrlPr>
                                    <a:rPr lang="en-US" altLang="zh-TW" sz="1800" b="0" i="0" dirty="0">
                                      <a:solidFill>
                                        <a:schemeClr val="tx1"/>
                                      </a:solidFill>
                                      <a:latin typeface="Rockwell" panose="02060603020205020403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nor/>
                                    </m:rPr>
                                    <a:rPr lang="en-US" altLang="zh-TW" sz="1800" b="0" i="0" dirty="0">
                                      <a:solidFill>
                                        <a:schemeClr val="tx1"/>
                                      </a:solidFill>
                                      <a:latin typeface="Rockwell" panose="02060603020205020403" pitchFamily="18" charset="0"/>
                                    </a:rPr>
                                    <m:t>x</m:t>
                                  </m:r>
                                </m:sub>
                                <m:sup/>
                                <m:e>
                                  <m:r>
                                    <a:rPr lang="en-US" sz="1800" b="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  <m:d>
                                    <m:dPr>
                                      <m:ctrlPr>
                                        <a:rPr lang="en-US" altLang="zh-TW" sz="1800" b="0" i="0" dirty="0">
                                          <a:solidFill>
                                            <a:schemeClr val="tx1"/>
                                          </a:solidFill>
                                          <a:latin typeface="Rockwell" panose="02060603020205020403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m:rPr>
                                          <m:nor/>
                                        </m:rPr>
                                        <a:rPr lang="en-US" altLang="zh-TW" sz="1800" b="0" i="0" dirty="0">
                                          <a:solidFill>
                                            <a:schemeClr val="tx1"/>
                                          </a:solidFill>
                                          <a:latin typeface="Rockwell" panose="02060603020205020403" pitchFamily="18" charset="0"/>
                                        </a:rPr>
                                        <m:t>x</m:t>
                                      </m:r>
                                    </m:e>
                                  </m:d>
                                </m:e>
                              </m:nary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</m:oMath>
                          </a14:m>
                          <a:r>
                            <a:rPr lang="en-US" dirty="0">
                              <a:latin typeface="Garamond" panose="02020404030301010803" pitchFamily="18" charset="0"/>
                            </a:rPr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nary>
                                <m:naryPr>
                                  <m:chr m:val="∑"/>
                                  <m:limLoc m:val="subSup"/>
                                  <m:supHide m:val="on"/>
                                  <m:ctrlPr>
                                    <a:rPr lang="en-US" altLang="zh-TW" sz="1800" b="0" i="0" dirty="0">
                                      <a:solidFill>
                                        <a:schemeClr val="tx1"/>
                                      </a:solidFill>
                                      <a:latin typeface="Rockwell" panose="02060603020205020403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nor/>
                                    </m:rPr>
                                    <a:rPr lang="en-US" altLang="zh-TW" sz="1800" b="0" i="0" dirty="0">
                                      <a:solidFill>
                                        <a:schemeClr val="tx1"/>
                                      </a:solidFill>
                                      <a:latin typeface="Rockwell" panose="02060603020205020403" pitchFamily="18" charset="0"/>
                                    </a:rPr>
                                    <m:t>x</m:t>
                                  </m:r>
                                </m:sub>
                                <m:sup/>
                                <m:e>
                                  <m:r>
                                    <m:rPr>
                                      <m:nor/>
                                    </m:rPr>
                                    <a:rPr lang="en-US" altLang="zh-TW" sz="1800" b="0" i="0" dirty="0">
                                      <a:solidFill>
                                        <a:schemeClr val="tx1"/>
                                      </a:solidFill>
                                      <a:latin typeface="Rockwell" panose="02060603020205020403" pitchFamily="18" charset="0"/>
                                    </a:rPr>
                                    <m:t>x</m:t>
                                  </m:r>
                                  <m:r>
                                    <a:rPr lang="en-US" sz="1800" b="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⋅</m:t>
                                  </m:r>
                                  <m:r>
                                    <a:rPr lang="en-US" sz="1800" b="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  <m:d>
                                    <m:dPr>
                                      <m:ctrlPr>
                                        <a:rPr lang="en-US" altLang="zh-TW" sz="1800" b="0" i="0" dirty="0">
                                          <a:solidFill>
                                            <a:schemeClr val="tx1"/>
                                          </a:solidFill>
                                          <a:latin typeface="Rockwell" panose="02060603020205020403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m:rPr>
                                          <m:nor/>
                                        </m:rPr>
                                        <a:rPr lang="en-US" altLang="zh-TW" sz="1800" b="0" i="0" dirty="0">
                                          <a:solidFill>
                                            <a:schemeClr val="tx1"/>
                                          </a:solidFill>
                                          <a:latin typeface="Rockwell" panose="02060603020205020403" pitchFamily="18" charset="0"/>
                                        </a:rPr>
                                        <m:t>x</m:t>
                                      </m:r>
                                    </m:e>
                                  </m:d>
                                </m:e>
                              </m:nary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</m:oMath>
                          </a14:m>
                          <a:r>
                            <a:rPr lang="en-US" dirty="0">
                              <a:latin typeface="Garamond" panose="02020404030301010803" pitchFamily="18" charset="0"/>
                            </a:rPr>
                            <a:t> 49/30 ≈ 1.63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55062058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0" name="Table 9">
                <a:extLst>
                  <a:ext uri="{FF2B5EF4-FFF2-40B4-BE49-F238E27FC236}">
                    <a16:creationId xmlns:a16="http://schemas.microsoft.com/office/drawing/2014/main" id="{43E0984B-1002-A674-CFFD-3F8356DF585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148680569"/>
                  </p:ext>
                </p:extLst>
              </p:nvPr>
            </p:nvGraphicFramePr>
            <p:xfrm>
              <a:off x="1016486" y="1769928"/>
              <a:ext cx="9581409" cy="25958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193803">
                      <a:extLst>
                        <a:ext uri="{9D8B030D-6E8A-4147-A177-3AD203B41FA5}">
                          <a16:colId xmlns:a16="http://schemas.microsoft.com/office/drawing/2014/main" val="3269318500"/>
                        </a:ext>
                      </a:extLst>
                    </a:gridCol>
                    <a:gridCol w="3193803">
                      <a:extLst>
                        <a:ext uri="{9D8B030D-6E8A-4147-A177-3AD203B41FA5}">
                          <a16:colId xmlns:a16="http://schemas.microsoft.com/office/drawing/2014/main" val="1084937839"/>
                        </a:ext>
                      </a:extLst>
                    </a:gridCol>
                    <a:gridCol w="3193803">
                      <a:extLst>
                        <a:ext uri="{9D8B030D-6E8A-4147-A177-3AD203B41FA5}">
                          <a16:colId xmlns:a16="http://schemas.microsoft.com/office/drawing/2014/main" val="4200844973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91" t="-1639" r="-200954" b="-78360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00000" t="-1639" r="-100571" b="-78360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00382" t="-1639" r="-763" b="-78360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28335293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Garamond" panose="02020404030301010803" pitchFamily="18" charset="0"/>
                            </a:rPr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>
                              <a:latin typeface="Garamond" panose="02020404030301010803" pitchFamily="18" charset="0"/>
                            </a:rPr>
                            <a:t>7/30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>
                              <a:latin typeface="Garamond" panose="02020404030301010803" pitchFamily="18" charset="0"/>
                            </a:rPr>
                            <a:t>0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86434689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Garamond" panose="02020404030301010803" pitchFamily="18" charset="0"/>
                            </a:rPr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>
                              <a:latin typeface="Garamond" panose="02020404030301010803" pitchFamily="18" charset="0"/>
                            </a:rPr>
                            <a:t>8/30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>
                              <a:latin typeface="Garamond" panose="02020404030301010803" pitchFamily="18" charset="0"/>
                            </a:rPr>
                            <a:t>8/30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7368346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Garamond" panose="02020404030301010803" pitchFamily="18" charset="0"/>
                            </a:rPr>
                            <a:t>2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Garamond" panose="02020404030301010803" pitchFamily="18" charset="0"/>
                            </a:rPr>
                            <a:t>7/30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Garamond" panose="02020404030301010803" pitchFamily="18" charset="0"/>
                            </a:rPr>
                            <a:t>14/30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28412386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Garamond" panose="02020404030301010803" pitchFamily="18" charset="0"/>
                            </a:rPr>
                            <a:t>3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Garamond" panose="02020404030301010803" pitchFamily="18" charset="0"/>
                            </a:rPr>
                            <a:t>5/30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Garamond" panose="02020404030301010803" pitchFamily="18" charset="0"/>
                            </a:rPr>
                            <a:t>15/30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49561823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Garamond" panose="02020404030301010803" pitchFamily="18" charset="0"/>
                            </a:rPr>
                            <a:t>4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Garamond" panose="02020404030301010803" pitchFamily="18" charset="0"/>
                            </a:rPr>
                            <a:t>3/30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Garamond" panose="02020404030301010803" pitchFamily="18" charset="0"/>
                            </a:rPr>
                            <a:t>12/30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42584031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Garamond" panose="02020404030301010803" pitchFamily="18" charset="0"/>
                            </a:rPr>
                            <a:t>Total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00000" t="-601639" r="-100571" b="-18360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00382" t="-601639" r="-763" b="-18360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50620581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4535742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7CEBEB-8D9A-4BAF-B3D9-802F1A1CCE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91297DB-576E-F41D-ABE7-748B999F0DE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57199" y="1300900"/>
                <a:ext cx="11189855" cy="5081046"/>
              </a:xfrm>
            </p:spPr>
            <p:txBody>
              <a:bodyPr>
                <a:normAutofit/>
              </a:bodyPr>
              <a:lstStyle/>
              <a:p>
                <a:pPr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400" dirty="0"/>
                  <a:t>The </a:t>
                </a:r>
                <a:r>
                  <a:rPr lang="en-US" altLang="zh-TW" sz="2400" b="1" dirty="0"/>
                  <a:t>variance</a:t>
                </a:r>
                <a:r>
                  <a:rPr lang="en-US" altLang="zh-TW" sz="2400" dirty="0"/>
                  <a:t>, denoted by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altLang="zh-TW" sz="2400" b="0" i="0" dirty="0" smtClean="0">
                        <a:latin typeface="Rockwell" panose="02060603020205020403" pitchFamily="18" charset="0"/>
                      </a:rPr>
                      <m:t>Var</m:t>
                    </m:r>
                    <m:d>
                      <m:dPr>
                        <m:ctrlPr>
                          <a:rPr lang="en-US" altLang="zh-TW" sz="2400" i="0" dirty="0">
                            <a:latin typeface="Rockwell" panose="02060603020205020403" pitchFamily="18" charset="0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en-US" altLang="zh-TW" sz="2400" i="0" dirty="0">
                            <a:latin typeface="Rockwell" panose="02060603020205020403" pitchFamily="18" charset="0"/>
                          </a:rPr>
                          <m:t>X</m:t>
                        </m:r>
                      </m:e>
                    </m:d>
                  </m:oMath>
                </a14:m>
                <a:r>
                  <a:rPr lang="en-US" altLang="zh-TW" sz="2400" dirty="0"/>
                  <a:t> or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zh-TW" sz="2400" dirty="0"/>
                  <a:t>, is a weighted average of the squared deviations between the possible values of a random variable and its expected value, where the weights are the corresponding probabilities.</a:t>
                </a:r>
              </a:p>
              <a:p>
                <a:pPr lvl="3"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1200" dirty="0"/>
              </a:p>
              <a:p>
                <a:pPr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400" dirty="0"/>
                  <a:t>The variance of a discrete random variable can be calculated using the formula:</a:t>
                </a:r>
              </a:p>
              <a:p>
                <a:pPr lvl="1"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2000" dirty="0"/>
              </a:p>
              <a:p>
                <a:pPr lvl="1"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2000" dirty="0"/>
              </a:p>
              <a:p>
                <a:pPr lvl="2"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1600" dirty="0"/>
              </a:p>
              <a:p>
                <a:pPr lvl="1"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altLang="zh-TW" sz="2000" i="0" dirty="0" smtClean="0">
                        <a:solidFill>
                          <a:schemeClr val="tx1"/>
                        </a:solidFill>
                        <a:latin typeface="Rockwell" panose="02060603020205020403" pitchFamily="18" charset="0"/>
                      </a:rPr>
                      <m:t>x</m:t>
                    </m:r>
                    <m:r>
                      <a:rPr lang="en-US" sz="20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nor/>
                      </m:rPr>
                      <a:rPr lang="en-US" altLang="zh-TW" sz="2000" i="0" dirty="0">
                        <a:solidFill>
                          <a:schemeClr val="tx1"/>
                        </a:solidFill>
                        <a:latin typeface="Rockwell" panose="02060603020205020403" pitchFamily="18" charset="0"/>
                      </a:rPr>
                      <m:t>E</m:t>
                    </m:r>
                    <m:d>
                      <m:dPr>
                        <m:ctrlPr>
                          <a:rPr lang="en-US" altLang="zh-TW" sz="2000" i="0" dirty="0">
                            <a:solidFill>
                              <a:schemeClr val="tx1"/>
                            </a:solidFill>
                            <a:latin typeface="Rockwell" panose="02060603020205020403" pitchFamily="18" charset="0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en-US" altLang="zh-TW" sz="2000" i="0" dirty="0">
                            <a:solidFill>
                              <a:schemeClr val="tx1"/>
                            </a:solidFill>
                            <a:latin typeface="Rockwell" panose="02060603020205020403" pitchFamily="18" charset="0"/>
                          </a:rPr>
                          <m:t>X</m:t>
                        </m:r>
                      </m:e>
                    </m:d>
                  </m:oMath>
                </a14:m>
                <a:r>
                  <a:rPr lang="en-US" altLang="zh-TW" sz="2000" dirty="0"/>
                  <a:t>: The deviation of a particular value of the random variable from the expected value.</a:t>
                </a:r>
                <a:endParaRPr lang="en-US" altLang="zh-TW" sz="1200" dirty="0"/>
              </a:p>
              <a:p>
                <a:pPr lvl="1"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000" dirty="0"/>
                  <a:t>This formula should remind you of the variance formula from Chapter 3.</a:t>
                </a:r>
              </a:p>
              <a:p>
                <a:pPr lvl="1"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000" dirty="0"/>
                  <a:t>Instead of an ordinary average squared distance from the mean, we are taking a </a:t>
                </a:r>
                <a:r>
                  <a:rPr lang="en-US" altLang="zh-TW" sz="2000" i="1" dirty="0"/>
                  <a:t>probability-weighted average of the squared distances from the expected value</a:t>
                </a:r>
                <a:r>
                  <a:rPr lang="en-US" altLang="zh-TW" sz="2000" dirty="0"/>
                  <a:t>.</a:t>
                </a:r>
                <a:endParaRPr lang="en-US" altLang="zh-TW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91297DB-576E-F41D-ABE7-748B999F0DE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199" y="1300900"/>
                <a:ext cx="11189855" cy="5081046"/>
              </a:xfrm>
              <a:blipFill>
                <a:blip r:embed="rId2"/>
                <a:stretch>
                  <a:fillRect l="-708" t="-839" r="-7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8A6B983D-AEDF-C4A2-038C-FC86F3640CBD}"/>
              </a:ext>
            </a:extLst>
          </p:cNvPr>
          <p:cNvSpPr/>
          <p:nvPr/>
        </p:nvSpPr>
        <p:spPr>
          <a:xfrm>
            <a:off x="0" y="0"/>
            <a:ext cx="12188825" cy="923636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E7C49BF-9D83-A95E-4FD8-0C4735EEB6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88825" cy="923636"/>
          </a:xfrm>
        </p:spPr>
        <p:txBody>
          <a:bodyPr>
            <a:normAutofit/>
          </a:bodyPr>
          <a:lstStyle/>
          <a:p>
            <a:pPr algn="l">
              <a:defRPr sz="4000" b="1">
                <a:solidFill>
                  <a:srgbClr val="FDB913"/>
                </a:solidFill>
                <a:latin typeface="Garamond"/>
              </a:defRPr>
            </a:pPr>
            <a:r>
              <a:rPr lang="en-US" sz="4000" dirty="0">
                <a:solidFill>
                  <a:schemeClr val="bg1"/>
                </a:solidFill>
              </a:rPr>
              <a:t>  Variance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E104601-E078-1F35-E055-4593C27957CA}"/>
              </a:ext>
            </a:extLst>
          </p:cNvPr>
          <p:cNvSpPr/>
          <p:nvPr/>
        </p:nvSpPr>
        <p:spPr>
          <a:xfrm>
            <a:off x="-1" y="6503428"/>
            <a:ext cx="12188825" cy="354572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24B9273-51AC-1491-E1D6-24AC70D164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1" y="6503428"/>
            <a:ext cx="2895600" cy="354572"/>
          </a:xfrm>
        </p:spPr>
        <p:txBody>
          <a:bodyPr/>
          <a:lstStyle/>
          <a:p>
            <a:pPr algn="l"/>
            <a:r>
              <a:rPr lang="en-US">
                <a:solidFill>
                  <a:schemeClr val="bg1"/>
                </a:solidFill>
                <a:latin typeface="Garamond" panose="02020404030301010803" pitchFamily="18" charset="0"/>
              </a:rPr>
              <a:t>BUSN 320 Business Statistics</a:t>
            </a:r>
            <a:endParaRPr lang="en-US" dirty="0">
              <a:solidFill>
                <a:schemeClr val="bg1"/>
              </a:solidFill>
              <a:latin typeface="Garamond" panose="02020404030301010803" pitchFamily="18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E2C83A4-D078-B875-8F43-3599CB7712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55225" y="6503428"/>
            <a:ext cx="2133600" cy="354572"/>
          </a:xfrm>
        </p:spPr>
        <p:txBody>
          <a:bodyPr/>
          <a:lstStyle/>
          <a:p>
            <a:fld id="{C1FF6DA9-008F-8B48-92A6-B652298478BF}" type="slidenum">
              <a:rPr lang="en-US" b="1" smtClean="0">
                <a:solidFill>
                  <a:schemeClr val="bg1"/>
                </a:solidFill>
                <a:latin typeface="Garamond" panose="02020404030301010803" pitchFamily="18" charset="0"/>
              </a:rPr>
              <a:t>15</a:t>
            </a:fld>
            <a:r>
              <a:rPr lang="en-US" b="1" dirty="0">
                <a:solidFill>
                  <a:schemeClr val="bg1"/>
                </a:solidFill>
                <a:latin typeface="Garamond" panose="02020404030301010803" pitchFamily="18" charset="0"/>
              </a:rPr>
              <a:t>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: Rounded Corners 7">
                <a:extLst>
                  <a:ext uri="{FF2B5EF4-FFF2-40B4-BE49-F238E27FC236}">
                    <a16:creationId xmlns:a16="http://schemas.microsoft.com/office/drawing/2014/main" id="{75AC8627-6EDB-C500-EA52-59E5CDB62FA8}"/>
                  </a:ext>
                </a:extLst>
              </p:cNvPr>
              <p:cNvSpPr/>
              <p:nvPr/>
            </p:nvSpPr>
            <p:spPr>
              <a:xfrm>
                <a:off x="3525589" y="3304846"/>
                <a:ext cx="5137644" cy="1031484"/>
              </a:xfrm>
              <a:prstGeom prst="roundRect">
                <a:avLst/>
              </a:prstGeom>
              <a:solidFill>
                <a:srgbClr val="77122C"/>
              </a:solidFill>
              <a:ln>
                <a:solidFill>
                  <a:srgbClr val="77122C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m:rPr>
                          <m:nor/>
                        </m:rPr>
                        <a:rPr lang="en-US" altLang="zh-TW" sz="2400" i="0" dirty="0">
                          <a:latin typeface="Rockwell" panose="02060603020205020403" pitchFamily="18" charset="0"/>
                        </a:rPr>
                        <m:t>Var</m:t>
                      </m:r>
                      <m:d>
                        <m:dPr>
                          <m:ctrlPr>
                            <a:rPr lang="en-US" altLang="zh-TW" sz="2400" i="0" dirty="0">
                              <a:latin typeface="Rockwell" panose="02060603020205020403" pitchFamily="18" charset="0"/>
                            </a:rPr>
                          </m:ctrlPr>
                        </m:dPr>
                        <m:e>
                          <m:r>
                            <m:rPr>
                              <m:nor/>
                            </m:rPr>
                            <a:rPr lang="en-US" altLang="zh-TW" sz="2400" i="0" dirty="0">
                              <a:latin typeface="Rockwell" panose="02060603020205020403" pitchFamily="18" charset="0"/>
                            </a:rPr>
                            <m:t>X</m:t>
                          </m:r>
                        </m:e>
                      </m:d>
                      <m:r>
                        <a:rPr lang="en-US" sz="24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subSup"/>
                          <m:supHide m:val="on"/>
                          <m:ctrlPr>
                            <a:rPr lang="en-US" altLang="zh-TW" sz="2400" i="0" dirty="0">
                              <a:latin typeface="Rockwell" panose="02060603020205020403" pitchFamily="18" charset="0"/>
                            </a:rPr>
                          </m:ctrlPr>
                        </m:naryPr>
                        <m:sub>
                          <m:r>
                            <m:rPr>
                              <m:nor/>
                            </m:rPr>
                            <a:rPr lang="en-US" altLang="zh-TW" sz="2400" i="0" dirty="0">
                              <a:latin typeface="Rockwell" panose="02060603020205020403" pitchFamily="18" charset="0"/>
                            </a:rPr>
                            <m:t>x</m:t>
                          </m:r>
                        </m:sub>
                        <m:sup/>
                        <m:e>
                          <m:sSup>
                            <m:sSupPr>
                              <m:ctrlPr>
                                <a:rPr lang="en-US" altLang="zh-TW" sz="2400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altLang="zh-TW" sz="2400" i="0" dirty="0">
                                      <a:latin typeface="Rockwell" panose="02060603020205020403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m:rPr>
                                      <m:nor/>
                                    </m:rPr>
                                    <a:rPr lang="en-US" altLang="zh-TW" sz="2400" i="0" dirty="0">
                                      <a:latin typeface="Rockwell" panose="02060603020205020403" pitchFamily="18" charset="0"/>
                                    </a:rPr>
                                    <m:t>x</m:t>
                                  </m:r>
                                  <m:r>
                                    <a:rPr lang="en-US" sz="2400" b="1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altLang="zh-TW" sz="2400" b="0" i="0" dirty="0" smtClean="0">
                                      <a:latin typeface="Rockwell" panose="02060603020205020403" pitchFamily="18" charset="0"/>
                                    </a:rPr>
                                    <m:t>E</m:t>
                                  </m:r>
                                  <m:d>
                                    <m:dPr>
                                      <m:ctrlPr>
                                        <a:rPr lang="en-US" altLang="zh-TW" sz="2400" i="0" dirty="0">
                                          <a:latin typeface="Rockwell" panose="02060603020205020403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m:rPr>
                                          <m:nor/>
                                        </m:rPr>
                                        <a:rPr lang="en-US" altLang="zh-TW" sz="2400" i="0" dirty="0">
                                          <a:latin typeface="Rockwell" panose="02060603020205020403" pitchFamily="18" charset="0"/>
                                        </a:rPr>
                                        <m:t>X</m:t>
                                      </m:r>
                                    </m:e>
                                  </m:d>
                                </m:e>
                              </m:d>
                            </m:e>
                            <m:sup>
                              <m:r>
                                <a:rPr lang="en-US" sz="2400" b="1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  <m:r>
                            <a:rPr lang="en-US" sz="2400" b="1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⋅</m:t>
                          </m:r>
                          <m:r>
                            <a:rPr lang="en-US" sz="2400" b="1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𝑷</m:t>
                          </m:r>
                          <m:d>
                            <m:dPr>
                              <m:ctrlPr>
                                <a:rPr lang="en-US" altLang="zh-TW" sz="2400" i="0" dirty="0">
                                  <a:latin typeface="Rockwell" panose="02060603020205020403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nor/>
                                </m:rPr>
                                <a:rPr lang="en-US" altLang="zh-TW" sz="2400" i="0" dirty="0">
                                  <a:latin typeface="Rockwell" panose="02060603020205020403" pitchFamily="18" charset="0"/>
                                </a:rPr>
                                <m:t>x</m:t>
                              </m:r>
                            </m:e>
                          </m:d>
                        </m:e>
                      </m:nary>
                    </m:oMath>
                  </m:oMathPara>
                </a14:m>
                <a:endParaRPr lang="en-US" sz="2400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8" name="Rectangle: Rounded Corners 7">
                <a:extLst>
                  <a:ext uri="{FF2B5EF4-FFF2-40B4-BE49-F238E27FC236}">
                    <a16:creationId xmlns:a16="http://schemas.microsoft.com/office/drawing/2014/main" id="{75AC8627-6EDB-C500-EA52-59E5CDB62FA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25589" y="3304846"/>
                <a:ext cx="5137644" cy="1031484"/>
              </a:xfrm>
              <a:prstGeom prst="round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solidFill>
                  <a:srgbClr val="77122C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563444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02286C-287B-2C93-3C0E-C25AD40D0C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7D3A89D-3409-6153-E3A3-A79A71CB8A8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57199" y="1300900"/>
                <a:ext cx="11189855" cy="5081046"/>
              </a:xfrm>
            </p:spPr>
            <p:txBody>
              <a:bodyPr>
                <a:normAutofit/>
              </a:bodyPr>
              <a:lstStyle/>
              <a:p>
                <a:pPr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400" dirty="0"/>
                  <a:t>The </a:t>
                </a:r>
                <a:r>
                  <a:rPr lang="en-US" altLang="zh-TW" sz="2400" b="1" dirty="0"/>
                  <a:t>standard deviation</a:t>
                </a:r>
                <a:r>
                  <a:rPr lang="en-US" altLang="zh-TW" sz="2400" dirty="0"/>
                  <a:t>, denoted by </a:t>
                </a:r>
                <a14:m>
                  <m:oMath xmlns:m="http://schemas.openxmlformats.org/officeDocument/2006/math">
                    <m:r>
                      <a:rPr lang="en-US" altLang="zh-TW" sz="2400" i="1">
                        <a:latin typeface="Cambria Math" panose="02040503050406030204" pitchFamily="18" charset="0"/>
                      </a:rPr>
                      <m:t>𝜎</m:t>
                    </m:r>
                  </m:oMath>
                </a14:m>
                <a:r>
                  <a:rPr lang="en-US" altLang="zh-TW" sz="2400" dirty="0"/>
                  <a:t>, is the positive square root of the variance.</a:t>
                </a:r>
              </a:p>
              <a:p>
                <a:pPr lvl="1"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2000" dirty="0"/>
              </a:p>
              <a:p>
                <a:pPr lvl="1"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2000" dirty="0"/>
              </a:p>
              <a:p>
                <a:pPr marL="457200" lvl="1" indent="0">
                  <a:spcBef>
                    <a:spcPts val="1000"/>
                  </a:spcBef>
                  <a:buNone/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1200" dirty="0"/>
              </a:p>
              <a:p>
                <a:pPr lvl="1"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000" dirty="0"/>
                  <a:t>This should remind you of the standard deviation formula from Chapter 3.</a:t>
                </a:r>
              </a:p>
              <a:p>
                <a:pPr lvl="1"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000" dirty="0"/>
                  <a:t>Since the variance is measured in squared units, we usually report the standard deviation instead.</a:t>
                </a:r>
              </a:p>
              <a:p>
                <a:pPr lvl="1"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000" dirty="0"/>
                  <a:t>The standard deviation measures the typical distance between the possible values of a random variable and its expected value.</a:t>
                </a:r>
                <a:endParaRPr lang="en-US" altLang="zh-TW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7D3A89D-3409-6153-E3A3-A79A71CB8A8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199" y="1300900"/>
                <a:ext cx="11189855" cy="5081046"/>
              </a:xfrm>
              <a:blipFill>
                <a:blip r:embed="rId2"/>
                <a:stretch>
                  <a:fillRect l="-708" t="-95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605B8C8A-0FF8-61FA-7EAA-57ADF4F9AC3A}"/>
              </a:ext>
            </a:extLst>
          </p:cNvPr>
          <p:cNvSpPr/>
          <p:nvPr/>
        </p:nvSpPr>
        <p:spPr>
          <a:xfrm>
            <a:off x="0" y="0"/>
            <a:ext cx="12188825" cy="923636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393DA12-4086-AB93-F1AD-0AC0845566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88825" cy="923636"/>
          </a:xfrm>
        </p:spPr>
        <p:txBody>
          <a:bodyPr>
            <a:normAutofit/>
          </a:bodyPr>
          <a:lstStyle/>
          <a:p>
            <a:pPr algn="l">
              <a:defRPr sz="4000" b="1">
                <a:solidFill>
                  <a:srgbClr val="FDB913"/>
                </a:solidFill>
                <a:latin typeface="Garamond"/>
              </a:defRPr>
            </a:pPr>
            <a:r>
              <a:rPr lang="en-US" sz="4000" dirty="0">
                <a:solidFill>
                  <a:schemeClr val="bg1"/>
                </a:solidFill>
              </a:rPr>
              <a:t>  Standard Deviation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0BDF3B8-49F1-9B5D-C277-E643E8C14934}"/>
              </a:ext>
            </a:extLst>
          </p:cNvPr>
          <p:cNvSpPr/>
          <p:nvPr/>
        </p:nvSpPr>
        <p:spPr>
          <a:xfrm>
            <a:off x="-1" y="6503428"/>
            <a:ext cx="12188825" cy="354572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2A1A4F1-AC3A-7345-90FB-1F3E18524E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1" y="6503428"/>
            <a:ext cx="2895600" cy="354572"/>
          </a:xfrm>
        </p:spPr>
        <p:txBody>
          <a:bodyPr/>
          <a:lstStyle/>
          <a:p>
            <a:pPr algn="l"/>
            <a:r>
              <a:rPr lang="en-US">
                <a:solidFill>
                  <a:schemeClr val="bg1"/>
                </a:solidFill>
                <a:latin typeface="Garamond" panose="02020404030301010803" pitchFamily="18" charset="0"/>
              </a:rPr>
              <a:t>BUSN 320 Business Statistics</a:t>
            </a:r>
            <a:endParaRPr lang="en-US" dirty="0">
              <a:solidFill>
                <a:schemeClr val="bg1"/>
              </a:solidFill>
              <a:latin typeface="Garamond" panose="02020404030301010803" pitchFamily="18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BA3BAF7-910B-43EB-DB58-5AD8FD67AC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55225" y="6503428"/>
            <a:ext cx="2133600" cy="354572"/>
          </a:xfrm>
        </p:spPr>
        <p:txBody>
          <a:bodyPr/>
          <a:lstStyle/>
          <a:p>
            <a:fld id="{C1FF6DA9-008F-8B48-92A6-B652298478BF}" type="slidenum">
              <a:rPr lang="en-US" b="1" smtClean="0">
                <a:solidFill>
                  <a:schemeClr val="bg1"/>
                </a:solidFill>
                <a:latin typeface="Garamond" panose="02020404030301010803" pitchFamily="18" charset="0"/>
              </a:rPr>
              <a:t>16</a:t>
            </a:fld>
            <a:r>
              <a:rPr lang="en-US" b="1" dirty="0">
                <a:solidFill>
                  <a:schemeClr val="bg1"/>
                </a:solidFill>
                <a:latin typeface="Garamond" panose="02020404030301010803" pitchFamily="18" charset="0"/>
              </a:rPr>
              <a:t>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: Rounded Corners 7">
                <a:extLst>
                  <a:ext uri="{FF2B5EF4-FFF2-40B4-BE49-F238E27FC236}">
                    <a16:creationId xmlns:a16="http://schemas.microsoft.com/office/drawing/2014/main" id="{1D22DE7B-315C-EF22-AE8A-6C6C151ED96B}"/>
                  </a:ext>
                </a:extLst>
              </p:cNvPr>
              <p:cNvSpPr/>
              <p:nvPr/>
            </p:nvSpPr>
            <p:spPr>
              <a:xfrm>
                <a:off x="3525589" y="1814374"/>
                <a:ext cx="5137644" cy="1031484"/>
              </a:xfrm>
              <a:prstGeom prst="roundRect">
                <a:avLst/>
              </a:prstGeom>
              <a:solidFill>
                <a:srgbClr val="77122C"/>
              </a:solidFill>
              <a:ln>
                <a:solidFill>
                  <a:srgbClr val="77122C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altLang="zh-TW" sz="2400" i="1" smtClean="0">
                          <a:latin typeface="Cambria Math" panose="02040503050406030204" pitchFamily="18" charset="0"/>
                        </a:rPr>
                        <m:t>𝜎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m:rPr>
                              <m:nor/>
                            </m:rPr>
                            <a:rPr lang="en-US" altLang="zh-TW" sz="2400" i="0" dirty="0">
                              <a:latin typeface="Rockwell" panose="02060603020205020403" pitchFamily="18" charset="0"/>
                            </a:rPr>
                            <m:t>Var</m:t>
                          </m:r>
                          <m:d>
                            <m:dPr>
                              <m:ctrlPr>
                                <a:rPr lang="en-US" altLang="zh-TW" sz="2400" i="0" dirty="0">
                                  <a:latin typeface="Rockwell" panose="02060603020205020403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nor/>
                                </m:rPr>
                                <a:rPr lang="en-US" altLang="zh-TW" sz="2400" i="0" dirty="0">
                                  <a:latin typeface="Rockwell" panose="02060603020205020403" pitchFamily="18" charset="0"/>
                                </a:rPr>
                                <m:t>X</m:t>
                              </m:r>
                            </m:e>
                          </m:d>
                        </m:e>
                      </m:rad>
                    </m:oMath>
                  </m:oMathPara>
                </a14:m>
                <a:endParaRPr lang="en-US" sz="2400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8" name="Rectangle: Rounded Corners 7">
                <a:extLst>
                  <a:ext uri="{FF2B5EF4-FFF2-40B4-BE49-F238E27FC236}">
                    <a16:creationId xmlns:a16="http://schemas.microsoft.com/office/drawing/2014/main" id="{1D22DE7B-315C-EF22-AE8A-6C6C151ED96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25589" y="1814374"/>
                <a:ext cx="5137644" cy="1031484"/>
              </a:xfrm>
              <a:prstGeom prst="round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solidFill>
                  <a:srgbClr val="77122C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396682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224D1A-5A50-EB1C-7564-FD8CAFCFAE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BAD510F-9ABB-92C5-C30C-7128C02CDE9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57199" y="1300900"/>
                <a:ext cx="11189855" cy="5081046"/>
              </a:xfrm>
            </p:spPr>
            <p:txBody>
              <a:bodyPr>
                <a:normAutofit/>
              </a:bodyPr>
              <a:lstStyle/>
              <a:p>
                <a:pPr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400" dirty="0"/>
                  <a:t>For this exercise, use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altLang="zh-TW" sz="2400" i="0" dirty="0">
                        <a:latin typeface="Rockwell" panose="02060603020205020403" pitchFamily="18" charset="0"/>
                      </a:rPr>
                      <m:t>E</m:t>
                    </m:r>
                    <m:d>
                      <m:dPr>
                        <m:ctrlPr>
                          <a:rPr lang="en-US" altLang="zh-TW" sz="2400" i="0" dirty="0">
                            <a:latin typeface="Rockwell" panose="02060603020205020403" pitchFamily="18" charset="0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en-US" altLang="zh-TW" sz="2400" i="0" dirty="0">
                            <a:latin typeface="Rockwell" panose="02060603020205020403" pitchFamily="18" charset="0"/>
                          </a:rPr>
                          <m:t>x</m:t>
                        </m:r>
                      </m:e>
                    </m:d>
                    <m:r>
                      <a:rPr lang="en-US" altLang="zh-TW" sz="2400" b="0" i="1" dirty="0" smtClean="0">
                        <a:latin typeface="Cambria Math" panose="02040503050406030204" pitchFamily="18" charset="0"/>
                      </a:rPr>
                      <m:t>=2</m:t>
                    </m:r>
                  </m:oMath>
                </a14:m>
                <a:r>
                  <a:rPr lang="en-US" altLang="zh-TW" sz="2400" dirty="0"/>
                  <a:t> as an approximation for simplicity.</a:t>
                </a:r>
              </a:p>
              <a:p>
                <a:pPr lvl="1"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2000" dirty="0"/>
              </a:p>
              <a:p>
                <a:pPr lvl="1"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2000" dirty="0"/>
              </a:p>
              <a:p>
                <a:pPr lvl="1"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2000" dirty="0"/>
              </a:p>
              <a:p>
                <a:pPr lvl="1"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2000" dirty="0"/>
              </a:p>
              <a:p>
                <a:pPr lvl="1"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2000" dirty="0"/>
              </a:p>
              <a:p>
                <a:pPr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2400" dirty="0"/>
              </a:p>
              <a:p>
                <a:pPr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2400" dirty="0"/>
              </a:p>
              <a:p>
                <a:pPr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400" dirty="0"/>
                  <a:t>So, the variance is measured as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altLang="zh-TW" sz="2400" i="0" dirty="0">
                        <a:latin typeface="Rockwell" panose="02060603020205020403" pitchFamily="18" charset="0"/>
                      </a:rPr>
                      <m:t>Var</m:t>
                    </m:r>
                    <m:d>
                      <m:dPr>
                        <m:ctrlPr>
                          <a:rPr lang="en-US" altLang="zh-TW" sz="2400" i="0" dirty="0">
                            <a:latin typeface="Rockwell" panose="02060603020205020403" pitchFamily="18" charset="0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en-US" altLang="zh-TW" sz="2400" i="0" dirty="0">
                            <a:latin typeface="Rockwell" panose="02060603020205020403" pitchFamily="18" charset="0"/>
                          </a:rPr>
                          <m:t>X</m:t>
                        </m:r>
                      </m:e>
                    </m:d>
                    <m:r>
                      <m:rPr>
                        <m:nor/>
                      </m:rPr>
                      <a:rPr lang="en-US" sz="2400" i="0" dirty="0">
                        <a:latin typeface="Garamond" panose="02020404030301010803" pitchFamily="18" charset="0"/>
                      </a:rPr>
                      <m:t>≈</m:t>
                    </m:r>
                  </m:oMath>
                </a14:m>
                <a:r>
                  <a:rPr lang="en-US" altLang="zh-TW" sz="2400" dirty="0"/>
                  <a:t> 1.57.</a:t>
                </a:r>
              </a:p>
              <a:p>
                <a:pPr lvl="3"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400" dirty="0"/>
              </a:p>
              <a:p>
                <a:pPr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400" dirty="0"/>
                  <a:t>Then, the standard deviation is </a:t>
                </a:r>
                <a14:m>
                  <m:oMath xmlns:m="http://schemas.openxmlformats.org/officeDocument/2006/math">
                    <m:r>
                      <a:rPr lang="en-US" altLang="zh-TW" sz="2400" b="0" i="1" dirty="0" smtClean="0">
                        <a:latin typeface="Cambria Math" panose="02040503050406030204" pitchFamily="18" charset="0"/>
                      </a:rPr>
                      <m:t>𝜎</m:t>
                    </m:r>
                    <m:r>
                      <a:rPr lang="en-US" altLang="zh-TW" sz="2400" b="0" i="1" dirty="0" smtClean="0"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US" altLang="zh-TW" sz="2400" i="1" dirty="0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m:rPr>
                            <m:nor/>
                          </m:rPr>
                          <a:rPr lang="en-US" altLang="zh-TW" sz="2400" i="0" dirty="0">
                            <a:latin typeface="Rockwell" panose="02060603020205020403" pitchFamily="18" charset="0"/>
                          </a:rPr>
                          <m:t>Var</m:t>
                        </m:r>
                        <m:d>
                          <m:dPr>
                            <m:ctrlPr>
                              <a:rPr lang="en-US" altLang="zh-TW" sz="2400" i="0" dirty="0">
                                <a:latin typeface="Rockwell" panose="02060603020205020403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nor/>
                              </m:rPr>
                              <a:rPr lang="en-US" altLang="zh-TW" sz="2400" i="0" dirty="0">
                                <a:latin typeface="Rockwell" panose="02060603020205020403" pitchFamily="18" charset="0"/>
                              </a:rPr>
                              <m:t>X</m:t>
                            </m:r>
                          </m:e>
                        </m:d>
                      </m:e>
                    </m:rad>
                    <m:r>
                      <m:rPr>
                        <m:nor/>
                      </m:rPr>
                      <a:rPr lang="en-US" altLang="zh-TW" sz="2400" b="0" i="0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US" sz="2400" i="0" dirty="0">
                        <a:latin typeface="Garamond" panose="02020404030301010803" pitchFamily="18" charset="0"/>
                      </a:rPr>
                      <m:t>≈</m:t>
                    </m:r>
                    <m:r>
                      <m:rPr>
                        <m:nor/>
                      </m:rPr>
                      <a:rPr lang="en-US" sz="2400" b="0" i="0" dirty="0" smtClean="0">
                        <a:latin typeface="Garamond" panose="02020404030301010803" pitchFamily="18" charset="0"/>
                      </a:rPr>
                      <m:t> </m:t>
                    </m:r>
                    <m:rad>
                      <m:radPr>
                        <m:degHide m:val="on"/>
                        <m:ctrlPr>
                          <a:rPr lang="en-US" sz="2400" i="1" dirty="0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m:rPr>
                            <m:nor/>
                          </m:rPr>
                          <a:rPr lang="en-US" altLang="zh-TW" sz="2400" i="0" dirty="0"/>
                          <m:t>1.57</m:t>
                        </m:r>
                      </m:e>
                    </m:rad>
                  </m:oMath>
                </a14:m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2400" i="0" dirty="0">
                        <a:latin typeface="Garamond" panose="02020404030301010803" pitchFamily="18" charset="0"/>
                      </a:rPr>
                      <m:t>≈</m:t>
                    </m:r>
                  </m:oMath>
                </a14:m>
                <a:r>
                  <a:rPr lang="en-US" altLang="zh-TW" sz="2400" dirty="0"/>
                  <a:t> 1.25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BAD510F-9ABB-92C5-C30C-7128C02CDE9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199" y="1300900"/>
                <a:ext cx="11189855" cy="5081046"/>
              </a:xfrm>
              <a:blipFill>
                <a:blip r:embed="rId2"/>
                <a:stretch>
                  <a:fillRect l="-708" t="-95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9019DB0B-F005-3DC9-AAB2-F4FDD30FD0F2}"/>
              </a:ext>
            </a:extLst>
          </p:cNvPr>
          <p:cNvSpPr/>
          <p:nvPr/>
        </p:nvSpPr>
        <p:spPr>
          <a:xfrm>
            <a:off x="0" y="0"/>
            <a:ext cx="12188825" cy="923636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20B3B94-865E-BE48-6D89-70E220C29A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88825" cy="923636"/>
          </a:xfrm>
        </p:spPr>
        <p:txBody>
          <a:bodyPr>
            <a:normAutofit/>
          </a:bodyPr>
          <a:lstStyle/>
          <a:p>
            <a:pPr algn="l">
              <a:defRPr sz="4000" b="1">
                <a:solidFill>
                  <a:srgbClr val="FDB913"/>
                </a:solidFill>
                <a:latin typeface="Garamond"/>
              </a:defRPr>
            </a:pPr>
            <a:r>
              <a:rPr lang="en-US" sz="4000" dirty="0">
                <a:solidFill>
                  <a:schemeClr val="bg1"/>
                </a:solidFill>
              </a:rPr>
              <a:t>  Exercise: Variance &amp; Standard Deviation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B431BF1-DBCE-3022-3327-240BAE93A5B3}"/>
              </a:ext>
            </a:extLst>
          </p:cNvPr>
          <p:cNvSpPr/>
          <p:nvPr/>
        </p:nvSpPr>
        <p:spPr>
          <a:xfrm>
            <a:off x="-1" y="6503428"/>
            <a:ext cx="12188825" cy="354572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CB52FF-4000-9628-B97F-B3B46D1C0B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1" y="6503428"/>
            <a:ext cx="2895600" cy="354572"/>
          </a:xfrm>
        </p:spPr>
        <p:txBody>
          <a:bodyPr/>
          <a:lstStyle/>
          <a:p>
            <a:pPr algn="l"/>
            <a:r>
              <a:rPr lang="en-US">
                <a:solidFill>
                  <a:schemeClr val="bg1"/>
                </a:solidFill>
                <a:latin typeface="Garamond" panose="02020404030301010803" pitchFamily="18" charset="0"/>
              </a:rPr>
              <a:t>BUSN 320 Business Statistics</a:t>
            </a:r>
            <a:endParaRPr lang="en-US" dirty="0">
              <a:solidFill>
                <a:schemeClr val="bg1"/>
              </a:solidFill>
              <a:latin typeface="Garamond" panose="02020404030301010803" pitchFamily="18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11FD9C6-0F61-EEC0-0046-E5F8C94479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55225" y="6503428"/>
            <a:ext cx="2133600" cy="354572"/>
          </a:xfrm>
        </p:spPr>
        <p:txBody>
          <a:bodyPr/>
          <a:lstStyle/>
          <a:p>
            <a:fld id="{C1FF6DA9-008F-8B48-92A6-B652298478BF}" type="slidenum">
              <a:rPr lang="en-US" b="1" smtClean="0">
                <a:solidFill>
                  <a:schemeClr val="bg1"/>
                </a:solidFill>
                <a:latin typeface="Garamond" panose="02020404030301010803" pitchFamily="18" charset="0"/>
              </a:rPr>
              <a:t>17</a:t>
            </a:fld>
            <a:r>
              <a:rPr lang="en-US" b="1" dirty="0">
                <a:solidFill>
                  <a:schemeClr val="bg1"/>
                </a:solidFill>
                <a:latin typeface="Garamond" panose="02020404030301010803" pitchFamily="18" charset="0"/>
              </a:rPr>
              <a:t>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0" name="Table 9">
                <a:extLst>
                  <a:ext uri="{FF2B5EF4-FFF2-40B4-BE49-F238E27FC236}">
                    <a16:creationId xmlns:a16="http://schemas.microsoft.com/office/drawing/2014/main" id="{AD6129F8-126D-2937-19F2-BC2DF088483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799579041"/>
                  </p:ext>
                </p:extLst>
              </p:nvPr>
            </p:nvGraphicFramePr>
            <p:xfrm>
              <a:off x="1016486" y="1769928"/>
              <a:ext cx="9581412" cy="29667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86050">
                      <a:extLst>
                        <a:ext uri="{9D8B030D-6E8A-4147-A177-3AD203B41FA5}">
                          <a16:colId xmlns:a16="http://schemas.microsoft.com/office/drawing/2014/main" val="3269318500"/>
                        </a:ext>
                      </a:extLst>
                    </a:gridCol>
                    <a:gridCol w="1700784">
                      <a:extLst>
                        <a:ext uri="{9D8B030D-6E8A-4147-A177-3AD203B41FA5}">
                          <a16:colId xmlns:a16="http://schemas.microsoft.com/office/drawing/2014/main" val="1084937839"/>
                        </a:ext>
                      </a:extLst>
                    </a:gridCol>
                    <a:gridCol w="1389888">
                      <a:extLst>
                        <a:ext uri="{9D8B030D-6E8A-4147-A177-3AD203B41FA5}">
                          <a16:colId xmlns:a16="http://schemas.microsoft.com/office/drawing/2014/main" val="4200844973"/>
                        </a:ext>
                      </a:extLst>
                    </a:gridCol>
                    <a:gridCol w="1600200">
                      <a:extLst>
                        <a:ext uri="{9D8B030D-6E8A-4147-A177-3AD203B41FA5}">
                          <a16:colId xmlns:a16="http://schemas.microsoft.com/office/drawing/2014/main" val="3844035428"/>
                        </a:ext>
                      </a:extLst>
                    </a:gridCol>
                    <a:gridCol w="3904490">
                      <a:extLst>
                        <a:ext uri="{9D8B030D-6E8A-4147-A177-3AD203B41FA5}">
                          <a16:colId xmlns:a16="http://schemas.microsoft.com/office/drawing/2014/main" val="2990019285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r>
                                  <m:rPr>
                                    <m:nor/>
                                  </m:rPr>
                                  <a:rPr lang="en-US" altLang="zh-TW" sz="1800" b="0" i="0" dirty="0" smtClean="0">
                                    <a:latin typeface="Rockwell" panose="02060603020205020403" pitchFamily="18" charset="0"/>
                                  </a:rPr>
                                  <m:t>x</m:t>
                                </m:r>
                              </m:oMath>
                            </m:oMathPara>
                          </a14:m>
                          <a:endParaRPr lang="en-US" b="0" dirty="0">
                            <a:latin typeface="Garamond" panose="02020404030301010803" pitchFamily="18" charset="0"/>
                          </a:endParaRPr>
                        </a:p>
                      </a:txBody>
                      <a:tcPr anchor="ctr">
                        <a:solidFill>
                          <a:srgbClr val="77122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en-US" b="1" i="1" dirty="0" smtClean="0">
                                    <a:latin typeface="Cambria Math" panose="02040503050406030204" pitchFamily="18" charset="0"/>
                                  </a:rPr>
                                  <m:t>𝑷</m:t>
                                </m:r>
                                <m:d>
                                  <m:dPr>
                                    <m:ctrlPr>
                                      <a:rPr lang="en-US" altLang="zh-TW" sz="1800" b="0" i="0" dirty="0" smtClean="0">
                                        <a:latin typeface="Rockwell" panose="02060603020205020403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m:rPr>
                                        <m:nor/>
                                      </m:rPr>
                                      <a:rPr lang="en-US" altLang="zh-TW" sz="1800" b="0" i="0" dirty="0" smtClean="0">
                                        <a:latin typeface="Rockwell" panose="02060603020205020403" pitchFamily="18" charset="0"/>
                                      </a:rPr>
                                      <m:t>x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US" dirty="0">
                            <a:latin typeface="Garamond" panose="02020404030301010803" pitchFamily="18" charset="0"/>
                          </a:endParaRPr>
                        </a:p>
                      </a:txBody>
                      <a:tcPr anchor="ctr">
                        <a:solidFill>
                          <a:srgbClr val="77122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m:rPr>
                                    <m:nor/>
                                  </m:rPr>
                                  <a:rPr lang="en-US" altLang="zh-TW" sz="1800" b="0" i="0" dirty="0" smtClean="0">
                                    <a:latin typeface="Rockwell" panose="02060603020205020403" pitchFamily="18" charset="0"/>
                                  </a:rPr>
                                  <m:t>x</m:t>
                                </m:r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1800" b="0" i="0" dirty="0" smtClean="0">
                                    <a:latin typeface="Rockwell" panose="02060603020205020403" pitchFamily="18" charset="0"/>
                                  </a:rPr>
                                  <m:t>E</m:t>
                                </m:r>
                                <m:d>
                                  <m:dPr>
                                    <m:ctrlPr>
                                      <a:rPr lang="en-US" altLang="zh-TW" sz="1800" b="0" i="0" dirty="0" smtClean="0">
                                        <a:latin typeface="Rockwell" panose="02060603020205020403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m:rPr>
                                        <m:nor/>
                                      </m:rPr>
                                      <a:rPr lang="en-US" altLang="zh-TW" sz="1800" b="0" i="0" dirty="0" smtClean="0">
                                        <a:latin typeface="Rockwell" panose="02060603020205020403" pitchFamily="18" charset="0"/>
                                      </a:rPr>
                                      <m:t>x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US" b="0" dirty="0">
                            <a:latin typeface="Garamond" panose="02020404030301010803" pitchFamily="18" charset="0"/>
                          </a:endParaRPr>
                        </a:p>
                      </a:txBody>
                      <a:tcPr anchor="ctr">
                        <a:solidFill>
                          <a:srgbClr val="77122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>
                                <m:sSup>
                                  <m:sSupPr>
                                    <m:ctrlPr>
                                      <a:rPr lang="en-US" altLang="zh-TW" sz="1800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begChr m:val="["/>
                                        <m:endChr m:val="]"/>
                                        <m:ctrlPr>
                                          <a:rPr lang="en-US" altLang="zh-TW" sz="1800" b="0" i="0" dirty="0" smtClean="0">
                                            <a:latin typeface="Rockwell" panose="02060603020205020403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m:rPr>
                                            <m:nor/>
                                          </m:rPr>
                                          <a:rPr lang="en-US" altLang="zh-TW" sz="1800" b="0" i="0" dirty="0" smtClean="0">
                                            <a:latin typeface="Rockwell" panose="02060603020205020403" pitchFamily="18" charset="0"/>
                                          </a:rPr>
                                          <m:t>x</m:t>
                                        </m:r>
                                        <m:r>
                                          <a:rPr lang="en-US" b="0" i="1" dirty="0" smtClean="0">
                                            <a:latin typeface="Cambria Math" panose="02040503050406030204" pitchFamily="18" charset="0"/>
                                          </a:rPr>
                                          <m:t>−</m:t>
                                        </m:r>
                                        <m:r>
                                          <m:rPr>
                                            <m:nor/>
                                          </m:rPr>
                                          <a:rPr lang="en-US" altLang="zh-TW" sz="1800" b="0" i="0" dirty="0" smtClean="0">
                                            <a:latin typeface="Rockwell" panose="02060603020205020403" pitchFamily="18" charset="0"/>
                                          </a:rPr>
                                          <m:t>E</m:t>
                                        </m:r>
                                        <m:d>
                                          <m:dPr>
                                            <m:ctrlPr>
                                              <a:rPr lang="en-US" altLang="zh-TW" sz="1800" b="0" i="0" dirty="0" smtClean="0">
                                                <a:latin typeface="Rockwell" panose="02060603020205020403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r>
                                              <m:rPr>
                                                <m:nor/>
                                              </m:rPr>
                                              <a:rPr lang="en-US" altLang="zh-TW" sz="1800" b="0" i="0" dirty="0" smtClean="0">
                                                <a:latin typeface="Rockwell" panose="02060603020205020403" pitchFamily="18" charset="0"/>
                                              </a:rPr>
                                              <m:t>x</m:t>
                                            </m:r>
                                          </m:e>
                                        </m:d>
                                      </m:e>
                                    </m:d>
                                  </m:e>
                                  <m:sup>
                                    <m:r>
                                      <a:rPr lang="en-US" altLang="zh-TW" sz="1800" b="0" i="1" dirty="0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b="0" dirty="0">
                            <a:latin typeface="Garamond" panose="02020404030301010803" pitchFamily="18" charset="0"/>
                          </a:endParaRPr>
                        </a:p>
                      </a:txBody>
                      <a:tcPr anchor="ctr">
                        <a:solidFill>
                          <a:srgbClr val="77122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>
                                <m:sSup>
                                  <m:sSupPr>
                                    <m:ctrlPr>
                                      <a:rPr lang="en-US" altLang="zh-TW" sz="1800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begChr m:val="["/>
                                        <m:endChr m:val="]"/>
                                        <m:ctrlPr>
                                          <a:rPr lang="en-US" altLang="zh-TW" sz="1800" b="0" i="0" dirty="0" smtClean="0">
                                            <a:latin typeface="Rockwell" panose="02060603020205020403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m:rPr>
                                            <m:nor/>
                                          </m:rPr>
                                          <a:rPr lang="en-US" altLang="zh-TW" sz="1800" b="0" i="0" dirty="0" smtClean="0">
                                            <a:latin typeface="Rockwell" panose="02060603020205020403" pitchFamily="18" charset="0"/>
                                          </a:rPr>
                                          <m:t>x</m:t>
                                        </m:r>
                                        <m:r>
                                          <a:rPr lang="en-US" b="0" i="1" dirty="0" smtClean="0">
                                            <a:latin typeface="Cambria Math" panose="02040503050406030204" pitchFamily="18" charset="0"/>
                                          </a:rPr>
                                          <m:t>−</m:t>
                                        </m:r>
                                        <m:r>
                                          <m:rPr>
                                            <m:nor/>
                                          </m:rPr>
                                          <a:rPr lang="en-US" altLang="zh-TW" sz="1800" b="0" i="0" dirty="0" smtClean="0">
                                            <a:latin typeface="Rockwell" panose="02060603020205020403" pitchFamily="18" charset="0"/>
                                          </a:rPr>
                                          <m:t>E</m:t>
                                        </m:r>
                                        <m:d>
                                          <m:dPr>
                                            <m:ctrlPr>
                                              <a:rPr lang="en-US" altLang="zh-TW" sz="1800" b="0" i="0" dirty="0" smtClean="0">
                                                <a:latin typeface="Rockwell" panose="02060603020205020403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r>
                                              <m:rPr>
                                                <m:nor/>
                                              </m:rPr>
                                              <a:rPr lang="en-US" altLang="zh-TW" sz="1800" b="0" i="0" dirty="0" smtClean="0">
                                                <a:latin typeface="Rockwell" panose="02060603020205020403" pitchFamily="18" charset="0"/>
                                              </a:rPr>
                                              <m:t>x</m:t>
                                            </m:r>
                                          </m:e>
                                        </m:d>
                                      </m:e>
                                    </m:d>
                                  </m:e>
                                  <m:sup>
                                    <m:r>
                                      <a:rPr lang="en-US" altLang="zh-TW" sz="1800" b="0" i="1" dirty="0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US" altLang="zh-TW" sz="1800" b="0" i="1" dirty="0" smtClean="0">
                                    <a:latin typeface="Cambria Math" panose="02040503050406030204" pitchFamily="18" charset="0"/>
                                  </a:rPr>
                                  <m:t>⋅</m:t>
                                </m:r>
                                <m:r>
                                  <a:rPr lang="en-US" b="1" i="1" dirty="0" smtClean="0">
                                    <a:latin typeface="Cambria Math" panose="02040503050406030204" pitchFamily="18" charset="0"/>
                                  </a:rPr>
                                  <m:t>𝑷</m:t>
                                </m:r>
                                <m:d>
                                  <m:dPr>
                                    <m:ctrlPr>
                                      <a:rPr lang="en-US" altLang="zh-TW" sz="1800" b="0" i="0" dirty="0" smtClean="0">
                                        <a:latin typeface="Rockwell" panose="02060603020205020403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m:rPr>
                                        <m:nor/>
                                      </m:rPr>
                                      <a:rPr lang="en-US" altLang="zh-TW" sz="1800" b="0" i="0" dirty="0" smtClean="0">
                                        <a:latin typeface="Rockwell" panose="02060603020205020403" pitchFamily="18" charset="0"/>
                                      </a:rPr>
                                      <m:t>x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US" dirty="0">
                            <a:latin typeface="Garamond" panose="02020404030301010803" pitchFamily="18" charset="0"/>
                          </a:endParaRPr>
                        </a:p>
                      </a:txBody>
                      <a:tcPr anchor="ctr">
                        <a:solidFill>
                          <a:srgbClr val="77122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28335293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>
                              <a:latin typeface="Garamond" panose="02020404030301010803" pitchFamily="18" charset="0"/>
                            </a:rPr>
                            <a:t>0</a:t>
                          </a:r>
                          <a:endParaRPr lang="en-US" dirty="0">
                            <a:latin typeface="Garamond" panose="02020404030301010803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Garamond" panose="02020404030301010803" pitchFamily="18" charset="0"/>
                            </a:rPr>
                            <a:t>3/30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dirty="0">
                            <a:latin typeface="Garamond" panose="02020404030301010803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dirty="0">
                            <a:latin typeface="Garamond" panose="02020404030301010803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dirty="0">
                            <a:latin typeface="Garamond" panose="02020404030301010803" pitchFamily="18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86434689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>
                              <a:latin typeface="Garamond" panose="02020404030301010803" pitchFamily="18" charset="0"/>
                            </a:rPr>
                            <a:t>1</a:t>
                          </a:r>
                          <a:endParaRPr lang="en-US" dirty="0">
                            <a:latin typeface="Garamond" panose="02020404030301010803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Garamond" panose="02020404030301010803" pitchFamily="18" charset="0"/>
                            </a:rPr>
                            <a:t>8/30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dirty="0">
                            <a:latin typeface="Garamond" panose="02020404030301010803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dirty="0">
                            <a:latin typeface="Garamond" panose="02020404030301010803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dirty="0">
                            <a:latin typeface="Garamond" panose="02020404030301010803" pitchFamily="18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7368346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>
                              <a:latin typeface="Garamond" panose="02020404030301010803" pitchFamily="18" charset="0"/>
                            </a:rPr>
                            <a:t>2</a:t>
                          </a:r>
                          <a:endParaRPr lang="en-US" dirty="0">
                            <a:latin typeface="Garamond" panose="02020404030301010803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>
                              <a:latin typeface="Garamond" panose="02020404030301010803" pitchFamily="18" charset="0"/>
                            </a:rPr>
                            <a:t>9/30</a:t>
                          </a:r>
                          <a:endParaRPr lang="en-US" dirty="0">
                            <a:latin typeface="Garamond" panose="02020404030301010803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>
                            <a:latin typeface="Garamond" panose="02020404030301010803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>
                            <a:latin typeface="Garamond" panose="02020404030301010803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>
                            <a:latin typeface="Garamond" panose="02020404030301010803" pitchFamily="18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28412386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>
                              <a:latin typeface="Garamond" panose="02020404030301010803" pitchFamily="18" charset="0"/>
                            </a:rPr>
                            <a:t>3</a:t>
                          </a:r>
                          <a:endParaRPr lang="en-US" dirty="0">
                            <a:latin typeface="Garamond" panose="02020404030301010803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>
                              <a:latin typeface="Garamond" panose="02020404030301010803" pitchFamily="18" charset="0"/>
                            </a:rPr>
                            <a:t>6/30</a:t>
                          </a:r>
                          <a:endParaRPr lang="en-US" dirty="0">
                            <a:latin typeface="Garamond" panose="02020404030301010803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>
                            <a:latin typeface="Garamond" panose="02020404030301010803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>
                            <a:latin typeface="Garamond" panose="02020404030301010803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>
                            <a:latin typeface="Garamond" panose="02020404030301010803" pitchFamily="18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49561823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>
                              <a:latin typeface="Garamond" panose="02020404030301010803" pitchFamily="18" charset="0"/>
                            </a:rPr>
                            <a:t>4</a:t>
                          </a:r>
                          <a:endParaRPr lang="en-US" dirty="0">
                            <a:latin typeface="Garamond" panose="02020404030301010803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>
                              <a:latin typeface="Garamond" panose="02020404030301010803" pitchFamily="18" charset="0"/>
                            </a:rPr>
                            <a:t>3/30</a:t>
                          </a:r>
                          <a:endParaRPr lang="en-US" dirty="0">
                            <a:latin typeface="Garamond" panose="02020404030301010803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>
                            <a:latin typeface="Garamond" panose="02020404030301010803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>
                            <a:latin typeface="Garamond" panose="02020404030301010803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>
                            <a:latin typeface="Garamond" panose="02020404030301010803" pitchFamily="18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42584031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>
                              <a:latin typeface="Garamond" panose="02020404030301010803" pitchFamily="18" charset="0"/>
                            </a:rPr>
                            <a:t>5</a:t>
                          </a:r>
                          <a:endParaRPr lang="en-US" dirty="0">
                            <a:latin typeface="Garamond" panose="02020404030301010803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>
                              <a:latin typeface="Garamond" panose="02020404030301010803" pitchFamily="18" charset="0"/>
                            </a:rPr>
                            <a:t>1/30</a:t>
                          </a:r>
                          <a:endParaRPr lang="en-US" dirty="0">
                            <a:latin typeface="Garamond" panose="02020404030301010803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>
                            <a:latin typeface="Garamond" panose="02020404030301010803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>
                            <a:latin typeface="Garamond" panose="02020404030301010803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>
                            <a:latin typeface="Garamond" panose="02020404030301010803" pitchFamily="18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3738953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>
                              <a:latin typeface="Garamond" panose="02020404030301010803" pitchFamily="18" charset="0"/>
                            </a:rPr>
                            <a:t>Total</a:t>
                          </a:r>
                          <a:endParaRPr lang="en-US" dirty="0">
                            <a:latin typeface="Garamond" panose="02020404030301010803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nary>
                                <m:naryPr>
                                  <m:chr m:val="∑"/>
                                  <m:limLoc m:val="subSup"/>
                                  <m:supHide m:val="on"/>
                                  <m:ctrlPr>
                                    <a:rPr lang="en-US" altLang="zh-TW" sz="1800" b="0" i="0" dirty="0">
                                      <a:solidFill>
                                        <a:schemeClr val="tx1"/>
                                      </a:solidFill>
                                      <a:latin typeface="Rockwell" panose="02060603020205020403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nor/>
                                    </m:rPr>
                                    <a:rPr lang="en-US" altLang="zh-TW" sz="1800" b="0" i="0" dirty="0">
                                      <a:solidFill>
                                        <a:schemeClr val="tx1"/>
                                      </a:solidFill>
                                      <a:latin typeface="Rockwell" panose="02060603020205020403" pitchFamily="18" charset="0"/>
                                    </a:rPr>
                                    <m:t>x</m:t>
                                  </m:r>
                                </m:sub>
                                <m:sup/>
                                <m:e>
                                  <m:r>
                                    <a:rPr lang="en-US" sz="1800" b="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  <m:d>
                                    <m:dPr>
                                      <m:ctrlPr>
                                        <a:rPr lang="en-US" altLang="zh-TW" sz="1800" b="0" i="0" dirty="0">
                                          <a:solidFill>
                                            <a:schemeClr val="tx1"/>
                                          </a:solidFill>
                                          <a:latin typeface="Rockwell" panose="02060603020205020403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m:rPr>
                                          <m:nor/>
                                        </m:rPr>
                                        <a:rPr lang="en-US" altLang="zh-TW" sz="1800" b="0" i="0" dirty="0">
                                          <a:solidFill>
                                            <a:schemeClr val="tx1"/>
                                          </a:solidFill>
                                          <a:latin typeface="Rockwell" panose="02060603020205020403" pitchFamily="18" charset="0"/>
                                        </a:rPr>
                                        <m:t>x</m:t>
                                      </m:r>
                                    </m:e>
                                  </m:d>
                                </m:e>
                              </m:nary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</m:oMath>
                          </a14:m>
                          <a:r>
                            <a:rPr lang="en-US" dirty="0">
                              <a:latin typeface="Garamond" panose="02020404030301010803" pitchFamily="18" charset="0"/>
                            </a:rPr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>
                            <a:latin typeface="Garamond" panose="02020404030301010803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>
                            <a:latin typeface="Garamond" panose="02020404030301010803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dirty="0">
                            <a:solidFill>
                              <a:schemeClr val="tx1"/>
                            </a:solidFill>
                            <a:latin typeface="Garamond" panose="02020404030301010803" pitchFamily="18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55062058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0" name="Table 9">
                <a:extLst>
                  <a:ext uri="{FF2B5EF4-FFF2-40B4-BE49-F238E27FC236}">
                    <a16:creationId xmlns:a16="http://schemas.microsoft.com/office/drawing/2014/main" id="{AD6129F8-126D-2937-19F2-BC2DF088483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799579041"/>
                  </p:ext>
                </p:extLst>
              </p:nvPr>
            </p:nvGraphicFramePr>
            <p:xfrm>
              <a:off x="1016486" y="1769928"/>
              <a:ext cx="9581412" cy="29667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86050">
                      <a:extLst>
                        <a:ext uri="{9D8B030D-6E8A-4147-A177-3AD203B41FA5}">
                          <a16:colId xmlns:a16="http://schemas.microsoft.com/office/drawing/2014/main" val="3269318500"/>
                        </a:ext>
                      </a:extLst>
                    </a:gridCol>
                    <a:gridCol w="1700784">
                      <a:extLst>
                        <a:ext uri="{9D8B030D-6E8A-4147-A177-3AD203B41FA5}">
                          <a16:colId xmlns:a16="http://schemas.microsoft.com/office/drawing/2014/main" val="1084937839"/>
                        </a:ext>
                      </a:extLst>
                    </a:gridCol>
                    <a:gridCol w="1389888">
                      <a:extLst>
                        <a:ext uri="{9D8B030D-6E8A-4147-A177-3AD203B41FA5}">
                          <a16:colId xmlns:a16="http://schemas.microsoft.com/office/drawing/2014/main" val="4200844973"/>
                        </a:ext>
                      </a:extLst>
                    </a:gridCol>
                    <a:gridCol w="1600200">
                      <a:extLst>
                        <a:ext uri="{9D8B030D-6E8A-4147-A177-3AD203B41FA5}">
                          <a16:colId xmlns:a16="http://schemas.microsoft.com/office/drawing/2014/main" val="3844035428"/>
                        </a:ext>
                      </a:extLst>
                    </a:gridCol>
                    <a:gridCol w="3904490">
                      <a:extLst>
                        <a:ext uri="{9D8B030D-6E8A-4147-A177-3AD203B41FA5}">
                          <a16:colId xmlns:a16="http://schemas.microsoft.com/office/drawing/2014/main" val="2990019285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617" t="-1639" r="-873457" b="-88360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58423" t="-1639" r="-407168" b="-88360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93860" t="-1639" r="-398246" b="-88360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254753" t="-1639" r="-245247" b="-88360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45554" t="-1639" r="-624" b="-88360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28335293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>
                              <a:latin typeface="Garamond" panose="02020404030301010803" pitchFamily="18" charset="0"/>
                            </a:rPr>
                            <a:t>0</a:t>
                          </a:r>
                          <a:endParaRPr lang="en-US" dirty="0">
                            <a:latin typeface="Garamond" panose="02020404030301010803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Garamond" panose="02020404030301010803" pitchFamily="18" charset="0"/>
                            </a:rPr>
                            <a:t>3/30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dirty="0">
                            <a:latin typeface="Garamond" panose="02020404030301010803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dirty="0">
                            <a:latin typeface="Garamond" panose="02020404030301010803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dirty="0">
                            <a:latin typeface="Garamond" panose="02020404030301010803" pitchFamily="18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86434689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>
                              <a:latin typeface="Garamond" panose="02020404030301010803" pitchFamily="18" charset="0"/>
                            </a:rPr>
                            <a:t>1</a:t>
                          </a:r>
                          <a:endParaRPr lang="en-US" dirty="0">
                            <a:latin typeface="Garamond" panose="02020404030301010803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Garamond" panose="02020404030301010803" pitchFamily="18" charset="0"/>
                            </a:rPr>
                            <a:t>8/30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dirty="0">
                            <a:latin typeface="Garamond" panose="02020404030301010803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dirty="0">
                            <a:latin typeface="Garamond" panose="02020404030301010803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dirty="0">
                            <a:latin typeface="Garamond" panose="02020404030301010803" pitchFamily="18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7368346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>
                              <a:latin typeface="Garamond" panose="02020404030301010803" pitchFamily="18" charset="0"/>
                            </a:rPr>
                            <a:t>2</a:t>
                          </a:r>
                          <a:endParaRPr lang="en-US" dirty="0">
                            <a:latin typeface="Garamond" panose="02020404030301010803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>
                              <a:latin typeface="Garamond" panose="02020404030301010803" pitchFamily="18" charset="0"/>
                            </a:rPr>
                            <a:t>9/30</a:t>
                          </a:r>
                          <a:endParaRPr lang="en-US" dirty="0">
                            <a:latin typeface="Garamond" panose="02020404030301010803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>
                            <a:latin typeface="Garamond" panose="02020404030301010803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>
                            <a:latin typeface="Garamond" panose="02020404030301010803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>
                            <a:latin typeface="Garamond" panose="02020404030301010803" pitchFamily="18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28412386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>
                              <a:latin typeface="Garamond" panose="02020404030301010803" pitchFamily="18" charset="0"/>
                            </a:rPr>
                            <a:t>3</a:t>
                          </a:r>
                          <a:endParaRPr lang="en-US" dirty="0">
                            <a:latin typeface="Garamond" panose="02020404030301010803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>
                              <a:latin typeface="Garamond" panose="02020404030301010803" pitchFamily="18" charset="0"/>
                            </a:rPr>
                            <a:t>6/30</a:t>
                          </a:r>
                          <a:endParaRPr lang="en-US" dirty="0">
                            <a:latin typeface="Garamond" panose="02020404030301010803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>
                            <a:latin typeface="Garamond" panose="02020404030301010803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>
                            <a:latin typeface="Garamond" panose="02020404030301010803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>
                            <a:latin typeface="Garamond" panose="02020404030301010803" pitchFamily="18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49561823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>
                              <a:latin typeface="Garamond" panose="02020404030301010803" pitchFamily="18" charset="0"/>
                            </a:rPr>
                            <a:t>4</a:t>
                          </a:r>
                          <a:endParaRPr lang="en-US" dirty="0">
                            <a:latin typeface="Garamond" panose="02020404030301010803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>
                              <a:latin typeface="Garamond" panose="02020404030301010803" pitchFamily="18" charset="0"/>
                            </a:rPr>
                            <a:t>3/30</a:t>
                          </a:r>
                          <a:endParaRPr lang="en-US" dirty="0">
                            <a:latin typeface="Garamond" panose="02020404030301010803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>
                            <a:latin typeface="Garamond" panose="02020404030301010803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>
                            <a:latin typeface="Garamond" panose="02020404030301010803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>
                            <a:latin typeface="Garamond" panose="02020404030301010803" pitchFamily="18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42584031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>
                              <a:latin typeface="Garamond" panose="02020404030301010803" pitchFamily="18" charset="0"/>
                            </a:rPr>
                            <a:t>5</a:t>
                          </a:r>
                          <a:endParaRPr lang="en-US" dirty="0">
                            <a:latin typeface="Garamond" panose="02020404030301010803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>
                              <a:latin typeface="Garamond" panose="02020404030301010803" pitchFamily="18" charset="0"/>
                            </a:rPr>
                            <a:t>1/30</a:t>
                          </a:r>
                          <a:endParaRPr lang="en-US" dirty="0">
                            <a:latin typeface="Garamond" panose="02020404030301010803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>
                            <a:latin typeface="Garamond" panose="02020404030301010803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>
                            <a:latin typeface="Garamond" panose="02020404030301010803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>
                            <a:latin typeface="Garamond" panose="02020404030301010803" pitchFamily="18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3738953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>
                              <a:latin typeface="Garamond" panose="02020404030301010803" pitchFamily="18" charset="0"/>
                            </a:rPr>
                            <a:t>Total</a:t>
                          </a:r>
                          <a:endParaRPr lang="en-US" dirty="0">
                            <a:latin typeface="Garamond" panose="02020404030301010803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58423" t="-701639" r="-407168" b="-18360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>
                            <a:latin typeface="Garamond" panose="02020404030301010803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>
                            <a:latin typeface="Garamond" panose="02020404030301010803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dirty="0">
                            <a:solidFill>
                              <a:schemeClr val="tx1"/>
                            </a:solidFill>
                            <a:latin typeface="Garamond" panose="02020404030301010803" pitchFamily="18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550620581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8" name="Table 7">
                <a:extLst>
                  <a:ext uri="{FF2B5EF4-FFF2-40B4-BE49-F238E27FC236}">
                    <a16:creationId xmlns:a16="http://schemas.microsoft.com/office/drawing/2014/main" id="{D96B6906-2AF5-FB07-4729-422490D8B87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112360148"/>
                  </p:ext>
                </p:extLst>
              </p:nvPr>
            </p:nvGraphicFramePr>
            <p:xfrm>
              <a:off x="1016486" y="1769928"/>
              <a:ext cx="9581412" cy="29667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86050">
                      <a:extLst>
                        <a:ext uri="{9D8B030D-6E8A-4147-A177-3AD203B41FA5}">
                          <a16:colId xmlns:a16="http://schemas.microsoft.com/office/drawing/2014/main" val="3269318500"/>
                        </a:ext>
                      </a:extLst>
                    </a:gridCol>
                    <a:gridCol w="1700784">
                      <a:extLst>
                        <a:ext uri="{9D8B030D-6E8A-4147-A177-3AD203B41FA5}">
                          <a16:colId xmlns:a16="http://schemas.microsoft.com/office/drawing/2014/main" val="1084937839"/>
                        </a:ext>
                      </a:extLst>
                    </a:gridCol>
                    <a:gridCol w="1389888">
                      <a:extLst>
                        <a:ext uri="{9D8B030D-6E8A-4147-A177-3AD203B41FA5}">
                          <a16:colId xmlns:a16="http://schemas.microsoft.com/office/drawing/2014/main" val="4200844973"/>
                        </a:ext>
                      </a:extLst>
                    </a:gridCol>
                    <a:gridCol w="1600200">
                      <a:extLst>
                        <a:ext uri="{9D8B030D-6E8A-4147-A177-3AD203B41FA5}">
                          <a16:colId xmlns:a16="http://schemas.microsoft.com/office/drawing/2014/main" val="3844035428"/>
                        </a:ext>
                      </a:extLst>
                    </a:gridCol>
                    <a:gridCol w="3904490">
                      <a:extLst>
                        <a:ext uri="{9D8B030D-6E8A-4147-A177-3AD203B41FA5}">
                          <a16:colId xmlns:a16="http://schemas.microsoft.com/office/drawing/2014/main" val="2990019285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r>
                                  <m:rPr>
                                    <m:nor/>
                                  </m:rPr>
                                  <a:rPr lang="en-US" altLang="zh-TW" sz="1800" b="0" i="0" dirty="0" smtClean="0">
                                    <a:latin typeface="Rockwell" panose="02060603020205020403" pitchFamily="18" charset="0"/>
                                  </a:rPr>
                                  <m:t>x</m:t>
                                </m:r>
                              </m:oMath>
                            </m:oMathPara>
                          </a14:m>
                          <a:endParaRPr lang="en-US" b="0" dirty="0">
                            <a:latin typeface="Garamond" panose="02020404030301010803" pitchFamily="18" charset="0"/>
                          </a:endParaRPr>
                        </a:p>
                      </a:txBody>
                      <a:tcPr anchor="ctr">
                        <a:solidFill>
                          <a:srgbClr val="77122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en-US" b="1" i="1" dirty="0" smtClean="0">
                                    <a:latin typeface="Cambria Math" panose="02040503050406030204" pitchFamily="18" charset="0"/>
                                  </a:rPr>
                                  <m:t>𝑷</m:t>
                                </m:r>
                                <m:d>
                                  <m:dPr>
                                    <m:ctrlPr>
                                      <a:rPr lang="en-US" altLang="zh-TW" sz="1800" b="0" i="0" dirty="0" smtClean="0">
                                        <a:latin typeface="Rockwell" panose="02060603020205020403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m:rPr>
                                        <m:nor/>
                                      </m:rPr>
                                      <a:rPr lang="en-US" altLang="zh-TW" sz="1800" b="0" i="0" dirty="0" smtClean="0">
                                        <a:latin typeface="Rockwell" panose="02060603020205020403" pitchFamily="18" charset="0"/>
                                      </a:rPr>
                                      <m:t>x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US" dirty="0">
                            <a:latin typeface="Garamond" panose="02020404030301010803" pitchFamily="18" charset="0"/>
                          </a:endParaRPr>
                        </a:p>
                      </a:txBody>
                      <a:tcPr anchor="ctr">
                        <a:solidFill>
                          <a:srgbClr val="77122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m:rPr>
                                    <m:nor/>
                                  </m:rPr>
                                  <a:rPr lang="en-US" altLang="zh-TW" sz="1800" b="0" i="0" dirty="0" smtClean="0">
                                    <a:latin typeface="Rockwell" panose="02060603020205020403" pitchFamily="18" charset="0"/>
                                  </a:rPr>
                                  <m:t>x</m:t>
                                </m:r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1800" b="0" i="0" dirty="0" smtClean="0">
                                    <a:latin typeface="Rockwell" panose="02060603020205020403" pitchFamily="18" charset="0"/>
                                  </a:rPr>
                                  <m:t>E</m:t>
                                </m:r>
                                <m:d>
                                  <m:dPr>
                                    <m:ctrlPr>
                                      <a:rPr lang="en-US" altLang="zh-TW" sz="1800" b="0" i="0" dirty="0" smtClean="0">
                                        <a:latin typeface="Rockwell" panose="02060603020205020403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m:rPr>
                                        <m:nor/>
                                      </m:rPr>
                                      <a:rPr lang="en-US" altLang="zh-TW" sz="1800" b="0" i="0" dirty="0" smtClean="0">
                                        <a:latin typeface="Rockwell" panose="02060603020205020403" pitchFamily="18" charset="0"/>
                                      </a:rPr>
                                      <m:t>x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US" b="0" dirty="0">
                            <a:latin typeface="Garamond" panose="02020404030301010803" pitchFamily="18" charset="0"/>
                          </a:endParaRPr>
                        </a:p>
                      </a:txBody>
                      <a:tcPr anchor="ctr">
                        <a:solidFill>
                          <a:srgbClr val="77122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>
                                <m:sSup>
                                  <m:sSupPr>
                                    <m:ctrlPr>
                                      <a:rPr lang="en-US" altLang="zh-TW" sz="1800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begChr m:val="["/>
                                        <m:endChr m:val="]"/>
                                        <m:ctrlPr>
                                          <a:rPr lang="en-US" altLang="zh-TW" sz="1800" b="0" i="0" dirty="0" smtClean="0">
                                            <a:latin typeface="Rockwell" panose="02060603020205020403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m:rPr>
                                            <m:nor/>
                                          </m:rPr>
                                          <a:rPr lang="en-US" altLang="zh-TW" sz="1800" b="0" i="0" dirty="0" smtClean="0">
                                            <a:latin typeface="Rockwell" panose="02060603020205020403" pitchFamily="18" charset="0"/>
                                          </a:rPr>
                                          <m:t>x</m:t>
                                        </m:r>
                                        <m:r>
                                          <a:rPr lang="en-US" b="0" i="1" dirty="0" smtClean="0">
                                            <a:latin typeface="Cambria Math" panose="02040503050406030204" pitchFamily="18" charset="0"/>
                                          </a:rPr>
                                          <m:t>−</m:t>
                                        </m:r>
                                        <m:r>
                                          <m:rPr>
                                            <m:nor/>
                                          </m:rPr>
                                          <a:rPr lang="en-US" altLang="zh-TW" sz="1800" b="0" i="0" dirty="0" smtClean="0">
                                            <a:latin typeface="Rockwell" panose="02060603020205020403" pitchFamily="18" charset="0"/>
                                          </a:rPr>
                                          <m:t>E</m:t>
                                        </m:r>
                                        <m:d>
                                          <m:dPr>
                                            <m:ctrlPr>
                                              <a:rPr lang="en-US" altLang="zh-TW" sz="1800" b="0" i="0" dirty="0" smtClean="0">
                                                <a:latin typeface="Rockwell" panose="02060603020205020403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r>
                                              <m:rPr>
                                                <m:nor/>
                                              </m:rPr>
                                              <a:rPr lang="en-US" altLang="zh-TW" sz="1800" b="0" i="0" dirty="0" smtClean="0">
                                                <a:latin typeface="Rockwell" panose="02060603020205020403" pitchFamily="18" charset="0"/>
                                              </a:rPr>
                                              <m:t>x</m:t>
                                            </m:r>
                                          </m:e>
                                        </m:d>
                                      </m:e>
                                    </m:d>
                                  </m:e>
                                  <m:sup>
                                    <m:r>
                                      <a:rPr lang="en-US" altLang="zh-TW" sz="1800" b="0" i="1" dirty="0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b="0" dirty="0">
                            <a:latin typeface="Garamond" panose="02020404030301010803" pitchFamily="18" charset="0"/>
                          </a:endParaRPr>
                        </a:p>
                      </a:txBody>
                      <a:tcPr anchor="ctr">
                        <a:solidFill>
                          <a:srgbClr val="77122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>
                                <m:sSup>
                                  <m:sSupPr>
                                    <m:ctrlPr>
                                      <a:rPr lang="en-US" altLang="zh-TW" sz="1800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begChr m:val="["/>
                                        <m:endChr m:val="]"/>
                                        <m:ctrlPr>
                                          <a:rPr lang="en-US" altLang="zh-TW" sz="1800" b="0" i="0" dirty="0" smtClean="0">
                                            <a:latin typeface="Rockwell" panose="02060603020205020403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m:rPr>
                                            <m:nor/>
                                          </m:rPr>
                                          <a:rPr lang="en-US" altLang="zh-TW" sz="1800" b="0" i="0" dirty="0" smtClean="0">
                                            <a:latin typeface="Rockwell" panose="02060603020205020403" pitchFamily="18" charset="0"/>
                                          </a:rPr>
                                          <m:t>x</m:t>
                                        </m:r>
                                        <m:r>
                                          <a:rPr lang="en-US" b="0" i="1" dirty="0" smtClean="0">
                                            <a:latin typeface="Cambria Math" panose="02040503050406030204" pitchFamily="18" charset="0"/>
                                          </a:rPr>
                                          <m:t>−</m:t>
                                        </m:r>
                                        <m:r>
                                          <m:rPr>
                                            <m:nor/>
                                          </m:rPr>
                                          <a:rPr lang="en-US" altLang="zh-TW" sz="1800" b="0" i="0" dirty="0" smtClean="0">
                                            <a:latin typeface="Rockwell" panose="02060603020205020403" pitchFamily="18" charset="0"/>
                                          </a:rPr>
                                          <m:t>E</m:t>
                                        </m:r>
                                        <m:d>
                                          <m:dPr>
                                            <m:ctrlPr>
                                              <a:rPr lang="en-US" altLang="zh-TW" sz="1800" b="0" i="0" dirty="0" smtClean="0">
                                                <a:latin typeface="Rockwell" panose="02060603020205020403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r>
                                              <m:rPr>
                                                <m:nor/>
                                              </m:rPr>
                                              <a:rPr lang="en-US" altLang="zh-TW" sz="1800" b="0" i="0" dirty="0" smtClean="0">
                                                <a:latin typeface="Rockwell" panose="02060603020205020403" pitchFamily="18" charset="0"/>
                                              </a:rPr>
                                              <m:t>x</m:t>
                                            </m:r>
                                          </m:e>
                                        </m:d>
                                      </m:e>
                                    </m:d>
                                  </m:e>
                                  <m:sup>
                                    <m:r>
                                      <a:rPr lang="en-US" altLang="zh-TW" sz="1800" b="0" i="1" dirty="0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US" altLang="zh-TW" sz="1800" b="0" i="1" dirty="0" smtClean="0">
                                    <a:latin typeface="Cambria Math" panose="02040503050406030204" pitchFamily="18" charset="0"/>
                                  </a:rPr>
                                  <m:t>⋅</m:t>
                                </m:r>
                                <m:r>
                                  <a:rPr lang="en-US" b="1" i="1" dirty="0" smtClean="0">
                                    <a:latin typeface="Cambria Math" panose="02040503050406030204" pitchFamily="18" charset="0"/>
                                  </a:rPr>
                                  <m:t>𝑷</m:t>
                                </m:r>
                                <m:d>
                                  <m:dPr>
                                    <m:ctrlPr>
                                      <a:rPr lang="en-US" altLang="zh-TW" sz="1800" b="0" i="0" dirty="0" smtClean="0">
                                        <a:latin typeface="Rockwell" panose="02060603020205020403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m:rPr>
                                        <m:nor/>
                                      </m:rPr>
                                      <a:rPr lang="en-US" altLang="zh-TW" sz="1800" b="0" i="0" dirty="0" smtClean="0">
                                        <a:latin typeface="Rockwell" panose="02060603020205020403" pitchFamily="18" charset="0"/>
                                      </a:rPr>
                                      <m:t>x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US" dirty="0">
                            <a:latin typeface="Garamond" panose="02020404030301010803" pitchFamily="18" charset="0"/>
                          </a:endParaRPr>
                        </a:p>
                      </a:txBody>
                      <a:tcPr anchor="ctr">
                        <a:solidFill>
                          <a:srgbClr val="77122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28335293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>
                              <a:latin typeface="Garamond" panose="02020404030301010803" pitchFamily="18" charset="0"/>
                            </a:rPr>
                            <a:t>0</a:t>
                          </a:r>
                          <a:endParaRPr lang="en-US" dirty="0">
                            <a:latin typeface="Garamond" panose="02020404030301010803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Garamond" panose="02020404030301010803" pitchFamily="18" charset="0"/>
                            </a:rPr>
                            <a:t>3/30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>
                              <a:latin typeface="Garamond" panose="02020404030301010803" pitchFamily="18" charset="0"/>
                            </a:rPr>
                            <a:t>-2</a:t>
                          </a:r>
                          <a:endParaRPr lang="en-US" dirty="0">
                            <a:latin typeface="Garamond" panose="02020404030301010803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dirty="0">
                            <a:latin typeface="Garamond" panose="02020404030301010803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dirty="0">
                            <a:latin typeface="Garamond" panose="02020404030301010803" pitchFamily="18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86434689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>
                              <a:latin typeface="Garamond" panose="02020404030301010803" pitchFamily="18" charset="0"/>
                            </a:rPr>
                            <a:t>1</a:t>
                          </a:r>
                          <a:endParaRPr lang="en-US" dirty="0">
                            <a:latin typeface="Garamond" panose="02020404030301010803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Garamond" panose="02020404030301010803" pitchFamily="18" charset="0"/>
                            </a:rPr>
                            <a:t>8/30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>
                              <a:latin typeface="Garamond" panose="02020404030301010803" pitchFamily="18" charset="0"/>
                            </a:rPr>
                            <a:t>-1</a:t>
                          </a:r>
                          <a:endParaRPr lang="en-US" dirty="0">
                            <a:latin typeface="Garamond" panose="02020404030301010803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dirty="0">
                            <a:latin typeface="Garamond" panose="02020404030301010803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dirty="0">
                            <a:latin typeface="Garamond" panose="02020404030301010803" pitchFamily="18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7368346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>
                              <a:latin typeface="Garamond" panose="02020404030301010803" pitchFamily="18" charset="0"/>
                            </a:rPr>
                            <a:t>2</a:t>
                          </a:r>
                          <a:endParaRPr lang="en-US" dirty="0">
                            <a:latin typeface="Garamond" panose="02020404030301010803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>
                              <a:latin typeface="Garamond" panose="02020404030301010803" pitchFamily="18" charset="0"/>
                            </a:rPr>
                            <a:t>9/30</a:t>
                          </a:r>
                          <a:endParaRPr lang="en-US" dirty="0">
                            <a:latin typeface="Garamond" panose="02020404030301010803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Garamond" panose="02020404030301010803" pitchFamily="18" charset="0"/>
                            </a:rPr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>
                            <a:latin typeface="Garamond" panose="02020404030301010803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>
                            <a:latin typeface="Garamond" panose="02020404030301010803" pitchFamily="18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28412386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>
                              <a:latin typeface="Garamond" panose="02020404030301010803" pitchFamily="18" charset="0"/>
                            </a:rPr>
                            <a:t>3</a:t>
                          </a:r>
                          <a:endParaRPr lang="en-US" dirty="0">
                            <a:latin typeface="Garamond" panose="02020404030301010803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>
                              <a:latin typeface="Garamond" panose="02020404030301010803" pitchFamily="18" charset="0"/>
                            </a:rPr>
                            <a:t>6/30</a:t>
                          </a:r>
                          <a:endParaRPr lang="en-US" dirty="0">
                            <a:latin typeface="Garamond" panose="02020404030301010803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>
                              <a:latin typeface="Garamond" panose="02020404030301010803" pitchFamily="18" charset="0"/>
                            </a:rPr>
                            <a:t>1</a:t>
                          </a:r>
                          <a:endParaRPr lang="en-US" dirty="0">
                            <a:latin typeface="Garamond" panose="02020404030301010803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>
                            <a:latin typeface="Garamond" panose="02020404030301010803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>
                            <a:latin typeface="Garamond" panose="02020404030301010803" pitchFamily="18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49561823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>
                              <a:latin typeface="Garamond" panose="02020404030301010803" pitchFamily="18" charset="0"/>
                            </a:rPr>
                            <a:t>4</a:t>
                          </a:r>
                          <a:endParaRPr lang="en-US" dirty="0">
                            <a:latin typeface="Garamond" panose="02020404030301010803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>
                              <a:latin typeface="Garamond" panose="02020404030301010803" pitchFamily="18" charset="0"/>
                            </a:rPr>
                            <a:t>3/30</a:t>
                          </a:r>
                          <a:endParaRPr lang="en-US" dirty="0">
                            <a:latin typeface="Garamond" panose="02020404030301010803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>
                              <a:latin typeface="Garamond" panose="02020404030301010803" pitchFamily="18" charset="0"/>
                            </a:rPr>
                            <a:t>2</a:t>
                          </a:r>
                          <a:endParaRPr lang="en-US" dirty="0">
                            <a:latin typeface="Garamond" panose="02020404030301010803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>
                            <a:latin typeface="Garamond" panose="02020404030301010803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>
                            <a:latin typeface="Garamond" panose="02020404030301010803" pitchFamily="18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42584031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>
                              <a:latin typeface="Garamond" panose="02020404030301010803" pitchFamily="18" charset="0"/>
                            </a:rPr>
                            <a:t>5</a:t>
                          </a:r>
                          <a:endParaRPr lang="en-US" dirty="0">
                            <a:latin typeface="Garamond" panose="02020404030301010803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>
                              <a:latin typeface="Garamond" panose="02020404030301010803" pitchFamily="18" charset="0"/>
                            </a:rPr>
                            <a:t>1/30</a:t>
                          </a:r>
                          <a:endParaRPr lang="en-US" dirty="0">
                            <a:latin typeface="Garamond" panose="02020404030301010803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>
                              <a:latin typeface="Garamond" panose="02020404030301010803" pitchFamily="18" charset="0"/>
                            </a:rPr>
                            <a:t>3</a:t>
                          </a:r>
                          <a:endParaRPr lang="en-US" dirty="0">
                            <a:latin typeface="Garamond" panose="02020404030301010803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>
                            <a:latin typeface="Garamond" panose="02020404030301010803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>
                            <a:latin typeface="Garamond" panose="02020404030301010803" pitchFamily="18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3738953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>
                              <a:latin typeface="Garamond" panose="02020404030301010803" pitchFamily="18" charset="0"/>
                            </a:rPr>
                            <a:t>Total</a:t>
                          </a:r>
                          <a:endParaRPr lang="en-US" dirty="0">
                            <a:latin typeface="Garamond" panose="02020404030301010803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nary>
                                <m:naryPr>
                                  <m:chr m:val="∑"/>
                                  <m:limLoc m:val="subSup"/>
                                  <m:supHide m:val="on"/>
                                  <m:ctrlPr>
                                    <a:rPr lang="en-US" altLang="zh-TW" sz="1800" b="0" i="0" dirty="0">
                                      <a:solidFill>
                                        <a:schemeClr val="tx1"/>
                                      </a:solidFill>
                                      <a:latin typeface="Rockwell" panose="02060603020205020403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nor/>
                                    </m:rPr>
                                    <a:rPr lang="en-US" altLang="zh-TW" sz="1800" b="0" i="0" dirty="0">
                                      <a:solidFill>
                                        <a:schemeClr val="tx1"/>
                                      </a:solidFill>
                                      <a:latin typeface="Rockwell" panose="02060603020205020403" pitchFamily="18" charset="0"/>
                                    </a:rPr>
                                    <m:t>x</m:t>
                                  </m:r>
                                </m:sub>
                                <m:sup/>
                                <m:e>
                                  <m:r>
                                    <a:rPr lang="en-US" sz="1800" b="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  <m:d>
                                    <m:dPr>
                                      <m:ctrlPr>
                                        <a:rPr lang="en-US" altLang="zh-TW" sz="1800" b="0" i="0" dirty="0">
                                          <a:solidFill>
                                            <a:schemeClr val="tx1"/>
                                          </a:solidFill>
                                          <a:latin typeface="Rockwell" panose="02060603020205020403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m:rPr>
                                          <m:nor/>
                                        </m:rPr>
                                        <a:rPr lang="en-US" altLang="zh-TW" sz="1800" b="0" i="0" dirty="0">
                                          <a:solidFill>
                                            <a:schemeClr val="tx1"/>
                                          </a:solidFill>
                                          <a:latin typeface="Rockwell" panose="02060603020205020403" pitchFamily="18" charset="0"/>
                                        </a:rPr>
                                        <m:t>x</m:t>
                                      </m:r>
                                    </m:e>
                                  </m:d>
                                </m:e>
                              </m:nary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</m:oMath>
                          </a14:m>
                          <a:r>
                            <a:rPr lang="en-US" dirty="0">
                              <a:latin typeface="Garamond" panose="02020404030301010803" pitchFamily="18" charset="0"/>
                            </a:rPr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>
                            <a:latin typeface="Garamond" panose="02020404030301010803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>
                            <a:latin typeface="Garamond" panose="02020404030301010803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dirty="0">
                            <a:solidFill>
                              <a:schemeClr val="tx1"/>
                            </a:solidFill>
                            <a:latin typeface="Garamond" panose="02020404030301010803" pitchFamily="18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55062058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8" name="Table 7">
                <a:extLst>
                  <a:ext uri="{FF2B5EF4-FFF2-40B4-BE49-F238E27FC236}">
                    <a16:creationId xmlns:a16="http://schemas.microsoft.com/office/drawing/2014/main" id="{D96B6906-2AF5-FB07-4729-422490D8B87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112360148"/>
                  </p:ext>
                </p:extLst>
              </p:nvPr>
            </p:nvGraphicFramePr>
            <p:xfrm>
              <a:off x="1016486" y="1769928"/>
              <a:ext cx="9581412" cy="29667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86050">
                      <a:extLst>
                        <a:ext uri="{9D8B030D-6E8A-4147-A177-3AD203B41FA5}">
                          <a16:colId xmlns:a16="http://schemas.microsoft.com/office/drawing/2014/main" val="3269318500"/>
                        </a:ext>
                      </a:extLst>
                    </a:gridCol>
                    <a:gridCol w="1700784">
                      <a:extLst>
                        <a:ext uri="{9D8B030D-6E8A-4147-A177-3AD203B41FA5}">
                          <a16:colId xmlns:a16="http://schemas.microsoft.com/office/drawing/2014/main" val="1084937839"/>
                        </a:ext>
                      </a:extLst>
                    </a:gridCol>
                    <a:gridCol w="1389888">
                      <a:extLst>
                        <a:ext uri="{9D8B030D-6E8A-4147-A177-3AD203B41FA5}">
                          <a16:colId xmlns:a16="http://schemas.microsoft.com/office/drawing/2014/main" val="4200844973"/>
                        </a:ext>
                      </a:extLst>
                    </a:gridCol>
                    <a:gridCol w="1600200">
                      <a:extLst>
                        <a:ext uri="{9D8B030D-6E8A-4147-A177-3AD203B41FA5}">
                          <a16:colId xmlns:a16="http://schemas.microsoft.com/office/drawing/2014/main" val="3844035428"/>
                        </a:ext>
                      </a:extLst>
                    </a:gridCol>
                    <a:gridCol w="3904490">
                      <a:extLst>
                        <a:ext uri="{9D8B030D-6E8A-4147-A177-3AD203B41FA5}">
                          <a16:colId xmlns:a16="http://schemas.microsoft.com/office/drawing/2014/main" val="2990019285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617" t="-1639" r="-873457" b="-88360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58423" t="-1639" r="-407168" b="-88360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193860" t="-1639" r="-398246" b="-88360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254753" t="-1639" r="-245247" b="-88360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145554" t="-1639" r="-624" b="-88360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28335293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>
                              <a:latin typeface="Garamond" panose="02020404030301010803" pitchFamily="18" charset="0"/>
                            </a:rPr>
                            <a:t>0</a:t>
                          </a:r>
                          <a:endParaRPr lang="en-US" dirty="0">
                            <a:latin typeface="Garamond" panose="02020404030301010803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Garamond" panose="02020404030301010803" pitchFamily="18" charset="0"/>
                            </a:rPr>
                            <a:t>3/30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>
                              <a:latin typeface="Garamond" panose="02020404030301010803" pitchFamily="18" charset="0"/>
                            </a:rPr>
                            <a:t>-2</a:t>
                          </a:r>
                          <a:endParaRPr lang="en-US" dirty="0">
                            <a:latin typeface="Garamond" panose="02020404030301010803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dirty="0">
                            <a:latin typeface="Garamond" panose="02020404030301010803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dirty="0">
                            <a:latin typeface="Garamond" panose="02020404030301010803" pitchFamily="18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86434689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>
                              <a:latin typeface="Garamond" panose="02020404030301010803" pitchFamily="18" charset="0"/>
                            </a:rPr>
                            <a:t>1</a:t>
                          </a:r>
                          <a:endParaRPr lang="en-US" dirty="0">
                            <a:latin typeface="Garamond" panose="02020404030301010803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Garamond" panose="02020404030301010803" pitchFamily="18" charset="0"/>
                            </a:rPr>
                            <a:t>8/30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>
                              <a:latin typeface="Garamond" panose="02020404030301010803" pitchFamily="18" charset="0"/>
                            </a:rPr>
                            <a:t>-1</a:t>
                          </a:r>
                          <a:endParaRPr lang="en-US" dirty="0">
                            <a:latin typeface="Garamond" panose="02020404030301010803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dirty="0">
                            <a:latin typeface="Garamond" panose="02020404030301010803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dirty="0">
                            <a:latin typeface="Garamond" panose="02020404030301010803" pitchFamily="18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7368346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>
                              <a:latin typeface="Garamond" panose="02020404030301010803" pitchFamily="18" charset="0"/>
                            </a:rPr>
                            <a:t>2</a:t>
                          </a:r>
                          <a:endParaRPr lang="en-US" dirty="0">
                            <a:latin typeface="Garamond" panose="02020404030301010803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>
                              <a:latin typeface="Garamond" panose="02020404030301010803" pitchFamily="18" charset="0"/>
                            </a:rPr>
                            <a:t>9/30</a:t>
                          </a:r>
                          <a:endParaRPr lang="en-US" dirty="0">
                            <a:latin typeface="Garamond" panose="02020404030301010803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Garamond" panose="02020404030301010803" pitchFamily="18" charset="0"/>
                            </a:rPr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>
                            <a:latin typeface="Garamond" panose="02020404030301010803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>
                            <a:latin typeface="Garamond" panose="02020404030301010803" pitchFamily="18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28412386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>
                              <a:latin typeface="Garamond" panose="02020404030301010803" pitchFamily="18" charset="0"/>
                            </a:rPr>
                            <a:t>3</a:t>
                          </a:r>
                          <a:endParaRPr lang="en-US" dirty="0">
                            <a:latin typeface="Garamond" panose="02020404030301010803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>
                              <a:latin typeface="Garamond" panose="02020404030301010803" pitchFamily="18" charset="0"/>
                            </a:rPr>
                            <a:t>6/30</a:t>
                          </a:r>
                          <a:endParaRPr lang="en-US" dirty="0">
                            <a:latin typeface="Garamond" panose="02020404030301010803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>
                              <a:latin typeface="Garamond" panose="02020404030301010803" pitchFamily="18" charset="0"/>
                            </a:rPr>
                            <a:t>1</a:t>
                          </a:r>
                          <a:endParaRPr lang="en-US" dirty="0">
                            <a:latin typeface="Garamond" panose="02020404030301010803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>
                            <a:latin typeface="Garamond" panose="02020404030301010803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>
                            <a:latin typeface="Garamond" panose="02020404030301010803" pitchFamily="18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49561823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>
                              <a:latin typeface="Garamond" panose="02020404030301010803" pitchFamily="18" charset="0"/>
                            </a:rPr>
                            <a:t>4</a:t>
                          </a:r>
                          <a:endParaRPr lang="en-US" dirty="0">
                            <a:latin typeface="Garamond" panose="02020404030301010803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>
                              <a:latin typeface="Garamond" panose="02020404030301010803" pitchFamily="18" charset="0"/>
                            </a:rPr>
                            <a:t>3/30</a:t>
                          </a:r>
                          <a:endParaRPr lang="en-US" dirty="0">
                            <a:latin typeface="Garamond" panose="02020404030301010803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>
                              <a:latin typeface="Garamond" panose="02020404030301010803" pitchFamily="18" charset="0"/>
                            </a:rPr>
                            <a:t>2</a:t>
                          </a:r>
                          <a:endParaRPr lang="en-US" dirty="0">
                            <a:latin typeface="Garamond" panose="02020404030301010803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>
                            <a:latin typeface="Garamond" panose="02020404030301010803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>
                            <a:latin typeface="Garamond" panose="02020404030301010803" pitchFamily="18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42584031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>
                              <a:latin typeface="Garamond" panose="02020404030301010803" pitchFamily="18" charset="0"/>
                            </a:rPr>
                            <a:t>5</a:t>
                          </a:r>
                          <a:endParaRPr lang="en-US" dirty="0">
                            <a:latin typeface="Garamond" panose="02020404030301010803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>
                              <a:latin typeface="Garamond" panose="02020404030301010803" pitchFamily="18" charset="0"/>
                            </a:rPr>
                            <a:t>1/30</a:t>
                          </a:r>
                          <a:endParaRPr lang="en-US" dirty="0">
                            <a:latin typeface="Garamond" panose="02020404030301010803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>
                              <a:latin typeface="Garamond" panose="02020404030301010803" pitchFamily="18" charset="0"/>
                            </a:rPr>
                            <a:t>3</a:t>
                          </a:r>
                          <a:endParaRPr lang="en-US" dirty="0">
                            <a:latin typeface="Garamond" panose="02020404030301010803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>
                            <a:latin typeface="Garamond" panose="02020404030301010803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>
                            <a:latin typeface="Garamond" panose="02020404030301010803" pitchFamily="18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3738953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>
                              <a:latin typeface="Garamond" panose="02020404030301010803" pitchFamily="18" charset="0"/>
                            </a:rPr>
                            <a:t>Total</a:t>
                          </a:r>
                          <a:endParaRPr lang="en-US" dirty="0">
                            <a:latin typeface="Garamond" panose="02020404030301010803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58423" t="-701639" r="-407168" b="-18360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>
                            <a:latin typeface="Garamond" panose="02020404030301010803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>
                            <a:latin typeface="Garamond" panose="02020404030301010803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dirty="0">
                            <a:solidFill>
                              <a:schemeClr val="tx1"/>
                            </a:solidFill>
                            <a:latin typeface="Garamond" panose="02020404030301010803" pitchFamily="18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550620581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1" name="Table 10">
                <a:extLst>
                  <a:ext uri="{FF2B5EF4-FFF2-40B4-BE49-F238E27FC236}">
                    <a16:creationId xmlns:a16="http://schemas.microsoft.com/office/drawing/2014/main" id="{48B47B4E-A11B-17FF-1F54-6B9366129A4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660700140"/>
                  </p:ext>
                </p:extLst>
              </p:nvPr>
            </p:nvGraphicFramePr>
            <p:xfrm>
              <a:off x="1016486" y="1769928"/>
              <a:ext cx="9581412" cy="29667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86050">
                      <a:extLst>
                        <a:ext uri="{9D8B030D-6E8A-4147-A177-3AD203B41FA5}">
                          <a16:colId xmlns:a16="http://schemas.microsoft.com/office/drawing/2014/main" val="3269318500"/>
                        </a:ext>
                      </a:extLst>
                    </a:gridCol>
                    <a:gridCol w="1700784">
                      <a:extLst>
                        <a:ext uri="{9D8B030D-6E8A-4147-A177-3AD203B41FA5}">
                          <a16:colId xmlns:a16="http://schemas.microsoft.com/office/drawing/2014/main" val="1084937839"/>
                        </a:ext>
                      </a:extLst>
                    </a:gridCol>
                    <a:gridCol w="1389888">
                      <a:extLst>
                        <a:ext uri="{9D8B030D-6E8A-4147-A177-3AD203B41FA5}">
                          <a16:colId xmlns:a16="http://schemas.microsoft.com/office/drawing/2014/main" val="4200844973"/>
                        </a:ext>
                      </a:extLst>
                    </a:gridCol>
                    <a:gridCol w="1600200">
                      <a:extLst>
                        <a:ext uri="{9D8B030D-6E8A-4147-A177-3AD203B41FA5}">
                          <a16:colId xmlns:a16="http://schemas.microsoft.com/office/drawing/2014/main" val="3844035428"/>
                        </a:ext>
                      </a:extLst>
                    </a:gridCol>
                    <a:gridCol w="3904490">
                      <a:extLst>
                        <a:ext uri="{9D8B030D-6E8A-4147-A177-3AD203B41FA5}">
                          <a16:colId xmlns:a16="http://schemas.microsoft.com/office/drawing/2014/main" val="2990019285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r>
                                  <m:rPr>
                                    <m:nor/>
                                  </m:rPr>
                                  <a:rPr lang="en-US" altLang="zh-TW" sz="1800" b="0" i="0" dirty="0" smtClean="0">
                                    <a:latin typeface="Rockwell" panose="02060603020205020403" pitchFamily="18" charset="0"/>
                                  </a:rPr>
                                  <m:t>x</m:t>
                                </m:r>
                              </m:oMath>
                            </m:oMathPara>
                          </a14:m>
                          <a:endParaRPr lang="en-US" b="0" dirty="0">
                            <a:latin typeface="Garamond" panose="02020404030301010803" pitchFamily="18" charset="0"/>
                          </a:endParaRPr>
                        </a:p>
                      </a:txBody>
                      <a:tcPr anchor="ctr">
                        <a:solidFill>
                          <a:srgbClr val="77122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en-US" b="1" i="1" dirty="0" smtClean="0">
                                    <a:latin typeface="Cambria Math" panose="02040503050406030204" pitchFamily="18" charset="0"/>
                                  </a:rPr>
                                  <m:t>𝑷</m:t>
                                </m:r>
                                <m:d>
                                  <m:dPr>
                                    <m:ctrlPr>
                                      <a:rPr lang="en-US" altLang="zh-TW" sz="1800" b="0" i="0" dirty="0" smtClean="0">
                                        <a:latin typeface="Rockwell" panose="02060603020205020403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m:rPr>
                                        <m:nor/>
                                      </m:rPr>
                                      <a:rPr lang="en-US" altLang="zh-TW" sz="1800" b="0" i="0" dirty="0" smtClean="0">
                                        <a:latin typeface="Rockwell" panose="02060603020205020403" pitchFamily="18" charset="0"/>
                                      </a:rPr>
                                      <m:t>x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US" dirty="0">
                            <a:latin typeface="Garamond" panose="02020404030301010803" pitchFamily="18" charset="0"/>
                          </a:endParaRPr>
                        </a:p>
                      </a:txBody>
                      <a:tcPr anchor="ctr">
                        <a:solidFill>
                          <a:srgbClr val="77122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m:rPr>
                                    <m:nor/>
                                  </m:rPr>
                                  <a:rPr lang="en-US" altLang="zh-TW" sz="1800" b="0" i="0" dirty="0" smtClean="0">
                                    <a:latin typeface="Rockwell" panose="02060603020205020403" pitchFamily="18" charset="0"/>
                                  </a:rPr>
                                  <m:t>x</m:t>
                                </m:r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1800" b="0" i="0" dirty="0" smtClean="0">
                                    <a:latin typeface="Rockwell" panose="02060603020205020403" pitchFamily="18" charset="0"/>
                                  </a:rPr>
                                  <m:t>E</m:t>
                                </m:r>
                                <m:d>
                                  <m:dPr>
                                    <m:ctrlPr>
                                      <a:rPr lang="en-US" altLang="zh-TW" sz="1800" b="0" i="0" dirty="0" smtClean="0">
                                        <a:latin typeface="Rockwell" panose="02060603020205020403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m:rPr>
                                        <m:nor/>
                                      </m:rPr>
                                      <a:rPr lang="en-US" altLang="zh-TW" sz="1800" b="0" i="0" dirty="0" smtClean="0">
                                        <a:latin typeface="Rockwell" panose="02060603020205020403" pitchFamily="18" charset="0"/>
                                      </a:rPr>
                                      <m:t>x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US" b="0" dirty="0">
                            <a:latin typeface="Garamond" panose="02020404030301010803" pitchFamily="18" charset="0"/>
                          </a:endParaRPr>
                        </a:p>
                      </a:txBody>
                      <a:tcPr anchor="ctr">
                        <a:solidFill>
                          <a:srgbClr val="77122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>
                                <m:sSup>
                                  <m:sSupPr>
                                    <m:ctrlPr>
                                      <a:rPr lang="en-US" altLang="zh-TW" sz="1800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begChr m:val="["/>
                                        <m:endChr m:val="]"/>
                                        <m:ctrlPr>
                                          <a:rPr lang="en-US" altLang="zh-TW" sz="1800" b="0" i="0" dirty="0" smtClean="0">
                                            <a:latin typeface="Rockwell" panose="02060603020205020403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m:rPr>
                                            <m:nor/>
                                          </m:rPr>
                                          <a:rPr lang="en-US" altLang="zh-TW" sz="1800" b="0" i="0" dirty="0" smtClean="0">
                                            <a:latin typeface="Rockwell" panose="02060603020205020403" pitchFamily="18" charset="0"/>
                                          </a:rPr>
                                          <m:t>x</m:t>
                                        </m:r>
                                        <m:r>
                                          <a:rPr lang="en-US" b="0" i="1" dirty="0" smtClean="0">
                                            <a:latin typeface="Cambria Math" panose="02040503050406030204" pitchFamily="18" charset="0"/>
                                          </a:rPr>
                                          <m:t>−</m:t>
                                        </m:r>
                                        <m:r>
                                          <m:rPr>
                                            <m:nor/>
                                          </m:rPr>
                                          <a:rPr lang="en-US" altLang="zh-TW" sz="1800" b="0" i="0" dirty="0" smtClean="0">
                                            <a:latin typeface="Rockwell" panose="02060603020205020403" pitchFamily="18" charset="0"/>
                                          </a:rPr>
                                          <m:t>E</m:t>
                                        </m:r>
                                        <m:d>
                                          <m:dPr>
                                            <m:ctrlPr>
                                              <a:rPr lang="en-US" altLang="zh-TW" sz="1800" b="0" i="0" dirty="0" smtClean="0">
                                                <a:latin typeface="Rockwell" panose="02060603020205020403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r>
                                              <m:rPr>
                                                <m:nor/>
                                              </m:rPr>
                                              <a:rPr lang="en-US" altLang="zh-TW" sz="1800" b="0" i="0" dirty="0" smtClean="0">
                                                <a:latin typeface="Rockwell" panose="02060603020205020403" pitchFamily="18" charset="0"/>
                                              </a:rPr>
                                              <m:t>x</m:t>
                                            </m:r>
                                          </m:e>
                                        </m:d>
                                      </m:e>
                                    </m:d>
                                  </m:e>
                                  <m:sup>
                                    <m:r>
                                      <a:rPr lang="en-US" altLang="zh-TW" sz="1800" b="0" i="1" dirty="0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b="0" dirty="0">
                            <a:latin typeface="Garamond" panose="02020404030301010803" pitchFamily="18" charset="0"/>
                          </a:endParaRPr>
                        </a:p>
                      </a:txBody>
                      <a:tcPr anchor="ctr">
                        <a:solidFill>
                          <a:srgbClr val="77122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>
                                <m:sSup>
                                  <m:sSupPr>
                                    <m:ctrlPr>
                                      <a:rPr lang="en-US" altLang="zh-TW" sz="1800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begChr m:val="["/>
                                        <m:endChr m:val="]"/>
                                        <m:ctrlPr>
                                          <a:rPr lang="en-US" altLang="zh-TW" sz="1800" b="0" i="0" dirty="0" smtClean="0">
                                            <a:latin typeface="Rockwell" panose="02060603020205020403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m:rPr>
                                            <m:nor/>
                                          </m:rPr>
                                          <a:rPr lang="en-US" altLang="zh-TW" sz="1800" b="0" i="0" dirty="0" smtClean="0">
                                            <a:latin typeface="Rockwell" panose="02060603020205020403" pitchFamily="18" charset="0"/>
                                          </a:rPr>
                                          <m:t>x</m:t>
                                        </m:r>
                                        <m:r>
                                          <a:rPr lang="en-US" b="0" i="1" dirty="0" smtClean="0">
                                            <a:latin typeface="Cambria Math" panose="02040503050406030204" pitchFamily="18" charset="0"/>
                                          </a:rPr>
                                          <m:t>−</m:t>
                                        </m:r>
                                        <m:r>
                                          <m:rPr>
                                            <m:nor/>
                                          </m:rPr>
                                          <a:rPr lang="en-US" altLang="zh-TW" sz="1800" b="0" i="0" dirty="0" smtClean="0">
                                            <a:latin typeface="Rockwell" panose="02060603020205020403" pitchFamily="18" charset="0"/>
                                          </a:rPr>
                                          <m:t>E</m:t>
                                        </m:r>
                                        <m:d>
                                          <m:dPr>
                                            <m:ctrlPr>
                                              <a:rPr lang="en-US" altLang="zh-TW" sz="1800" b="0" i="0" dirty="0" smtClean="0">
                                                <a:latin typeface="Rockwell" panose="02060603020205020403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r>
                                              <m:rPr>
                                                <m:nor/>
                                              </m:rPr>
                                              <a:rPr lang="en-US" altLang="zh-TW" sz="1800" b="0" i="0" dirty="0" smtClean="0">
                                                <a:latin typeface="Rockwell" panose="02060603020205020403" pitchFamily="18" charset="0"/>
                                              </a:rPr>
                                              <m:t>x</m:t>
                                            </m:r>
                                          </m:e>
                                        </m:d>
                                      </m:e>
                                    </m:d>
                                  </m:e>
                                  <m:sup>
                                    <m:r>
                                      <a:rPr lang="en-US" altLang="zh-TW" sz="1800" b="0" i="1" dirty="0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US" altLang="zh-TW" sz="1800" b="0" i="1" dirty="0" smtClean="0">
                                    <a:latin typeface="Cambria Math" panose="02040503050406030204" pitchFamily="18" charset="0"/>
                                  </a:rPr>
                                  <m:t>⋅</m:t>
                                </m:r>
                                <m:r>
                                  <a:rPr lang="en-US" b="1" i="1" dirty="0" smtClean="0">
                                    <a:latin typeface="Cambria Math" panose="02040503050406030204" pitchFamily="18" charset="0"/>
                                  </a:rPr>
                                  <m:t>𝑷</m:t>
                                </m:r>
                                <m:d>
                                  <m:dPr>
                                    <m:ctrlPr>
                                      <a:rPr lang="en-US" altLang="zh-TW" sz="1800" b="0" i="0" dirty="0" smtClean="0">
                                        <a:latin typeface="Rockwell" panose="02060603020205020403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m:rPr>
                                        <m:nor/>
                                      </m:rPr>
                                      <a:rPr lang="en-US" altLang="zh-TW" sz="1800" b="0" i="0" dirty="0" smtClean="0">
                                        <a:latin typeface="Rockwell" panose="02060603020205020403" pitchFamily="18" charset="0"/>
                                      </a:rPr>
                                      <m:t>x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US" dirty="0">
                            <a:latin typeface="Garamond" panose="02020404030301010803" pitchFamily="18" charset="0"/>
                          </a:endParaRPr>
                        </a:p>
                      </a:txBody>
                      <a:tcPr anchor="ctr">
                        <a:solidFill>
                          <a:srgbClr val="77122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28335293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>
                              <a:latin typeface="Garamond" panose="02020404030301010803" pitchFamily="18" charset="0"/>
                            </a:rPr>
                            <a:t>0</a:t>
                          </a:r>
                          <a:endParaRPr lang="en-US" dirty="0">
                            <a:latin typeface="Garamond" panose="02020404030301010803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Garamond" panose="02020404030301010803" pitchFamily="18" charset="0"/>
                            </a:rPr>
                            <a:t>3/30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>
                              <a:latin typeface="Garamond" panose="02020404030301010803" pitchFamily="18" charset="0"/>
                            </a:rPr>
                            <a:t>-2</a:t>
                          </a:r>
                          <a:endParaRPr lang="en-US" dirty="0">
                            <a:latin typeface="Garamond" panose="02020404030301010803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>
                              <a:latin typeface="Garamond" panose="02020404030301010803" pitchFamily="18" charset="0"/>
                            </a:rPr>
                            <a:t>4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dirty="0">
                            <a:latin typeface="Garamond" panose="02020404030301010803" pitchFamily="18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86434689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>
                              <a:latin typeface="Garamond" panose="02020404030301010803" pitchFamily="18" charset="0"/>
                            </a:rPr>
                            <a:t>1</a:t>
                          </a:r>
                          <a:endParaRPr lang="en-US" dirty="0">
                            <a:latin typeface="Garamond" panose="02020404030301010803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Garamond" panose="02020404030301010803" pitchFamily="18" charset="0"/>
                            </a:rPr>
                            <a:t>8/30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>
                              <a:latin typeface="Garamond" panose="02020404030301010803" pitchFamily="18" charset="0"/>
                            </a:rPr>
                            <a:t>-1</a:t>
                          </a:r>
                          <a:endParaRPr lang="en-US" dirty="0">
                            <a:latin typeface="Garamond" panose="02020404030301010803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>
                              <a:latin typeface="Garamond" panose="02020404030301010803" pitchFamily="18" charset="0"/>
                            </a:rPr>
                            <a:t>1</a:t>
                          </a:r>
                          <a:endParaRPr lang="en-US" dirty="0">
                            <a:latin typeface="Garamond" panose="02020404030301010803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dirty="0">
                            <a:latin typeface="Garamond" panose="02020404030301010803" pitchFamily="18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7368346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>
                              <a:latin typeface="Garamond" panose="02020404030301010803" pitchFamily="18" charset="0"/>
                            </a:rPr>
                            <a:t>2</a:t>
                          </a:r>
                          <a:endParaRPr lang="en-US" dirty="0">
                            <a:latin typeface="Garamond" panose="02020404030301010803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>
                              <a:latin typeface="Garamond" panose="02020404030301010803" pitchFamily="18" charset="0"/>
                            </a:rPr>
                            <a:t>9/30</a:t>
                          </a:r>
                          <a:endParaRPr lang="en-US" dirty="0">
                            <a:latin typeface="Garamond" panose="02020404030301010803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Garamond" panose="02020404030301010803" pitchFamily="18" charset="0"/>
                            </a:rPr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Garamond" panose="02020404030301010803" pitchFamily="18" charset="0"/>
                            </a:rPr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>
                            <a:latin typeface="Garamond" panose="02020404030301010803" pitchFamily="18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28412386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>
                              <a:latin typeface="Garamond" panose="02020404030301010803" pitchFamily="18" charset="0"/>
                            </a:rPr>
                            <a:t>3</a:t>
                          </a:r>
                          <a:endParaRPr lang="en-US" dirty="0">
                            <a:latin typeface="Garamond" panose="02020404030301010803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>
                              <a:latin typeface="Garamond" panose="02020404030301010803" pitchFamily="18" charset="0"/>
                            </a:rPr>
                            <a:t>6/30</a:t>
                          </a:r>
                          <a:endParaRPr lang="en-US" dirty="0">
                            <a:latin typeface="Garamond" panose="02020404030301010803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>
                              <a:latin typeface="Garamond" panose="02020404030301010803" pitchFamily="18" charset="0"/>
                            </a:rPr>
                            <a:t>1</a:t>
                          </a:r>
                          <a:endParaRPr lang="en-US" dirty="0">
                            <a:latin typeface="Garamond" panose="02020404030301010803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Garamond" panose="02020404030301010803" pitchFamily="18" charset="0"/>
                            </a:rPr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>
                            <a:latin typeface="Garamond" panose="02020404030301010803" pitchFamily="18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49561823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>
                              <a:latin typeface="Garamond" panose="02020404030301010803" pitchFamily="18" charset="0"/>
                            </a:rPr>
                            <a:t>4</a:t>
                          </a:r>
                          <a:endParaRPr lang="en-US" dirty="0">
                            <a:latin typeface="Garamond" panose="02020404030301010803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>
                              <a:latin typeface="Garamond" panose="02020404030301010803" pitchFamily="18" charset="0"/>
                            </a:rPr>
                            <a:t>3/30</a:t>
                          </a:r>
                          <a:endParaRPr lang="en-US" dirty="0">
                            <a:latin typeface="Garamond" panose="02020404030301010803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>
                              <a:latin typeface="Garamond" panose="02020404030301010803" pitchFamily="18" charset="0"/>
                            </a:rPr>
                            <a:t>2</a:t>
                          </a:r>
                          <a:endParaRPr lang="en-US" dirty="0">
                            <a:latin typeface="Garamond" panose="02020404030301010803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Garamond" panose="02020404030301010803" pitchFamily="18" charset="0"/>
                            </a:rPr>
                            <a:t>4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>
                            <a:latin typeface="Garamond" panose="02020404030301010803" pitchFamily="18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42584031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>
                              <a:latin typeface="Garamond" panose="02020404030301010803" pitchFamily="18" charset="0"/>
                            </a:rPr>
                            <a:t>5</a:t>
                          </a:r>
                          <a:endParaRPr lang="en-US" dirty="0">
                            <a:latin typeface="Garamond" panose="02020404030301010803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>
                              <a:latin typeface="Garamond" panose="02020404030301010803" pitchFamily="18" charset="0"/>
                            </a:rPr>
                            <a:t>1/30</a:t>
                          </a:r>
                          <a:endParaRPr lang="en-US" dirty="0">
                            <a:latin typeface="Garamond" panose="02020404030301010803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>
                              <a:latin typeface="Garamond" panose="02020404030301010803" pitchFamily="18" charset="0"/>
                            </a:rPr>
                            <a:t>3</a:t>
                          </a:r>
                          <a:endParaRPr lang="en-US" dirty="0">
                            <a:latin typeface="Garamond" panose="02020404030301010803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Garamond" panose="02020404030301010803" pitchFamily="18" charset="0"/>
                            </a:rPr>
                            <a:t>9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>
                            <a:latin typeface="Garamond" panose="02020404030301010803" pitchFamily="18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3738953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>
                              <a:latin typeface="Garamond" panose="02020404030301010803" pitchFamily="18" charset="0"/>
                            </a:rPr>
                            <a:t>Total</a:t>
                          </a:r>
                          <a:endParaRPr lang="en-US" dirty="0">
                            <a:latin typeface="Garamond" panose="02020404030301010803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nary>
                                <m:naryPr>
                                  <m:chr m:val="∑"/>
                                  <m:limLoc m:val="subSup"/>
                                  <m:supHide m:val="on"/>
                                  <m:ctrlPr>
                                    <a:rPr lang="en-US" altLang="zh-TW" sz="1800" b="0" i="0" dirty="0">
                                      <a:solidFill>
                                        <a:schemeClr val="tx1"/>
                                      </a:solidFill>
                                      <a:latin typeface="Rockwell" panose="02060603020205020403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nor/>
                                    </m:rPr>
                                    <a:rPr lang="en-US" altLang="zh-TW" sz="1800" b="0" i="0" dirty="0">
                                      <a:solidFill>
                                        <a:schemeClr val="tx1"/>
                                      </a:solidFill>
                                      <a:latin typeface="Rockwell" panose="02060603020205020403" pitchFamily="18" charset="0"/>
                                    </a:rPr>
                                    <m:t>x</m:t>
                                  </m:r>
                                </m:sub>
                                <m:sup/>
                                <m:e>
                                  <m:r>
                                    <a:rPr lang="en-US" sz="1800" b="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  <m:d>
                                    <m:dPr>
                                      <m:ctrlPr>
                                        <a:rPr lang="en-US" altLang="zh-TW" sz="1800" b="0" i="0" dirty="0">
                                          <a:solidFill>
                                            <a:schemeClr val="tx1"/>
                                          </a:solidFill>
                                          <a:latin typeface="Rockwell" panose="02060603020205020403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m:rPr>
                                          <m:nor/>
                                        </m:rPr>
                                        <a:rPr lang="en-US" altLang="zh-TW" sz="1800" b="0" i="0" dirty="0">
                                          <a:solidFill>
                                            <a:schemeClr val="tx1"/>
                                          </a:solidFill>
                                          <a:latin typeface="Rockwell" panose="02060603020205020403" pitchFamily="18" charset="0"/>
                                        </a:rPr>
                                        <m:t>x</m:t>
                                      </m:r>
                                    </m:e>
                                  </m:d>
                                </m:e>
                              </m:nary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</m:oMath>
                          </a14:m>
                          <a:r>
                            <a:rPr lang="en-US" dirty="0">
                              <a:latin typeface="Garamond" panose="02020404030301010803" pitchFamily="18" charset="0"/>
                            </a:rPr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>
                            <a:latin typeface="Garamond" panose="02020404030301010803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>
                            <a:latin typeface="Garamond" panose="02020404030301010803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dirty="0">
                            <a:solidFill>
                              <a:schemeClr val="tx1"/>
                            </a:solidFill>
                            <a:latin typeface="Garamond" panose="02020404030301010803" pitchFamily="18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55062058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1" name="Table 10">
                <a:extLst>
                  <a:ext uri="{FF2B5EF4-FFF2-40B4-BE49-F238E27FC236}">
                    <a16:creationId xmlns:a16="http://schemas.microsoft.com/office/drawing/2014/main" id="{48B47B4E-A11B-17FF-1F54-6B9366129A4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660700140"/>
                  </p:ext>
                </p:extLst>
              </p:nvPr>
            </p:nvGraphicFramePr>
            <p:xfrm>
              <a:off x="1016486" y="1769928"/>
              <a:ext cx="9581412" cy="29667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86050">
                      <a:extLst>
                        <a:ext uri="{9D8B030D-6E8A-4147-A177-3AD203B41FA5}">
                          <a16:colId xmlns:a16="http://schemas.microsoft.com/office/drawing/2014/main" val="3269318500"/>
                        </a:ext>
                      </a:extLst>
                    </a:gridCol>
                    <a:gridCol w="1700784">
                      <a:extLst>
                        <a:ext uri="{9D8B030D-6E8A-4147-A177-3AD203B41FA5}">
                          <a16:colId xmlns:a16="http://schemas.microsoft.com/office/drawing/2014/main" val="1084937839"/>
                        </a:ext>
                      </a:extLst>
                    </a:gridCol>
                    <a:gridCol w="1389888">
                      <a:extLst>
                        <a:ext uri="{9D8B030D-6E8A-4147-A177-3AD203B41FA5}">
                          <a16:colId xmlns:a16="http://schemas.microsoft.com/office/drawing/2014/main" val="4200844973"/>
                        </a:ext>
                      </a:extLst>
                    </a:gridCol>
                    <a:gridCol w="1600200">
                      <a:extLst>
                        <a:ext uri="{9D8B030D-6E8A-4147-A177-3AD203B41FA5}">
                          <a16:colId xmlns:a16="http://schemas.microsoft.com/office/drawing/2014/main" val="3844035428"/>
                        </a:ext>
                      </a:extLst>
                    </a:gridCol>
                    <a:gridCol w="3904490">
                      <a:extLst>
                        <a:ext uri="{9D8B030D-6E8A-4147-A177-3AD203B41FA5}">
                          <a16:colId xmlns:a16="http://schemas.microsoft.com/office/drawing/2014/main" val="2990019285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5"/>
                          <a:stretch>
                            <a:fillRect l="-617" t="-1639" r="-873457" b="-88360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5"/>
                          <a:stretch>
                            <a:fillRect l="-58423" t="-1639" r="-407168" b="-88360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5"/>
                          <a:stretch>
                            <a:fillRect l="-193860" t="-1639" r="-398246" b="-88360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5"/>
                          <a:stretch>
                            <a:fillRect l="-254753" t="-1639" r="-245247" b="-88360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5"/>
                          <a:stretch>
                            <a:fillRect l="-145554" t="-1639" r="-624" b="-88360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28335293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>
                              <a:latin typeface="Garamond" panose="02020404030301010803" pitchFamily="18" charset="0"/>
                            </a:rPr>
                            <a:t>0</a:t>
                          </a:r>
                          <a:endParaRPr lang="en-US" dirty="0">
                            <a:latin typeface="Garamond" panose="02020404030301010803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Garamond" panose="02020404030301010803" pitchFamily="18" charset="0"/>
                            </a:rPr>
                            <a:t>3/30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>
                              <a:latin typeface="Garamond" panose="02020404030301010803" pitchFamily="18" charset="0"/>
                            </a:rPr>
                            <a:t>-2</a:t>
                          </a:r>
                          <a:endParaRPr lang="en-US" dirty="0">
                            <a:latin typeface="Garamond" panose="02020404030301010803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>
                              <a:latin typeface="Garamond" panose="02020404030301010803" pitchFamily="18" charset="0"/>
                            </a:rPr>
                            <a:t>4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dirty="0">
                            <a:latin typeface="Garamond" panose="02020404030301010803" pitchFamily="18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86434689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>
                              <a:latin typeface="Garamond" panose="02020404030301010803" pitchFamily="18" charset="0"/>
                            </a:rPr>
                            <a:t>1</a:t>
                          </a:r>
                          <a:endParaRPr lang="en-US" dirty="0">
                            <a:latin typeface="Garamond" panose="02020404030301010803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Garamond" panose="02020404030301010803" pitchFamily="18" charset="0"/>
                            </a:rPr>
                            <a:t>8/30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>
                              <a:latin typeface="Garamond" panose="02020404030301010803" pitchFamily="18" charset="0"/>
                            </a:rPr>
                            <a:t>-1</a:t>
                          </a:r>
                          <a:endParaRPr lang="en-US" dirty="0">
                            <a:latin typeface="Garamond" panose="02020404030301010803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>
                              <a:latin typeface="Garamond" panose="02020404030301010803" pitchFamily="18" charset="0"/>
                            </a:rPr>
                            <a:t>1</a:t>
                          </a:r>
                          <a:endParaRPr lang="en-US" dirty="0">
                            <a:latin typeface="Garamond" panose="02020404030301010803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dirty="0">
                            <a:latin typeface="Garamond" panose="02020404030301010803" pitchFamily="18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7368346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>
                              <a:latin typeface="Garamond" panose="02020404030301010803" pitchFamily="18" charset="0"/>
                            </a:rPr>
                            <a:t>2</a:t>
                          </a:r>
                          <a:endParaRPr lang="en-US" dirty="0">
                            <a:latin typeface="Garamond" panose="02020404030301010803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>
                              <a:latin typeface="Garamond" panose="02020404030301010803" pitchFamily="18" charset="0"/>
                            </a:rPr>
                            <a:t>9/30</a:t>
                          </a:r>
                          <a:endParaRPr lang="en-US" dirty="0">
                            <a:latin typeface="Garamond" panose="02020404030301010803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Garamond" panose="02020404030301010803" pitchFamily="18" charset="0"/>
                            </a:rPr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Garamond" panose="02020404030301010803" pitchFamily="18" charset="0"/>
                            </a:rPr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>
                            <a:latin typeface="Garamond" panose="02020404030301010803" pitchFamily="18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28412386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>
                              <a:latin typeface="Garamond" panose="02020404030301010803" pitchFamily="18" charset="0"/>
                            </a:rPr>
                            <a:t>3</a:t>
                          </a:r>
                          <a:endParaRPr lang="en-US" dirty="0">
                            <a:latin typeface="Garamond" panose="02020404030301010803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>
                              <a:latin typeface="Garamond" panose="02020404030301010803" pitchFamily="18" charset="0"/>
                            </a:rPr>
                            <a:t>6/30</a:t>
                          </a:r>
                          <a:endParaRPr lang="en-US" dirty="0">
                            <a:latin typeface="Garamond" panose="02020404030301010803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>
                              <a:latin typeface="Garamond" panose="02020404030301010803" pitchFamily="18" charset="0"/>
                            </a:rPr>
                            <a:t>1</a:t>
                          </a:r>
                          <a:endParaRPr lang="en-US" dirty="0">
                            <a:latin typeface="Garamond" panose="02020404030301010803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Garamond" panose="02020404030301010803" pitchFamily="18" charset="0"/>
                            </a:rPr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>
                            <a:latin typeface="Garamond" panose="02020404030301010803" pitchFamily="18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49561823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>
                              <a:latin typeface="Garamond" panose="02020404030301010803" pitchFamily="18" charset="0"/>
                            </a:rPr>
                            <a:t>4</a:t>
                          </a:r>
                          <a:endParaRPr lang="en-US" dirty="0">
                            <a:latin typeface="Garamond" panose="02020404030301010803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>
                              <a:latin typeface="Garamond" panose="02020404030301010803" pitchFamily="18" charset="0"/>
                            </a:rPr>
                            <a:t>3/30</a:t>
                          </a:r>
                          <a:endParaRPr lang="en-US" dirty="0">
                            <a:latin typeface="Garamond" panose="02020404030301010803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>
                              <a:latin typeface="Garamond" panose="02020404030301010803" pitchFamily="18" charset="0"/>
                            </a:rPr>
                            <a:t>2</a:t>
                          </a:r>
                          <a:endParaRPr lang="en-US" dirty="0">
                            <a:latin typeface="Garamond" panose="02020404030301010803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Garamond" panose="02020404030301010803" pitchFamily="18" charset="0"/>
                            </a:rPr>
                            <a:t>4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>
                            <a:latin typeface="Garamond" panose="02020404030301010803" pitchFamily="18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42584031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>
                              <a:latin typeface="Garamond" panose="02020404030301010803" pitchFamily="18" charset="0"/>
                            </a:rPr>
                            <a:t>5</a:t>
                          </a:r>
                          <a:endParaRPr lang="en-US" dirty="0">
                            <a:latin typeface="Garamond" panose="02020404030301010803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>
                              <a:latin typeface="Garamond" panose="02020404030301010803" pitchFamily="18" charset="0"/>
                            </a:rPr>
                            <a:t>1/30</a:t>
                          </a:r>
                          <a:endParaRPr lang="en-US" dirty="0">
                            <a:latin typeface="Garamond" panose="02020404030301010803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>
                              <a:latin typeface="Garamond" panose="02020404030301010803" pitchFamily="18" charset="0"/>
                            </a:rPr>
                            <a:t>3</a:t>
                          </a:r>
                          <a:endParaRPr lang="en-US" dirty="0">
                            <a:latin typeface="Garamond" panose="02020404030301010803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Garamond" panose="02020404030301010803" pitchFamily="18" charset="0"/>
                            </a:rPr>
                            <a:t>9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>
                            <a:latin typeface="Garamond" panose="02020404030301010803" pitchFamily="18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3738953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>
                              <a:latin typeface="Garamond" panose="02020404030301010803" pitchFamily="18" charset="0"/>
                            </a:rPr>
                            <a:t>Total</a:t>
                          </a:r>
                          <a:endParaRPr lang="en-US" dirty="0">
                            <a:latin typeface="Garamond" panose="02020404030301010803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5"/>
                          <a:stretch>
                            <a:fillRect l="-58423" t="-701639" r="-407168" b="-18360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>
                            <a:latin typeface="Garamond" panose="02020404030301010803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>
                            <a:latin typeface="Garamond" panose="02020404030301010803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dirty="0">
                            <a:solidFill>
                              <a:schemeClr val="tx1"/>
                            </a:solidFill>
                            <a:latin typeface="Garamond" panose="02020404030301010803" pitchFamily="18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550620581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2" name="Table 11">
                <a:extLst>
                  <a:ext uri="{FF2B5EF4-FFF2-40B4-BE49-F238E27FC236}">
                    <a16:creationId xmlns:a16="http://schemas.microsoft.com/office/drawing/2014/main" id="{4B133DD3-66BA-AF0A-72BD-BBA6F57D0C3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769745823"/>
                  </p:ext>
                </p:extLst>
              </p:nvPr>
            </p:nvGraphicFramePr>
            <p:xfrm>
              <a:off x="1016486" y="1769928"/>
              <a:ext cx="9581412" cy="296932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86050">
                      <a:extLst>
                        <a:ext uri="{9D8B030D-6E8A-4147-A177-3AD203B41FA5}">
                          <a16:colId xmlns:a16="http://schemas.microsoft.com/office/drawing/2014/main" val="3269318500"/>
                        </a:ext>
                      </a:extLst>
                    </a:gridCol>
                    <a:gridCol w="1700784">
                      <a:extLst>
                        <a:ext uri="{9D8B030D-6E8A-4147-A177-3AD203B41FA5}">
                          <a16:colId xmlns:a16="http://schemas.microsoft.com/office/drawing/2014/main" val="1084937839"/>
                        </a:ext>
                      </a:extLst>
                    </a:gridCol>
                    <a:gridCol w="1389888">
                      <a:extLst>
                        <a:ext uri="{9D8B030D-6E8A-4147-A177-3AD203B41FA5}">
                          <a16:colId xmlns:a16="http://schemas.microsoft.com/office/drawing/2014/main" val="4200844973"/>
                        </a:ext>
                      </a:extLst>
                    </a:gridCol>
                    <a:gridCol w="1600200">
                      <a:extLst>
                        <a:ext uri="{9D8B030D-6E8A-4147-A177-3AD203B41FA5}">
                          <a16:colId xmlns:a16="http://schemas.microsoft.com/office/drawing/2014/main" val="3844035428"/>
                        </a:ext>
                      </a:extLst>
                    </a:gridCol>
                    <a:gridCol w="3904490">
                      <a:extLst>
                        <a:ext uri="{9D8B030D-6E8A-4147-A177-3AD203B41FA5}">
                          <a16:colId xmlns:a16="http://schemas.microsoft.com/office/drawing/2014/main" val="2990019285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r>
                                  <m:rPr>
                                    <m:nor/>
                                  </m:rPr>
                                  <a:rPr lang="en-US" altLang="zh-TW" sz="1800" b="0" i="0" dirty="0" smtClean="0">
                                    <a:latin typeface="Rockwell" panose="02060603020205020403" pitchFamily="18" charset="0"/>
                                  </a:rPr>
                                  <m:t>x</m:t>
                                </m:r>
                              </m:oMath>
                            </m:oMathPara>
                          </a14:m>
                          <a:endParaRPr lang="en-US" b="0" dirty="0">
                            <a:latin typeface="Garamond" panose="02020404030301010803" pitchFamily="18" charset="0"/>
                          </a:endParaRPr>
                        </a:p>
                      </a:txBody>
                      <a:tcPr anchor="ctr">
                        <a:solidFill>
                          <a:srgbClr val="77122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en-US" b="1" i="1" dirty="0" smtClean="0">
                                    <a:latin typeface="Cambria Math" panose="02040503050406030204" pitchFamily="18" charset="0"/>
                                  </a:rPr>
                                  <m:t>𝑷</m:t>
                                </m:r>
                                <m:d>
                                  <m:dPr>
                                    <m:ctrlPr>
                                      <a:rPr lang="en-US" altLang="zh-TW" sz="1800" b="0" i="0" dirty="0" smtClean="0">
                                        <a:latin typeface="Rockwell" panose="02060603020205020403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m:rPr>
                                        <m:nor/>
                                      </m:rPr>
                                      <a:rPr lang="en-US" altLang="zh-TW" sz="1800" b="0" i="0" dirty="0" smtClean="0">
                                        <a:latin typeface="Rockwell" panose="02060603020205020403" pitchFamily="18" charset="0"/>
                                      </a:rPr>
                                      <m:t>x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US" dirty="0">
                            <a:latin typeface="Garamond" panose="02020404030301010803" pitchFamily="18" charset="0"/>
                          </a:endParaRPr>
                        </a:p>
                      </a:txBody>
                      <a:tcPr anchor="ctr">
                        <a:solidFill>
                          <a:srgbClr val="77122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m:rPr>
                                    <m:nor/>
                                  </m:rPr>
                                  <a:rPr lang="en-US" altLang="zh-TW" sz="1800" b="0" i="0" dirty="0" smtClean="0">
                                    <a:latin typeface="Rockwell" panose="02060603020205020403" pitchFamily="18" charset="0"/>
                                  </a:rPr>
                                  <m:t>x</m:t>
                                </m:r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1800" b="0" i="0" dirty="0" smtClean="0">
                                    <a:latin typeface="Rockwell" panose="02060603020205020403" pitchFamily="18" charset="0"/>
                                  </a:rPr>
                                  <m:t>E</m:t>
                                </m:r>
                                <m:d>
                                  <m:dPr>
                                    <m:ctrlPr>
                                      <a:rPr lang="en-US" altLang="zh-TW" sz="1800" b="0" i="0" dirty="0" smtClean="0">
                                        <a:latin typeface="Rockwell" panose="02060603020205020403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m:rPr>
                                        <m:nor/>
                                      </m:rPr>
                                      <a:rPr lang="en-US" altLang="zh-TW" sz="1800" b="0" i="0" dirty="0" smtClean="0">
                                        <a:latin typeface="Rockwell" panose="02060603020205020403" pitchFamily="18" charset="0"/>
                                      </a:rPr>
                                      <m:t>x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US" b="0" dirty="0">
                            <a:latin typeface="Garamond" panose="02020404030301010803" pitchFamily="18" charset="0"/>
                          </a:endParaRPr>
                        </a:p>
                      </a:txBody>
                      <a:tcPr anchor="ctr">
                        <a:solidFill>
                          <a:srgbClr val="77122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>
                                <m:sSup>
                                  <m:sSupPr>
                                    <m:ctrlPr>
                                      <a:rPr lang="en-US" altLang="zh-TW" sz="1800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begChr m:val="["/>
                                        <m:endChr m:val="]"/>
                                        <m:ctrlPr>
                                          <a:rPr lang="en-US" altLang="zh-TW" sz="1800" b="0" i="0" dirty="0" smtClean="0">
                                            <a:latin typeface="Rockwell" panose="02060603020205020403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m:rPr>
                                            <m:nor/>
                                          </m:rPr>
                                          <a:rPr lang="en-US" altLang="zh-TW" sz="1800" b="0" i="0" dirty="0" smtClean="0">
                                            <a:latin typeface="Rockwell" panose="02060603020205020403" pitchFamily="18" charset="0"/>
                                          </a:rPr>
                                          <m:t>x</m:t>
                                        </m:r>
                                        <m:r>
                                          <a:rPr lang="en-US" b="0" i="1" dirty="0" smtClean="0">
                                            <a:latin typeface="Cambria Math" panose="02040503050406030204" pitchFamily="18" charset="0"/>
                                          </a:rPr>
                                          <m:t>−</m:t>
                                        </m:r>
                                        <m:r>
                                          <m:rPr>
                                            <m:nor/>
                                          </m:rPr>
                                          <a:rPr lang="en-US" altLang="zh-TW" sz="1800" b="0" i="0" dirty="0" smtClean="0">
                                            <a:latin typeface="Rockwell" panose="02060603020205020403" pitchFamily="18" charset="0"/>
                                          </a:rPr>
                                          <m:t>E</m:t>
                                        </m:r>
                                        <m:d>
                                          <m:dPr>
                                            <m:ctrlPr>
                                              <a:rPr lang="en-US" altLang="zh-TW" sz="1800" b="0" i="0" dirty="0" smtClean="0">
                                                <a:latin typeface="Rockwell" panose="02060603020205020403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r>
                                              <m:rPr>
                                                <m:nor/>
                                              </m:rPr>
                                              <a:rPr lang="en-US" altLang="zh-TW" sz="1800" b="0" i="0" dirty="0" smtClean="0">
                                                <a:latin typeface="Rockwell" panose="02060603020205020403" pitchFamily="18" charset="0"/>
                                              </a:rPr>
                                              <m:t>x</m:t>
                                            </m:r>
                                          </m:e>
                                        </m:d>
                                      </m:e>
                                    </m:d>
                                  </m:e>
                                  <m:sup>
                                    <m:r>
                                      <a:rPr lang="en-US" altLang="zh-TW" sz="1800" b="0" i="1" dirty="0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b="0" dirty="0">
                            <a:latin typeface="Garamond" panose="02020404030301010803" pitchFamily="18" charset="0"/>
                          </a:endParaRPr>
                        </a:p>
                      </a:txBody>
                      <a:tcPr anchor="ctr">
                        <a:solidFill>
                          <a:srgbClr val="77122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>
                                <m:sSup>
                                  <m:sSupPr>
                                    <m:ctrlPr>
                                      <a:rPr lang="en-US" altLang="zh-TW" sz="1800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begChr m:val="["/>
                                        <m:endChr m:val="]"/>
                                        <m:ctrlPr>
                                          <a:rPr lang="en-US" altLang="zh-TW" sz="1800" b="0" i="0" dirty="0" smtClean="0">
                                            <a:latin typeface="Rockwell" panose="02060603020205020403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m:rPr>
                                            <m:nor/>
                                          </m:rPr>
                                          <a:rPr lang="en-US" altLang="zh-TW" sz="1800" b="0" i="0" dirty="0" smtClean="0">
                                            <a:latin typeface="Rockwell" panose="02060603020205020403" pitchFamily="18" charset="0"/>
                                          </a:rPr>
                                          <m:t>x</m:t>
                                        </m:r>
                                        <m:r>
                                          <a:rPr lang="en-US" b="0" i="1" dirty="0" smtClean="0">
                                            <a:latin typeface="Cambria Math" panose="02040503050406030204" pitchFamily="18" charset="0"/>
                                          </a:rPr>
                                          <m:t>−</m:t>
                                        </m:r>
                                        <m:r>
                                          <m:rPr>
                                            <m:nor/>
                                          </m:rPr>
                                          <a:rPr lang="en-US" altLang="zh-TW" sz="1800" b="0" i="0" dirty="0" smtClean="0">
                                            <a:latin typeface="Rockwell" panose="02060603020205020403" pitchFamily="18" charset="0"/>
                                          </a:rPr>
                                          <m:t>E</m:t>
                                        </m:r>
                                        <m:d>
                                          <m:dPr>
                                            <m:ctrlPr>
                                              <a:rPr lang="en-US" altLang="zh-TW" sz="1800" b="0" i="0" dirty="0" smtClean="0">
                                                <a:latin typeface="Rockwell" panose="02060603020205020403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r>
                                              <m:rPr>
                                                <m:nor/>
                                              </m:rPr>
                                              <a:rPr lang="en-US" altLang="zh-TW" sz="1800" b="0" i="0" dirty="0" smtClean="0">
                                                <a:latin typeface="Rockwell" panose="02060603020205020403" pitchFamily="18" charset="0"/>
                                              </a:rPr>
                                              <m:t>x</m:t>
                                            </m:r>
                                          </m:e>
                                        </m:d>
                                      </m:e>
                                    </m:d>
                                  </m:e>
                                  <m:sup>
                                    <m:r>
                                      <a:rPr lang="en-US" altLang="zh-TW" sz="1800" b="0" i="1" dirty="0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US" altLang="zh-TW" sz="1800" b="0" i="1" dirty="0" smtClean="0">
                                    <a:latin typeface="Cambria Math" panose="02040503050406030204" pitchFamily="18" charset="0"/>
                                  </a:rPr>
                                  <m:t>⋅</m:t>
                                </m:r>
                                <m:r>
                                  <a:rPr lang="en-US" b="1" i="1" dirty="0" smtClean="0">
                                    <a:latin typeface="Cambria Math" panose="02040503050406030204" pitchFamily="18" charset="0"/>
                                  </a:rPr>
                                  <m:t>𝑷</m:t>
                                </m:r>
                                <m:d>
                                  <m:dPr>
                                    <m:ctrlPr>
                                      <a:rPr lang="en-US" altLang="zh-TW" sz="1800" b="0" i="0" dirty="0" smtClean="0">
                                        <a:latin typeface="Rockwell" panose="02060603020205020403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m:rPr>
                                        <m:nor/>
                                      </m:rPr>
                                      <a:rPr lang="en-US" altLang="zh-TW" sz="1800" b="0" i="0" dirty="0" smtClean="0">
                                        <a:latin typeface="Rockwell" panose="02060603020205020403" pitchFamily="18" charset="0"/>
                                      </a:rPr>
                                      <m:t>x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US" dirty="0">
                            <a:latin typeface="Garamond" panose="02020404030301010803" pitchFamily="18" charset="0"/>
                          </a:endParaRPr>
                        </a:p>
                      </a:txBody>
                      <a:tcPr anchor="ctr">
                        <a:solidFill>
                          <a:srgbClr val="77122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28335293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>
                              <a:latin typeface="Garamond" panose="02020404030301010803" pitchFamily="18" charset="0"/>
                            </a:rPr>
                            <a:t>0</a:t>
                          </a:r>
                          <a:endParaRPr lang="en-US" dirty="0">
                            <a:latin typeface="Garamond" panose="02020404030301010803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Garamond" panose="02020404030301010803" pitchFamily="18" charset="0"/>
                            </a:rPr>
                            <a:t>3/30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>
                              <a:latin typeface="Garamond" panose="02020404030301010803" pitchFamily="18" charset="0"/>
                            </a:rPr>
                            <a:t>-2</a:t>
                          </a:r>
                          <a:endParaRPr lang="en-US" dirty="0">
                            <a:latin typeface="Garamond" panose="02020404030301010803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>
                              <a:latin typeface="Garamond" panose="02020404030301010803" pitchFamily="18" charset="0"/>
                            </a:rPr>
                            <a:t>4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>
                              <a:latin typeface="Garamond" panose="02020404030301010803" pitchFamily="18" charset="0"/>
                            </a:rPr>
                            <a:t>12/30</a:t>
                          </a:r>
                          <a:endParaRPr lang="en-US" dirty="0">
                            <a:latin typeface="Garamond" panose="02020404030301010803" pitchFamily="18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86434689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>
                              <a:latin typeface="Garamond" panose="02020404030301010803" pitchFamily="18" charset="0"/>
                            </a:rPr>
                            <a:t>1</a:t>
                          </a:r>
                          <a:endParaRPr lang="en-US" dirty="0">
                            <a:latin typeface="Garamond" panose="02020404030301010803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Garamond" panose="02020404030301010803" pitchFamily="18" charset="0"/>
                            </a:rPr>
                            <a:t>8/30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>
                              <a:latin typeface="Garamond" panose="02020404030301010803" pitchFamily="18" charset="0"/>
                            </a:rPr>
                            <a:t>-1</a:t>
                          </a:r>
                          <a:endParaRPr lang="en-US" dirty="0">
                            <a:latin typeface="Garamond" panose="02020404030301010803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>
                              <a:latin typeface="Garamond" panose="02020404030301010803" pitchFamily="18" charset="0"/>
                            </a:rPr>
                            <a:t>1</a:t>
                          </a:r>
                          <a:endParaRPr lang="en-US" dirty="0">
                            <a:latin typeface="Garamond" panose="02020404030301010803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>
                              <a:latin typeface="Garamond" panose="02020404030301010803" pitchFamily="18" charset="0"/>
                            </a:rPr>
                            <a:t>8/30</a:t>
                          </a:r>
                          <a:endParaRPr lang="en-US" dirty="0">
                            <a:latin typeface="Garamond" panose="02020404030301010803" pitchFamily="18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7368346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>
                              <a:latin typeface="Garamond" panose="02020404030301010803" pitchFamily="18" charset="0"/>
                            </a:rPr>
                            <a:t>2</a:t>
                          </a:r>
                          <a:endParaRPr lang="en-US" dirty="0">
                            <a:latin typeface="Garamond" panose="02020404030301010803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>
                              <a:latin typeface="Garamond" panose="02020404030301010803" pitchFamily="18" charset="0"/>
                            </a:rPr>
                            <a:t>9/30</a:t>
                          </a:r>
                          <a:endParaRPr lang="en-US" dirty="0">
                            <a:latin typeface="Garamond" panose="02020404030301010803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Garamond" panose="02020404030301010803" pitchFamily="18" charset="0"/>
                            </a:rPr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Garamond" panose="02020404030301010803" pitchFamily="18" charset="0"/>
                            </a:rPr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>
                              <a:latin typeface="Garamond" panose="02020404030301010803" pitchFamily="18" charset="0"/>
                            </a:rPr>
                            <a:t>0</a:t>
                          </a:r>
                          <a:endParaRPr lang="en-US" dirty="0">
                            <a:latin typeface="Garamond" panose="02020404030301010803" pitchFamily="18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28412386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>
                              <a:latin typeface="Garamond" panose="02020404030301010803" pitchFamily="18" charset="0"/>
                            </a:rPr>
                            <a:t>3</a:t>
                          </a:r>
                          <a:endParaRPr lang="en-US" dirty="0">
                            <a:latin typeface="Garamond" panose="02020404030301010803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>
                              <a:latin typeface="Garamond" panose="02020404030301010803" pitchFamily="18" charset="0"/>
                            </a:rPr>
                            <a:t>6/30</a:t>
                          </a:r>
                          <a:endParaRPr lang="en-US" dirty="0">
                            <a:latin typeface="Garamond" panose="02020404030301010803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>
                              <a:latin typeface="Garamond" panose="02020404030301010803" pitchFamily="18" charset="0"/>
                            </a:rPr>
                            <a:t>1</a:t>
                          </a:r>
                          <a:endParaRPr lang="en-US" dirty="0">
                            <a:latin typeface="Garamond" panose="02020404030301010803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Garamond" panose="02020404030301010803" pitchFamily="18" charset="0"/>
                            </a:rPr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>
                              <a:latin typeface="Garamond" panose="02020404030301010803" pitchFamily="18" charset="0"/>
                            </a:rPr>
                            <a:t>6/30</a:t>
                          </a:r>
                          <a:endParaRPr lang="en-US" dirty="0">
                            <a:latin typeface="Garamond" panose="02020404030301010803" pitchFamily="18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49561823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>
                              <a:latin typeface="Garamond" panose="02020404030301010803" pitchFamily="18" charset="0"/>
                            </a:rPr>
                            <a:t>4</a:t>
                          </a:r>
                          <a:endParaRPr lang="en-US" dirty="0">
                            <a:latin typeface="Garamond" panose="02020404030301010803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>
                              <a:latin typeface="Garamond" panose="02020404030301010803" pitchFamily="18" charset="0"/>
                            </a:rPr>
                            <a:t>3/30</a:t>
                          </a:r>
                          <a:endParaRPr lang="en-US" dirty="0">
                            <a:latin typeface="Garamond" panose="02020404030301010803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>
                              <a:latin typeface="Garamond" panose="02020404030301010803" pitchFamily="18" charset="0"/>
                            </a:rPr>
                            <a:t>2</a:t>
                          </a:r>
                          <a:endParaRPr lang="en-US" dirty="0">
                            <a:latin typeface="Garamond" panose="02020404030301010803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Garamond" panose="02020404030301010803" pitchFamily="18" charset="0"/>
                            </a:rPr>
                            <a:t>4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Garamond" panose="02020404030301010803" pitchFamily="18" charset="0"/>
                            </a:rPr>
                            <a:t>12/30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42584031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>
                              <a:latin typeface="Garamond" panose="02020404030301010803" pitchFamily="18" charset="0"/>
                            </a:rPr>
                            <a:t>5</a:t>
                          </a:r>
                          <a:endParaRPr lang="en-US" dirty="0">
                            <a:latin typeface="Garamond" panose="02020404030301010803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>
                              <a:latin typeface="Garamond" panose="02020404030301010803" pitchFamily="18" charset="0"/>
                            </a:rPr>
                            <a:t>1/30</a:t>
                          </a:r>
                          <a:endParaRPr lang="en-US" dirty="0">
                            <a:latin typeface="Garamond" panose="02020404030301010803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>
                              <a:latin typeface="Garamond" panose="02020404030301010803" pitchFamily="18" charset="0"/>
                            </a:rPr>
                            <a:t>3</a:t>
                          </a:r>
                          <a:endParaRPr lang="en-US" dirty="0">
                            <a:latin typeface="Garamond" panose="02020404030301010803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Garamond" panose="02020404030301010803" pitchFamily="18" charset="0"/>
                            </a:rPr>
                            <a:t>9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Garamond" panose="02020404030301010803" pitchFamily="18" charset="0"/>
                            </a:rPr>
                            <a:t>9/30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3738953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>
                              <a:latin typeface="Garamond" panose="02020404030301010803" pitchFamily="18" charset="0"/>
                            </a:rPr>
                            <a:t>Total</a:t>
                          </a:r>
                          <a:endParaRPr lang="en-US" dirty="0">
                            <a:latin typeface="Garamond" panose="02020404030301010803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nary>
                                <m:naryPr>
                                  <m:chr m:val="∑"/>
                                  <m:limLoc m:val="subSup"/>
                                  <m:supHide m:val="on"/>
                                  <m:ctrlPr>
                                    <a:rPr lang="en-US" altLang="zh-TW" sz="1800" b="0" i="0" dirty="0">
                                      <a:solidFill>
                                        <a:schemeClr val="tx1"/>
                                      </a:solidFill>
                                      <a:latin typeface="Rockwell" panose="02060603020205020403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nor/>
                                    </m:rPr>
                                    <a:rPr lang="en-US" altLang="zh-TW" sz="1800" b="0" i="0" dirty="0">
                                      <a:solidFill>
                                        <a:schemeClr val="tx1"/>
                                      </a:solidFill>
                                      <a:latin typeface="Rockwell" panose="02060603020205020403" pitchFamily="18" charset="0"/>
                                    </a:rPr>
                                    <m:t>x</m:t>
                                  </m:r>
                                </m:sub>
                                <m:sup/>
                                <m:e>
                                  <m:r>
                                    <a:rPr lang="en-US" sz="1800" b="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  <m:d>
                                    <m:dPr>
                                      <m:ctrlPr>
                                        <a:rPr lang="en-US" altLang="zh-TW" sz="1800" b="0" i="0" dirty="0">
                                          <a:solidFill>
                                            <a:schemeClr val="tx1"/>
                                          </a:solidFill>
                                          <a:latin typeface="Rockwell" panose="02060603020205020403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m:rPr>
                                          <m:nor/>
                                        </m:rPr>
                                        <a:rPr lang="en-US" altLang="zh-TW" sz="1800" b="0" i="0" dirty="0">
                                          <a:solidFill>
                                            <a:schemeClr val="tx1"/>
                                          </a:solidFill>
                                          <a:latin typeface="Rockwell" panose="02060603020205020403" pitchFamily="18" charset="0"/>
                                        </a:rPr>
                                        <m:t>x</m:t>
                                      </m:r>
                                    </m:e>
                                  </m:d>
                                </m:e>
                              </m:nary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</m:oMath>
                          </a14:m>
                          <a:r>
                            <a:rPr lang="en-US" dirty="0">
                              <a:latin typeface="Garamond" panose="02020404030301010803" pitchFamily="18" charset="0"/>
                            </a:rPr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>
                            <a:latin typeface="Garamond" panose="02020404030301010803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>
                            <a:latin typeface="Garamond" panose="02020404030301010803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nary>
                                <m:naryPr>
                                  <m:chr m:val="∑"/>
                                  <m:limLoc m:val="subSup"/>
                                  <m:supHide m:val="on"/>
                                  <m:ctrlPr>
                                    <a:rPr lang="en-US" altLang="zh-TW" sz="1800" b="0" i="0" dirty="0">
                                      <a:solidFill>
                                        <a:schemeClr val="tx1"/>
                                      </a:solidFill>
                                      <a:latin typeface="Rockwell" panose="02060603020205020403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nor/>
                                    </m:rPr>
                                    <a:rPr lang="en-US" altLang="zh-TW" sz="1800" b="0" i="0" dirty="0">
                                      <a:solidFill>
                                        <a:schemeClr val="tx1"/>
                                      </a:solidFill>
                                      <a:latin typeface="Rockwell" panose="02060603020205020403" pitchFamily="18" charset="0"/>
                                    </a:rPr>
                                    <m:t>x</m:t>
                                  </m:r>
                                </m:sub>
                                <m:sup/>
                                <m:e>
                                  <m:sSup>
                                    <m:sSupPr>
                                      <m:ctrlPr>
                                        <a:rPr lang="en-US" altLang="zh-TW" sz="1800" i="1" dirty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begChr m:val="["/>
                                          <m:endChr m:val="]"/>
                                          <m:ctrlPr>
                                            <a:rPr lang="en-US" altLang="zh-TW" sz="1800" i="0" dirty="0">
                                              <a:solidFill>
                                                <a:schemeClr val="tx1"/>
                                              </a:solidFill>
                                              <a:latin typeface="Rockwell" panose="02060603020205020403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m:rPr>
                                              <m:nor/>
                                            </m:rPr>
                                            <a:rPr lang="en-US" altLang="zh-TW" sz="1800" i="0" dirty="0">
                                              <a:solidFill>
                                                <a:schemeClr val="tx1"/>
                                              </a:solidFill>
                                              <a:latin typeface="Rockwell" panose="02060603020205020403" pitchFamily="18" charset="0"/>
                                            </a:rPr>
                                            <m:t>x</m:t>
                                          </m:r>
                                          <m:r>
                                            <a:rPr lang="en-US" sz="1800" b="1" i="1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−</m:t>
                                          </m:r>
                                          <m:r>
                                            <m:rPr>
                                              <m:nor/>
                                            </m:rPr>
                                            <a:rPr lang="en-US" altLang="zh-TW" sz="1800" b="0" i="0" dirty="0" smtClean="0">
                                              <a:solidFill>
                                                <a:schemeClr val="tx1"/>
                                              </a:solidFill>
                                              <a:latin typeface="Rockwell" panose="02060603020205020403" pitchFamily="18" charset="0"/>
                                            </a:rPr>
                                            <m:t>E</m:t>
                                          </m:r>
                                          <m:d>
                                            <m:dPr>
                                              <m:ctrlPr>
                                                <a:rPr lang="en-US" altLang="zh-TW" sz="1800" i="0" dirty="0">
                                                  <a:solidFill>
                                                    <a:schemeClr val="tx1"/>
                                                  </a:solidFill>
                                                  <a:latin typeface="Rockwell" panose="02060603020205020403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r>
                                                <m:rPr>
                                                  <m:nor/>
                                                </m:rPr>
                                                <a:rPr lang="en-US" altLang="zh-TW" sz="1800" i="0" dirty="0">
                                                  <a:solidFill>
                                                    <a:schemeClr val="tx1"/>
                                                  </a:solidFill>
                                                  <a:latin typeface="Rockwell" panose="02060603020205020403" pitchFamily="18" charset="0"/>
                                                </a:rPr>
                                                <m:t>X</m:t>
                                              </m:r>
                                            </m:e>
                                          </m:d>
                                        </m:e>
                                      </m:d>
                                    </m:e>
                                    <m:sup>
                                      <m:r>
                                        <a:rPr lang="en-US" sz="1800" b="1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𝟐</m:t>
                                      </m:r>
                                    </m:sup>
                                  </m:sSup>
                                  <m:r>
                                    <a:rPr lang="en-US" sz="18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⋅</m:t>
                                  </m:r>
                                  <m:r>
                                    <a:rPr lang="en-US" sz="18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𝑷</m:t>
                                  </m:r>
                                  <m:d>
                                    <m:dPr>
                                      <m:ctrlPr>
                                        <a:rPr lang="en-US" altLang="zh-TW" sz="1800" i="0" dirty="0">
                                          <a:solidFill>
                                            <a:schemeClr val="tx1"/>
                                          </a:solidFill>
                                          <a:latin typeface="Rockwell" panose="02060603020205020403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m:rPr>
                                          <m:nor/>
                                        </m:rPr>
                                        <a:rPr lang="en-US" altLang="zh-TW" sz="1800" i="0" dirty="0">
                                          <a:solidFill>
                                            <a:schemeClr val="tx1"/>
                                          </a:solidFill>
                                          <a:latin typeface="Rockwell" panose="02060603020205020403" pitchFamily="18" charset="0"/>
                                        </a:rPr>
                                        <m:t>x</m:t>
                                      </m:r>
                                    </m:e>
                                  </m:d>
                                </m:e>
                              </m:nary>
                              <m:r>
                                <a:rPr lang="en-US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= </m:t>
                              </m:r>
                            </m:oMath>
                          </a14:m>
                          <a:r>
                            <a:rPr lang="en-US" dirty="0">
                              <a:solidFill>
                                <a:schemeClr val="tx1"/>
                              </a:solidFill>
                              <a:latin typeface="Garamond" panose="02020404030301010803" pitchFamily="18" charset="0"/>
                            </a:rPr>
                            <a:t>47/30 </a:t>
                          </a:r>
                          <a:r>
                            <a:rPr lang="en-US" dirty="0">
                              <a:latin typeface="Garamond" panose="02020404030301010803" pitchFamily="18" charset="0"/>
                            </a:rPr>
                            <a:t>≈ 1.57</a:t>
                          </a:r>
                          <a:endParaRPr lang="en-US" dirty="0">
                            <a:solidFill>
                              <a:schemeClr val="tx1"/>
                            </a:solidFill>
                            <a:latin typeface="Garamond" panose="02020404030301010803" pitchFamily="18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55062058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2" name="Table 11">
                <a:extLst>
                  <a:ext uri="{FF2B5EF4-FFF2-40B4-BE49-F238E27FC236}">
                    <a16:creationId xmlns:a16="http://schemas.microsoft.com/office/drawing/2014/main" id="{4B133DD3-66BA-AF0A-72BD-BBA6F57D0C3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769745823"/>
                  </p:ext>
                </p:extLst>
              </p:nvPr>
            </p:nvGraphicFramePr>
            <p:xfrm>
              <a:off x="1016486" y="1769928"/>
              <a:ext cx="9581412" cy="296932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86050">
                      <a:extLst>
                        <a:ext uri="{9D8B030D-6E8A-4147-A177-3AD203B41FA5}">
                          <a16:colId xmlns:a16="http://schemas.microsoft.com/office/drawing/2014/main" val="3269318500"/>
                        </a:ext>
                      </a:extLst>
                    </a:gridCol>
                    <a:gridCol w="1700784">
                      <a:extLst>
                        <a:ext uri="{9D8B030D-6E8A-4147-A177-3AD203B41FA5}">
                          <a16:colId xmlns:a16="http://schemas.microsoft.com/office/drawing/2014/main" val="1084937839"/>
                        </a:ext>
                      </a:extLst>
                    </a:gridCol>
                    <a:gridCol w="1389888">
                      <a:extLst>
                        <a:ext uri="{9D8B030D-6E8A-4147-A177-3AD203B41FA5}">
                          <a16:colId xmlns:a16="http://schemas.microsoft.com/office/drawing/2014/main" val="4200844973"/>
                        </a:ext>
                      </a:extLst>
                    </a:gridCol>
                    <a:gridCol w="1600200">
                      <a:extLst>
                        <a:ext uri="{9D8B030D-6E8A-4147-A177-3AD203B41FA5}">
                          <a16:colId xmlns:a16="http://schemas.microsoft.com/office/drawing/2014/main" val="3844035428"/>
                        </a:ext>
                      </a:extLst>
                    </a:gridCol>
                    <a:gridCol w="3904490">
                      <a:extLst>
                        <a:ext uri="{9D8B030D-6E8A-4147-A177-3AD203B41FA5}">
                          <a16:colId xmlns:a16="http://schemas.microsoft.com/office/drawing/2014/main" val="2990019285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6"/>
                          <a:stretch>
                            <a:fillRect l="-617" t="-1639" r="-873457" b="-88360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6"/>
                          <a:stretch>
                            <a:fillRect l="-58423" t="-1639" r="-407168" b="-88360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6"/>
                          <a:stretch>
                            <a:fillRect l="-193860" t="-1639" r="-398246" b="-88360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6"/>
                          <a:stretch>
                            <a:fillRect l="-254753" t="-1639" r="-245247" b="-88360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6"/>
                          <a:stretch>
                            <a:fillRect l="-145554" t="-1639" r="-624" b="-88360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28335293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>
                              <a:latin typeface="Garamond" panose="02020404030301010803" pitchFamily="18" charset="0"/>
                            </a:rPr>
                            <a:t>0</a:t>
                          </a:r>
                          <a:endParaRPr lang="en-US" dirty="0">
                            <a:latin typeface="Garamond" panose="02020404030301010803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Garamond" panose="02020404030301010803" pitchFamily="18" charset="0"/>
                            </a:rPr>
                            <a:t>3/30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>
                              <a:latin typeface="Garamond" panose="02020404030301010803" pitchFamily="18" charset="0"/>
                            </a:rPr>
                            <a:t>-2</a:t>
                          </a:r>
                          <a:endParaRPr lang="en-US" dirty="0">
                            <a:latin typeface="Garamond" panose="02020404030301010803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>
                              <a:latin typeface="Garamond" panose="02020404030301010803" pitchFamily="18" charset="0"/>
                            </a:rPr>
                            <a:t>4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>
                              <a:latin typeface="Garamond" panose="02020404030301010803" pitchFamily="18" charset="0"/>
                            </a:rPr>
                            <a:t>12/30</a:t>
                          </a:r>
                          <a:endParaRPr lang="en-US" dirty="0">
                            <a:latin typeface="Garamond" panose="02020404030301010803" pitchFamily="18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86434689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>
                              <a:latin typeface="Garamond" panose="02020404030301010803" pitchFamily="18" charset="0"/>
                            </a:rPr>
                            <a:t>1</a:t>
                          </a:r>
                          <a:endParaRPr lang="en-US" dirty="0">
                            <a:latin typeface="Garamond" panose="02020404030301010803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Garamond" panose="02020404030301010803" pitchFamily="18" charset="0"/>
                            </a:rPr>
                            <a:t>8/30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>
                              <a:latin typeface="Garamond" panose="02020404030301010803" pitchFamily="18" charset="0"/>
                            </a:rPr>
                            <a:t>-1</a:t>
                          </a:r>
                          <a:endParaRPr lang="en-US" dirty="0">
                            <a:latin typeface="Garamond" panose="02020404030301010803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>
                              <a:latin typeface="Garamond" panose="02020404030301010803" pitchFamily="18" charset="0"/>
                            </a:rPr>
                            <a:t>1</a:t>
                          </a:r>
                          <a:endParaRPr lang="en-US" dirty="0">
                            <a:latin typeface="Garamond" panose="02020404030301010803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>
                              <a:latin typeface="Garamond" panose="02020404030301010803" pitchFamily="18" charset="0"/>
                            </a:rPr>
                            <a:t>8/30</a:t>
                          </a:r>
                          <a:endParaRPr lang="en-US" dirty="0">
                            <a:latin typeface="Garamond" panose="02020404030301010803" pitchFamily="18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7368346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>
                              <a:latin typeface="Garamond" panose="02020404030301010803" pitchFamily="18" charset="0"/>
                            </a:rPr>
                            <a:t>2</a:t>
                          </a:r>
                          <a:endParaRPr lang="en-US" dirty="0">
                            <a:latin typeface="Garamond" panose="02020404030301010803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>
                              <a:latin typeface="Garamond" panose="02020404030301010803" pitchFamily="18" charset="0"/>
                            </a:rPr>
                            <a:t>9/30</a:t>
                          </a:r>
                          <a:endParaRPr lang="en-US" dirty="0">
                            <a:latin typeface="Garamond" panose="02020404030301010803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Garamond" panose="02020404030301010803" pitchFamily="18" charset="0"/>
                            </a:rPr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Garamond" panose="02020404030301010803" pitchFamily="18" charset="0"/>
                            </a:rPr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>
                              <a:latin typeface="Garamond" panose="02020404030301010803" pitchFamily="18" charset="0"/>
                            </a:rPr>
                            <a:t>0</a:t>
                          </a:r>
                          <a:endParaRPr lang="en-US" dirty="0">
                            <a:latin typeface="Garamond" panose="02020404030301010803" pitchFamily="18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28412386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>
                              <a:latin typeface="Garamond" panose="02020404030301010803" pitchFamily="18" charset="0"/>
                            </a:rPr>
                            <a:t>3</a:t>
                          </a:r>
                          <a:endParaRPr lang="en-US" dirty="0">
                            <a:latin typeface="Garamond" panose="02020404030301010803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>
                              <a:latin typeface="Garamond" panose="02020404030301010803" pitchFamily="18" charset="0"/>
                            </a:rPr>
                            <a:t>6/30</a:t>
                          </a:r>
                          <a:endParaRPr lang="en-US" dirty="0">
                            <a:latin typeface="Garamond" panose="02020404030301010803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>
                              <a:latin typeface="Garamond" panose="02020404030301010803" pitchFamily="18" charset="0"/>
                            </a:rPr>
                            <a:t>1</a:t>
                          </a:r>
                          <a:endParaRPr lang="en-US" dirty="0">
                            <a:latin typeface="Garamond" panose="02020404030301010803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Garamond" panose="02020404030301010803" pitchFamily="18" charset="0"/>
                            </a:rPr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>
                              <a:latin typeface="Garamond" panose="02020404030301010803" pitchFamily="18" charset="0"/>
                            </a:rPr>
                            <a:t>6/30</a:t>
                          </a:r>
                          <a:endParaRPr lang="en-US" dirty="0">
                            <a:latin typeface="Garamond" panose="02020404030301010803" pitchFamily="18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49561823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>
                              <a:latin typeface="Garamond" panose="02020404030301010803" pitchFamily="18" charset="0"/>
                            </a:rPr>
                            <a:t>4</a:t>
                          </a:r>
                          <a:endParaRPr lang="en-US" dirty="0">
                            <a:latin typeface="Garamond" panose="02020404030301010803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>
                              <a:latin typeface="Garamond" panose="02020404030301010803" pitchFamily="18" charset="0"/>
                            </a:rPr>
                            <a:t>3/30</a:t>
                          </a:r>
                          <a:endParaRPr lang="en-US" dirty="0">
                            <a:latin typeface="Garamond" panose="02020404030301010803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>
                              <a:latin typeface="Garamond" panose="02020404030301010803" pitchFamily="18" charset="0"/>
                            </a:rPr>
                            <a:t>2</a:t>
                          </a:r>
                          <a:endParaRPr lang="en-US" dirty="0">
                            <a:latin typeface="Garamond" panose="02020404030301010803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Garamond" panose="02020404030301010803" pitchFamily="18" charset="0"/>
                            </a:rPr>
                            <a:t>4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Garamond" panose="02020404030301010803" pitchFamily="18" charset="0"/>
                            </a:rPr>
                            <a:t>12/30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42584031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>
                              <a:latin typeface="Garamond" panose="02020404030301010803" pitchFamily="18" charset="0"/>
                            </a:rPr>
                            <a:t>5</a:t>
                          </a:r>
                          <a:endParaRPr lang="en-US" dirty="0">
                            <a:latin typeface="Garamond" panose="02020404030301010803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>
                              <a:latin typeface="Garamond" panose="02020404030301010803" pitchFamily="18" charset="0"/>
                            </a:rPr>
                            <a:t>1/30</a:t>
                          </a:r>
                          <a:endParaRPr lang="en-US" dirty="0">
                            <a:latin typeface="Garamond" panose="02020404030301010803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>
                              <a:latin typeface="Garamond" panose="02020404030301010803" pitchFamily="18" charset="0"/>
                            </a:rPr>
                            <a:t>3</a:t>
                          </a:r>
                          <a:endParaRPr lang="en-US" dirty="0">
                            <a:latin typeface="Garamond" panose="02020404030301010803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Garamond" panose="02020404030301010803" pitchFamily="18" charset="0"/>
                            </a:rPr>
                            <a:t>9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Garamond" panose="02020404030301010803" pitchFamily="18" charset="0"/>
                            </a:rPr>
                            <a:t>9/30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37389535"/>
                      </a:ext>
                    </a:extLst>
                  </a:tr>
                  <a:tr h="37344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>
                              <a:latin typeface="Garamond" panose="02020404030301010803" pitchFamily="18" charset="0"/>
                            </a:rPr>
                            <a:t>Total</a:t>
                          </a:r>
                          <a:endParaRPr lang="en-US" dirty="0">
                            <a:latin typeface="Garamond" panose="02020404030301010803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6"/>
                          <a:stretch>
                            <a:fillRect l="-58423" t="-701639" r="-407168" b="-18360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>
                            <a:latin typeface="Garamond" panose="02020404030301010803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>
                            <a:latin typeface="Garamond" panose="02020404030301010803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6"/>
                          <a:stretch>
                            <a:fillRect l="-145554" t="-701639" r="-624" b="-18360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50620581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6447074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7122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5F964BC-C13E-2547-C13F-C10847E91A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A307F0B-ABD6-3D2F-D3D9-146EBF3220B3}"/>
              </a:ext>
            </a:extLst>
          </p:cNvPr>
          <p:cNvSpPr txBox="1"/>
          <p:nvPr/>
        </p:nvSpPr>
        <p:spPr>
          <a:xfrm>
            <a:off x="-1" y="2705725"/>
            <a:ext cx="12188825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DB913"/>
                </a:solidFill>
                <a:latin typeface="Garamond"/>
              </a:defRPr>
            </a:pPr>
            <a:r>
              <a:rPr lang="en-US" sz="4400" dirty="0">
                <a:solidFill>
                  <a:schemeClr val="bg1"/>
                </a:solidFill>
              </a:rPr>
              <a:t>Bivariate Distributions</a:t>
            </a:r>
          </a:p>
          <a:p>
            <a:pPr algn="ctr">
              <a:defRPr sz="4000" b="1">
                <a:solidFill>
                  <a:srgbClr val="FDB913"/>
                </a:solidFill>
                <a:latin typeface="Garamond"/>
              </a:defRPr>
            </a:pPr>
            <a:r>
              <a:rPr lang="en-US" sz="4400" dirty="0">
                <a:solidFill>
                  <a:schemeClr val="bg1"/>
                </a:solidFill>
              </a:rPr>
              <a:t>and Covariance</a:t>
            </a:r>
            <a:endParaRPr sz="4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2515088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BE5906-F9B4-D2CB-F870-0CF65B32B0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7350CDD-DFFD-A3DB-5258-345B93FB351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57199" y="1300900"/>
                <a:ext cx="11189855" cy="5081046"/>
              </a:xfrm>
            </p:spPr>
            <p:txBody>
              <a:bodyPr>
                <a:normAutofit/>
              </a:bodyPr>
              <a:lstStyle/>
              <a:p>
                <a:pPr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400" dirty="0"/>
                  <a:t>Sometimes we are interested in the relationship between two random variables rather than just one.</a:t>
                </a:r>
              </a:p>
              <a:p>
                <a:pPr lvl="3"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1200" dirty="0"/>
              </a:p>
              <a:p>
                <a:pPr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400" dirty="0"/>
                  <a:t>A </a:t>
                </a:r>
                <a:r>
                  <a:rPr lang="en-US" altLang="zh-TW" sz="2400" b="1" dirty="0"/>
                  <a:t>bivariate probability distribution </a:t>
                </a:r>
                <a:r>
                  <a:rPr lang="en-US" altLang="zh-TW" sz="2400" dirty="0"/>
                  <a:t>describes the probabilities associated with two random variables.</a:t>
                </a:r>
              </a:p>
              <a:p>
                <a:pPr lvl="3"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1200" dirty="0"/>
              </a:p>
              <a:p>
                <a:pPr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400" dirty="0"/>
                  <a:t>A discrete bivariate probability distribution assigns a probability to every possible combination of values for the two random variables.</a:t>
                </a:r>
              </a:p>
              <a:p>
                <a:pPr lvl="3"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1200" dirty="0">
                  <a:solidFill>
                    <a:schemeClr val="tx1"/>
                  </a:solidFill>
                </a:endParaRPr>
              </a:p>
              <a:p>
                <a:pPr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400" dirty="0">
                    <a:solidFill>
                      <a:schemeClr val="tx1"/>
                    </a:solidFill>
                  </a:rPr>
                  <a:t>Example</a:t>
                </a:r>
                <a:r>
                  <a:rPr lang="en-US" altLang="zh-TW" sz="2400" dirty="0"/>
                  <a:t>: Daily flight cancellations at two Chicago airports.</a:t>
                </a:r>
                <a:endParaRPr lang="en-US" altLang="zh-TW" sz="2400" dirty="0">
                  <a:solidFill>
                    <a:schemeClr val="tx1"/>
                  </a:solidFill>
                </a:endParaRPr>
              </a:p>
              <a:p>
                <a:pPr lvl="1"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000" dirty="0"/>
                  <a:t>Let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altLang="zh-TW" sz="2000" i="0" dirty="0">
                        <a:latin typeface="Rockwell" panose="02060603020205020403" pitchFamily="18" charset="0"/>
                      </a:rPr>
                      <m:t>X</m:t>
                    </m:r>
                  </m:oMath>
                </a14:m>
                <a:r>
                  <a:rPr lang="en-US" altLang="zh-TW" sz="2000" dirty="0">
                    <a:solidFill>
                      <a:schemeClr val="tx1"/>
                    </a:solidFill>
                  </a:rPr>
                  <a:t> be the number of cancelled flights</a:t>
                </a:r>
                <a:r>
                  <a:rPr lang="en-US" altLang="zh-TW" sz="2000" dirty="0"/>
                  <a:t> from</a:t>
                </a:r>
                <a:r>
                  <a:rPr lang="en-US" altLang="zh-TW" sz="2000" dirty="0">
                    <a:solidFill>
                      <a:schemeClr val="tx1"/>
                    </a:solidFill>
                  </a:rPr>
                  <a:t> Chicago O’Hare International Airport (ORD).</a:t>
                </a:r>
              </a:p>
              <a:p>
                <a:pPr lvl="1"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000" dirty="0"/>
                  <a:t>Let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altLang="zh-TW" sz="2000" b="0" i="0" dirty="0" smtClean="0">
                        <a:latin typeface="Rockwell" panose="02060603020205020403" pitchFamily="18" charset="0"/>
                      </a:rPr>
                      <m:t>Y</m:t>
                    </m:r>
                  </m:oMath>
                </a14:m>
                <a:r>
                  <a:rPr lang="en-US" altLang="zh-TW" sz="2000" dirty="0">
                    <a:solidFill>
                      <a:schemeClr val="tx1"/>
                    </a:solidFill>
                  </a:rPr>
                  <a:t> be the number of cancelled flights from Chicago Midway International Airport (MDW).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7350CDD-DFFD-A3DB-5258-345B93FB351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199" y="1300900"/>
                <a:ext cx="11189855" cy="5081046"/>
              </a:xfrm>
              <a:blipFill>
                <a:blip r:embed="rId2"/>
                <a:stretch>
                  <a:fillRect l="-708" t="-959" r="-9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750C8076-DEB5-D1C1-19EC-544C92E9E19F}"/>
              </a:ext>
            </a:extLst>
          </p:cNvPr>
          <p:cNvSpPr/>
          <p:nvPr/>
        </p:nvSpPr>
        <p:spPr>
          <a:xfrm>
            <a:off x="0" y="0"/>
            <a:ext cx="12188825" cy="923636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FD5AAD8-CA71-CABB-C3C9-BB34B76771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88825" cy="923636"/>
          </a:xfrm>
        </p:spPr>
        <p:txBody>
          <a:bodyPr>
            <a:normAutofit/>
          </a:bodyPr>
          <a:lstStyle/>
          <a:p>
            <a:pPr algn="l">
              <a:defRPr sz="4000" b="1">
                <a:solidFill>
                  <a:srgbClr val="FDB913"/>
                </a:solidFill>
                <a:latin typeface="Garamond"/>
              </a:defRPr>
            </a:pPr>
            <a:r>
              <a:rPr lang="en-US" sz="4000" dirty="0">
                <a:solidFill>
                  <a:schemeClr val="bg1"/>
                </a:solidFill>
              </a:rPr>
              <a:t>  Bivariate Probability Distribution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9672E4C-DD82-2CB5-68C5-A8794A04D4EE}"/>
              </a:ext>
            </a:extLst>
          </p:cNvPr>
          <p:cNvSpPr/>
          <p:nvPr/>
        </p:nvSpPr>
        <p:spPr>
          <a:xfrm>
            <a:off x="-1" y="6503428"/>
            <a:ext cx="12188825" cy="354572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C59443C-7032-424D-FF95-1E6F4117F0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1" y="6503428"/>
            <a:ext cx="2895600" cy="354572"/>
          </a:xfrm>
        </p:spPr>
        <p:txBody>
          <a:bodyPr/>
          <a:lstStyle/>
          <a:p>
            <a:pPr algn="l"/>
            <a:r>
              <a:rPr lang="en-US">
                <a:solidFill>
                  <a:schemeClr val="bg1"/>
                </a:solidFill>
                <a:latin typeface="Garamond" panose="02020404030301010803" pitchFamily="18" charset="0"/>
              </a:rPr>
              <a:t>BUSN 320 Business Statistics</a:t>
            </a:r>
            <a:endParaRPr lang="en-US" dirty="0">
              <a:solidFill>
                <a:schemeClr val="bg1"/>
              </a:solidFill>
              <a:latin typeface="Garamond" panose="02020404030301010803" pitchFamily="18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7C8A79E-E2C2-C729-798E-E3A4730F31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55225" y="6503428"/>
            <a:ext cx="2133600" cy="354572"/>
          </a:xfrm>
        </p:spPr>
        <p:txBody>
          <a:bodyPr/>
          <a:lstStyle/>
          <a:p>
            <a:fld id="{C1FF6DA9-008F-8B48-92A6-B652298478BF}" type="slidenum">
              <a:rPr lang="en-US" b="1" smtClean="0">
                <a:solidFill>
                  <a:schemeClr val="bg1"/>
                </a:solidFill>
                <a:latin typeface="Garamond" panose="02020404030301010803" pitchFamily="18" charset="0"/>
              </a:rPr>
              <a:t>19</a:t>
            </a:fld>
            <a:r>
              <a:rPr lang="en-US" b="1" dirty="0">
                <a:solidFill>
                  <a:schemeClr val="bg1"/>
                </a:solidFill>
                <a:latin typeface="Garamond" panose="02020404030301010803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4995738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A5F775-E7BA-41DC-63AB-7C453EC82E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185B382-37AE-CB9F-8CEE-296FDA2BD61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57198" y="1300900"/>
                <a:ext cx="3657600" cy="5081046"/>
              </a:xfrm>
            </p:spPr>
            <p:txBody>
              <a:bodyPr>
                <a:normAutofit/>
              </a:bodyPr>
              <a:lstStyle/>
              <a:p>
                <a:pPr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400" dirty="0"/>
                  <a:t>Suppose we observe:</a:t>
                </a:r>
              </a:p>
              <a:p>
                <a:pPr lvl="1"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000" dirty="0"/>
                  <a:t>Day 1: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2000" b="0" i="0" dirty="0" smtClean="0">
                        <a:latin typeface="Rockwell" panose="02060603020205020403" pitchFamily="18" charset="0"/>
                      </a:rPr>
                      <m:t>X</m:t>
                    </m:r>
                    <m:r>
                      <a:rPr lang="en-US" altLang="zh-TW" sz="2000" i="1">
                        <a:latin typeface="Cambria Math" panose="02040503050406030204" pitchFamily="18" charset="0"/>
                      </a:rPr>
                      <m:t>=0</m:t>
                    </m:r>
                    <m:r>
                      <a:rPr lang="en-US" altLang="zh-TW" sz="20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nor/>
                      </m:rPr>
                      <a:rPr lang="en-US" sz="2000" b="0" i="0" dirty="0" smtClean="0">
                        <a:latin typeface="Rockwell" panose="02060603020205020403" pitchFamily="18" charset="0"/>
                      </a:rPr>
                      <m:t>Y</m:t>
                    </m:r>
                    <m:r>
                      <a:rPr lang="en-US" altLang="zh-TW" sz="2000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n-US" altLang="zh-TW" sz="2000" dirty="0"/>
              </a:p>
              <a:p>
                <a:pPr lvl="1"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000" dirty="0"/>
                  <a:t>Day 2: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2000" i="0" dirty="0">
                        <a:latin typeface="Rockwell" panose="02060603020205020403" pitchFamily="18" charset="0"/>
                      </a:rPr>
                      <m:t>X</m:t>
                    </m:r>
                    <m:r>
                      <a:rPr lang="en-US" altLang="zh-TW" sz="20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TW" sz="2000" b="0" i="1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altLang="zh-TW" sz="2000" i="1"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nor/>
                      </m:rPr>
                      <a:rPr lang="en-US" sz="2000" i="0" dirty="0">
                        <a:latin typeface="Rockwell" panose="02060603020205020403" pitchFamily="18" charset="0"/>
                      </a:rPr>
                      <m:t>Y</m:t>
                    </m:r>
                    <m:r>
                      <a:rPr lang="en-US" altLang="zh-TW" sz="2000" i="1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n-US" altLang="zh-TW" sz="2000" dirty="0"/>
              </a:p>
              <a:p>
                <a:pPr lvl="1"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000" dirty="0"/>
                  <a:t>Day 3: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2000" i="0" dirty="0">
                        <a:latin typeface="Rockwell" panose="02060603020205020403" pitchFamily="18" charset="0"/>
                      </a:rPr>
                      <m:t>X</m:t>
                    </m:r>
                    <m:r>
                      <a:rPr lang="en-US" altLang="zh-TW" sz="2000" i="1">
                        <a:latin typeface="Cambria Math" panose="02040503050406030204" pitchFamily="18" charset="0"/>
                      </a:rPr>
                      <m:t>=0,</m:t>
                    </m:r>
                    <m:r>
                      <m:rPr>
                        <m:nor/>
                      </m:rPr>
                      <a:rPr lang="en-US" sz="2000" i="0" dirty="0">
                        <a:latin typeface="Rockwell" panose="02060603020205020403" pitchFamily="18" charset="0"/>
                      </a:rPr>
                      <m:t>Y</m:t>
                    </m:r>
                    <m:r>
                      <a:rPr lang="en-US" altLang="zh-TW" sz="20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TW" sz="2000" b="0" i="1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lang="en-US" altLang="zh-TW" sz="2000" dirty="0"/>
              </a:p>
              <a:p>
                <a:pPr lvl="1"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000" dirty="0"/>
                  <a:t>Day 4: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2000" i="0" dirty="0">
                        <a:latin typeface="Rockwell" panose="02060603020205020403" pitchFamily="18" charset="0"/>
                      </a:rPr>
                      <m:t>X</m:t>
                    </m:r>
                    <m:r>
                      <a:rPr lang="en-US" altLang="zh-TW" sz="20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TW" sz="2000" b="0" i="1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altLang="zh-TW" sz="2000" i="1"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nor/>
                      </m:rPr>
                      <a:rPr lang="en-US" sz="2000" i="0" dirty="0">
                        <a:latin typeface="Rockwell" panose="02060603020205020403" pitchFamily="18" charset="0"/>
                      </a:rPr>
                      <m:t>Y</m:t>
                    </m:r>
                    <m:r>
                      <a:rPr lang="en-US" altLang="zh-TW" sz="20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TW" sz="2000" b="0" i="1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lang="en-US" altLang="zh-TW" sz="2000" dirty="0"/>
              </a:p>
              <a:p>
                <a:pPr lvl="1"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000" dirty="0"/>
                  <a:t>Day 5: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2000" i="0" dirty="0">
                        <a:latin typeface="Rockwell" panose="02060603020205020403" pitchFamily="18" charset="0"/>
                      </a:rPr>
                      <m:t>X</m:t>
                    </m:r>
                    <m:r>
                      <a:rPr lang="en-US" altLang="zh-TW" sz="20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TW" sz="2000" b="0" i="1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altLang="zh-TW" sz="2000" i="1"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nor/>
                      </m:rPr>
                      <a:rPr lang="en-US" sz="2000" i="0" dirty="0">
                        <a:latin typeface="Rockwell" panose="02060603020205020403" pitchFamily="18" charset="0"/>
                      </a:rPr>
                      <m:t>Y</m:t>
                    </m:r>
                    <m:r>
                      <a:rPr lang="en-US" altLang="zh-TW" sz="20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TW" sz="2000" b="0" i="1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lang="en-US" altLang="zh-TW" sz="2000" dirty="0"/>
              </a:p>
              <a:p>
                <a:pPr lvl="1"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000" dirty="0"/>
                  <a:t>Day 6: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2000" i="0" dirty="0">
                        <a:latin typeface="Rockwell" panose="02060603020205020403" pitchFamily="18" charset="0"/>
                      </a:rPr>
                      <m:t>X</m:t>
                    </m:r>
                    <m:r>
                      <a:rPr lang="en-US" altLang="zh-TW" sz="20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TW" sz="2000" b="0" i="1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altLang="zh-TW" sz="2000" i="1"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nor/>
                      </m:rPr>
                      <a:rPr lang="en-US" sz="2000" i="0" dirty="0">
                        <a:latin typeface="Rockwell" panose="02060603020205020403" pitchFamily="18" charset="0"/>
                      </a:rPr>
                      <m:t>Y</m:t>
                    </m:r>
                    <m:r>
                      <a:rPr lang="en-US" altLang="zh-TW" sz="20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TW" sz="2000" b="0" i="1" smtClean="0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endParaRPr lang="en-US" altLang="zh-TW" sz="2000" dirty="0"/>
              </a:p>
              <a:p>
                <a:pPr lvl="1"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000" dirty="0"/>
                  <a:t>Day 7: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2000" i="0" dirty="0">
                        <a:latin typeface="Rockwell" panose="02060603020205020403" pitchFamily="18" charset="0"/>
                      </a:rPr>
                      <m:t>X</m:t>
                    </m:r>
                    <m:r>
                      <a:rPr lang="en-US" altLang="zh-TW" sz="20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TW" sz="2000" b="0" i="1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altLang="zh-TW" sz="2000" i="1"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nor/>
                      </m:rPr>
                      <a:rPr lang="en-US" sz="2000" i="0" dirty="0">
                        <a:latin typeface="Rockwell" panose="02060603020205020403" pitchFamily="18" charset="0"/>
                      </a:rPr>
                      <m:t>Y</m:t>
                    </m:r>
                    <m:r>
                      <a:rPr lang="en-US" altLang="zh-TW" sz="20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TW" sz="2000" b="0" i="1" smtClean="0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endParaRPr lang="en-US" altLang="zh-TW" sz="2000" dirty="0"/>
              </a:p>
              <a:p>
                <a:pPr lvl="1"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000" dirty="0"/>
                  <a:t>Day 8: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2000" i="0" dirty="0">
                        <a:latin typeface="Rockwell" panose="02060603020205020403" pitchFamily="18" charset="0"/>
                      </a:rPr>
                      <m:t>X</m:t>
                    </m:r>
                    <m:r>
                      <a:rPr lang="en-US" altLang="zh-TW" sz="2000" i="1">
                        <a:latin typeface="Cambria Math" panose="02040503050406030204" pitchFamily="18" charset="0"/>
                      </a:rPr>
                      <m:t>=0,</m:t>
                    </m:r>
                    <m:r>
                      <m:rPr>
                        <m:nor/>
                      </m:rPr>
                      <a:rPr lang="en-US" sz="2000" i="0" dirty="0">
                        <a:latin typeface="Rockwell" panose="02060603020205020403" pitchFamily="18" charset="0"/>
                      </a:rPr>
                      <m:t>Y</m:t>
                    </m:r>
                    <m:r>
                      <a:rPr lang="en-US" altLang="zh-TW" sz="2000" i="1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n-US" altLang="zh-TW" sz="2000" dirty="0"/>
              </a:p>
              <a:p>
                <a:pPr lvl="1"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000" dirty="0"/>
                  <a:t>Day 9: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2000" i="0" dirty="0">
                        <a:latin typeface="Rockwell" panose="02060603020205020403" pitchFamily="18" charset="0"/>
                      </a:rPr>
                      <m:t>X</m:t>
                    </m:r>
                    <m:r>
                      <a:rPr lang="en-US" altLang="zh-TW" sz="20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TW" sz="2000" b="0" i="1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altLang="zh-TW" sz="2000" i="1"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nor/>
                      </m:rPr>
                      <a:rPr lang="en-US" sz="2000" i="0" dirty="0">
                        <a:latin typeface="Rockwell" panose="02060603020205020403" pitchFamily="18" charset="0"/>
                      </a:rPr>
                      <m:t>Y</m:t>
                    </m:r>
                    <m:r>
                      <a:rPr lang="en-US" altLang="zh-TW" sz="20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TW" sz="2000" b="0" i="1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lang="en-US" altLang="zh-TW" sz="2000" dirty="0"/>
              </a:p>
              <a:p>
                <a:pPr lvl="1"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000" dirty="0">
                    <a:solidFill>
                      <a:srgbClr val="000000"/>
                    </a:solidFill>
                    <a:latin typeface="Garamond"/>
                  </a:rPr>
                  <a:t>Day 10: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2000" i="0" dirty="0">
                        <a:latin typeface="Rockwell" panose="02060603020205020403" pitchFamily="18" charset="0"/>
                      </a:rPr>
                      <m:t>X</m:t>
                    </m:r>
                    <m:r>
                      <a:rPr lang="en-US" altLang="zh-TW" sz="20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TW" sz="2000" b="0" i="1" smtClean="0">
                        <a:latin typeface="Cambria Math" panose="02040503050406030204" pitchFamily="18" charset="0"/>
                      </a:rPr>
                      <m:t>3</m:t>
                    </m:r>
                    <m:r>
                      <a:rPr lang="en-US" altLang="zh-TW" sz="2000" i="1"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nor/>
                      </m:rPr>
                      <a:rPr lang="en-US" sz="2000" i="0" dirty="0">
                        <a:latin typeface="Rockwell" panose="02060603020205020403" pitchFamily="18" charset="0"/>
                      </a:rPr>
                      <m:t>Y</m:t>
                    </m:r>
                    <m:r>
                      <a:rPr lang="en-US" altLang="zh-TW" sz="20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TW" sz="2000" b="0" i="1" smtClean="0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endParaRPr lang="en-US" altLang="zh-TW" sz="24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185B382-37AE-CB9F-8CEE-296FDA2BD61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198" y="1300900"/>
                <a:ext cx="3657600" cy="5081046"/>
              </a:xfrm>
              <a:blipFill>
                <a:blip r:embed="rId2"/>
                <a:stretch>
                  <a:fillRect l="-2167" t="-95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4D6D8640-CE45-807D-ED66-3023F9362C06}"/>
              </a:ext>
            </a:extLst>
          </p:cNvPr>
          <p:cNvSpPr/>
          <p:nvPr/>
        </p:nvSpPr>
        <p:spPr>
          <a:xfrm>
            <a:off x="0" y="0"/>
            <a:ext cx="12188825" cy="923636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4FFF20A-FE2C-7CB1-6B9F-9E75087ECD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88825" cy="923636"/>
          </a:xfrm>
        </p:spPr>
        <p:txBody>
          <a:bodyPr>
            <a:normAutofit/>
          </a:bodyPr>
          <a:lstStyle/>
          <a:p>
            <a:pPr algn="l">
              <a:defRPr sz="4000" b="1">
                <a:solidFill>
                  <a:srgbClr val="FDB913"/>
                </a:solidFill>
                <a:latin typeface="Garamond"/>
              </a:defRPr>
            </a:pPr>
            <a:r>
              <a:rPr lang="en-US" sz="4000" dirty="0">
                <a:solidFill>
                  <a:schemeClr val="bg1"/>
                </a:solidFill>
              </a:rPr>
              <a:t>  Example: Bivariate Probability Distribution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193C2AC-7DB9-1FE3-C799-AF0E10043BA6}"/>
              </a:ext>
            </a:extLst>
          </p:cNvPr>
          <p:cNvSpPr/>
          <p:nvPr/>
        </p:nvSpPr>
        <p:spPr>
          <a:xfrm>
            <a:off x="-1" y="6503428"/>
            <a:ext cx="12188825" cy="354572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B6FAAEC-EF8F-22F4-FDCE-024AC3361C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1" y="6503428"/>
            <a:ext cx="2895600" cy="354572"/>
          </a:xfrm>
        </p:spPr>
        <p:txBody>
          <a:bodyPr/>
          <a:lstStyle/>
          <a:p>
            <a:pPr algn="l"/>
            <a:r>
              <a:rPr lang="en-US">
                <a:solidFill>
                  <a:schemeClr val="bg1"/>
                </a:solidFill>
                <a:latin typeface="Garamond" panose="02020404030301010803" pitchFamily="18" charset="0"/>
              </a:rPr>
              <a:t>BUSN 320 Business Statistics</a:t>
            </a:r>
            <a:endParaRPr lang="en-US" dirty="0">
              <a:solidFill>
                <a:schemeClr val="bg1"/>
              </a:solidFill>
              <a:latin typeface="Garamond" panose="02020404030301010803" pitchFamily="18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340576C-6CA2-001B-A58B-AEAE591C0F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55225" y="6503428"/>
            <a:ext cx="2133600" cy="354572"/>
          </a:xfrm>
        </p:spPr>
        <p:txBody>
          <a:bodyPr/>
          <a:lstStyle/>
          <a:p>
            <a:fld id="{C1FF6DA9-008F-8B48-92A6-B652298478BF}" type="slidenum">
              <a:rPr lang="en-US" b="1" smtClean="0">
                <a:solidFill>
                  <a:schemeClr val="bg1"/>
                </a:solidFill>
                <a:latin typeface="Garamond" panose="02020404030301010803" pitchFamily="18" charset="0"/>
              </a:rPr>
              <a:t>20</a:t>
            </a:fld>
            <a:r>
              <a:rPr lang="en-US" b="1" dirty="0">
                <a:solidFill>
                  <a:schemeClr val="bg1"/>
                </a:solidFill>
                <a:latin typeface="Garamond" panose="02020404030301010803" pitchFamily="18" charset="0"/>
              </a:rPr>
              <a:t>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Content Placeholder 2">
                <a:extLst>
                  <a:ext uri="{FF2B5EF4-FFF2-40B4-BE49-F238E27FC236}">
                    <a16:creationId xmlns:a16="http://schemas.microsoft.com/office/drawing/2014/main" id="{C501AA08-E514-3DC0-0C6E-E582BC27D503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114798" y="1300304"/>
                <a:ext cx="3657600" cy="5081046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342900" indent="-3429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defTabSz="457200" rtl="0" eaLnBrk="1" latinLnBrk="0" hangingPunct="1">
                  <a:spcBef>
                    <a:spcPct val="20000"/>
                  </a:spcBef>
                  <a:buFont typeface="Arial"/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spcBef>
                    <a:spcPts val="1000"/>
                  </a:spcBef>
                  <a:buNone/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2400" dirty="0">
                  <a:solidFill>
                    <a:srgbClr val="000000"/>
                  </a:solidFill>
                  <a:latin typeface="Garamond"/>
                </a:endParaRPr>
              </a:p>
              <a:p>
                <a:pPr lvl="1"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000" dirty="0">
                    <a:solidFill>
                      <a:srgbClr val="000000"/>
                    </a:solidFill>
                    <a:latin typeface="Garamond"/>
                  </a:rPr>
                  <a:t>Day 11: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2000" i="0" dirty="0">
                        <a:latin typeface="Rockwell" panose="02060603020205020403" pitchFamily="18" charset="0"/>
                      </a:rPr>
                      <m:t>X</m:t>
                    </m:r>
                    <m:r>
                      <a:rPr lang="en-US" altLang="zh-TW" sz="20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TW" sz="2000" b="0" i="1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altLang="zh-TW" sz="2000" i="1"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nor/>
                      </m:rPr>
                      <a:rPr lang="en-US" sz="2000" i="0" dirty="0">
                        <a:latin typeface="Rockwell" panose="02060603020205020403" pitchFamily="18" charset="0"/>
                      </a:rPr>
                      <m:t>Y</m:t>
                    </m:r>
                    <m:r>
                      <a:rPr lang="en-US" altLang="zh-TW" sz="20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TW" sz="2000" b="0" i="1" smtClean="0"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endParaRPr lang="en-US" altLang="zh-TW" sz="2000" dirty="0">
                  <a:solidFill>
                    <a:srgbClr val="000000"/>
                  </a:solidFill>
                  <a:latin typeface="Garamond"/>
                </a:endParaRPr>
              </a:p>
              <a:p>
                <a:pPr lvl="1"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000" dirty="0">
                    <a:solidFill>
                      <a:srgbClr val="000000"/>
                    </a:solidFill>
                    <a:latin typeface="Garamond"/>
                  </a:rPr>
                  <a:t>Day 12: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2000" i="0" dirty="0">
                        <a:latin typeface="Rockwell" panose="02060603020205020403" pitchFamily="18" charset="0"/>
                      </a:rPr>
                      <m:t>X</m:t>
                    </m:r>
                    <m:r>
                      <a:rPr lang="en-US" altLang="zh-TW" sz="20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TW" sz="2000" b="0" i="1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altLang="zh-TW" sz="2000" i="1"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nor/>
                      </m:rPr>
                      <a:rPr lang="en-US" sz="2000" i="0" dirty="0">
                        <a:latin typeface="Rockwell" panose="02060603020205020403" pitchFamily="18" charset="0"/>
                      </a:rPr>
                      <m:t>Y</m:t>
                    </m:r>
                    <m:r>
                      <a:rPr lang="en-US" altLang="zh-TW" sz="20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TW" sz="2000" b="0" i="1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lang="en-US" altLang="zh-TW" sz="2000" dirty="0">
                  <a:solidFill>
                    <a:srgbClr val="000000"/>
                  </a:solidFill>
                  <a:latin typeface="Garamond"/>
                </a:endParaRPr>
              </a:p>
              <a:p>
                <a:pPr lvl="1"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000" dirty="0">
                    <a:solidFill>
                      <a:srgbClr val="000000"/>
                    </a:solidFill>
                    <a:latin typeface="Garamond"/>
                  </a:rPr>
                  <a:t>Day 13: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2000" i="0" dirty="0">
                        <a:latin typeface="Rockwell" panose="02060603020205020403" pitchFamily="18" charset="0"/>
                      </a:rPr>
                      <m:t>X</m:t>
                    </m:r>
                    <m:r>
                      <a:rPr lang="en-US" altLang="zh-TW" sz="2000" i="1">
                        <a:latin typeface="Cambria Math" panose="02040503050406030204" pitchFamily="18" charset="0"/>
                      </a:rPr>
                      <m:t>=0,</m:t>
                    </m:r>
                    <m:r>
                      <m:rPr>
                        <m:nor/>
                      </m:rPr>
                      <a:rPr lang="en-US" sz="2000" i="0" dirty="0">
                        <a:latin typeface="Rockwell" panose="02060603020205020403" pitchFamily="18" charset="0"/>
                      </a:rPr>
                      <m:t>Y</m:t>
                    </m:r>
                    <m:r>
                      <a:rPr lang="en-US" altLang="zh-TW" sz="20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TW" sz="2000" b="0" i="1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lang="en-US" altLang="zh-TW" sz="2000" dirty="0">
                  <a:solidFill>
                    <a:srgbClr val="000000"/>
                  </a:solidFill>
                  <a:latin typeface="Garamond"/>
                </a:endParaRPr>
              </a:p>
              <a:p>
                <a:pPr lvl="1"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000" dirty="0">
                    <a:solidFill>
                      <a:srgbClr val="000000"/>
                    </a:solidFill>
                    <a:latin typeface="Garamond"/>
                  </a:rPr>
                  <a:t>Day 14: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2000" i="0" dirty="0">
                        <a:latin typeface="Rockwell" panose="02060603020205020403" pitchFamily="18" charset="0"/>
                      </a:rPr>
                      <m:t>X</m:t>
                    </m:r>
                    <m:r>
                      <a:rPr lang="en-US" altLang="zh-TW" sz="20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TW" sz="2000" b="0" i="1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altLang="zh-TW" sz="2000" i="1"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nor/>
                      </m:rPr>
                      <a:rPr lang="en-US" sz="2000" i="0" dirty="0">
                        <a:latin typeface="Rockwell" panose="02060603020205020403" pitchFamily="18" charset="0"/>
                      </a:rPr>
                      <m:t>Y</m:t>
                    </m:r>
                    <m:r>
                      <a:rPr lang="en-US" altLang="zh-TW" sz="20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TW" sz="2000" b="0" i="1" smtClean="0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endParaRPr lang="en-US" altLang="zh-TW" sz="2000" dirty="0">
                  <a:solidFill>
                    <a:srgbClr val="000000"/>
                  </a:solidFill>
                  <a:latin typeface="Garamond"/>
                </a:endParaRPr>
              </a:p>
              <a:p>
                <a:pPr lvl="1"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000" dirty="0">
                    <a:solidFill>
                      <a:srgbClr val="000000"/>
                    </a:solidFill>
                    <a:latin typeface="Garamond"/>
                  </a:rPr>
                  <a:t>Day 15: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2000" i="0" dirty="0">
                        <a:latin typeface="Rockwell" panose="02060603020205020403" pitchFamily="18" charset="0"/>
                      </a:rPr>
                      <m:t>X</m:t>
                    </m:r>
                    <m:r>
                      <a:rPr lang="en-US" altLang="zh-TW" sz="20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TW" sz="2000" b="0" i="1" smtClean="0">
                        <a:latin typeface="Cambria Math" panose="02040503050406030204" pitchFamily="18" charset="0"/>
                      </a:rPr>
                      <m:t>3</m:t>
                    </m:r>
                    <m:r>
                      <a:rPr lang="en-US" altLang="zh-TW" sz="2000" i="1"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nor/>
                      </m:rPr>
                      <a:rPr lang="en-US" sz="2000" i="0" dirty="0">
                        <a:latin typeface="Rockwell" panose="02060603020205020403" pitchFamily="18" charset="0"/>
                      </a:rPr>
                      <m:t>Y</m:t>
                    </m:r>
                    <m:r>
                      <a:rPr lang="en-US" altLang="zh-TW" sz="20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TW" sz="2000" b="0" i="1" smtClean="0"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endParaRPr lang="en-US" altLang="zh-TW" sz="2000" dirty="0">
                  <a:solidFill>
                    <a:srgbClr val="000000"/>
                  </a:solidFill>
                  <a:latin typeface="Garamond"/>
                </a:endParaRPr>
              </a:p>
              <a:p>
                <a:pPr lvl="1"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000" dirty="0">
                    <a:solidFill>
                      <a:srgbClr val="000000"/>
                    </a:solidFill>
                    <a:latin typeface="Garamond"/>
                  </a:rPr>
                  <a:t>Day 16: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2000" i="0" dirty="0">
                        <a:latin typeface="Rockwell" panose="02060603020205020403" pitchFamily="18" charset="0"/>
                      </a:rPr>
                      <m:t>X</m:t>
                    </m:r>
                    <m:r>
                      <a:rPr lang="en-US" altLang="zh-TW" sz="20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TW" sz="2000" b="0" i="1" smtClean="0">
                        <a:latin typeface="Cambria Math" panose="02040503050406030204" pitchFamily="18" charset="0"/>
                      </a:rPr>
                      <m:t>4</m:t>
                    </m:r>
                    <m:r>
                      <a:rPr lang="en-US" altLang="zh-TW" sz="2000" i="1"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nor/>
                      </m:rPr>
                      <a:rPr lang="en-US" sz="2000" i="0" dirty="0">
                        <a:latin typeface="Rockwell" panose="02060603020205020403" pitchFamily="18" charset="0"/>
                      </a:rPr>
                      <m:t>Y</m:t>
                    </m:r>
                    <m:r>
                      <a:rPr lang="en-US" altLang="zh-TW" sz="20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TW" sz="2000" b="0" i="1" smtClean="0"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endParaRPr lang="en-US" altLang="zh-TW" sz="2000" dirty="0">
                  <a:solidFill>
                    <a:srgbClr val="000000"/>
                  </a:solidFill>
                  <a:latin typeface="Garamond"/>
                </a:endParaRPr>
              </a:p>
              <a:p>
                <a:pPr lvl="1"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000" dirty="0">
                    <a:solidFill>
                      <a:srgbClr val="000000"/>
                    </a:solidFill>
                    <a:latin typeface="Garamond"/>
                  </a:rPr>
                  <a:t>Day 17:</a:t>
                </a:r>
                <a:r>
                  <a:rPr lang="en-US" sz="2000" dirty="0"/>
                  <a:t>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2000" i="0" dirty="0">
                        <a:latin typeface="Rockwell" panose="02060603020205020403" pitchFamily="18" charset="0"/>
                      </a:rPr>
                      <m:t>X</m:t>
                    </m:r>
                    <m:r>
                      <a:rPr lang="en-US" altLang="zh-TW" sz="20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TW" sz="2000" b="0" i="1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altLang="zh-TW" sz="2000" i="1"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nor/>
                      </m:rPr>
                      <a:rPr lang="en-US" sz="2000" i="0" dirty="0">
                        <a:latin typeface="Rockwell" panose="02060603020205020403" pitchFamily="18" charset="0"/>
                      </a:rPr>
                      <m:t>Y</m:t>
                    </m:r>
                    <m:r>
                      <a:rPr lang="en-US" altLang="zh-TW" sz="20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TW" sz="2000" b="0" i="1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lang="en-US" altLang="zh-TW" sz="2000" dirty="0">
                  <a:solidFill>
                    <a:srgbClr val="000000"/>
                  </a:solidFill>
                  <a:latin typeface="Garamond"/>
                </a:endParaRPr>
              </a:p>
              <a:p>
                <a:pPr lvl="1"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000" dirty="0">
                    <a:solidFill>
                      <a:srgbClr val="000000"/>
                    </a:solidFill>
                    <a:latin typeface="Garamond"/>
                  </a:rPr>
                  <a:t>Day 18: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2000" i="0" dirty="0">
                        <a:latin typeface="Rockwell" panose="02060603020205020403" pitchFamily="18" charset="0"/>
                      </a:rPr>
                      <m:t>X</m:t>
                    </m:r>
                    <m:r>
                      <a:rPr lang="en-US" altLang="zh-TW" sz="20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TW" sz="2000" b="0" i="1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altLang="zh-TW" sz="2000" i="1"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nor/>
                      </m:rPr>
                      <a:rPr lang="en-US" sz="2000" i="0" dirty="0">
                        <a:latin typeface="Rockwell" panose="02060603020205020403" pitchFamily="18" charset="0"/>
                      </a:rPr>
                      <m:t>Y</m:t>
                    </m:r>
                    <m:r>
                      <a:rPr lang="en-US" altLang="zh-TW" sz="20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TW" sz="2000" b="0" i="1" smtClean="0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endParaRPr lang="en-US" altLang="zh-TW" sz="2000" dirty="0">
                  <a:solidFill>
                    <a:srgbClr val="000000"/>
                  </a:solidFill>
                  <a:latin typeface="Garamond"/>
                </a:endParaRPr>
              </a:p>
              <a:p>
                <a:pPr lvl="1"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000" dirty="0">
                    <a:solidFill>
                      <a:srgbClr val="000000"/>
                    </a:solidFill>
                    <a:latin typeface="Garamond"/>
                  </a:rPr>
                  <a:t>Day 19: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2000" i="0" dirty="0">
                        <a:latin typeface="Rockwell" panose="02060603020205020403" pitchFamily="18" charset="0"/>
                      </a:rPr>
                      <m:t>X</m:t>
                    </m:r>
                    <m:r>
                      <a:rPr lang="en-US" altLang="zh-TW" sz="2000" i="1">
                        <a:latin typeface="Cambria Math" panose="02040503050406030204" pitchFamily="18" charset="0"/>
                      </a:rPr>
                      <m:t>=0,</m:t>
                    </m:r>
                    <m:r>
                      <m:rPr>
                        <m:nor/>
                      </m:rPr>
                      <a:rPr lang="en-US" sz="2000" i="0" dirty="0">
                        <a:latin typeface="Rockwell" panose="02060603020205020403" pitchFamily="18" charset="0"/>
                      </a:rPr>
                      <m:t>Y</m:t>
                    </m:r>
                    <m:r>
                      <a:rPr lang="en-US" altLang="zh-TW" sz="2000" i="1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n-US" altLang="zh-TW" sz="2000" dirty="0">
                  <a:solidFill>
                    <a:srgbClr val="000000"/>
                  </a:solidFill>
                  <a:latin typeface="Garamond"/>
                </a:endParaRPr>
              </a:p>
              <a:p>
                <a:pPr lvl="1"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000" dirty="0">
                    <a:solidFill>
                      <a:srgbClr val="000000"/>
                    </a:solidFill>
                    <a:latin typeface="Garamond"/>
                  </a:rPr>
                  <a:t>Day 20: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2000" i="0" dirty="0">
                        <a:latin typeface="Rockwell" panose="02060603020205020403" pitchFamily="18" charset="0"/>
                      </a:rPr>
                      <m:t>X</m:t>
                    </m:r>
                    <m:r>
                      <a:rPr lang="en-US" altLang="zh-TW" sz="20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TW" sz="2000" b="0" i="1" smtClean="0">
                        <a:latin typeface="Cambria Math" panose="02040503050406030204" pitchFamily="18" charset="0"/>
                      </a:rPr>
                      <m:t>3</m:t>
                    </m:r>
                    <m:r>
                      <a:rPr lang="en-US" altLang="zh-TW" sz="2000" i="1"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nor/>
                      </m:rPr>
                      <a:rPr lang="en-US" sz="2000" i="0" dirty="0">
                        <a:latin typeface="Rockwell" panose="02060603020205020403" pitchFamily="18" charset="0"/>
                      </a:rPr>
                      <m:t>Y</m:t>
                    </m:r>
                    <m:r>
                      <a:rPr lang="en-US" altLang="zh-TW" sz="20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TW" sz="2000" b="0" i="1" smtClean="0"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endParaRPr lang="en-US" altLang="zh-TW" sz="2400" dirty="0">
                  <a:solidFill>
                    <a:srgbClr val="000000"/>
                  </a:solidFill>
                  <a:latin typeface="Garamond"/>
                </a:endParaRPr>
              </a:p>
            </p:txBody>
          </p:sp>
        </mc:Choice>
        <mc:Fallback xmlns="">
          <p:sp>
            <p:nvSpPr>
              <p:cNvPr id="8" name="Content Placeholder 2">
                <a:extLst>
                  <a:ext uri="{FF2B5EF4-FFF2-40B4-BE49-F238E27FC236}">
                    <a16:creationId xmlns:a16="http://schemas.microsoft.com/office/drawing/2014/main" id="{C501AA08-E514-3DC0-0C6E-E582BC27D50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14798" y="1300304"/>
                <a:ext cx="3657600" cy="508104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Content Placeholder 2">
                <a:extLst>
                  <a:ext uri="{FF2B5EF4-FFF2-40B4-BE49-F238E27FC236}">
                    <a16:creationId xmlns:a16="http://schemas.microsoft.com/office/drawing/2014/main" id="{CF5274A1-5180-F840-B2A2-E8DFEB42DED3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772398" y="1298516"/>
                <a:ext cx="3657600" cy="5081046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342900" indent="-3429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defTabSz="457200" rtl="0" eaLnBrk="1" latinLnBrk="0" hangingPunct="1">
                  <a:spcBef>
                    <a:spcPct val="20000"/>
                  </a:spcBef>
                  <a:buFont typeface="Arial"/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spcBef>
                    <a:spcPts val="1000"/>
                  </a:spcBef>
                  <a:buNone/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2400" dirty="0">
                  <a:solidFill>
                    <a:srgbClr val="000000"/>
                  </a:solidFill>
                  <a:latin typeface="Garamond"/>
                </a:endParaRPr>
              </a:p>
              <a:p>
                <a:pPr lvl="1"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000" dirty="0">
                    <a:solidFill>
                      <a:srgbClr val="000000"/>
                    </a:solidFill>
                    <a:latin typeface="Garamond"/>
                  </a:rPr>
                  <a:t>Day 21: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2000" i="0" dirty="0">
                        <a:latin typeface="Rockwell" panose="02060603020205020403" pitchFamily="18" charset="0"/>
                      </a:rPr>
                      <m:t>X</m:t>
                    </m:r>
                    <m:r>
                      <a:rPr lang="en-US" altLang="zh-TW" sz="20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TW" sz="2000" b="0" i="1" smtClean="0">
                        <a:latin typeface="Cambria Math" panose="02040503050406030204" pitchFamily="18" charset="0"/>
                      </a:rPr>
                      <m:t>4</m:t>
                    </m:r>
                    <m:r>
                      <a:rPr lang="en-US" altLang="zh-TW" sz="2000" i="1"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nor/>
                      </m:rPr>
                      <a:rPr lang="en-US" sz="2000" i="0" dirty="0">
                        <a:latin typeface="Rockwell" panose="02060603020205020403" pitchFamily="18" charset="0"/>
                      </a:rPr>
                      <m:t>Y</m:t>
                    </m:r>
                    <m:r>
                      <a:rPr lang="en-US" altLang="zh-TW" sz="20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TW" sz="2000" b="0" i="1" smtClean="0"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endParaRPr lang="en-US" altLang="zh-TW" sz="2000" dirty="0">
                  <a:solidFill>
                    <a:srgbClr val="000000"/>
                  </a:solidFill>
                  <a:latin typeface="Garamond"/>
                </a:endParaRPr>
              </a:p>
              <a:p>
                <a:pPr lvl="1"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000" dirty="0">
                    <a:solidFill>
                      <a:srgbClr val="000000"/>
                    </a:solidFill>
                    <a:latin typeface="Garamond"/>
                  </a:rPr>
                  <a:t>Day 22: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2000" i="0" dirty="0">
                        <a:latin typeface="Rockwell" panose="02060603020205020403" pitchFamily="18" charset="0"/>
                      </a:rPr>
                      <m:t>X</m:t>
                    </m:r>
                    <m:r>
                      <a:rPr lang="en-US" altLang="zh-TW" sz="20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TW" sz="2000" b="0" i="1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altLang="zh-TW" sz="2000" i="1"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nor/>
                      </m:rPr>
                      <a:rPr lang="en-US" sz="2000" i="0" dirty="0">
                        <a:latin typeface="Rockwell" panose="02060603020205020403" pitchFamily="18" charset="0"/>
                      </a:rPr>
                      <m:t>Y</m:t>
                    </m:r>
                    <m:r>
                      <a:rPr lang="en-US" altLang="zh-TW" sz="20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TW" sz="2000" b="0" i="1" smtClean="0"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endParaRPr lang="en-US" altLang="zh-TW" sz="2000" dirty="0">
                  <a:solidFill>
                    <a:srgbClr val="000000"/>
                  </a:solidFill>
                  <a:latin typeface="Garamond"/>
                </a:endParaRPr>
              </a:p>
              <a:p>
                <a:pPr lvl="1"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000" dirty="0">
                    <a:solidFill>
                      <a:srgbClr val="000000"/>
                    </a:solidFill>
                    <a:latin typeface="Garamond"/>
                  </a:rPr>
                  <a:t>Day 23: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2000" i="0" dirty="0">
                        <a:latin typeface="Rockwell" panose="02060603020205020403" pitchFamily="18" charset="0"/>
                      </a:rPr>
                      <m:t>X</m:t>
                    </m:r>
                    <m:r>
                      <a:rPr lang="en-US" altLang="zh-TW" sz="20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TW" sz="2000" b="0" i="1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altLang="zh-TW" sz="2000" i="1"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nor/>
                      </m:rPr>
                      <a:rPr lang="en-US" sz="2000" i="0" dirty="0">
                        <a:latin typeface="Rockwell" panose="02060603020205020403" pitchFamily="18" charset="0"/>
                      </a:rPr>
                      <m:t>Y</m:t>
                    </m:r>
                    <m:r>
                      <a:rPr lang="en-US" altLang="zh-TW" sz="2000" i="1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n-US" altLang="zh-TW" sz="2000" dirty="0">
                  <a:solidFill>
                    <a:srgbClr val="000000"/>
                  </a:solidFill>
                  <a:latin typeface="Garamond"/>
                </a:endParaRPr>
              </a:p>
              <a:p>
                <a:pPr lvl="1"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000" dirty="0">
                    <a:solidFill>
                      <a:srgbClr val="000000"/>
                    </a:solidFill>
                    <a:latin typeface="Garamond"/>
                  </a:rPr>
                  <a:t>Day 24: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2000" i="0" dirty="0">
                        <a:latin typeface="Rockwell" panose="02060603020205020403" pitchFamily="18" charset="0"/>
                      </a:rPr>
                      <m:t>X</m:t>
                    </m:r>
                    <m:r>
                      <a:rPr lang="en-US" altLang="zh-TW" sz="20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TW" sz="2000" b="0" i="1" smtClean="0">
                        <a:latin typeface="Cambria Math" panose="02040503050406030204" pitchFamily="18" charset="0"/>
                      </a:rPr>
                      <m:t>3</m:t>
                    </m:r>
                    <m:r>
                      <a:rPr lang="en-US" altLang="zh-TW" sz="2000" i="1"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nor/>
                      </m:rPr>
                      <a:rPr lang="en-US" sz="2000" i="0" dirty="0">
                        <a:latin typeface="Rockwell" panose="02060603020205020403" pitchFamily="18" charset="0"/>
                      </a:rPr>
                      <m:t>Y</m:t>
                    </m:r>
                    <m:r>
                      <a:rPr lang="en-US" altLang="zh-TW" sz="20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TW" sz="2000" b="0" i="1" smtClean="0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endParaRPr lang="en-US" altLang="zh-TW" sz="2000" dirty="0">
                  <a:solidFill>
                    <a:srgbClr val="000000"/>
                  </a:solidFill>
                  <a:latin typeface="Garamond"/>
                </a:endParaRPr>
              </a:p>
              <a:p>
                <a:pPr lvl="1"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000" dirty="0">
                    <a:solidFill>
                      <a:srgbClr val="000000"/>
                    </a:solidFill>
                    <a:latin typeface="Garamond"/>
                  </a:rPr>
                  <a:t>Day 25: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2000" i="0" dirty="0">
                        <a:latin typeface="Rockwell" panose="02060603020205020403" pitchFamily="18" charset="0"/>
                      </a:rPr>
                      <m:t>X</m:t>
                    </m:r>
                    <m:r>
                      <a:rPr lang="en-US" altLang="zh-TW" sz="20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TW" sz="2000" b="0" i="1" smtClean="0">
                        <a:latin typeface="Cambria Math" panose="02040503050406030204" pitchFamily="18" charset="0"/>
                      </a:rPr>
                      <m:t>4</m:t>
                    </m:r>
                    <m:r>
                      <a:rPr lang="en-US" altLang="zh-TW" sz="2000" i="1"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nor/>
                      </m:rPr>
                      <a:rPr lang="en-US" sz="2000" i="0" dirty="0">
                        <a:latin typeface="Rockwell" panose="02060603020205020403" pitchFamily="18" charset="0"/>
                      </a:rPr>
                      <m:t>Y</m:t>
                    </m:r>
                    <m:r>
                      <a:rPr lang="en-US" altLang="zh-TW" sz="20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TW" sz="2000" b="0" i="1" smtClean="0"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endParaRPr lang="en-US" altLang="zh-TW" sz="2000" dirty="0">
                  <a:solidFill>
                    <a:srgbClr val="000000"/>
                  </a:solidFill>
                  <a:latin typeface="Garamond"/>
                </a:endParaRPr>
              </a:p>
              <a:p>
                <a:pPr lvl="1"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000" dirty="0">
                    <a:solidFill>
                      <a:srgbClr val="000000"/>
                    </a:solidFill>
                    <a:latin typeface="Garamond"/>
                  </a:rPr>
                  <a:t>Day 26: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2000" i="0" dirty="0">
                        <a:latin typeface="Rockwell" panose="02060603020205020403" pitchFamily="18" charset="0"/>
                      </a:rPr>
                      <m:t>X</m:t>
                    </m:r>
                    <m:r>
                      <a:rPr lang="en-US" altLang="zh-TW" sz="20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TW" sz="2000" b="0" i="1" smtClean="0">
                        <a:latin typeface="Cambria Math" panose="02040503050406030204" pitchFamily="18" charset="0"/>
                      </a:rPr>
                      <m:t>3</m:t>
                    </m:r>
                    <m:r>
                      <a:rPr lang="en-US" altLang="zh-TW" sz="2000" i="1"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nor/>
                      </m:rPr>
                      <a:rPr lang="en-US" sz="2000" i="0" dirty="0">
                        <a:latin typeface="Rockwell" panose="02060603020205020403" pitchFamily="18" charset="0"/>
                      </a:rPr>
                      <m:t>Y</m:t>
                    </m:r>
                    <m:r>
                      <a:rPr lang="en-US" altLang="zh-TW" sz="20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TW" sz="2000" b="0" i="1" smtClean="0"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endParaRPr lang="en-US" altLang="zh-TW" sz="2000" dirty="0">
                  <a:solidFill>
                    <a:srgbClr val="000000"/>
                  </a:solidFill>
                  <a:latin typeface="Garamond"/>
                </a:endParaRPr>
              </a:p>
              <a:p>
                <a:pPr lvl="1"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000" dirty="0">
                    <a:solidFill>
                      <a:srgbClr val="000000"/>
                    </a:solidFill>
                    <a:latin typeface="Garamond"/>
                  </a:rPr>
                  <a:t>Day 27: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2000" i="0" dirty="0">
                        <a:latin typeface="Rockwell" panose="02060603020205020403" pitchFamily="18" charset="0"/>
                      </a:rPr>
                      <m:t>X</m:t>
                    </m:r>
                    <m:r>
                      <a:rPr lang="en-US" altLang="zh-TW" sz="20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TW" sz="2000" b="0" i="1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altLang="zh-TW" sz="2000" i="1"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nor/>
                      </m:rPr>
                      <a:rPr lang="en-US" sz="2000" i="0" dirty="0">
                        <a:latin typeface="Rockwell" panose="02060603020205020403" pitchFamily="18" charset="0"/>
                      </a:rPr>
                      <m:t>Y</m:t>
                    </m:r>
                    <m:r>
                      <a:rPr lang="en-US" altLang="zh-TW" sz="20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TW" sz="2000" b="0" i="1" smtClean="0"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endParaRPr lang="en-US" altLang="zh-TW" sz="2000" dirty="0">
                  <a:solidFill>
                    <a:srgbClr val="000000"/>
                  </a:solidFill>
                  <a:latin typeface="Garamond"/>
                </a:endParaRPr>
              </a:p>
              <a:p>
                <a:pPr lvl="1"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000" dirty="0">
                    <a:solidFill>
                      <a:srgbClr val="000000"/>
                    </a:solidFill>
                    <a:latin typeface="Garamond"/>
                  </a:rPr>
                  <a:t>Day 28: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2000" i="0" dirty="0">
                        <a:latin typeface="Rockwell" panose="02060603020205020403" pitchFamily="18" charset="0"/>
                      </a:rPr>
                      <m:t>X</m:t>
                    </m:r>
                    <m:r>
                      <a:rPr lang="en-US" altLang="zh-TW" sz="20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TW" sz="2000" b="0" i="1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altLang="zh-TW" sz="2000" i="1"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nor/>
                      </m:rPr>
                      <a:rPr lang="en-US" sz="2000" i="0" dirty="0">
                        <a:latin typeface="Rockwell" panose="02060603020205020403" pitchFamily="18" charset="0"/>
                      </a:rPr>
                      <m:t>Y</m:t>
                    </m:r>
                    <m:r>
                      <a:rPr lang="en-US" altLang="zh-TW" sz="20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TW" sz="2000" b="0" i="1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lang="en-US" altLang="zh-TW" sz="2000" dirty="0">
                  <a:solidFill>
                    <a:srgbClr val="000000"/>
                  </a:solidFill>
                  <a:latin typeface="Garamond"/>
                </a:endParaRPr>
              </a:p>
              <a:p>
                <a:pPr lvl="1"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000" dirty="0">
                    <a:solidFill>
                      <a:srgbClr val="000000"/>
                    </a:solidFill>
                    <a:latin typeface="Garamond"/>
                  </a:rPr>
                  <a:t>Day 29: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2000" i="0" dirty="0">
                        <a:latin typeface="Rockwell" panose="02060603020205020403" pitchFamily="18" charset="0"/>
                      </a:rPr>
                      <m:t>X</m:t>
                    </m:r>
                    <m:r>
                      <a:rPr lang="en-US" altLang="zh-TW" sz="2000" i="1">
                        <a:latin typeface="Cambria Math" panose="02040503050406030204" pitchFamily="18" charset="0"/>
                      </a:rPr>
                      <m:t>=0,</m:t>
                    </m:r>
                    <m:r>
                      <m:rPr>
                        <m:nor/>
                      </m:rPr>
                      <a:rPr lang="en-US" sz="2000" i="0" dirty="0">
                        <a:latin typeface="Rockwell" panose="02060603020205020403" pitchFamily="18" charset="0"/>
                      </a:rPr>
                      <m:t>Y</m:t>
                    </m:r>
                    <m:r>
                      <a:rPr lang="en-US" altLang="zh-TW" sz="2000" i="1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n-US" altLang="zh-TW" sz="2000" dirty="0">
                  <a:solidFill>
                    <a:srgbClr val="000000"/>
                  </a:solidFill>
                  <a:latin typeface="Garamond"/>
                </a:endParaRPr>
              </a:p>
              <a:p>
                <a:pPr lvl="1"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000" dirty="0">
                    <a:solidFill>
                      <a:srgbClr val="000000"/>
                    </a:solidFill>
                    <a:latin typeface="Garamond"/>
                  </a:rPr>
                  <a:t>Day 30: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2000" i="0" dirty="0">
                        <a:latin typeface="Rockwell" panose="02060603020205020403" pitchFamily="18" charset="0"/>
                      </a:rPr>
                      <m:t>X</m:t>
                    </m:r>
                    <m:r>
                      <a:rPr lang="en-US" altLang="zh-TW" sz="2000" i="1">
                        <a:latin typeface="Cambria Math" panose="02040503050406030204" pitchFamily="18" charset="0"/>
                      </a:rPr>
                      <m:t>=0,</m:t>
                    </m:r>
                    <m:r>
                      <m:rPr>
                        <m:nor/>
                      </m:rPr>
                      <a:rPr lang="en-US" sz="2000" i="0" dirty="0">
                        <a:latin typeface="Rockwell" panose="02060603020205020403" pitchFamily="18" charset="0"/>
                      </a:rPr>
                      <m:t>Y</m:t>
                    </m:r>
                    <m:r>
                      <a:rPr lang="en-US" altLang="zh-TW" sz="20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TW" sz="2000" b="0" i="1" smtClean="0"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endParaRPr lang="en-US" altLang="zh-TW" sz="2400" dirty="0">
                  <a:solidFill>
                    <a:srgbClr val="000000"/>
                  </a:solidFill>
                  <a:latin typeface="Garamond"/>
                </a:endParaRPr>
              </a:p>
            </p:txBody>
          </p:sp>
        </mc:Choice>
        <mc:Fallback xmlns="">
          <p:sp>
            <p:nvSpPr>
              <p:cNvPr id="9" name="Content Placeholder 2">
                <a:extLst>
                  <a:ext uri="{FF2B5EF4-FFF2-40B4-BE49-F238E27FC236}">
                    <a16:creationId xmlns:a16="http://schemas.microsoft.com/office/drawing/2014/main" id="{CF5274A1-5180-F840-B2A2-E8DFEB42DE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72398" y="1298516"/>
                <a:ext cx="3657600" cy="508104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458543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25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75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5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5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25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25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50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5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750"/>
                            </p:stCondLst>
                            <p:childTnLst>
                              <p:par>
                                <p:cTn id="2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25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2000"/>
                            </p:stCondLst>
                            <p:childTnLst>
                              <p:par>
                                <p:cTn id="3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25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2250"/>
                            </p:stCondLst>
                            <p:childTnLst>
                              <p:par>
                                <p:cTn id="3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25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2500"/>
                            </p:stCondLst>
                            <p:childTnLst>
                              <p:par>
                                <p:cTn id="4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25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2750"/>
                            </p:stCondLst>
                            <p:childTnLst>
                              <p:par>
                                <p:cTn id="4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5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3000"/>
                            </p:stCondLst>
                            <p:childTnLst>
                              <p:par>
                                <p:cTn id="4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25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3250"/>
                            </p:stCondLst>
                            <p:childTnLst>
                              <p:par>
                                <p:cTn id="5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25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3500"/>
                            </p:stCondLst>
                            <p:childTnLst>
                              <p:par>
                                <p:cTn id="5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25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3750"/>
                            </p:stCondLst>
                            <p:childTnLst>
                              <p:par>
                                <p:cTn id="6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25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4000"/>
                            </p:stCondLst>
                            <p:childTnLst>
                              <p:par>
                                <p:cTn id="6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250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4250"/>
                            </p:stCondLst>
                            <p:childTnLst>
                              <p:par>
                                <p:cTn id="6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250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4500"/>
                            </p:stCondLst>
                            <p:childTnLst>
                              <p:par>
                                <p:cTn id="7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250"/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4750"/>
                            </p:stCondLst>
                            <p:childTnLst>
                              <p:par>
                                <p:cTn id="7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250"/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5000"/>
                            </p:stCondLst>
                            <p:childTnLst>
                              <p:par>
                                <p:cTn id="8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250"/>
                                        <p:tgtEl>
                                          <p:spTgt spid="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5250"/>
                            </p:stCondLst>
                            <p:childTnLst>
                              <p:par>
                                <p:cTn id="8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250"/>
                                        <p:tgtEl>
                                          <p:spTgt spid="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5500"/>
                            </p:stCondLst>
                            <p:childTnLst>
                              <p:par>
                                <p:cTn id="8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25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>
                            <p:stCondLst>
                              <p:cond delay="5750"/>
                            </p:stCondLst>
                            <p:childTnLst>
                              <p:par>
                                <p:cTn id="9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25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>
                            <p:stCondLst>
                              <p:cond delay="6000"/>
                            </p:stCondLst>
                            <p:childTnLst>
                              <p:par>
                                <p:cTn id="9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25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0" fill="hold">
                            <p:stCondLst>
                              <p:cond delay="6250"/>
                            </p:stCondLst>
                            <p:childTnLst>
                              <p:par>
                                <p:cTn id="10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250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4" fill="hold">
                            <p:stCondLst>
                              <p:cond delay="6500"/>
                            </p:stCondLst>
                            <p:childTnLst>
                              <p:par>
                                <p:cTn id="10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250"/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8" fill="hold">
                            <p:stCondLst>
                              <p:cond delay="6750"/>
                            </p:stCondLst>
                            <p:childTnLst>
                              <p:par>
                                <p:cTn id="10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250"/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2" fill="hold">
                            <p:stCondLst>
                              <p:cond delay="7000"/>
                            </p:stCondLst>
                            <p:childTnLst>
                              <p:par>
                                <p:cTn id="1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250"/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6" fill="hold">
                            <p:stCondLst>
                              <p:cond delay="7250"/>
                            </p:stCondLst>
                            <p:childTnLst>
                              <p:par>
                                <p:cTn id="1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250"/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0" fill="hold">
                            <p:stCondLst>
                              <p:cond delay="7500"/>
                            </p:stCondLst>
                            <p:childTnLst>
                              <p:par>
                                <p:cTn id="1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" dur="250"/>
                                        <p:tgtEl>
                                          <p:spTgt spid="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4" fill="hold">
                            <p:stCondLst>
                              <p:cond delay="7750"/>
                            </p:stCondLst>
                            <p:childTnLst>
                              <p:par>
                                <p:cTn id="12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250"/>
                                        <p:tgtEl>
                                          <p:spTgt spid="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6FF9F9-F158-8CAF-C3DD-1909172618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D4A78F-058C-D3C5-F20D-BF19EEBF4D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199" y="1300900"/>
            <a:ext cx="11189855" cy="5081046"/>
          </a:xfrm>
        </p:spPr>
        <p:txBody>
          <a:bodyPr>
            <a:normAutofit/>
          </a:bodyPr>
          <a:lstStyle/>
          <a:p>
            <a:pPr>
              <a:spcBef>
                <a:spcPts val="1000"/>
              </a:spcBef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We can summarize the observations in a joint frequency table. Each cell contains the number of observations for a particular combination of values of </a:t>
            </a:r>
            <a:r>
              <a:rPr lang="en-US" sz="2400" dirty="0">
                <a:latin typeface="Rockwell" panose="02060603020205020403" pitchFamily="18" charset="0"/>
              </a:rPr>
              <a:t>X </a:t>
            </a:r>
            <a:r>
              <a:rPr lang="en-US" altLang="zh-TW" sz="2400" dirty="0"/>
              <a:t>and </a:t>
            </a:r>
            <a:r>
              <a:rPr lang="en-US" sz="2400" dirty="0">
                <a:latin typeface="Rockwell" panose="02060603020205020403" pitchFamily="18" charset="0"/>
              </a:rPr>
              <a:t>Y</a:t>
            </a:r>
            <a:r>
              <a:rPr lang="en-US" altLang="zh-TW" sz="2400" dirty="0"/>
              <a:t>.</a:t>
            </a:r>
          </a:p>
          <a:p>
            <a:pPr lvl="1">
              <a:spcBef>
                <a:spcPts val="1000"/>
              </a:spcBef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2000" dirty="0"/>
          </a:p>
          <a:p>
            <a:pPr lvl="1">
              <a:spcBef>
                <a:spcPts val="1000"/>
              </a:spcBef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2000" dirty="0"/>
          </a:p>
          <a:p>
            <a:pPr lvl="1">
              <a:spcBef>
                <a:spcPts val="1000"/>
              </a:spcBef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2000" dirty="0"/>
          </a:p>
          <a:p>
            <a:pPr lvl="1">
              <a:spcBef>
                <a:spcPts val="1000"/>
              </a:spcBef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2000" dirty="0"/>
          </a:p>
          <a:p>
            <a:pPr>
              <a:spcBef>
                <a:spcPts val="1000"/>
              </a:spcBef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2400" dirty="0"/>
          </a:p>
          <a:p>
            <a:pPr>
              <a:spcBef>
                <a:spcPts val="1000"/>
              </a:spcBef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2400" dirty="0"/>
          </a:p>
          <a:p>
            <a:pPr>
              <a:spcBef>
                <a:spcPts val="1000"/>
              </a:spcBef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2400" dirty="0"/>
          </a:p>
          <a:p>
            <a:pPr>
              <a:spcBef>
                <a:spcPts val="1000"/>
              </a:spcBef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How many days were there no flights cancelled in both ORD and MDW?</a:t>
            </a:r>
          </a:p>
          <a:p>
            <a:pPr lvl="1">
              <a:spcBef>
                <a:spcPts val="1000"/>
              </a:spcBef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000" dirty="0"/>
              <a:t>Four days: Days 1, 8, 19, and 29</a:t>
            </a:r>
          </a:p>
          <a:p>
            <a:pPr lvl="1">
              <a:spcBef>
                <a:spcPts val="1000"/>
              </a:spcBef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2000" dirty="0"/>
          </a:p>
          <a:p>
            <a:pPr lvl="1">
              <a:spcBef>
                <a:spcPts val="1000"/>
              </a:spcBef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2000" dirty="0"/>
          </a:p>
          <a:p>
            <a:pPr lvl="1">
              <a:spcBef>
                <a:spcPts val="1000"/>
              </a:spcBef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2000" dirty="0"/>
          </a:p>
          <a:p>
            <a:pPr lvl="1">
              <a:spcBef>
                <a:spcPts val="1000"/>
              </a:spcBef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2000" dirty="0"/>
          </a:p>
          <a:p>
            <a:pPr>
              <a:spcBef>
                <a:spcPts val="1000"/>
              </a:spcBef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2400" dirty="0"/>
          </a:p>
          <a:p>
            <a:pPr>
              <a:spcBef>
                <a:spcPts val="1000"/>
              </a:spcBef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2400" dirty="0"/>
          </a:p>
          <a:p>
            <a:pPr>
              <a:spcBef>
                <a:spcPts val="1000"/>
              </a:spcBef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2400" dirty="0"/>
          </a:p>
          <a:p>
            <a:pPr>
              <a:spcBef>
                <a:spcPts val="1000"/>
              </a:spcBef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24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A9D3CD2-3BDD-2720-9C87-0258536FF96E}"/>
              </a:ext>
            </a:extLst>
          </p:cNvPr>
          <p:cNvSpPr/>
          <p:nvPr/>
        </p:nvSpPr>
        <p:spPr>
          <a:xfrm>
            <a:off x="0" y="0"/>
            <a:ext cx="12188825" cy="923636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A563CD1-C905-8C28-C842-59BFEDAFA3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88825" cy="923636"/>
          </a:xfrm>
        </p:spPr>
        <p:txBody>
          <a:bodyPr>
            <a:normAutofit/>
          </a:bodyPr>
          <a:lstStyle/>
          <a:p>
            <a:pPr algn="l">
              <a:defRPr sz="4000" b="1">
                <a:solidFill>
                  <a:srgbClr val="FDB913"/>
                </a:solidFill>
                <a:latin typeface="Garamond"/>
              </a:defRPr>
            </a:pPr>
            <a:r>
              <a:rPr lang="en-US" sz="4000" dirty="0">
                <a:solidFill>
                  <a:schemeClr val="bg1"/>
                </a:solidFill>
              </a:rPr>
              <a:t>  Example: Bivariate Probability Distribution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74505DC-666F-4347-FFFA-A04C94E18B5A}"/>
              </a:ext>
            </a:extLst>
          </p:cNvPr>
          <p:cNvSpPr/>
          <p:nvPr/>
        </p:nvSpPr>
        <p:spPr>
          <a:xfrm>
            <a:off x="-1" y="6503428"/>
            <a:ext cx="12188825" cy="354572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FC31CF-A5CE-BF1C-7323-F744B27120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1" y="6503428"/>
            <a:ext cx="2895600" cy="354572"/>
          </a:xfrm>
        </p:spPr>
        <p:txBody>
          <a:bodyPr/>
          <a:lstStyle/>
          <a:p>
            <a:pPr algn="l"/>
            <a:r>
              <a:rPr lang="en-US">
                <a:solidFill>
                  <a:schemeClr val="bg1"/>
                </a:solidFill>
                <a:latin typeface="Garamond" panose="02020404030301010803" pitchFamily="18" charset="0"/>
              </a:rPr>
              <a:t>BUSN 320 Business Statistics</a:t>
            </a:r>
            <a:endParaRPr lang="en-US" dirty="0">
              <a:solidFill>
                <a:schemeClr val="bg1"/>
              </a:solidFill>
              <a:latin typeface="Garamond" panose="02020404030301010803" pitchFamily="18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397DD94-298E-9F75-9368-047E2B8E12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55225" y="6503428"/>
            <a:ext cx="2133600" cy="354572"/>
          </a:xfrm>
        </p:spPr>
        <p:txBody>
          <a:bodyPr/>
          <a:lstStyle/>
          <a:p>
            <a:fld id="{C1FF6DA9-008F-8B48-92A6-B652298478BF}" type="slidenum">
              <a:rPr lang="en-US" b="1" smtClean="0">
                <a:solidFill>
                  <a:schemeClr val="bg1"/>
                </a:solidFill>
                <a:latin typeface="Garamond" panose="02020404030301010803" pitchFamily="18" charset="0"/>
              </a:rPr>
              <a:t>21</a:t>
            </a:fld>
            <a:r>
              <a:rPr lang="en-US" b="1" dirty="0">
                <a:solidFill>
                  <a:schemeClr val="bg1"/>
                </a:solidFill>
                <a:latin typeface="Garamond" panose="02020404030301010803" pitchFamily="18" charset="0"/>
              </a:rPr>
              <a:t> </a:t>
            </a:r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049A64BC-F7D2-00C6-887C-E237A5E4B90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79847031"/>
              </p:ext>
            </p:extLst>
          </p:nvPr>
        </p:nvGraphicFramePr>
        <p:xfrm>
          <a:off x="962125" y="2216456"/>
          <a:ext cx="10180002" cy="2966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54286">
                  <a:extLst>
                    <a:ext uri="{9D8B030D-6E8A-4147-A177-3AD203B41FA5}">
                      <a16:colId xmlns:a16="http://schemas.microsoft.com/office/drawing/2014/main" val="3269318500"/>
                    </a:ext>
                  </a:extLst>
                </a:gridCol>
                <a:gridCol w="1454286">
                  <a:extLst>
                    <a:ext uri="{9D8B030D-6E8A-4147-A177-3AD203B41FA5}">
                      <a16:colId xmlns:a16="http://schemas.microsoft.com/office/drawing/2014/main" val="1084937839"/>
                    </a:ext>
                  </a:extLst>
                </a:gridCol>
                <a:gridCol w="1454286">
                  <a:extLst>
                    <a:ext uri="{9D8B030D-6E8A-4147-A177-3AD203B41FA5}">
                      <a16:colId xmlns:a16="http://schemas.microsoft.com/office/drawing/2014/main" val="4200844973"/>
                    </a:ext>
                  </a:extLst>
                </a:gridCol>
                <a:gridCol w="1454286">
                  <a:extLst>
                    <a:ext uri="{9D8B030D-6E8A-4147-A177-3AD203B41FA5}">
                      <a16:colId xmlns:a16="http://schemas.microsoft.com/office/drawing/2014/main" val="3844035428"/>
                    </a:ext>
                  </a:extLst>
                </a:gridCol>
                <a:gridCol w="1454286">
                  <a:extLst>
                    <a:ext uri="{9D8B030D-6E8A-4147-A177-3AD203B41FA5}">
                      <a16:colId xmlns:a16="http://schemas.microsoft.com/office/drawing/2014/main" val="2990019285"/>
                    </a:ext>
                  </a:extLst>
                </a:gridCol>
                <a:gridCol w="1454286">
                  <a:extLst>
                    <a:ext uri="{9D8B030D-6E8A-4147-A177-3AD203B41FA5}">
                      <a16:colId xmlns:a16="http://schemas.microsoft.com/office/drawing/2014/main" val="3019196937"/>
                    </a:ext>
                  </a:extLst>
                </a:gridCol>
                <a:gridCol w="1454286">
                  <a:extLst>
                    <a:ext uri="{9D8B030D-6E8A-4147-A177-3AD203B41FA5}">
                      <a16:colId xmlns:a16="http://schemas.microsoft.com/office/drawing/2014/main" val="262036587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latin typeface="Garamond" panose="02020404030301010803" pitchFamily="18" charset="0"/>
                      </a:endParaRPr>
                    </a:p>
                  </a:txBody>
                  <a:tcPr anchor="ctr"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7122C"/>
                    </a:solidFill>
                  </a:tcPr>
                </a:tc>
                <a:tc gridSpan="6"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0" dirty="0">
                          <a:latin typeface="Rockwell" panose="02060603020205020403" pitchFamily="18" charset="0"/>
                        </a:rPr>
                        <a:t>Y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7122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solidFill>
                      <a:srgbClr val="77122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solidFill>
                      <a:srgbClr val="77122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solidFill>
                      <a:srgbClr val="77122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solidFill>
                      <a:srgbClr val="77122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anchor="ctr">
                    <a:solidFill>
                      <a:srgbClr val="77122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833529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  <a:latin typeface="Rockwell" panose="02060603020205020403" pitchFamily="18" charset="0"/>
                        </a:rPr>
                        <a:t>X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77122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0" dirty="0">
                          <a:solidFill>
                            <a:schemeClr val="bg1"/>
                          </a:solidFill>
                          <a:latin typeface="Garamond" panose="02020404030301010803" pitchFamily="18" charset="0"/>
                        </a:rPr>
                        <a:t>0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77122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0" dirty="0">
                          <a:solidFill>
                            <a:schemeClr val="bg1"/>
                          </a:solidFill>
                          <a:latin typeface="Garamond" panose="02020404030301010803" pitchFamily="18" charset="0"/>
                        </a:rPr>
                        <a:t>1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77122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0" dirty="0">
                          <a:solidFill>
                            <a:schemeClr val="bg1"/>
                          </a:solidFill>
                          <a:latin typeface="Garamond" panose="02020404030301010803" pitchFamily="18" charset="0"/>
                        </a:rPr>
                        <a:t>2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77122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0" dirty="0">
                          <a:solidFill>
                            <a:schemeClr val="bg1"/>
                          </a:solidFill>
                          <a:latin typeface="Garamond" panose="02020404030301010803" pitchFamily="18" charset="0"/>
                        </a:rPr>
                        <a:t>3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77122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0" dirty="0">
                          <a:solidFill>
                            <a:schemeClr val="bg1"/>
                          </a:solidFill>
                          <a:latin typeface="Garamond" panose="02020404030301010803" pitchFamily="18" charset="0"/>
                        </a:rPr>
                        <a:t>4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77122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0" dirty="0">
                          <a:solidFill>
                            <a:schemeClr val="bg1"/>
                          </a:solidFill>
                          <a:latin typeface="Garamond" panose="02020404030301010803" pitchFamily="18" charset="0"/>
                        </a:rPr>
                        <a:t>Total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77122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687697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  <a:latin typeface="Garamond" panose="02020404030301010803" pitchFamily="18" charset="0"/>
                        </a:rPr>
                        <a:t>0</a:t>
                      </a:r>
                    </a:p>
                  </a:txBody>
                  <a:tcPr anchor="ctr">
                    <a:solidFill>
                      <a:srgbClr val="77122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Garamond" panose="02020404030301010803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>
                        <a:latin typeface="Garamond" panose="02020404030301010803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>
                        <a:latin typeface="Garamond" panose="02020404030301010803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>
                        <a:latin typeface="Garamond" panose="02020404030301010803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>
                        <a:latin typeface="Garamond" panose="02020404030301010803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>
                        <a:latin typeface="Garamond" panose="02020404030301010803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643468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  <a:latin typeface="Garamond" panose="02020404030301010803" pitchFamily="18" charset="0"/>
                        </a:rPr>
                        <a:t>1</a:t>
                      </a:r>
                    </a:p>
                  </a:txBody>
                  <a:tcPr anchor="ctr">
                    <a:solidFill>
                      <a:srgbClr val="77122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Garamond" panose="02020404030301010803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>
                        <a:latin typeface="Garamond" panose="02020404030301010803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>
                        <a:latin typeface="Garamond" panose="02020404030301010803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>
                        <a:latin typeface="Garamond" panose="02020404030301010803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>
                        <a:latin typeface="Garamond" panose="02020404030301010803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>
                        <a:latin typeface="Garamond" panose="02020404030301010803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736834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  <a:latin typeface="Garamond" panose="02020404030301010803" pitchFamily="18" charset="0"/>
                        </a:rPr>
                        <a:t>2</a:t>
                      </a:r>
                    </a:p>
                  </a:txBody>
                  <a:tcPr anchor="ctr">
                    <a:solidFill>
                      <a:srgbClr val="77122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Garamond" panose="02020404030301010803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Garamond" panose="02020404030301010803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Garamond" panose="02020404030301010803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Garamond" panose="02020404030301010803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Garamond" panose="02020404030301010803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Garamond" panose="02020404030301010803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841238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  <a:latin typeface="Garamond" panose="02020404030301010803" pitchFamily="18" charset="0"/>
                        </a:rPr>
                        <a:t>3</a:t>
                      </a:r>
                    </a:p>
                  </a:txBody>
                  <a:tcPr anchor="ctr">
                    <a:solidFill>
                      <a:srgbClr val="77122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Garamond" panose="02020404030301010803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Garamond" panose="02020404030301010803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Garamond" panose="02020404030301010803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Garamond" panose="02020404030301010803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Garamond" panose="02020404030301010803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Garamond" panose="02020404030301010803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956182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  <a:latin typeface="Garamond" panose="02020404030301010803" pitchFamily="18" charset="0"/>
                        </a:rPr>
                        <a:t>4</a:t>
                      </a:r>
                    </a:p>
                  </a:txBody>
                  <a:tcPr anchor="ctr">
                    <a:solidFill>
                      <a:srgbClr val="77122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Garamond" panose="02020404030301010803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Garamond" panose="02020404030301010803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Garamond" panose="02020404030301010803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Garamond" panose="02020404030301010803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Garamond" panose="02020404030301010803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Garamond" panose="02020404030301010803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258403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  <a:latin typeface="Garamond" panose="02020404030301010803" pitchFamily="18" charset="0"/>
                        </a:rPr>
                        <a:t>Total</a:t>
                      </a:r>
                    </a:p>
                  </a:txBody>
                  <a:tcPr anchor="ctr">
                    <a:solidFill>
                      <a:srgbClr val="77122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>
                        <a:latin typeface="Garamond" panose="02020404030301010803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Garamond" panose="02020404030301010803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Garamond" panose="02020404030301010803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>
                        <a:solidFill>
                          <a:schemeClr val="tx1"/>
                        </a:solidFill>
                        <a:latin typeface="Garamond" panose="02020404030301010803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>
                        <a:solidFill>
                          <a:schemeClr val="tx1"/>
                        </a:solidFill>
                        <a:latin typeface="Garamond" panose="02020404030301010803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>
                        <a:solidFill>
                          <a:schemeClr val="tx1"/>
                        </a:solidFill>
                        <a:latin typeface="Garamond" panose="02020404030301010803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50620581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1372B983-422C-F9AB-D616-03EA33E7075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37886560"/>
              </p:ext>
            </p:extLst>
          </p:nvPr>
        </p:nvGraphicFramePr>
        <p:xfrm>
          <a:off x="962125" y="2216456"/>
          <a:ext cx="10180002" cy="2966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54286">
                  <a:extLst>
                    <a:ext uri="{9D8B030D-6E8A-4147-A177-3AD203B41FA5}">
                      <a16:colId xmlns:a16="http://schemas.microsoft.com/office/drawing/2014/main" val="3269318500"/>
                    </a:ext>
                  </a:extLst>
                </a:gridCol>
                <a:gridCol w="1454286">
                  <a:extLst>
                    <a:ext uri="{9D8B030D-6E8A-4147-A177-3AD203B41FA5}">
                      <a16:colId xmlns:a16="http://schemas.microsoft.com/office/drawing/2014/main" val="1084937839"/>
                    </a:ext>
                  </a:extLst>
                </a:gridCol>
                <a:gridCol w="1454286">
                  <a:extLst>
                    <a:ext uri="{9D8B030D-6E8A-4147-A177-3AD203B41FA5}">
                      <a16:colId xmlns:a16="http://schemas.microsoft.com/office/drawing/2014/main" val="4200844973"/>
                    </a:ext>
                  </a:extLst>
                </a:gridCol>
                <a:gridCol w="1454286">
                  <a:extLst>
                    <a:ext uri="{9D8B030D-6E8A-4147-A177-3AD203B41FA5}">
                      <a16:colId xmlns:a16="http://schemas.microsoft.com/office/drawing/2014/main" val="3844035428"/>
                    </a:ext>
                  </a:extLst>
                </a:gridCol>
                <a:gridCol w="1454286">
                  <a:extLst>
                    <a:ext uri="{9D8B030D-6E8A-4147-A177-3AD203B41FA5}">
                      <a16:colId xmlns:a16="http://schemas.microsoft.com/office/drawing/2014/main" val="2990019285"/>
                    </a:ext>
                  </a:extLst>
                </a:gridCol>
                <a:gridCol w="1454286">
                  <a:extLst>
                    <a:ext uri="{9D8B030D-6E8A-4147-A177-3AD203B41FA5}">
                      <a16:colId xmlns:a16="http://schemas.microsoft.com/office/drawing/2014/main" val="3019196937"/>
                    </a:ext>
                  </a:extLst>
                </a:gridCol>
                <a:gridCol w="1454286">
                  <a:extLst>
                    <a:ext uri="{9D8B030D-6E8A-4147-A177-3AD203B41FA5}">
                      <a16:colId xmlns:a16="http://schemas.microsoft.com/office/drawing/2014/main" val="262036587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latin typeface="Garamond" panose="02020404030301010803" pitchFamily="18" charset="0"/>
                      </a:endParaRPr>
                    </a:p>
                  </a:txBody>
                  <a:tcPr anchor="ctr"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7122C"/>
                    </a:solidFill>
                  </a:tcPr>
                </a:tc>
                <a:tc gridSpan="6"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0" dirty="0">
                          <a:latin typeface="Rockwell" panose="02060603020205020403" pitchFamily="18" charset="0"/>
                        </a:rPr>
                        <a:t>Y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7122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solidFill>
                      <a:srgbClr val="77122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solidFill>
                      <a:srgbClr val="77122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solidFill>
                      <a:srgbClr val="77122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solidFill>
                      <a:srgbClr val="77122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anchor="ctr">
                    <a:solidFill>
                      <a:srgbClr val="77122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833529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  <a:latin typeface="Rockwell" panose="02060603020205020403" pitchFamily="18" charset="0"/>
                        </a:rPr>
                        <a:t>X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77122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0" dirty="0">
                          <a:solidFill>
                            <a:schemeClr val="bg1"/>
                          </a:solidFill>
                          <a:latin typeface="Garamond" panose="02020404030301010803" pitchFamily="18" charset="0"/>
                        </a:rPr>
                        <a:t>0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77122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0" dirty="0">
                          <a:solidFill>
                            <a:schemeClr val="bg1"/>
                          </a:solidFill>
                          <a:latin typeface="Garamond" panose="02020404030301010803" pitchFamily="18" charset="0"/>
                        </a:rPr>
                        <a:t>1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77122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0" dirty="0">
                          <a:solidFill>
                            <a:schemeClr val="bg1"/>
                          </a:solidFill>
                          <a:latin typeface="Garamond" panose="02020404030301010803" pitchFamily="18" charset="0"/>
                        </a:rPr>
                        <a:t>2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77122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0" dirty="0">
                          <a:solidFill>
                            <a:schemeClr val="bg1"/>
                          </a:solidFill>
                          <a:latin typeface="Garamond" panose="02020404030301010803" pitchFamily="18" charset="0"/>
                        </a:rPr>
                        <a:t>3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77122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0" dirty="0">
                          <a:solidFill>
                            <a:schemeClr val="bg1"/>
                          </a:solidFill>
                          <a:latin typeface="Garamond" panose="02020404030301010803" pitchFamily="18" charset="0"/>
                        </a:rPr>
                        <a:t>4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77122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0" dirty="0">
                          <a:solidFill>
                            <a:schemeClr val="bg1"/>
                          </a:solidFill>
                          <a:latin typeface="Garamond" panose="02020404030301010803" pitchFamily="18" charset="0"/>
                        </a:rPr>
                        <a:t>Total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77122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687697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  <a:latin typeface="Garamond" panose="02020404030301010803" pitchFamily="18" charset="0"/>
                        </a:rPr>
                        <a:t>0</a:t>
                      </a:r>
                    </a:p>
                  </a:txBody>
                  <a:tcPr anchor="ctr">
                    <a:solidFill>
                      <a:srgbClr val="77122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Garamond" panose="02020404030301010803" pitchFamily="18" charset="0"/>
                        </a:rPr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>
                        <a:latin typeface="Garamond" panose="02020404030301010803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>
                        <a:latin typeface="Garamond" panose="02020404030301010803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>
                        <a:latin typeface="Garamond" panose="02020404030301010803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>
                        <a:latin typeface="Garamond" panose="02020404030301010803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>
                        <a:latin typeface="Garamond" panose="02020404030301010803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643468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  <a:latin typeface="Garamond" panose="02020404030301010803" pitchFamily="18" charset="0"/>
                        </a:rPr>
                        <a:t>1</a:t>
                      </a:r>
                    </a:p>
                  </a:txBody>
                  <a:tcPr anchor="ctr">
                    <a:solidFill>
                      <a:srgbClr val="77122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Garamond" panose="02020404030301010803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>
                        <a:latin typeface="Garamond" panose="02020404030301010803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>
                        <a:latin typeface="Garamond" panose="02020404030301010803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>
                        <a:latin typeface="Garamond" panose="02020404030301010803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>
                        <a:latin typeface="Garamond" panose="02020404030301010803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>
                        <a:latin typeface="Garamond" panose="02020404030301010803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736834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  <a:latin typeface="Garamond" panose="02020404030301010803" pitchFamily="18" charset="0"/>
                        </a:rPr>
                        <a:t>2</a:t>
                      </a:r>
                    </a:p>
                  </a:txBody>
                  <a:tcPr anchor="ctr">
                    <a:solidFill>
                      <a:srgbClr val="77122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Garamond" panose="02020404030301010803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Garamond" panose="02020404030301010803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Garamond" panose="02020404030301010803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Garamond" panose="02020404030301010803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Garamond" panose="02020404030301010803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Garamond" panose="02020404030301010803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841238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  <a:latin typeface="Garamond" panose="02020404030301010803" pitchFamily="18" charset="0"/>
                        </a:rPr>
                        <a:t>3</a:t>
                      </a:r>
                    </a:p>
                  </a:txBody>
                  <a:tcPr anchor="ctr">
                    <a:solidFill>
                      <a:srgbClr val="77122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Garamond" panose="02020404030301010803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Garamond" panose="02020404030301010803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Garamond" panose="02020404030301010803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Garamond" panose="02020404030301010803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Garamond" panose="02020404030301010803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Garamond" panose="02020404030301010803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956182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  <a:latin typeface="Garamond" panose="02020404030301010803" pitchFamily="18" charset="0"/>
                        </a:rPr>
                        <a:t>4</a:t>
                      </a:r>
                    </a:p>
                  </a:txBody>
                  <a:tcPr anchor="ctr">
                    <a:solidFill>
                      <a:srgbClr val="77122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Garamond" panose="02020404030301010803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Garamond" panose="02020404030301010803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Garamond" panose="02020404030301010803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Garamond" panose="02020404030301010803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Garamond" panose="02020404030301010803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Garamond" panose="02020404030301010803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258403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  <a:latin typeface="Garamond" panose="02020404030301010803" pitchFamily="18" charset="0"/>
                        </a:rPr>
                        <a:t>Total</a:t>
                      </a:r>
                    </a:p>
                  </a:txBody>
                  <a:tcPr anchor="ctr">
                    <a:solidFill>
                      <a:srgbClr val="77122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>
                        <a:latin typeface="Garamond" panose="02020404030301010803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Garamond" panose="02020404030301010803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Garamond" panose="02020404030301010803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>
                        <a:solidFill>
                          <a:schemeClr val="tx1"/>
                        </a:solidFill>
                        <a:latin typeface="Garamond" panose="02020404030301010803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>
                        <a:solidFill>
                          <a:schemeClr val="tx1"/>
                        </a:solidFill>
                        <a:latin typeface="Garamond" panose="02020404030301010803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>
                        <a:solidFill>
                          <a:schemeClr val="tx1"/>
                        </a:solidFill>
                        <a:latin typeface="Garamond" panose="02020404030301010803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50620581"/>
                  </a:ext>
                </a:extLst>
              </a:tr>
            </a:tbl>
          </a:graphicData>
        </a:graphic>
      </p:graphicFrame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7A1A58A9-AF38-F531-7394-F836DC864814}"/>
              </a:ext>
            </a:extLst>
          </p:cNvPr>
          <p:cNvCxnSpPr/>
          <p:nvPr/>
        </p:nvCxnSpPr>
        <p:spPr>
          <a:xfrm>
            <a:off x="1874520" y="3147060"/>
            <a:ext cx="1112520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668B4C66-7DAE-4A5A-1A23-8B377033A045}"/>
              </a:ext>
            </a:extLst>
          </p:cNvPr>
          <p:cNvCxnSpPr>
            <a:cxnSpLocks/>
          </p:cNvCxnSpPr>
          <p:nvPr/>
        </p:nvCxnSpPr>
        <p:spPr>
          <a:xfrm>
            <a:off x="3147060" y="2887980"/>
            <a:ext cx="0" cy="16002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246261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62F0B9-139E-DF99-772A-28F054AEB4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02B9AE-4CC3-49ED-54CF-CA341FCDC1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199" y="1300900"/>
            <a:ext cx="11189855" cy="5081046"/>
          </a:xfrm>
        </p:spPr>
        <p:txBody>
          <a:bodyPr>
            <a:normAutofit/>
          </a:bodyPr>
          <a:lstStyle/>
          <a:p>
            <a:pPr>
              <a:spcBef>
                <a:spcPts val="1000"/>
              </a:spcBef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Repeating this counting process for every combination of </a:t>
            </a:r>
            <a:r>
              <a:rPr lang="en-US" sz="2400" dirty="0">
                <a:latin typeface="Rockwell" panose="02060603020205020403" pitchFamily="18" charset="0"/>
              </a:rPr>
              <a:t>X </a:t>
            </a:r>
            <a:r>
              <a:rPr lang="en-US" altLang="zh-TW" sz="2400" dirty="0"/>
              <a:t>and </a:t>
            </a:r>
            <a:r>
              <a:rPr lang="en-US" sz="2400" dirty="0">
                <a:latin typeface="Rockwell" panose="02060603020205020403" pitchFamily="18" charset="0"/>
              </a:rPr>
              <a:t>Y </a:t>
            </a:r>
            <a:r>
              <a:rPr lang="en-US" sz="2400" dirty="0">
                <a:latin typeface="Garamond" panose="02020404030301010803" pitchFamily="18" charset="0"/>
              </a:rPr>
              <a:t>gives the completed joint frequency table.</a:t>
            </a:r>
          </a:p>
          <a:p>
            <a:pPr lvl="1">
              <a:spcBef>
                <a:spcPts val="1000"/>
              </a:spcBef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2000" dirty="0">
              <a:latin typeface="Garamond"/>
            </a:endParaRPr>
          </a:p>
          <a:p>
            <a:pPr lvl="1">
              <a:spcBef>
                <a:spcPts val="1000"/>
              </a:spcBef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2000" dirty="0">
              <a:latin typeface="Garamond"/>
            </a:endParaRPr>
          </a:p>
          <a:p>
            <a:pPr lvl="1">
              <a:spcBef>
                <a:spcPts val="1000"/>
              </a:spcBef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2000" dirty="0">
              <a:latin typeface="Garamond"/>
            </a:endParaRPr>
          </a:p>
          <a:p>
            <a:pPr lvl="1">
              <a:spcBef>
                <a:spcPts val="1000"/>
              </a:spcBef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2000" dirty="0">
              <a:latin typeface="Garamond"/>
            </a:endParaRPr>
          </a:p>
          <a:p>
            <a:pPr lvl="1">
              <a:spcBef>
                <a:spcPts val="1000"/>
              </a:spcBef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2000" dirty="0">
              <a:latin typeface="Garamond"/>
            </a:endParaRPr>
          </a:p>
          <a:p>
            <a:pPr>
              <a:spcBef>
                <a:spcPts val="1000"/>
              </a:spcBef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2400" dirty="0">
              <a:latin typeface="Garamond"/>
            </a:endParaRPr>
          </a:p>
          <a:p>
            <a:pPr>
              <a:spcBef>
                <a:spcPts val="1000"/>
              </a:spcBef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2400" dirty="0">
              <a:latin typeface="Garamond"/>
            </a:endParaRPr>
          </a:p>
          <a:p>
            <a:pPr lvl="1">
              <a:spcBef>
                <a:spcPts val="1000"/>
              </a:spcBef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000" dirty="0"/>
              <a:t>A row corresponds to a fixed value of </a:t>
            </a:r>
            <a:r>
              <a:rPr lang="en-US" sz="2000" dirty="0">
                <a:latin typeface="Rockwell" panose="02060603020205020403" pitchFamily="18" charset="0"/>
              </a:rPr>
              <a:t>X</a:t>
            </a:r>
            <a:r>
              <a:rPr lang="en-US" altLang="zh-TW" sz="2000" dirty="0"/>
              <a:t>, and a column corresponds to a fixed value of </a:t>
            </a:r>
            <a:r>
              <a:rPr lang="en-US" sz="2000" dirty="0">
                <a:latin typeface="Rockwell" panose="02060603020205020403" pitchFamily="18" charset="0"/>
              </a:rPr>
              <a:t>Y</a:t>
            </a:r>
            <a:r>
              <a:rPr lang="en-US" sz="2000" dirty="0">
                <a:latin typeface="Garamond" panose="02020404030301010803" pitchFamily="18" charset="0"/>
              </a:rPr>
              <a:t>.</a:t>
            </a:r>
          </a:p>
          <a:p>
            <a:pPr lvl="1">
              <a:spcBef>
                <a:spcPts val="1000"/>
              </a:spcBef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000" dirty="0">
                <a:latin typeface="Garamond" panose="02020404030301010803" pitchFamily="18" charset="0"/>
              </a:rPr>
              <a:t>Each cell is a joint frequency, and the bottom-right corner is the total sample size.</a:t>
            </a:r>
          </a:p>
          <a:p>
            <a:pPr lvl="1">
              <a:spcBef>
                <a:spcPts val="1000"/>
              </a:spcBef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2000" dirty="0"/>
          </a:p>
          <a:p>
            <a:pPr lvl="1">
              <a:spcBef>
                <a:spcPts val="1000"/>
              </a:spcBef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2000" dirty="0"/>
          </a:p>
          <a:p>
            <a:pPr lvl="1">
              <a:spcBef>
                <a:spcPts val="1000"/>
              </a:spcBef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2000" dirty="0"/>
          </a:p>
          <a:p>
            <a:pPr lvl="1">
              <a:spcBef>
                <a:spcPts val="1000"/>
              </a:spcBef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2000" dirty="0"/>
          </a:p>
          <a:p>
            <a:pPr>
              <a:spcBef>
                <a:spcPts val="1000"/>
              </a:spcBef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2400" dirty="0"/>
          </a:p>
          <a:p>
            <a:pPr>
              <a:spcBef>
                <a:spcPts val="1000"/>
              </a:spcBef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2400" dirty="0"/>
          </a:p>
          <a:p>
            <a:pPr>
              <a:spcBef>
                <a:spcPts val="1000"/>
              </a:spcBef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2400" dirty="0"/>
          </a:p>
          <a:p>
            <a:pPr lvl="1">
              <a:spcBef>
                <a:spcPts val="1000"/>
              </a:spcBef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2000" dirty="0"/>
          </a:p>
          <a:p>
            <a:pPr lvl="1">
              <a:spcBef>
                <a:spcPts val="1000"/>
              </a:spcBef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2000" dirty="0"/>
          </a:p>
          <a:p>
            <a:pPr lvl="1">
              <a:spcBef>
                <a:spcPts val="1000"/>
              </a:spcBef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2000" dirty="0"/>
          </a:p>
          <a:p>
            <a:pPr lvl="1">
              <a:spcBef>
                <a:spcPts val="1000"/>
              </a:spcBef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2000" dirty="0"/>
          </a:p>
          <a:p>
            <a:pPr>
              <a:spcBef>
                <a:spcPts val="1000"/>
              </a:spcBef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2400" dirty="0"/>
          </a:p>
          <a:p>
            <a:pPr>
              <a:spcBef>
                <a:spcPts val="1000"/>
              </a:spcBef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2400" dirty="0"/>
          </a:p>
          <a:p>
            <a:pPr>
              <a:spcBef>
                <a:spcPts val="1000"/>
              </a:spcBef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2400" dirty="0"/>
          </a:p>
          <a:p>
            <a:pPr>
              <a:spcBef>
                <a:spcPts val="1000"/>
              </a:spcBef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24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309F285-FF84-5704-F2AF-C567885462A4}"/>
              </a:ext>
            </a:extLst>
          </p:cNvPr>
          <p:cNvSpPr/>
          <p:nvPr/>
        </p:nvSpPr>
        <p:spPr>
          <a:xfrm>
            <a:off x="0" y="0"/>
            <a:ext cx="12188825" cy="923636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1AB6AF2-DFDB-EDE5-9671-0E826C6CE0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88825" cy="923636"/>
          </a:xfrm>
        </p:spPr>
        <p:txBody>
          <a:bodyPr>
            <a:normAutofit/>
          </a:bodyPr>
          <a:lstStyle/>
          <a:p>
            <a:pPr algn="l">
              <a:defRPr sz="4000" b="1">
                <a:solidFill>
                  <a:srgbClr val="FDB913"/>
                </a:solidFill>
                <a:latin typeface="Garamond"/>
              </a:defRPr>
            </a:pPr>
            <a:r>
              <a:rPr lang="en-US" sz="4000" dirty="0">
                <a:solidFill>
                  <a:schemeClr val="bg1"/>
                </a:solidFill>
              </a:rPr>
              <a:t>  Example: Bivariate Probability Distribution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885187A-B78C-2000-6FF5-15ACBB2A0C22}"/>
              </a:ext>
            </a:extLst>
          </p:cNvPr>
          <p:cNvSpPr/>
          <p:nvPr/>
        </p:nvSpPr>
        <p:spPr>
          <a:xfrm>
            <a:off x="-1" y="6503428"/>
            <a:ext cx="12188825" cy="354572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333A98-2341-4607-EC59-421DC96FF9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1" y="6503428"/>
            <a:ext cx="2895600" cy="354572"/>
          </a:xfrm>
        </p:spPr>
        <p:txBody>
          <a:bodyPr/>
          <a:lstStyle/>
          <a:p>
            <a:pPr algn="l"/>
            <a:r>
              <a:rPr lang="en-US">
                <a:solidFill>
                  <a:schemeClr val="bg1"/>
                </a:solidFill>
                <a:latin typeface="Garamond" panose="02020404030301010803" pitchFamily="18" charset="0"/>
              </a:rPr>
              <a:t>BUSN 320 Business Statistics</a:t>
            </a:r>
            <a:endParaRPr lang="en-US" dirty="0">
              <a:solidFill>
                <a:schemeClr val="bg1"/>
              </a:solidFill>
              <a:latin typeface="Garamond" panose="02020404030301010803" pitchFamily="18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A0F6BF1-1A81-0F4E-EF4B-47EE52EE04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55225" y="6503428"/>
            <a:ext cx="2133600" cy="354572"/>
          </a:xfrm>
        </p:spPr>
        <p:txBody>
          <a:bodyPr/>
          <a:lstStyle/>
          <a:p>
            <a:fld id="{C1FF6DA9-008F-8B48-92A6-B652298478BF}" type="slidenum">
              <a:rPr lang="en-US" b="1" smtClean="0">
                <a:solidFill>
                  <a:schemeClr val="bg1"/>
                </a:solidFill>
                <a:latin typeface="Garamond" panose="02020404030301010803" pitchFamily="18" charset="0"/>
              </a:rPr>
              <a:t>22</a:t>
            </a:fld>
            <a:r>
              <a:rPr lang="en-US" b="1" dirty="0">
                <a:solidFill>
                  <a:schemeClr val="bg1"/>
                </a:solidFill>
                <a:latin typeface="Garamond" panose="02020404030301010803" pitchFamily="18" charset="0"/>
              </a:rPr>
              <a:t> </a:t>
            </a:r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591C92A4-0A69-78A4-1DB6-581CDF94E44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01983722"/>
              </p:ext>
            </p:extLst>
          </p:nvPr>
        </p:nvGraphicFramePr>
        <p:xfrm>
          <a:off x="962125" y="2216456"/>
          <a:ext cx="10180002" cy="2966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54286">
                  <a:extLst>
                    <a:ext uri="{9D8B030D-6E8A-4147-A177-3AD203B41FA5}">
                      <a16:colId xmlns:a16="http://schemas.microsoft.com/office/drawing/2014/main" val="3269318500"/>
                    </a:ext>
                  </a:extLst>
                </a:gridCol>
                <a:gridCol w="1454286">
                  <a:extLst>
                    <a:ext uri="{9D8B030D-6E8A-4147-A177-3AD203B41FA5}">
                      <a16:colId xmlns:a16="http://schemas.microsoft.com/office/drawing/2014/main" val="1084937839"/>
                    </a:ext>
                  </a:extLst>
                </a:gridCol>
                <a:gridCol w="1454286">
                  <a:extLst>
                    <a:ext uri="{9D8B030D-6E8A-4147-A177-3AD203B41FA5}">
                      <a16:colId xmlns:a16="http://schemas.microsoft.com/office/drawing/2014/main" val="4200844973"/>
                    </a:ext>
                  </a:extLst>
                </a:gridCol>
                <a:gridCol w="1454286">
                  <a:extLst>
                    <a:ext uri="{9D8B030D-6E8A-4147-A177-3AD203B41FA5}">
                      <a16:colId xmlns:a16="http://schemas.microsoft.com/office/drawing/2014/main" val="3844035428"/>
                    </a:ext>
                  </a:extLst>
                </a:gridCol>
                <a:gridCol w="1454286">
                  <a:extLst>
                    <a:ext uri="{9D8B030D-6E8A-4147-A177-3AD203B41FA5}">
                      <a16:colId xmlns:a16="http://schemas.microsoft.com/office/drawing/2014/main" val="2990019285"/>
                    </a:ext>
                  </a:extLst>
                </a:gridCol>
                <a:gridCol w="1454286">
                  <a:extLst>
                    <a:ext uri="{9D8B030D-6E8A-4147-A177-3AD203B41FA5}">
                      <a16:colId xmlns:a16="http://schemas.microsoft.com/office/drawing/2014/main" val="3019196937"/>
                    </a:ext>
                  </a:extLst>
                </a:gridCol>
                <a:gridCol w="1454286">
                  <a:extLst>
                    <a:ext uri="{9D8B030D-6E8A-4147-A177-3AD203B41FA5}">
                      <a16:colId xmlns:a16="http://schemas.microsoft.com/office/drawing/2014/main" val="262036587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latin typeface="Garamond" panose="02020404030301010803" pitchFamily="18" charset="0"/>
                      </a:endParaRPr>
                    </a:p>
                  </a:txBody>
                  <a:tcPr anchor="ctr"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7122C"/>
                    </a:solidFill>
                  </a:tcPr>
                </a:tc>
                <a:tc gridSpan="6"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0" dirty="0">
                          <a:latin typeface="Rockwell" panose="02060603020205020403" pitchFamily="18" charset="0"/>
                        </a:rPr>
                        <a:t>Y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7122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solidFill>
                      <a:srgbClr val="77122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solidFill>
                      <a:srgbClr val="77122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solidFill>
                      <a:srgbClr val="77122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solidFill>
                      <a:srgbClr val="77122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anchor="ctr">
                    <a:solidFill>
                      <a:srgbClr val="77122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833529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  <a:latin typeface="Rockwell" panose="02060603020205020403" pitchFamily="18" charset="0"/>
                        </a:rPr>
                        <a:t>X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77122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0" dirty="0">
                          <a:solidFill>
                            <a:schemeClr val="bg1"/>
                          </a:solidFill>
                          <a:latin typeface="Garamond" panose="02020404030301010803" pitchFamily="18" charset="0"/>
                        </a:rPr>
                        <a:t>0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77122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0" dirty="0">
                          <a:solidFill>
                            <a:schemeClr val="bg1"/>
                          </a:solidFill>
                          <a:latin typeface="Garamond" panose="02020404030301010803" pitchFamily="18" charset="0"/>
                        </a:rPr>
                        <a:t>1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77122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0" dirty="0">
                          <a:solidFill>
                            <a:schemeClr val="bg1"/>
                          </a:solidFill>
                          <a:latin typeface="Garamond" panose="02020404030301010803" pitchFamily="18" charset="0"/>
                        </a:rPr>
                        <a:t>2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77122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0" dirty="0">
                          <a:solidFill>
                            <a:schemeClr val="bg1"/>
                          </a:solidFill>
                          <a:latin typeface="Garamond" panose="02020404030301010803" pitchFamily="18" charset="0"/>
                        </a:rPr>
                        <a:t>3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77122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0" dirty="0">
                          <a:solidFill>
                            <a:schemeClr val="bg1"/>
                          </a:solidFill>
                          <a:latin typeface="Garamond" panose="02020404030301010803" pitchFamily="18" charset="0"/>
                        </a:rPr>
                        <a:t>4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77122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0" dirty="0">
                          <a:solidFill>
                            <a:schemeClr val="bg1"/>
                          </a:solidFill>
                          <a:latin typeface="Garamond" panose="02020404030301010803" pitchFamily="18" charset="0"/>
                        </a:rPr>
                        <a:t>Total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77122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687697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  <a:latin typeface="Garamond" panose="02020404030301010803" pitchFamily="18" charset="0"/>
                        </a:rPr>
                        <a:t>0</a:t>
                      </a:r>
                    </a:p>
                  </a:txBody>
                  <a:tcPr anchor="ctr">
                    <a:solidFill>
                      <a:srgbClr val="77122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Garamond" panose="02020404030301010803" pitchFamily="18" charset="0"/>
                        </a:rPr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>
                        <a:latin typeface="Garamond" panose="02020404030301010803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>
                        <a:latin typeface="Garamond" panose="02020404030301010803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>
                        <a:latin typeface="Garamond" panose="02020404030301010803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>
                        <a:latin typeface="Garamond" panose="02020404030301010803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>
                        <a:latin typeface="Garamond" panose="02020404030301010803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643468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  <a:latin typeface="Garamond" panose="02020404030301010803" pitchFamily="18" charset="0"/>
                        </a:rPr>
                        <a:t>1</a:t>
                      </a:r>
                    </a:p>
                  </a:txBody>
                  <a:tcPr anchor="ctr">
                    <a:solidFill>
                      <a:srgbClr val="77122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Garamond" panose="02020404030301010803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>
                        <a:latin typeface="Garamond" panose="02020404030301010803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>
                        <a:latin typeface="Garamond" panose="02020404030301010803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>
                        <a:latin typeface="Garamond" panose="02020404030301010803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>
                        <a:latin typeface="Garamond" panose="02020404030301010803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>
                        <a:latin typeface="Garamond" panose="02020404030301010803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736834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  <a:latin typeface="Garamond" panose="02020404030301010803" pitchFamily="18" charset="0"/>
                        </a:rPr>
                        <a:t>2</a:t>
                      </a:r>
                    </a:p>
                  </a:txBody>
                  <a:tcPr anchor="ctr">
                    <a:solidFill>
                      <a:srgbClr val="77122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Garamond" panose="02020404030301010803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Garamond" panose="02020404030301010803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Garamond" panose="02020404030301010803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Garamond" panose="02020404030301010803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Garamond" panose="02020404030301010803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Garamond" panose="02020404030301010803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841238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  <a:latin typeface="Garamond" panose="02020404030301010803" pitchFamily="18" charset="0"/>
                        </a:rPr>
                        <a:t>3</a:t>
                      </a:r>
                    </a:p>
                  </a:txBody>
                  <a:tcPr anchor="ctr">
                    <a:solidFill>
                      <a:srgbClr val="77122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Garamond" panose="02020404030301010803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Garamond" panose="02020404030301010803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Garamond" panose="02020404030301010803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Garamond" panose="02020404030301010803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Garamond" panose="02020404030301010803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Garamond" panose="02020404030301010803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956182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  <a:latin typeface="Garamond" panose="02020404030301010803" pitchFamily="18" charset="0"/>
                        </a:rPr>
                        <a:t>4</a:t>
                      </a:r>
                    </a:p>
                  </a:txBody>
                  <a:tcPr anchor="ctr">
                    <a:solidFill>
                      <a:srgbClr val="77122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Garamond" panose="02020404030301010803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Garamond" panose="02020404030301010803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Garamond" panose="02020404030301010803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Garamond" panose="02020404030301010803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Garamond" panose="02020404030301010803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Garamond" panose="02020404030301010803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258403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  <a:latin typeface="Garamond" panose="02020404030301010803" pitchFamily="18" charset="0"/>
                        </a:rPr>
                        <a:t>Total</a:t>
                      </a:r>
                    </a:p>
                  </a:txBody>
                  <a:tcPr anchor="ctr">
                    <a:solidFill>
                      <a:srgbClr val="77122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>
                        <a:latin typeface="Garamond" panose="02020404030301010803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Garamond" panose="02020404030301010803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Garamond" panose="02020404030301010803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>
                        <a:solidFill>
                          <a:schemeClr val="tx1"/>
                        </a:solidFill>
                        <a:latin typeface="Garamond" panose="02020404030301010803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>
                        <a:solidFill>
                          <a:schemeClr val="tx1"/>
                        </a:solidFill>
                        <a:latin typeface="Garamond" panose="02020404030301010803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>
                        <a:solidFill>
                          <a:schemeClr val="tx1"/>
                        </a:solidFill>
                        <a:latin typeface="Garamond" panose="02020404030301010803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50620581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3DC70C12-7214-4BB4-99A4-7E41295F90E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00423538"/>
              </p:ext>
            </p:extLst>
          </p:nvPr>
        </p:nvGraphicFramePr>
        <p:xfrm>
          <a:off x="962125" y="2216456"/>
          <a:ext cx="10180002" cy="2966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54286">
                  <a:extLst>
                    <a:ext uri="{9D8B030D-6E8A-4147-A177-3AD203B41FA5}">
                      <a16:colId xmlns:a16="http://schemas.microsoft.com/office/drawing/2014/main" val="3269318500"/>
                    </a:ext>
                  </a:extLst>
                </a:gridCol>
                <a:gridCol w="1454286">
                  <a:extLst>
                    <a:ext uri="{9D8B030D-6E8A-4147-A177-3AD203B41FA5}">
                      <a16:colId xmlns:a16="http://schemas.microsoft.com/office/drawing/2014/main" val="1084937839"/>
                    </a:ext>
                  </a:extLst>
                </a:gridCol>
                <a:gridCol w="1454286">
                  <a:extLst>
                    <a:ext uri="{9D8B030D-6E8A-4147-A177-3AD203B41FA5}">
                      <a16:colId xmlns:a16="http://schemas.microsoft.com/office/drawing/2014/main" val="4200844973"/>
                    </a:ext>
                  </a:extLst>
                </a:gridCol>
                <a:gridCol w="1454286">
                  <a:extLst>
                    <a:ext uri="{9D8B030D-6E8A-4147-A177-3AD203B41FA5}">
                      <a16:colId xmlns:a16="http://schemas.microsoft.com/office/drawing/2014/main" val="3844035428"/>
                    </a:ext>
                  </a:extLst>
                </a:gridCol>
                <a:gridCol w="1454286">
                  <a:extLst>
                    <a:ext uri="{9D8B030D-6E8A-4147-A177-3AD203B41FA5}">
                      <a16:colId xmlns:a16="http://schemas.microsoft.com/office/drawing/2014/main" val="2990019285"/>
                    </a:ext>
                  </a:extLst>
                </a:gridCol>
                <a:gridCol w="1454286">
                  <a:extLst>
                    <a:ext uri="{9D8B030D-6E8A-4147-A177-3AD203B41FA5}">
                      <a16:colId xmlns:a16="http://schemas.microsoft.com/office/drawing/2014/main" val="3019196937"/>
                    </a:ext>
                  </a:extLst>
                </a:gridCol>
                <a:gridCol w="1454286">
                  <a:extLst>
                    <a:ext uri="{9D8B030D-6E8A-4147-A177-3AD203B41FA5}">
                      <a16:colId xmlns:a16="http://schemas.microsoft.com/office/drawing/2014/main" val="262036587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latin typeface="Garamond" panose="02020404030301010803" pitchFamily="18" charset="0"/>
                      </a:endParaRPr>
                    </a:p>
                  </a:txBody>
                  <a:tcPr anchor="ctr"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7122C"/>
                    </a:solidFill>
                  </a:tcPr>
                </a:tc>
                <a:tc gridSpan="6"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0" dirty="0">
                          <a:latin typeface="Rockwell" panose="02060603020205020403" pitchFamily="18" charset="0"/>
                        </a:rPr>
                        <a:t>Y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7122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solidFill>
                      <a:srgbClr val="77122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solidFill>
                      <a:srgbClr val="77122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solidFill>
                      <a:srgbClr val="77122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solidFill>
                      <a:srgbClr val="77122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anchor="ctr">
                    <a:solidFill>
                      <a:srgbClr val="77122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833529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  <a:latin typeface="Rockwell" panose="02060603020205020403" pitchFamily="18" charset="0"/>
                        </a:rPr>
                        <a:t>X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77122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0" dirty="0">
                          <a:solidFill>
                            <a:schemeClr val="bg1"/>
                          </a:solidFill>
                          <a:latin typeface="Garamond" panose="02020404030301010803" pitchFamily="18" charset="0"/>
                        </a:rPr>
                        <a:t>0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77122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0" dirty="0">
                          <a:solidFill>
                            <a:schemeClr val="bg1"/>
                          </a:solidFill>
                          <a:latin typeface="Garamond" panose="02020404030301010803" pitchFamily="18" charset="0"/>
                        </a:rPr>
                        <a:t>1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77122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0" dirty="0">
                          <a:solidFill>
                            <a:schemeClr val="bg1"/>
                          </a:solidFill>
                          <a:latin typeface="Garamond" panose="02020404030301010803" pitchFamily="18" charset="0"/>
                        </a:rPr>
                        <a:t>2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77122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0" dirty="0">
                          <a:solidFill>
                            <a:schemeClr val="bg1"/>
                          </a:solidFill>
                          <a:latin typeface="Garamond" panose="02020404030301010803" pitchFamily="18" charset="0"/>
                        </a:rPr>
                        <a:t>3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77122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0" dirty="0">
                          <a:solidFill>
                            <a:schemeClr val="bg1"/>
                          </a:solidFill>
                          <a:latin typeface="Garamond" panose="02020404030301010803" pitchFamily="18" charset="0"/>
                        </a:rPr>
                        <a:t>4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77122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0" dirty="0">
                          <a:solidFill>
                            <a:schemeClr val="bg1"/>
                          </a:solidFill>
                          <a:latin typeface="Garamond" panose="02020404030301010803" pitchFamily="18" charset="0"/>
                        </a:rPr>
                        <a:t>Total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77122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687697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  <a:latin typeface="Garamond" panose="02020404030301010803" pitchFamily="18" charset="0"/>
                        </a:rPr>
                        <a:t>0</a:t>
                      </a:r>
                    </a:p>
                  </a:txBody>
                  <a:tcPr anchor="ctr">
                    <a:solidFill>
                      <a:srgbClr val="77122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Garamond" panose="02020404030301010803" pitchFamily="18" charset="0"/>
                        </a:rPr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latin typeface="Garamond" panose="02020404030301010803" pitchFamily="18" charset="0"/>
                        </a:rPr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latin typeface="Garamond" panose="02020404030301010803" pitchFamily="18" charset="0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latin typeface="Garamond" panose="02020404030301010803" pitchFamily="18" charset="0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latin typeface="Garamond" panose="02020404030301010803" pitchFamily="18" charset="0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latin typeface="Garamond" panose="02020404030301010803" pitchFamily="18" charset="0"/>
                        </a:rPr>
                        <a:t>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643468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  <a:latin typeface="Garamond" panose="02020404030301010803" pitchFamily="18" charset="0"/>
                        </a:rPr>
                        <a:t>1</a:t>
                      </a:r>
                    </a:p>
                  </a:txBody>
                  <a:tcPr anchor="ctr">
                    <a:solidFill>
                      <a:srgbClr val="77122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Garamond" panose="02020404030301010803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>
                        <a:latin typeface="Garamond" panose="02020404030301010803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>
                        <a:latin typeface="Garamond" panose="02020404030301010803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>
                        <a:latin typeface="Garamond" panose="02020404030301010803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>
                        <a:latin typeface="Garamond" panose="02020404030301010803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>
                        <a:latin typeface="Garamond" panose="02020404030301010803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736834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  <a:latin typeface="Garamond" panose="02020404030301010803" pitchFamily="18" charset="0"/>
                        </a:rPr>
                        <a:t>2</a:t>
                      </a:r>
                    </a:p>
                  </a:txBody>
                  <a:tcPr anchor="ctr">
                    <a:solidFill>
                      <a:srgbClr val="77122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Garamond" panose="02020404030301010803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Garamond" panose="02020404030301010803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Garamond" panose="02020404030301010803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Garamond" panose="02020404030301010803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Garamond" panose="02020404030301010803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Garamond" panose="02020404030301010803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841238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  <a:latin typeface="Garamond" panose="02020404030301010803" pitchFamily="18" charset="0"/>
                        </a:rPr>
                        <a:t>3</a:t>
                      </a:r>
                    </a:p>
                  </a:txBody>
                  <a:tcPr anchor="ctr">
                    <a:solidFill>
                      <a:srgbClr val="77122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Garamond" panose="02020404030301010803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Garamond" panose="02020404030301010803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Garamond" panose="02020404030301010803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Garamond" panose="02020404030301010803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Garamond" panose="02020404030301010803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Garamond" panose="02020404030301010803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956182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  <a:latin typeface="Garamond" panose="02020404030301010803" pitchFamily="18" charset="0"/>
                        </a:rPr>
                        <a:t>4</a:t>
                      </a:r>
                    </a:p>
                  </a:txBody>
                  <a:tcPr anchor="ctr">
                    <a:solidFill>
                      <a:srgbClr val="77122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Garamond" panose="02020404030301010803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Garamond" panose="02020404030301010803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Garamond" panose="02020404030301010803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Garamond" panose="02020404030301010803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Garamond" panose="02020404030301010803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Garamond" panose="02020404030301010803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258403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  <a:latin typeface="Garamond" panose="02020404030301010803" pitchFamily="18" charset="0"/>
                        </a:rPr>
                        <a:t>Total</a:t>
                      </a:r>
                    </a:p>
                  </a:txBody>
                  <a:tcPr anchor="ctr">
                    <a:solidFill>
                      <a:srgbClr val="77122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>
                        <a:latin typeface="Garamond" panose="02020404030301010803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Garamond" panose="02020404030301010803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Garamond" panose="02020404030301010803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>
                        <a:solidFill>
                          <a:schemeClr val="tx1"/>
                        </a:solidFill>
                        <a:latin typeface="Garamond" panose="02020404030301010803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>
                        <a:solidFill>
                          <a:schemeClr val="tx1"/>
                        </a:solidFill>
                        <a:latin typeface="Garamond" panose="02020404030301010803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>
                        <a:solidFill>
                          <a:schemeClr val="tx1"/>
                        </a:solidFill>
                        <a:latin typeface="Garamond" panose="02020404030301010803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50620581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DF5DE274-5304-83D0-37D6-154B4A3516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16043032"/>
              </p:ext>
            </p:extLst>
          </p:nvPr>
        </p:nvGraphicFramePr>
        <p:xfrm>
          <a:off x="962125" y="2216456"/>
          <a:ext cx="10180002" cy="2966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54286">
                  <a:extLst>
                    <a:ext uri="{9D8B030D-6E8A-4147-A177-3AD203B41FA5}">
                      <a16:colId xmlns:a16="http://schemas.microsoft.com/office/drawing/2014/main" val="3269318500"/>
                    </a:ext>
                  </a:extLst>
                </a:gridCol>
                <a:gridCol w="1454286">
                  <a:extLst>
                    <a:ext uri="{9D8B030D-6E8A-4147-A177-3AD203B41FA5}">
                      <a16:colId xmlns:a16="http://schemas.microsoft.com/office/drawing/2014/main" val="1084937839"/>
                    </a:ext>
                  </a:extLst>
                </a:gridCol>
                <a:gridCol w="1454286">
                  <a:extLst>
                    <a:ext uri="{9D8B030D-6E8A-4147-A177-3AD203B41FA5}">
                      <a16:colId xmlns:a16="http://schemas.microsoft.com/office/drawing/2014/main" val="4200844973"/>
                    </a:ext>
                  </a:extLst>
                </a:gridCol>
                <a:gridCol w="1454286">
                  <a:extLst>
                    <a:ext uri="{9D8B030D-6E8A-4147-A177-3AD203B41FA5}">
                      <a16:colId xmlns:a16="http://schemas.microsoft.com/office/drawing/2014/main" val="3844035428"/>
                    </a:ext>
                  </a:extLst>
                </a:gridCol>
                <a:gridCol w="1454286">
                  <a:extLst>
                    <a:ext uri="{9D8B030D-6E8A-4147-A177-3AD203B41FA5}">
                      <a16:colId xmlns:a16="http://schemas.microsoft.com/office/drawing/2014/main" val="2990019285"/>
                    </a:ext>
                  </a:extLst>
                </a:gridCol>
                <a:gridCol w="1454286">
                  <a:extLst>
                    <a:ext uri="{9D8B030D-6E8A-4147-A177-3AD203B41FA5}">
                      <a16:colId xmlns:a16="http://schemas.microsoft.com/office/drawing/2014/main" val="3019196937"/>
                    </a:ext>
                  </a:extLst>
                </a:gridCol>
                <a:gridCol w="1454286">
                  <a:extLst>
                    <a:ext uri="{9D8B030D-6E8A-4147-A177-3AD203B41FA5}">
                      <a16:colId xmlns:a16="http://schemas.microsoft.com/office/drawing/2014/main" val="262036587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latin typeface="Garamond" panose="02020404030301010803" pitchFamily="18" charset="0"/>
                      </a:endParaRPr>
                    </a:p>
                  </a:txBody>
                  <a:tcPr anchor="ctr"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7122C"/>
                    </a:solidFill>
                  </a:tcPr>
                </a:tc>
                <a:tc gridSpan="6"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0" dirty="0">
                          <a:latin typeface="Rockwell" panose="02060603020205020403" pitchFamily="18" charset="0"/>
                        </a:rPr>
                        <a:t>Y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7122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solidFill>
                      <a:srgbClr val="77122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solidFill>
                      <a:srgbClr val="77122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solidFill>
                      <a:srgbClr val="77122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solidFill>
                      <a:srgbClr val="77122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anchor="ctr">
                    <a:solidFill>
                      <a:srgbClr val="77122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833529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  <a:latin typeface="Rockwell" panose="02060603020205020403" pitchFamily="18" charset="0"/>
                        </a:rPr>
                        <a:t>X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77122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0" dirty="0">
                          <a:solidFill>
                            <a:schemeClr val="bg1"/>
                          </a:solidFill>
                          <a:latin typeface="Garamond" panose="02020404030301010803" pitchFamily="18" charset="0"/>
                        </a:rPr>
                        <a:t>0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77122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0" dirty="0">
                          <a:solidFill>
                            <a:schemeClr val="bg1"/>
                          </a:solidFill>
                          <a:latin typeface="Garamond" panose="02020404030301010803" pitchFamily="18" charset="0"/>
                        </a:rPr>
                        <a:t>1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77122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0" dirty="0">
                          <a:solidFill>
                            <a:schemeClr val="bg1"/>
                          </a:solidFill>
                          <a:latin typeface="Garamond" panose="02020404030301010803" pitchFamily="18" charset="0"/>
                        </a:rPr>
                        <a:t>2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77122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0" dirty="0">
                          <a:solidFill>
                            <a:schemeClr val="bg1"/>
                          </a:solidFill>
                          <a:latin typeface="Garamond" panose="02020404030301010803" pitchFamily="18" charset="0"/>
                        </a:rPr>
                        <a:t>3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77122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0" dirty="0">
                          <a:solidFill>
                            <a:schemeClr val="bg1"/>
                          </a:solidFill>
                          <a:latin typeface="Garamond" panose="02020404030301010803" pitchFamily="18" charset="0"/>
                        </a:rPr>
                        <a:t>4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77122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0" dirty="0">
                          <a:solidFill>
                            <a:schemeClr val="bg1"/>
                          </a:solidFill>
                          <a:latin typeface="Garamond" panose="02020404030301010803" pitchFamily="18" charset="0"/>
                        </a:rPr>
                        <a:t>Total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77122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687697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  <a:latin typeface="Garamond" panose="02020404030301010803" pitchFamily="18" charset="0"/>
                        </a:rPr>
                        <a:t>0</a:t>
                      </a:r>
                    </a:p>
                  </a:txBody>
                  <a:tcPr anchor="ctr">
                    <a:solidFill>
                      <a:srgbClr val="77122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Garamond" panose="02020404030301010803" pitchFamily="18" charset="0"/>
                        </a:rPr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latin typeface="Garamond" panose="02020404030301010803" pitchFamily="18" charset="0"/>
                        </a:rPr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latin typeface="Garamond" panose="02020404030301010803" pitchFamily="18" charset="0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latin typeface="Garamond" panose="02020404030301010803" pitchFamily="18" charset="0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latin typeface="Garamond" panose="02020404030301010803" pitchFamily="18" charset="0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latin typeface="Garamond" panose="02020404030301010803" pitchFamily="18" charset="0"/>
                        </a:rPr>
                        <a:t>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643468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  <a:latin typeface="Garamond" panose="02020404030301010803" pitchFamily="18" charset="0"/>
                        </a:rPr>
                        <a:t>1</a:t>
                      </a:r>
                    </a:p>
                  </a:txBody>
                  <a:tcPr anchor="ctr">
                    <a:solidFill>
                      <a:srgbClr val="77122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Garamond" panose="02020404030301010803" pitchFamily="18" charset="0"/>
                        </a:rPr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>
                        <a:latin typeface="Garamond" panose="02020404030301010803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>
                        <a:latin typeface="Garamond" panose="02020404030301010803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>
                        <a:latin typeface="Garamond" panose="02020404030301010803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>
                        <a:latin typeface="Garamond" panose="02020404030301010803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>
                        <a:latin typeface="Garamond" panose="02020404030301010803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736834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  <a:latin typeface="Garamond" panose="02020404030301010803" pitchFamily="18" charset="0"/>
                        </a:rPr>
                        <a:t>2</a:t>
                      </a:r>
                    </a:p>
                  </a:txBody>
                  <a:tcPr anchor="ctr">
                    <a:solidFill>
                      <a:srgbClr val="77122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Garamond" panose="02020404030301010803" pitchFamily="18" charset="0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Garamond" panose="02020404030301010803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Garamond" panose="02020404030301010803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Garamond" panose="02020404030301010803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Garamond" panose="02020404030301010803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Garamond" panose="02020404030301010803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841238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  <a:latin typeface="Garamond" panose="02020404030301010803" pitchFamily="18" charset="0"/>
                        </a:rPr>
                        <a:t>3</a:t>
                      </a:r>
                    </a:p>
                  </a:txBody>
                  <a:tcPr anchor="ctr">
                    <a:solidFill>
                      <a:srgbClr val="77122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Garamond" panose="02020404030301010803" pitchFamily="18" charset="0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Garamond" panose="02020404030301010803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Garamond" panose="02020404030301010803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Garamond" panose="02020404030301010803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Garamond" panose="02020404030301010803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Garamond" panose="02020404030301010803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956182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  <a:latin typeface="Garamond" panose="02020404030301010803" pitchFamily="18" charset="0"/>
                        </a:rPr>
                        <a:t>4</a:t>
                      </a:r>
                    </a:p>
                  </a:txBody>
                  <a:tcPr anchor="ctr">
                    <a:solidFill>
                      <a:srgbClr val="77122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Garamond" panose="02020404030301010803" pitchFamily="18" charset="0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Garamond" panose="02020404030301010803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Garamond" panose="02020404030301010803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Garamond" panose="02020404030301010803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Garamond" panose="02020404030301010803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Garamond" panose="02020404030301010803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258403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  <a:latin typeface="Garamond" panose="02020404030301010803" pitchFamily="18" charset="0"/>
                        </a:rPr>
                        <a:t>Total</a:t>
                      </a:r>
                    </a:p>
                  </a:txBody>
                  <a:tcPr anchor="ctr">
                    <a:solidFill>
                      <a:srgbClr val="77122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latin typeface="Garamond" panose="02020404030301010803" pitchFamily="18" charset="0"/>
                        </a:rPr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Garamond" panose="02020404030301010803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Garamond" panose="02020404030301010803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>
                        <a:solidFill>
                          <a:schemeClr val="tx1"/>
                        </a:solidFill>
                        <a:latin typeface="Garamond" panose="02020404030301010803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>
                        <a:solidFill>
                          <a:schemeClr val="tx1"/>
                        </a:solidFill>
                        <a:latin typeface="Garamond" panose="02020404030301010803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>
                        <a:solidFill>
                          <a:schemeClr val="tx1"/>
                        </a:solidFill>
                        <a:latin typeface="Garamond" panose="02020404030301010803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50620581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04DEF098-6092-1DD2-25CD-DD2C9257CFA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30948727"/>
              </p:ext>
            </p:extLst>
          </p:nvPr>
        </p:nvGraphicFramePr>
        <p:xfrm>
          <a:off x="962125" y="2216456"/>
          <a:ext cx="10180002" cy="2966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54286">
                  <a:extLst>
                    <a:ext uri="{9D8B030D-6E8A-4147-A177-3AD203B41FA5}">
                      <a16:colId xmlns:a16="http://schemas.microsoft.com/office/drawing/2014/main" val="3269318500"/>
                    </a:ext>
                  </a:extLst>
                </a:gridCol>
                <a:gridCol w="1454286">
                  <a:extLst>
                    <a:ext uri="{9D8B030D-6E8A-4147-A177-3AD203B41FA5}">
                      <a16:colId xmlns:a16="http://schemas.microsoft.com/office/drawing/2014/main" val="1084937839"/>
                    </a:ext>
                  </a:extLst>
                </a:gridCol>
                <a:gridCol w="1454286">
                  <a:extLst>
                    <a:ext uri="{9D8B030D-6E8A-4147-A177-3AD203B41FA5}">
                      <a16:colId xmlns:a16="http://schemas.microsoft.com/office/drawing/2014/main" val="4200844973"/>
                    </a:ext>
                  </a:extLst>
                </a:gridCol>
                <a:gridCol w="1454286">
                  <a:extLst>
                    <a:ext uri="{9D8B030D-6E8A-4147-A177-3AD203B41FA5}">
                      <a16:colId xmlns:a16="http://schemas.microsoft.com/office/drawing/2014/main" val="3844035428"/>
                    </a:ext>
                  </a:extLst>
                </a:gridCol>
                <a:gridCol w="1454286">
                  <a:extLst>
                    <a:ext uri="{9D8B030D-6E8A-4147-A177-3AD203B41FA5}">
                      <a16:colId xmlns:a16="http://schemas.microsoft.com/office/drawing/2014/main" val="2990019285"/>
                    </a:ext>
                  </a:extLst>
                </a:gridCol>
                <a:gridCol w="1454286">
                  <a:extLst>
                    <a:ext uri="{9D8B030D-6E8A-4147-A177-3AD203B41FA5}">
                      <a16:colId xmlns:a16="http://schemas.microsoft.com/office/drawing/2014/main" val="3019196937"/>
                    </a:ext>
                  </a:extLst>
                </a:gridCol>
                <a:gridCol w="1454286">
                  <a:extLst>
                    <a:ext uri="{9D8B030D-6E8A-4147-A177-3AD203B41FA5}">
                      <a16:colId xmlns:a16="http://schemas.microsoft.com/office/drawing/2014/main" val="262036587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latin typeface="Garamond" panose="02020404030301010803" pitchFamily="18" charset="0"/>
                      </a:endParaRPr>
                    </a:p>
                  </a:txBody>
                  <a:tcPr anchor="ctr"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7122C"/>
                    </a:solidFill>
                  </a:tcPr>
                </a:tc>
                <a:tc gridSpan="6"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0" dirty="0">
                          <a:latin typeface="Rockwell" panose="02060603020205020403" pitchFamily="18" charset="0"/>
                        </a:rPr>
                        <a:t>Y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7122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solidFill>
                      <a:srgbClr val="77122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solidFill>
                      <a:srgbClr val="77122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solidFill>
                      <a:srgbClr val="77122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solidFill>
                      <a:srgbClr val="77122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anchor="ctr">
                    <a:solidFill>
                      <a:srgbClr val="77122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833529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  <a:latin typeface="Rockwell" panose="02060603020205020403" pitchFamily="18" charset="0"/>
                        </a:rPr>
                        <a:t>X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77122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0" dirty="0">
                          <a:solidFill>
                            <a:schemeClr val="bg1"/>
                          </a:solidFill>
                          <a:latin typeface="Garamond" panose="02020404030301010803" pitchFamily="18" charset="0"/>
                        </a:rPr>
                        <a:t>0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77122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0" dirty="0">
                          <a:solidFill>
                            <a:schemeClr val="bg1"/>
                          </a:solidFill>
                          <a:latin typeface="Garamond" panose="02020404030301010803" pitchFamily="18" charset="0"/>
                        </a:rPr>
                        <a:t>1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77122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0" dirty="0">
                          <a:solidFill>
                            <a:schemeClr val="bg1"/>
                          </a:solidFill>
                          <a:latin typeface="Garamond" panose="02020404030301010803" pitchFamily="18" charset="0"/>
                        </a:rPr>
                        <a:t>2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77122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0" dirty="0">
                          <a:solidFill>
                            <a:schemeClr val="bg1"/>
                          </a:solidFill>
                          <a:latin typeface="Garamond" panose="02020404030301010803" pitchFamily="18" charset="0"/>
                        </a:rPr>
                        <a:t>3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77122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0" dirty="0">
                          <a:solidFill>
                            <a:schemeClr val="bg1"/>
                          </a:solidFill>
                          <a:latin typeface="Garamond" panose="02020404030301010803" pitchFamily="18" charset="0"/>
                        </a:rPr>
                        <a:t>4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77122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0" dirty="0">
                          <a:solidFill>
                            <a:schemeClr val="bg1"/>
                          </a:solidFill>
                          <a:latin typeface="Garamond" panose="02020404030301010803" pitchFamily="18" charset="0"/>
                        </a:rPr>
                        <a:t>Total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77122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687697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  <a:latin typeface="Garamond" panose="02020404030301010803" pitchFamily="18" charset="0"/>
                        </a:rPr>
                        <a:t>0</a:t>
                      </a:r>
                    </a:p>
                  </a:txBody>
                  <a:tcPr anchor="ctr">
                    <a:solidFill>
                      <a:srgbClr val="77122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Garamond" panose="02020404030301010803" pitchFamily="18" charset="0"/>
                        </a:rPr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latin typeface="Garamond" panose="02020404030301010803" pitchFamily="18" charset="0"/>
                        </a:rPr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latin typeface="Garamond" panose="02020404030301010803" pitchFamily="18" charset="0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latin typeface="Garamond" panose="02020404030301010803" pitchFamily="18" charset="0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latin typeface="Garamond" panose="02020404030301010803" pitchFamily="18" charset="0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latin typeface="Garamond" panose="02020404030301010803" pitchFamily="18" charset="0"/>
                        </a:rPr>
                        <a:t>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643468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  <a:latin typeface="Garamond" panose="02020404030301010803" pitchFamily="18" charset="0"/>
                        </a:rPr>
                        <a:t>1</a:t>
                      </a:r>
                    </a:p>
                  </a:txBody>
                  <a:tcPr anchor="ctr">
                    <a:solidFill>
                      <a:srgbClr val="77122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Garamond" panose="02020404030301010803" pitchFamily="18" charset="0"/>
                        </a:rPr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latin typeface="Garamond" panose="02020404030301010803" pitchFamily="18" charset="0"/>
                        </a:rPr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latin typeface="Garamond" panose="02020404030301010803" pitchFamily="18" charset="0"/>
                        </a:rPr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latin typeface="Garamond" panose="02020404030301010803" pitchFamily="18" charset="0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latin typeface="Garamond" panose="02020404030301010803" pitchFamily="18" charset="0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latin typeface="Garamond" panose="02020404030301010803" pitchFamily="18" charset="0"/>
                        </a:rPr>
                        <a:t>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736834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  <a:latin typeface="Garamond" panose="02020404030301010803" pitchFamily="18" charset="0"/>
                        </a:rPr>
                        <a:t>2</a:t>
                      </a:r>
                    </a:p>
                  </a:txBody>
                  <a:tcPr anchor="ctr">
                    <a:solidFill>
                      <a:srgbClr val="77122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Garamond" panose="02020404030301010803" pitchFamily="18" charset="0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Garamond" panose="02020404030301010803" pitchFamily="18" charset="0"/>
                        </a:rPr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Garamond" panose="02020404030301010803" pitchFamily="18" charset="0"/>
                        </a:rPr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Garamond" panose="02020404030301010803" pitchFamily="18" charset="0"/>
                        </a:rPr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Garamond" panose="02020404030301010803" pitchFamily="18" charset="0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Garamond" panose="02020404030301010803" pitchFamily="18" charset="0"/>
                        </a:rPr>
                        <a:t>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841238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  <a:latin typeface="Garamond" panose="02020404030301010803" pitchFamily="18" charset="0"/>
                        </a:rPr>
                        <a:t>3</a:t>
                      </a:r>
                    </a:p>
                  </a:txBody>
                  <a:tcPr anchor="ctr">
                    <a:solidFill>
                      <a:srgbClr val="77122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Garamond" panose="02020404030301010803" pitchFamily="18" charset="0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Garamond" panose="02020404030301010803" pitchFamily="18" charset="0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Garamond" panose="02020404030301010803" pitchFamily="18" charset="0"/>
                        </a:rPr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Garamond" panose="02020404030301010803" pitchFamily="18" charset="0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Garamond" panose="02020404030301010803" pitchFamily="18" charset="0"/>
                        </a:rPr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Garamond" panose="02020404030301010803" pitchFamily="18" charset="0"/>
                        </a:rPr>
                        <a:t>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956182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  <a:latin typeface="Garamond" panose="02020404030301010803" pitchFamily="18" charset="0"/>
                        </a:rPr>
                        <a:t>4</a:t>
                      </a:r>
                    </a:p>
                  </a:txBody>
                  <a:tcPr anchor="ctr">
                    <a:solidFill>
                      <a:srgbClr val="77122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Garamond" panose="02020404030301010803" pitchFamily="18" charset="0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Garamond" panose="02020404030301010803" pitchFamily="18" charset="0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Garamond" panose="02020404030301010803" pitchFamily="18" charset="0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Garamond" panose="02020404030301010803" pitchFamily="18" charset="0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Garamond" panose="02020404030301010803" pitchFamily="18" charset="0"/>
                        </a:rPr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Garamond" panose="02020404030301010803" pitchFamily="18" charset="0"/>
                        </a:rPr>
                        <a:t>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258403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  <a:latin typeface="Garamond" panose="02020404030301010803" pitchFamily="18" charset="0"/>
                        </a:rPr>
                        <a:t>Total</a:t>
                      </a:r>
                    </a:p>
                  </a:txBody>
                  <a:tcPr anchor="ctr">
                    <a:solidFill>
                      <a:srgbClr val="77122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latin typeface="Garamond" panose="02020404030301010803" pitchFamily="18" charset="0"/>
                        </a:rPr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Garamond" panose="02020404030301010803" pitchFamily="18" charset="0"/>
                        </a:rPr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Garamond" panose="02020404030301010803" pitchFamily="18" charset="0"/>
                        </a:rPr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rPr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rPr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rPr>
                        <a:t>30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5062058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256443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7081AE-189B-A5D3-E313-734238BB4A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1908BF5-D3B5-F378-1572-F644B16FB36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57199" y="1300900"/>
                <a:ext cx="11189855" cy="5081046"/>
              </a:xfrm>
            </p:spPr>
            <p:txBody>
              <a:bodyPr>
                <a:normAutofit/>
              </a:bodyPr>
              <a:lstStyle/>
              <a:p>
                <a:pPr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400" dirty="0"/>
                  <a:t>We can convert the joint frequency table into a joint probability distribution by dividing every frequency by the total number of observations</a:t>
                </a:r>
                <a:r>
                  <a:rPr lang="en-US" sz="2400" dirty="0">
                    <a:latin typeface="Garamond" panose="02020404030301010803" pitchFamily="18" charset="0"/>
                  </a:rPr>
                  <a:t>.</a:t>
                </a:r>
              </a:p>
              <a:p>
                <a:pPr lvl="1"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2000" dirty="0">
                  <a:latin typeface="Garamond"/>
                </a:endParaRPr>
              </a:p>
              <a:p>
                <a:pPr lvl="1"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2000" dirty="0">
                  <a:latin typeface="Garamond"/>
                </a:endParaRPr>
              </a:p>
              <a:p>
                <a:pPr lvl="1"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2000" dirty="0">
                  <a:latin typeface="Garamond"/>
                </a:endParaRPr>
              </a:p>
              <a:p>
                <a:pPr lvl="1"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2000" dirty="0">
                  <a:latin typeface="Garamond"/>
                </a:endParaRPr>
              </a:p>
              <a:p>
                <a:pPr lvl="1"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2000" dirty="0">
                  <a:latin typeface="Garamond"/>
                </a:endParaRPr>
              </a:p>
              <a:p>
                <a:pPr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2400" dirty="0">
                  <a:latin typeface="Garamond"/>
                </a:endParaRPr>
              </a:p>
              <a:p>
                <a:pPr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2400" dirty="0">
                  <a:latin typeface="Garamond"/>
                </a:endParaRPr>
              </a:p>
              <a:p>
                <a:pPr lvl="1"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000" dirty="0"/>
                  <a:t>Each cell now represents the probability of observing a particular combination of values of </a:t>
                </a:r>
                <a:r>
                  <a:rPr lang="en-US" sz="2000" dirty="0">
                    <a:latin typeface="Rockwell" panose="02060603020205020403" pitchFamily="18" charset="0"/>
                  </a:rPr>
                  <a:t>X </a:t>
                </a:r>
                <a:r>
                  <a:rPr lang="en-US" altLang="zh-TW" sz="2000" dirty="0"/>
                  <a:t>and </a:t>
                </a:r>
                <a:r>
                  <a:rPr lang="en-US" sz="2000" dirty="0">
                    <a:latin typeface="Rockwell" panose="02060603020205020403" pitchFamily="18" charset="0"/>
                  </a:rPr>
                  <a:t>Y</a:t>
                </a:r>
                <a:r>
                  <a:rPr lang="en-US" altLang="zh-TW" sz="2000" dirty="0">
                    <a:latin typeface="Garamond" panose="02020404030301010803" pitchFamily="18" charset="0"/>
                  </a:rPr>
                  <a:t>.</a:t>
                </a:r>
              </a:p>
              <a:p>
                <a:pPr lvl="1"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000" dirty="0">
                    <a:latin typeface="Garamond" panose="02020404030301010803" pitchFamily="18" charset="0"/>
                  </a:rPr>
                  <a:t>For instance, </a:t>
                </a:r>
                <a14:m>
                  <m:oMath xmlns:m="http://schemas.openxmlformats.org/officeDocument/2006/math"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sz="2000" i="0" dirty="0">
                            <a:latin typeface="Rockwell" panose="02060603020205020403" pitchFamily="18" charset="0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en-US" sz="2000" i="0" dirty="0">
                            <a:latin typeface="Rockwell" panose="02060603020205020403" pitchFamily="18" charset="0"/>
                          </a:rPr>
                          <m:t>X</m:t>
                        </m:r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=0,</m:t>
                        </m:r>
                        <m:r>
                          <m:rPr>
                            <m:nor/>
                          </m:rPr>
                          <a:rPr lang="en-US" sz="2000" i="0" dirty="0">
                            <a:latin typeface="Rockwell" panose="02060603020205020403" pitchFamily="18" charset="0"/>
                          </a:rPr>
                          <m:t>Y</m:t>
                        </m:r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=0</m:t>
                        </m:r>
                      </m:e>
                    </m:d>
                    <m:r>
                      <a:rPr lang="en-US" altLang="zh-TW" sz="2000" b="0" i="1" smtClean="0">
                        <a:latin typeface="Cambria Math" panose="02040503050406030204" pitchFamily="18" charset="0"/>
                      </a:rPr>
                      <m:t>=4/30</m:t>
                    </m:r>
                    <m:r>
                      <a:rPr lang="en-US" altLang="zh-TW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≈0.13</m:t>
                    </m:r>
                  </m:oMath>
                </a14:m>
                <a:endParaRPr lang="en-US" altLang="zh-TW" sz="2000" dirty="0">
                  <a:latin typeface="Garamond" panose="02020404030301010803" pitchFamily="18" charset="0"/>
                </a:endParaRPr>
              </a:p>
              <a:p>
                <a:pPr lvl="1"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2000" dirty="0"/>
              </a:p>
              <a:p>
                <a:pPr lvl="1"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2000" dirty="0"/>
              </a:p>
              <a:p>
                <a:pPr lvl="1"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2000" dirty="0"/>
              </a:p>
              <a:p>
                <a:pPr lvl="1"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2000" dirty="0"/>
              </a:p>
              <a:p>
                <a:pPr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2400" dirty="0"/>
              </a:p>
              <a:p>
                <a:pPr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2400" dirty="0"/>
              </a:p>
              <a:p>
                <a:pPr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2400" dirty="0"/>
              </a:p>
              <a:p>
                <a:pPr lvl="1"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2000" dirty="0"/>
              </a:p>
              <a:p>
                <a:pPr lvl="1"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2000" dirty="0"/>
              </a:p>
              <a:p>
                <a:pPr lvl="1"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2000" dirty="0"/>
              </a:p>
              <a:p>
                <a:pPr lvl="1"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2000" dirty="0"/>
              </a:p>
              <a:p>
                <a:pPr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2400" dirty="0"/>
              </a:p>
              <a:p>
                <a:pPr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2400" dirty="0"/>
              </a:p>
              <a:p>
                <a:pPr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2400" dirty="0"/>
              </a:p>
              <a:p>
                <a:pPr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24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1908BF5-D3B5-F378-1572-F644B16FB36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199" y="1300900"/>
                <a:ext cx="11189855" cy="5081046"/>
              </a:xfrm>
              <a:blipFill>
                <a:blip r:embed="rId2"/>
                <a:stretch>
                  <a:fillRect l="-708" t="-95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D1E9A38D-3847-6E4F-0A04-EE9CCFE4CB70}"/>
              </a:ext>
            </a:extLst>
          </p:cNvPr>
          <p:cNvSpPr/>
          <p:nvPr/>
        </p:nvSpPr>
        <p:spPr>
          <a:xfrm>
            <a:off x="0" y="0"/>
            <a:ext cx="12188825" cy="923636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B7F0E68-AE57-7D00-6D3A-CC439A83A6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88825" cy="923636"/>
          </a:xfrm>
        </p:spPr>
        <p:txBody>
          <a:bodyPr>
            <a:normAutofit/>
          </a:bodyPr>
          <a:lstStyle/>
          <a:p>
            <a:pPr algn="l">
              <a:defRPr sz="4000" b="1">
                <a:solidFill>
                  <a:srgbClr val="FDB913"/>
                </a:solidFill>
                <a:latin typeface="Garamond"/>
              </a:defRPr>
            </a:pPr>
            <a:r>
              <a:rPr lang="en-US" sz="4000" dirty="0">
                <a:solidFill>
                  <a:schemeClr val="bg1"/>
                </a:solidFill>
              </a:rPr>
              <a:t>  Example: Bivariate Probability Distribution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F2D103F-D9EC-CA9C-F297-9B6E84D56DA4}"/>
              </a:ext>
            </a:extLst>
          </p:cNvPr>
          <p:cNvSpPr/>
          <p:nvPr/>
        </p:nvSpPr>
        <p:spPr>
          <a:xfrm>
            <a:off x="-1" y="6503428"/>
            <a:ext cx="12188825" cy="354572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1BC4EB6-0DEC-CB8B-8A30-65DE9C1B98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1" y="6503428"/>
            <a:ext cx="2895600" cy="354572"/>
          </a:xfrm>
        </p:spPr>
        <p:txBody>
          <a:bodyPr/>
          <a:lstStyle/>
          <a:p>
            <a:pPr algn="l"/>
            <a:r>
              <a:rPr lang="en-US">
                <a:solidFill>
                  <a:schemeClr val="bg1"/>
                </a:solidFill>
                <a:latin typeface="Garamond" panose="02020404030301010803" pitchFamily="18" charset="0"/>
              </a:rPr>
              <a:t>BUSN 320 Business Statistics</a:t>
            </a:r>
            <a:endParaRPr lang="en-US" dirty="0">
              <a:solidFill>
                <a:schemeClr val="bg1"/>
              </a:solidFill>
              <a:latin typeface="Garamond" panose="02020404030301010803" pitchFamily="18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F14C114-D694-E5D6-2D3D-278F98E7EB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55225" y="6503428"/>
            <a:ext cx="2133600" cy="354572"/>
          </a:xfrm>
        </p:spPr>
        <p:txBody>
          <a:bodyPr/>
          <a:lstStyle/>
          <a:p>
            <a:fld id="{C1FF6DA9-008F-8B48-92A6-B652298478BF}" type="slidenum">
              <a:rPr lang="en-US" b="1" smtClean="0">
                <a:solidFill>
                  <a:schemeClr val="bg1"/>
                </a:solidFill>
                <a:latin typeface="Garamond" panose="02020404030301010803" pitchFamily="18" charset="0"/>
              </a:rPr>
              <a:t>23</a:t>
            </a:fld>
            <a:r>
              <a:rPr lang="en-US" b="1" dirty="0">
                <a:solidFill>
                  <a:schemeClr val="bg1"/>
                </a:solidFill>
                <a:latin typeface="Garamond" panose="02020404030301010803" pitchFamily="18" charset="0"/>
              </a:rPr>
              <a:t> </a:t>
            </a:r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DB63B7C7-44AE-4939-7DD3-A037835F84EF}"/>
              </a:ext>
            </a:extLst>
          </p:cNvPr>
          <p:cNvGraphicFramePr>
            <a:graphicFrameLocks noGrp="1"/>
          </p:cNvGraphicFramePr>
          <p:nvPr/>
        </p:nvGraphicFramePr>
        <p:xfrm>
          <a:off x="962125" y="2216456"/>
          <a:ext cx="10180002" cy="2966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54286">
                  <a:extLst>
                    <a:ext uri="{9D8B030D-6E8A-4147-A177-3AD203B41FA5}">
                      <a16:colId xmlns:a16="http://schemas.microsoft.com/office/drawing/2014/main" val="3269318500"/>
                    </a:ext>
                  </a:extLst>
                </a:gridCol>
                <a:gridCol w="1454286">
                  <a:extLst>
                    <a:ext uri="{9D8B030D-6E8A-4147-A177-3AD203B41FA5}">
                      <a16:colId xmlns:a16="http://schemas.microsoft.com/office/drawing/2014/main" val="1084937839"/>
                    </a:ext>
                  </a:extLst>
                </a:gridCol>
                <a:gridCol w="1454286">
                  <a:extLst>
                    <a:ext uri="{9D8B030D-6E8A-4147-A177-3AD203B41FA5}">
                      <a16:colId xmlns:a16="http://schemas.microsoft.com/office/drawing/2014/main" val="4200844973"/>
                    </a:ext>
                  </a:extLst>
                </a:gridCol>
                <a:gridCol w="1454286">
                  <a:extLst>
                    <a:ext uri="{9D8B030D-6E8A-4147-A177-3AD203B41FA5}">
                      <a16:colId xmlns:a16="http://schemas.microsoft.com/office/drawing/2014/main" val="3844035428"/>
                    </a:ext>
                  </a:extLst>
                </a:gridCol>
                <a:gridCol w="1454286">
                  <a:extLst>
                    <a:ext uri="{9D8B030D-6E8A-4147-A177-3AD203B41FA5}">
                      <a16:colId xmlns:a16="http://schemas.microsoft.com/office/drawing/2014/main" val="2990019285"/>
                    </a:ext>
                  </a:extLst>
                </a:gridCol>
                <a:gridCol w="1454286">
                  <a:extLst>
                    <a:ext uri="{9D8B030D-6E8A-4147-A177-3AD203B41FA5}">
                      <a16:colId xmlns:a16="http://schemas.microsoft.com/office/drawing/2014/main" val="3019196937"/>
                    </a:ext>
                  </a:extLst>
                </a:gridCol>
                <a:gridCol w="1454286">
                  <a:extLst>
                    <a:ext uri="{9D8B030D-6E8A-4147-A177-3AD203B41FA5}">
                      <a16:colId xmlns:a16="http://schemas.microsoft.com/office/drawing/2014/main" val="262036587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latin typeface="Garamond" panose="02020404030301010803" pitchFamily="18" charset="0"/>
                      </a:endParaRPr>
                    </a:p>
                  </a:txBody>
                  <a:tcPr anchor="ctr"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7122C"/>
                    </a:solidFill>
                  </a:tcPr>
                </a:tc>
                <a:tc gridSpan="6"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0" dirty="0">
                          <a:latin typeface="Rockwell" panose="02060603020205020403" pitchFamily="18" charset="0"/>
                        </a:rPr>
                        <a:t>Y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7122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solidFill>
                      <a:srgbClr val="77122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solidFill>
                      <a:srgbClr val="77122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solidFill>
                      <a:srgbClr val="77122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solidFill>
                      <a:srgbClr val="77122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anchor="ctr">
                    <a:solidFill>
                      <a:srgbClr val="77122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833529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  <a:latin typeface="Rockwell" panose="02060603020205020403" pitchFamily="18" charset="0"/>
                        </a:rPr>
                        <a:t>X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77122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0" dirty="0">
                          <a:solidFill>
                            <a:schemeClr val="bg1"/>
                          </a:solidFill>
                          <a:latin typeface="Garamond" panose="02020404030301010803" pitchFamily="18" charset="0"/>
                        </a:rPr>
                        <a:t>0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77122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0" dirty="0">
                          <a:solidFill>
                            <a:schemeClr val="bg1"/>
                          </a:solidFill>
                          <a:latin typeface="Garamond" panose="02020404030301010803" pitchFamily="18" charset="0"/>
                        </a:rPr>
                        <a:t>1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77122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0" dirty="0">
                          <a:solidFill>
                            <a:schemeClr val="bg1"/>
                          </a:solidFill>
                          <a:latin typeface="Garamond" panose="02020404030301010803" pitchFamily="18" charset="0"/>
                        </a:rPr>
                        <a:t>2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77122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0" dirty="0">
                          <a:solidFill>
                            <a:schemeClr val="bg1"/>
                          </a:solidFill>
                          <a:latin typeface="Garamond" panose="02020404030301010803" pitchFamily="18" charset="0"/>
                        </a:rPr>
                        <a:t>3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77122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0" dirty="0">
                          <a:solidFill>
                            <a:schemeClr val="bg1"/>
                          </a:solidFill>
                          <a:latin typeface="Garamond" panose="02020404030301010803" pitchFamily="18" charset="0"/>
                        </a:rPr>
                        <a:t>4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77122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0" dirty="0">
                          <a:solidFill>
                            <a:schemeClr val="bg1"/>
                          </a:solidFill>
                          <a:latin typeface="Garamond" panose="02020404030301010803" pitchFamily="18" charset="0"/>
                        </a:rPr>
                        <a:t>Total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77122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687697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  <a:latin typeface="Garamond" panose="02020404030301010803" pitchFamily="18" charset="0"/>
                        </a:rPr>
                        <a:t>0</a:t>
                      </a:r>
                    </a:p>
                  </a:txBody>
                  <a:tcPr anchor="ctr">
                    <a:solidFill>
                      <a:srgbClr val="77122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Garamond" panose="02020404030301010803" pitchFamily="18" charset="0"/>
                        </a:rPr>
                        <a:t>4/30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latin typeface="Garamond" panose="02020404030301010803" pitchFamily="18" charset="0"/>
                        </a:rPr>
                        <a:t>2/30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latin typeface="Garamond" panose="02020404030301010803" pitchFamily="18" charset="0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latin typeface="Garamond" panose="02020404030301010803" pitchFamily="18" charset="0"/>
                        </a:rPr>
                        <a:t>1/30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latin typeface="Garamond" panose="02020404030301010803" pitchFamily="18" charset="0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latin typeface="Garamond" panose="02020404030301010803" pitchFamily="18" charset="0"/>
                        </a:rPr>
                        <a:t>7/30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643468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  <a:latin typeface="Garamond" panose="02020404030301010803" pitchFamily="18" charset="0"/>
                        </a:rPr>
                        <a:t>1</a:t>
                      </a:r>
                    </a:p>
                  </a:txBody>
                  <a:tcPr anchor="ctr">
                    <a:solidFill>
                      <a:srgbClr val="77122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Garamond" panose="02020404030301010803" pitchFamily="18" charset="0"/>
                        </a:rPr>
                        <a:t>2/30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latin typeface="Garamond" panose="02020404030301010803" pitchFamily="18" charset="0"/>
                        </a:rPr>
                        <a:t>4/30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latin typeface="Garamond" panose="02020404030301010803" pitchFamily="18" charset="0"/>
                        </a:rPr>
                        <a:t>2/30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latin typeface="Garamond" panose="02020404030301010803" pitchFamily="18" charset="0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latin typeface="Garamond" panose="02020404030301010803" pitchFamily="18" charset="0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latin typeface="Garamond" panose="02020404030301010803" pitchFamily="18" charset="0"/>
                        </a:rPr>
                        <a:t>8/30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736834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  <a:latin typeface="Garamond" panose="02020404030301010803" pitchFamily="18" charset="0"/>
                        </a:rPr>
                        <a:t>2</a:t>
                      </a:r>
                    </a:p>
                  </a:txBody>
                  <a:tcPr anchor="ctr">
                    <a:solidFill>
                      <a:srgbClr val="77122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Garamond" panose="02020404030301010803" pitchFamily="18" charset="0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Garamond" panose="02020404030301010803" pitchFamily="18" charset="0"/>
                        </a:rPr>
                        <a:t>2/30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Garamond" panose="02020404030301010803" pitchFamily="18" charset="0"/>
                        </a:rPr>
                        <a:t>2/30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Garamond" panose="02020404030301010803" pitchFamily="18" charset="0"/>
                        </a:rPr>
                        <a:t>3/30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Garamond" panose="02020404030301010803" pitchFamily="18" charset="0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Garamond" panose="02020404030301010803" pitchFamily="18" charset="0"/>
                        </a:rPr>
                        <a:t>7/30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841238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  <a:latin typeface="Garamond" panose="02020404030301010803" pitchFamily="18" charset="0"/>
                        </a:rPr>
                        <a:t>3</a:t>
                      </a:r>
                    </a:p>
                  </a:txBody>
                  <a:tcPr anchor="ctr">
                    <a:solidFill>
                      <a:srgbClr val="77122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Garamond" panose="02020404030301010803" pitchFamily="18" charset="0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Garamond" panose="02020404030301010803" pitchFamily="18" charset="0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Garamond" panose="02020404030301010803" pitchFamily="18" charset="0"/>
                        </a:rPr>
                        <a:t>2/30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Garamond" panose="02020404030301010803" pitchFamily="18" charset="0"/>
                        </a:rPr>
                        <a:t>1/30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Garamond" panose="02020404030301010803" pitchFamily="18" charset="0"/>
                        </a:rPr>
                        <a:t>2/30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Garamond" panose="02020404030301010803" pitchFamily="18" charset="0"/>
                        </a:rPr>
                        <a:t>5/30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956182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  <a:latin typeface="Garamond" panose="02020404030301010803" pitchFamily="18" charset="0"/>
                        </a:rPr>
                        <a:t>4</a:t>
                      </a:r>
                    </a:p>
                  </a:txBody>
                  <a:tcPr anchor="ctr">
                    <a:solidFill>
                      <a:srgbClr val="77122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Garamond" panose="02020404030301010803" pitchFamily="18" charset="0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Garamond" panose="02020404030301010803" pitchFamily="18" charset="0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Garamond" panose="02020404030301010803" pitchFamily="18" charset="0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Garamond" panose="02020404030301010803" pitchFamily="18" charset="0"/>
                        </a:rPr>
                        <a:t>1/30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Garamond" panose="02020404030301010803" pitchFamily="18" charset="0"/>
                        </a:rPr>
                        <a:t>2/30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Garamond" panose="02020404030301010803" pitchFamily="18" charset="0"/>
                        </a:rPr>
                        <a:t>3/30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258403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  <a:latin typeface="Garamond" panose="02020404030301010803" pitchFamily="18" charset="0"/>
                        </a:rPr>
                        <a:t>Total</a:t>
                      </a:r>
                    </a:p>
                  </a:txBody>
                  <a:tcPr anchor="ctr">
                    <a:solidFill>
                      <a:srgbClr val="77122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latin typeface="Garamond" panose="02020404030301010803" pitchFamily="18" charset="0"/>
                        </a:rPr>
                        <a:t>6/30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Garamond" panose="02020404030301010803" pitchFamily="18" charset="0"/>
                        </a:rPr>
                        <a:t>8/30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Garamond" panose="02020404030301010803" pitchFamily="18" charset="0"/>
                        </a:rPr>
                        <a:t>6/30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rPr>
                        <a:t>6</a:t>
                      </a:r>
                      <a:r>
                        <a:rPr lang="en-US" dirty="0">
                          <a:latin typeface="Garamond" panose="02020404030301010803" pitchFamily="18" charset="0"/>
                        </a:rPr>
                        <a:t>/30</a:t>
                      </a:r>
                      <a:endParaRPr lang="en-US" dirty="0">
                        <a:solidFill>
                          <a:schemeClr val="tx1"/>
                        </a:solidFill>
                        <a:latin typeface="Garamond" panose="02020404030301010803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rPr>
                        <a:t>4</a:t>
                      </a:r>
                      <a:r>
                        <a:rPr lang="en-US" dirty="0">
                          <a:latin typeface="Garamond" panose="02020404030301010803" pitchFamily="18" charset="0"/>
                        </a:rPr>
                        <a:t>/30</a:t>
                      </a:r>
                      <a:endParaRPr lang="en-US" dirty="0">
                        <a:solidFill>
                          <a:schemeClr val="tx1"/>
                        </a:solidFill>
                        <a:latin typeface="Garamond" panose="02020404030301010803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rPr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50620581"/>
                  </a:ext>
                </a:extLst>
              </a:tr>
            </a:tbl>
          </a:graphicData>
        </a:graphic>
      </p:graphicFrame>
      <p:sp>
        <p:nvSpPr>
          <p:cNvPr id="8" name="Rectangle 7">
            <a:extLst>
              <a:ext uri="{FF2B5EF4-FFF2-40B4-BE49-F238E27FC236}">
                <a16:creationId xmlns:a16="http://schemas.microsoft.com/office/drawing/2014/main" id="{9EE6D0F1-B387-01F8-0806-20E23BAC89CB}"/>
              </a:ext>
            </a:extLst>
          </p:cNvPr>
          <p:cNvSpPr/>
          <p:nvPr/>
        </p:nvSpPr>
        <p:spPr>
          <a:xfrm>
            <a:off x="2428875" y="2971800"/>
            <a:ext cx="1409700" cy="323850"/>
          </a:xfrm>
          <a:prstGeom prst="rect">
            <a:avLst/>
          </a:prstGeom>
          <a:noFill/>
          <a:ln w="57150">
            <a:solidFill>
              <a:srgbClr val="FF0000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69332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454050-64E4-779B-B3CA-A3598ACCA0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D095455-4D68-ED33-2A79-93DC47DAFEF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57199" y="1300900"/>
                <a:ext cx="11189855" cy="5081046"/>
              </a:xfrm>
            </p:spPr>
            <p:txBody>
              <a:bodyPr>
                <a:normAutofit/>
              </a:bodyPr>
              <a:lstStyle/>
              <a:p>
                <a:pPr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400" dirty="0"/>
                  <a:t>The totals along the margins are called </a:t>
                </a:r>
                <a:r>
                  <a:rPr lang="en-US" altLang="zh-TW" sz="2400" b="1" dirty="0"/>
                  <a:t>marginal probabilities</a:t>
                </a:r>
                <a:r>
                  <a:rPr lang="en-US" altLang="zh-TW" sz="2400" dirty="0"/>
                  <a:t>, and they give the probabilities of one random variable, regardless of the value of the other.</a:t>
                </a:r>
                <a:endParaRPr lang="en-US" sz="2400" dirty="0">
                  <a:latin typeface="Garamond" panose="02020404030301010803" pitchFamily="18" charset="0"/>
                </a:endParaRPr>
              </a:p>
              <a:p>
                <a:pPr lvl="1"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2000" dirty="0">
                  <a:latin typeface="Garamond"/>
                </a:endParaRPr>
              </a:p>
              <a:p>
                <a:pPr lvl="1"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2000" dirty="0">
                  <a:latin typeface="Garamond"/>
                </a:endParaRPr>
              </a:p>
              <a:p>
                <a:pPr lvl="1"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2000" dirty="0">
                  <a:latin typeface="Garamond"/>
                </a:endParaRPr>
              </a:p>
              <a:p>
                <a:pPr lvl="1"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2000" dirty="0">
                  <a:latin typeface="Garamond"/>
                </a:endParaRPr>
              </a:p>
              <a:p>
                <a:pPr lvl="1"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2000" dirty="0">
                  <a:latin typeface="Garamond"/>
                </a:endParaRPr>
              </a:p>
              <a:p>
                <a:pPr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2400" dirty="0">
                  <a:latin typeface="Garamond"/>
                </a:endParaRPr>
              </a:p>
              <a:p>
                <a:pPr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2400" dirty="0">
                  <a:latin typeface="Garamond"/>
                </a:endParaRPr>
              </a:p>
              <a:p>
                <a:pPr lvl="1"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000" dirty="0">
                    <a:latin typeface="Garamond"/>
                  </a:rPr>
                  <a:t>The marginal probability </a:t>
                </a:r>
                <a14:m>
                  <m:oMath xmlns:m="http://schemas.openxmlformats.org/officeDocument/2006/math">
                    <m:r>
                      <a:rPr lang="en-US" altLang="zh-TW" sz="2000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sz="2000" i="0" dirty="0">
                            <a:latin typeface="Rockwell" panose="02060603020205020403" pitchFamily="18" charset="0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en-US" sz="2000" i="0" dirty="0">
                            <a:latin typeface="Rockwell" panose="02060603020205020403" pitchFamily="18" charset="0"/>
                          </a:rPr>
                          <m:t>X</m:t>
                        </m:r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=0</m:t>
                        </m:r>
                      </m:e>
                    </m:d>
                  </m:oMath>
                </a14:m>
                <a:r>
                  <a:rPr lang="en-US" altLang="zh-TW" sz="2000" dirty="0"/>
                  <a:t> is obtained by adding the joint probabilities across the row.</a:t>
                </a:r>
                <a:endParaRPr lang="en-US" altLang="zh-TW" sz="2000" i="1" dirty="0">
                  <a:latin typeface="Cambria Math" panose="02040503050406030204" pitchFamily="18" charset="0"/>
                </a:endParaRPr>
              </a:p>
              <a:p>
                <a:pPr lvl="1"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14:m>
                  <m:oMath xmlns:m="http://schemas.openxmlformats.org/officeDocument/2006/math">
                    <m:r>
                      <a:rPr lang="en-US" altLang="zh-TW" sz="2000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sz="2000" i="0" dirty="0">
                            <a:latin typeface="Rockwell" panose="02060603020205020403" pitchFamily="18" charset="0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en-US" sz="2000" i="0" dirty="0">
                            <a:latin typeface="Rockwell" panose="02060603020205020403" pitchFamily="18" charset="0"/>
                          </a:rPr>
                          <m:t>X</m:t>
                        </m:r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=0</m:t>
                        </m:r>
                      </m:e>
                    </m:d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000" b="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30</m:t>
                        </m:r>
                      </m:den>
                    </m:f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sz="2000" b="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30</m:t>
                        </m:r>
                      </m:den>
                    </m:f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+0+</m:t>
                    </m:r>
                    <m:f>
                      <m:fPr>
                        <m:ctrlPr>
                          <a:rPr lang="en-US" sz="2000" b="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30</m:t>
                        </m:r>
                      </m:den>
                    </m:f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+0=</m:t>
                    </m:r>
                    <m:f>
                      <m:fPr>
                        <m:ctrlPr>
                          <a:rPr lang="en-US" sz="2000" b="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7</m:t>
                        </m:r>
                      </m:num>
                      <m:den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30</m:t>
                        </m:r>
                      </m:den>
                    </m:f>
                  </m:oMath>
                </a14:m>
                <a:endParaRPr lang="en-US" altLang="zh-TW" sz="2000" dirty="0">
                  <a:latin typeface="Garamond"/>
                </a:endParaRPr>
              </a:p>
              <a:p>
                <a:pPr lvl="1"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2000" dirty="0"/>
              </a:p>
              <a:p>
                <a:pPr lvl="1"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2000" dirty="0"/>
              </a:p>
              <a:p>
                <a:pPr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2400" dirty="0"/>
              </a:p>
              <a:p>
                <a:pPr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2400" dirty="0"/>
              </a:p>
              <a:p>
                <a:pPr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2400" dirty="0"/>
              </a:p>
              <a:p>
                <a:pPr lvl="1"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2000" dirty="0"/>
              </a:p>
              <a:p>
                <a:pPr lvl="1"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2000" dirty="0"/>
              </a:p>
              <a:p>
                <a:pPr lvl="1"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2000" dirty="0"/>
              </a:p>
              <a:p>
                <a:pPr lvl="1"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2000" dirty="0"/>
              </a:p>
              <a:p>
                <a:pPr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2400" dirty="0"/>
              </a:p>
              <a:p>
                <a:pPr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2400" dirty="0"/>
              </a:p>
              <a:p>
                <a:pPr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2400" dirty="0"/>
              </a:p>
              <a:p>
                <a:pPr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24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D095455-4D68-ED33-2A79-93DC47DAFEF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199" y="1300900"/>
                <a:ext cx="11189855" cy="5081046"/>
              </a:xfrm>
              <a:blipFill>
                <a:blip r:embed="rId2"/>
                <a:stretch>
                  <a:fillRect l="-708" t="-95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60AC6B5B-5EA5-E670-5B0C-EF6DB60368C1}"/>
              </a:ext>
            </a:extLst>
          </p:cNvPr>
          <p:cNvSpPr/>
          <p:nvPr/>
        </p:nvSpPr>
        <p:spPr>
          <a:xfrm>
            <a:off x="0" y="0"/>
            <a:ext cx="12188825" cy="923636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31CB360-1562-7440-B98D-A8872A3B36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88825" cy="923636"/>
          </a:xfrm>
        </p:spPr>
        <p:txBody>
          <a:bodyPr>
            <a:normAutofit/>
          </a:bodyPr>
          <a:lstStyle/>
          <a:p>
            <a:pPr algn="l">
              <a:defRPr sz="4000" b="1">
                <a:solidFill>
                  <a:srgbClr val="FDB913"/>
                </a:solidFill>
                <a:latin typeface="Garamond"/>
              </a:defRPr>
            </a:pPr>
            <a:r>
              <a:rPr lang="en-US" sz="4000" dirty="0">
                <a:solidFill>
                  <a:schemeClr val="bg1"/>
                </a:solidFill>
              </a:rPr>
              <a:t>  Example: Bivariate Probability Distribution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65B9367-DD39-51CF-C8EE-53895F3DC06B}"/>
              </a:ext>
            </a:extLst>
          </p:cNvPr>
          <p:cNvSpPr/>
          <p:nvPr/>
        </p:nvSpPr>
        <p:spPr>
          <a:xfrm>
            <a:off x="-1" y="6503428"/>
            <a:ext cx="12188825" cy="354572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7AAF09A-7956-2640-6F0C-7C1863B3B7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1" y="6503428"/>
            <a:ext cx="2895600" cy="354572"/>
          </a:xfrm>
        </p:spPr>
        <p:txBody>
          <a:bodyPr/>
          <a:lstStyle/>
          <a:p>
            <a:pPr algn="l"/>
            <a:r>
              <a:rPr lang="en-US">
                <a:solidFill>
                  <a:schemeClr val="bg1"/>
                </a:solidFill>
                <a:latin typeface="Garamond" panose="02020404030301010803" pitchFamily="18" charset="0"/>
              </a:rPr>
              <a:t>BUSN 320 Business Statistics</a:t>
            </a:r>
            <a:endParaRPr lang="en-US" dirty="0">
              <a:solidFill>
                <a:schemeClr val="bg1"/>
              </a:solidFill>
              <a:latin typeface="Garamond" panose="02020404030301010803" pitchFamily="18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688615-C2F4-4AC1-B5E0-468FB102AB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55225" y="6503428"/>
            <a:ext cx="2133600" cy="354572"/>
          </a:xfrm>
        </p:spPr>
        <p:txBody>
          <a:bodyPr/>
          <a:lstStyle/>
          <a:p>
            <a:fld id="{C1FF6DA9-008F-8B48-92A6-B652298478BF}" type="slidenum">
              <a:rPr lang="en-US" b="1" smtClean="0">
                <a:solidFill>
                  <a:schemeClr val="bg1"/>
                </a:solidFill>
                <a:latin typeface="Garamond" panose="02020404030301010803" pitchFamily="18" charset="0"/>
              </a:rPr>
              <a:t>24</a:t>
            </a:fld>
            <a:r>
              <a:rPr lang="en-US" b="1" dirty="0">
                <a:solidFill>
                  <a:schemeClr val="bg1"/>
                </a:solidFill>
                <a:latin typeface="Garamond" panose="02020404030301010803" pitchFamily="18" charset="0"/>
              </a:rPr>
              <a:t> </a:t>
            </a:r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B5F2CB4C-FA3D-9C37-D4AF-29CA48E5FD36}"/>
              </a:ext>
            </a:extLst>
          </p:cNvPr>
          <p:cNvGraphicFramePr>
            <a:graphicFrameLocks noGrp="1"/>
          </p:cNvGraphicFramePr>
          <p:nvPr/>
        </p:nvGraphicFramePr>
        <p:xfrm>
          <a:off x="962125" y="2216456"/>
          <a:ext cx="10180002" cy="2966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54286">
                  <a:extLst>
                    <a:ext uri="{9D8B030D-6E8A-4147-A177-3AD203B41FA5}">
                      <a16:colId xmlns:a16="http://schemas.microsoft.com/office/drawing/2014/main" val="3269318500"/>
                    </a:ext>
                  </a:extLst>
                </a:gridCol>
                <a:gridCol w="1454286">
                  <a:extLst>
                    <a:ext uri="{9D8B030D-6E8A-4147-A177-3AD203B41FA5}">
                      <a16:colId xmlns:a16="http://schemas.microsoft.com/office/drawing/2014/main" val="1084937839"/>
                    </a:ext>
                  </a:extLst>
                </a:gridCol>
                <a:gridCol w="1454286">
                  <a:extLst>
                    <a:ext uri="{9D8B030D-6E8A-4147-A177-3AD203B41FA5}">
                      <a16:colId xmlns:a16="http://schemas.microsoft.com/office/drawing/2014/main" val="4200844973"/>
                    </a:ext>
                  </a:extLst>
                </a:gridCol>
                <a:gridCol w="1454286">
                  <a:extLst>
                    <a:ext uri="{9D8B030D-6E8A-4147-A177-3AD203B41FA5}">
                      <a16:colId xmlns:a16="http://schemas.microsoft.com/office/drawing/2014/main" val="3844035428"/>
                    </a:ext>
                  </a:extLst>
                </a:gridCol>
                <a:gridCol w="1454286">
                  <a:extLst>
                    <a:ext uri="{9D8B030D-6E8A-4147-A177-3AD203B41FA5}">
                      <a16:colId xmlns:a16="http://schemas.microsoft.com/office/drawing/2014/main" val="2990019285"/>
                    </a:ext>
                  </a:extLst>
                </a:gridCol>
                <a:gridCol w="1454286">
                  <a:extLst>
                    <a:ext uri="{9D8B030D-6E8A-4147-A177-3AD203B41FA5}">
                      <a16:colId xmlns:a16="http://schemas.microsoft.com/office/drawing/2014/main" val="3019196937"/>
                    </a:ext>
                  </a:extLst>
                </a:gridCol>
                <a:gridCol w="1454286">
                  <a:extLst>
                    <a:ext uri="{9D8B030D-6E8A-4147-A177-3AD203B41FA5}">
                      <a16:colId xmlns:a16="http://schemas.microsoft.com/office/drawing/2014/main" val="262036587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latin typeface="Garamond" panose="02020404030301010803" pitchFamily="18" charset="0"/>
                      </a:endParaRPr>
                    </a:p>
                  </a:txBody>
                  <a:tcPr anchor="ctr"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7122C"/>
                    </a:solidFill>
                  </a:tcPr>
                </a:tc>
                <a:tc gridSpan="6"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0" dirty="0">
                          <a:latin typeface="Rockwell" panose="02060603020205020403" pitchFamily="18" charset="0"/>
                        </a:rPr>
                        <a:t>Y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7122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solidFill>
                      <a:srgbClr val="77122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solidFill>
                      <a:srgbClr val="77122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solidFill>
                      <a:srgbClr val="77122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solidFill>
                      <a:srgbClr val="77122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anchor="ctr">
                    <a:solidFill>
                      <a:srgbClr val="77122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833529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  <a:latin typeface="Rockwell" panose="02060603020205020403" pitchFamily="18" charset="0"/>
                        </a:rPr>
                        <a:t>X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77122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0" dirty="0">
                          <a:solidFill>
                            <a:schemeClr val="bg1"/>
                          </a:solidFill>
                          <a:latin typeface="Garamond" panose="02020404030301010803" pitchFamily="18" charset="0"/>
                        </a:rPr>
                        <a:t>0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77122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0" dirty="0">
                          <a:solidFill>
                            <a:schemeClr val="bg1"/>
                          </a:solidFill>
                          <a:latin typeface="Garamond" panose="02020404030301010803" pitchFamily="18" charset="0"/>
                        </a:rPr>
                        <a:t>1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77122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0" dirty="0">
                          <a:solidFill>
                            <a:schemeClr val="bg1"/>
                          </a:solidFill>
                          <a:latin typeface="Garamond" panose="02020404030301010803" pitchFamily="18" charset="0"/>
                        </a:rPr>
                        <a:t>2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77122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0" dirty="0">
                          <a:solidFill>
                            <a:schemeClr val="bg1"/>
                          </a:solidFill>
                          <a:latin typeface="Garamond" panose="02020404030301010803" pitchFamily="18" charset="0"/>
                        </a:rPr>
                        <a:t>3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77122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0" dirty="0">
                          <a:solidFill>
                            <a:schemeClr val="bg1"/>
                          </a:solidFill>
                          <a:latin typeface="Garamond" panose="02020404030301010803" pitchFamily="18" charset="0"/>
                        </a:rPr>
                        <a:t>4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77122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0" dirty="0">
                          <a:solidFill>
                            <a:schemeClr val="bg1"/>
                          </a:solidFill>
                          <a:latin typeface="Garamond" panose="02020404030301010803" pitchFamily="18" charset="0"/>
                        </a:rPr>
                        <a:t>Total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77122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687697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  <a:latin typeface="Garamond" panose="02020404030301010803" pitchFamily="18" charset="0"/>
                        </a:rPr>
                        <a:t>0</a:t>
                      </a:r>
                    </a:p>
                  </a:txBody>
                  <a:tcPr anchor="ctr">
                    <a:solidFill>
                      <a:srgbClr val="77122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Garamond" panose="02020404030301010803" pitchFamily="18" charset="0"/>
                        </a:rPr>
                        <a:t>4/30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latin typeface="Garamond" panose="02020404030301010803" pitchFamily="18" charset="0"/>
                        </a:rPr>
                        <a:t>2/30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latin typeface="Garamond" panose="02020404030301010803" pitchFamily="18" charset="0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latin typeface="Garamond" panose="02020404030301010803" pitchFamily="18" charset="0"/>
                        </a:rPr>
                        <a:t>1/30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latin typeface="Garamond" panose="02020404030301010803" pitchFamily="18" charset="0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latin typeface="Garamond" panose="02020404030301010803" pitchFamily="18" charset="0"/>
                        </a:rPr>
                        <a:t>7/30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643468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  <a:latin typeface="Garamond" panose="02020404030301010803" pitchFamily="18" charset="0"/>
                        </a:rPr>
                        <a:t>1</a:t>
                      </a:r>
                    </a:p>
                  </a:txBody>
                  <a:tcPr anchor="ctr">
                    <a:solidFill>
                      <a:srgbClr val="77122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Garamond" panose="02020404030301010803" pitchFamily="18" charset="0"/>
                        </a:rPr>
                        <a:t>2/30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latin typeface="Garamond" panose="02020404030301010803" pitchFamily="18" charset="0"/>
                        </a:rPr>
                        <a:t>4/30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latin typeface="Garamond" panose="02020404030301010803" pitchFamily="18" charset="0"/>
                        </a:rPr>
                        <a:t>2/30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latin typeface="Garamond" panose="02020404030301010803" pitchFamily="18" charset="0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latin typeface="Garamond" panose="02020404030301010803" pitchFamily="18" charset="0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latin typeface="Garamond" panose="02020404030301010803" pitchFamily="18" charset="0"/>
                        </a:rPr>
                        <a:t>8/30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736834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  <a:latin typeface="Garamond" panose="02020404030301010803" pitchFamily="18" charset="0"/>
                        </a:rPr>
                        <a:t>2</a:t>
                      </a:r>
                    </a:p>
                  </a:txBody>
                  <a:tcPr anchor="ctr">
                    <a:solidFill>
                      <a:srgbClr val="77122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Garamond" panose="02020404030301010803" pitchFamily="18" charset="0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Garamond" panose="02020404030301010803" pitchFamily="18" charset="0"/>
                        </a:rPr>
                        <a:t>2/30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Garamond" panose="02020404030301010803" pitchFamily="18" charset="0"/>
                        </a:rPr>
                        <a:t>2/30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Garamond" panose="02020404030301010803" pitchFamily="18" charset="0"/>
                        </a:rPr>
                        <a:t>3/30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Garamond" panose="02020404030301010803" pitchFamily="18" charset="0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Garamond" panose="02020404030301010803" pitchFamily="18" charset="0"/>
                        </a:rPr>
                        <a:t>7/30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841238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  <a:latin typeface="Garamond" panose="02020404030301010803" pitchFamily="18" charset="0"/>
                        </a:rPr>
                        <a:t>3</a:t>
                      </a:r>
                    </a:p>
                  </a:txBody>
                  <a:tcPr anchor="ctr">
                    <a:solidFill>
                      <a:srgbClr val="77122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Garamond" panose="02020404030301010803" pitchFamily="18" charset="0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Garamond" panose="02020404030301010803" pitchFamily="18" charset="0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Garamond" panose="02020404030301010803" pitchFamily="18" charset="0"/>
                        </a:rPr>
                        <a:t>2/30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Garamond" panose="02020404030301010803" pitchFamily="18" charset="0"/>
                        </a:rPr>
                        <a:t>1/30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Garamond" panose="02020404030301010803" pitchFamily="18" charset="0"/>
                        </a:rPr>
                        <a:t>2/30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Garamond" panose="02020404030301010803" pitchFamily="18" charset="0"/>
                        </a:rPr>
                        <a:t>5/30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956182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  <a:latin typeface="Garamond" panose="02020404030301010803" pitchFamily="18" charset="0"/>
                        </a:rPr>
                        <a:t>4</a:t>
                      </a:r>
                    </a:p>
                  </a:txBody>
                  <a:tcPr anchor="ctr">
                    <a:solidFill>
                      <a:srgbClr val="77122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Garamond" panose="02020404030301010803" pitchFamily="18" charset="0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Garamond" panose="02020404030301010803" pitchFamily="18" charset="0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Garamond" panose="02020404030301010803" pitchFamily="18" charset="0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Garamond" panose="02020404030301010803" pitchFamily="18" charset="0"/>
                        </a:rPr>
                        <a:t>1/30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Garamond" panose="02020404030301010803" pitchFamily="18" charset="0"/>
                        </a:rPr>
                        <a:t>2/30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Garamond" panose="02020404030301010803" pitchFamily="18" charset="0"/>
                        </a:rPr>
                        <a:t>3/30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258403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  <a:latin typeface="Garamond" panose="02020404030301010803" pitchFamily="18" charset="0"/>
                        </a:rPr>
                        <a:t>Total</a:t>
                      </a:r>
                    </a:p>
                  </a:txBody>
                  <a:tcPr anchor="ctr">
                    <a:solidFill>
                      <a:srgbClr val="77122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latin typeface="Garamond" panose="02020404030301010803" pitchFamily="18" charset="0"/>
                        </a:rPr>
                        <a:t>6/30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Garamond" panose="02020404030301010803" pitchFamily="18" charset="0"/>
                        </a:rPr>
                        <a:t>8/30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Garamond" panose="02020404030301010803" pitchFamily="18" charset="0"/>
                        </a:rPr>
                        <a:t>6/30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rPr>
                        <a:t>6</a:t>
                      </a:r>
                      <a:r>
                        <a:rPr lang="en-US" dirty="0">
                          <a:latin typeface="Garamond" panose="02020404030301010803" pitchFamily="18" charset="0"/>
                        </a:rPr>
                        <a:t>/30</a:t>
                      </a:r>
                      <a:endParaRPr lang="en-US" dirty="0">
                        <a:solidFill>
                          <a:schemeClr val="tx1"/>
                        </a:solidFill>
                        <a:latin typeface="Garamond" panose="02020404030301010803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rPr>
                        <a:t>4</a:t>
                      </a:r>
                      <a:r>
                        <a:rPr lang="en-US" dirty="0">
                          <a:latin typeface="Garamond" panose="02020404030301010803" pitchFamily="18" charset="0"/>
                        </a:rPr>
                        <a:t>/30</a:t>
                      </a:r>
                      <a:endParaRPr lang="en-US" dirty="0">
                        <a:solidFill>
                          <a:schemeClr val="tx1"/>
                        </a:solidFill>
                        <a:latin typeface="Garamond" panose="02020404030301010803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rPr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50620581"/>
                  </a:ext>
                </a:extLst>
              </a:tr>
            </a:tbl>
          </a:graphicData>
        </a:graphic>
      </p:graphicFrame>
      <p:sp>
        <p:nvSpPr>
          <p:cNvPr id="10" name="Rectangle 9">
            <a:extLst>
              <a:ext uri="{FF2B5EF4-FFF2-40B4-BE49-F238E27FC236}">
                <a16:creationId xmlns:a16="http://schemas.microsoft.com/office/drawing/2014/main" id="{C6F682CE-80AF-6270-1B5E-407E2A7F0F16}"/>
              </a:ext>
            </a:extLst>
          </p:cNvPr>
          <p:cNvSpPr/>
          <p:nvPr/>
        </p:nvSpPr>
        <p:spPr>
          <a:xfrm>
            <a:off x="2446867" y="2964142"/>
            <a:ext cx="8656108" cy="323850"/>
          </a:xfrm>
          <a:prstGeom prst="rect">
            <a:avLst/>
          </a:prstGeom>
          <a:noFill/>
          <a:ln w="57150">
            <a:solidFill>
              <a:srgbClr val="FF0000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3399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3C38C4-6455-E6ED-A703-2BF7DAFF13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8CB02D5-30A8-C3A1-CB25-9A2281DCD7D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57199" y="1300900"/>
                <a:ext cx="11189855" cy="5081046"/>
              </a:xfrm>
            </p:spPr>
            <p:txBody>
              <a:bodyPr>
                <a:normAutofit/>
              </a:bodyPr>
              <a:lstStyle/>
              <a:p>
                <a:pPr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400" dirty="0"/>
                  <a:t>The totals along the margins are called </a:t>
                </a:r>
                <a:r>
                  <a:rPr lang="en-US" altLang="zh-TW" sz="2400" b="1" dirty="0"/>
                  <a:t>marginal probabilities</a:t>
                </a:r>
                <a:r>
                  <a:rPr lang="en-US" altLang="zh-TW" sz="2400" dirty="0"/>
                  <a:t>, and they give the probabilities of one random variable, regardless of the value of the other.</a:t>
                </a:r>
              </a:p>
              <a:p>
                <a:pPr lvl="1"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2000" dirty="0">
                  <a:latin typeface="Garamond"/>
                </a:endParaRPr>
              </a:p>
              <a:p>
                <a:pPr lvl="1"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2000" dirty="0">
                  <a:latin typeface="Garamond"/>
                </a:endParaRPr>
              </a:p>
              <a:p>
                <a:pPr lvl="1"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2000" dirty="0">
                  <a:latin typeface="Garamond"/>
                </a:endParaRPr>
              </a:p>
              <a:p>
                <a:pPr lvl="1"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2000" dirty="0">
                  <a:latin typeface="Garamond"/>
                </a:endParaRPr>
              </a:p>
              <a:p>
                <a:pPr lvl="1"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2000" dirty="0">
                  <a:latin typeface="Garamond"/>
                </a:endParaRPr>
              </a:p>
              <a:p>
                <a:pPr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2400" dirty="0">
                  <a:latin typeface="Garamond"/>
                </a:endParaRPr>
              </a:p>
              <a:p>
                <a:pPr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2400" dirty="0">
                  <a:latin typeface="Garamond"/>
                </a:endParaRPr>
              </a:p>
              <a:p>
                <a:pPr lvl="1"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000" dirty="0">
                    <a:latin typeface="Garamond"/>
                  </a:rPr>
                  <a:t>Similarly, the marginal probability </a:t>
                </a:r>
                <a14:m>
                  <m:oMath xmlns:m="http://schemas.openxmlformats.org/officeDocument/2006/math">
                    <m:r>
                      <a:rPr lang="en-US" altLang="zh-TW" sz="2000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sz="2000" b="0" i="0" dirty="0" smtClean="0">
                            <a:latin typeface="Rockwell" panose="02060603020205020403" pitchFamily="18" charset="0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en-US" sz="2000" b="0" i="0" dirty="0" smtClean="0">
                            <a:latin typeface="Rockwell" panose="02060603020205020403" pitchFamily="18" charset="0"/>
                          </a:rPr>
                          <m:t>Y</m:t>
                        </m:r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</m:oMath>
                </a14:m>
                <a:r>
                  <a:rPr lang="en-US" altLang="zh-TW" sz="2000" dirty="0"/>
                  <a:t> is obtained by adding the probabilities down the column.</a:t>
                </a:r>
                <a:endParaRPr lang="en-US" altLang="zh-TW" sz="2000" i="1" dirty="0">
                  <a:latin typeface="Cambria Math" panose="02040503050406030204" pitchFamily="18" charset="0"/>
                </a:endParaRPr>
              </a:p>
              <a:p>
                <a:pPr lvl="1"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14:m>
                  <m:oMath xmlns:m="http://schemas.openxmlformats.org/officeDocument/2006/math">
                    <m:r>
                      <a:rPr lang="en-US" altLang="zh-TW" sz="2000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sz="2000" b="0" i="0" dirty="0" smtClean="0">
                            <a:latin typeface="Rockwell" panose="02060603020205020403" pitchFamily="18" charset="0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en-US" sz="2000" b="0" i="0" dirty="0" smtClean="0">
                            <a:latin typeface="Rockwell" panose="02060603020205020403" pitchFamily="18" charset="0"/>
                          </a:rPr>
                          <m:t>Y</m:t>
                        </m:r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=0+</m:t>
                    </m:r>
                    <m:f>
                      <m:fPr>
                        <m:ctrlPr>
                          <a:rPr lang="en-US" sz="2000" b="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30</m:t>
                        </m:r>
                      </m:den>
                    </m:f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sz="2000" b="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30</m:t>
                        </m:r>
                      </m:den>
                    </m:f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sz="2000" b="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30</m:t>
                        </m:r>
                      </m:den>
                    </m:f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+0=</m:t>
                    </m:r>
                    <m:f>
                      <m:fPr>
                        <m:ctrlPr>
                          <a:rPr lang="en-US" sz="2000" b="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6</m:t>
                        </m:r>
                      </m:num>
                      <m:den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30</m:t>
                        </m:r>
                      </m:den>
                    </m:f>
                  </m:oMath>
                </a14:m>
                <a:endParaRPr lang="en-US" altLang="zh-TW" sz="2000" dirty="0">
                  <a:latin typeface="Garamond"/>
                </a:endParaRPr>
              </a:p>
              <a:p>
                <a:pPr lvl="1"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2000" dirty="0"/>
              </a:p>
              <a:p>
                <a:pPr lvl="1"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2000" dirty="0"/>
              </a:p>
              <a:p>
                <a:pPr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2400" dirty="0"/>
              </a:p>
              <a:p>
                <a:pPr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2400" dirty="0"/>
              </a:p>
              <a:p>
                <a:pPr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2400" dirty="0"/>
              </a:p>
              <a:p>
                <a:pPr lvl="1"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2000" dirty="0"/>
              </a:p>
              <a:p>
                <a:pPr lvl="1"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2000" dirty="0"/>
              </a:p>
              <a:p>
                <a:pPr lvl="1"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2000" dirty="0"/>
              </a:p>
              <a:p>
                <a:pPr lvl="1"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2000" dirty="0"/>
              </a:p>
              <a:p>
                <a:pPr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2400" dirty="0"/>
              </a:p>
              <a:p>
                <a:pPr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2400" dirty="0"/>
              </a:p>
              <a:p>
                <a:pPr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2400" dirty="0"/>
              </a:p>
              <a:p>
                <a:pPr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24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8CB02D5-30A8-C3A1-CB25-9A2281DCD7D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199" y="1300900"/>
                <a:ext cx="11189855" cy="5081046"/>
              </a:xfrm>
              <a:blipFill>
                <a:blip r:embed="rId2"/>
                <a:stretch>
                  <a:fillRect l="-708" t="-95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9436ED0A-769F-3BDF-798D-99452B3306D9}"/>
              </a:ext>
            </a:extLst>
          </p:cNvPr>
          <p:cNvSpPr/>
          <p:nvPr/>
        </p:nvSpPr>
        <p:spPr>
          <a:xfrm>
            <a:off x="0" y="0"/>
            <a:ext cx="12188825" cy="923636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8A32544-64AB-1AD7-6CD3-0D397FD81E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88825" cy="923636"/>
          </a:xfrm>
        </p:spPr>
        <p:txBody>
          <a:bodyPr>
            <a:normAutofit/>
          </a:bodyPr>
          <a:lstStyle/>
          <a:p>
            <a:pPr algn="l">
              <a:defRPr sz="4000" b="1">
                <a:solidFill>
                  <a:srgbClr val="FDB913"/>
                </a:solidFill>
                <a:latin typeface="Garamond"/>
              </a:defRPr>
            </a:pPr>
            <a:r>
              <a:rPr lang="en-US" sz="4000" dirty="0">
                <a:solidFill>
                  <a:schemeClr val="bg1"/>
                </a:solidFill>
              </a:rPr>
              <a:t>  Example: Bivariate Probability Distribution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71468C8-8EEA-3EC2-EA75-263C49F0EA69}"/>
              </a:ext>
            </a:extLst>
          </p:cNvPr>
          <p:cNvSpPr/>
          <p:nvPr/>
        </p:nvSpPr>
        <p:spPr>
          <a:xfrm>
            <a:off x="-1" y="6503428"/>
            <a:ext cx="12188825" cy="354572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43BF04C-E568-58DE-3307-010C6F1139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1" y="6503428"/>
            <a:ext cx="2895600" cy="354572"/>
          </a:xfrm>
        </p:spPr>
        <p:txBody>
          <a:bodyPr/>
          <a:lstStyle/>
          <a:p>
            <a:pPr algn="l"/>
            <a:r>
              <a:rPr lang="en-US">
                <a:solidFill>
                  <a:schemeClr val="bg1"/>
                </a:solidFill>
                <a:latin typeface="Garamond" panose="02020404030301010803" pitchFamily="18" charset="0"/>
              </a:rPr>
              <a:t>BUSN 320 Business Statistics</a:t>
            </a:r>
            <a:endParaRPr lang="en-US" dirty="0">
              <a:solidFill>
                <a:schemeClr val="bg1"/>
              </a:solidFill>
              <a:latin typeface="Garamond" panose="02020404030301010803" pitchFamily="18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C251EB4-A92E-8202-A3C4-C6AC1DB53A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55225" y="6503428"/>
            <a:ext cx="2133600" cy="354572"/>
          </a:xfrm>
        </p:spPr>
        <p:txBody>
          <a:bodyPr/>
          <a:lstStyle/>
          <a:p>
            <a:fld id="{C1FF6DA9-008F-8B48-92A6-B652298478BF}" type="slidenum">
              <a:rPr lang="en-US" b="1" smtClean="0">
                <a:solidFill>
                  <a:schemeClr val="bg1"/>
                </a:solidFill>
                <a:latin typeface="Garamond" panose="02020404030301010803" pitchFamily="18" charset="0"/>
              </a:rPr>
              <a:t>25</a:t>
            </a:fld>
            <a:r>
              <a:rPr lang="en-US" b="1" dirty="0">
                <a:solidFill>
                  <a:schemeClr val="bg1"/>
                </a:solidFill>
                <a:latin typeface="Garamond" panose="02020404030301010803" pitchFamily="18" charset="0"/>
              </a:rPr>
              <a:t> </a:t>
            </a:r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D5B5CD56-48A4-9110-44EA-7AAC04BB4689}"/>
              </a:ext>
            </a:extLst>
          </p:cNvPr>
          <p:cNvGraphicFramePr>
            <a:graphicFrameLocks noGrp="1"/>
          </p:cNvGraphicFramePr>
          <p:nvPr/>
        </p:nvGraphicFramePr>
        <p:xfrm>
          <a:off x="962125" y="2216456"/>
          <a:ext cx="10180002" cy="2966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54286">
                  <a:extLst>
                    <a:ext uri="{9D8B030D-6E8A-4147-A177-3AD203B41FA5}">
                      <a16:colId xmlns:a16="http://schemas.microsoft.com/office/drawing/2014/main" val="3269318500"/>
                    </a:ext>
                  </a:extLst>
                </a:gridCol>
                <a:gridCol w="1454286">
                  <a:extLst>
                    <a:ext uri="{9D8B030D-6E8A-4147-A177-3AD203B41FA5}">
                      <a16:colId xmlns:a16="http://schemas.microsoft.com/office/drawing/2014/main" val="1084937839"/>
                    </a:ext>
                  </a:extLst>
                </a:gridCol>
                <a:gridCol w="1454286">
                  <a:extLst>
                    <a:ext uri="{9D8B030D-6E8A-4147-A177-3AD203B41FA5}">
                      <a16:colId xmlns:a16="http://schemas.microsoft.com/office/drawing/2014/main" val="4200844973"/>
                    </a:ext>
                  </a:extLst>
                </a:gridCol>
                <a:gridCol w="1454286">
                  <a:extLst>
                    <a:ext uri="{9D8B030D-6E8A-4147-A177-3AD203B41FA5}">
                      <a16:colId xmlns:a16="http://schemas.microsoft.com/office/drawing/2014/main" val="3844035428"/>
                    </a:ext>
                  </a:extLst>
                </a:gridCol>
                <a:gridCol w="1454286">
                  <a:extLst>
                    <a:ext uri="{9D8B030D-6E8A-4147-A177-3AD203B41FA5}">
                      <a16:colId xmlns:a16="http://schemas.microsoft.com/office/drawing/2014/main" val="2990019285"/>
                    </a:ext>
                  </a:extLst>
                </a:gridCol>
                <a:gridCol w="1454286">
                  <a:extLst>
                    <a:ext uri="{9D8B030D-6E8A-4147-A177-3AD203B41FA5}">
                      <a16:colId xmlns:a16="http://schemas.microsoft.com/office/drawing/2014/main" val="3019196937"/>
                    </a:ext>
                  </a:extLst>
                </a:gridCol>
                <a:gridCol w="1454286">
                  <a:extLst>
                    <a:ext uri="{9D8B030D-6E8A-4147-A177-3AD203B41FA5}">
                      <a16:colId xmlns:a16="http://schemas.microsoft.com/office/drawing/2014/main" val="262036587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latin typeface="Garamond" panose="02020404030301010803" pitchFamily="18" charset="0"/>
                      </a:endParaRPr>
                    </a:p>
                  </a:txBody>
                  <a:tcPr anchor="ctr"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7122C"/>
                    </a:solidFill>
                  </a:tcPr>
                </a:tc>
                <a:tc gridSpan="6"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0" dirty="0">
                          <a:latin typeface="Rockwell" panose="02060603020205020403" pitchFamily="18" charset="0"/>
                        </a:rPr>
                        <a:t>Y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7122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solidFill>
                      <a:srgbClr val="77122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solidFill>
                      <a:srgbClr val="77122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solidFill>
                      <a:srgbClr val="77122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solidFill>
                      <a:srgbClr val="77122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anchor="ctr">
                    <a:solidFill>
                      <a:srgbClr val="77122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833529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  <a:latin typeface="Rockwell" panose="02060603020205020403" pitchFamily="18" charset="0"/>
                        </a:rPr>
                        <a:t>X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77122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0" dirty="0">
                          <a:solidFill>
                            <a:schemeClr val="bg1"/>
                          </a:solidFill>
                          <a:latin typeface="Garamond" panose="02020404030301010803" pitchFamily="18" charset="0"/>
                        </a:rPr>
                        <a:t>0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77122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0" dirty="0">
                          <a:solidFill>
                            <a:schemeClr val="bg1"/>
                          </a:solidFill>
                          <a:latin typeface="Garamond" panose="02020404030301010803" pitchFamily="18" charset="0"/>
                        </a:rPr>
                        <a:t>1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77122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0" dirty="0">
                          <a:solidFill>
                            <a:schemeClr val="bg1"/>
                          </a:solidFill>
                          <a:latin typeface="Garamond" panose="02020404030301010803" pitchFamily="18" charset="0"/>
                        </a:rPr>
                        <a:t>2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77122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0" dirty="0">
                          <a:solidFill>
                            <a:schemeClr val="bg1"/>
                          </a:solidFill>
                          <a:latin typeface="Garamond" panose="02020404030301010803" pitchFamily="18" charset="0"/>
                        </a:rPr>
                        <a:t>3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77122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0" dirty="0">
                          <a:solidFill>
                            <a:schemeClr val="bg1"/>
                          </a:solidFill>
                          <a:latin typeface="Garamond" panose="02020404030301010803" pitchFamily="18" charset="0"/>
                        </a:rPr>
                        <a:t>4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77122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0" dirty="0">
                          <a:solidFill>
                            <a:schemeClr val="bg1"/>
                          </a:solidFill>
                          <a:latin typeface="Garamond" panose="02020404030301010803" pitchFamily="18" charset="0"/>
                        </a:rPr>
                        <a:t>Total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77122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687697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  <a:latin typeface="Garamond" panose="02020404030301010803" pitchFamily="18" charset="0"/>
                        </a:rPr>
                        <a:t>0</a:t>
                      </a:r>
                    </a:p>
                  </a:txBody>
                  <a:tcPr anchor="ctr">
                    <a:solidFill>
                      <a:srgbClr val="77122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Garamond" panose="02020404030301010803" pitchFamily="18" charset="0"/>
                        </a:rPr>
                        <a:t>4/30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latin typeface="Garamond" panose="02020404030301010803" pitchFamily="18" charset="0"/>
                        </a:rPr>
                        <a:t>2/30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latin typeface="Garamond" panose="02020404030301010803" pitchFamily="18" charset="0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latin typeface="Garamond" panose="02020404030301010803" pitchFamily="18" charset="0"/>
                        </a:rPr>
                        <a:t>1/30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latin typeface="Garamond" panose="02020404030301010803" pitchFamily="18" charset="0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latin typeface="Garamond" panose="02020404030301010803" pitchFamily="18" charset="0"/>
                        </a:rPr>
                        <a:t>7/30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643468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  <a:latin typeface="Garamond" panose="02020404030301010803" pitchFamily="18" charset="0"/>
                        </a:rPr>
                        <a:t>1</a:t>
                      </a:r>
                    </a:p>
                  </a:txBody>
                  <a:tcPr anchor="ctr">
                    <a:solidFill>
                      <a:srgbClr val="77122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Garamond" panose="02020404030301010803" pitchFamily="18" charset="0"/>
                        </a:rPr>
                        <a:t>2/30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latin typeface="Garamond" panose="02020404030301010803" pitchFamily="18" charset="0"/>
                        </a:rPr>
                        <a:t>4/30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latin typeface="Garamond" panose="02020404030301010803" pitchFamily="18" charset="0"/>
                        </a:rPr>
                        <a:t>2/30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latin typeface="Garamond" panose="02020404030301010803" pitchFamily="18" charset="0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latin typeface="Garamond" panose="02020404030301010803" pitchFamily="18" charset="0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latin typeface="Garamond" panose="02020404030301010803" pitchFamily="18" charset="0"/>
                        </a:rPr>
                        <a:t>8/30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736834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  <a:latin typeface="Garamond" panose="02020404030301010803" pitchFamily="18" charset="0"/>
                        </a:rPr>
                        <a:t>2</a:t>
                      </a:r>
                    </a:p>
                  </a:txBody>
                  <a:tcPr anchor="ctr">
                    <a:solidFill>
                      <a:srgbClr val="77122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Garamond" panose="02020404030301010803" pitchFamily="18" charset="0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Garamond" panose="02020404030301010803" pitchFamily="18" charset="0"/>
                        </a:rPr>
                        <a:t>2/30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Garamond" panose="02020404030301010803" pitchFamily="18" charset="0"/>
                        </a:rPr>
                        <a:t>2/30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Garamond" panose="02020404030301010803" pitchFamily="18" charset="0"/>
                        </a:rPr>
                        <a:t>3/30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Garamond" panose="02020404030301010803" pitchFamily="18" charset="0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Garamond" panose="02020404030301010803" pitchFamily="18" charset="0"/>
                        </a:rPr>
                        <a:t>7/30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841238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  <a:latin typeface="Garamond" panose="02020404030301010803" pitchFamily="18" charset="0"/>
                        </a:rPr>
                        <a:t>3</a:t>
                      </a:r>
                    </a:p>
                  </a:txBody>
                  <a:tcPr anchor="ctr">
                    <a:solidFill>
                      <a:srgbClr val="77122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Garamond" panose="02020404030301010803" pitchFamily="18" charset="0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Garamond" panose="02020404030301010803" pitchFamily="18" charset="0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Garamond" panose="02020404030301010803" pitchFamily="18" charset="0"/>
                        </a:rPr>
                        <a:t>2/30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Garamond" panose="02020404030301010803" pitchFamily="18" charset="0"/>
                        </a:rPr>
                        <a:t>1/30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Garamond" panose="02020404030301010803" pitchFamily="18" charset="0"/>
                        </a:rPr>
                        <a:t>2/30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Garamond" panose="02020404030301010803" pitchFamily="18" charset="0"/>
                        </a:rPr>
                        <a:t>5/30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956182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  <a:latin typeface="Garamond" panose="02020404030301010803" pitchFamily="18" charset="0"/>
                        </a:rPr>
                        <a:t>4</a:t>
                      </a:r>
                    </a:p>
                  </a:txBody>
                  <a:tcPr anchor="ctr">
                    <a:solidFill>
                      <a:srgbClr val="77122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Garamond" panose="02020404030301010803" pitchFamily="18" charset="0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Garamond" panose="02020404030301010803" pitchFamily="18" charset="0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Garamond" panose="02020404030301010803" pitchFamily="18" charset="0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Garamond" panose="02020404030301010803" pitchFamily="18" charset="0"/>
                        </a:rPr>
                        <a:t>1/30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Garamond" panose="02020404030301010803" pitchFamily="18" charset="0"/>
                        </a:rPr>
                        <a:t>2/30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Garamond" panose="02020404030301010803" pitchFamily="18" charset="0"/>
                        </a:rPr>
                        <a:t>3/30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258403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  <a:latin typeface="Garamond" panose="02020404030301010803" pitchFamily="18" charset="0"/>
                        </a:rPr>
                        <a:t>Total</a:t>
                      </a:r>
                    </a:p>
                  </a:txBody>
                  <a:tcPr anchor="ctr">
                    <a:solidFill>
                      <a:srgbClr val="77122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latin typeface="Garamond" panose="02020404030301010803" pitchFamily="18" charset="0"/>
                        </a:rPr>
                        <a:t>6/30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Garamond" panose="02020404030301010803" pitchFamily="18" charset="0"/>
                        </a:rPr>
                        <a:t>8/30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Garamond" panose="02020404030301010803" pitchFamily="18" charset="0"/>
                        </a:rPr>
                        <a:t>6/30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rPr>
                        <a:t>6</a:t>
                      </a:r>
                      <a:r>
                        <a:rPr lang="en-US" dirty="0">
                          <a:latin typeface="Garamond" panose="02020404030301010803" pitchFamily="18" charset="0"/>
                        </a:rPr>
                        <a:t>/30</a:t>
                      </a:r>
                      <a:endParaRPr lang="en-US" dirty="0">
                        <a:solidFill>
                          <a:schemeClr val="tx1"/>
                        </a:solidFill>
                        <a:latin typeface="Garamond" panose="02020404030301010803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rPr>
                        <a:t>4</a:t>
                      </a:r>
                      <a:r>
                        <a:rPr lang="en-US" dirty="0">
                          <a:latin typeface="Garamond" panose="02020404030301010803" pitchFamily="18" charset="0"/>
                        </a:rPr>
                        <a:t>/30</a:t>
                      </a:r>
                      <a:endParaRPr lang="en-US" dirty="0">
                        <a:solidFill>
                          <a:schemeClr val="tx1"/>
                        </a:solidFill>
                        <a:latin typeface="Garamond" panose="02020404030301010803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rPr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50620581"/>
                  </a:ext>
                </a:extLst>
              </a:tr>
            </a:tbl>
          </a:graphicData>
        </a:graphic>
      </p:graphicFrame>
      <p:sp>
        <p:nvSpPr>
          <p:cNvPr id="10" name="Rectangle 9">
            <a:extLst>
              <a:ext uri="{FF2B5EF4-FFF2-40B4-BE49-F238E27FC236}">
                <a16:creationId xmlns:a16="http://schemas.microsoft.com/office/drawing/2014/main" id="{2A2BBA0F-C67D-FA2A-DCF2-947665FD7FC8}"/>
              </a:ext>
            </a:extLst>
          </p:cNvPr>
          <p:cNvSpPr/>
          <p:nvPr/>
        </p:nvSpPr>
        <p:spPr>
          <a:xfrm>
            <a:off x="5325533" y="2964142"/>
            <a:ext cx="1439334" cy="2219034"/>
          </a:xfrm>
          <a:prstGeom prst="rect">
            <a:avLst/>
          </a:prstGeom>
          <a:noFill/>
          <a:ln w="57150">
            <a:solidFill>
              <a:srgbClr val="FF0000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80317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9F0677-4EA3-DEAC-C266-5312797D7F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BD20A82-063A-8BB3-AA1C-1305B808D64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57199" y="1300900"/>
                <a:ext cx="11189855" cy="5081046"/>
              </a:xfrm>
            </p:spPr>
            <p:txBody>
              <a:bodyPr>
                <a:normAutofit/>
              </a:bodyPr>
              <a:lstStyle/>
              <a:p>
                <a:pPr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400" dirty="0"/>
                  <a:t>Suppose we would like to determine the probability distribution of the total number of flight cancellations at Chicago’s two major airports over a month.</a:t>
                </a:r>
              </a:p>
              <a:p>
                <a:pPr lvl="3"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800" dirty="0">
                  <a:solidFill>
                    <a:schemeClr val="tx1"/>
                  </a:solidFill>
                </a:endParaRPr>
              </a:p>
              <a:p>
                <a:pPr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400" dirty="0"/>
                  <a:t>We define a new random variable </a:t>
                </a:r>
                <a:r>
                  <a:rPr lang="en-US" altLang="zh-TW" sz="2400" dirty="0">
                    <a:latin typeface="Rockwell" panose="02060603020205020403" pitchFamily="18" charset="0"/>
                  </a:rPr>
                  <a:t>Z</a:t>
                </a:r>
                <a:r>
                  <a:rPr lang="en-US" altLang="zh-TW" sz="2400" dirty="0"/>
                  <a:t> as the total number of flight cancellations by adding the values of </a:t>
                </a:r>
                <a:r>
                  <a:rPr lang="en-US" altLang="zh-TW" sz="2400" dirty="0">
                    <a:latin typeface="Rockwell" panose="02060603020205020403" pitchFamily="18" charset="0"/>
                  </a:rPr>
                  <a:t>X</a:t>
                </a:r>
                <a:r>
                  <a:rPr lang="en-US" altLang="zh-TW" sz="2400" dirty="0"/>
                  <a:t> and </a:t>
                </a:r>
                <a:r>
                  <a:rPr lang="en-US" altLang="zh-TW" sz="2400" dirty="0">
                    <a:latin typeface="Rockwell" panose="02060603020205020403" pitchFamily="18" charset="0"/>
                  </a:rPr>
                  <a:t>Y </a:t>
                </a:r>
                <a:r>
                  <a:rPr lang="en-US" altLang="zh-TW" sz="2400" dirty="0"/>
                  <a:t>:</a:t>
                </a:r>
                <a:endParaRPr lang="en-US" altLang="zh-TW" sz="500" dirty="0"/>
              </a:p>
              <a:p>
                <a:pPr marL="0" indent="0" algn="ctr">
                  <a:spcBef>
                    <a:spcPts val="1000"/>
                  </a:spcBef>
                  <a:buNone/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14:m>
                  <m:oMathPara xmlns:m="http://schemas.openxmlformats.org/officeDocument/2006/math">
                    <m:oMath>
                      <m:r>
                        <m:rPr>
                          <m:nor/>
                        </m:rPr>
                        <a:rPr lang="en-US" altLang="zh-TW" sz="2400" i="0" dirty="0">
                          <a:latin typeface="Rockwell" panose="02060603020205020403" pitchFamily="18" charset="0"/>
                        </a:rPr>
                        <m:t>Z</m:t>
                      </m:r>
                      <m:r>
                        <a:rPr lang="en-US" altLang="zh-TW" sz="24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nor/>
                        </m:rPr>
                        <a:rPr lang="en-US" altLang="zh-TW" sz="2400" b="0" i="0" dirty="0" smtClean="0">
                          <a:latin typeface="Rockwell" panose="02060603020205020403" pitchFamily="18" charset="0"/>
                        </a:rPr>
                        <m:t>X</m:t>
                      </m:r>
                      <m:r>
                        <a:rPr lang="en-US" altLang="zh-TW" sz="2400" i="1" dirty="0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nor/>
                        </m:rPr>
                        <a:rPr lang="en-US" altLang="zh-TW" sz="2400" b="0" i="0" dirty="0" smtClean="0">
                          <a:latin typeface="Rockwell" panose="02060603020205020403" pitchFamily="18" charset="0"/>
                        </a:rPr>
                        <m:t>Y</m:t>
                      </m:r>
                    </m:oMath>
                  </m:oMathPara>
                </a14:m>
                <a:endParaRPr lang="en-US" altLang="zh-TW" sz="2400" b="0" dirty="0"/>
              </a:p>
              <a:p>
                <a:pPr lvl="3"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800" dirty="0">
                  <a:solidFill>
                    <a:schemeClr val="tx1"/>
                  </a:solidFill>
                </a:endParaRPr>
              </a:p>
              <a:p>
                <a:pPr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400" dirty="0"/>
                  <a:t>The probability distribution of </a:t>
                </a:r>
                <a:r>
                  <a:rPr lang="en-US" altLang="zh-TW" sz="2400" dirty="0">
                    <a:latin typeface="Rockwell" panose="02060603020205020403" pitchFamily="18" charset="0"/>
                  </a:rPr>
                  <a:t>Z</a:t>
                </a:r>
                <a:r>
                  <a:rPr lang="en-US" altLang="zh-TW" sz="2400" dirty="0"/>
                  <a:t> depends on how </a:t>
                </a:r>
                <a:r>
                  <a:rPr lang="en-US" altLang="zh-TW" sz="2400" dirty="0">
                    <a:latin typeface="Rockwell" panose="02060603020205020403" pitchFamily="18" charset="0"/>
                  </a:rPr>
                  <a:t>X</a:t>
                </a:r>
                <a:r>
                  <a:rPr lang="en-US" altLang="zh-TW" sz="2400" dirty="0"/>
                  <a:t> and </a:t>
                </a:r>
                <a:r>
                  <a:rPr lang="en-US" altLang="zh-TW" sz="2400" dirty="0">
                    <a:latin typeface="Rockwell" panose="02060603020205020403" pitchFamily="18" charset="0"/>
                  </a:rPr>
                  <a:t>Y</a:t>
                </a:r>
                <a:r>
                  <a:rPr lang="en-US" altLang="zh-TW" sz="2400" dirty="0">
                    <a:latin typeface="Garamond" panose="02020404030301010803" pitchFamily="18" charset="0"/>
                  </a:rPr>
                  <a:t> occur jointly</a:t>
                </a:r>
                <a:r>
                  <a:rPr lang="en-US" altLang="zh-TW" sz="2400" dirty="0">
                    <a:latin typeface="Garamond"/>
                  </a:rPr>
                  <a:t>.</a:t>
                </a:r>
              </a:p>
              <a:p>
                <a:pPr lvl="1"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000" dirty="0">
                    <a:latin typeface="Garamond"/>
                  </a:rPr>
                  <a:t>For instance, when is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altLang="zh-TW" sz="2000" i="0" dirty="0">
                        <a:latin typeface="Rockwell" panose="02060603020205020403" pitchFamily="18" charset="0"/>
                      </a:rPr>
                      <m:t>Z</m:t>
                    </m:r>
                    <m:r>
                      <a:rPr lang="en-US" altLang="zh-TW" sz="2000" i="1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TW" sz="2000" i="1" dirty="0" smtClean="0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lang="en-US" altLang="zh-TW" sz="2000" dirty="0">
                    <a:latin typeface="Garamond"/>
                  </a:rPr>
                  <a:t>?</a:t>
                </a:r>
              </a:p>
              <a:p>
                <a:pPr lvl="1"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000" dirty="0">
                    <a:latin typeface="Garamond"/>
                  </a:rPr>
                  <a:t>This occurs when two flights are cancelled out of Chicago:</a:t>
                </a:r>
              </a:p>
              <a:p>
                <a:pPr lvl="2"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14:m>
                  <m:oMath xmlns:m="http://schemas.openxmlformats.org/officeDocument/2006/math">
                    <m:d>
                      <m:dPr>
                        <m:ctrlPr>
                          <a:rPr lang="en-US" altLang="zh-TW" sz="1600" i="0" dirty="0">
                            <a:latin typeface="Rockwell" panose="02060603020205020403" pitchFamily="18" charset="0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en-US" altLang="zh-TW" sz="1600" i="0" dirty="0">
                            <a:latin typeface="Rockwell" panose="02060603020205020403" pitchFamily="18" charset="0"/>
                          </a:rPr>
                          <m:t>X</m:t>
                        </m:r>
                        <m:r>
                          <a:rPr lang="en-US" altLang="zh-TW" sz="1600" i="1" dirty="0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nor/>
                          </m:rPr>
                          <a:rPr lang="en-US" altLang="zh-TW" sz="1600" b="0" i="0" dirty="0" smtClean="0">
                            <a:latin typeface="Rockwell" panose="02060603020205020403" pitchFamily="18" charset="0"/>
                          </a:rPr>
                          <m:t>Y</m:t>
                        </m:r>
                      </m:e>
                    </m:d>
                    <m:r>
                      <a:rPr lang="en-US" altLang="zh-TW" sz="1600" b="0" i="1" dirty="0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altLang="zh-TW" sz="1600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sz="1600" b="0" i="1" dirty="0" smtClean="0">
                            <a:latin typeface="Cambria Math" panose="02040503050406030204" pitchFamily="18" charset="0"/>
                          </a:rPr>
                          <m:t>2,0</m:t>
                        </m:r>
                      </m:e>
                    </m:d>
                  </m:oMath>
                </a14:m>
                <a:r>
                  <a:rPr lang="en-US" altLang="zh-TW" sz="1600" dirty="0">
                    <a:latin typeface="Garamond"/>
                  </a:rPr>
                  <a:t> : Two cancellations at ORD, and none at MDW.</a:t>
                </a:r>
              </a:p>
              <a:p>
                <a:pPr lvl="2"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14:m>
                  <m:oMath xmlns:m="http://schemas.openxmlformats.org/officeDocument/2006/math">
                    <m:d>
                      <m:dPr>
                        <m:ctrlPr>
                          <a:rPr lang="en-US" altLang="zh-TW" sz="1600" i="0" dirty="0">
                            <a:latin typeface="Rockwell" panose="02060603020205020403" pitchFamily="18" charset="0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en-US" altLang="zh-TW" sz="1600" i="0" dirty="0">
                            <a:latin typeface="Rockwell" panose="02060603020205020403" pitchFamily="18" charset="0"/>
                          </a:rPr>
                          <m:t>X</m:t>
                        </m:r>
                        <m:r>
                          <a:rPr lang="en-US" altLang="zh-TW" sz="1600" i="1" dirty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nor/>
                          </m:rPr>
                          <a:rPr lang="en-US" altLang="zh-TW" sz="1600" i="0" dirty="0">
                            <a:latin typeface="Rockwell" panose="02060603020205020403" pitchFamily="18" charset="0"/>
                          </a:rPr>
                          <m:t>Y</m:t>
                        </m:r>
                      </m:e>
                    </m:d>
                    <m:r>
                      <a:rPr lang="en-US" altLang="zh-TW" sz="1600" i="1" dirty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altLang="zh-TW" sz="1600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sz="1600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altLang="zh-TW" sz="1600" i="1" dirty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TW" sz="1600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en-US" altLang="zh-TW" sz="1600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zh-TW" sz="1600" dirty="0">
                    <a:latin typeface="Garamond"/>
                  </a:rPr>
                  <a:t>: One cancellation at each airport.</a:t>
                </a:r>
              </a:p>
              <a:p>
                <a:pPr lvl="2"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14:m>
                  <m:oMath xmlns:m="http://schemas.openxmlformats.org/officeDocument/2006/math">
                    <m:d>
                      <m:dPr>
                        <m:ctrlPr>
                          <a:rPr lang="en-US" altLang="zh-TW" sz="1600" i="0" dirty="0">
                            <a:latin typeface="Rockwell" panose="02060603020205020403" pitchFamily="18" charset="0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en-US" altLang="zh-TW" sz="1600" i="0" dirty="0">
                            <a:latin typeface="Rockwell" panose="02060603020205020403" pitchFamily="18" charset="0"/>
                          </a:rPr>
                          <m:t>X</m:t>
                        </m:r>
                        <m:r>
                          <a:rPr lang="en-US" altLang="zh-TW" sz="1600" i="1" dirty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nor/>
                          </m:rPr>
                          <a:rPr lang="en-US" altLang="zh-TW" sz="1600" i="0" dirty="0">
                            <a:latin typeface="Rockwell" panose="02060603020205020403" pitchFamily="18" charset="0"/>
                          </a:rPr>
                          <m:t>Y</m:t>
                        </m:r>
                      </m:e>
                    </m:d>
                    <m:r>
                      <a:rPr lang="en-US" altLang="zh-TW" sz="1600" i="1" dirty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altLang="zh-TW" sz="1600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sz="1600" b="0" i="1" dirty="0" smtClean="0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n-US" altLang="zh-TW" sz="1600" i="1" dirty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TW" sz="16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  <m:r>
                      <a:rPr lang="en-US" altLang="zh-TW" sz="1600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zh-TW" sz="1600" dirty="0">
                    <a:latin typeface="Garamond"/>
                  </a:rPr>
                  <a:t>:  None at ORD, and two at MDW.</a:t>
                </a:r>
                <a:endParaRPr lang="en-US" altLang="zh-TW" sz="1600" dirty="0"/>
              </a:p>
              <a:p>
                <a:pPr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BD20A82-063A-8BB3-AA1C-1305B808D64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199" y="1300900"/>
                <a:ext cx="11189855" cy="5081046"/>
              </a:xfrm>
              <a:blipFill>
                <a:blip r:embed="rId2"/>
                <a:stretch>
                  <a:fillRect l="-708" t="-959" b="-24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3A292D90-B7B9-01DE-56F1-7328C113C53F}"/>
              </a:ext>
            </a:extLst>
          </p:cNvPr>
          <p:cNvSpPr/>
          <p:nvPr/>
        </p:nvSpPr>
        <p:spPr>
          <a:xfrm>
            <a:off x="0" y="0"/>
            <a:ext cx="12188825" cy="923636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B6713E-4401-C1FB-A77D-C2D8BB7767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88825" cy="923636"/>
          </a:xfrm>
        </p:spPr>
        <p:txBody>
          <a:bodyPr>
            <a:normAutofit/>
          </a:bodyPr>
          <a:lstStyle/>
          <a:p>
            <a:pPr algn="l">
              <a:defRPr sz="4000" b="1">
                <a:solidFill>
                  <a:srgbClr val="FDB913"/>
                </a:solidFill>
                <a:latin typeface="Garamond"/>
              </a:defRPr>
            </a:pPr>
            <a:r>
              <a:rPr lang="en-US" sz="4000" dirty="0">
                <a:solidFill>
                  <a:schemeClr val="bg1"/>
                </a:solidFill>
              </a:rPr>
              <a:t>  Bivariate Probability Distribution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E51CF9A-D85F-1EA8-966A-679B6D259E29}"/>
              </a:ext>
            </a:extLst>
          </p:cNvPr>
          <p:cNvSpPr/>
          <p:nvPr/>
        </p:nvSpPr>
        <p:spPr>
          <a:xfrm>
            <a:off x="-1" y="6503428"/>
            <a:ext cx="12188825" cy="354572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97BDE9A-D25F-4DF4-8315-485F36A228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1" y="6503428"/>
            <a:ext cx="2895600" cy="354572"/>
          </a:xfrm>
        </p:spPr>
        <p:txBody>
          <a:bodyPr/>
          <a:lstStyle/>
          <a:p>
            <a:pPr algn="l"/>
            <a:r>
              <a:rPr lang="en-US">
                <a:solidFill>
                  <a:schemeClr val="bg1"/>
                </a:solidFill>
                <a:latin typeface="Garamond" panose="02020404030301010803" pitchFamily="18" charset="0"/>
              </a:rPr>
              <a:t>BUSN 320 Business Statistics</a:t>
            </a:r>
            <a:endParaRPr lang="en-US" dirty="0">
              <a:solidFill>
                <a:schemeClr val="bg1"/>
              </a:solidFill>
              <a:latin typeface="Garamond" panose="02020404030301010803" pitchFamily="18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F5B40D-F0F1-103F-086E-7B8C9A9011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55225" y="6503428"/>
            <a:ext cx="2133600" cy="354572"/>
          </a:xfrm>
        </p:spPr>
        <p:txBody>
          <a:bodyPr/>
          <a:lstStyle/>
          <a:p>
            <a:fld id="{C1FF6DA9-008F-8B48-92A6-B652298478BF}" type="slidenum">
              <a:rPr lang="en-US" b="1" smtClean="0">
                <a:solidFill>
                  <a:schemeClr val="bg1"/>
                </a:solidFill>
                <a:latin typeface="Garamond" panose="02020404030301010803" pitchFamily="18" charset="0"/>
              </a:rPr>
              <a:t>26</a:t>
            </a:fld>
            <a:r>
              <a:rPr lang="en-US" b="1" dirty="0">
                <a:solidFill>
                  <a:schemeClr val="bg1"/>
                </a:solidFill>
                <a:latin typeface="Garamond" panose="02020404030301010803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5906623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E42AF9-A1E6-AEA4-B0B6-F169E378BE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41CEA5-352C-C500-CF5E-E309FE1810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199" y="1300900"/>
            <a:ext cx="11189855" cy="5081046"/>
          </a:xfrm>
        </p:spPr>
        <p:txBody>
          <a:bodyPr>
            <a:normAutofit/>
          </a:bodyPr>
          <a:lstStyle/>
          <a:p>
            <a:pPr>
              <a:spcBef>
                <a:spcPts val="1000"/>
              </a:spcBef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Each probability in the distribution of </a:t>
            </a:r>
            <a:r>
              <a:rPr lang="en-US" altLang="zh-TW" sz="2400" dirty="0">
                <a:latin typeface="Rockwell" panose="02060603020205020403" pitchFamily="18" charset="0"/>
              </a:rPr>
              <a:t>Z</a:t>
            </a:r>
            <a:r>
              <a:rPr lang="en-US" altLang="zh-TW" sz="2400" dirty="0"/>
              <a:t> is obtained by adding the appropriate cells from the joint probability table.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7D8D7ED-214D-FC60-9D58-F4AA4B43CB55}"/>
              </a:ext>
            </a:extLst>
          </p:cNvPr>
          <p:cNvSpPr/>
          <p:nvPr/>
        </p:nvSpPr>
        <p:spPr>
          <a:xfrm>
            <a:off x="0" y="0"/>
            <a:ext cx="12188825" cy="923636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223C6A3-A10A-5391-943B-9A6B973428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88825" cy="923636"/>
          </a:xfrm>
        </p:spPr>
        <p:txBody>
          <a:bodyPr>
            <a:normAutofit/>
          </a:bodyPr>
          <a:lstStyle/>
          <a:p>
            <a:pPr algn="l">
              <a:defRPr sz="4000" b="1">
                <a:solidFill>
                  <a:srgbClr val="FDB913"/>
                </a:solidFill>
                <a:latin typeface="Garamond"/>
              </a:defRPr>
            </a:pPr>
            <a:r>
              <a:rPr lang="en-US" sz="4000" dirty="0">
                <a:solidFill>
                  <a:schemeClr val="bg1"/>
                </a:solidFill>
              </a:rPr>
              <a:t>  Bivariate Probability Distribution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FDA70AF-57DE-0909-5AB4-4C994878AFC2}"/>
              </a:ext>
            </a:extLst>
          </p:cNvPr>
          <p:cNvSpPr/>
          <p:nvPr/>
        </p:nvSpPr>
        <p:spPr>
          <a:xfrm>
            <a:off x="-1" y="6503428"/>
            <a:ext cx="12188825" cy="354572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EB5B8F-DBAC-3FBA-52E9-FF648F5019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1" y="6503428"/>
            <a:ext cx="2895600" cy="354572"/>
          </a:xfrm>
        </p:spPr>
        <p:txBody>
          <a:bodyPr/>
          <a:lstStyle/>
          <a:p>
            <a:pPr algn="l"/>
            <a:r>
              <a:rPr lang="en-US">
                <a:solidFill>
                  <a:schemeClr val="bg1"/>
                </a:solidFill>
                <a:latin typeface="Garamond" panose="02020404030301010803" pitchFamily="18" charset="0"/>
              </a:rPr>
              <a:t>BUSN 320 Business Statistics</a:t>
            </a:r>
            <a:endParaRPr lang="en-US" dirty="0">
              <a:solidFill>
                <a:schemeClr val="bg1"/>
              </a:solidFill>
              <a:latin typeface="Garamond" panose="02020404030301010803" pitchFamily="18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B05889-A39D-5B03-2334-21DED39FF8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55225" y="6503428"/>
            <a:ext cx="2133600" cy="354572"/>
          </a:xfrm>
        </p:spPr>
        <p:txBody>
          <a:bodyPr/>
          <a:lstStyle/>
          <a:p>
            <a:fld id="{C1FF6DA9-008F-8B48-92A6-B652298478BF}" type="slidenum">
              <a:rPr lang="en-US" b="1" smtClean="0">
                <a:solidFill>
                  <a:schemeClr val="bg1"/>
                </a:solidFill>
                <a:latin typeface="Garamond" panose="02020404030301010803" pitchFamily="18" charset="0"/>
              </a:rPr>
              <a:t>27</a:t>
            </a:fld>
            <a:r>
              <a:rPr lang="en-US" b="1" dirty="0">
                <a:solidFill>
                  <a:schemeClr val="bg1"/>
                </a:solidFill>
                <a:latin typeface="Garamond" panose="02020404030301010803" pitchFamily="18" charset="0"/>
              </a:rPr>
              <a:t> 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3D0749F1-CB1D-A75C-E819-136B8C6AE5B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78161378"/>
              </p:ext>
            </p:extLst>
          </p:nvPr>
        </p:nvGraphicFramePr>
        <p:xfrm>
          <a:off x="860526" y="2216455"/>
          <a:ext cx="5159273" cy="40774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7039">
                  <a:extLst>
                    <a:ext uri="{9D8B030D-6E8A-4147-A177-3AD203B41FA5}">
                      <a16:colId xmlns:a16="http://schemas.microsoft.com/office/drawing/2014/main" val="3269318500"/>
                    </a:ext>
                  </a:extLst>
                </a:gridCol>
                <a:gridCol w="737039">
                  <a:extLst>
                    <a:ext uri="{9D8B030D-6E8A-4147-A177-3AD203B41FA5}">
                      <a16:colId xmlns:a16="http://schemas.microsoft.com/office/drawing/2014/main" val="1084937839"/>
                    </a:ext>
                  </a:extLst>
                </a:gridCol>
                <a:gridCol w="737039">
                  <a:extLst>
                    <a:ext uri="{9D8B030D-6E8A-4147-A177-3AD203B41FA5}">
                      <a16:colId xmlns:a16="http://schemas.microsoft.com/office/drawing/2014/main" val="4200844973"/>
                    </a:ext>
                  </a:extLst>
                </a:gridCol>
                <a:gridCol w="737039">
                  <a:extLst>
                    <a:ext uri="{9D8B030D-6E8A-4147-A177-3AD203B41FA5}">
                      <a16:colId xmlns:a16="http://schemas.microsoft.com/office/drawing/2014/main" val="3844035428"/>
                    </a:ext>
                  </a:extLst>
                </a:gridCol>
                <a:gridCol w="737039">
                  <a:extLst>
                    <a:ext uri="{9D8B030D-6E8A-4147-A177-3AD203B41FA5}">
                      <a16:colId xmlns:a16="http://schemas.microsoft.com/office/drawing/2014/main" val="2990019285"/>
                    </a:ext>
                  </a:extLst>
                </a:gridCol>
                <a:gridCol w="737039">
                  <a:extLst>
                    <a:ext uri="{9D8B030D-6E8A-4147-A177-3AD203B41FA5}">
                      <a16:colId xmlns:a16="http://schemas.microsoft.com/office/drawing/2014/main" val="3019196937"/>
                    </a:ext>
                  </a:extLst>
                </a:gridCol>
                <a:gridCol w="737039">
                  <a:extLst>
                    <a:ext uri="{9D8B030D-6E8A-4147-A177-3AD203B41FA5}">
                      <a16:colId xmlns:a16="http://schemas.microsoft.com/office/drawing/2014/main" val="2620365878"/>
                    </a:ext>
                  </a:extLst>
                </a:gridCol>
              </a:tblGrid>
              <a:tr h="509679"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latin typeface="Garamond" panose="02020404030301010803" pitchFamily="18" charset="0"/>
                      </a:endParaRPr>
                    </a:p>
                  </a:txBody>
                  <a:tcPr anchor="ctr"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7122C"/>
                    </a:solidFill>
                  </a:tcPr>
                </a:tc>
                <a:tc gridSpan="6"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0" dirty="0">
                          <a:latin typeface="Rockwell" panose="02060603020205020403" pitchFamily="18" charset="0"/>
                        </a:rPr>
                        <a:t>Y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7122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solidFill>
                      <a:srgbClr val="77122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solidFill>
                      <a:srgbClr val="77122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solidFill>
                      <a:srgbClr val="77122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solidFill>
                      <a:srgbClr val="77122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anchor="ctr">
                    <a:solidFill>
                      <a:srgbClr val="77122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83352933"/>
                  </a:ext>
                </a:extLst>
              </a:tr>
              <a:tr h="509679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  <a:latin typeface="Rockwell" panose="02060603020205020403" pitchFamily="18" charset="0"/>
                        </a:rPr>
                        <a:t>X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77122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0" dirty="0">
                          <a:solidFill>
                            <a:schemeClr val="bg1"/>
                          </a:solidFill>
                          <a:latin typeface="Garamond" panose="02020404030301010803" pitchFamily="18" charset="0"/>
                        </a:rPr>
                        <a:t>0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77122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0" dirty="0">
                          <a:solidFill>
                            <a:schemeClr val="bg1"/>
                          </a:solidFill>
                          <a:latin typeface="Garamond" panose="02020404030301010803" pitchFamily="18" charset="0"/>
                        </a:rPr>
                        <a:t>1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77122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0" dirty="0">
                          <a:solidFill>
                            <a:schemeClr val="bg1"/>
                          </a:solidFill>
                          <a:latin typeface="Garamond" panose="02020404030301010803" pitchFamily="18" charset="0"/>
                        </a:rPr>
                        <a:t>2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77122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0" dirty="0">
                          <a:solidFill>
                            <a:schemeClr val="bg1"/>
                          </a:solidFill>
                          <a:latin typeface="Garamond" panose="02020404030301010803" pitchFamily="18" charset="0"/>
                        </a:rPr>
                        <a:t>3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77122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0" dirty="0">
                          <a:solidFill>
                            <a:schemeClr val="bg1"/>
                          </a:solidFill>
                          <a:latin typeface="Garamond" panose="02020404030301010803" pitchFamily="18" charset="0"/>
                        </a:rPr>
                        <a:t>4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77122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0" dirty="0">
                          <a:solidFill>
                            <a:schemeClr val="bg1"/>
                          </a:solidFill>
                          <a:latin typeface="Garamond" panose="02020404030301010803" pitchFamily="18" charset="0"/>
                        </a:rPr>
                        <a:t>Total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77122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68769736"/>
                  </a:ext>
                </a:extLst>
              </a:tr>
              <a:tr h="509679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  <a:latin typeface="Garamond" panose="02020404030301010803" pitchFamily="18" charset="0"/>
                        </a:rPr>
                        <a:t>0</a:t>
                      </a:r>
                    </a:p>
                  </a:txBody>
                  <a:tcPr anchor="ctr">
                    <a:solidFill>
                      <a:srgbClr val="77122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Garamond" panose="02020404030301010803" pitchFamily="18" charset="0"/>
                        </a:rPr>
                        <a:t>4/30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latin typeface="Garamond" panose="02020404030301010803" pitchFamily="18" charset="0"/>
                        </a:rPr>
                        <a:t>2/30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latin typeface="Garamond" panose="02020404030301010803" pitchFamily="18" charset="0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latin typeface="Garamond" panose="02020404030301010803" pitchFamily="18" charset="0"/>
                        </a:rPr>
                        <a:t>1/30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latin typeface="Garamond" panose="02020404030301010803" pitchFamily="18" charset="0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latin typeface="Garamond" panose="02020404030301010803" pitchFamily="18" charset="0"/>
                        </a:rPr>
                        <a:t>7/30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64346893"/>
                  </a:ext>
                </a:extLst>
              </a:tr>
              <a:tr h="509679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  <a:latin typeface="Garamond" panose="02020404030301010803" pitchFamily="18" charset="0"/>
                        </a:rPr>
                        <a:t>1</a:t>
                      </a:r>
                    </a:p>
                  </a:txBody>
                  <a:tcPr anchor="ctr">
                    <a:solidFill>
                      <a:srgbClr val="77122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Garamond" panose="02020404030301010803" pitchFamily="18" charset="0"/>
                        </a:rPr>
                        <a:t>2/30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latin typeface="Garamond" panose="02020404030301010803" pitchFamily="18" charset="0"/>
                        </a:rPr>
                        <a:t>4/30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latin typeface="Garamond" panose="02020404030301010803" pitchFamily="18" charset="0"/>
                        </a:rPr>
                        <a:t>2/30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latin typeface="Garamond" panose="02020404030301010803" pitchFamily="18" charset="0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latin typeface="Garamond" panose="02020404030301010803" pitchFamily="18" charset="0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latin typeface="Garamond" panose="02020404030301010803" pitchFamily="18" charset="0"/>
                        </a:rPr>
                        <a:t>8/30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73683461"/>
                  </a:ext>
                </a:extLst>
              </a:tr>
              <a:tr h="509679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  <a:latin typeface="Garamond" panose="02020404030301010803" pitchFamily="18" charset="0"/>
                        </a:rPr>
                        <a:t>2</a:t>
                      </a:r>
                    </a:p>
                  </a:txBody>
                  <a:tcPr anchor="ctr">
                    <a:solidFill>
                      <a:srgbClr val="77122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Garamond" panose="02020404030301010803" pitchFamily="18" charset="0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Garamond" panose="02020404030301010803" pitchFamily="18" charset="0"/>
                        </a:rPr>
                        <a:t>2/30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Garamond" panose="02020404030301010803" pitchFamily="18" charset="0"/>
                        </a:rPr>
                        <a:t>2/30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Garamond" panose="02020404030301010803" pitchFamily="18" charset="0"/>
                        </a:rPr>
                        <a:t>3/30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Garamond" panose="02020404030301010803" pitchFamily="18" charset="0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Garamond" panose="02020404030301010803" pitchFamily="18" charset="0"/>
                        </a:rPr>
                        <a:t>7/30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84123864"/>
                  </a:ext>
                </a:extLst>
              </a:tr>
              <a:tr h="509679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  <a:latin typeface="Garamond" panose="02020404030301010803" pitchFamily="18" charset="0"/>
                        </a:rPr>
                        <a:t>3</a:t>
                      </a:r>
                    </a:p>
                  </a:txBody>
                  <a:tcPr anchor="ctr">
                    <a:solidFill>
                      <a:srgbClr val="77122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Garamond" panose="02020404030301010803" pitchFamily="18" charset="0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Garamond" panose="02020404030301010803" pitchFamily="18" charset="0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Garamond" panose="02020404030301010803" pitchFamily="18" charset="0"/>
                        </a:rPr>
                        <a:t>2/30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Garamond" panose="02020404030301010803" pitchFamily="18" charset="0"/>
                        </a:rPr>
                        <a:t>1/30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Garamond" panose="02020404030301010803" pitchFamily="18" charset="0"/>
                        </a:rPr>
                        <a:t>2/30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Garamond" panose="02020404030301010803" pitchFamily="18" charset="0"/>
                        </a:rPr>
                        <a:t>5/30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95618238"/>
                  </a:ext>
                </a:extLst>
              </a:tr>
              <a:tr h="509679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  <a:latin typeface="Garamond" panose="02020404030301010803" pitchFamily="18" charset="0"/>
                        </a:rPr>
                        <a:t>4</a:t>
                      </a:r>
                    </a:p>
                  </a:txBody>
                  <a:tcPr anchor="ctr">
                    <a:solidFill>
                      <a:srgbClr val="77122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Garamond" panose="02020404030301010803" pitchFamily="18" charset="0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Garamond" panose="02020404030301010803" pitchFamily="18" charset="0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Garamond" panose="02020404030301010803" pitchFamily="18" charset="0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Garamond" panose="02020404030301010803" pitchFamily="18" charset="0"/>
                        </a:rPr>
                        <a:t>1/30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Garamond" panose="02020404030301010803" pitchFamily="18" charset="0"/>
                        </a:rPr>
                        <a:t>2/30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Garamond" panose="02020404030301010803" pitchFamily="18" charset="0"/>
                        </a:rPr>
                        <a:t>3/30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25840319"/>
                  </a:ext>
                </a:extLst>
              </a:tr>
              <a:tr h="509679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  <a:latin typeface="Garamond" panose="02020404030301010803" pitchFamily="18" charset="0"/>
                        </a:rPr>
                        <a:t>Total</a:t>
                      </a:r>
                    </a:p>
                  </a:txBody>
                  <a:tcPr anchor="ctr">
                    <a:solidFill>
                      <a:srgbClr val="77122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latin typeface="Garamond" panose="02020404030301010803" pitchFamily="18" charset="0"/>
                        </a:rPr>
                        <a:t>6/30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Garamond" panose="02020404030301010803" pitchFamily="18" charset="0"/>
                        </a:rPr>
                        <a:t>8/30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Garamond" panose="02020404030301010803" pitchFamily="18" charset="0"/>
                        </a:rPr>
                        <a:t>6/30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rPr>
                        <a:t>6</a:t>
                      </a:r>
                      <a:r>
                        <a:rPr lang="en-US" dirty="0">
                          <a:latin typeface="Garamond" panose="02020404030301010803" pitchFamily="18" charset="0"/>
                        </a:rPr>
                        <a:t>/30</a:t>
                      </a:r>
                      <a:endParaRPr lang="en-US" dirty="0">
                        <a:solidFill>
                          <a:schemeClr val="tx1"/>
                        </a:solidFill>
                        <a:latin typeface="Garamond" panose="02020404030301010803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rPr>
                        <a:t>4</a:t>
                      </a:r>
                      <a:r>
                        <a:rPr lang="en-US" dirty="0">
                          <a:latin typeface="Garamond" panose="02020404030301010803" pitchFamily="18" charset="0"/>
                        </a:rPr>
                        <a:t>/30</a:t>
                      </a:r>
                      <a:endParaRPr lang="en-US" dirty="0">
                        <a:solidFill>
                          <a:schemeClr val="tx1"/>
                        </a:solidFill>
                        <a:latin typeface="Garamond" panose="02020404030301010803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rPr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50620581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9" name="Table 8">
                <a:extLst>
                  <a:ext uri="{FF2B5EF4-FFF2-40B4-BE49-F238E27FC236}">
                    <a16:creationId xmlns:a16="http://schemas.microsoft.com/office/drawing/2014/main" id="{0774D952-1AA0-FBC7-6708-F8380BC4ACB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582410811"/>
                  </p:ext>
                </p:extLst>
              </p:nvPr>
            </p:nvGraphicFramePr>
            <p:xfrm>
              <a:off x="6094411" y="2214645"/>
              <a:ext cx="5159273" cy="40792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37039">
                      <a:extLst>
                        <a:ext uri="{9D8B030D-6E8A-4147-A177-3AD203B41FA5}">
                          <a16:colId xmlns:a16="http://schemas.microsoft.com/office/drawing/2014/main" val="3269318500"/>
                        </a:ext>
                      </a:extLst>
                    </a:gridCol>
                    <a:gridCol w="737039">
                      <a:extLst>
                        <a:ext uri="{9D8B030D-6E8A-4147-A177-3AD203B41FA5}">
                          <a16:colId xmlns:a16="http://schemas.microsoft.com/office/drawing/2014/main" val="1084937839"/>
                        </a:ext>
                      </a:extLst>
                    </a:gridCol>
                    <a:gridCol w="737039">
                      <a:extLst>
                        <a:ext uri="{9D8B030D-6E8A-4147-A177-3AD203B41FA5}">
                          <a16:colId xmlns:a16="http://schemas.microsoft.com/office/drawing/2014/main" val="4200844973"/>
                        </a:ext>
                      </a:extLst>
                    </a:gridCol>
                    <a:gridCol w="737039">
                      <a:extLst>
                        <a:ext uri="{9D8B030D-6E8A-4147-A177-3AD203B41FA5}">
                          <a16:colId xmlns:a16="http://schemas.microsoft.com/office/drawing/2014/main" val="3844035428"/>
                        </a:ext>
                      </a:extLst>
                    </a:gridCol>
                    <a:gridCol w="737039">
                      <a:extLst>
                        <a:ext uri="{9D8B030D-6E8A-4147-A177-3AD203B41FA5}">
                          <a16:colId xmlns:a16="http://schemas.microsoft.com/office/drawing/2014/main" val="2990019285"/>
                        </a:ext>
                      </a:extLst>
                    </a:gridCol>
                    <a:gridCol w="737039">
                      <a:extLst>
                        <a:ext uri="{9D8B030D-6E8A-4147-A177-3AD203B41FA5}">
                          <a16:colId xmlns:a16="http://schemas.microsoft.com/office/drawing/2014/main" val="3019196937"/>
                        </a:ext>
                      </a:extLst>
                    </a:gridCol>
                    <a:gridCol w="737039">
                      <a:extLst>
                        <a:ext uri="{9D8B030D-6E8A-4147-A177-3AD203B41FA5}">
                          <a16:colId xmlns:a16="http://schemas.microsoft.com/office/drawing/2014/main" val="2620365878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0" dirty="0">
                              <a:solidFill>
                                <a:schemeClr val="bg1"/>
                              </a:solidFill>
                              <a:latin typeface="Rockwell" panose="02060603020205020403" pitchFamily="18" charset="0"/>
                            </a:rPr>
                            <a:t>Z</a:t>
                          </a:r>
                        </a:p>
                      </a:txBody>
                      <a:tcPr anchor="ctr"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77122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en-US" b="0" i="1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  <m:r>
                                  <a:rPr lang="en-US" b="0" i="1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1800" b="0" i="0" dirty="0" smtClean="0">
                                    <a:latin typeface="Rockwell" panose="02060603020205020403" pitchFamily="18" charset="0"/>
                                  </a:rPr>
                                  <m:t>z</m:t>
                                </m:r>
                                <m:r>
                                  <a:rPr lang="en-US" b="0" i="1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 anchor="ctr"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77122C"/>
                        </a:solidFill>
                      </a:tcPr>
                    </a:tc>
                    <a:tc gridSpan="5"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b="0" dirty="0">
                              <a:solidFill>
                                <a:schemeClr val="bg1"/>
                              </a:solidFill>
                              <a:latin typeface="Garamond" panose="02020404030301010803" pitchFamily="18" charset="0"/>
                            </a:rPr>
                            <a:t>Possible 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TW" sz="1800" b="0" i="0" dirty="0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m:rPr>
                                  <m:nor/>
                                </m:rPr>
                                <a:rPr lang="en-US" altLang="zh-TW" sz="1800" b="0" i="0" dirty="0" smtClean="0">
                                  <a:latin typeface="Rockwell" panose="02060603020205020403" pitchFamily="18" charset="0"/>
                                </a:rPr>
                                <m:t>X</m:t>
                              </m:r>
                              <m:r>
                                <a:rPr lang="en-US" altLang="zh-TW" sz="1800" i="1" dirty="0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m:rPr>
                                  <m:nor/>
                                </m:rPr>
                                <a:rPr lang="en-US" altLang="zh-TW" sz="1800" b="0" i="0" dirty="0" smtClean="0">
                                  <a:latin typeface="Rockwell" panose="02060603020205020403" pitchFamily="18" charset="0"/>
                                </a:rPr>
                                <m:t>Y)</m:t>
                              </m:r>
                            </m:oMath>
                          </a14:m>
                          <a:r>
                            <a:rPr lang="en-US" b="0" dirty="0">
                              <a:solidFill>
                                <a:schemeClr val="bg1"/>
                              </a:solidFill>
                              <a:latin typeface="Garamond" panose="02020404030301010803" pitchFamily="18" charset="0"/>
                            </a:rPr>
                            <a:t> values</a:t>
                          </a:r>
                        </a:p>
                      </a:txBody>
                      <a:tcPr anchor="ctr"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77122C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b="0" dirty="0">
                            <a:solidFill>
                              <a:schemeClr val="bg1"/>
                            </a:solidFill>
                            <a:latin typeface="Garamond" panose="02020404030301010803" pitchFamily="18" charset="0"/>
                          </a:endParaRPr>
                        </a:p>
                      </a:txBody>
                      <a:tcPr anchor="ctr"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solidFill>
                          <a:srgbClr val="77122C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b="0" dirty="0">
                            <a:solidFill>
                              <a:schemeClr val="bg1"/>
                            </a:solidFill>
                            <a:latin typeface="Garamond" panose="02020404030301010803" pitchFamily="18" charset="0"/>
                          </a:endParaRPr>
                        </a:p>
                      </a:txBody>
                      <a:tcPr anchor="ctr"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solidFill>
                          <a:srgbClr val="77122C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b="0" dirty="0">
                            <a:solidFill>
                              <a:schemeClr val="bg1"/>
                            </a:solidFill>
                            <a:latin typeface="Garamond" panose="02020404030301010803" pitchFamily="18" charset="0"/>
                          </a:endParaRPr>
                        </a:p>
                      </a:txBody>
                      <a:tcPr anchor="ctr"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solidFill>
                          <a:srgbClr val="77122C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b="0" dirty="0">
                            <a:solidFill>
                              <a:schemeClr val="bg1"/>
                            </a:solidFill>
                            <a:latin typeface="Garamond" panose="02020404030301010803" pitchFamily="18" charset="0"/>
                          </a:endParaRPr>
                        </a:p>
                      </a:txBody>
                      <a:tcPr anchor="ctr"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solidFill>
                          <a:srgbClr val="77122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6876973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bg1"/>
                              </a:solidFill>
                              <a:latin typeface="Garamond" panose="02020404030301010803" pitchFamily="18" charset="0"/>
                            </a:rPr>
                            <a:t>0</a:t>
                          </a:r>
                        </a:p>
                      </a:txBody>
                      <a:tcPr anchor="ctr"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solidFill>
                          <a:srgbClr val="77122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>
                            <a:latin typeface="Garamond" panose="02020404030301010803" pitchFamily="18" charset="0"/>
                          </a:endParaRPr>
                        </a:p>
                      </a:txBody>
                      <a:tcPr anchor="ctr"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>
                              <a:latin typeface="Garamond" panose="02020404030301010803" pitchFamily="18" charset="0"/>
                            </a:rPr>
                            <a:t>(0,0)</a:t>
                          </a:r>
                        </a:p>
                      </a:txBody>
                      <a:tcPr anchor="ctr"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dirty="0">
                            <a:latin typeface="Garamond" panose="02020404030301010803" pitchFamily="18" charset="0"/>
                          </a:endParaRPr>
                        </a:p>
                      </a:txBody>
                      <a:tcPr anchor="ctr"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dirty="0">
                            <a:latin typeface="Garamond" panose="02020404030301010803" pitchFamily="18" charset="0"/>
                          </a:endParaRPr>
                        </a:p>
                      </a:txBody>
                      <a:tcPr anchor="ctr"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dirty="0">
                            <a:latin typeface="Garamond" panose="02020404030301010803" pitchFamily="18" charset="0"/>
                          </a:endParaRPr>
                        </a:p>
                      </a:txBody>
                      <a:tcPr anchor="ctr"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dirty="0">
                            <a:latin typeface="Garamond" panose="02020404030301010803" pitchFamily="18" charset="0"/>
                          </a:endParaRPr>
                        </a:p>
                      </a:txBody>
                      <a:tcPr anchor="ctr"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extLst>
                      <a:ext uri="{0D108BD9-81ED-4DB2-BD59-A6C34878D82A}">
                        <a16:rowId xmlns:a16="http://schemas.microsoft.com/office/drawing/2014/main" val="386434689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bg1"/>
                              </a:solidFill>
                              <a:latin typeface="Garamond" panose="02020404030301010803" pitchFamily="18" charset="0"/>
                            </a:rPr>
                            <a:t>1</a:t>
                          </a:r>
                        </a:p>
                      </a:txBody>
                      <a:tcPr anchor="ctr">
                        <a:solidFill>
                          <a:srgbClr val="77122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>
                            <a:latin typeface="Garamond" panose="02020404030301010803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>
                              <a:latin typeface="Garamond" panose="02020404030301010803" pitchFamily="18" charset="0"/>
                            </a:rPr>
                            <a:t>(1,0)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>
                              <a:latin typeface="Garamond" panose="02020404030301010803" pitchFamily="18" charset="0"/>
                            </a:rPr>
                            <a:t>(0,1)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dirty="0">
                            <a:latin typeface="Garamond" panose="02020404030301010803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dirty="0">
                            <a:latin typeface="Garamond" panose="02020404030301010803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dirty="0">
                            <a:latin typeface="Garamond" panose="02020404030301010803" pitchFamily="18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7368346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bg1"/>
                              </a:solidFill>
                              <a:latin typeface="Garamond" panose="02020404030301010803" pitchFamily="18" charset="0"/>
                            </a:rPr>
                            <a:t>2</a:t>
                          </a:r>
                        </a:p>
                      </a:txBody>
                      <a:tcPr anchor="ctr">
                        <a:solidFill>
                          <a:srgbClr val="77122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>
                            <a:latin typeface="Garamond" panose="02020404030301010803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Garamond" panose="02020404030301010803" pitchFamily="18" charset="0"/>
                            </a:rPr>
                            <a:t>(2,0)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Garamond" panose="02020404030301010803" pitchFamily="18" charset="0"/>
                            </a:rPr>
                            <a:t>(1,1)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Garamond" panose="02020404030301010803" pitchFamily="18" charset="0"/>
                            </a:rPr>
                            <a:t>(0,2)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>
                            <a:latin typeface="Garamond" panose="02020404030301010803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>
                            <a:latin typeface="Garamond" panose="02020404030301010803" pitchFamily="18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28412386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bg1"/>
                              </a:solidFill>
                              <a:latin typeface="Garamond" panose="02020404030301010803" pitchFamily="18" charset="0"/>
                            </a:rPr>
                            <a:t>3</a:t>
                          </a:r>
                        </a:p>
                      </a:txBody>
                      <a:tcPr anchor="ctr">
                        <a:solidFill>
                          <a:srgbClr val="77122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>
                            <a:latin typeface="Garamond" panose="02020404030301010803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Garamond" panose="02020404030301010803" pitchFamily="18" charset="0"/>
                            </a:rPr>
                            <a:t>(3,0)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Garamond" panose="02020404030301010803" pitchFamily="18" charset="0"/>
                            </a:rPr>
                            <a:t>(2,1)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Garamond" panose="02020404030301010803" pitchFamily="18" charset="0"/>
                            </a:rPr>
                            <a:t>(1,2)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Garamond" panose="02020404030301010803" pitchFamily="18" charset="0"/>
                            </a:rPr>
                            <a:t>(0,3)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>
                            <a:latin typeface="Garamond" panose="02020404030301010803" pitchFamily="18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49561823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bg1"/>
                              </a:solidFill>
                              <a:latin typeface="Garamond" panose="02020404030301010803" pitchFamily="18" charset="0"/>
                            </a:rPr>
                            <a:t>4</a:t>
                          </a:r>
                        </a:p>
                      </a:txBody>
                      <a:tcPr anchor="ctr">
                        <a:solidFill>
                          <a:srgbClr val="77122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>
                            <a:latin typeface="Garamond" panose="02020404030301010803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Garamond" panose="02020404030301010803" pitchFamily="18" charset="0"/>
                            </a:rPr>
                            <a:t>(4,0)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Garamond" panose="02020404030301010803" pitchFamily="18" charset="0"/>
                            </a:rPr>
                            <a:t>(3,1)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Garamond" panose="02020404030301010803" pitchFamily="18" charset="0"/>
                            </a:rPr>
                            <a:t>(2,2)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Garamond" panose="02020404030301010803" pitchFamily="18" charset="0"/>
                            </a:rPr>
                            <a:t>(1,3)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Garamond" panose="02020404030301010803" pitchFamily="18" charset="0"/>
                            </a:rPr>
                            <a:t>(0,4)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42584031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bg1"/>
                              </a:solidFill>
                              <a:latin typeface="Garamond" panose="02020404030301010803" pitchFamily="18" charset="0"/>
                            </a:rPr>
                            <a:t>5</a:t>
                          </a:r>
                        </a:p>
                      </a:txBody>
                      <a:tcPr anchor="ctr">
                        <a:solidFill>
                          <a:srgbClr val="77122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dirty="0">
                            <a:latin typeface="Garamond" panose="02020404030301010803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Garamond" panose="02020404030301010803" pitchFamily="18" charset="0"/>
                            </a:rPr>
                            <a:t>(4,1)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Garamond" panose="02020404030301010803" pitchFamily="18" charset="0"/>
                            </a:rPr>
                            <a:t>(3,2)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>
                              <a:solidFill>
                                <a:schemeClr val="tx1"/>
                              </a:solidFill>
                              <a:latin typeface="Garamond" panose="02020404030301010803" pitchFamily="18" charset="0"/>
                            </a:rPr>
                            <a:t>(2,3)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>
                              <a:solidFill>
                                <a:schemeClr val="tx1"/>
                              </a:solidFill>
                              <a:latin typeface="Garamond" panose="02020404030301010803" pitchFamily="18" charset="0"/>
                            </a:rPr>
                            <a:t>(1,4)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dirty="0">
                            <a:solidFill>
                              <a:schemeClr val="tx1"/>
                            </a:solidFill>
                            <a:latin typeface="Garamond" panose="02020404030301010803" pitchFamily="18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55062058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bg1"/>
                              </a:solidFill>
                              <a:latin typeface="Garamond" panose="02020404030301010803" pitchFamily="18" charset="0"/>
                            </a:rPr>
                            <a:t>6</a:t>
                          </a:r>
                        </a:p>
                      </a:txBody>
                      <a:tcPr anchor="ctr">
                        <a:solidFill>
                          <a:srgbClr val="77122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dirty="0">
                            <a:latin typeface="Garamond" panose="02020404030301010803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Garamond" panose="02020404030301010803" pitchFamily="18" charset="0"/>
                            </a:rPr>
                            <a:t>(4,2)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Garamond" panose="02020404030301010803" pitchFamily="18" charset="0"/>
                            </a:rPr>
                            <a:t>(3,3)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>
                              <a:solidFill>
                                <a:schemeClr val="tx1"/>
                              </a:solidFill>
                              <a:latin typeface="Garamond" panose="02020404030301010803" pitchFamily="18" charset="0"/>
                            </a:rPr>
                            <a:t>(2,4)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dirty="0">
                            <a:solidFill>
                              <a:schemeClr val="tx1"/>
                            </a:solidFill>
                            <a:latin typeface="Garamond" panose="02020404030301010803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dirty="0">
                            <a:solidFill>
                              <a:schemeClr val="tx1"/>
                            </a:solidFill>
                            <a:latin typeface="Garamond" panose="02020404030301010803" pitchFamily="18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21783816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bg1"/>
                              </a:solidFill>
                              <a:latin typeface="Garamond" panose="02020404030301010803" pitchFamily="18" charset="0"/>
                            </a:rPr>
                            <a:t>7</a:t>
                          </a:r>
                        </a:p>
                      </a:txBody>
                      <a:tcPr anchor="ctr">
                        <a:solidFill>
                          <a:srgbClr val="77122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dirty="0">
                            <a:latin typeface="Garamond" panose="02020404030301010803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Garamond" panose="02020404030301010803" pitchFamily="18" charset="0"/>
                            </a:rPr>
                            <a:t>(4,3)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Garamond" panose="02020404030301010803" pitchFamily="18" charset="0"/>
                            </a:rPr>
                            <a:t>(3,4)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dirty="0">
                            <a:solidFill>
                              <a:schemeClr val="tx1"/>
                            </a:solidFill>
                            <a:latin typeface="Garamond" panose="02020404030301010803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dirty="0">
                            <a:solidFill>
                              <a:schemeClr val="tx1"/>
                            </a:solidFill>
                            <a:latin typeface="Garamond" panose="02020404030301010803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dirty="0">
                            <a:solidFill>
                              <a:schemeClr val="tx1"/>
                            </a:solidFill>
                            <a:latin typeface="Garamond" panose="02020404030301010803" pitchFamily="18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49435658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bg1"/>
                              </a:solidFill>
                              <a:latin typeface="Garamond" panose="02020404030301010803" pitchFamily="18" charset="0"/>
                            </a:rPr>
                            <a:t>8</a:t>
                          </a:r>
                        </a:p>
                      </a:txBody>
                      <a:tcPr anchor="ctr">
                        <a:solidFill>
                          <a:srgbClr val="77122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dirty="0">
                            <a:latin typeface="Garamond" panose="02020404030301010803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Garamond" panose="02020404030301010803" pitchFamily="18" charset="0"/>
                            </a:rPr>
                            <a:t>(4,4)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>
                            <a:latin typeface="Garamond" panose="02020404030301010803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dirty="0">
                            <a:solidFill>
                              <a:schemeClr val="tx1"/>
                            </a:solidFill>
                            <a:latin typeface="Garamond" panose="02020404030301010803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dirty="0">
                            <a:solidFill>
                              <a:schemeClr val="tx1"/>
                            </a:solidFill>
                            <a:latin typeface="Garamond" panose="02020404030301010803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dirty="0">
                            <a:solidFill>
                              <a:schemeClr val="tx1"/>
                            </a:solidFill>
                            <a:latin typeface="Garamond" panose="02020404030301010803" pitchFamily="18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29502960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bg1"/>
                              </a:solidFill>
                              <a:latin typeface="Garamond" panose="02020404030301010803" pitchFamily="18" charset="0"/>
                            </a:rPr>
                            <a:t>Total</a:t>
                          </a:r>
                        </a:p>
                      </a:txBody>
                      <a:tcPr anchor="ctr">
                        <a:solidFill>
                          <a:srgbClr val="77122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dirty="0">
                            <a:latin typeface="Garamond" panose="02020404030301010803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>
                            <a:latin typeface="Garamond" panose="02020404030301010803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>
                            <a:latin typeface="Garamond" panose="02020404030301010803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dirty="0">
                            <a:solidFill>
                              <a:schemeClr val="tx1"/>
                            </a:solidFill>
                            <a:latin typeface="Garamond" panose="02020404030301010803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dirty="0">
                            <a:solidFill>
                              <a:schemeClr val="tx1"/>
                            </a:solidFill>
                            <a:latin typeface="Garamond" panose="02020404030301010803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dirty="0">
                            <a:solidFill>
                              <a:schemeClr val="tx1"/>
                            </a:solidFill>
                            <a:latin typeface="Garamond" panose="02020404030301010803" pitchFamily="18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15036094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9" name="Table 8">
                <a:extLst>
                  <a:ext uri="{FF2B5EF4-FFF2-40B4-BE49-F238E27FC236}">
                    <a16:creationId xmlns:a16="http://schemas.microsoft.com/office/drawing/2014/main" id="{0774D952-1AA0-FBC7-6708-F8380BC4ACB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582410811"/>
                  </p:ext>
                </p:extLst>
              </p:nvPr>
            </p:nvGraphicFramePr>
            <p:xfrm>
              <a:off x="6094411" y="2214645"/>
              <a:ext cx="5159273" cy="40792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37039">
                      <a:extLst>
                        <a:ext uri="{9D8B030D-6E8A-4147-A177-3AD203B41FA5}">
                          <a16:colId xmlns:a16="http://schemas.microsoft.com/office/drawing/2014/main" val="3269318500"/>
                        </a:ext>
                      </a:extLst>
                    </a:gridCol>
                    <a:gridCol w="737039">
                      <a:extLst>
                        <a:ext uri="{9D8B030D-6E8A-4147-A177-3AD203B41FA5}">
                          <a16:colId xmlns:a16="http://schemas.microsoft.com/office/drawing/2014/main" val="1084937839"/>
                        </a:ext>
                      </a:extLst>
                    </a:gridCol>
                    <a:gridCol w="737039">
                      <a:extLst>
                        <a:ext uri="{9D8B030D-6E8A-4147-A177-3AD203B41FA5}">
                          <a16:colId xmlns:a16="http://schemas.microsoft.com/office/drawing/2014/main" val="4200844973"/>
                        </a:ext>
                      </a:extLst>
                    </a:gridCol>
                    <a:gridCol w="737039">
                      <a:extLst>
                        <a:ext uri="{9D8B030D-6E8A-4147-A177-3AD203B41FA5}">
                          <a16:colId xmlns:a16="http://schemas.microsoft.com/office/drawing/2014/main" val="3844035428"/>
                        </a:ext>
                      </a:extLst>
                    </a:gridCol>
                    <a:gridCol w="737039">
                      <a:extLst>
                        <a:ext uri="{9D8B030D-6E8A-4147-A177-3AD203B41FA5}">
                          <a16:colId xmlns:a16="http://schemas.microsoft.com/office/drawing/2014/main" val="2990019285"/>
                        </a:ext>
                      </a:extLst>
                    </a:gridCol>
                    <a:gridCol w="737039">
                      <a:extLst>
                        <a:ext uri="{9D8B030D-6E8A-4147-A177-3AD203B41FA5}">
                          <a16:colId xmlns:a16="http://schemas.microsoft.com/office/drawing/2014/main" val="3019196937"/>
                        </a:ext>
                      </a:extLst>
                    </a:gridCol>
                    <a:gridCol w="737039">
                      <a:extLst>
                        <a:ext uri="{9D8B030D-6E8A-4147-A177-3AD203B41FA5}">
                          <a16:colId xmlns:a16="http://schemas.microsoft.com/office/drawing/2014/main" val="2620365878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0" dirty="0">
                              <a:solidFill>
                                <a:schemeClr val="bg1"/>
                              </a:solidFill>
                              <a:latin typeface="Rockwell" panose="02060603020205020403" pitchFamily="18" charset="0"/>
                            </a:rPr>
                            <a:t>Z</a:t>
                          </a:r>
                        </a:p>
                      </a:txBody>
                      <a:tcPr anchor="ctr"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77122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0826" t="-9836" r="-502479" b="-1022951"/>
                          </a:stretch>
                        </a:blipFill>
                      </a:tcPr>
                    </a:tc>
                    <a:tc gridSpan="5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40099" t="-9836" r="-330" b="-1022951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b="0" dirty="0">
                            <a:solidFill>
                              <a:schemeClr val="bg1"/>
                            </a:solidFill>
                            <a:latin typeface="Garamond" panose="02020404030301010803" pitchFamily="18" charset="0"/>
                          </a:endParaRPr>
                        </a:p>
                      </a:txBody>
                      <a:tcPr anchor="ctr"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solidFill>
                          <a:srgbClr val="77122C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b="0" dirty="0">
                            <a:solidFill>
                              <a:schemeClr val="bg1"/>
                            </a:solidFill>
                            <a:latin typeface="Garamond" panose="02020404030301010803" pitchFamily="18" charset="0"/>
                          </a:endParaRPr>
                        </a:p>
                      </a:txBody>
                      <a:tcPr anchor="ctr"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solidFill>
                          <a:srgbClr val="77122C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b="0" dirty="0">
                            <a:solidFill>
                              <a:schemeClr val="bg1"/>
                            </a:solidFill>
                            <a:latin typeface="Garamond" panose="02020404030301010803" pitchFamily="18" charset="0"/>
                          </a:endParaRPr>
                        </a:p>
                      </a:txBody>
                      <a:tcPr anchor="ctr"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solidFill>
                          <a:srgbClr val="77122C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b="0" dirty="0">
                            <a:solidFill>
                              <a:schemeClr val="bg1"/>
                            </a:solidFill>
                            <a:latin typeface="Garamond" panose="02020404030301010803" pitchFamily="18" charset="0"/>
                          </a:endParaRPr>
                        </a:p>
                      </a:txBody>
                      <a:tcPr anchor="ctr"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solidFill>
                          <a:srgbClr val="77122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6876973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bg1"/>
                              </a:solidFill>
                              <a:latin typeface="Garamond" panose="02020404030301010803" pitchFamily="18" charset="0"/>
                            </a:rPr>
                            <a:t>0</a:t>
                          </a:r>
                        </a:p>
                      </a:txBody>
                      <a:tcPr anchor="ctr"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solidFill>
                          <a:srgbClr val="77122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>
                            <a:latin typeface="Garamond" panose="02020404030301010803" pitchFamily="18" charset="0"/>
                          </a:endParaRPr>
                        </a:p>
                      </a:txBody>
                      <a:tcPr anchor="ctr"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>
                              <a:latin typeface="Garamond" panose="02020404030301010803" pitchFamily="18" charset="0"/>
                            </a:rPr>
                            <a:t>(0,0)</a:t>
                          </a:r>
                        </a:p>
                      </a:txBody>
                      <a:tcPr anchor="ctr"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dirty="0">
                            <a:latin typeface="Garamond" panose="02020404030301010803" pitchFamily="18" charset="0"/>
                          </a:endParaRPr>
                        </a:p>
                      </a:txBody>
                      <a:tcPr anchor="ctr"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dirty="0">
                            <a:latin typeface="Garamond" panose="02020404030301010803" pitchFamily="18" charset="0"/>
                          </a:endParaRPr>
                        </a:p>
                      </a:txBody>
                      <a:tcPr anchor="ctr"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dirty="0">
                            <a:latin typeface="Garamond" panose="02020404030301010803" pitchFamily="18" charset="0"/>
                          </a:endParaRPr>
                        </a:p>
                      </a:txBody>
                      <a:tcPr anchor="ctr"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dirty="0">
                            <a:latin typeface="Garamond" panose="02020404030301010803" pitchFamily="18" charset="0"/>
                          </a:endParaRPr>
                        </a:p>
                      </a:txBody>
                      <a:tcPr anchor="ctr"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extLst>
                      <a:ext uri="{0D108BD9-81ED-4DB2-BD59-A6C34878D82A}">
                        <a16:rowId xmlns:a16="http://schemas.microsoft.com/office/drawing/2014/main" val="386434689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bg1"/>
                              </a:solidFill>
                              <a:latin typeface="Garamond" panose="02020404030301010803" pitchFamily="18" charset="0"/>
                            </a:rPr>
                            <a:t>1</a:t>
                          </a:r>
                        </a:p>
                      </a:txBody>
                      <a:tcPr anchor="ctr">
                        <a:solidFill>
                          <a:srgbClr val="77122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>
                            <a:latin typeface="Garamond" panose="02020404030301010803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>
                              <a:latin typeface="Garamond" panose="02020404030301010803" pitchFamily="18" charset="0"/>
                            </a:rPr>
                            <a:t>(1,0)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>
                              <a:latin typeface="Garamond" panose="02020404030301010803" pitchFamily="18" charset="0"/>
                            </a:rPr>
                            <a:t>(0,1)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dirty="0">
                            <a:latin typeface="Garamond" panose="02020404030301010803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dirty="0">
                            <a:latin typeface="Garamond" panose="02020404030301010803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dirty="0">
                            <a:latin typeface="Garamond" panose="02020404030301010803" pitchFamily="18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7368346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bg1"/>
                              </a:solidFill>
                              <a:latin typeface="Garamond" panose="02020404030301010803" pitchFamily="18" charset="0"/>
                            </a:rPr>
                            <a:t>2</a:t>
                          </a:r>
                        </a:p>
                      </a:txBody>
                      <a:tcPr anchor="ctr">
                        <a:solidFill>
                          <a:srgbClr val="77122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>
                            <a:latin typeface="Garamond" panose="02020404030301010803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Garamond" panose="02020404030301010803" pitchFamily="18" charset="0"/>
                            </a:rPr>
                            <a:t>(2,0)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Garamond" panose="02020404030301010803" pitchFamily="18" charset="0"/>
                            </a:rPr>
                            <a:t>(1,1)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Garamond" panose="02020404030301010803" pitchFamily="18" charset="0"/>
                            </a:rPr>
                            <a:t>(0,2)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>
                            <a:latin typeface="Garamond" panose="02020404030301010803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>
                            <a:latin typeface="Garamond" panose="02020404030301010803" pitchFamily="18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28412386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bg1"/>
                              </a:solidFill>
                              <a:latin typeface="Garamond" panose="02020404030301010803" pitchFamily="18" charset="0"/>
                            </a:rPr>
                            <a:t>3</a:t>
                          </a:r>
                        </a:p>
                      </a:txBody>
                      <a:tcPr anchor="ctr">
                        <a:solidFill>
                          <a:srgbClr val="77122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>
                            <a:latin typeface="Garamond" panose="02020404030301010803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Garamond" panose="02020404030301010803" pitchFamily="18" charset="0"/>
                            </a:rPr>
                            <a:t>(3,0)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Garamond" panose="02020404030301010803" pitchFamily="18" charset="0"/>
                            </a:rPr>
                            <a:t>(2,1)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Garamond" panose="02020404030301010803" pitchFamily="18" charset="0"/>
                            </a:rPr>
                            <a:t>(1,2)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Garamond" panose="02020404030301010803" pitchFamily="18" charset="0"/>
                            </a:rPr>
                            <a:t>(0,3)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>
                            <a:latin typeface="Garamond" panose="02020404030301010803" pitchFamily="18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49561823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bg1"/>
                              </a:solidFill>
                              <a:latin typeface="Garamond" panose="02020404030301010803" pitchFamily="18" charset="0"/>
                            </a:rPr>
                            <a:t>4</a:t>
                          </a:r>
                        </a:p>
                      </a:txBody>
                      <a:tcPr anchor="ctr">
                        <a:solidFill>
                          <a:srgbClr val="77122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>
                            <a:latin typeface="Garamond" panose="02020404030301010803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Garamond" panose="02020404030301010803" pitchFamily="18" charset="0"/>
                            </a:rPr>
                            <a:t>(4,0)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Garamond" panose="02020404030301010803" pitchFamily="18" charset="0"/>
                            </a:rPr>
                            <a:t>(3,1)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Garamond" panose="02020404030301010803" pitchFamily="18" charset="0"/>
                            </a:rPr>
                            <a:t>(2,2)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Garamond" panose="02020404030301010803" pitchFamily="18" charset="0"/>
                            </a:rPr>
                            <a:t>(1,3)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Garamond" panose="02020404030301010803" pitchFamily="18" charset="0"/>
                            </a:rPr>
                            <a:t>(0,4)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42584031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bg1"/>
                              </a:solidFill>
                              <a:latin typeface="Garamond" panose="02020404030301010803" pitchFamily="18" charset="0"/>
                            </a:rPr>
                            <a:t>5</a:t>
                          </a:r>
                        </a:p>
                      </a:txBody>
                      <a:tcPr anchor="ctr">
                        <a:solidFill>
                          <a:srgbClr val="77122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dirty="0">
                            <a:latin typeface="Garamond" panose="02020404030301010803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Garamond" panose="02020404030301010803" pitchFamily="18" charset="0"/>
                            </a:rPr>
                            <a:t>(4,1)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Garamond" panose="02020404030301010803" pitchFamily="18" charset="0"/>
                            </a:rPr>
                            <a:t>(3,2)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>
                              <a:solidFill>
                                <a:schemeClr val="tx1"/>
                              </a:solidFill>
                              <a:latin typeface="Garamond" panose="02020404030301010803" pitchFamily="18" charset="0"/>
                            </a:rPr>
                            <a:t>(2,3)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>
                              <a:solidFill>
                                <a:schemeClr val="tx1"/>
                              </a:solidFill>
                              <a:latin typeface="Garamond" panose="02020404030301010803" pitchFamily="18" charset="0"/>
                            </a:rPr>
                            <a:t>(1,4)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dirty="0">
                            <a:solidFill>
                              <a:schemeClr val="tx1"/>
                            </a:solidFill>
                            <a:latin typeface="Garamond" panose="02020404030301010803" pitchFamily="18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55062058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bg1"/>
                              </a:solidFill>
                              <a:latin typeface="Garamond" panose="02020404030301010803" pitchFamily="18" charset="0"/>
                            </a:rPr>
                            <a:t>6</a:t>
                          </a:r>
                        </a:p>
                      </a:txBody>
                      <a:tcPr anchor="ctr">
                        <a:solidFill>
                          <a:srgbClr val="77122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dirty="0">
                            <a:latin typeface="Garamond" panose="02020404030301010803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Garamond" panose="02020404030301010803" pitchFamily="18" charset="0"/>
                            </a:rPr>
                            <a:t>(4,2)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Garamond" panose="02020404030301010803" pitchFamily="18" charset="0"/>
                            </a:rPr>
                            <a:t>(3,3)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>
                              <a:solidFill>
                                <a:schemeClr val="tx1"/>
                              </a:solidFill>
                              <a:latin typeface="Garamond" panose="02020404030301010803" pitchFamily="18" charset="0"/>
                            </a:rPr>
                            <a:t>(2,4)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dirty="0">
                            <a:solidFill>
                              <a:schemeClr val="tx1"/>
                            </a:solidFill>
                            <a:latin typeface="Garamond" panose="02020404030301010803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dirty="0">
                            <a:solidFill>
                              <a:schemeClr val="tx1"/>
                            </a:solidFill>
                            <a:latin typeface="Garamond" panose="02020404030301010803" pitchFamily="18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21783816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bg1"/>
                              </a:solidFill>
                              <a:latin typeface="Garamond" panose="02020404030301010803" pitchFamily="18" charset="0"/>
                            </a:rPr>
                            <a:t>7</a:t>
                          </a:r>
                        </a:p>
                      </a:txBody>
                      <a:tcPr anchor="ctr">
                        <a:solidFill>
                          <a:srgbClr val="77122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dirty="0">
                            <a:latin typeface="Garamond" panose="02020404030301010803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Garamond" panose="02020404030301010803" pitchFamily="18" charset="0"/>
                            </a:rPr>
                            <a:t>(4,3)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Garamond" panose="02020404030301010803" pitchFamily="18" charset="0"/>
                            </a:rPr>
                            <a:t>(3,4)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dirty="0">
                            <a:solidFill>
                              <a:schemeClr val="tx1"/>
                            </a:solidFill>
                            <a:latin typeface="Garamond" panose="02020404030301010803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dirty="0">
                            <a:solidFill>
                              <a:schemeClr val="tx1"/>
                            </a:solidFill>
                            <a:latin typeface="Garamond" panose="02020404030301010803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dirty="0">
                            <a:solidFill>
                              <a:schemeClr val="tx1"/>
                            </a:solidFill>
                            <a:latin typeface="Garamond" panose="02020404030301010803" pitchFamily="18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49435658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bg1"/>
                              </a:solidFill>
                              <a:latin typeface="Garamond" panose="02020404030301010803" pitchFamily="18" charset="0"/>
                            </a:rPr>
                            <a:t>8</a:t>
                          </a:r>
                        </a:p>
                      </a:txBody>
                      <a:tcPr anchor="ctr">
                        <a:solidFill>
                          <a:srgbClr val="77122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dirty="0">
                            <a:latin typeface="Garamond" panose="02020404030301010803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Garamond" panose="02020404030301010803" pitchFamily="18" charset="0"/>
                            </a:rPr>
                            <a:t>(4,4)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>
                            <a:latin typeface="Garamond" panose="02020404030301010803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dirty="0">
                            <a:solidFill>
                              <a:schemeClr val="tx1"/>
                            </a:solidFill>
                            <a:latin typeface="Garamond" panose="02020404030301010803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dirty="0">
                            <a:solidFill>
                              <a:schemeClr val="tx1"/>
                            </a:solidFill>
                            <a:latin typeface="Garamond" panose="02020404030301010803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dirty="0">
                            <a:solidFill>
                              <a:schemeClr val="tx1"/>
                            </a:solidFill>
                            <a:latin typeface="Garamond" panose="02020404030301010803" pitchFamily="18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29502960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bg1"/>
                              </a:solidFill>
                              <a:latin typeface="Garamond" panose="02020404030301010803" pitchFamily="18" charset="0"/>
                            </a:rPr>
                            <a:t>Total</a:t>
                          </a:r>
                        </a:p>
                      </a:txBody>
                      <a:tcPr anchor="ctr">
                        <a:solidFill>
                          <a:srgbClr val="77122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dirty="0">
                            <a:latin typeface="Garamond" panose="02020404030301010803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>
                            <a:latin typeface="Garamond" panose="02020404030301010803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>
                            <a:latin typeface="Garamond" panose="02020404030301010803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dirty="0">
                            <a:solidFill>
                              <a:schemeClr val="tx1"/>
                            </a:solidFill>
                            <a:latin typeface="Garamond" panose="02020404030301010803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dirty="0">
                            <a:solidFill>
                              <a:schemeClr val="tx1"/>
                            </a:solidFill>
                            <a:latin typeface="Garamond" panose="02020404030301010803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dirty="0">
                            <a:solidFill>
                              <a:schemeClr val="tx1"/>
                            </a:solidFill>
                            <a:latin typeface="Garamond" panose="02020404030301010803" pitchFamily="18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150360944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0" name="Table 9">
                <a:extLst>
                  <a:ext uri="{FF2B5EF4-FFF2-40B4-BE49-F238E27FC236}">
                    <a16:creationId xmlns:a16="http://schemas.microsoft.com/office/drawing/2014/main" id="{FE1410E0-8699-86C9-797B-85A4D15A296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262747732"/>
                  </p:ext>
                </p:extLst>
              </p:nvPr>
            </p:nvGraphicFramePr>
            <p:xfrm>
              <a:off x="6094410" y="2214645"/>
              <a:ext cx="5159273" cy="40792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37039">
                      <a:extLst>
                        <a:ext uri="{9D8B030D-6E8A-4147-A177-3AD203B41FA5}">
                          <a16:colId xmlns:a16="http://schemas.microsoft.com/office/drawing/2014/main" val="3269318500"/>
                        </a:ext>
                      </a:extLst>
                    </a:gridCol>
                    <a:gridCol w="737039">
                      <a:extLst>
                        <a:ext uri="{9D8B030D-6E8A-4147-A177-3AD203B41FA5}">
                          <a16:colId xmlns:a16="http://schemas.microsoft.com/office/drawing/2014/main" val="1084937839"/>
                        </a:ext>
                      </a:extLst>
                    </a:gridCol>
                    <a:gridCol w="737039">
                      <a:extLst>
                        <a:ext uri="{9D8B030D-6E8A-4147-A177-3AD203B41FA5}">
                          <a16:colId xmlns:a16="http://schemas.microsoft.com/office/drawing/2014/main" val="4200844973"/>
                        </a:ext>
                      </a:extLst>
                    </a:gridCol>
                    <a:gridCol w="737039">
                      <a:extLst>
                        <a:ext uri="{9D8B030D-6E8A-4147-A177-3AD203B41FA5}">
                          <a16:colId xmlns:a16="http://schemas.microsoft.com/office/drawing/2014/main" val="3844035428"/>
                        </a:ext>
                      </a:extLst>
                    </a:gridCol>
                    <a:gridCol w="737039">
                      <a:extLst>
                        <a:ext uri="{9D8B030D-6E8A-4147-A177-3AD203B41FA5}">
                          <a16:colId xmlns:a16="http://schemas.microsoft.com/office/drawing/2014/main" val="2990019285"/>
                        </a:ext>
                      </a:extLst>
                    </a:gridCol>
                    <a:gridCol w="737039">
                      <a:extLst>
                        <a:ext uri="{9D8B030D-6E8A-4147-A177-3AD203B41FA5}">
                          <a16:colId xmlns:a16="http://schemas.microsoft.com/office/drawing/2014/main" val="3019196937"/>
                        </a:ext>
                      </a:extLst>
                    </a:gridCol>
                    <a:gridCol w="737039">
                      <a:extLst>
                        <a:ext uri="{9D8B030D-6E8A-4147-A177-3AD203B41FA5}">
                          <a16:colId xmlns:a16="http://schemas.microsoft.com/office/drawing/2014/main" val="2620365878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0" dirty="0">
                              <a:solidFill>
                                <a:schemeClr val="bg1"/>
                              </a:solidFill>
                              <a:latin typeface="Rockwell" panose="02060603020205020403" pitchFamily="18" charset="0"/>
                            </a:rPr>
                            <a:t>Z</a:t>
                          </a:r>
                        </a:p>
                      </a:txBody>
                      <a:tcPr anchor="ctr"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77122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en-US" b="0" i="1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  <m:r>
                                  <a:rPr lang="en-US" b="0" i="1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1800" b="0" i="0" dirty="0" smtClean="0">
                                    <a:latin typeface="Rockwell" panose="02060603020205020403" pitchFamily="18" charset="0"/>
                                  </a:rPr>
                                  <m:t>z</m:t>
                                </m:r>
                                <m:r>
                                  <a:rPr lang="en-US" b="0" i="1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 anchor="ctr"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77122C"/>
                        </a:solidFill>
                      </a:tcPr>
                    </a:tc>
                    <a:tc gridSpan="5"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b="0" dirty="0">
                              <a:solidFill>
                                <a:schemeClr val="bg1"/>
                              </a:solidFill>
                              <a:latin typeface="Garamond" panose="02020404030301010803" pitchFamily="18" charset="0"/>
                            </a:rPr>
                            <a:t>Possible 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TW" sz="1800" b="0" i="0" dirty="0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m:rPr>
                                  <m:nor/>
                                </m:rPr>
                                <a:rPr lang="en-US" altLang="zh-TW" sz="1800" b="0" i="0" dirty="0" smtClean="0">
                                  <a:latin typeface="Rockwell" panose="02060603020205020403" pitchFamily="18" charset="0"/>
                                </a:rPr>
                                <m:t>X</m:t>
                              </m:r>
                              <m:r>
                                <a:rPr lang="en-US" altLang="zh-TW" sz="1800" i="1" dirty="0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m:rPr>
                                  <m:nor/>
                                </m:rPr>
                                <a:rPr lang="en-US" altLang="zh-TW" sz="1800" b="0" i="0" dirty="0" smtClean="0">
                                  <a:latin typeface="Rockwell" panose="02060603020205020403" pitchFamily="18" charset="0"/>
                                </a:rPr>
                                <m:t>Y)</m:t>
                              </m:r>
                            </m:oMath>
                          </a14:m>
                          <a:r>
                            <a:rPr lang="en-US" b="0" dirty="0">
                              <a:solidFill>
                                <a:schemeClr val="bg1"/>
                              </a:solidFill>
                              <a:latin typeface="Garamond" panose="02020404030301010803" pitchFamily="18" charset="0"/>
                            </a:rPr>
                            <a:t> values</a:t>
                          </a:r>
                        </a:p>
                      </a:txBody>
                      <a:tcPr anchor="ctr"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77122C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b="0" dirty="0">
                            <a:solidFill>
                              <a:schemeClr val="bg1"/>
                            </a:solidFill>
                            <a:latin typeface="Garamond" panose="02020404030301010803" pitchFamily="18" charset="0"/>
                          </a:endParaRPr>
                        </a:p>
                      </a:txBody>
                      <a:tcPr anchor="ctr"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solidFill>
                          <a:srgbClr val="77122C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b="0" dirty="0">
                            <a:solidFill>
                              <a:schemeClr val="bg1"/>
                            </a:solidFill>
                            <a:latin typeface="Garamond" panose="02020404030301010803" pitchFamily="18" charset="0"/>
                          </a:endParaRPr>
                        </a:p>
                      </a:txBody>
                      <a:tcPr anchor="ctr"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solidFill>
                          <a:srgbClr val="77122C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b="0" dirty="0">
                            <a:solidFill>
                              <a:schemeClr val="bg1"/>
                            </a:solidFill>
                            <a:latin typeface="Garamond" panose="02020404030301010803" pitchFamily="18" charset="0"/>
                          </a:endParaRPr>
                        </a:p>
                      </a:txBody>
                      <a:tcPr anchor="ctr"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solidFill>
                          <a:srgbClr val="77122C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b="0" dirty="0">
                            <a:solidFill>
                              <a:schemeClr val="bg1"/>
                            </a:solidFill>
                            <a:latin typeface="Garamond" panose="02020404030301010803" pitchFamily="18" charset="0"/>
                          </a:endParaRPr>
                        </a:p>
                      </a:txBody>
                      <a:tcPr anchor="ctr"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solidFill>
                          <a:srgbClr val="77122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6876973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bg1"/>
                              </a:solidFill>
                              <a:latin typeface="Garamond" panose="02020404030301010803" pitchFamily="18" charset="0"/>
                            </a:rPr>
                            <a:t>0</a:t>
                          </a:r>
                        </a:p>
                      </a:txBody>
                      <a:tcPr anchor="ctr"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solidFill>
                          <a:srgbClr val="77122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Garamond" panose="02020404030301010803" pitchFamily="18" charset="0"/>
                            </a:rPr>
                            <a:t>4/30</a:t>
                          </a:r>
                        </a:p>
                      </a:txBody>
                      <a:tcPr anchor="ctr"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>
                              <a:latin typeface="Garamond" panose="02020404030301010803" pitchFamily="18" charset="0"/>
                            </a:rPr>
                            <a:t>(0,0)</a:t>
                          </a:r>
                        </a:p>
                      </a:txBody>
                      <a:tcPr anchor="ctr"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dirty="0">
                            <a:latin typeface="Garamond" panose="02020404030301010803" pitchFamily="18" charset="0"/>
                          </a:endParaRPr>
                        </a:p>
                      </a:txBody>
                      <a:tcPr anchor="ctr"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dirty="0">
                            <a:latin typeface="Garamond" panose="02020404030301010803" pitchFamily="18" charset="0"/>
                          </a:endParaRPr>
                        </a:p>
                      </a:txBody>
                      <a:tcPr anchor="ctr"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dirty="0">
                            <a:latin typeface="Garamond" panose="02020404030301010803" pitchFamily="18" charset="0"/>
                          </a:endParaRPr>
                        </a:p>
                      </a:txBody>
                      <a:tcPr anchor="ctr"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dirty="0">
                            <a:latin typeface="Garamond" panose="02020404030301010803" pitchFamily="18" charset="0"/>
                          </a:endParaRPr>
                        </a:p>
                      </a:txBody>
                      <a:tcPr anchor="ctr"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extLst>
                      <a:ext uri="{0D108BD9-81ED-4DB2-BD59-A6C34878D82A}">
                        <a16:rowId xmlns:a16="http://schemas.microsoft.com/office/drawing/2014/main" val="386434689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bg1"/>
                              </a:solidFill>
                              <a:latin typeface="Garamond" panose="02020404030301010803" pitchFamily="18" charset="0"/>
                            </a:rPr>
                            <a:t>1</a:t>
                          </a:r>
                        </a:p>
                      </a:txBody>
                      <a:tcPr anchor="ctr">
                        <a:solidFill>
                          <a:srgbClr val="77122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Garamond" panose="02020404030301010803" pitchFamily="18" charset="0"/>
                            </a:rPr>
                            <a:t>4/30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>
                              <a:latin typeface="Garamond" panose="02020404030301010803" pitchFamily="18" charset="0"/>
                            </a:rPr>
                            <a:t>(1,0)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>
                              <a:latin typeface="Garamond" panose="02020404030301010803" pitchFamily="18" charset="0"/>
                            </a:rPr>
                            <a:t>(0,1)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dirty="0">
                            <a:latin typeface="Garamond" panose="02020404030301010803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dirty="0">
                            <a:latin typeface="Garamond" panose="02020404030301010803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dirty="0">
                            <a:latin typeface="Garamond" panose="02020404030301010803" pitchFamily="18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7368346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bg1"/>
                              </a:solidFill>
                              <a:latin typeface="Garamond" panose="02020404030301010803" pitchFamily="18" charset="0"/>
                            </a:rPr>
                            <a:t>2</a:t>
                          </a:r>
                        </a:p>
                      </a:txBody>
                      <a:tcPr anchor="ctr">
                        <a:solidFill>
                          <a:srgbClr val="77122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Garamond" panose="02020404030301010803" pitchFamily="18" charset="0"/>
                            </a:rPr>
                            <a:t>4/30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Garamond" panose="02020404030301010803" pitchFamily="18" charset="0"/>
                            </a:rPr>
                            <a:t>(2,0)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Garamond" panose="02020404030301010803" pitchFamily="18" charset="0"/>
                            </a:rPr>
                            <a:t>(1,1)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Garamond" panose="02020404030301010803" pitchFamily="18" charset="0"/>
                            </a:rPr>
                            <a:t>(0,2)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>
                            <a:latin typeface="Garamond" panose="02020404030301010803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>
                            <a:latin typeface="Garamond" panose="02020404030301010803" pitchFamily="18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28412386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bg1"/>
                              </a:solidFill>
                              <a:latin typeface="Garamond" panose="02020404030301010803" pitchFamily="18" charset="0"/>
                            </a:rPr>
                            <a:t>3</a:t>
                          </a:r>
                        </a:p>
                      </a:txBody>
                      <a:tcPr anchor="ctr">
                        <a:solidFill>
                          <a:srgbClr val="77122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Garamond" panose="02020404030301010803" pitchFamily="18" charset="0"/>
                            </a:rPr>
                            <a:t>5/30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Garamond" panose="02020404030301010803" pitchFamily="18" charset="0"/>
                            </a:rPr>
                            <a:t>(3,0)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Garamond" panose="02020404030301010803" pitchFamily="18" charset="0"/>
                            </a:rPr>
                            <a:t>(2,1)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Garamond" panose="02020404030301010803" pitchFamily="18" charset="0"/>
                            </a:rPr>
                            <a:t>(1,2)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Garamond" panose="02020404030301010803" pitchFamily="18" charset="0"/>
                            </a:rPr>
                            <a:t>(0,3)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>
                            <a:latin typeface="Garamond" panose="02020404030301010803" pitchFamily="18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49561823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bg1"/>
                              </a:solidFill>
                              <a:latin typeface="Garamond" panose="02020404030301010803" pitchFamily="18" charset="0"/>
                            </a:rPr>
                            <a:t>4</a:t>
                          </a:r>
                        </a:p>
                      </a:txBody>
                      <a:tcPr anchor="ctr">
                        <a:solidFill>
                          <a:srgbClr val="77122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Garamond" panose="02020404030301010803" pitchFamily="18" charset="0"/>
                            </a:rPr>
                            <a:t>2/30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Garamond" panose="02020404030301010803" pitchFamily="18" charset="0"/>
                            </a:rPr>
                            <a:t>(4,0)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Garamond" panose="02020404030301010803" pitchFamily="18" charset="0"/>
                            </a:rPr>
                            <a:t>(3,1)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Garamond" panose="02020404030301010803" pitchFamily="18" charset="0"/>
                            </a:rPr>
                            <a:t>(2,2)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Garamond" panose="02020404030301010803" pitchFamily="18" charset="0"/>
                            </a:rPr>
                            <a:t>(1,3)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Garamond" panose="02020404030301010803" pitchFamily="18" charset="0"/>
                            </a:rPr>
                            <a:t>(0,4)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42584031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bg1"/>
                              </a:solidFill>
                              <a:latin typeface="Garamond" panose="02020404030301010803" pitchFamily="18" charset="0"/>
                            </a:rPr>
                            <a:t>5</a:t>
                          </a:r>
                        </a:p>
                      </a:txBody>
                      <a:tcPr anchor="ctr">
                        <a:solidFill>
                          <a:srgbClr val="77122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>
                              <a:latin typeface="Garamond" panose="02020404030301010803" pitchFamily="18" charset="0"/>
                            </a:rPr>
                            <a:t>5/30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Garamond" panose="02020404030301010803" pitchFamily="18" charset="0"/>
                            </a:rPr>
                            <a:t>(4,1)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Garamond" panose="02020404030301010803" pitchFamily="18" charset="0"/>
                            </a:rPr>
                            <a:t>(3,2)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>
                              <a:solidFill>
                                <a:schemeClr val="tx1"/>
                              </a:solidFill>
                              <a:latin typeface="Garamond" panose="02020404030301010803" pitchFamily="18" charset="0"/>
                            </a:rPr>
                            <a:t>(2,3)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>
                              <a:solidFill>
                                <a:schemeClr val="tx1"/>
                              </a:solidFill>
                              <a:latin typeface="Garamond" panose="02020404030301010803" pitchFamily="18" charset="0"/>
                            </a:rPr>
                            <a:t>(1,4)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dirty="0">
                            <a:solidFill>
                              <a:schemeClr val="tx1"/>
                            </a:solidFill>
                            <a:latin typeface="Garamond" panose="02020404030301010803" pitchFamily="18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55062058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bg1"/>
                              </a:solidFill>
                              <a:latin typeface="Garamond" panose="02020404030301010803" pitchFamily="18" charset="0"/>
                            </a:rPr>
                            <a:t>6</a:t>
                          </a:r>
                        </a:p>
                      </a:txBody>
                      <a:tcPr anchor="ctr">
                        <a:solidFill>
                          <a:srgbClr val="77122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>
                              <a:latin typeface="Garamond" panose="02020404030301010803" pitchFamily="18" charset="0"/>
                            </a:rPr>
                            <a:t>1/30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Garamond" panose="02020404030301010803" pitchFamily="18" charset="0"/>
                            </a:rPr>
                            <a:t>(4,2)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Garamond" panose="02020404030301010803" pitchFamily="18" charset="0"/>
                            </a:rPr>
                            <a:t>(3,3)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>
                              <a:solidFill>
                                <a:schemeClr val="tx1"/>
                              </a:solidFill>
                              <a:latin typeface="Garamond" panose="02020404030301010803" pitchFamily="18" charset="0"/>
                            </a:rPr>
                            <a:t>(2,4)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dirty="0">
                            <a:solidFill>
                              <a:schemeClr val="tx1"/>
                            </a:solidFill>
                            <a:latin typeface="Garamond" panose="02020404030301010803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dirty="0">
                            <a:solidFill>
                              <a:schemeClr val="tx1"/>
                            </a:solidFill>
                            <a:latin typeface="Garamond" panose="02020404030301010803" pitchFamily="18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21783816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bg1"/>
                              </a:solidFill>
                              <a:latin typeface="Garamond" panose="02020404030301010803" pitchFamily="18" charset="0"/>
                            </a:rPr>
                            <a:t>7</a:t>
                          </a:r>
                        </a:p>
                      </a:txBody>
                      <a:tcPr anchor="ctr">
                        <a:solidFill>
                          <a:srgbClr val="77122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>
                              <a:latin typeface="Garamond" panose="02020404030301010803" pitchFamily="18" charset="0"/>
                            </a:rPr>
                            <a:t>3/30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Garamond" panose="02020404030301010803" pitchFamily="18" charset="0"/>
                            </a:rPr>
                            <a:t>(4,3)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Garamond" panose="02020404030301010803" pitchFamily="18" charset="0"/>
                            </a:rPr>
                            <a:t>(3,4)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dirty="0">
                            <a:solidFill>
                              <a:schemeClr val="tx1"/>
                            </a:solidFill>
                            <a:latin typeface="Garamond" panose="02020404030301010803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dirty="0">
                            <a:solidFill>
                              <a:schemeClr val="tx1"/>
                            </a:solidFill>
                            <a:latin typeface="Garamond" panose="02020404030301010803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dirty="0">
                            <a:solidFill>
                              <a:schemeClr val="tx1"/>
                            </a:solidFill>
                            <a:latin typeface="Garamond" panose="02020404030301010803" pitchFamily="18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49435658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bg1"/>
                              </a:solidFill>
                              <a:latin typeface="Garamond" panose="02020404030301010803" pitchFamily="18" charset="0"/>
                            </a:rPr>
                            <a:t>8</a:t>
                          </a:r>
                        </a:p>
                      </a:txBody>
                      <a:tcPr anchor="ctr">
                        <a:solidFill>
                          <a:srgbClr val="77122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>
                              <a:latin typeface="Garamond" panose="02020404030301010803" pitchFamily="18" charset="0"/>
                            </a:rPr>
                            <a:t>2/30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Garamond" panose="02020404030301010803" pitchFamily="18" charset="0"/>
                            </a:rPr>
                            <a:t>(4,4)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>
                            <a:latin typeface="Garamond" panose="02020404030301010803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dirty="0">
                            <a:solidFill>
                              <a:schemeClr val="tx1"/>
                            </a:solidFill>
                            <a:latin typeface="Garamond" panose="02020404030301010803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dirty="0">
                            <a:solidFill>
                              <a:schemeClr val="tx1"/>
                            </a:solidFill>
                            <a:latin typeface="Garamond" panose="02020404030301010803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dirty="0">
                            <a:solidFill>
                              <a:schemeClr val="tx1"/>
                            </a:solidFill>
                            <a:latin typeface="Garamond" panose="02020404030301010803" pitchFamily="18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29502960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bg1"/>
                              </a:solidFill>
                              <a:latin typeface="Garamond" panose="02020404030301010803" pitchFamily="18" charset="0"/>
                            </a:rPr>
                            <a:t>Total</a:t>
                          </a:r>
                        </a:p>
                      </a:txBody>
                      <a:tcPr anchor="ctr">
                        <a:solidFill>
                          <a:srgbClr val="77122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>
                              <a:latin typeface="Garamond" panose="02020404030301010803" pitchFamily="18" charset="0"/>
                            </a:rPr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>
                            <a:latin typeface="Garamond" panose="02020404030301010803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>
                            <a:latin typeface="Garamond" panose="02020404030301010803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dirty="0">
                            <a:solidFill>
                              <a:schemeClr val="tx1"/>
                            </a:solidFill>
                            <a:latin typeface="Garamond" panose="02020404030301010803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dirty="0">
                            <a:solidFill>
                              <a:schemeClr val="tx1"/>
                            </a:solidFill>
                            <a:latin typeface="Garamond" panose="02020404030301010803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dirty="0">
                            <a:solidFill>
                              <a:schemeClr val="tx1"/>
                            </a:solidFill>
                            <a:latin typeface="Garamond" panose="02020404030301010803" pitchFamily="18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15036094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0" name="Table 9">
                <a:extLst>
                  <a:ext uri="{FF2B5EF4-FFF2-40B4-BE49-F238E27FC236}">
                    <a16:creationId xmlns:a16="http://schemas.microsoft.com/office/drawing/2014/main" id="{FE1410E0-8699-86C9-797B-85A4D15A296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262747732"/>
                  </p:ext>
                </p:extLst>
              </p:nvPr>
            </p:nvGraphicFramePr>
            <p:xfrm>
              <a:off x="6094410" y="2214645"/>
              <a:ext cx="5159273" cy="40792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37039">
                      <a:extLst>
                        <a:ext uri="{9D8B030D-6E8A-4147-A177-3AD203B41FA5}">
                          <a16:colId xmlns:a16="http://schemas.microsoft.com/office/drawing/2014/main" val="3269318500"/>
                        </a:ext>
                      </a:extLst>
                    </a:gridCol>
                    <a:gridCol w="737039">
                      <a:extLst>
                        <a:ext uri="{9D8B030D-6E8A-4147-A177-3AD203B41FA5}">
                          <a16:colId xmlns:a16="http://schemas.microsoft.com/office/drawing/2014/main" val="1084937839"/>
                        </a:ext>
                      </a:extLst>
                    </a:gridCol>
                    <a:gridCol w="737039">
                      <a:extLst>
                        <a:ext uri="{9D8B030D-6E8A-4147-A177-3AD203B41FA5}">
                          <a16:colId xmlns:a16="http://schemas.microsoft.com/office/drawing/2014/main" val="4200844973"/>
                        </a:ext>
                      </a:extLst>
                    </a:gridCol>
                    <a:gridCol w="737039">
                      <a:extLst>
                        <a:ext uri="{9D8B030D-6E8A-4147-A177-3AD203B41FA5}">
                          <a16:colId xmlns:a16="http://schemas.microsoft.com/office/drawing/2014/main" val="3844035428"/>
                        </a:ext>
                      </a:extLst>
                    </a:gridCol>
                    <a:gridCol w="737039">
                      <a:extLst>
                        <a:ext uri="{9D8B030D-6E8A-4147-A177-3AD203B41FA5}">
                          <a16:colId xmlns:a16="http://schemas.microsoft.com/office/drawing/2014/main" val="2990019285"/>
                        </a:ext>
                      </a:extLst>
                    </a:gridCol>
                    <a:gridCol w="737039">
                      <a:extLst>
                        <a:ext uri="{9D8B030D-6E8A-4147-A177-3AD203B41FA5}">
                          <a16:colId xmlns:a16="http://schemas.microsoft.com/office/drawing/2014/main" val="3019196937"/>
                        </a:ext>
                      </a:extLst>
                    </a:gridCol>
                    <a:gridCol w="737039">
                      <a:extLst>
                        <a:ext uri="{9D8B030D-6E8A-4147-A177-3AD203B41FA5}">
                          <a16:colId xmlns:a16="http://schemas.microsoft.com/office/drawing/2014/main" val="2620365878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0" dirty="0">
                              <a:solidFill>
                                <a:schemeClr val="bg1"/>
                              </a:solidFill>
                              <a:latin typeface="Rockwell" panose="02060603020205020403" pitchFamily="18" charset="0"/>
                            </a:rPr>
                            <a:t>Z</a:t>
                          </a:r>
                        </a:p>
                      </a:txBody>
                      <a:tcPr anchor="ctr"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77122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00826" t="-9836" r="-502479" b="-1022951"/>
                          </a:stretch>
                        </a:blipFill>
                      </a:tcPr>
                    </a:tc>
                    <a:tc gridSpan="5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40099" t="-9836" r="-330" b="-1022951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b="0" dirty="0">
                            <a:solidFill>
                              <a:schemeClr val="bg1"/>
                            </a:solidFill>
                            <a:latin typeface="Garamond" panose="02020404030301010803" pitchFamily="18" charset="0"/>
                          </a:endParaRPr>
                        </a:p>
                      </a:txBody>
                      <a:tcPr anchor="ctr"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solidFill>
                          <a:srgbClr val="77122C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b="0" dirty="0">
                            <a:solidFill>
                              <a:schemeClr val="bg1"/>
                            </a:solidFill>
                            <a:latin typeface="Garamond" panose="02020404030301010803" pitchFamily="18" charset="0"/>
                          </a:endParaRPr>
                        </a:p>
                      </a:txBody>
                      <a:tcPr anchor="ctr"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solidFill>
                          <a:srgbClr val="77122C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b="0" dirty="0">
                            <a:solidFill>
                              <a:schemeClr val="bg1"/>
                            </a:solidFill>
                            <a:latin typeface="Garamond" panose="02020404030301010803" pitchFamily="18" charset="0"/>
                          </a:endParaRPr>
                        </a:p>
                      </a:txBody>
                      <a:tcPr anchor="ctr"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solidFill>
                          <a:srgbClr val="77122C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b="0" dirty="0">
                            <a:solidFill>
                              <a:schemeClr val="bg1"/>
                            </a:solidFill>
                            <a:latin typeface="Garamond" panose="02020404030301010803" pitchFamily="18" charset="0"/>
                          </a:endParaRPr>
                        </a:p>
                      </a:txBody>
                      <a:tcPr anchor="ctr"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solidFill>
                          <a:srgbClr val="77122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6876973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bg1"/>
                              </a:solidFill>
                              <a:latin typeface="Garamond" panose="02020404030301010803" pitchFamily="18" charset="0"/>
                            </a:rPr>
                            <a:t>0</a:t>
                          </a:r>
                        </a:p>
                      </a:txBody>
                      <a:tcPr anchor="ctr"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solidFill>
                          <a:srgbClr val="77122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Garamond" panose="02020404030301010803" pitchFamily="18" charset="0"/>
                            </a:rPr>
                            <a:t>4/30</a:t>
                          </a:r>
                        </a:p>
                      </a:txBody>
                      <a:tcPr anchor="ctr"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>
                              <a:latin typeface="Garamond" panose="02020404030301010803" pitchFamily="18" charset="0"/>
                            </a:rPr>
                            <a:t>(0,0)</a:t>
                          </a:r>
                        </a:p>
                      </a:txBody>
                      <a:tcPr anchor="ctr"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dirty="0">
                            <a:latin typeface="Garamond" panose="02020404030301010803" pitchFamily="18" charset="0"/>
                          </a:endParaRPr>
                        </a:p>
                      </a:txBody>
                      <a:tcPr anchor="ctr"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dirty="0">
                            <a:latin typeface="Garamond" panose="02020404030301010803" pitchFamily="18" charset="0"/>
                          </a:endParaRPr>
                        </a:p>
                      </a:txBody>
                      <a:tcPr anchor="ctr"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dirty="0">
                            <a:latin typeface="Garamond" panose="02020404030301010803" pitchFamily="18" charset="0"/>
                          </a:endParaRPr>
                        </a:p>
                      </a:txBody>
                      <a:tcPr anchor="ctr"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dirty="0">
                            <a:latin typeface="Garamond" panose="02020404030301010803" pitchFamily="18" charset="0"/>
                          </a:endParaRPr>
                        </a:p>
                      </a:txBody>
                      <a:tcPr anchor="ctr"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extLst>
                      <a:ext uri="{0D108BD9-81ED-4DB2-BD59-A6C34878D82A}">
                        <a16:rowId xmlns:a16="http://schemas.microsoft.com/office/drawing/2014/main" val="386434689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bg1"/>
                              </a:solidFill>
                              <a:latin typeface="Garamond" panose="02020404030301010803" pitchFamily="18" charset="0"/>
                            </a:rPr>
                            <a:t>1</a:t>
                          </a:r>
                        </a:p>
                      </a:txBody>
                      <a:tcPr anchor="ctr">
                        <a:solidFill>
                          <a:srgbClr val="77122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Garamond" panose="02020404030301010803" pitchFamily="18" charset="0"/>
                            </a:rPr>
                            <a:t>4/30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>
                              <a:latin typeface="Garamond" panose="02020404030301010803" pitchFamily="18" charset="0"/>
                            </a:rPr>
                            <a:t>(1,0)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>
                              <a:latin typeface="Garamond" panose="02020404030301010803" pitchFamily="18" charset="0"/>
                            </a:rPr>
                            <a:t>(0,1)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dirty="0">
                            <a:latin typeface="Garamond" panose="02020404030301010803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dirty="0">
                            <a:latin typeface="Garamond" panose="02020404030301010803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dirty="0">
                            <a:latin typeface="Garamond" panose="02020404030301010803" pitchFamily="18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7368346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bg1"/>
                              </a:solidFill>
                              <a:latin typeface="Garamond" panose="02020404030301010803" pitchFamily="18" charset="0"/>
                            </a:rPr>
                            <a:t>2</a:t>
                          </a:r>
                        </a:p>
                      </a:txBody>
                      <a:tcPr anchor="ctr">
                        <a:solidFill>
                          <a:srgbClr val="77122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Garamond" panose="02020404030301010803" pitchFamily="18" charset="0"/>
                            </a:rPr>
                            <a:t>4/30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Garamond" panose="02020404030301010803" pitchFamily="18" charset="0"/>
                            </a:rPr>
                            <a:t>(2,0)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Garamond" panose="02020404030301010803" pitchFamily="18" charset="0"/>
                            </a:rPr>
                            <a:t>(1,1)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Garamond" panose="02020404030301010803" pitchFamily="18" charset="0"/>
                            </a:rPr>
                            <a:t>(0,2)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>
                            <a:latin typeface="Garamond" panose="02020404030301010803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>
                            <a:latin typeface="Garamond" panose="02020404030301010803" pitchFamily="18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28412386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bg1"/>
                              </a:solidFill>
                              <a:latin typeface="Garamond" panose="02020404030301010803" pitchFamily="18" charset="0"/>
                            </a:rPr>
                            <a:t>3</a:t>
                          </a:r>
                        </a:p>
                      </a:txBody>
                      <a:tcPr anchor="ctr">
                        <a:solidFill>
                          <a:srgbClr val="77122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Garamond" panose="02020404030301010803" pitchFamily="18" charset="0"/>
                            </a:rPr>
                            <a:t>5/30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Garamond" panose="02020404030301010803" pitchFamily="18" charset="0"/>
                            </a:rPr>
                            <a:t>(3,0)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Garamond" panose="02020404030301010803" pitchFamily="18" charset="0"/>
                            </a:rPr>
                            <a:t>(2,1)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Garamond" panose="02020404030301010803" pitchFamily="18" charset="0"/>
                            </a:rPr>
                            <a:t>(1,2)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Garamond" panose="02020404030301010803" pitchFamily="18" charset="0"/>
                            </a:rPr>
                            <a:t>(0,3)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>
                            <a:latin typeface="Garamond" panose="02020404030301010803" pitchFamily="18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49561823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bg1"/>
                              </a:solidFill>
                              <a:latin typeface="Garamond" panose="02020404030301010803" pitchFamily="18" charset="0"/>
                            </a:rPr>
                            <a:t>4</a:t>
                          </a:r>
                        </a:p>
                      </a:txBody>
                      <a:tcPr anchor="ctr">
                        <a:solidFill>
                          <a:srgbClr val="77122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Garamond" panose="02020404030301010803" pitchFamily="18" charset="0"/>
                            </a:rPr>
                            <a:t>2/30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Garamond" panose="02020404030301010803" pitchFamily="18" charset="0"/>
                            </a:rPr>
                            <a:t>(4,0)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Garamond" panose="02020404030301010803" pitchFamily="18" charset="0"/>
                            </a:rPr>
                            <a:t>(3,1)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Garamond" panose="02020404030301010803" pitchFamily="18" charset="0"/>
                            </a:rPr>
                            <a:t>(2,2)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Garamond" panose="02020404030301010803" pitchFamily="18" charset="0"/>
                            </a:rPr>
                            <a:t>(1,3)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Garamond" panose="02020404030301010803" pitchFamily="18" charset="0"/>
                            </a:rPr>
                            <a:t>(0,4)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42584031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bg1"/>
                              </a:solidFill>
                              <a:latin typeface="Garamond" panose="02020404030301010803" pitchFamily="18" charset="0"/>
                            </a:rPr>
                            <a:t>5</a:t>
                          </a:r>
                        </a:p>
                      </a:txBody>
                      <a:tcPr anchor="ctr">
                        <a:solidFill>
                          <a:srgbClr val="77122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>
                              <a:latin typeface="Garamond" panose="02020404030301010803" pitchFamily="18" charset="0"/>
                            </a:rPr>
                            <a:t>5/30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Garamond" panose="02020404030301010803" pitchFamily="18" charset="0"/>
                            </a:rPr>
                            <a:t>(4,1)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Garamond" panose="02020404030301010803" pitchFamily="18" charset="0"/>
                            </a:rPr>
                            <a:t>(3,2)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>
                              <a:solidFill>
                                <a:schemeClr val="tx1"/>
                              </a:solidFill>
                              <a:latin typeface="Garamond" panose="02020404030301010803" pitchFamily="18" charset="0"/>
                            </a:rPr>
                            <a:t>(2,3)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>
                              <a:solidFill>
                                <a:schemeClr val="tx1"/>
                              </a:solidFill>
                              <a:latin typeface="Garamond" panose="02020404030301010803" pitchFamily="18" charset="0"/>
                            </a:rPr>
                            <a:t>(1,4)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dirty="0">
                            <a:solidFill>
                              <a:schemeClr val="tx1"/>
                            </a:solidFill>
                            <a:latin typeface="Garamond" panose="02020404030301010803" pitchFamily="18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55062058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bg1"/>
                              </a:solidFill>
                              <a:latin typeface="Garamond" panose="02020404030301010803" pitchFamily="18" charset="0"/>
                            </a:rPr>
                            <a:t>6</a:t>
                          </a:r>
                        </a:p>
                      </a:txBody>
                      <a:tcPr anchor="ctr">
                        <a:solidFill>
                          <a:srgbClr val="77122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>
                              <a:latin typeface="Garamond" panose="02020404030301010803" pitchFamily="18" charset="0"/>
                            </a:rPr>
                            <a:t>1/30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Garamond" panose="02020404030301010803" pitchFamily="18" charset="0"/>
                            </a:rPr>
                            <a:t>(4,2)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Garamond" panose="02020404030301010803" pitchFamily="18" charset="0"/>
                            </a:rPr>
                            <a:t>(3,3)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>
                              <a:solidFill>
                                <a:schemeClr val="tx1"/>
                              </a:solidFill>
                              <a:latin typeface="Garamond" panose="02020404030301010803" pitchFamily="18" charset="0"/>
                            </a:rPr>
                            <a:t>(2,4)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dirty="0">
                            <a:solidFill>
                              <a:schemeClr val="tx1"/>
                            </a:solidFill>
                            <a:latin typeface="Garamond" panose="02020404030301010803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dirty="0">
                            <a:solidFill>
                              <a:schemeClr val="tx1"/>
                            </a:solidFill>
                            <a:latin typeface="Garamond" panose="02020404030301010803" pitchFamily="18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21783816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bg1"/>
                              </a:solidFill>
                              <a:latin typeface="Garamond" panose="02020404030301010803" pitchFamily="18" charset="0"/>
                            </a:rPr>
                            <a:t>7</a:t>
                          </a:r>
                        </a:p>
                      </a:txBody>
                      <a:tcPr anchor="ctr">
                        <a:solidFill>
                          <a:srgbClr val="77122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>
                              <a:latin typeface="Garamond" panose="02020404030301010803" pitchFamily="18" charset="0"/>
                            </a:rPr>
                            <a:t>3/30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Garamond" panose="02020404030301010803" pitchFamily="18" charset="0"/>
                            </a:rPr>
                            <a:t>(4,3)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Garamond" panose="02020404030301010803" pitchFamily="18" charset="0"/>
                            </a:rPr>
                            <a:t>(3,4)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dirty="0">
                            <a:solidFill>
                              <a:schemeClr val="tx1"/>
                            </a:solidFill>
                            <a:latin typeface="Garamond" panose="02020404030301010803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dirty="0">
                            <a:solidFill>
                              <a:schemeClr val="tx1"/>
                            </a:solidFill>
                            <a:latin typeface="Garamond" panose="02020404030301010803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dirty="0">
                            <a:solidFill>
                              <a:schemeClr val="tx1"/>
                            </a:solidFill>
                            <a:latin typeface="Garamond" panose="02020404030301010803" pitchFamily="18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49435658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bg1"/>
                              </a:solidFill>
                              <a:latin typeface="Garamond" panose="02020404030301010803" pitchFamily="18" charset="0"/>
                            </a:rPr>
                            <a:t>8</a:t>
                          </a:r>
                        </a:p>
                      </a:txBody>
                      <a:tcPr anchor="ctr">
                        <a:solidFill>
                          <a:srgbClr val="77122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>
                              <a:latin typeface="Garamond" panose="02020404030301010803" pitchFamily="18" charset="0"/>
                            </a:rPr>
                            <a:t>2/30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Garamond" panose="02020404030301010803" pitchFamily="18" charset="0"/>
                            </a:rPr>
                            <a:t>(4,4)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>
                            <a:latin typeface="Garamond" panose="02020404030301010803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dirty="0">
                            <a:solidFill>
                              <a:schemeClr val="tx1"/>
                            </a:solidFill>
                            <a:latin typeface="Garamond" panose="02020404030301010803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dirty="0">
                            <a:solidFill>
                              <a:schemeClr val="tx1"/>
                            </a:solidFill>
                            <a:latin typeface="Garamond" panose="02020404030301010803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dirty="0">
                            <a:solidFill>
                              <a:schemeClr val="tx1"/>
                            </a:solidFill>
                            <a:latin typeface="Garamond" panose="02020404030301010803" pitchFamily="18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29502960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bg1"/>
                              </a:solidFill>
                              <a:latin typeface="Garamond" panose="02020404030301010803" pitchFamily="18" charset="0"/>
                            </a:rPr>
                            <a:t>Total</a:t>
                          </a:r>
                        </a:p>
                      </a:txBody>
                      <a:tcPr anchor="ctr">
                        <a:solidFill>
                          <a:srgbClr val="77122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>
                              <a:latin typeface="Garamond" panose="02020404030301010803" pitchFamily="18" charset="0"/>
                            </a:rPr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>
                            <a:latin typeface="Garamond" panose="02020404030301010803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>
                            <a:latin typeface="Garamond" panose="02020404030301010803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dirty="0">
                            <a:solidFill>
                              <a:schemeClr val="tx1"/>
                            </a:solidFill>
                            <a:latin typeface="Garamond" panose="02020404030301010803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dirty="0">
                            <a:solidFill>
                              <a:schemeClr val="tx1"/>
                            </a:solidFill>
                            <a:latin typeface="Garamond" panose="02020404030301010803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dirty="0">
                            <a:solidFill>
                              <a:schemeClr val="tx1"/>
                            </a:solidFill>
                            <a:latin typeface="Garamond" panose="02020404030301010803" pitchFamily="18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150360944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424247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5BE030-AD22-CF92-C811-F22223C44D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28E978-CB08-8638-B726-9EE990E68F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199" y="1300900"/>
            <a:ext cx="11189855" cy="5081046"/>
          </a:xfrm>
        </p:spPr>
        <p:txBody>
          <a:bodyPr>
            <a:normAutofit/>
          </a:bodyPr>
          <a:lstStyle/>
          <a:p>
            <a:pPr>
              <a:spcBef>
                <a:spcPts val="1000"/>
              </a:spcBef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Fill out the following table, and find the expected value and variance of Z: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15F71E0-FE3A-BE45-D1B1-98BADC769105}"/>
              </a:ext>
            </a:extLst>
          </p:cNvPr>
          <p:cNvSpPr/>
          <p:nvPr/>
        </p:nvSpPr>
        <p:spPr>
          <a:xfrm>
            <a:off x="0" y="0"/>
            <a:ext cx="12188825" cy="923636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BA0102B-B8B0-C328-D9EE-FDF49491D7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88825" cy="923636"/>
          </a:xfrm>
        </p:spPr>
        <p:txBody>
          <a:bodyPr>
            <a:normAutofit/>
          </a:bodyPr>
          <a:lstStyle/>
          <a:p>
            <a:pPr algn="l">
              <a:defRPr sz="4000" b="1">
                <a:solidFill>
                  <a:srgbClr val="FDB913"/>
                </a:solidFill>
                <a:latin typeface="Garamond"/>
              </a:defRPr>
            </a:pPr>
            <a:r>
              <a:rPr lang="en-US" sz="4000" dirty="0">
                <a:solidFill>
                  <a:schemeClr val="bg1"/>
                </a:solidFill>
              </a:rPr>
              <a:t>  In-class Exercise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C8AFB06-2845-C3C5-3597-3FA548CB305A}"/>
              </a:ext>
            </a:extLst>
          </p:cNvPr>
          <p:cNvSpPr/>
          <p:nvPr/>
        </p:nvSpPr>
        <p:spPr>
          <a:xfrm>
            <a:off x="-1" y="6503428"/>
            <a:ext cx="12188825" cy="354572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EC9C2D-69AC-C947-CBD8-7220ACCD7F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1" y="6503428"/>
            <a:ext cx="2895600" cy="354572"/>
          </a:xfrm>
        </p:spPr>
        <p:txBody>
          <a:bodyPr/>
          <a:lstStyle/>
          <a:p>
            <a:pPr algn="l"/>
            <a:r>
              <a:rPr lang="en-US">
                <a:solidFill>
                  <a:schemeClr val="bg1"/>
                </a:solidFill>
                <a:latin typeface="Garamond" panose="02020404030301010803" pitchFamily="18" charset="0"/>
              </a:rPr>
              <a:t>BUSN 320 Business Statistics</a:t>
            </a:r>
            <a:endParaRPr lang="en-US" dirty="0">
              <a:solidFill>
                <a:schemeClr val="bg1"/>
              </a:solidFill>
              <a:latin typeface="Garamond" panose="02020404030301010803" pitchFamily="18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C139C6-6439-18AB-0364-2CC1C3500E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55225" y="6503428"/>
            <a:ext cx="2133600" cy="354572"/>
          </a:xfrm>
        </p:spPr>
        <p:txBody>
          <a:bodyPr/>
          <a:lstStyle/>
          <a:p>
            <a:fld id="{C1FF6DA9-008F-8B48-92A6-B652298478BF}" type="slidenum">
              <a:rPr lang="en-US" b="1" smtClean="0">
                <a:solidFill>
                  <a:schemeClr val="bg1"/>
                </a:solidFill>
                <a:latin typeface="Garamond" panose="02020404030301010803" pitchFamily="18" charset="0"/>
              </a:rPr>
              <a:t>28</a:t>
            </a:fld>
            <a:r>
              <a:rPr lang="en-US" b="1" dirty="0">
                <a:solidFill>
                  <a:schemeClr val="bg1"/>
                </a:solidFill>
                <a:latin typeface="Garamond" panose="02020404030301010803" pitchFamily="18" charset="0"/>
              </a:rPr>
              <a:t>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0" name="Table 9">
                <a:extLst>
                  <a:ext uri="{FF2B5EF4-FFF2-40B4-BE49-F238E27FC236}">
                    <a16:creationId xmlns:a16="http://schemas.microsoft.com/office/drawing/2014/main" id="{102B7F91-B8DA-32B9-CC38-DA7462A7153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68421430"/>
                  </p:ext>
                </p:extLst>
              </p:nvPr>
            </p:nvGraphicFramePr>
            <p:xfrm>
              <a:off x="860525" y="1794769"/>
              <a:ext cx="10560146" cy="416363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067301">
                      <a:extLst>
                        <a:ext uri="{9D8B030D-6E8A-4147-A177-3AD203B41FA5}">
                          <a16:colId xmlns:a16="http://schemas.microsoft.com/office/drawing/2014/main" val="3269318500"/>
                        </a:ext>
                      </a:extLst>
                    </a:gridCol>
                    <a:gridCol w="1067301">
                      <a:extLst>
                        <a:ext uri="{9D8B030D-6E8A-4147-A177-3AD203B41FA5}">
                          <a16:colId xmlns:a16="http://schemas.microsoft.com/office/drawing/2014/main" val="1084937839"/>
                        </a:ext>
                      </a:extLst>
                    </a:gridCol>
                    <a:gridCol w="2276669">
                      <a:extLst>
                        <a:ext uri="{9D8B030D-6E8A-4147-A177-3AD203B41FA5}">
                          <a16:colId xmlns:a16="http://schemas.microsoft.com/office/drawing/2014/main" val="4200844973"/>
                        </a:ext>
                      </a:extLst>
                    </a:gridCol>
                    <a:gridCol w="1376266">
                      <a:extLst>
                        <a:ext uri="{9D8B030D-6E8A-4147-A177-3AD203B41FA5}">
                          <a16:colId xmlns:a16="http://schemas.microsoft.com/office/drawing/2014/main" val="3844035428"/>
                        </a:ext>
                      </a:extLst>
                    </a:gridCol>
                    <a:gridCol w="1376266">
                      <a:extLst>
                        <a:ext uri="{9D8B030D-6E8A-4147-A177-3AD203B41FA5}">
                          <a16:colId xmlns:a16="http://schemas.microsoft.com/office/drawing/2014/main" val="2990019285"/>
                        </a:ext>
                      </a:extLst>
                    </a:gridCol>
                    <a:gridCol w="3396343">
                      <a:extLst>
                        <a:ext uri="{9D8B030D-6E8A-4147-A177-3AD203B41FA5}">
                          <a16:colId xmlns:a16="http://schemas.microsoft.com/office/drawing/2014/main" val="301919693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0" dirty="0">
                              <a:solidFill>
                                <a:schemeClr val="bg1"/>
                              </a:solidFill>
                              <a:latin typeface="Rockwell" panose="02060603020205020403" pitchFamily="18" charset="0"/>
                            </a:rPr>
                            <a:t>Z</a:t>
                          </a:r>
                        </a:p>
                      </a:txBody>
                      <a:tcPr anchor="ctr"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77122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en-US" b="0" i="1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  <m:r>
                                  <a:rPr lang="en-US" b="0" i="1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1800" b="0" i="0" dirty="0" smtClean="0">
                                    <a:latin typeface="Rockwell" panose="02060603020205020403" pitchFamily="18" charset="0"/>
                                  </a:rPr>
                                  <m:t>z</m:t>
                                </m:r>
                                <m:r>
                                  <a:rPr lang="en-US" b="0" i="1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 anchor="ctr"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77122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m:rPr>
                                    <m:nor/>
                                  </m:rPr>
                                  <a:rPr lang="en-US" altLang="zh-TW" sz="1800" b="0" i="0" dirty="0" smtClean="0">
                                    <a:latin typeface="Rockwell" panose="02060603020205020403" pitchFamily="18" charset="0"/>
                                  </a:rPr>
                                  <m:t>z</m:t>
                                </m:r>
                                <m:r>
                                  <a:rPr lang="en-US" altLang="zh-TW" sz="1800" b="0" i="1" dirty="0" smtClean="0">
                                    <a:latin typeface="Cambria Math" panose="02040503050406030204" pitchFamily="18" charset="0"/>
                                  </a:rPr>
                                  <m:t>⋅</m:t>
                                </m:r>
                                <m:r>
                                  <a:rPr lang="en-US" b="0" i="1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  <m:r>
                                  <a:rPr lang="en-US" b="0" i="1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1800" b="0" i="0" dirty="0" smtClean="0">
                                    <a:latin typeface="Rockwell" panose="02060603020205020403" pitchFamily="18" charset="0"/>
                                  </a:rPr>
                                  <m:t>z</m:t>
                                </m:r>
                                <m:r>
                                  <a:rPr lang="en-US" b="0" i="1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b="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 anchor="ctr"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77122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m:rPr>
                                    <m:nor/>
                                  </m:rPr>
                                  <a:rPr lang="en-US" altLang="zh-TW" sz="1800" b="0" i="0" dirty="0" smtClean="0">
                                    <a:latin typeface="Rockwell" panose="02060603020205020403" pitchFamily="18" charset="0"/>
                                  </a:rPr>
                                  <m:t>z−E</m:t>
                                </m:r>
                                <m:r>
                                  <a:rPr lang="en-US" b="0" i="1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1800" b="0" i="0" dirty="0" smtClean="0">
                                    <a:latin typeface="Rockwell" panose="02060603020205020403" pitchFamily="18" charset="0"/>
                                  </a:rPr>
                                  <m:t>Z</m:t>
                                </m:r>
                                <m:r>
                                  <a:rPr lang="en-US" b="0" i="1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b="0" dirty="0">
                            <a:solidFill>
                              <a:schemeClr val="bg1"/>
                            </a:solidFill>
                            <a:latin typeface="Garamond" panose="02020404030301010803" pitchFamily="18" charset="0"/>
                          </a:endParaRPr>
                        </a:p>
                      </a:txBody>
                      <a:tcPr anchor="ctr"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77122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>
                                <m:sSup>
                                  <m:sSupPr>
                                    <m:ctrlPr>
                                      <a:rPr lang="en-US" altLang="zh-TW" sz="1800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ctrlPr>
                                          <a:rPr lang="en-US" altLang="zh-TW" sz="1800" b="0" i="0" dirty="0" smtClean="0">
                                            <a:latin typeface="Rockwell" panose="02060603020205020403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m:rPr>
                                            <m:nor/>
                                          </m:rPr>
                                          <a:rPr lang="en-US" altLang="zh-TW" sz="1800" b="0" i="0" dirty="0" smtClean="0">
                                            <a:latin typeface="Rockwell" panose="02060603020205020403" pitchFamily="18" charset="0"/>
                                          </a:rPr>
                                          <m:t>z−E</m:t>
                                        </m:r>
                                        <m:d>
                                          <m:dPr>
                                            <m:ctrlPr>
                                              <a:rPr lang="en-US" altLang="zh-TW" sz="1800" b="0" i="0" dirty="0" smtClean="0">
                                                <a:latin typeface="Rockwell" panose="02060603020205020403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r>
                                              <m:rPr>
                                                <m:nor/>
                                              </m:rPr>
                                              <a:rPr lang="en-US" altLang="zh-TW" sz="1800" b="0" i="0" dirty="0" smtClean="0">
                                                <a:latin typeface="Rockwell" panose="02060603020205020403" pitchFamily="18" charset="0"/>
                                              </a:rPr>
                                              <m:t>Z</m:t>
                                            </m:r>
                                          </m:e>
                                        </m:d>
                                      </m:e>
                                    </m:d>
                                  </m:e>
                                  <m:sup>
                                    <m:r>
                                      <a:rPr lang="en-US" altLang="zh-TW" sz="1800" b="0" i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b="0" dirty="0">
                            <a:solidFill>
                              <a:schemeClr val="bg1"/>
                            </a:solidFill>
                            <a:latin typeface="Garamond" panose="02020404030301010803" pitchFamily="18" charset="0"/>
                          </a:endParaRPr>
                        </a:p>
                      </a:txBody>
                      <a:tcPr anchor="ctr"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77122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>
                                <m:sSup>
                                  <m:sSupPr>
                                    <m:ctrlPr>
                                      <a:rPr lang="en-US" altLang="zh-TW" sz="1800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ctrlPr>
                                          <a:rPr lang="en-US" altLang="zh-TW" sz="1800" b="0" i="0" dirty="0" smtClean="0">
                                            <a:latin typeface="Rockwell" panose="02060603020205020403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m:rPr>
                                            <m:nor/>
                                          </m:rPr>
                                          <a:rPr lang="en-US" altLang="zh-TW" sz="1800" b="0" i="0" dirty="0" smtClean="0">
                                            <a:latin typeface="Rockwell" panose="02060603020205020403" pitchFamily="18" charset="0"/>
                                          </a:rPr>
                                          <m:t>z−E</m:t>
                                        </m:r>
                                        <m:d>
                                          <m:dPr>
                                            <m:ctrlPr>
                                              <a:rPr lang="en-US" altLang="zh-TW" sz="1800" b="0" i="0" dirty="0" smtClean="0">
                                                <a:latin typeface="Rockwell" panose="02060603020205020403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r>
                                              <m:rPr>
                                                <m:nor/>
                                              </m:rPr>
                                              <a:rPr lang="en-US" altLang="zh-TW" sz="1800" b="0" i="0" dirty="0" smtClean="0">
                                                <a:latin typeface="Rockwell" panose="02060603020205020403" pitchFamily="18" charset="0"/>
                                              </a:rPr>
                                              <m:t>Z</m:t>
                                            </m:r>
                                          </m:e>
                                        </m:d>
                                      </m:e>
                                    </m:d>
                                  </m:e>
                                  <m:sup>
                                    <m:r>
                                      <a:rPr lang="en-US" altLang="zh-TW" sz="1800" b="0" i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US" altLang="zh-TW" sz="1800" b="0" i="1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⋅</m:t>
                                </m:r>
                                <m:r>
                                  <a:rPr lang="en-US" b="0" i="1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  <m:r>
                                  <a:rPr lang="en-US" b="0" i="1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1800" b="0" i="0" dirty="0" smtClean="0">
                                    <a:latin typeface="Rockwell" panose="02060603020205020403" pitchFamily="18" charset="0"/>
                                  </a:rPr>
                                  <m:t>z</m:t>
                                </m:r>
                                <m:r>
                                  <a:rPr lang="en-US" b="0" i="1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b="0" dirty="0">
                            <a:solidFill>
                              <a:schemeClr val="bg1"/>
                            </a:solidFill>
                            <a:latin typeface="Garamond" panose="02020404030301010803" pitchFamily="18" charset="0"/>
                          </a:endParaRPr>
                        </a:p>
                      </a:txBody>
                      <a:tcPr anchor="ctr"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77122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6876973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bg1"/>
                              </a:solidFill>
                              <a:latin typeface="Garamond" panose="02020404030301010803" pitchFamily="18" charset="0"/>
                            </a:rPr>
                            <a:t>0</a:t>
                          </a:r>
                        </a:p>
                      </a:txBody>
                      <a:tcPr anchor="ctr"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solidFill>
                          <a:srgbClr val="77122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Garamond" panose="02020404030301010803" pitchFamily="18" charset="0"/>
                            </a:rPr>
                            <a:t>4/30</a:t>
                          </a:r>
                        </a:p>
                      </a:txBody>
                      <a:tcPr anchor="ctr"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dirty="0">
                            <a:latin typeface="Garamond" panose="02020404030301010803" pitchFamily="18" charset="0"/>
                          </a:endParaRPr>
                        </a:p>
                      </a:txBody>
                      <a:tcPr anchor="ctr"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dirty="0">
                            <a:latin typeface="Garamond" panose="02020404030301010803" pitchFamily="18" charset="0"/>
                          </a:endParaRPr>
                        </a:p>
                      </a:txBody>
                      <a:tcPr anchor="ctr"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dirty="0">
                            <a:latin typeface="Garamond" panose="02020404030301010803" pitchFamily="18" charset="0"/>
                          </a:endParaRPr>
                        </a:p>
                      </a:txBody>
                      <a:tcPr anchor="ctr"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dirty="0">
                            <a:latin typeface="Garamond" panose="02020404030301010803" pitchFamily="18" charset="0"/>
                          </a:endParaRPr>
                        </a:p>
                      </a:txBody>
                      <a:tcPr anchor="ctr"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extLst>
                      <a:ext uri="{0D108BD9-81ED-4DB2-BD59-A6C34878D82A}">
                        <a16:rowId xmlns:a16="http://schemas.microsoft.com/office/drawing/2014/main" val="386434689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bg1"/>
                              </a:solidFill>
                              <a:latin typeface="Garamond" panose="02020404030301010803" pitchFamily="18" charset="0"/>
                            </a:rPr>
                            <a:t>1</a:t>
                          </a:r>
                        </a:p>
                      </a:txBody>
                      <a:tcPr anchor="ctr">
                        <a:solidFill>
                          <a:srgbClr val="77122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Garamond" panose="02020404030301010803" pitchFamily="18" charset="0"/>
                            </a:rPr>
                            <a:t>4/30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dirty="0">
                            <a:latin typeface="Garamond" panose="02020404030301010803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dirty="0">
                            <a:latin typeface="Garamond" panose="02020404030301010803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dirty="0">
                            <a:latin typeface="Garamond" panose="02020404030301010803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dirty="0">
                            <a:latin typeface="Garamond" panose="02020404030301010803" pitchFamily="18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7368346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bg1"/>
                              </a:solidFill>
                              <a:latin typeface="Garamond" panose="02020404030301010803" pitchFamily="18" charset="0"/>
                            </a:rPr>
                            <a:t>2</a:t>
                          </a:r>
                        </a:p>
                      </a:txBody>
                      <a:tcPr anchor="ctr">
                        <a:solidFill>
                          <a:srgbClr val="77122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Garamond" panose="02020404030301010803" pitchFamily="18" charset="0"/>
                            </a:rPr>
                            <a:t>4/30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>
                            <a:latin typeface="Garamond" panose="02020404030301010803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>
                            <a:latin typeface="Garamond" panose="02020404030301010803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>
                            <a:latin typeface="Garamond" panose="02020404030301010803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>
                            <a:latin typeface="Garamond" panose="02020404030301010803" pitchFamily="18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28412386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bg1"/>
                              </a:solidFill>
                              <a:latin typeface="Garamond" panose="02020404030301010803" pitchFamily="18" charset="0"/>
                            </a:rPr>
                            <a:t>3</a:t>
                          </a:r>
                        </a:p>
                      </a:txBody>
                      <a:tcPr anchor="ctr">
                        <a:solidFill>
                          <a:srgbClr val="77122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Garamond" panose="02020404030301010803" pitchFamily="18" charset="0"/>
                            </a:rPr>
                            <a:t>5/30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>
                            <a:latin typeface="Garamond" panose="02020404030301010803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>
                            <a:latin typeface="Garamond" panose="02020404030301010803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>
                            <a:latin typeface="Garamond" panose="02020404030301010803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>
                            <a:latin typeface="Garamond" panose="02020404030301010803" pitchFamily="18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49561823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bg1"/>
                              </a:solidFill>
                              <a:latin typeface="Garamond" panose="02020404030301010803" pitchFamily="18" charset="0"/>
                            </a:rPr>
                            <a:t>4</a:t>
                          </a:r>
                        </a:p>
                      </a:txBody>
                      <a:tcPr anchor="ctr">
                        <a:solidFill>
                          <a:srgbClr val="77122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Garamond" panose="02020404030301010803" pitchFamily="18" charset="0"/>
                            </a:rPr>
                            <a:t>2/30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>
                            <a:latin typeface="Garamond" panose="02020404030301010803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>
                            <a:latin typeface="Garamond" panose="02020404030301010803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>
                            <a:latin typeface="Garamond" panose="02020404030301010803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>
                            <a:latin typeface="Garamond" panose="02020404030301010803" pitchFamily="18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42584031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bg1"/>
                              </a:solidFill>
                              <a:latin typeface="Garamond" panose="02020404030301010803" pitchFamily="18" charset="0"/>
                            </a:rPr>
                            <a:t>5</a:t>
                          </a:r>
                        </a:p>
                      </a:txBody>
                      <a:tcPr anchor="ctr">
                        <a:solidFill>
                          <a:srgbClr val="77122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>
                              <a:latin typeface="Garamond" panose="02020404030301010803" pitchFamily="18" charset="0"/>
                            </a:rPr>
                            <a:t>5/30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>
                            <a:latin typeface="Garamond" panose="02020404030301010803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>
                            <a:latin typeface="Garamond" panose="02020404030301010803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dirty="0">
                            <a:solidFill>
                              <a:schemeClr val="tx1"/>
                            </a:solidFill>
                            <a:latin typeface="Garamond" panose="02020404030301010803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dirty="0">
                            <a:solidFill>
                              <a:schemeClr val="tx1"/>
                            </a:solidFill>
                            <a:latin typeface="Garamond" panose="02020404030301010803" pitchFamily="18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55062058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bg1"/>
                              </a:solidFill>
                              <a:latin typeface="Garamond" panose="02020404030301010803" pitchFamily="18" charset="0"/>
                            </a:rPr>
                            <a:t>6</a:t>
                          </a:r>
                        </a:p>
                      </a:txBody>
                      <a:tcPr anchor="ctr">
                        <a:solidFill>
                          <a:srgbClr val="77122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>
                              <a:latin typeface="Garamond" panose="02020404030301010803" pitchFamily="18" charset="0"/>
                            </a:rPr>
                            <a:t>1/30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>
                            <a:latin typeface="Garamond" panose="02020404030301010803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>
                            <a:latin typeface="Garamond" panose="02020404030301010803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dirty="0">
                            <a:solidFill>
                              <a:schemeClr val="tx1"/>
                            </a:solidFill>
                            <a:latin typeface="Garamond" panose="02020404030301010803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dirty="0">
                            <a:solidFill>
                              <a:schemeClr val="tx1"/>
                            </a:solidFill>
                            <a:latin typeface="Garamond" panose="02020404030301010803" pitchFamily="18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21783816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bg1"/>
                              </a:solidFill>
                              <a:latin typeface="Garamond" panose="02020404030301010803" pitchFamily="18" charset="0"/>
                            </a:rPr>
                            <a:t>7</a:t>
                          </a:r>
                        </a:p>
                      </a:txBody>
                      <a:tcPr anchor="ctr">
                        <a:solidFill>
                          <a:srgbClr val="77122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>
                              <a:latin typeface="Garamond" panose="02020404030301010803" pitchFamily="18" charset="0"/>
                            </a:rPr>
                            <a:t>3/30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>
                            <a:latin typeface="Garamond" panose="02020404030301010803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>
                            <a:latin typeface="Garamond" panose="02020404030301010803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dirty="0">
                            <a:solidFill>
                              <a:schemeClr val="tx1"/>
                            </a:solidFill>
                            <a:latin typeface="Garamond" panose="02020404030301010803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dirty="0">
                            <a:solidFill>
                              <a:schemeClr val="tx1"/>
                            </a:solidFill>
                            <a:latin typeface="Garamond" panose="02020404030301010803" pitchFamily="18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49435658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bg1"/>
                              </a:solidFill>
                              <a:latin typeface="Garamond" panose="02020404030301010803" pitchFamily="18" charset="0"/>
                            </a:rPr>
                            <a:t>8</a:t>
                          </a:r>
                        </a:p>
                      </a:txBody>
                      <a:tcPr anchor="ctr">
                        <a:solidFill>
                          <a:srgbClr val="77122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>
                              <a:latin typeface="Garamond" panose="02020404030301010803" pitchFamily="18" charset="0"/>
                            </a:rPr>
                            <a:t>2/30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>
                            <a:latin typeface="Garamond" panose="02020404030301010803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>
                            <a:latin typeface="Garamond" panose="02020404030301010803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dirty="0">
                            <a:solidFill>
                              <a:schemeClr val="tx1"/>
                            </a:solidFill>
                            <a:latin typeface="Garamond" panose="02020404030301010803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dirty="0">
                            <a:solidFill>
                              <a:schemeClr val="tx1"/>
                            </a:solidFill>
                            <a:latin typeface="Garamond" panose="02020404030301010803" pitchFamily="18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29502960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bg1"/>
                              </a:solidFill>
                              <a:latin typeface="Garamond" panose="02020404030301010803" pitchFamily="18" charset="0"/>
                            </a:rPr>
                            <a:t>Total</a:t>
                          </a:r>
                        </a:p>
                      </a:txBody>
                      <a:tcPr anchor="ctr">
                        <a:solidFill>
                          <a:srgbClr val="77122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>
                              <a:latin typeface="Garamond" panose="02020404030301010803" pitchFamily="18" charset="0"/>
                            </a:rPr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800" b="0" dirty="0">
                            <a:solidFill>
                              <a:schemeClr val="tx1"/>
                            </a:solidFill>
                            <a:latin typeface="Garamond" panose="02020404030301010803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>
                            <a:solidFill>
                              <a:schemeClr val="tx1"/>
                            </a:solidFill>
                            <a:latin typeface="Garamond" panose="02020404030301010803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dirty="0">
                            <a:solidFill>
                              <a:schemeClr val="tx1"/>
                            </a:solidFill>
                            <a:latin typeface="Garamond" panose="02020404030301010803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dirty="0">
                            <a:solidFill>
                              <a:schemeClr val="tx1"/>
                            </a:solidFill>
                            <a:latin typeface="Garamond" panose="02020404030301010803" pitchFamily="18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15036094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0" name="Table 9">
                <a:extLst>
                  <a:ext uri="{FF2B5EF4-FFF2-40B4-BE49-F238E27FC236}">
                    <a16:creationId xmlns:a16="http://schemas.microsoft.com/office/drawing/2014/main" id="{102B7F91-B8DA-32B9-CC38-DA7462A7153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68421430"/>
                  </p:ext>
                </p:extLst>
              </p:nvPr>
            </p:nvGraphicFramePr>
            <p:xfrm>
              <a:off x="860525" y="1794769"/>
              <a:ext cx="10560146" cy="416363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067301">
                      <a:extLst>
                        <a:ext uri="{9D8B030D-6E8A-4147-A177-3AD203B41FA5}">
                          <a16:colId xmlns:a16="http://schemas.microsoft.com/office/drawing/2014/main" val="3269318500"/>
                        </a:ext>
                      </a:extLst>
                    </a:gridCol>
                    <a:gridCol w="1067301">
                      <a:extLst>
                        <a:ext uri="{9D8B030D-6E8A-4147-A177-3AD203B41FA5}">
                          <a16:colId xmlns:a16="http://schemas.microsoft.com/office/drawing/2014/main" val="1084937839"/>
                        </a:ext>
                      </a:extLst>
                    </a:gridCol>
                    <a:gridCol w="2276669">
                      <a:extLst>
                        <a:ext uri="{9D8B030D-6E8A-4147-A177-3AD203B41FA5}">
                          <a16:colId xmlns:a16="http://schemas.microsoft.com/office/drawing/2014/main" val="4200844973"/>
                        </a:ext>
                      </a:extLst>
                    </a:gridCol>
                    <a:gridCol w="1376266">
                      <a:extLst>
                        <a:ext uri="{9D8B030D-6E8A-4147-A177-3AD203B41FA5}">
                          <a16:colId xmlns:a16="http://schemas.microsoft.com/office/drawing/2014/main" val="3844035428"/>
                        </a:ext>
                      </a:extLst>
                    </a:gridCol>
                    <a:gridCol w="1376266">
                      <a:extLst>
                        <a:ext uri="{9D8B030D-6E8A-4147-A177-3AD203B41FA5}">
                          <a16:colId xmlns:a16="http://schemas.microsoft.com/office/drawing/2014/main" val="2990019285"/>
                        </a:ext>
                      </a:extLst>
                    </a:gridCol>
                    <a:gridCol w="3396343">
                      <a:extLst>
                        <a:ext uri="{9D8B030D-6E8A-4147-A177-3AD203B41FA5}">
                          <a16:colId xmlns:a16="http://schemas.microsoft.com/office/drawing/2014/main" val="3019196937"/>
                        </a:ext>
                      </a:extLst>
                    </a:gridCol>
                  </a:tblGrid>
                  <a:tr h="45523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0" dirty="0">
                              <a:solidFill>
                                <a:schemeClr val="bg1"/>
                              </a:solidFill>
                              <a:latin typeface="Rockwell" panose="02060603020205020403" pitchFamily="18" charset="0"/>
                            </a:rPr>
                            <a:t>Z</a:t>
                          </a:r>
                        </a:p>
                      </a:txBody>
                      <a:tcPr anchor="ctr"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77122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0571" t="-1333" r="-791429" b="-832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93850" t="-1333" r="-270321" b="-832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20796" t="-1333" r="-347345" b="-832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420796" t="-1333" r="-247345" b="-832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11311" t="-1333" r="-359" b="-832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6876973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bg1"/>
                              </a:solidFill>
                              <a:latin typeface="Garamond" panose="02020404030301010803" pitchFamily="18" charset="0"/>
                            </a:rPr>
                            <a:t>0</a:t>
                          </a:r>
                        </a:p>
                      </a:txBody>
                      <a:tcPr anchor="ctr"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solidFill>
                          <a:srgbClr val="77122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Garamond" panose="02020404030301010803" pitchFamily="18" charset="0"/>
                            </a:rPr>
                            <a:t>4/30</a:t>
                          </a:r>
                        </a:p>
                      </a:txBody>
                      <a:tcPr anchor="ctr"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dirty="0">
                            <a:latin typeface="Garamond" panose="02020404030301010803" pitchFamily="18" charset="0"/>
                          </a:endParaRPr>
                        </a:p>
                      </a:txBody>
                      <a:tcPr anchor="ctr"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dirty="0">
                            <a:latin typeface="Garamond" panose="02020404030301010803" pitchFamily="18" charset="0"/>
                          </a:endParaRPr>
                        </a:p>
                      </a:txBody>
                      <a:tcPr anchor="ctr"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dirty="0">
                            <a:latin typeface="Garamond" panose="02020404030301010803" pitchFamily="18" charset="0"/>
                          </a:endParaRPr>
                        </a:p>
                      </a:txBody>
                      <a:tcPr anchor="ctr"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dirty="0">
                            <a:latin typeface="Garamond" panose="02020404030301010803" pitchFamily="18" charset="0"/>
                          </a:endParaRPr>
                        </a:p>
                      </a:txBody>
                      <a:tcPr anchor="ctr"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extLst>
                      <a:ext uri="{0D108BD9-81ED-4DB2-BD59-A6C34878D82A}">
                        <a16:rowId xmlns:a16="http://schemas.microsoft.com/office/drawing/2014/main" val="386434689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bg1"/>
                              </a:solidFill>
                              <a:latin typeface="Garamond" panose="02020404030301010803" pitchFamily="18" charset="0"/>
                            </a:rPr>
                            <a:t>1</a:t>
                          </a:r>
                        </a:p>
                      </a:txBody>
                      <a:tcPr anchor="ctr">
                        <a:solidFill>
                          <a:srgbClr val="77122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Garamond" panose="02020404030301010803" pitchFamily="18" charset="0"/>
                            </a:rPr>
                            <a:t>4/30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dirty="0">
                            <a:latin typeface="Garamond" panose="02020404030301010803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dirty="0">
                            <a:latin typeface="Garamond" panose="02020404030301010803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dirty="0">
                            <a:latin typeface="Garamond" panose="02020404030301010803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dirty="0">
                            <a:latin typeface="Garamond" panose="02020404030301010803" pitchFamily="18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7368346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bg1"/>
                              </a:solidFill>
                              <a:latin typeface="Garamond" panose="02020404030301010803" pitchFamily="18" charset="0"/>
                            </a:rPr>
                            <a:t>2</a:t>
                          </a:r>
                        </a:p>
                      </a:txBody>
                      <a:tcPr anchor="ctr">
                        <a:solidFill>
                          <a:srgbClr val="77122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Garamond" panose="02020404030301010803" pitchFamily="18" charset="0"/>
                            </a:rPr>
                            <a:t>4/30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>
                            <a:latin typeface="Garamond" panose="02020404030301010803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>
                            <a:latin typeface="Garamond" panose="02020404030301010803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>
                            <a:latin typeface="Garamond" panose="02020404030301010803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>
                            <a:latin typeface="Garamond" panose="02020404030301010803" pitchFamily="18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28412386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bg1"/>
                              </a:solidFill>
                              <a:latin typeface="Garamond" panose="02020404030301010803" pitchFamily="18" charset="0"/>
                            </a:rPr>
                            <a:t>3</a:t>
                          </a:r>
                        </a:p>
                      </a:txBody>
                      <a:tcPr anchor="ctr">
                        <a:solidFill>
                          <a:srgbClr val="77122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Garamond" panose="02020404030301010803" pitchFamily="18" charset="0"/>
                            </a:rPr>
                            <a:t>5/30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>
                            <a:latin typeface="Garamond" panose="02020404030301010803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>
                            <a:latin typeface="Garamond" panose="02020404030301010803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>
                            <a:latin typeface="Garamond" panose="02020404030301010803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>
                            <a:latin typeface="Garamond" panose="02020404030301010803" pitchFamily="18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49561823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bg1"/>
                              </a:solidFill>
                              <a:latin typeface="Garamond" panose="02020404030301010803" pitchFamily="18" charset="0"/>
                            </a:rPr>
                            <a:t>4</a:t>
                          </a:r>
                        </a:p>
                      </a:txBody>
                      <a:tcPr anchor="ctr">
                        <a:solidFill>
                          <a:srgbClr val="77122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Garamond" panose="02020404030301010803" pitchFamily="18" charset="0"/>
                            </a:rPr>
                            <a:t>2/30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>
                            <a:latin typeface="Garamond" panose="02020404030301010803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>
                            <a:latin typeface="Garamond" panose="02020404030301010803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>
                            <a:latin typeface="Garamond" panose="02020404030301010803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>
                            <a:latin typeface="Garamond" panose="02020404030301010803" pitchFamily="18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42584031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bg1"/>
                              </a:solidFill>
                              <a:latin typeface="Garamond" panose="02020404030301010803" pitchFamily="18" charset="0"/>
                            </a:rPr>
                            <a:t>5</a:t>
                          </a:r>
                        </a:p>
                      </a:txBody>
                      <a:tcPr anchor="ctr">
                        <a:solidFill>
                          <a:srgbClr val="77122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>
                              <a:latin typeface="Garamond" panose="02020404030301010803" pitchFamily="18" charset="0"/>
                            </a:rPr>
                            <a:t>5/30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>
                            <a:latin typeface="Garamond" panose="02020404030301010803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>
                            <a:latin typeface="Garamond" panose="02020404030301010803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dirty="0">
                            <a:solidFill>
                              <a:schemeClr val="tx1"/>
                            </a:solidFill>
                            <a:latin typeface="Garamond" panose="02020404030301010803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dirty="0">
                            <a:solidFill>
                              <a:schemeClr val="tx1"/>
                            </a:solidFill>
                            <a:latin typeface="Garamond" panose="02020404030301010803" pitchFamily="18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55062058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bg1"/>
                              </a:solidFill>
                              <a:latin typeface="Garamond" panose="02020404030301010803" pitchFamily="18" charset="0"/>
                            </a:rPr>
                            <a:t>6</a:t>
                          </a:r>
                        </a:p>
                      </a:txBody>
                      <a:tcPr anchor="ctr">
                        <a:solidFill>
                          <a:srgbClr val="77122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>
                              <a:latin typeface="Garamond" panose="02020404030301010803" pitchFamily="18" charset="0"/>
                            </a:rPr>
                            <a:t>1/30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>
                            <a:latin typeface="Garamond" panose="02020404030301010803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>
                            <a:latin typeface="Garamond" panose="02020404030301010803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dirty="0">
                            <a:solidFill>
                              <a:schemeClr val="tx1"/>
                            </a:solidFill>
                            <a:latin typeface="Garamond" panose="02020404030301010803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dirty="0">
                            <a:solidFill>
                              <a:schemeClr val="tx1"/>
                            </a:solidFill>
                            <a:latin typeface="Garamond" panose="02020404030301010803" pitchFamily="18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21783816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bg1"/>
                              </a:solidFill>
                              <a:latin typeface="Garamond" panose="02020404030301010803" pitchFamily="18" charset="0"/>
                            </a:rPr>
                            <a:t>7</a:t>
                          </a:r>
                        </a:p>
                      </a:txBody>
                      <a:tcPr anchor="ctr">
                        <a:solidFill>
                          <a:srgbClr val="77122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>
                              <a:latin typeface="Garamond" panose="02020404030301010803" pitchFamily="18" charset="0"/>
                            </a:rPr>
                            <a:t>3/30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>
                            <a:latin typeface="Garamond" panose="02020404030301010803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>
                            <a:latin typeface="Garamond" panose="02020404030301010803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dirty="0">
                            <a:solidFill>
                              <a:schemeClr val="tx1"/>
                            </a:solidFill>
                            <a:latin typeface="Garamond" panose="02020404030301010803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dirty="0">
                            <a:solidFill>
                              <a:schemeClr val="tx1"/>
                            </a:solidFill>
                            <a:latin typeface="Garamond" panose="02020404030301010803" pitchFamily="18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49435658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bg1"/>
                              </a:solidFill>
                              <a:latin typeface="Garamond" panose="02020404030301010803" pitchFamily="18" charset="0"/>
                            </a:rPr>
                            <a:t>8</a:t>
                          </a:r>
                        </a:p>
                      </a:txBody>
                      <a:tcPr anchor="ctr">
                        <a:solidFill>
                          <a:srgbClr val="77122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>
                              <a:latin typeface="Garamond" panose="02020404030301010803" pitchFamily="18" charset="0"/>
                            </a:rPr>
                            <a:t>2/30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>
                            <a:latin typeface="Garamond" panose="02020404030301010803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>
                            <a:latin typeface="Garamond" panose="02020404030301010803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dirty="0">
                            <a:solidFill>
                              <a:schemeClr val="tx1"/>
                            </a:solidFill>
                            <a:latin typeface="Garamond" panose="02020404030301010803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dirty="0">
                            <a:solidFill>
                              <a:schemeClr val="tx1"/>
                            </a:solidFill>
                            <a:latin typeface="Garamond" panose="02020404030301010803" pitchFamily="18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29502960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bg1"/>
                              </a:solidFill>
                              <a:latin typeface="Garamond" panose="02020404030301010803" pitchFamily="18" charset="0"/>
                            </a:rPr>
                            <a:t>Total</a:t>
                          </a:r>
                        </a:p>
                      </a:txBody>
                      <a:tcPr anchor="ctr">
                        <a:solidFill>
                          <a:srgbClr val="77122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>
                              <a:latin typeface="Garamond" panose="02020404030301010803" pitchFamily="18" charset="0"/>
                            </a:rPr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800" b="0" dirty="0">
                            <a:solidFill>
                              <a:schemeClr val="tx1"/>
                            </a:solidFill>
                            <a:latin typeface="Garamond" panose="02020404030301010803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>
                            <a:solidFill>
                              <a:schemeClr val="tx1"/>
                            </a:solidFill>
                            <a:latin typeface="Garamond" panose="02020404030301010803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dirty="0">
                            <a:solidFill>
                              <a:schemeClr val="tx1"/>
                            </a:solidFill>
                            <a:latin typeface="Garamond" panose="02020404030301010803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dirty="0">
                            <a:solidFill>
                              <a:schemeClr val="tx1"/>
                            </a:solidFill>
                            <a:latin typeface="Garamond" panose="02020404030301010803" pitchFamily="18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150360944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1" name="Table 10">
                <a:extLst>
                  <a:ext uri="{FF2B5EF4-FFF2-40B4-BE49-F238E27FC236}">
                    <a16:creationId xmlns:a16="http://schemas.microsoft.com/office/drawing/2014/main" id="{B0FB4C7E-12A4-C9DA-F49A-8E9CABFE2AC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27990339"/>
                  </p:ext>
                </p:extLst>
              </p:nvPr>
            </p:nvGraphicFramePr>
            <p:xfrm>
              <a:off x="860525" y="1794769"/>
              <a:ext cx="10560146" cy="416363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067301">
                      <a:extLst>
                        <a:ext uri="{9D8B030D-6E8A-4147-A177-3AD203B41FA5}">
                          <a16:colId xmlns:a16="http://schemas.microsoft.com/office/drawing/2014/main" val="3269318500"/>
                        </a:ext>
                      </a:extLst>
                    </a:gridCol>
                    <a:gridCol w="1067301">
                      <a:extLst>
                        <a:ext uri="{9D8B030D-6E8A-4147-A177-3AD203B41FA5}">
                          <a16:colId xmlns:a16="http://schemas.microsoft.com/office/drawing/2014/main" val="1084937839"/>
                        </a:ext>
                      </a:extLst>
                    </a:gridCol>
                    <a:gridCol w="2276669">
                      <a:extLst>
                        <a:ext uri="{9D8B030D-6E8A-4147-A177-3AD203B41FA5}">
                          <a16:colId xmlns:a16="http://schemas.microsoft.com/office/drawing/2014/main" val="4200844973"/>
                        </a:ext>
                      </a:extLst>
                    </a:gridCol>
                    <a:gridCol w="1376266">
                      <a:extLst>
                        <a:ext uri="{9D8B030D-6E8A-4147-A177-3AD203B41FA5}">
                          <a16:colId xmlns:a16="http://schemas.microsoft.com/office/drawing/2014/main" val="3844035428"/>
                        </a:ext>
                      </a:extLst>
                    </a:gridCol>
                    <a:gridCol w="1376266">
                      <a:extLst>
                        <a:ext uri="{9D8B030D-6E8A-4147-A177-3AD203B41FA5}">
                          <a16:colId xmlns:a16="http://schemas.microsoft.com/office/drawing/2014/main" val="2990019285"/>
                        </a:ext>
                      </a:extLst>
                    </a:gridCol>
                    <a:gridCol w="3396343">
                      <a:extLst>
                        <a:ext uri="{9D8B030D-6E8A-4147-A177-3AD203B41FA5}">
                          <a16:colId xmlns:a16="http://schemas.microsoft.com/office/drawing/2014/main" val="301919693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0" dirty="0">
                              <a:solidFill>
                                <a:schemeClr val="bg1"/>
                              </a:solidFill>
                              <a:latin typeface="Rockwell" panose="02060603020205020403" pitchFamily="18" charset="0"/>
                            </a:rPr>
                            <a:t>Z</a:t>
                          </a:r>
                        </a:p>
                      </a:txBody>
                      <a:tcPr anchor="ctr"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77122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en-US" b="0" i="1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  <m:r>
                                  <a:rPr lang="en-US" b="0" i="1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1800" b="0" i="0" dirty="0" smtClean="0">
                                    <a:latin typeface="Rockwell" panose="02060603020205020403" pitchFamily="18" charset="0"/>
                                  </a:rPr>
                                  <m:t>z</m:t>
                                </m:r>
                                <m:r>
                                  <a:rPr lang="en-US" b="0" i="1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 anchor="ctr"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77122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m:rPr>
                                    <m:nor/>
                                  </m:rPr>
                                  <a:rPr lang="en-US" altLang="zh-TW" sz="1800" b="0" i="0" dirty="0" smtClean="0">
                                    <a:latin typeface="Rockwell" panose="02060603020205020403" pitchFamily="18" charset="0"/>
                                  </a:rPr>
                                  <m:t>z</m:t>
                                </m:r>
                                <m:r>
                                  <a:rPr lang="en-US" altLang="zh-TW" sz="1800" b="0" i="1" dirty="0" smtClean="0">
                                    <a:latin typeface="Cambria Math" panose="02040503050406030204" pitchFamily="18" charset="0"/>
                                  </a:rPr>
                                  <m:t>⋅</m:t>
                                </m:r>
                                <m:r>
                                  <a:rPr lang="en-US" b="0" i="1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  <m:r>
                                  <a:rPr lang="en-US" b="0" i="1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1800" b="0" i="0" dirty="0" smtClean="0">
                                    <a:latin typeface="Rockwell" panose="02060603020205020403" pitchFamily="18" charset="0"/>
                                  </a:rPr>
                                  <m:t>z</m:t>
                                </m:r>
                                <m:r>
                                  <a:rPr lang="en-US" b="0" i="1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b="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 anchor="ctr"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77122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m:rPr>
                                    <m:nor/>
                                  </m:rPr>
                                  <a:rPr lang="en-US" altLang="zh-TW" sz="1800" b="0" i="0" dirty="0" smtClean="0">
                                    <a:latin typeface="Rockwell" panose="02060603020205020403" pitchFamily="18" charset="0"/>
                                  </a:rPr>
                                  <m:t>z−E</m:t>
                                </m:r>
                                <m:r>
                                  <a:rPr lang="en-US" b="0" i="1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1800" b="0" i="0" dirty="0" smtClean="0">
                                    <a:latin typeface="Rockwell" panose="02060603020205020403" pitchFamily="18" charset="0"/>
                                  </a:rPr>
                                  <m:t>Z</m:t>
                                </m:r>
                                <m:r>
                                  <a:rPr lang="en-US" b="0" i="1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b="0" dirty="0">
                            <a:solidFill>
                              <a:schemeClr val="bg1"/>
                            </a:solidFill>
                            <a:latin typeface="Garamond" panose="02020404030301010803" pitchFamily="18" charset="0"/>
                          </a:endParaRPr>
                        </a:p>
                      </a:txBody>
                      <a:tcPr anchor="ctr"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77122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>
                                <m:sSup>
                                  <m:sSupPr>
                                    <m:ctrlPr>
                                      <a:rPr lang="en-US" altLang="zh-TW" sz="1800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ctrlPr>
                                          <a:rPr lang="en-US" altLang="zh-TW" sz="1800" b="0" i="0" dirty="0" smtClean="0">
                                            <a:latin typeface="Rockwell" panose="02060603020205020403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m:rPr>
                                            <m:nor/>
                                          </m:rPr>
                                          <a:rPr lang="en-US" altLang="zh-TW" sz="1800" b="0" i="0" dirty="0" smtClean="0">
                                            <a:latin typeface="Rockwell" panose="02060603020205020403" pitchFamily="18" charset="0"/>
                                          </a:rPr>
                                          <m:t>z−E</m:t>
                                        </m:r>
                                        <m:d>
                                          <m:dPr>
                                            <m:ctrlPr>
                                              <a:rPr lang="en-US" altLang="zh-TW" sz="1800" b="0" i="0" dirty="0" smtClean="0">
                                                <a:latin typeface="Rockwell" panose="02060603020205020403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r>
                                              <m:rPr>
                                                <m:nor/>
                                              </m:rPr>
                                              <a:rPr lang="en-US" altLang="zh-TW" sz="1800" b="0" i="0" dirty="0" smtClean="0">
                                                <a:latin typeface="Rockwell" panose="02060603020205020403" pitchFamily="18" charset="0"/>
                                              </a:rPr>
                                              <m:t>Z</m:t>
                                            </m:r>
                                          </m:e>
                                        </m:d>
                                      </m:e>
                                    </m:d>
                                  </m:e>
                                  <m:sup>
                                    <m:r>
                                      <a:rPr lang="en-US" altLang="zh-TW" sz="1800" b="0" i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b="0" dirty="0">
                            <a:solidFill>
                              <a:schemeClr val="bg1"/>
                            </a:solidFill>
                            <a:latin typeface="Garamond" panose="02020404030301010803" pitchFamily="18" charset="0"/>
                          </a:endParaRPr>
                        </a:p>
                      </a:txBody>
                      <a:tcPr anchor="ctr"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77122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>
                                <m:sSup>
                                  <m:sSupPr>
                                    <m:ctrlPr>
                                      <a:rPr lang="en-US" altLang="zh-TW" sz="1800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ctrlPr>
                                          <a:rPr lang="en-US" altLang="zh-TW" sz="1800" b="0" i="0" dirty="0" smtClean="0">
                                            <a:latin typeface="Rockwell" panose="02060603020205020403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m:rPr>
                                            <m:nor/>
                                          </m:rPr>
                                          <a:rPr lang="en-US" altLang="zh-TW" sz="1800" b="0" i="0" dirty="0" smtClean="0">
                                            <a:latin typeface="Rockwell" panose="02060603020205020403" pitchFamily="18" charset="0"/>
                                          </a:rPr>
                                          <m:t>z−E</m:t>
                                        </m:r>
                                        <m:d>
                                          <m:dPr>
                                            <m:ctrlPr>
                                              <a:rPr lang="en-US" altLang="zh-TW" sz="1800" b="0" i="0" dirty="0" smtClean="0">
                                                <a:latin typeface="Rockwell" panose="02060603020205020403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r>
                                              <m:rPr>
                                                <m:nor/>
                                              </m:rPr>
                                              <a:rPr lang="en-US" altLang="zh-TW" sz="1800" b="0" i="0" dirty="0" smtClean="0">
                                                <a:latin typeface="Rockwell" panose="02060603020205020403" pitchFamily="18" charset="0"/>
                                              </a:rPr>
                                              <m:t>Z</m:t>
                                            </m:r>
                                          </m:e>
                                        </m:d>
                                      </m:e>
                                    </m:d>
                                  </m:e>
                                  <m:sup>
                                    <m:r>
                                      <a:rPr lang="en-US" altLang="zh-TW" sz="1800" b="0" i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US" altLang="zh-TW" sz="1800" b="0" i="1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⋅</m:t>
                                </m:r>
                                <m:r>
                                  <a:rPr lang="en-US" b="0" i="1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  <m:r>
                                  <a:rPr lang="en-US" b="0" i="1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1800" b="0" i="0" dirty="0" smtClean="0">
                                    <a:latin typeface="Rockwell" panose="02060603020205020403" pitchFamily="18" charset="0"/>
                                  </a:rPr>
                                  <m:t>z</m:t>
                                </m:r>
                                <m:r>
                                  <a:rPr lang="en-US" b="0" i="1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b="0" dirty="0">
                            <a:solidFill>
                              <a:schemeClr val="bg1"/>
                            </a:solidFill>
                            <a:latin typeface="Garamond" panose="02020404030301010803" pitchFamily="18" charset="0"/>
                          </a:endParaRPr>
                        </a:p>
                      </a:txBody>
                      <a:tcPr anchor="ctr"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77122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6876973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bg1"/>
                              </a:solidFill>
                              <a:latin typeface="Garamond" panose="02020404030301010803" pitchFamily="18" charset="0"/>
                            </a:rPr>
                            <a:t>0</a:t>
                          </a:r>
                        </a:p>
                      </a:txBody>
                      <a:tcPr anchor="ctr"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solidFill>
                          <a:srgbClr val="77122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Garamond" panose="02020404030301010803" pitchFamily="18" charset="0"/>
                            </a:rPr>
                            <a:t>4/30</a:t>
                          </a:r>
                        </a:p>
                      </a:txBody>
                      <a:tcPr anchor="ctr"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>
                              <a:latin typeface="Garamond" panose="02020404030301010803" pitchFamily="18" charset="0"/>
                            </a:rPr>
                            <a:t>0</a:t>
                          </a:r>
                        </a:p>
                      </a:txBody>
                      <a:tcPr anchor="ctr"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dirty="0">
                            <a:latin typeface="Garamond" panose="02020404030301010803" pitchFamily="18" charset="0"/>
                          </a:endParaRPr>
                        </a:p>
                      </a:txBody>
                      <a:tcPr anchor="ctr"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dirty="0">
                            <a:latin typeface="Garamond" panose="02020404030301010803" pitchFamily="18" charset="0"/>
                          </a:endParaRPr>
                        </a:p>
                      </a:txBody>
                      <a:tcPr anchor="ctr"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dirty="0">
                            <a:latin typeface="Garamond" panose="02020404030301010803" pitchFamily="18" charset="0"/>
                          </a:endParaRPr>
                        </a:p>
                      </a:txBody>
                      <a:tcPr anchor="ctr"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extLst>
                      <a:ext uri="{0D108BD9-81ED-4DB2-BD59-A6C34878D82A}">
                        <a16:rowId xmlns:a16="http://schemas.microsoft.com/office/drawing/2014/main" val="386434689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bg1"/>
                              </a:solidFill>
                              <a:latin typeface="Garamond" panose="02020404030301010803" pitchFamily="18" charset="0"/>
                            </a:rPr>
                            <a:t>1</a:t>
                          </a:r>
                        </a:p>
                      </a:txBody>
                      <a:tcPr anchor="ctr">
                        <a:solidFill>
                          <a:srgbClr val="77122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Garamond" panose="02020404030301010803" pitchFamily="18" charset="0"/>
                            </a:rPr>
                            <a:t>4/30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>
                              <a:latin typeface="Garamond" panose="02020404030301010803" pitchFamily="18" charset="0"/>
                            </a:rPr>
                            <a:t>4/30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dirty="0">
                            <a:latin typeface="Garamond" panose="02020404030301010803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dirty="0">
                            <a:latin typeface="Garamond" panose="02020404030301010803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dirty="0">
                            <a:latin typeface="Garamond" panose="02020404030301010803" pitchFamily="18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7368346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bg1"/>
                              </a:solidFill>
                              <a:latin typeface="Garamond" panose="02020404030301010803" pitchFamily="18" charset="0"/>
                            </a:rPr>
                            <a:t>2</a:t>
                          </a:r>
                        </a:p>
                      </a:txBody>
                      <a:tcPr anchor="ctr">
                        <a:solidFill>
                          <a:srgbClr val="77122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Garamond" panose="02020404030301010803" pitchFamily="18" charset="0"/>
                            </a:rPr>
                            <a:t>4/30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Garamond" panose="02020404030301010803" pitchFamily="18" charset="0"/>
                            </a:rPr>
                            <a:t>8/30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>
                            <a:latin typeface="Garamond" panose="02020404030301010803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>
                            <a:latin typeface="Garamond" panose="02020404030301010803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>
                            <a:latin typeface="Garamond" panose="02020404030301010803" pitchFamily="18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28412386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bg1"/>
                              </a:solidFill>
                              <a:latin typeface="Garamond" panose="02020404030301010803" pitchFamily="18" charset="0"/>
                            </a:rPr>
                            <a:t>3</a:t>
                          </a:r>
                        </a:p>
                      </a:txBody>
                      <a:tcPr anchor="ctr">
                        <a:solidFill>
                          <a:srgbClr val="77122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Garamond" panose="02020404030301010803" pitchFamily="18" charset="0"/>
                            </a:rPr>
                            <a:t>5/30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Garamond" panose="02020404030301010803" pitchFamily="18" charset="0"/>
                            </a:rPr>
                            <a:t>15/30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>
                            <a:latin typeface="Garamond" panose="02020404030301010803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>
                            <a:latin typeface="Garamond" panose="02020404030301010803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>
                            <a:latin typeface="Garamond" panose="02020404030301010803" pitchFamily="18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49561823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bg1"/>
                              </a:solidFill>
                              <a:latin typeface="Garamond" panose="02020404030301010803" pitchFamily="18" charset="0"/>
                            </a:rPr>
                            <a:t>4</a:t>
                          </a:r>
                        </a:p>
                      </a:txBody>
                      <a:tcPr anchor="ctr">
                        <a:solidFill>
                          <a:srgbClr val="77122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Garamond" panose="02020404030301010803" pitchFamily="18" charset="0"/>
                            </a:rPr>
                            <a:t>2/30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Garamond" panose="02020404030301010803" pitchFamily="18" charset="0"/>
                            </a:rPr>
                            <a:t>8/30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>
                            <a:latin typeface="Garamond" panose="02020404030301010803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>
                            <a:latin typeface="Garamond" panose="02020404030301010803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>
                            <a:latin typeface="Garamond" panose="02020404030301010803" pitchFamily="18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42584031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bg1"/>
                              </a:solidFill>
                              <a:latin typeface="Garamond" panose="02020404030301010803" pitchFamily="18" charset="0"/>
                            </a:rPr>
                            <a:t>5</a:t>
                          </a:r>
                        </a:p>
                      </a:txBody>
                      <a:tcPr anchor="ctr">
                        <a:solidFill>
                          <a:srgbClr val="77122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>
                              <a:latin typeface="Garamond" panose="02020404030301010803" pitchFamily="18" charset="0"/>
                            </a:rPr>
                            <a:t>5/30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Garamond" panose="02020404030301010803" pitchFamily="18" charset="0"/>
                            </a:rPr>
                            <a:t>25/30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>
                            <a:latin typeface="Garamond" panose="02020404030301010803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dirty="0">
                            <a:solidFill>
                              <a:schemeClr val="tx1"/>
                            </a:solidFill>
                            <a:latin typeface="Garamond" panose="02020404030301010803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dirty="0">
                            <a:solidFill>
                              <a:schemeClr val="tx1"/>
                            </a:solidFill>
                            <a:latin typeface="Garamond" panose="02020404030301010803" pitchFamily="18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55062058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bg1"/>
                              </a:solidFill>
                              <a:latin typeface="Garamond" panose="02020404030301010803" pitchFamily="18" charset="0"/>
                            </a:rPr>
                            <a:t>6</a:t>
                          </a:r>
                        </a:p>
                      </a:txBody>
                      <a:tcPr anchor="ctr">
                        <a:solidFill>
                          <a:srgbClr val="77122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>
                              <a:latin typeface="Garamond" panose="02020404030301010803" pitchFamily="18" charset="0"/>
                            </a:rPr>
                            <a:t>1/30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Garamond" panose="02020404030301010803" pitchFamily="18" charset="0"/>
                            </a:rPr>
                            <a:t>6/30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>
                            <a:latin typeface="Garamond" panose="02020404030301010803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dirty="0">
                            <a:solidFill>
                              <a:schemeClr val="tx1"/>
                            </a:solidFill>
                            <a:latin typeface="Garamond" panose="02020404030301010803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dirty="0">
                            <a:solidFill>
                              <a:schemeClr val="tx1"/>
                            </a:solidFill>
                            <a:latin typeface="Garamond" panose="02020404030301010803" pitchFamily="18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21783816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bg1"/>
                              </a:solidFill>
                              <a:latin typeface="Garamond" panose="02020404030301010803" pitchFamily="18" charset="0"/>
                            </a:rPr>
                            <a:t>7</a:t>
                          </a:r>
                        </a:p>
                      </a:txBody>
                      <a:tcPr anchor="ctr">
                        <a:solidFill>
                          <a:srgbClr val="77122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>
                              <a:latin typeface="Garamond" panose="02020404030301010803" pitchFamily="18" charset="0"/>
                            </a:rPr>
                            <a:t>3/30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Garamond" panose="02020404030301010803" pitchFamily="18" charset="0"/>
                            </a:rPr>
                            <a:t>21/30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>
                            <a:latin typeface="Garamond" panose="02020404030301010803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dirty="0">
                            <a:solidFill>
                              <a:schemeClr val="tx1"/>
                            </a:solidFill>
                            <a:latin typeface="Garamond" panose="02020404030301010803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dirty="0">
                            <a:solidFill>
                              <a:schemeClr val="tx1"/>
                            </a:solidFill>
                            <a:latin typeface="Garamond" panose="02020404030301010803" pitchFamily="18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49435658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bg1"/>
                              </a:solidFill>
                              <a:latin typeface="Garamond" panose="02020404030301010803" pitchFamily="18" charset="0"/>
                            </a:rPr>
                            <a:t>8</a:t>
                          </a:r>
                        </a:p>
                      </a:txBody>
                      <a:tcPr anchor="ctr">
                        <a:solidFill>
                          <a:srgbClr val="77122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>
                              <a:latin typeface="Garamond" panose="02020404030301010803" pitchFamily="18" charset="0"/>
                            </a:rPr>
                            <a:t>2/30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Garamond" panose="02020404030301010803" pitchFamily="18" charset="0"/>
                            </a:rPr>
                            <a:t>16/30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>
                            <a:latin typeface="Garamond" panose="02020404030301010803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dirty="0">
                            <a:solidFill>
                              <a:schemeClr val="tx1"/>
                            </a:solidFill>
                            <a:latin typeface="Garamond" panose="02020404030301010803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dirty="0">
                            <a:solidFill>
                              <a:schemeClr val="tx1"/>
                            </a:solidFill>
                            <a:latin typeface="Garamond" panose="02020404030301010803" pitchFamily="18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29502960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bg1"/>
                              </a:solidFill>
                              <a:latin typeface="Garamond" panose="02020404030301010803" pitchFamily="18" charset="0"/>
                            </a:rPr>
                            <a:t>Total</a:t>
                          </a:r>
                        </a:p>
                      </a:txBody>
                      <a:tcPr anchor="ctr">
                        <a:solidFill>
                          <a:srgbClr val="77122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>
                              <a:latin typeface="Garamond" panose="02020404030301010803" pitchFamily="18" charset="0"/>
                            </a:rPr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r>
                                <m:rPr>
                                  <m:nor/>
                                </m:rPr>
                                <a:rPr lang="en-US" altLang="zh-TW" sz="1800" b="0" i="0" dirty="0" smtClean="0">
                                  <a:solidFill>
                                    <a:schemeClr val="tx1"/>
                                  </a:solidFill>
                                  <a:latin typeface="Rockwell" panose="02060603020205020403" pitchFamily="18" charset="0"/>
                                </a:rPr>
                                <m:t>E</m:t>
                              </m:r>
                              <m:d>
                                <m:dPr>
                                  <m:ctrlPr>
                                    <a:rPr lang="en-US" b="0" i="0" dirty="0" smtClean="0">
                                      <a:solidFill>
                                        <a:schemeClr val="tx1"/>
                                      </a:solidFill>
                                      <a:latin typeface="Rockwell" panose="02060603020205020403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m:rPr>
                                      <m:nor/>
                                    </m:rPr>
                                    <a:rPr lang="en-US" b="0" i="0" dirty="0" smtClean="0">
                                      <a:solidFill>
                                        <a:schemeClr val="tx1"/>
                                      </a:solidFill>
                                      <a:latin typeface="Rockwell" panose="02060603020205020403" pitchFamily="18" charset="0"/>
                                    </a:rPr>
                                    <m:t>Z</m:t>
                                  </m:r>
                                </m:e>
                              </m:d>
                            </m:oMath>
                          </a14:m>
                          <a:r>
                            <a:rPr lang="en-US" sz="1800" b="0" dirty="0">
                              <a:solidFill>
                                <a:schemeClr val="tx1"/>
                              </a:solidFill>
                              <a:latin typeface="Garamond" panose="02020404030301010803" pitchFamily="18" charset="0"/>
                            </a:rPr>
                            <a:t> = 103/30 ≈ 3.43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>
                            <a:solidFill>
                              <a:schemeClr val="tx1"/>
                            </a:solidFill>
                            <a:latin typeface="Garamond" panose="02020404030301010803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dirty="0">
                            <a:solidFill>
                              <a:schemeClr val="tx1"/>
                            </a:solidFill>
                            <a:latin typeface="Garamond" panose="02020404030301010803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dirty="0">
                            <a:solidFill>
                              <a:schemeClr val="tx1"/>
                            </a:solidFill>
                            <a:latin typeface="Garamond" panose="02020404030301010803" pitchFamily="18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15036094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1" name="Table 10">
                <a:extLst>
                  <a:ext uri="{FF2B5EF4-FFF2-40B4-BE49-F238E27FC236}">
                    <a16:creationId xmlns:a16="http://schemas.microsoft.com/office/drawing/2014/main" id="{B0FB4C7E-12A4-C9DA-F49A-8E9CABFE2AC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27990339"/>
                  </p:ext>
                </p:extLst>
              </p:nvPr>
            </p:nvGraphicFramePr>
            <p:xfrm>
              <a:off x="860525" y="1794769"/>
              <a:ext cx="10560146" cy="416363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067301">
                      <a:extLst>
                        <a:ext uri="{9D8B030D-6E8A-4147-A177-3AD203B41FA5}">
                          <a16:colId xmlns:a16="http://schemas.microsoft.com/office/drawing/2014/main" val="3269318500"/>
                        </a:ext>
                      </a:extLst>
                    </a:gridCol>
                    <a:gridCol w="1067301">
                      <a:extLst>
                        <a:ext uri="{9D8B030D-6E8A-4147-A177-3AD203B41FA5}">
                          <a16:colId xmlns:a16="http://schemas.microsoft.com/office/drawing/2014/main" val="1084937839"/>
                        </a:ext>
                      </a:extLst>
                    </a:gridCol>
                    <a:gridCol w="2276669">
                      <a:extLst>
                        <a:ext uri="{9D8B030D-6E8A-4147-A177-3AD203B41FA5}">
                          <a16:colId xmlns:a16="http://schemas.microsoft.com/office/drawing/2014/main" val="4200844973"/>
                        </a:ext>
                      </a:extLst>
                    </a:gridCol>
                    <a:gridCol w="1376266">
                      <a:extLst>
                        <a:ext uri="{9D8B030D-6E8A-4147-A177-3AD203B41FA5}">
                          <a16:colId xmlns:a16="http://schemas.microsoft.com/office/drawing/2014/main" val="3844035428"/>
                        </a:ext>
                      </a:extLst>
                    </a:gridCol>
                    <a:gridCol w="1376266">
                      <a:extLst>
                        <a:ext uri="{9D8B030D-6E8A-4147-A177-3AD203B41FA5}">
                          <a16:colId xmlns:a16="http://schemas.microsoft.com/office/drawing/2014/main" val="2990019285"/>
                        </a:ext>
                      </a:extLst>
                    </a:gridCol>
                    <a:gridCol w="3396343">
                      <a:extLst>
                        <a:ext uri="{9D8B030D-6E8A-4147-A177-3AD203B41FA5}">
                          <a16:colId xmlns:a16="http://schemas.microsoft.com/office/drawing/2014/main" val="3019196937"/>
                        </a:ext>
                      </a:extLst>
                    </a:gridCol>
                  </a:tblGrid>
                  <a:tr h="45523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0" dirty="0">
                              <a:solidFill>
                                <a:schemeClr val="bg1"/>
                              </a:solidFill>
                              <a:latin typeface="Rockwell" panose="02060603020205020403" pitchFamily="18" charset="0"/>
                            </a:rPr>
                            <a:t>Z</a:t>
                          </a:r>
                        </a:p>
                      </a:txBody>
                      <a:tcPr anchor="ctr"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77122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00571" t="-1333" r="-791429" b="-83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93850" t="-1333" r="-270321" b="-83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20796" t="-1333" r="-347345" b="-83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420796" t="-1333" r="-247345" b="-83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11311" t="-1333" r="-359" b="-83333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6876973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bg1"/>
                              </a:solidFill>
                              <a:latin typeface="Garamond" panose="02020404030301010803" pitchFamily="18" charset="0"/>
                            </a:rPr>
                            <a:t>0</a:t>
                          </a:r>
                        </a:p>
                      </a:txBody>
                      <a:tcPr anchor="ctr"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solidFill>
                          <a:srgbClr val="77122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Garamond" panose="02020404030301010803" pitchFamily="18" charset="0"/>
                            </a:rPr>
                            <a:t>4/30</a:t>
                          </a:r>
                        </a:p>
                      </a:txBody>
                      <a:tcPr anchor="ctr"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>
                              <a:latin typeface="Garamond" panose="02020404030301010803" pitchFamily="18" charset="0"/>
                            </a:rPr>
                            <a:t>0</a:t>
                          </a:r>
                        </a:p>
                      </a:txBody>
                      <a:tcPr anchor="ctr"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dirty="0">
                            <a:latin typeface="Garamond" panose="02020404030301010803" pitchFamily="18" charset="0"/>
                          </a:endParaRPr>
                        </a:p>
                      </a:txBody>
                      <a:tcPr anchor="ctr"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dirty="0">
                            <a:latin typeface="Garamond" panose="02020404030301010803" pitchFamily="18" charset="0"/>
                          </a:endParaRPr>
                        </a:p>
                      </a:txBody>
                      <a:tcPr anchor="ctr"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dirty="0">
                            <a:latin typeface="Garamond" panose="02020404030301010803" pitchFamily="18" charset="0"/>
                          </a:endParaRPr>
                        </a:p>
                      </a:txBody>
                      <a:tcPr anchor="ctr"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extLst>
                      <a:ext uri="{0D108BD9-81ED-4DB2-BD59-A6C34878D82A}">
                        <a16:rowId xmlns:a16="http://schemas.microsoft.com/office/drawing/2014/main" val="386434689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bg1"/>
                              </a:solidFill>
                              <a:latin typeface="Garamond" panose="02020404030301010803" pitchFamily="18" charset="0"/>
                            </a:rPr>
                            <a:t>1</a:t>
                          </a:r>
                        </a:p>
                      </a:txBody>
                      <a:tcPr anchor="ctr">
                        <a:solidFill>
                          <a:srgbClr val="77122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Garamond" panose="02020404030301010803" pitchFamily="18" charset="0"/>
                            </a:rPr>
                            <a:t>4/30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>
                              <a:latin typeface="Garamond" panose="02020404030301010803" pitchFamily="18" charset="0"/>
                            </a:rPr>
                            <a:t>4/30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dirty="0">
                            <a:latin typeface="Garamond" panose="02020404030301010803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dirty="0">
                            <a:latin typeface="Garamond" panose="02020404030301010803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dirty="0">
                            <a:latin typeface="Garamond" panose="02020404030301010803" pitchFamily="18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7368346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bg1"/>
                              </a:solidFill>
                              <a:latin typeface="Garamond" panose="02020404030301010803" pitchFamily="18" charset="0"/>
                            </a:rPr>
                            <a:t>2</a:t>
                          </a:r>
                        </a:p>
                      </a:txBody>
                      <a:tcPr anchor="ctr">
                        <a:solidFill>
                          <a:srgbClr val="77122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Garamond" panose="02020404030301010803" pitchFamily="18" charset="0"/>
                            </a:rPr>
                            <a:t>4/30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Garamond" panose="02020404030301010803" pitchFamily="18" charset="0"/>
                            </a:rPr>
                            <a:t>8/30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>
                            <a:latin typeface="Garamond" panose="02020404030301010803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>
                            <a:latin typeface="Garamond" panose="02020404030301010803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>
                            <a:latin typeface="Garamond" panose="02020404030301010803" pitchFamily="18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28412386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bg1"/>
                              </a:solidFill>
                              <a:latin typeface="Garamond" panose="02020404030301010803" pitchFamily="18" charset="0"/>
                            </a:rPr>
                            <a:t>3</a:t>
                          </a:r>
                        </a:p>
                      </a:txBody>
                      <a:tcPr anchor="ctr">
                        <a:solidFill>
                          <a:srgbClr val="77122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Garamond" panose="02020404030301010803" pitchFamily="18" charset="0"/>
                            </a:rPr>
                            <a:t>5/30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Garamond" panose="02020404030301010803" pitchFamily="18" charset="0"/>
                            </a:rPr>
                            <a:t>15/30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>
                            <a:latin typeface="Garamond" panose="02020404030301010803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>
                            <a:latin typeface="Garamond" panose="02020404030301010803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>
                            <a:latin typeface="Garamond" panose="02020404030301010803" pitchFamily="18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49561823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bg1"/>
                              </a:solidFill>
                              <a:latin typeface="Garamond" panose="02020404030301010803" pitchFamily="18" charset="0"/>
                            </a:rPr>
                            <a:t>4</a:t>
                          </a:r>
                        </a:p>
                      </a:txBody>
                      <a:tcPr anchor="ctr">
                        <a:solidFill>
                          <a:srgbClr val="77122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Garamond" panose="02020404030301010803" pitchFamily="18" charset="0"/>
                            </a:rPr>
                            <a:t>2/30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Garamond" panose="02020404030301010803" pitchFamily="18" charset="0"/>
                            </a:rPr>
                            <a:t>8/30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>
                            <a:latin typeface="Garamond" panose="02020404030301010803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>
                            <a:latin typeface="Garamond" panose="02020404030301010803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>
                            <a:latin typeface="Garamond" panose="02020404030301010803" pitchFamily="18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42584031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bg1"/>
                              </a:solidFill>
                              <a:latin typeface="Garamond" panose="02020404030301010803" pitchFamily="18" charset="0"/>
                            </a:rPr>
                            <a:t>5</a:t>
                          </a:r>
                        </a:p>
                      </a:txBody>
                      <a:tcPr anchor="ctr">
                        <a:solidFill>
                          <a:srgbClr val="77122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>
                              <a:latin typeface="Garamond" panose="02020404030301010803" pitchFamily="18" charset="0"/>
                            </a:rPr>
                            <a:t>5/30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Garamond" panose="02020404030301010803" pitchFamily="18" charset="0"/>
                            </a:rPr>
                            <a:t>25/30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>
                            <a:latin typeface="Garamond" panose="02020404030301010803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dirty="0">
                            <a:solidFill>
                              <a:schemeClr val="tx1"/>
                            </a:solidFill>
                            <a:latin typeface="Garamond" panose="02020404030301010803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dirty="0">
                            <a:solidFill>
                              <a:schemeClr val="tx1"/>
                            </a:solidFill>
                            <a:latin typeface="Garamond" panose="02020404030301010803" pitchFamily="18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55062058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bg1"/>
                              </a:solidFill>
                              <a:latin typeface="Garamond" panose="02020404030301010803" pitchFamily="18" charset="0"/>
                            </a:rPr>
                            <a:t>6</a:t>
                          </a:r>
                        </a:p>
                      </a:txBody>
                      <a:tcPr anchor="ctr">
                        <a:solidFill>
                          <a:srgbClr val="77122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>
                              <a:latin typeface="Garamond" panose="02020404030301010803" pitchFamily="18" charset="0"/>
                            </a:rPr>
                            <a:t>1/30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Garamond" panose="02020404030301010803" pitchFamily="18" charset="0"/>
                            </a:rPr>
                            <a:t>6/30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>
                            <a:latin typeface="Garamond" panose="02020404030301010803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dirty="0">
                            <a:solidFill>
                              <a:schemeClr val="tx1"/>
                            </a:solidFill>
                            <a:latin typeface="Garamond" panose="02020404030301010803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dirty="0">
                            <a:solidFill>
                              <a:schemeClr val="tx1"/>
                            </a:solidFill>
                            <a:latin typeface="Garamond" panose="02020404030301010803" pitchFamily="18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21783816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bg1"/>
                              </a:solidFill>
                              <a:latin typeface="Garamond" panose="02020404030301010803" pitchFamily="18" charset="0"/>
                            </a:rPr>
                            <a:t>7</a:t>
                          </a:r>
                        </a:p>
                      </a:txBody>
                      <a:tcPr anchor="ctr">
                        <a:solidFill>
                          <a:srgbClr val="77122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>
                              <a:latin typeface="Garamond" panose="02020404030301010803" pitchFamily="18" charset="0"/>
                            </a:rPr>
                            <a:t>3/30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Garamond" panose="02020404030301010803" pitchFamily="18" charset="0"/>
                            </a:rPr>
                            <a:t>21/30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>
                            <a:latin typeface="Garamond" panose="02020404030301010803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dirty="0">
                            <a:solidFill>
                              <a:schemeClr val="tx1"/>
                            </a:solidFill>
                            <a:latin typeface="Garamond" panose="02020404030301010803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dirty="0">
                            <a:solidFill>
                              <a:schemeClr val="tx1"/>
                            </a:solidFill>
                            <a:latin typeface="Garamond" panose="02020404030301010803" pitchFamily="18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49435658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bg1"/>
                              </a:solidFill>
                              <a:latin typeface="Garamond" panose="02020404030301010803" pitchFamily="18" charset="0"/>
                            </a:rPr>
                            <a:t>8</a:t>
                          </a:r>
                        </a:p>
                      </a:txBody>
                      <a:tcPr anchor="ctr">
                        <a:solidFill>
                          <a:srgbClr val="77122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>
                              <a:latin typeface="Garamond" panose="02020404030301010803" pitchFamily="18" charset="0"/>
                            </a:rPr>
                            <a:t>2/30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Garamond" panose="02020404030301010803" pitchFamily="18" charset="0"/>
                            </a:rPr>
                            <a:t>16/30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>
                            <a:latin typeface="Garamond" panose="02020404030301010803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dirty="0">
                            <a:solidFill>
                              <a:schemeClr val="tx1"/>
                            </a:solidFill>
                            <a:latin typeface="Garamond" panose="02020404030301010803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dirty="0">
                            <a:solidFill>
                              <a:schemeClr val="tx1"/>
                            </a:solidFill>
                            <a:latin typeface="Garamond" panose="02020404030301010803" pitchFamily="18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29502960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bg1"/>
                              </a:solidFill>
                              <a:latin typeface="Garamond" panose="02020404030301010803" pitchFamily="18" charset="0"/>
                            </a:rPr>
                            <a:t>Total</a:t>
                          </a:r>
                        </a:p>
                      </a:txBody>
                      <a:tcPr anchor="ctr">
                        <a:solidFill>
                          <a:srgbClr val="77122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>
                              <a:latin typeface="Garamond" panose="02020404030301010803" pitchFamily="18" charset="0"/>
                            </a:rPr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93850" t="-1022951" r="-270321" b="-262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>
                            <a:solidFill>
                              <a:schemeClr val="tx1"/>
                            </a:solidFill>
                            <a:latin typeface="Garamond" panose="02020404030301010803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dirty="0">
                            <a:solidFill>
                              <a:schemeClr val="tx1"/>
                            </a:solidFill>
                            <a:latin typeface="Garamond" panose="02020404030301010803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dirty="0">
                            <a:solidFill>
                              <a:schemeClr val="tx1"/>
                            </a:solidFill>
                            <a:latin typeface="Garamond" panose="02020404030301010803" pitchFamily="18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150360944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2" name="Table 11">
                <a:extLst>
                  <a:ext uri="{FF2B5EF4-FFF2-40B4-BE49-F238E27FC236}">
                    <a16:creationId xmlns:a16="http://schemas.microsoft.com/office/drawing/2014/main" id="{EA8947FA-DEB5-B8D8-51C9-1E0A6C2992B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349494702"/>
                  </p:ext>
                </p:extLst>
              </p:nvPr>
            </p:nvGraphicFramePr>
            <p:xfrm>
              <a:off x="860525" y="1794769"/>
              <a:ext cx="10560146" cy="416363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067301">
                      <a:extLst>
                        <a:ext uri="{9D8B030D-6E8A-4147-A177-3AD203B41FA5}">
                          <a16:colId xmlns:a16="http://schemas.microsoft.com/office/drawing/2014/main" val="3269318500"/>
                        </a:ext>
                      </a:extLst>
                    </a:gridCol>
                    <a:gridCol w="1067301">
                      <a:extLst>
                        <a:ext uri="{9D8B030D-6E8A-4147-A177-3AD203B41FA5}">
                          <a16:colId xmlns:a16="http://schemas.microsoft.com/office/drawing/2014/main" val="1084937839"/>
                        </a:ext>
                      </a:extLst>
                    </a:gridCol>
                    <a:gridCol w="2276669">
                      <a:extLst>
                        <a:ext uri="{9D8B030D-6E8A-4147-A177-3AD203B41FA5}">
                          <a16:colId xmlns:a16="http://schemas.microsoft.com/office/drawing/2014/main" val="4200844973"/>
                        </a:ext>
                      </a:extLst>
                    </a:gridCol>
                    <a:gridCol w="1376266">
                      <a:extLst>
                        <a:ext uri="{9D8B030D-6E8A-4147-A177-3AD203B41FA5}">
                          <a16:colId xmlns:a16="http://schemas.microsoft.com/office/drawing/2014/main" val="3844035428"/>
                        </a:ext>
                      </a:extLst>
                    </a:gridCol>
                    <a:gridCol w="1376266">
                      <a:extLst>
                        <a:ext uri="{9D8B030D-6E8A-4147-A177-3AD203B41FA5}">
                          <a16:colId xmlns:a16="http://schemas.microsoft.com/office/drawing/2014/main" val="2990019285"/>
                        </a:ext>
                      </a:extLst>
                    </a:gridCol>
                    <a:gridCol w="3396343">
                      <a:extLst>
                        <a:ext uri="{9D8B030D-6E8A-4147-A177-3AD203B41FA5}">
                          <a16:colId xmlns:a16="http://schemas.microsoft.com/office/drawing/2014/main" val="301919693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0" dirty="0">
                              <a:solidFill>
                                <a:schemeClr val="bg1"/>
                              </a:solidFill>
                              <a:latin typeface="Rockwell" panose="02060603020205020403" pitchFamily="18" charset="0"/>
                            </a:rPr>
                            <a:t>Z</a:t>
                          </a:r>
                        </a:p>
                      </a:txBody>
                      <a:tcPr anchor="ctr"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77122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en-US" b="0" i="1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  <m:r>
                                  <a:rPr lang="en-US" b="0" i="1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1800" b="0" i="0" dirty="0" smtClean="0">
                                    <a:latin typeface="Rockwell" panose="02060603020205020403" pitchFamily="18" charset="0"/>
                                  </a:rPr>
                                  <m:t>z</m:t>
                                </m:r>
                                <m:r>
                                  <a:rPr lang="en-US" b="0" i="1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 anchor="ctr"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77122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m:rPr>
                                    <m:nor/>
                                  </m:rPr>
                                  <a:rPr lang="en-US" altLang="zh-TW" sz="1800" b="0" i="0" dirty="0" smtClean="0">
                                    <a:latin typeface="Rockwell" panose="02060603020205020403" pitchFamily="18" charset="0"/>
                                  </a:rPr>
                                  <m:t>z</m:t>
                                </m:r>
                                <m:r>
                                  <a:rPr lang="en-US" altLang="zh-TW" sz="1800" b="0" i="1" dirty="0" smtClean="0">
                                    <a:latin typeface="Cambria Math" panose="02040503050406030204" pitchFamily="18" charset="0"/>
                                  </a:rPr>
                                  <m:t>⋅</m:t>
                                </m:r>
                                <m:r>
                                  <a:rPr lang="en-US" b="0" i="1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  <m:r>
                                  <a:rPr lang="en-US" b="0" i="1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1800" b="0" i="0" dirty="0" smtClean="0">
                                    <a:latin typeface="Rockwell" panose="02060603020205020403" pitchFamily="18" charset="0"/>
                                  </a:rPr>
                                  <m:t>z</m:t>
                                </m:r>
                                <m:r>
                                  <a:rPr lang="en-US" b="0" i="1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b="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 anchor="ctr"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77122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m:rPr>
                                    <m:nor/>
                                  </m:rPr>
                                  <a:rPr lang="en-US" altLang="zh-TW" sz="1800" b="0" i="0" dirty="0" smtClean="0">
                                    <a:latin typeface="Rockwell" panose="02060603020205020403" pitchFamily="18" charset="0"/>
                                  </a:rPr>
                                  <m:t>z−E</m:t>
                                </m:r>
                                <m:r>
                                  <a:rPr lang="en-US" b="0" i="1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1800" b="0" i="0" dirty="0" smtClean="0">
                                    <a:latin typeface="Rockwell" panose="02060603020205020403" pitchFamily="18" charset="0"/>
                                  </a:rPr>
                                  <m:t>Z</m:t>
                                </m:r>
                                <m:r>
                                  <a:rPr lang="en-US" b="0" i="1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b="0" dirty="0">
                            <a:solidFill>
                              <a:schemeClr val="bg1"/>
                            </a:solidFill>
                            <a:latin typeface="Garamond" panose="02020404030301010803" pitchFamily="18" charset="0"/>
                          </a:endParaRPr>
                        </a:p>
                      </a:txBody>
                      <a:tcPr anchor="ctr"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77122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>
                                <m:sSup>
                                  <m:sSupPr>
                                    <m:ctrlPr>
                                      <a:rPr lang="en-US" altLang="zh-TW" sz="1800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ctrlPr>
                                          <a:rPr lang="en-US" altLang="zh-TW" sz="1800" b="0" i="0" dirty="0" smtClean="0">
                                            <a:latin typeface="Rockwell" panose="02060603020205020403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m:rPr>
                                            <m:nor/>
                                          </m:rPr>
                                          <a:rPr lang="en-US" altLang="zh-TW" sz="1800" b="0" i="0" dirty="0" smtClean="0">
                                            <a:latin typeface="Rockwell" panose="02060603020205020403" pitchFamily="18" charset="0"/>
                                          </a:rPr>
                                          <m:t>z−E</m:t>
                                        </m:r>
                                        <m:d>
                                          <m:dPr>
                                            <m:ctrlPr>
                                              <a:rPr lang="en-US" altLang="zh-TW" sz="1800" b="0" i="0" dirty="0" smtClean="0">
                                                <a:latin typeface="Rockwell" panose="02060603020205020403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r>
                                              <m:rPr>
                                                <m:nor/>
                                              </m:rPr>
                                              <a:rPr lang="en-US" altLang="zh-TW" sz="1800" b="0" i="0" dirty="0" smtClean="0">
                                                <a:latin typeface="Rockwell" panose="02060603020205020403" pitchFamily="18" charset="0"/>
                                              </a:rPr>
                                              <m:t>Z</m:t>
                                            </m:r>
                                          </m:e>
                                        </m:d>
                                      </m:e>
                                    </m:d>
                                  </m:e>
                                  <m:sup>
                                    <m:r>
                                      <a:rPr lang="en-US" altLang="zh-TW" sz="1800" b="0" i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b="0" dirty="0">
                            <a:solidFill>
                              <a:schemeClr val="bg1"/>
                            </a:solidFill>
                            <a:latin typeface="Garamond" panose="02020404030301010803" pitchFamily="18" charset="0"/>
                          </a:endParaRPr>
                        </a:p>
                      </a:txBody>
                      <a:tcPr anchor="ctr"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77122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>
                                <m:sSup>
                                  <m:sSupPr>
                                    <m:ctrlPr>
                                      <a:rPr lang="en-US" altLang="zh-TW" sz="1800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ctrlPr>
                                          <a:rPr lang="en-US" altLang="zh-TW" sz="1800" b="0" i="0" dirty="0" smtClean="0">
                                            <a:latin typeface="Rockwell" panose="02060603020205020403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m:rPr>
                                            <m:nor/>
                                          </m:rPr>
                                          <a:rPr lang="en-US" altLang="zh-TW" sz="1800" b="0" i="0" dirty="0" smtClean="0">
                                            <a:latin typeface="Rockwell" panose="02060603020205020403" pitchFamily="18" charset="0"/>
                                          </a:rPr>
                                          <m:t>z−E</m:t>
                                        </m:r>
                                        <m:d>
                                          <m:dPr>
                                            <m:ctrlPr>
                                              <a:rPr lang="en-US" altLang="zh-TW" sz="1800" b="0" i="0" dirty="0" smtClean="0">
                                                <a:latin typeface="Rockwell" panose="02060603020205020403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r>
                                              <m:rPr>
                                                <m:nor/>
                                              </m:rPr>
                                              <a:rPr lang="en-US" altLang="zh-TW" sz="1800" b="0" i="0" dirty="0" smtClean="0">
                                                <a:latin typeface="Rockwell" panose="02060603020205020403" pitchFamily="18" charset="0"/>
                                              </a:rPr>
                                              <m:t>Z</m:t>
                                            </m:r>
                                          </m:e>
                                        </m:d>
                                      </m:e>
                                    </m:d>
                                  </m:e>
                                  <m:sup>
                                    <m:r>
                                      <a:rPr lang="en-US" altLang="zh-TW" sz="1800" b="0" i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US" altLang="zh-TW" sz="1800" b="0" i="1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⋅</m:t>
                                </m:r>
                                <m:r>
                                  <a:rPr lang="en-US" b="0" i="1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  <m:r>
                                  <a:rPr lang="en-US" b="0" i="1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1800" b="0" i="0" dirty="0" smtClean="0">
                                    <a:latin typeface="Rockwell" panose="02060603020205020403" pitchFamily="18" charset="0"/>
                                  </a:rPr>
                                  <m:t>z</m:t>
                                </m:r>
                                <m:r>
                                  <a:rPr lang="en-US" b="0" i="1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b="0" dirty="0">
                            <a:solidFill>
                              <a:schemeClr val="bg1"/>
                            </a:solidFill>
                            <a:latin typeface="Garamond" panose="02020404030301010803" pitchFamily="18" charset="0"/>
                          </a:endParaRPr>
                        </a:p>
                      </a:txBody>
                      <a:tcPr anchor="ctr"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77122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6876973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bg1"/>
                              </a:solidFill>
                              <a:latin typeface="Garamond" panose="02020404030301010803" pitchFamily="18" charset="0"/>
                            </a:rPr>
                            <a:t>0</a:t>
                          </a:r>
                        </a:p>
                      </a:txBody>
                      <a:tcPr anchor="ctr"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solidFill>
                          <a:srgbClr val="77122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Garamond" panose="02020404030301010803" pitchFamily="18" charset="0"/>
                            </a:rPr>
                            <a:t>4/30</a:t>
                          </a:r>
                        </a:p>
                      </a:txBody>
                      <a:tcPr anchor="ctr"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>
                              <a:latin typeface="Garamond" panose="02020404030301010803" pitchFamily="18" charset="0"/>
                            </a:rPr>
                            <a:t>0</a:t>
                          </a:r>
                        </a:p>
                      </a:txBody>
                      <a:tcPr anchor="ctr"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>
                              <a:latin typeface="Garamond" panose="02020404030301010803" pitchFamily="18" charset="0"/>
                            </a:rPr>
                            <a:t>-103/30</a:t>
                          </a:r>
                        </a:p>
                      </a:txBody>
                      <a:tcPr anchor="ctr"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dirty="0">
                            <a:latin typeface="Garamond" panose="02020404030301010803" pitchFamily="18" charset="0"/>
                          </a:endParaRPr>
                        </a:p>
                      </a:txBody>
                      <a:tcPr anchor="ctr"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dirty="0">
                            <a:latin typeface="Garamond" panose="02020404030301010803" pitchFamily="18" charset="0"/>
                          </a:endParaRPr>
                        </a:p>
                      </a:txBody>
                      <a:tcPr anchor="ctr"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extLst>
                      <a:ext uri="{0D108BD9-81ED-4DB2-BD59-A6C34878D82A}">
                        <a16:rowId xmlns:a16="http://schemas.microsoft.com/office/drawing/2014/main" val="386434689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bg1"/>
                              </a:solidFill>
                              <a:latin typeface="Garamond" panose="02020404030301010803" pitchFamily="18" charset="0"/>
                            </a:rPr>
                            <a:t>1</a:t>
                          </a:r>
                        </a:p>
                      </a:txBody>
                      <a:tcPr anchor="ctr">
                        <a:solidFill>
                          <a:srgbClr val="77122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Garamond" panose="02020404030301010803" pitchFamily="18" charset="0"/>
                            </a:rPr>
                            <a:t>4/30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>
                              <a:latin typeface="Garamond" panose="02020404030301010803" pitchFamily="18" charset="0"/>
                            </a:rPr>
                            <a:t>4/30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>
                              <a:latin typeface="Garamond" panose="02020404030301010803" pitchFamily="18" charset="0"/>
                            </a:rPr>
                            <a:t>-73/30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dirty="0">
                            <a:latin typeface="Garamond" panose="02020404030301010803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dirty="0">
                            <a:latin typeface="Garamond" panose="02020404030301010803" pitchFamily="18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7368346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bg1"/>
                              </a:solidFill>
                              <a:latin typeface="Garamond" panose="02020404030301010803" pitchFamily="18" charset="0"/>
                            </a:rPr>
                            <a:t>2</a:t>
                          </a:r>
                        </a:p>
                      </a:txBody>
                      <a:tcPr anchor="ctr">
                        <a:solidFill>
                          <a:srgbClr val="77122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Garamond" panose="02020404030301010803" pitchFamily="18" charset="0"/>
                            </a:rPr>
                            <a:t>4/30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Garamond" panose="02020404030301010803" pitchFamily="18" charset="0"/>
                            </a:rPr>
                            <a:t>8/30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Garamond" panose="02020404030301010803" pitchFamily="18" charset="0"/>
                            </a:rPr>
                            <a:t>-43/30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>
                            <a:latin typeface="Garamond" panose="02020404030301010803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>
                            <a:latin typeface="Garamond" panose="02020404030301010803" pitchFamily="18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28412386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bg1"/>
                              </a:solidFill>
                              <a:latin typeface="Garamond" panose="02020404030301010803" pitchFamily="18" charset="0"/>
                            </a:rPr>
                            <a:t>3</a:t>
                          </a:r>
                        </a:p>
                      </a:txBody>
                      <a:tcPr anchor="ctr">
                        <a:solidFill>
                          <a:srgbClr val="77122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Garamond" panose="02020404030301010803" pitchFamily="18" charset="0"/>
                            </a:rPr>
                            <a:t>5/30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Garamond" panose="02020404030301010803" pitchFamily="18" charset="0"/>
                            </a:rPr>
                            <a:t>15/30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Garamond" panose="02020404030301010803" pitchFamily="18" charset="0"/>
                            </a:rPr>
                            <a:t>-13/30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>
                            <a:latin typeface="Garamond" panose="02020404030301010803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>
                            <a:latin typeface="Garamond" panose="02020404030301010803" pitchFamily="18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49561823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bg1"/>
                              </a:solidFill>
                              <a:latin typeface="Garamond" panose="02020404030301010803" pitchFamily="18" charset="0"/>
                            </a:rPr>
                            <a:t>4</a:t>
                          </a:r>
                        </a:p>
                      </a:txBody>
                      <a:tcPr anchor="ctr">
                        <a:solidFill>
                          <a:srgbClr val="77122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Garamond" panose="02020404030301010803" pitchFamily="18" charset="0"/>
                            </a:rPr>
                            <a:t>2/30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Garamond" panose="02020404030301010803" pitchFamily="18" charset="0"/>
                            </a:rPr>
                            <a:t>8/30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Garamond" panose="02020404030301010803" pitchFamily="18" charset="0"/>
                            </a:rPr>
                            <a:t>17/30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>
                            <a:latin typeface="Garamond" panose="02020404030301010803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>
                            <a:latin typeface="Garamond" panose="02020404030301010803" pitchFamily="18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42584031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bg1"/>
                              </a:solidFill>
                              <a:latin typeface="Garamond" panose="02020404030301010803" pitchFamily="18" charset="0"/>
                            </a:rPr>
                            <a:t>5</a:t>
                          </a:r>
                        </a:p>
                      </a:txBody>
                      <a:tcPr anchor="ctr">
                        <a:solidFill>
                          <a:srgbClr val="77122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>
                              <a:latin typeface="Garamond" panose="02020404030301010803" pitchFamily="18" charset="0"/>
                            </a:rPr>
                            <a:t>5/30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Garamond" panose="02020404030301010803" pitchFamily="18" charset="0"/>
                            </a:rPr>
                            <a:t>25/30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Garamond" panose="02020404030301010803" pitchFamily="18" charset="0"/>
                            </a:rPr>
                            <a:t>47/30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dirty="0">
                            <a:solidFill>
                              <a:schemeClr val="tx1"/>
                            </a:solidFill>
                            <a:latin typeface="Garamond" panose="02020404030301010803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dirty="0">
                            <a:solidFill>
                              <a:schemeClr val="tx1"/>
                            </a:solidFill>
                            <a:latin typeface="Garamond" panose="02020404030301010803" pitchFamily="18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55062058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bg1"/>
                              </a:solidFill>
                              <a:latin typeface="Garamond" panose="02020404030301010803" pitchFamily="18" charset="0"/>
                            </a:rPr>
                            <a:t>6</a:t>
                          </a:r>
                        </a:p>
                      </a:txBody>
                      <a:tcPr anchor="ctr">
                        <a:solidFill>
                          <a:srgbClr val="77122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>
                              <a:latin typeface="Garamond" panose="02020404030301010803" pitchFamily="18" charset="0"/>
                            </a:rPr>
                            <a:t>1/30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Garamond" panose="02020404030301010803" pitchFamily="18" charset="0"/>
                            </a:rPr>
                            <a:t>6/30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Garamond" panose="02020404030301010803" pitchFamily="18" charset="0"/>
                            </a:rPr>
                            <a:t>77/30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dirty="0">
                            <a:solidFill>
                              <a:schemeClr val="tx1"/>
                            </a:solidFill>
                            <a:latin typeface="Garamond" panose="02020404030301010803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dirty="0">
                            <a:solidFill>
                              <a:schemeClr val="tx1"/>
                            </a:solidFill>
                            <a:latin typeface="Garamond" panose="02020404030301010803" pitchFamily="18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21783816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bg1"/>
                              </a:solidFill>
                              <a:latin typeface="Garamond" panose="02020404030301010803" pitchFamily="18" charset="0"/>
                            </a:rPr>
                            <a:t>7</a:t>
                          </a:r>
                        </a:p>
                      </a:txBody>
                      <a:tcPr anchor="ctr">
                        <a:solidFill>
                          <a:srgbClr val="77122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>
                              <a:latin typeface="Garamond" panose="02020404030301010803" pitchFamily="18" charset="0"/>
                            </a:rPr>
                            <a:t>3/30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Garamond" panose="02020404030301010803" pitchFamily="18" charset="0"/>
                            </a:rPr>
                            <a:t>21/30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Garamond" panose="02020404030301010803" pitchFamily="18" charset="0"/>
                            </a:rPr>
                            <a:t>107/30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dirty="0">
                            <a:solidFill>
                              <a:schemeClr val="tx1"/>
                            </a:solidFill>
                            <a:latin typeface="Garamond" panose="02020404030301010803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dirty="0">
                            <a:solidFill>
                              <a:schemeClr val="tx1"/>
                            </a:solidFill>
                            <a:latin typeface="Garamond" panose="02020404030301010803" pitchFamily="18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49435658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bg1"/>
                              </a:solidFill>
                              <a:latin typeface="Garamond" panose="02020404030301010803" pitchFamily="18" charset="0"/>
                            </a:rPr>
                            <a:t>8</a:t>
                          </a:r>
                        </a:p>
                      </a:txBody>
                      <a:tcPr anchor="ctr">
                        <a:solidFill>
                          <a:srgbClr val="77122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>
                              <a:latin typeface="Garamond" panose="02020404030301010803" pitchFamily="18" charset="0"/>
                            </a:rPr>
                            <a:t>2/30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Garamond" panose="02020404030301010803" pitchFamily="18" charset="0"/>
                            </a:rPr>
                            <a:t>16/30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Garamond" panose="02020404030301010803" pitchFamily="18" charset="0"/>
                            </a:rPr>
                            <a:t>137/30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dirty="0">
                            <a:solidFill>
                              <a:schemeClr val="tx1"/>
                            </a:solidFill>
                            <a:latin typeface="Garamond" panose="02020404030301010803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dirty="0">
                            <a:solidFill>
                              <a:schemeClr val="tx1"/>
                            </a:solidFill>
                            <a:latin typeface="Garamond" panose="02020404030301010803" pitchFamily="18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29502960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bg1"/>
                              </a:solidFill>
                              <a:latin typeface="Garamond" panose="02020404030301010803" pitchFamily="18" charset="0"/>
                            </a:rPr>
                            <a:t>Total</a:t>
                          </a:r>
                        </a:p>
                      </a:txBody>
                      <a:tcPr anchor="ctr">
                        <a:solidFill>
                          <a:srgbClr val="77122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>
                              <a:latin typeface="Garamond" panose="02020404030301010803" pitchFamily="18" charset="0"/>
                            </a:rPr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r>
                                <m:rPr>
                                  <m:nor/>
                                </m:rPr>
                                <a:rPr lang="en-US" altLang="zh-TW" sz="1800" b="0" i="0" dirty="0" smtClean="0">
                                  <a:solidFill>
                                    <a:schemeClr val="tx1"/>
                                  </a:solidFill>
                                  <a:latin typeface="Rockwell" panose="02060603020205020403" pitchFamily="18" charset="0"/>
                                </a:rPr>
                                <m:t>E</m:t>
                              </m:r>
                              <m:d>
                                <m:dPr>
                                  <m:ctrlPr>
                                    <a:rPr lang="en-US" b="0" i="0" dirty="0" smtClean="0">
                                      <a:solidFill>
                                        <a:schemeClr val="tx1"/>
                                      </a:solidFill>
                                      <a:latin typeface="Rockwell" panose="02060603020205020403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m:rPr>
                                      <m:nor/>
                                    </m:rPr>
                                    <a:rPr lang="en-US" b="0" i="0" dirty="0" smtClean="0">
                                      <a:solidFill>
                                        <a:schemeClr val="tx1"/>
                                      </a:solidFill>
                                      <a:latin typeface="Rockwell" panose="02060603020205020403" pitchFamily="18" charset="0"/>
                                    </a:rPr>
                                    <m:t>Z</m:t>
                                  </m:r>
                                </m:e>
                              </m:d>
                            </m:oMath>
                          </a14:m>
                          <a:r>
                            <a:rPr lang="en-US" sz="1800" b="0" dirty="0">
                              <a:solidFill>
                                <a:schemeClr val="tx1"/>
                              </a:solidFill>
                              <a:latin typeface="Garamond" panose="02020404030301010803" pitchFamily="18" charset="0"/>
                            </a:rPr>
                            <a:t> = 103/30 ≈ 3.43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  <a:latin typeface="Garamond" panose="02020404030301010803" pitchFamily="18" charset="0"/>
                            </a:rPr>
                            <a:t>N/A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dirty="0">
                            <a:solidFill>
                              <a:schemeClr val="tx1"/>
                            </a:solidFill>
                            <a:latin typeface="Garamond" panose="02020404030301010803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dirty="0">
                            <a:solidFill>
                              <a:schemeClr val="tx1"/>
                            </a:solidFill>
                            <a:latin typeface="Garamond" panose="02020404030301010803" pitchFamily="18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15036094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2" name="Table 11">
                <a:extLst>
                  <a:ext uri="{FF2B5EF4-FFF2-40B4-BE49-F238E27FC236}">
                    <a16:creationId xmlns:a16="http://schemas.microsoft.com/office/drawing/2014/main" id="{EA8947FA-DEB5-B8D8-51C9-1E0A6C2992B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349494702"/>
                  </p:ext>
                </p:extLst>
              </p:nvPr>
            </p:nvGraphicFramePr>
            <p:xfrm>
              <a:off x="860525" y="1794769"/>
              <a:ext cx="10560146" cy="416363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067301">
                      <a:extLst>
                        <a:ext uri="{9D8B030D-6E8A-4147-A177-3AD203B41FA5}">
                          <a16:colId xmlns:a16="http://schemas.microsoft.com/office/drawing/2014/main" val="3269318500"/>
                        </a:ext>
                      </a:extLst>
                    </a:gridCol>
                    <a:gridCol w="1067301">
                      <a:extLst>
                        <a:ext uri="{9D8B030D-6E8A-4147-A177-3AD203B41FA5}">
                          <a16:colId xmlns:a16="http://schemas.microsoft.com/office/drawing/2014/main" val="1084937839"/>
                        </a:ext>
                      </a:extLst>
                    </a:gridCol>
                    <a:gridCol w="2276669">
                      <a:extLst>
                        <a:ext uri="{9D8B030D-6E8A-4147-A177-3AD203B41FA5}">
                          <a16:colId xmlns:a16="http://schemas.microsoft.com/office/drawing/2014/main" val="4200844973"/>
                        </a:ext>
                      </a:extLst>
                    </a:gridCol>
                    <a:gridCol w="1376266">
                      <a:extLst>
                        <a:ext uri="{9D8B030D-6E8A-4147-A177-3AD203B41FA5}">
                          <a16:colId xmlns:a16="http://schemas.microsoft.com/office/drawing/2014/main" val="3844035428"/>
                        </a:ext>
                      </a:extLst>
                    </a:gridCol>
                    <a:gridCol w="1376266">
                      <a:extLst>
                        <a:ext uri="{9D8B030D-6E8A-4147-A177-3AD203B41FA5}">
                          <a16:colId xmlns:a16="http://schemas.microsoft.com/office/drawing/2014/main" val="2990019285"/>
                        </a:ext>
                      </a:extLst>
                    </a:gridCol>
                    <a:gridCol w="3396343">
                      <a:extLst>
                        <a:ext uri="{9D8B030D-6E8A-4147-A177-3AD203B41FA5}">
                          <a16:colId xmlns:a16="http://schemas.microsoft.com/office/drawing/2014/main" val="3019196937"/>
                        </a:ext>
                      </a:extLst>
                    </a:gridCol>
                  </a:tblGrid>
                  <a:tr h="45523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0" dirty="0">
                              <a:solidFill>
                                <a:schemeClr val="bg1"/>
                              </a:solidFill>
                              <a:latin typeface="Rockwell" panose="02060603020205020403" pitchFamily="18" charset="0"/>
                            </a:rPr>
                            <a:t>Z</a:t>
                          </a:r>
                        </a:p>
                      </a:txBody>
                      <a:tcPr anchor="ctr"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77122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00571" t="-1333" r="-791429" b="-83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93850" t="-1333" r="-270321" b="-83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320796" t="-1333" r="-347345" b="-83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420796" t="-1333" r="-247345" b="-83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211311" t="-1333" r="-359" b="-83333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6876973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bg1"/>
                              </a:solidFill>
                              <a:latin typeface="Garamond" panose="02020404030301010803" pitchFamily="18" charset="0"/>
                            </a:rPr>
                            <a:t>0</a:t>
                          </a:r>
                        </a:p>
                      </a:txBody>
                      <a:tcPr anchor="ctr"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solidFill>
                          <a:srgbClr val="77122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Garamond" panose="02020404030301010803" pitchFamily="18" charset="0"/>
                            </a:rPr>
                            <a:t>4/30</a:t>
                          </a:r>
                        </a:p>
                      </a:txBody>
                      <a:tcPr anchor="ctr"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>
                              <a:latin typeface="Garamond" panose="02020404030301010803" pitchFamily="18" charset="0"/>
                            </a:rPr>
                            <a:t>0</a:t>
                          </a:r>
                        </a:p>
                      </a:txBody>
                      <a:tcPr anchor="ctr"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>
                              <a:latin typeface="Garamond" panose="02020404030301010803" pitchFamily="18" charset="0"/>
                            </a:rPr>
                            <a:t>-103/30</a:t>
                          </a:r>
                        </a:p>
                      </a:txBody>
                      <a:tcPr anchor="ctr"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dirty="0">
                            <a:latin typeface="Garamond" panose="02020404030301010803" pitchFamily="18" charset="0"/>
                          </a:endParaRPr>
                        </a:p>
                      </a:txBody>
                      <a:tcPr anchor="ctr"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dirty="0">
                            <a:latin typeface="Garamond" panose="02020404030301010803" pitchFamily="18" charset="0"/>
                          </a:endParaRPr>
                        </a:p>
                      </a:txBody>
                      <a:tcPr anchor="ctr"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extLst>
                      <a:ext uri="{0D108BD9-81ED-4DB2-BD59-A6C34878D82A}">
                        <a16:rowId xmlns:a16="http://schemas.microsoft.com/office/drawing/2014/main" val="386434689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bg1"/>
                              </a:solidFill>
                              <a:latin typeface="Garamond" panose="02020404030301010803" pitchFamily="18" charset="0"/>
                            </a:rPr>
                            <a:t>1</a:t>
                          </a:r>
                        </a:p>
                      </a:txBody>
                      <a:tcPr anchor="ctr">
                        <a:solidFill>
                          <a:srgbClr val="77122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Garamond" panose="02020404030301010803" pitchFamily="18" charset="0"/>
                            </a:rPr>
                            <a:t>4/30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>
                              <a:latin typeface="Garamond" panose="02020404030301010803" pitchFamily="18" charset="0"/>
                            </a:rPr>
                            <a:t>4/30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>
                              <a:latin typeface="Garamond" panose="02020404030301010803" pitchFamily="18" charset="0"/>
                            </a:rPr>
                            <a:t>-73/30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dirty="0">
                            <a:latin typeface="Garamond" panose="02020404030301010803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dirty="0">
                            <a:latin typeface="Garamond" panose="02020404030301010803" pitchFamily="18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7368346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bg1"/>
                              </a:solidFill>
                              <a:latin typeface="Garamond" panose="02020404030301010803" pitchFamily="18" charset="0"/>
                            </a:rPr>
                            <a:t>2</a:t>
                          </a:r>
                        </a:p>
                      </a:txBody>
                      <a:tcPr anchor="ctr">
                        <a:solidFill>
                          <a:srgbClr val="77122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Garamond" panose="02020404030301010803" pitchFamily="18" charset="0"/>
                            </a:rPr>
                            <a:t>4/30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Garamond" panose="02020404030301010803" pitchFamily="18" charset="0"/>
                            </a:rPr>
                            <a:t>8/30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Garamond" panose="02020404030301010803" pitchFamily="18" charset="0"/>
                            </a:rPr>
                            <a:t>-43/30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>
                            <a:latin typeface="Garamond" panose="02020404030301010803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>
                            <a:latin typeface="Garamond" panose="02020404030301010803" pitchFamily="18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28412386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bg1"/>
                              </a:solidFill>
                              <a:latin typeface="Garamond" panose="02020404030301010803" pitchFamily="18" charset="0"/>
                            </a:rPr>
                            <a:t>3</a:t>
                          </a:r>
                        </a:p>
                      </a:txBody>
                      <a:tcPr anchor="ctr">
                        <a:solidFill>
                          <a:srgbClr val="77122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Garamond" panose="02020404030301010803" pitchFamily="18" charset="0"/>
                            </a:rPr>
                            <a:t>5/30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Garamond" panose="02020404030301010803" pitchFamily="18" charset="0"/>
                            </a:rPr>
                            <a:t>15/30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Garamond" panose="02020404030301010803" pitchFamily="18" charset="0"/>
                            </a:rPr>
                            <a:t>-13/30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>
                            <a:latin typeface="Garamond" panose="02020404030301010803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>
                            <a:latin typeface="Garamond" panose="02020404030301010803" pitchFamily="18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49561823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bg1"/>
                              </a:solidFill>
                              <a:latin typeface="Garamond" panose="02020404030301010803" pitchFamily="18" charset="0"/>
                            </a:rPr>
                            <a:t>4</a:t>
                          </a:r>
                        </a:p>
                      </a:txBody>
                      <a:tcPr anchor="ctr">
                        <a:solidFill>
                          <a:srgbClr val="77122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Garamond" panose="02020404030301010803" pitchFamily="18" charset="0"/>
                            </a:rPr>
                            <a:t>2/30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Garamond" panose="02020404030301010803" pitchFamily="18" charset="0"/>
                            </a:rPr>
                            <a:t>8/30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Garamond" panose="02020404030301010803" pitchFamily="18" charset="0"/>
                            </a:rPr>
                            <a:t>17/30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>
                            <a:latin typeface="Garamond" panose="02020404030301010803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>
                            <a:latin typeface="Garamond" panose="02020404030301010803" pitchFamily="18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42584031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bg1"/>
                              </a:solidFill>
                              <a:latin typeface="Garamond" panose="02020404030301010803" pitchFamily="18" charset="0"/>
                            </a:rPr>
                            <a:t>5</a:t>
                          </a:r>
                        </a:p>
                      </a:txBody>
                      <a:tcPr anchor="ctr">
                        <a:solidFill>
                          <a:srgbClr val="77122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>
                              <a:latin typeface="Garamond" panose="02020404030301010803" pitchFamily="18" charset="0"/>
                            </a:rPr>
                            <a:t>5/30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Garamond" panose="02020404030301010803" pitchFamily="18" charset="0"/>
                            </a:rPr>
                            <a:t>25/30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Garamond" panose="02020404030301010803" pitchFamily="18" charset="0"/>
                            </a:rPr>
                            <a:t>47/30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dirty="0">
                            <a:solidFill>
                              <a:schemeClr val="tx1"/>
                            </a:solidFill>
                            <a:latin typeface="Garamond" panose="02020404030301010803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dirty="0">
                            <a:solidFill>
                              <a:schemeClr val="tx1"/>
                            </a:solidFill>
                            <a:latin typeface="Garamond" panose="02020404030301010803" pitchFamily="18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55062058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bg1"/>
                              </a:solidFill>
                              <a:latin typeface="Garamond" panose="02020404030301010803" pitchFamily="18" charset="0"/>
                            </a:rPr>
                            <a:t>6</a:t>
                          </a:r>
                        </a:p>
                      </a:txBody>
                      <a:tcPr anchor="ctr">
                        <a:solidFill>
                          <a:srgbClr val="77122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>
                              <a:latin typeface="Garamond" panose="02020404030301010803" pitchFamily="18" charset="0"/>
                            </a:rPr>
                            <a:t>1/30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Garamond" panose="02020404030301010803" pitchFamily="18" charset="0"/>
                            </a:rPr>
                            <a:t>6/30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Garamond" panose="02020404030301010803" pitchFamily="18" charset="0"/>
                            </a:rPr>
                            <a:t>77/30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dirty="0">
                            <a:solidFill>
                              <a:schemeClr val="tx1"/>
                            </a:solidFill>
                            <a:latin typeface="Garamond" panose="02020404030301010803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dirty="0">
                            <a:solidFill>
                              <a:schemeClr val="tx1"/>
                            </a:solidFill>
                            <a:latin typeface="Garamond" panose="02020404030301010803" pitchFamily="18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21783816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bg1"/>
                              </a:solidFill>
                              <a:latin typeface="Garamond" panose="02020404030301010803" pitchFamily="18" charset="0"/>
                            </a:rPr>
                            <a:t>7</a:t>
                          </a:r>
                        </a:p>
                      </a:txBody>
                      <a:tcPr anchor="ctr">
                        <a:solidFill>
                          <a:srgbClr val="77122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>
                              <a:latin typeface="Garamond" panose="02020404030301010803" pitchFamily="18" charset="0"/>
                            </a:rPr>
                            <a:t>3/30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Garamond" panose="02020404030301010803" pitchFamily="18" charset="0"/>
                            </a:rPr>
                            <a:t>21/30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Garamond" panose="02020404030301010803" pitchFamily="18" charset="0"/>
                            </a:rPr>
                            <a:t>107/30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dirty="0">
                            <a:solidFill>
                              <a:schemeClr val="tx1"/>
                            </a:solidFill>
                            <a:latin typeface="Garamond" panose="02020404030301010803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dirty="0">
                            <a:solidFill>
                              <a:schemeClr val="tx1"/>
                            </a:solidFill>
                            <a:latin typeface="Garamond" panose="02020404030301010803" pitchFamily="18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49435658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bg1"/>
                              </a:solidFill>
                              <a:latin typeface="Garamond" panose="02020404030301010803" pitchFamily="18" charset="0"/>
                            </a:rPr>
                            <a:t>8</a:t>
                          </a:r>
                        </a:p>
                      </a:txBody>
                      <a:tcPr anchor="ctr">
                        <a:solidFill>
                          <a:srgbClr val="77122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>
                              <a:latin typeface="Garamond" panose="02020404030301010803" pitchFamily="18" charset="0"/>
                            </a:rPr>
                            <a:t>2/30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Garamond" panose="02020404030301010803" pitchFamily="18" charset="0"/>
                            </a:rPr>
                            <a:t>16/30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Garamond" panose="02020404030301010803" pitchFamily="18" charset="0"/>
                            </a:rPr>
                            <a:t>137/30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dirty="0">
                            <a:solidFill>
                              <a:schemeClr val="tx1"/>
                            </a:solidFill>
                            <a:latin typeface="Garamond" panose="02020404030301010803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dirty="0">
                            <a:solidFill>
                              <a:schemeClr val="tx1"/>
                            </a:solidFill>
                            <a:latin typeface="Garamond" panose="02020404030301010803" pitchFamily="18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29502960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bg1"/>
                              </a:solidFill>
                              <a:latin typeface="Garamond" panose="02020404030301010803" pitchFamily="18" charset="0"/>
                            </a:rPr>
                            <a:t>Total</a:t>
                          </a:r>
                        </a:p>
                      </a:txBody>
                      <a:tcPr anchor="ctr">
                        <a:solidFill>
                          <a:srgbClr val="77122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>
                              <a:latin typeface="Garamond" panose="02020404030301010803" pitchFamily="18" charset="0"/>
                            </a:rPr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93850" t="-1022951" r="-270321" b="-262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  <a:latin typeface="Garamond" panose="02020404030301010803" pitchFamily="18" charset="0"/>
                            </a:rPr>
                            <a:t>N/A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dirty="0">
                            <a:solidFill>
                              <a:schemeClr val="tx1"/>
                            </a:solidFill>
                            <a:latin typeface="Garamond" panose="02020404030301010803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dirty="0">
                            <a:solidFill>
                              <a:schemeClr val="tx1"/>
                            </a:solidFill>
                            <a:latin typeface="Garamond" panose="02020404030301010803" pitchFamily="18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150360944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77D05B76-10E1-5927-6F8E-C9A8E98EF95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319162386"/>
                  </p:ext>
                </p:extLst>
              </p:nvPr>
            </p:nvGraphicFramePr>
            <p:xfrm>
              <a:off x="860525" y="1794769"/>
              <a:ext cx="10560146" cy="416363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067301">
                      <a:extLst>
                        <a:ext uri="{9D8B030D-6E8A-4147-A177-3AD203B41FA5}">
                          <a16:colId xmlns:a16="http://schemas.microsoft.com/office/drawing/2014/main" val="3269318500"/>
                        </a:ext>
                      </a:extLst>
                    </a:gridCol>
                    <a:gridCol w="1067301">
                      <a:extLst>
                        <a:ext uri="{9D8B030D-6E8A-4147-A177-3AD203B41FA5}">
                          <a16:colId xmlns:a16="http://schemas.microsoft.com/office/drawing/2014/main" val="1084937839"/>
                        </a:ext>
                      </a:extLst>
                    </a:gridCol>
                    <a:gridCol w="2276669">
                      <a:extLst>
                        <a:ext uri="{9D8B030D-6E8A-4147-A177-3AD203B41FA5}">
                          <a16:colId xmlns:a16="http://schemas.microsoft.com/office/drawing/2014/main" val="4200844973"/>
                        </a:ext>
                      </a:extLst>
                    </a:gridCol>
                    <a:gridCol w="1376266">
                      <a:extLst>
                        <a:ext uri="{9D8B030D-6E8A-4147-A177-3AD203B41FA5}">
                          <a16:colId xmlns:a16="http://schemas.microsoft.com/office/drawing/2014/main" val="3844035428"/>
                        </a:ext>
                      </a:extLst>
                    </a:gridCol>
                    <a:gridCol w="1376266">
                      <a:extLst>
                        <a:ext uri="{9D8B030D-6E8A-4147-A177-3AD203B41FA5}">
                          <a16:colId xmlns:a16="http://schemas.microsoft.com/office/drawing/2014/main" val="2990019285"/>
                        </a:ext>
                      </a:extLst>
                    </a:gridCol>
                    <a:gridCol w="3396343">
                      <a:extLst>
                        <a:ext uri="{9D8B030D-6E8A-4147-A177-3AD203B41FA5}">
                          <a16:colId xmlns:a16="http://schemas.microsoft.com/office/drawing/2014/main" val="301919693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0" dirty="0">
                              <a:solidFill>
                                <a:schemeClr val="bg1"/>
                              </a:solidFill>
                              <a:latin typeface="Rockwell" panose="02060603020205020403" pitchFamily="18" charset="0"/>
                            </a:rPr>
                            <a:t>Z</a:t>
                          </a:r>
                        </a:p>
                      </a:txBody>
                      <a:tcPr anchor="ctr"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77122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en-US" b="0" i="1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  <m:r>
                                  <a:rPr lang="en-US" b="0" i="1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1800" b="0" i="0" dirty="0" smtClean="0">
                                    <a:latin typeface="Rockwell" panose="02060603020205020403" pitchFamily="18" charset="0"/>
                                  </a:rPr>
                                  <m:t>z</m:t>
                                </m:r>
                                <m:r>
                                  <a:rPr lang="en-US" b="0" i="1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 anchor="ctr"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77122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m:rPr>
                                    <m:nor/>
                                  </m:rPr>
                                  <a:rPr lang="en-US" altLang="zh-TW" sz="1800" b="0" i="0" dirty="0" smtClean="0">
                                    <a:latin typeface="Rockwell" panose="02060603020205020403" pitchFamily="18" charset="0"/>
                                  </a:rPr>
                                  <m:t>z</m:t>
                                </m:r>
                                <m:r>
                                  <a:rPr lang="en-US" altLang="zh-TW" sz="1800" b="0" i="1" dirty="0" smtClean="0">
                                    <a:latin typeface="Cambria Math" panose="02040503050406030204" pitchFamily="18" charset="0"/>
                                  </a:rPr>
                                  <m:t>⋅</m:t>
                                </m:r>
                                <m:r>
                                  <a:rPr lang="en-US" b="0" i="1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  <m:r>
                                  <a:rPr lang="en-US" b="0" i="1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1800" b="0" i="0" dirty="0" smtClean="0">
                                    <a:latin typeface="Rockwell" panose="02060603020205020403" pitchFamily="18" charset="0"/>
                                  </a:rPr>
                                  <m:t>z</m:t>
                                </m:r>
                                <m:r>
                                  <a:rPr lang="en-US" b="0" i="1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b="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 anchor="ctr"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77122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m:rPr>
                                    <m:nor/>
                                  </m:rPr>
                                  <a:rPr lang="en-US" altLang="zh-TW" sz="1800" b="0" i="0" dirty="0" smtClean="0">
                                    <a:latin typeface="Rockwell" panose="02060603020205020403" pitchFamily="18" charset="0"/>
                                  </a:rPr>
                                  <m:t>z−E</m:t>
                                </m:r>
                                <m:r>
                                  <a:rPr lang="en-US" b="0" i="1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1800" b="0" i="0" dirty="0" smtClean="0">
                                    <a:latin typeface="Rockwell" panose="02060603020205020403" pitchFamily="18" charset="0"/>
                                  </a:rPr>
                                  <m:t>Z</m:t>
                                </m:r>
                                <m:r>
                                  <a:rPr lang="en-US" b="0" i="1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b="0" dirty="0">
                            <a:solidFill>
                              <a:schemeClr val="bg1"/>
                            </a:solidFill>
                            <a:latin typeface="Garamond" panose="02020404030301010803" pitchFamily="18" charset="0"/>
                          </a:endParaRPr>
                        </a:p>
                      </a:txBody>
                      <a:tcPr anchor="ctr"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77122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>
                                <m:sSup>
                                  <m:sSupPr>
                                    <m:ctrlPr>
                                      <a:rPr lang="en-US" altLang="zh-TW" sz="1800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ctrlPr>
                                          <a:rPr lang="en-US" altLang="zh-TW" sz="1800" b="0" i="0" dirty="0" smtClean="0">
                                            <a:latin typeface="Rockwell" panose="02060603020205020403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m:rPr>
                                            <m:nor/>
                                          </m:rPr>
                                          <a:rPr lang="en-US" altLang="zh-TW" sz="1800" b="0" i="0" dirty="0" smtClean="0">
                                            <a:latin typeface="Rockwell" panose="02060603020205020403" pitchFamily="18" charset="0"/>
                                          </a:rPr>
                                          <m:t>z−E</m:t>
                                        </m:r>
                                        <m:d>
                                          <m:dPr>
                                            <m:ctrlPr>
                                              <a:rPr lang="en-US" altLang="zh-TW" sz="1800" b="0" i="0" dirty="0" smtClean="0">
                                                <a:latin typeface="Rockwell" panose="02060603020205020403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r>
                                              <m:rPr>
                                                <m:nor/>
                                              </m:rPr>
                                              <a:rPr lang="en-US" altLang="zh-TW" sz="1800" b="0" i="0" dirty="0" smtClean="0">
                                                <a:latin typeface="Rockwell" panose="02060603020205020403" pitchFamily="18" charset="0"/>
                                              </a:rPr>
                                              <m:t>Z</m:t>
                                            </m:r>
                                          </m:e>
                                        </m:d>
                                      </m:e>
                                    </m:d>
                                  </m:e>
                                  <m:sup>
                                    <m:r>
                                      <a:rPr lang="en-US" altLang="zh-TW" sz="1800" b="0" i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b="0" dirty="0">
                            <a:solidFill>
                              <a:schemeClr val="bg1"/>
                            </a:solidFill>
                            <a:latin typeface="Garamond" panose="02020404030301010803" pitchFamily="18" charset="0"/>
                          </a:endParaRPr>
                        </a:p>
                      </a:txBody>
                      <a:tcPr anchor="ctr"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77122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>
                                <m:sSup>
                                  <m:sSupPr>
                                    <m:ctrlPr>
                                      <a:rPr lang="en-US" altLang="zh-TW" sz="1800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ctrlPr>
                                          <a:rPr lang="en-US" altLang="zh-TW" sz="1800" b="0" i="0" dirty="0" smtClean="0">
                                            <a:latin typeface="Rockwell" panose="02060603020205020403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m:rPr>
                                            <m:nor/>
                                          </m:rPr>
                                          <a:rPr lang="en-US" altLang="zh-TW" sz="1800" b="0" i="0" dirty="0" smtClean="0">
                                            <a:latin typeface="Rockwell" panose="02060603020205020403" pitchFamily="18" charset="0"/>
                                          </a:rPr>
                                          <m:t>z−E</m:t>
                                        </m:r>
                                        <m:d>
                                          <m:dPr>
                                            <m:ctrlPr>
                                              <a:rPr lang="en-US" altLang="zh-TW" sz="1800" b="0" i="0" dirty="0" smtClean="0">
                                                <a:latin typeface="Rockwell" panose="02060603020205020403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r>
                                              <m:rPr>
                                                <m:nor/>
                                              </m:rPr>
                                              <a:rPr lang="en-US" altLang="zh-TW" sz="1800" b="0" i="0" dirty="0" smtClean="0">
                                                <a:latin typeface="Rockwell" panose="02060603020205020403" pitchFamily="18" charset="0"/>
                                              </a:rPr>
                                              <m:t>Z</m:t>
                                            </m:r>
                                          </m:e>
                                        </m:d>
                                      </m:e>
                                    </m:d>
                                  </m:e>
                                  <m:sup>
                                    <m:r>
                                      <a:rPr lang="en-US" altLang="zh-TW" sz="1800" b="0" i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US" altLang="zh-TW" sz="1800" b="0" i="1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⋅</m:t>
                                </m:r>
                                <m:r>
                                  <a:rPr lang="en-US" b="0" i="1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  <m:r>
                                  <a:rPr lang="en-US" b="0" i="1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1800" b="0" i="0" dirty="0" smtClean="0">
                                    <a:latin typeface="Rockwell" panose="02060603020205020403" pitchFamily="18" charset="0"/>
                                  </a:rPr>
                                  <m:t>z</m:t>
                                </m:r>
                                <m:r>
                                  <a:rPr lang="en-US" b="0" i="1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b="0" dirty="0">
                            <a:solidFill>
                              <a:schemeClr val="bg1"/>
                            </a:solidFill>
                            <a:latin typeface="Garamond" panose="02020404030301010803" pitchFamily="18" charset="0"/>
                          </a:endParaRPr>
                        </a:p>
                      </a:txBody>
                      <a:tcPr anchor="ctr"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77122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6876973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bg1"/>
                              </a:solidFill>
                              <a:latin typeface="Garamond" panose="02020404030301010803" pitchFamily="18" charset="0"/>
                            </a:rPr>
                            <a:t>0</a:t>
                          </a:r>
                        </a:p>
                      </a:txBody>
                      <a:tcPr anchor="ctr"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solidFill>
                          <a:srgbClr val="77122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Garamond" panose="02020404030301010803" pitchFamily="18" charset="0"/>
                            </a:rPr>
                            <a:t>4/30</a:t>
                          </a:r>
                        </a:p>
                      </a:txBody>
                      <a:tcPr anchor="ctr"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>
                              <a:latin typeface="Garamond" panose="02020404030301010803" pitchFamily="18" charset="0"/>
                            </a:rPr>
                            <a:t>0</a:t>
                          </a:r>
                        </a:p>
                      </a:txBody>
                      <a:tcPr anchor="ctr"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>
                              <a:latin typeface="Garamond" panose="02020404030301010803" pitchFamily="18" charset="0"/>
                            </a:rPr>
                            <a:t>-103/30</a:t>
                          </a:r>
                        </a:p>
                      </a:txBody>
                      <a:tcPr anchor="ctr"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>
                              <a:latin typeface="Garamond" panose="02020404030301010803" pitchFamily="18" charset="0"/>
                            </a:rPr>
                            <a:t>10,609/900</a:t>
                          </a:r>
                        </a:p>
                      </a:txBody>
                      <a:tcPr anchor="ctr"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dirty="0">
                            <a:latin typeface="Garamond" panose="02020404030301010803" pitchFamily="18" charset="0"/>
                          </a:endParaRPr>
                        </a:p>
                      </a:txBody>
                      <a:tcPr anchor="ctr"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extLst>
                      <a:ext uri="{0D108BD9-81ED-4DB2-BD59-A6C34878D82A}">
                        <a16:rowId xmlns:a16="http://schemas.microsoft.com/office/drawing/2014/main" val="386434689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bg1"/>
                              </a:solidFill>
                              <a:latin typeface="Garamond" panose="02020404030301010803" pitchFamily="18" charset="0"/>
                            </a:rPr>
                            <a:t>1</a:t>
                          </a:r>
                        </a:p>
                      </a:txBody>
                      <a:tcPr anchor="ctr">
                        <a:solidFill>
                          <a:srgbClr val="77122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Garamond" panose="02020404030301010803" pitchFamily="18" charset="0"/>
                            </a:rPr>
                            <a:t>4/30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>
                              <a:latin typeface="Garamond" panose="02020404030301010803" pitchFamily="18" charset="0"/>
                            </a:rPr>
                            <a:t>4/30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>
                              <a:latin typeface="Garamond" panose="02020404030301010803" pitchFamily="18" charset="0"/>
                            </a:rPr>
                            <a:t>-73/30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>
                              <a:latin typeface="Garamond" panose="02020404030301010803" pitchFamily="18" charset="0"/>
                            </a:rPr>
                            <a:t>5,329/900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dirty="0">
                            <a:latin typeface="Garamond" panose="02020404030301010803" pitchFamily="18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7368346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bg1"/>
                              </a:solidFill>
                              <a:latin typeface="Garamond" panose="02020404030301010803" pitchFamily="18" charset="0"/>
                            </a:rPr>
                            <a:t>2</a:t>
                          </a:r>
                        </a:p>
                      </a:txBody>
                      <a:tcPr anchor="ctr">
                        <a:solidFill>
                          <a:srgbClr val="77122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Garamond" panose="02020404030301010803" pitchFamily="18" charset="0"/>
                            </a:rPr>
                            <a:t>4/30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Garamond" panose="02020404030301010803" pitchFamily="18" charset="0"/>
                            </a:rPr>
                            <a:t>8/30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Garamond" panose="02020404030301010803" pitchFamily="18" charset="0"/>
                            </a:rPr>
                            <a:t>-43/30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Garamond" panose="02020404030301010803" pitchFamily="18" charset="0"/>
                            </a:rPr>
                            <a:t>1,849/900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>
                            <a:latin typeface="Garamond" panose="02020404030301010803" pitchFamily="18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28412386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bg1"/>
                              </a:solidFill>
                              <a:latin typeface="Garamond" panose="02020404030301010803" pitchFamily="18" charset="0"/>
                            </a:rPr>
                            <a:t>3</a:t>
                          </a:r>
                        </a:p>
                      </a:txBody>
                      <a:tcPr anchor="ctr">
                        <a:solidFill>
                          <a:srgbClr val="77122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Garamond" panose="02020404030301010803" pitchFamily="18" charset="0"/>
                            </a:rPr>
                            <a:t>5/30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Garamond" panose="02020404030301010803" pitchFamily="18" charset="0"/>
                            </a:rPr>
                            <a:t>15/30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Garamond" panose="02020404030301010803" pitchFamily="18" charset="0"/>
                            </a:rPr>
                            <a:t>-13/30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Garamond" panose="02020404030301010803" pitchFamily="18" charset="0"/>
                            </a:rPr>
                            <a:t>169/900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>
                            <a:latin typeface="Garamond" panose="02020404030301010803" pitchFamily="18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49561823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bg1"/>
                              </a:solidFill>
                              <a:latin typeface="Garamond" panose="02020404030301010803" pitchFamily="18" charset="0"/>
                            </a:rPr>
                            <a:t>4</a:t>
                          </a:r>
                        </a:p>
                      </a:txBody>
                      <a:tcPr anchor="ctr">
                        <a:solidFill>
                          <a:srgbClr val="77122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Garamond" panose="02020404030301010803" pitchFamily="18" charset="0"/>
                            </a:rPr>
                            <a:t>2/30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Garamond" panose="02020404030301010803" pitchFamily="18" charset="0"/>
                            </a:rPr>
                            <a:t>8/30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Garamond" panose="02020404030301010803" pitchFamily="18" charset="0"/>
                            </a:rPr>
                            <a:t>17/30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Garamond" panose="02020404030301010803" pitchFamily="18" charset="0"/>
                            </a:rPr>
                            <a:t>289/900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>
                            <a:latin typeface="Garamond" panose="02020404030301010803" pitchFamily="18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42584031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bg1"/>
                              </a:solidFill>
                              <a:latin typeface="Garamond" panose="02020404030301010803" pitchFamily="18" charset="0"/>
                            </a:rPr>
                            <a:t>5</a:t>
                          </a:r>
                        </a:p>
                      </a:txBody>
                      <a:tcPr anchor="ctr">
                        <a:solidFill>
                          <a:srgbClr val="77122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>
                              <a:latin typeface="Garamond" panose="02020404030301010803" pitchFamily="18" charset="0"/>
                            </a:rPr>
                            <a:t>5/30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Garamond" panose="02020404030301010803" pitchFamily="18" charset="0"/>
                            </a:rPr>
                            <a:t>25/30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Garamond" panose="02020404030301010803" pitchFamily="18" charset="0"/>
                            </a:rPr>
                            <a:t>47/30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>
                              <a:solidFill>
                                <a:schemeClr val="tx1"/>
                              </a:solidFill>
                              <a:latin typeface="Garamond" panose="02020404030301010803" pitchFamily="18" charset="0"/>
                            </a:rPr>
                            <a:t>2,209/900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dirty="0">
                            <a:solidFill>
                              <a:schemeClr val="tx1"/>
                            </a:solidFill>
                            <a:latin typeface="Garamond" panose="02020404030301010803" pitchFamily="18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55062058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bg1"/>
                              </a:solidFill>
                              <a:latin typeface="Garamond" panose="02020404030301010803" pitchFamily="18" charset="0"/>
                            </a:rPr>
                            <a:t>6</a:t>
                          </a:r>
                        </a:p>
                      </a:txBody>
                      <a:tcPr anchor="ctr">
                        <a:solidFill>
                          <a:srgbClr val="77122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>
                              <a:latin typeface="Garamond" panose="02020404030301010803" pitchFamily="18" charset="0"/>
                            </a:rPr>
                            <a:t>1/30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Garamond" panose="02020404030301010803" pitchFamily="18" charset="0"/>
                            </a:rPr>
                            <a:t>6/30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Garamond" panose="02020404030301010803" pitchFamily="18" charset="0"/>
                            </a:rPr>
                            <a:t>77/30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>
                              <a:solidFill>
                                <a:schemeClr val="tx1"/>
                              </a:solidFill>
                              <a:latin typeface="Garamond" panose="02020404030301010803" pitchFamily="18" charset="0"/>
                            </a:rPr>
                            <a:t>5,929/900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dirty="0">
                            <a:solidFill>
                              <a:schemeClr val="tx1"/>
                            </a:solidFill>
                            <a:latin typeface="Garamond" panose="02020404030301010803" pitchFamily="18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21783816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bg1"/>
                              </a:solidFill>
                              <a:latin typeface="Garamond" panose="02020404030301010803" pitchFamily="18" charset="0"/>
                            </a:rPr>
                            <a:t>7</a:t>
                          </a:r>
                        </a:p>
                      </a:txBody>
                      <a:tcPr anchor="ctr">
                        <a:solidFill>
                          <a:srgbClr val="77122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>
                              <a:latin typeface="Garamond" panose="02020404030301010803" pitchFamily="18" charset="0"/>
                            </a:rPr>
                            <a:t>3/30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Garamond" panose="02020404030301010803" pitchFamily="18" charset="0"/>
                            </a:rPr>
                            <a:t>21/30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Garamond" panose="02020404030301010803" pitchFamily="18" charset="0"/>
                            </a:rPr>
                            <a:t>107/30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>
                              <a:solidFill>
                                <a:schemeClr val="tx1"/>
                              </a:solidFill>
                              <a:latin typeface="Garamond" panose="02020404030301010803" pitchFamily="18" charset="0"/>
                            </a:rPr>
                            <a:t>11,449/900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dirty="0">
                            <a:solidFill>
                              <a:schemeClr val="tx1"/>
                            </a:solidFill>
                            <a:latin typeface="Garamond" panose="02020404030301010803" pitchFamily="18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49435658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bg1"/>
                              </a:solidFill>
                              <a:latin typeface="Garamond" panose="02020404030301010803" pitchFamily="18" charset="0"/>
                            </a:rPr>
                            <a:t>8</a:t>
                          </a:r>
                        </a:p>
                      </a:txBody>
                      <a:tcPr anchor="ctr">
                        <a:solidFill>
                          <a:srgbClr val="77122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>
                              <a:latin typeface="Garamond" panose="02020404030301010803" pitchFamily="18" charset="0"/>
                            </a:rPr>
                            <a:t>2/30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Garamond" panose="02020404030301010803" pitchFamily="18" charset="0"/>
                            </a:rPr>
                            <a:t>16/30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Garamond" panose="02020404030301010803" pitchFamily="18" charset="0"/>
                            </a:rPr>
                            <a:t>137/30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>
                              <a:solidFill>
                                <a:schemeClr val="tx1"/>
                              </a:solidFill>
                              <a:latin typeface="Garamond" panose="02020404030301010803" pitchFamily="18" charset="0"/>
                            </a:rPr>
                            <a:t>18,769/900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dirty="0">
                            <a:solidFill>
                              <a:schemeClr val="tx1"/>
                            </a:solidFill>
                            <a:latin typeface="Garamond" panose="02020404030301010803" pitchFamily="18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29502960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bg1"/>
                              </a:solidFill>
                              <a:latin typeface="Garamond" panose="02020404030301010803" pitchFamily="18" charset="0"/>
                            </a:rPr>
                            <a:t>Total</a:t>
                          </a:r>
                        </a:p>
                      </a:txBody>
                      <a:tcPr anchor="ctr">
                        <a:solidFill>
                          <a:srgbClr val="77122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>
                              <a:latin typeface="Garamond" panose="02020404030301010803" pitchFamily="18" charset="0"/>
                            </a:rPr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r>
                                <m:rPr>
                                  <m:nor/>
                                </m:rPr>
                                <a:rPr lang="en-US" altLang="zh-TW" sz="1800" b="0" i="0" dirty="0" smtClean="0">
                                  <a:solidFill>
                                    <a:schemeClr val="tx1"/>
                                  </a:solidFill>
                                  <a:latin typeface="Rockwell" panose="02060603020205020403" pitchFamily="18" charset="0"/>
                                </a:rPr>
                                <m:t>E</m:t>
                              </m:r>
                              <m:d>
                                <m:dPr>
                                  <m:ctrlPr>
                                    <a:rPr lang="en-US" b="0" i="0" dirty="0" smtClean="0">
                                      <a:solidFill>
                                        <a:schemeClr val="tx1"/>
                                      </a:solidFill>
                                      <a:latin typeface="Rockwell" panose="02060603020205020403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m:rPr>
                                      <m:nor/>
                                    </m:rPr>
                                    <a:rPr lang="en-US" b="0" i="0" dirty="0" smtClean="0">
                                      <a:solidFill>
                                        <a:schemeClr val="tx1"/>
                                      </a:solidFill>
                                      <a:latin typeface="Rockwell" panose="02060603020205020403" pitchFamily="18" charset="0"/>
                                    </a:rPr>
                                    <m:t>Z</m:t>
                                  </m:r>
                                </m:e>
                              </m:d>
                            </m:oMath>
                          </a14:m>
                          <a:r>
                            <a:rPr lang="en-US" sz="1800" b="0" dirty="0">
                              <a:solidFill>
                                <a:schemeClr val="tx1"/>
                              </a:solidFill>
                              <a:latin typeface="Garamond" panose="02020404030301010803" pitchFamily="18" charset="0"/>
                            </a:rPr>
                            <a:t> = 103/30 ≈ 3.43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  <a:latin typeface="Garamond" panose="02020404030301010803" pitchFamily="18" charset="0"/>
                            </a:rPr>
                            <a:t>N/A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>
                              <a:solidFill>
                                <a:schemeClr val="tx1"/>
                              </a:solidFill>
                              <a:latin typeface="Garamond" panose="02020404030301010803" pitchFamily="18" charset="0"/>
                            </a:rPr>
                            <a:t>N/A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dirty="0">
                            <a:solidFill>
                              <a:schemeClr val="tx1"/>
                            </a:solidFill>
                            <a:latin typeface="Garamond" panose="02020404030301010803" pitchFamily="18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15036094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77D05B76-10E1-5927-6F8E-C9A8E98EF95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319162386"/>
                  </p:ext>
                </p:extLst>
              </p:nvPr>
            </p:nvGraphicFramePr>
            <p:xfrm>
              <a:off x="860525" y="1794769"/>
              <a:ext cx="10560146" cy="416363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067301">
                      <a:extLst>
                        <a:ext uri="{9D8B030D-6E8A-4147-A177-3AD203B41FA5}">
                          <a16:colId xmlns:a16="http://schemas.microsoft.com/office/drawing/2014/main" val="3269318500"/>
                        </a:ext>
                      </a:extLst>
                    </a:gridCol>
                    <a:gridCol w="1067301">
                      <a:extLst>
                        <a:ext uri="{9D8B030D-6E8A-4147-A177-3AD203B41FA5}">
                          <a16:colId xmlns:a16="http://schemas.microsoft.com/office/drawing/2014/main" val="1084937839"/>
                        </a:ext>
                      </a:extLst>
                    </a:gridCol>
                    <a:gridCol w="2276669">
                      <a:extLst>
                        <a:ext uri="{9D8B030D-6E8A-4147-A177-3AD203B41FA5}">
                          <a16:colId xmlns:a16="http://schemas.microsoft.com/office/drawing/2014/main" val="4200844973"/>
                        </a:ext>
                      </a:extLst>
                    </a:gridCol>
                    <a:gridCol w="1376266">
                      <a:extLst>
                        <a:ext uri="{9D8B030D-6E8A-4147-A177-3AD203B41FA5}">
                          <a16:colId xmlns:a16="http://schemas.microsoft.com/office/drawing/2014/main" val="3844035428"/>
                        </a:ext>
                      </a:extLst>
                    </a:gridCol>
                    <a:gridCol w="1376266">
                      <a:extLst>
                        <a:ext uri="{9D8B030D-6E8A-4147-A177-3AD203B41FA5}">
                          <a16:colId xmlns:a16="http://schemas.microsoft.com/office/drawing/2014/main" val="2990019285"/>
                        </a:ext>
                      </a:extLst>
                    </a:gridCol>
                    <a:gridCol w="3396343">
                      <a:extLst>
                        <a:ext uri="{9D8B030D-6E8A-4147-A177-3AD203B41FA5}">
                          <a16:colId xmlns:a16="http://schemas.microsoft.com/office/drawing/2014/main" val="3019196937"/>
                        </a:ext>
                      </a:extLst>
                    </a:gridCol>
                  </a:tblGrid>
                  <a:tr h="45523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0" dirty="0">
                              <a:solidFill>
                                <a:schemeClr val="bg1"/>
                              </a:solidFill>
                              <a:latin typeface="Rockwell" panose="02060603020205020403" pitchFamily="18" charset="0"/>
                            </a:rPr>
                            <a:t>Z</a:t>
                          </a:r>
                        </a:p>
                      </a:txBody>
                      <a:tcPr anchor="ctr"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77122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00571" t="-1333" r="-791429" b="-83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93850" t="-1333" r="-270321" b="-83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320796" t="-1333" r="-347345" b="-83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420796" t="-1333" r="-247345" b="-83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211311" t="-1333" r="-359" b="-83333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6876973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bg1"/>
                              </a:solidFill>
                              <a:latin typeface="Garamond" panose="02020404030301010803" pitchFamily="18" charset="0"/>
                            </a:rPr>
                            <a:t>0</a:t>
                          </a:r>
                        </a:p>
                      </a:txBody>
                      <a:tcPr anchor="ctr"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solidFill>
                          <a:srgbClr val="77122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Garamond" panose="02020404030301010803" pitchFamily="18" charset="0"/>
                            </a:rPr>
                            <a:t>4/30</a:t>
                          </a:r>
                        </a:p>
                      </a:txBody>
                      <a:tcPr anchor="ctr"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>
                              <a:latin typeface="Garamond" panose="02020404030301010803" pitchFamily="18" charset="0"/>
                            </a:rPr>
                            <a:t>0</a:t>
                          </a:r>
                        </a:p>
                      </a:txBody>
                      <a:tcPr anchor="ctr"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>
                              <a:latin typeface="Garamond" panose="02020404030301010803" pitchFamily="18" charset="0"/>
                            </a:rPr>
                            <a:t>-103/30</a:t>
                          </a:r>
                        </a:p>
                      </a:txBody>
                      <a:tcPr anchor="ctr"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>
                              <a:latin typeface="Garamond" panose="02020404030301010803" pitchFamily="18" charset="0"/>
                            </a:rPr>
                            <a:t>10,609/900</a:t>
                          </a:r>
                        </a:p>
                      </a:txBody>
                      <a:tcPr anchor="ctr"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dirty="0">
                            <a:latin typeface="Garamond" panose="02020404030301010803" pitchFamily="18" charset="0"/>
                          </a:endParaRPr>
                        </a:p>
                      </a:txBody>
                      <a:tcPr anchor="ctr"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extLst>
                      <a:ext uri="{0D108BD9-81ED-4DB2-BD59-A6C34878D82A}">
                        <a16:rowId xmlns:a16="http://schemas.microsoft.com/office/drawing/2014/main" val="386434689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bg1"/>
                              </a:solidFill>
                              <a:latin typeface="Garamond" panose="02020404030301010803" pitchFamily="18" charset="0"/>
                            </a:rPr>
                            <a:t>1</a:t>
                          </a:r>
                        </a:p>
                      </a:txBody>
                      <a:tcPr anchor="ctr">
                        <a:solidFill>
                          <a:srgbClr val="77122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Garamond" panose="02020404030301010803" pitchFamily="18" charset="0"/>
                            </a:rPr>
                            <a:t>4/30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>
                              <a:latin typeface="Garamond" panose="02020404030301010803" pitchFamily="18" charset="0"/>
                            </a:rPr>
                            <a:t>4/30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>
                              <a:latin typeface="Garamond" panose="02020404030301010803" pitchFamily="18" charset="0"/>
                            </a:rPr>
                            <a:t>-73/30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>
                              <a:latin typeface="Garamond" panose="02020404030301010803" pitchFamily="18" charset="0"/>
                            </a:rPr>
                            <a:t>5,329/900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dirty="0">
                            <a:latin typeface="Garamond" panose="02020404030301010803" pitchFamily="18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7368346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bg1"/>
                              </a:solidFill>
                              <a:latin typeface="Garamond" panose="02020404030301010803" pitchFamily="18" charset="0"/>
                            </a:rPr>
                            <a:t>2</a:t>
                          </a:r>
                        </a:p>
                      </a:txBody>
                      <a:tcPr anchor="ctr">
                        <a:solidFill>
                          <a:srgbClr val="77122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Garamond" panose="02020404030301010803" pitchFamily="18" charset="0"/>
                            </a:rPr>
                            <a:t>4/30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Garamond" panose="02020404030301010803" pitchFamily="18" charset="0"/>
                            </a:rPr>
                            <a:t>8/30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Garamond" panose="02020404030301010803" pitchFamily="18" charset="0"/>
                            </a:rPr>
                            <a:t>-43/30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Garamond" panose="02020404030301010803" pitchFamily="18" charset="0"/>
                            </a:rPr>
                            <a:t>1,849/900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>
                            <a:latin typeface="Garamond" panose="02020404030301010803" pitchFamily="18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28412386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bg1"/>
                              </a:solidFill>
                              <a:latin typeface="Garamond" panose="02020404030301010803" pitchFamily="18" charset="0"/>
                            </a:rPr>
                            <a:t>3</a:t>
                          </a:r>
                        </a:p>
                      </a:txBody>
                      <a:tcPr anchor="ctr">
                        <a:solidFill>
                          <a:srgbClr val="77122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Garamond" panose="02020404030301010803" pitchFamily="18" charset="0"/>
                            </a:rPr>
                            <a:t>5/30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Garamond" panose="02020404030301010803" pitchFamily="18" charset="0"/>
                            </a:rPr>
                            <a:t>15/30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Garamond" panose="02020404030301010803" pitchFamily="18" charset="0"/>
                            </a:rPr>
                            <a:t>-13/30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Garamond" panose="02020404030301010803" pitchFamily="18" charset="0"/>
                            </a:rPr>
                            <a:t>169/900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>
                            <a:latin typeface="Garamond" panose="02020404030301010803" pitchFamily="18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49561823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bg1"/>
                              </a:solidFill>
                              <a:latin typeface="Garamond" panose="02020404030301010803" pitchFamily="18" charset="0"/>
                            </a:rPr>
                            <a:t>4</a:t>
                          </a:r>
                        </a:p>
                      </a:txBody>
                      <a:tcPr anchor="ctr">
                        <a:solidFill>
                          <a:srgbClr val="77122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Garamond" panose="02020404030301010803" pitchFamily="18" charset="0"/>
                            </a:rPr>
                            <a:t>2/30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Garamond" panose="02020404030301010803" pitchFamily="18" charset="0"/>
                            </a:rPr>
                            <a:t>8/30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Garamond" panose="02020404030301010803" pitchFamily="18" charset="0"/>
                            </a:rPr>
                            <a:t>17/30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Garamond" panose="02020404030301010803" pitchFamily="18" charset="0"/>
                            </a:rPr>
                            <a:t>289/900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>
                            <a:latin typeface="Garamond" panose="02020404030301010803" pitchFamily="18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42584031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bg1"/>
                              </a:solidFill>
                              <a:latin typeface="Garamond" panose="02020404030301010803" pitchFamily="18" charset="0"/>
                            </a:rPr>
                            <a:t>5</a:t>
                          </a:r>
                        </a:p>
                      </a:txBody>
                      <a:tcPr anchor="ctr">
                        <a:solidFill>
                          <a:srgbClr val="77122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>
                              <a:latin typeface="Garamond" panose="02020404030301010803" pitchFamily="18" charset="0"/>
                            </a:rPr>
                            <a:t>5/30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Garamond" panose="02020404030301010803" pitchFamily="18" charset="0"/>
                            </a:rPr>
                            <a:t>25/30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Garamond" panose="02020404030301010803" pitchFamily="18" charset="0"/>
                            </a:rPr>
                            <a:t>47/30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>
                              <a:solidFill>
                                <a:schemeClr val="tx1"/>
                              </a:solidFill>
                              <a:latin typeface="Garamond" panose="02020404030301010803" pitchFamily="18" charset="0"/>
                            </a:rPr>
                            <a:t>2,209/900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dirty="0">
                            <a:solidFill>
                              <a:schemeClr val="tx1"/>
                            </a:solidFill>
                            <a:latin typeface="Garamond" panose="02020404030301010803" pitchFamily="18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55062058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bg1"/>
                              </a:solidFill>
                              <a:latin typeface="Garamond" panose="02020404030301010803" pitchFamily="18" charset="0"/>
                            </a:rPr>
                            <a:t>6</a:t>
                          </a:r>
                        </a:p>
                      </a:txBody>
                      <a:tcPr anchor="ctr">
                        <a:solidFill>
                          <a:srgbClr val="77122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>
                              <a:latin typeface="Garamond" panose="02020404030301010803" pitchFamily="18" charset="0"/>
                            </a:rPr>
                            <a:t>1/30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Garamond" panose="02020404030301010803" pitchFamily="18" charset="0"/>
                            </a:rPr>
                            <a:t>6/30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Garamond" panose="02020404030301010803" pitchFamily="18" charset="0"/>
                            </a:rPr>
                            <a:t>77/30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>
                              <a:solidFill>
                                <a:schemeClr val="tx1"/>
                              </a:solidFill>
                              <a:latin typeface="Garamond" panose="02020404030301010803" pitchFamily="18" charset="0"/>
                            </a:rPr>
                            <a:t>5,929/900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dirty="0">
                            <a:solidFill>
                              <a:schemeClr val="tx1"/>
                            </a:solidFill>
                            <a:latin typeface="Garamond" panose="02020404030301010803" pitchFamily="18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21783816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bg1"/>
                              </a:solidFill>
                              <a:latin typeface="Garamond" panose="02020404030301010803" pitchFamily="18" charset="0"/>
                            </a:rPr>
                            <a:t>7</a:t>
                          </a:r>
                        </a:p>
                      </a:txBody>
                      <a:tcPr anchor="ctr">
                        <a:solidFill>
                          <a:srgbClr val="77122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>
                              <a:latin typeface="Garamond" panose="02020404030301010803" pitchFamily="18" charset="0"/>
                            </a:rPr>
                            <a:t>3/30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Garamond" panose="02020404030301010803" pitchFamily="18" charset="0"/>
                            </a:rPr>
                            <a:t>21/30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Garamond" panose="02020404030301010803" pitchFamily="18" charset="0"/>
                            </a:rPr>
                            <a:t>107/30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>
                              <a:solidFill>
                                <a:schemeClr val="tx1"/>
                              </a:solidFill>
                              <a:latin typeface="Garamond" panose="02020404030301010803" pitchFamily="18" charset="0"/>
                            </a:rPr>
                            <a:t>11,449/900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dirty="0">
                            <a:solidFill>
                              <a:schemeClr val="tx1"/>
                            </a:solidFill>
                            <a:latin typeface="Garamond" panose="02020404030301010803" pitchFamily="18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49435658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bg1"/>
                              </a:solidFill>
                              <a:latin typeface="Garamond" panose="02020404030301010803" pitchFamily="18" charset="0"/>
                            </a:rPr>
                            <a:t>8</a:t>
                          </a:r>
                        </a:p>
                      </a:txBody>
                      <a:tcPr anchor="ctr">
                        <a:solidFill>
                          <a:srgbClr val="77122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>
                              <a:latin typeface="Garamond" panose="02020404030301010803" pitchFamily="18" charset="0"/>
                            </a:rPr>
                            <a:t>2/30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Garamond" panose="02020404030301010803" pitchFamily="18" charset="0"/>
                            </a:rPr>
                            <a:t>16/30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Garamond" panose="02020404030301010803" pitchFamily="18" charset="0"/>
                            </a:rPr>
                            <a:t>137/30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>
                              <a:solidFill>
                                <a:schemeClr val="tx1"/>
                              </a:solidFill>
                              <a:latin typeface="Garamond" panose="02020404030301010803" pitchFamily="18" charset="0"/>
                            </a:rPr>
                            <a:t>18,769/900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dirty="0">
                            <a:solidFill>
                              <a:schemeClr val="tx1"/>
                            </a:solidFill>
                            <a:latin typeface="Garamond" panose="02020404030301010803" pitchFamily="18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29502960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bg1"/>
                              </a:solidFill>
                              <a:latin typeface="Garamond" panose="02020404030301010803" pitchFamily="18" charset="0"/>
                            </a:rPr>
                            <a:t>Total</a:t>
                          </a:r>
                        </a:p>
                      </a:txBody>
                      <a:tcPr anchor="ctr">
                        <a:solidFill>
                          <a:srgbClr val="77122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>
                              <a:latin typeface="Garamond" panose="02020404030301010803" pitchFamily="18" charset="0"/>
                            </a:rPr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5"/>
                          <a:stretch>
                            <a:fillRect l="-93850" t="-1022951" r="-270321" b="-262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  <a:latin typeface="Garamond" panose="02020404030301010803" pitchFamily="18" charset="0"/>
                            </a:rPr>
                            <a:t>N/A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>
                              <a:solidFill>
                                <a:schemeClr val="tx1"/>
                              </a:solidFill>
                              <a:latin typeface="Garamond" panose="02020404030301010803" pitchFamily="18" charset="0"/>
                            </a:rPr>
                            <a:t>N/A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dirty="0">
                            <a:solidFill>
                              <a:schemeClr val="tx1"/>
                            </a:solidFill>
                            <a:latin typeface="Garamond" panose="02020404030301010803" pitchFamily="18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150360944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4" name="Table 13">
                <a:extLst>
                  <a:ext uri="{FF2B5EF4-FFF2-40B4-BE49-F238E27FC236}">
                    <a16:creationId xmlns:a16="http://schemas.microsoft.com/office/drawing/2014/main" id="{6FFB7EF7-15F1-71B0-4041-B6E5DD3676B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06756513"/>
                  </p:ext>
                </p:extLst>
              </p:nvPr>
            </p:nvGraphicFramePr>
            <p:xfrm>
              <a:off x="860525" y="1794769"/>
              <a:ext cx="10560146" cy="416363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067301">
                      <a:extLst>
                        <a:ext uri="{9D8B030D-6E8A-4147-A177-3AD203B41FA5}">
                          <a16:colId xmlns:a16="http://schemas.microsoft.com/office/drawing/2014/main" val="3269318500"/>
                        </a:ext>
                      </a:extLst>
                    </a:gridCol>
                    <a:gridCol w="1067301">
                      <a:extLst>
                        <a:ext uri="{9D8B030D-6E8A-4147-A177-3AD203B41FA5}">
                          <a16:colId xmlns:a16="http://schemas.microsoft.com/office/drawing/2014/main" val="1084937839"/>
                        </a:ext>
                      </a:extLst>
                    </a:gridCol>
                    <a:gridCol w="2276669">
                      <a:extLst>
                        <a:ext uri="{9D8B030D-6E8A-4147-A177-3AD203B41FA5}">
                          <a16:colId xmlns:a16="http://schemas.microsoft.com/office/drawing/2014/main" val="4200844973"/>
                        </a:ext>
                      </a:extLst>
                    </a:gridCol>
                    <a:gridCol w="1376266">
                      <a:extLst>
                        <a:ext uri="{9D8B030D-6E8A-4147-A177-3AD203B41FA5}">
                          <a16:colId xmlns:a16="http://schemas.microsoft.com/office/drawing/2014/main" val="3844035428"/>
                        </a:ext>
                      </a:extLst>
                    </a:gridCol>
                    <a:gridCol w="1376266">
                      <a:extLst>
                        <a:ext uri="{9D8B030D-6E8A-4147-A177-3AD203B41FA5}">
                          <a16:colId xmlns:a16="http://schemas.microsoft.com/office/drawing/2014/main" val="2990019285"/>
                        </a:ext>
                      </a:extLst>
                    </a:gridCol>
                    <a:gridCol w="3396343">
                      <a:extLst>
                        <a:ext uri="{9D8B030D-6E8A-4147-A177-3AD203B41FA5}">
                          <a16:colId xmlns:a16="http://schemas.microsoft.com/office/drawing/2014/main" val="301919693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0" dirty="0">
                              <a:solidFill>
                                <a:schemeClr val="bg1"/>
                              </a:solidFill>
                              <a:latin typeface="Rockwell" panose="02060603020205020403" pitchFamily="18" charset="0"/>
                            </a:rPr>
                            <a:t>Z</a:t>
                          </a:r>
                        </a:p>
                      </a:txBody>
                      <a:tcPr anchor="ctr"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77122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en-US" b="0" i="1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  <m:r>
                                  <a:rPr lang="en-US" b="0" i="1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1800" b="0" i="0" dirty="0" smtClean="0">
                                    <a:latin typeface="Rockwell" panose="02060603020205020403" pitchFamily="18" charset="0"/>
                                  </a:rPr>
                                  <m:t>z</m:t>
                                </m:r>
                                <m:r>
                                  <a:rPr lang="en-US" b="0" i="1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 anchor="ctr"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77122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m:rPr>
                                    <m:nor/>
                                  </m:rPr>
                                  <a:rPr lang="en-US" altLang="zh-TW" sz="1800" b="0" i="0" dirty="0" smtClean="0">
                                    <a:latin typeface="Rockwell" panose="02060603020205020403" pitchFamily="18" charset="0"/>
                                  </a:rPr>
                                  <m:t>z</m:t>
                                </m:r>
                                <m:r>
                                  <a:rPr lang="en-US" altLang="zh-TW" sz="1800" b="0" i="1" dirty="0" smtClean="0">
                                    <a:latin typeface="Cambria Math" panose="02040503050406030204" pitchFamily="18" charset="0"/>
                                  </a:rPr>
                                  <m:t>⋅</m:t>
                                </m:r>
                                <m:r>
                                  <a:rPr lang="en-US" b="0" i="1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  <m:r>
                                  <a:rPr lang="en-US" b="0" i="1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1800" b="0" i="0" dirty="0" smtClean="0">
                                    <a:latin typeface="Rockwell" panose="02060603020205020403" pitchFamily="18" charset="0"/>
                                  </a:rPr>
                                  <m:t>z</m:t>
                                </m:r>
                                <m:r>
                                  <a:rPr lang="en-US" b="0" i="1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b="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 anchor="ctr"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77122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m:rPr>
                                    <m:nor/>
                                  </m:rPr>
                                  <a:rPr lang="en-US" altLang="zh-TW" sz="1800" b="0" i="0" dirty="0" smtClean="0">
                                    <a:latin typeface="Rockwell" panose="02060603020205020403" pitchFamily="18" charset="0"/>
                                  </a:rPr>
                                  <m:t>z−E</m:t>
                                </m:r>
                                <m:r>
                                  <a:rPr lang="en-US" b="0" i="1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1800" b="0" i="0" dirty="0" smtClean="0">
                                    <a:latin typeface="Rockwell" panose="02060603020205020403" pitchFamily="18" charset="0"/>
                                  </a:rPr>
                                  <m:t>Z</m:t>
                                </m:r>
                                <m:r>
                                  <a:rPr lang="en-US" b="0" i="1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b="0" dirty="0">
                            <a:solidFill>
                              <a:schemeClr val="bg1"/>
                            </a:solidFill>
                            <a:latin typeface="Garamond" panose="02020404030301010803" pitchFamily="18" charset="0"/>
                          </a:endParaRPr>
                        </a:p>
                      </a:txBody>
                      <a:tcPr anchor="ctr"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77122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>
                                <m:sSup>
                                  <m:sSupPr>
                                    <m:ctrlPr>
                                      <a:rPr lang="en-US" altLang="zh-TW" sz="1800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ctrlPr>
                                          <a:rPr lang="en-US" altLang="zh-TW" sz="1800" b="0" i="0" dirty="0" smtClean="0">
                                            <a:latin typeface="Rockwell" panose="02060603020205020403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m:rPr>
                                            <m:nor/>
                                          </m:rPr>
                                          <a:rPr lang="en-US" altLang="zh-TW" sz="1800" b="0" i="0" dirty="0" smtClean="0">
                                            <a:latin typeface="Rockwell" panose="02060603020205020403" pitchFamily="18" charset="0"/>
                                          </a:rPr>
                                          <m:t>z−E</m:t>
                                        </m:r>
                                        <m:d>
                                          <m:dPr>
                                            <m:ctrlPr>
                                              <a:rPr lang="en-US" altLang="zh-TW" sz="1800" b="0" i="0" dirty="0" smtClean="0">
                                                <a:latin typeface="Rockwell" panose="02060603020205020403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r>
                                              <m:rPr>
                                                <m:nor/>
                                              </m:rPr>
                                              <a:rPr lang="en-US" altLang="zh-TW" sz="1800" b="0" i="0" dirty="0" smtClean="0">
                                                <a:latin typeface="Rockwell" panose="02060603020205020403" pitchFamily="18" charset="0"/>
                                              </a:rPr>
                                              <m:t>Z</m:t>
                                            </m:r>
                                          </m:e>
                                        </m:d>
                                      </m:e>
                                    </m:d>
                                  </m:e>
                                  <m:sup>
                                    <m:r>
                                      <a:rPr lang="en-US" altLang="zh-TW" sz="1800" b="0" i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b="0" dirty="0">
                            <a:solidFill>
                              <a:schemeClr val="bg1"/>
                            </a:solidFill>
                            <a:latin typeface="Garamond" panose="02020404030301010803" pitchFamily="18" charset="0"/>
                          </a:endParaRPr>
                        </a:p>
                      </a:txBody>
                      <a:tcPr anchor="ctr"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77122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>
                                <m:sSup>
                                  <m:sSupPr>
                                    <m:ctrlPr>
                                      <a:rPr lang="en-US" altLang="zh-TW" sz="1800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ctrlPr>
                                          <a:rPr lang="en-US" altLang="zh-TW" sz="1800" b="0" i="0" dirty="0" smtClean="0">
                                            <a:latin typeface="Rockwell" panose="02060603020205020403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m:rPr>
                                            <m:nor/>
                                          </m:rPr>
                                          <a:rPr lang="en-US" altLang="zh-TW" sz="1800" b="0" i="0" dirty="0" smtClean="0">
                                            <a:latin typeface="Rockwell" panose="02060603020205020403" pitchFamily="18" charset="0"/>
                                          </a:rPr>
                                          <m:t>z−E</m:t>
                                        </m:r>
                                        <m:d>
                                          <m:dPr>
                                            <m:ctrlPr>
                                              <a:rPr lang="en-US" altLang="zh-TW" sz="1800" b="0" i="0" dirty="0" smtClean="0">
                                                <a:latin typeface="Rockwell" panose="02060603020205020403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r>
                                              <m:rPr>
                                                <m:nor/>
                                              </m:rPr>
                                              <a:rPr lang="en-US" altLang="zh-TW" sz="1800" b="0" i="0" dirty="0" smtClean="0">
                                                <a:latin typeface="Rockwell" panose="02060603020205020403" pitchFamily="18" charset="0"/>
                                              </a:rPr>
                                              <m:t>Z</m:t>
                                            </m:r>
                                          </m:e>
                                        </m:d>
                                      </m:e>
                                    </m:d>
                                  </m:e>
                                  <m:sup>
                                    <m:r>
                                      <a:rPr lang="en-US" altLang="zh-TW" sz="1800" b="0" i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US" altLang="zh-TW" sz="1800" b="0" i="1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⋅</m:t>
                                </m:r>
                                <m:r>
                                  <a:rPr lang="en-US" b="0" i="1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  <m:r>
                                  <a:rPr lang="en-US" b="0" i="1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1800" b="0" i="0" dirty="0" smtClean="0">
                                    <a:latin typeface="Rockwell" panose="02060603020205020403" pitchFamily="18" charset="0"/>
                                  </a:rPr>
                                  <m:t>z</m:t>
                                </m:r>
                                <m:r>
                                  <a:rPr lang="en-US" b="0" i="1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b="0" dirty="0">
                            <a:solidFill>
                              <a:schemeClr val="bg1"/>
                            </a:solidFill>
                            <a:latin typeface="Garamond" panose="02020404030301010803" pitchFamily="18" charset="0"/>
                          </a:endParaRPr>
                        </a:p>
                      </a:txBody>
                      <a:tcPr anchor="ctr"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77122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6876973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bg1"/>
                              </a:solidFill>
                              <a:latin typeface="Garamond" panose="02020404030301010803" pitchFamily="18" charset="0"/>
                            </a:rPr>
                            <a:t>0</a:t>
                          </a:r>
                        </a:p>
                      </a:txBody>
                      <a:tcPr anchor="ctr"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solidFill>
                          <a:srgbClr val="77122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Garamond" panose="02020404030301010803" pitchFamily="18" charset="0"/>
                            </a:rPr>
                            <a:t>4/30</a:t>
                          </a:r>
                        </a:p>
                      </a:txBody>
                      <a:tcPr anchor="ctr"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>
                              <a:latin typeface="Garamond" panose="02020404030301010803" pitchFamily="18" charset="0"/>
                            </a:rPr>
                            <a:t>0</a:t>
                          </a:r>
                        </a:p>
                      </a:txBody>
                      <a:tcPr anchor="ctr"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>
                              <a:latin typeface="Garamond" panose="02020404030301010803" pitchFamily="18" charset="0"/>
                            </a:rPr>
                            <a:t>-103/30</a:t>
                          </a:r>
                        </a:p>
                      </a:txBody>
                      <a:tcPr anchor="ctr"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>
                              <a:latin typeface="Garamond" panose="02020404030301010803" pitchFamily="18" charset="0"/>
                            </a:rPr>
                            <a:t>10,609/900</a:t>
                          </a:r>
                        </a:p>
                      </a:txBody>
                      <a:tcPr anchor="ctr"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>
                              <a:latin typeface="Garamond" panose="02020404030301010803" pitchFamily="18" charset="0"/>
                            </a:rPr>
                            <a:t>42,436/27,000</a:t>
                          </a:r>
                          <a:endParaRPr lang="en-US" dirty="0">
                            <a:latin typeface="Garamond" panose="02020404030301010803" pitchFamily="18" charset="0"/>
                          </a:endParaRPr>
                        </a:p>
                      </a:txBody>
                      <a:tcPr anchor="ctr"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extLst>
                      <a:ext uri="{0D108BD9-81ED-4DB2-BD59-A6C34878D82A}">
                        <a16:rowId xmlns:a16="http://schemas.microsoft.com/office/drawing/2014/main" val="386434689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bg1"/>
                              </a:solidFill>
                              <a:latin typeface="Garamond" panose="02020404030301010803" pitchFamily="18" charset="0"/>
                            </a:rPr>
                            <a:t>1</a:t>
                          </a:r>
                        </a:p>
                      </a:txBody>
                      <a:tcPr anchor="ctr">
                        <a:solidFill>
                          <a:srgbClr val="77122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Garamond" panose="02020404030301010803" pitchFamily="18" charset="0"/>
                            </a:rPr>
                            <a:t>4/30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>
                              <a:latin typeface="Garamond" panose="02020404030301010803" pitchFamily="18" charset="0"/>
                            </a:rPr>
                            <a:t>4/30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>
                              <a:latin typeface="Garamond" panose="02020404030301010803" pitchFamily="18" charset="0"/>
                            </a:rPr>
                            <a:t>-73/30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>
                              <a:latin typeface="Garamond" panose="02020404030301010803" pitchFamily="18" charset="0"/>
                            </a:rPr>
                            <a:t>5,329/900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>
                              <a:latin typeface="Garamond" panose="02020404030301010803" pitchFamily="18" charset="0"/>
                            </a:rPr>
                            <a:t>21,316/27,000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7368346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bg1"/>
                              </a:solidFill>
                              <a:latin typeface="Garamond" panose="02020404030301010803" pitchFamily="18" charset="0"/>
                            </a:rPr>
                            <a:t>2</a:t>
                          </a:r>
                        </a:p>
                      </a:txBody>
                      <a:tcPr anchor="ctr">
                        <a:solidFill>
                          <a:srgbClr val="77122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Garamond" panose="02020404030301010803" pitchFamily="18" charset="0"/>
                            </a:rPr>
                            <a:t>4/30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Garamond" panose="02020404030301010803" pitchFamily="18" charset="0"/>
                            </a:rPr>
                            <a:t>8/30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Garamond" panose="02020404030301010803" pitchFamily="18" charset="0"/>
                            </a:rPr>
                            <a:t>-43/30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Garamond" panose="02020404030301010803" pitchFamily="18" charset="0"/>
                            </a:rPr>
                            <a:t>1,849/900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Garamond" panose="02020404030301010803" pitchFamily="18" charset="0"/>
                            </a:rPr>
                            <a:t>7,396/27,000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28412386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bg1"/>
                              </a:solidFill>
                              <a:latin typeface="Garamond" panose="02020404030301010803" pitchFamily="18" charset="0"/>
                            </a:rPr>
                            <a:t>3</a:t>
                          </a:r>
                        </a:p>
                      </a:txBody>
                      <a:tcPr anchor="ctr">
                        <a:solidFill>
                          <a:srgbClr val="77122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Garamond" panose="02020404030301010803" pitchFamily="18" charset="0"/>
                            </a:rPr>
                            <a:t>5/30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Garamond" panose="02020404030301010803" pitchFamily="18" charset="0"/>
                            </a:rPr>
                            <a:t>15/30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Garamond" panose="02020404030301010803" pitchFamily="18" charset="0"/>
                            </a:rPr>
                            <a:t>-13/30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Garamond" panose="02020404030301010803" pitchFamily="18" charset="0"/>
                            </a:rPr>
                            <a:t>169/900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Garamond" panose="02020404030301010803" pitchFamily="18" charset="0"/>
                            </a:rPr>
                            <a:t>845/27,000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49561823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bg1"/>
                              </a:solidFill>
                              <a:latin typeface="Garamond" panose="02020404030301010803" pitchFamily="18" charset="0"/>
                            </a:rPr>
                            <a:t>4</a:t>
                          </a:r>
                        </a:p>
                      </a:txBody>
                      <a:tcPr anchor="ctr">
                        <a:solidFill>
                          <a:srgbClr val="77122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Garamond" panose="02020404030301010803" pitchFamily="18" charset="0"/>
                            </a:rPr>
                            <a:t>2/30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Garamond" panose="02020404030301010803" pitchFamily="18" charset="0"/>
                            </a:rPr>
                            <a:t>8/30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Garamond" panose="02020404030301010803" pitchFamily="18" charset="0"/>
                            </a:rPr>
                            <a:t>17/30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Garamond" panose="02020404030301010803" pitchFamily="18" charset="0"/>
                            </a:rPr>
                            <a:t>289/900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Garamond" panose="02020404030301010803" pitchFamily="18" charset="0"/>
                            </a:rPr>
                            <a:t>578/27,000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42584031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bg1"/>
                              </a:solidFill>
                              <a:latin typeface="Garamond" panose="02020404030301010803" pitchFamily="18" charset="0"/>
                            </a:rPr>
                            <a:t>5</a:t>
                          </a:r>
                        </a:p>
                      </a:txBody>
                      <a:tcPr anchor="ctr">
                        <a:solidFill>
                          <a:srgbClr val="77122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>
                              <a:latin typeface="Garamond" panose="02020404030301010803" pitchFamily="18" charset="0"/>
                            </a:rPr>
                            <a:t>5/30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Garamond" panose="02020404030301010803" pitchFamily="18" charset="0"/>
                            </a:rPr>
                            <a:t>25/30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Garamond" panose="02020404030301010803" pitchFamily="18" charset="0"/>
                            </a:rPr>
                            <a:t>47/30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>
                              <a:solidFill>
                                <a:schemeClr val="tx1"/>
                              </a:solidFill>
                              <a:latin typeface="Garamond" panose="02020404030301010803" pitchFamily="18" charset="0"/>
                            </a:rPr>
                            <a:t>2,209/900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>
                              <a:solidFill>
                                <a:schemeClr val="tx1"/>
                              </a:solidFill>
                              <a:latin typeface="Garamond" panose="02020404030301010803" pitchFamily="18" charset="0"/>
                            </a:rPr>
                            <a:t>11,045/27,000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55062058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bg1"/>
                              </a:solidFill>
                              <a:latin typeface="Garamond" panose="02020404030301010803" pitchFamily="18" charset="0"/>
                            </a:rPr>
                            <a:t>6</a:t>
                          </a:r>
                        </a:p>
                      </a:txBody>
                      <a:tcPr anchor="ctr">
                        <a:solidFill>
                          <a:srgbClr val="77122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>
                              <a:latin typeface="Garamond" panose="02020404030301010803" pitchFamily="18" charset="0"/>
                            </a:rPr>
                            <a:t>1/30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Garamond" panose="02020404030301010803" pitchFamily="18" charset="0"/>
                            </a:rPr>
                            <a:t>6/30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Garamond" panose="02020404030301010803" pitchFamily="18" charset="0"/>
                            </a:rPr>
                            <a:t>77/30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>
                              <a:solidFill>
                                <a:schemeClr val="tx1"/>
                              </a:solidFill>
                              <a:latin typeface="Garamond" panose="02020404030301010803" pitchFamily="18" charset="0"/>
                            </a:rPr>
                            <a:t>5,929/900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>
                              <a:solidFill>
                                <a:schemeClr val="tx1"/>
                              </a:solidFill>
                              <a:latin typeface="Garamond" panose="02020404030301010803" pitchFamily="18" charset="0"/>
                            </a:rPr>
                            <a:t>5,929/27,000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21783816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bg1"/>
                              </a:solidFill>
                              <a:latin typeface="Garamond" panose="02020404030301010803" pitchFamily="18" charset="0"/>
                            </a:rPr>
                            <a:t>7</a:t>
                          </a:r>
                        </a:p>
                      </a:txBody>
                      <a:tcPr anchor="ctr">
                        <a:solidFill>
                          <a:srgbClr val="77122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>
                              <a:latin typeface="Garamond" panose="02020404030301010803" pitchFamily="18" charset="0"/>
                            </a:rPr>
                            <a:t>3/30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Garamond" panose="02020404030301010803" pitchFamily="18" charset="0"/>
                            </a:rPr>
                            <a:t>21/30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Garamond" panose="02020404030301010803" pitchFamily="18" charset="0"/>
                            </a:rPr>
                            <a:t>107/30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>
                              <a:solidFill>
                                <a:schemeClr val="tx1"/>
                              </a:solidFill>
                              <a:latin typeface="Garamond" panose="02020404030301010803" pitchFamily="18" charset="0"/>
                            </a:rPr>
                            <a:t>11,449/900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>
                              <a:solidFill>
                                <a:schemeClr val="tx1"/>
                              </a:solidFill>
                              <a:latin typeface="Garamond" panose="02020404030301010803" pitchFamily="18" charset="0"/>
                            </a:rPr>
                            <a:t>34,347/27,000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49435658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bg1"/>
                              </a:solidFill>
                              <a:latin typeface="Garamond" panose="02020404030301010803" pitchFamily="18" charset="0"/>
                            </a:rPr>
                            <a:t>8</a:t>
                          </a:r>
                        </a:p>
                      </a:txBody>
                      <a:tcPr anchor="ctr">
                        <a:solidFill>
                          <a:srgbClr val="77122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>
                              <a:latin typeface="Garamond" panose="02020404030301010803" pitchFamily="18" charset="0"/>
                            </a:rPr>
                            <a:t>2/30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Garamond" panose="02020404030301010803" pitchFamily="18" charset="0"/>
                            </a:rPr>
                            <a:t>16/30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Garamond" panose="02020404030301010803" pitchFamily="18" charset="0"/>
                            </a:rPr>
                            <a:t>137/30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>
                              <a:solidFill>
                                <a:schemeClr val="tx1"/>
                              </a:solidFill>
                              <a:latin typeface="Garamond" panose="02020404030301010803" pitchFamily="18" charset="0"/>
                            </a:rPr>
                            <a:t>18,769/900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>
                              <a:solidFill>
                                <a:schemeClr val="tx1"/>
                              </a:solidFill>
                              <a:latin typeface="Garamond" panose="02020404030301010803" pitchFamily="18" charset="0"/>
                            </a:rPr>
                            <a:t>37,538/27,000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29502960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bg1"/>
                              </a:solidFill>
                              <a:latin typeface="Garamond" panose="02020404030301010803" pitchFamily="18" charset="0"/>
                            </a:rPr>
                            <a:t>Total</a:t>
                          </a:r>
                        </a:p>
                      </a:txBody>
                      <a:tcPr anchor="ctr">
                        <a:solidFill>
                          <a:srgbClr val="77122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>
                              <a:latin typeface="Garamond" panose="02020404030301010803" pitchFamily="18" charset="0"/>
                            </a:rPr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r>
                                <m:rPr>
                                  <m:nor/>
                                </m:rPr>
                                <a:rPr lang="en-US" altLang="zh-TW" sz="1800" b="0" i="0" dirty="0" smtClean="0">
                                  <a:solidFill>
                                    <a:schemeClr val="tx1"/>
                                  </a:solidFill>
                                  <a:latin typeface="Rockwell" panose="02060603020205020403" pitchFamily="18" charset="0"/>
                                </a:rPr>
                                <m:t>E</m:t>
                              </m:r>
                              <m:d>
                                <m:dPr>
                                  <m:ctrlPr>
                                    <a:rPr lang="en-US" b="0" i="0" dirty="0" smtClean="0">
                                      <a:solidFill>
                                        <a:schemeClr val="tx1"/>
                                      </a:solidFill>
                                      <a:latin typeface="Rockwell" panose="02060603020205020403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m:rPr>
                                      <m:nor/>
                                    </m:rPr>
                                    <a:rPr lang="en-US" b="0" i="0" dirty="0" smtClean="0">
                                      <a:solidFill>
                                        <a:schemeClr val="tx1"/>
                                      </a:solidFill>
                                      <a:latin typeface="Rockwell" panose="02060603020205020403" pitchFamily="18" charset="0"/>
                                    </a:rPr>
                                    <m:t>Z</m:t>
                                  </m:r>
                                </m:e>
                              </m:d>
                            </m:oMath>
                          </a14:m>
                          <a:r>
                            <a:rPr lang="en-US" sz="1800" b="0" dirty="0">
                              <a:solidFill>
                                <a:schemeClr val="tx1"/>
                              </a:solidFill>
                              <a:latin typeface="Garamond" panose="02020404030301010803" pitchFamily="18" charset="0"/>
                            </a:rPr>
                            <a:t> = 103/30 ≈ 3.43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  <a:latin typeface="Garamond" panose="02020404030301010803" pitchFamily="18" charset="0"/>
                            </a:rPr>
                            <a:t>N/A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>
                              <a:solidFill>
                                <a:schemeClr val="tx1"/>
                              </a:solidFill>
                              <a:latin typeface="Garamond" panose="02020404030301010803" pitchFamily="18" charset="0"/>
                            </a:rPr>
                            <a:t>N/A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m:rPr>
                                  <m:nor/>
                                </m:rPr>
                                <a:rPr lang="en-US" altLang="zh-TW" sz="1800" b="0" i="0" dirty="0" smtClean="0">
                                  <a:solidFill>
                                    <a:schemeClr val="tx1"/>
                                  </a:solidFill>
                                  <a:latin typeface="Rockwell" panose="02060603020205020403" pitchFamily="18" charset="0"/>
                                </a:rPr>
                                <m:t>Var</m:t>
                              </m:r>
                              <m:d>
                                <m:dPr>
                                  <m:ctrlPr>
                                    <a:rPr lang="en-US" b="0" i="0" dirty="0" smtClean="0">
                                      <a:solidFill>
                                        <a:schemeClr val="tx1"/>
                                      </a:solidFill>
                                      <a:latin typeface="Rockwell" panose="02060603020205020403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m:rPr>
                                      <m:nor/>
                                    </m:rPr>
                                    <a:rPr lang="en-US" b="0" i="0" dirty="0" smtClean="0">
                                      <a:solidFill>
                                        <a:schemeClr val="tx1"/>
                                      </a:solidFill>
                                      <a:latin typeface="Rockwell" panose="02060603020205020403" pitchFamily="18" charset="0"/>
                                    </a:rPr>
                                    <m:t>Z</m:t>
                                  </m:r>
                                </m:e>
                              </m:d>
                            </m:oMath>
                          </a14:m>
                          <a:r>
                            <a:rPr lang="en-US" sz="1800" b="0" dirty="0">
                              <a:solidFill>
                                <a:schemeClr val="tx1"/>
                              </a:solidFill>
                              <a:latin typeface="Garamond" panose="02020404030301010803" pitchFamily="18" charset="0"/>
                            </a:rPr>
                            <a:t> = 161,430/27,000 ≈ 5.98</a:t>
                          </a:r>
                          <a:endParaRPr lang="en-US" dirty="0">
                            <a:solidFill>
                              <a:schemeClr val="tx1"/>
                            </a:solidFill>
                            <a:latin typeface="Garamond" panose="02020404030301010803" pitchFamily="18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15036094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4" name="Table 13">
                <a:extLst>
                  <a:ext uri="{FF2B5EF4-FFF2-40B4-BE49-F238E27FC236}">
                    <a16:creationId xmlns:a16="http://schemas.microsoft.com/office/drawing/2014/main" id="{6FFB7EF7-15F1-71B0-4041-B6E5DD3676B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06756513"/>
                  </p:ext>
                </p:extLst>
              </p:nvPr>
            </p:nvGraphicFramePr>
            <p:xfrm>
              <a:off x="860525" y="1794769"/>
              <a:ext cx="10560146" cy="416363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067301">
                      <a:extLst>
                        <a:ext uri="{9D8B030D-6E8A-4147-A177-3AD203B41FA5}">
                          <a16:colId xmlns:a16="http://schemas.microsoft.com/office/drawing/2014/main" val="3269318500"/>
                        </a:ext>
                      </a:extLst>
                    </a:gridCol>
                    <a:gridCol w="1067301">
                      <a:extLst>
                        <a:ext uri="{9D8B030D-6E8A-4147-A177-3AD203B41FA5}">
                          <a16:colId xmlns:a16="http://schemas.microsoft.com/office/drawing/2014/main" val="1084937839"/>
                        </a:ext>
                      </a:extLst>
                    </a:gridCol>
                    <a:gridCol w="2276669">
                      <a:extLst>
                        <a:ext uri="{9D8B030D-6E8A-4147-A177-3AD203B41FA5}">
                          <a16:colId xmlns:a16="http://schemas.microsoft.com/office/drawing/2014/main" val="4200844973"/>
                        </a:ext>
                      </a:extLst>
                    </a:gridCol>
                    <a:gridCol w="1376266">
                      <a:extLst>
                        <a:ext uri="{9D8B030D-6E8A-4147-A177-3AD203B41FA5}">
                          <a16:colId xmlns:a16="http://schemas.microsoft.com/office/drawing/2014/main" val="3844035428"/>
                        </a:ext>
                      </a:extLst>
                    </a:gridCol>
                    <a:gridCol w="1376266">
                      <a:extLst>
                        <a:ext uri="{9D8B030D-6E8A-4147-A177-3AD203B41FA5}">
                          <a16:colId xmlns:a16="http://schemas.microsoft.com/office/drawing/2014/main" val="2990019285"/>
                        </a:ext>
                      </a:extLst>
                    </a:gridCol>
                    <a:gridCol w="3396343">
                      <a:extLst>
                        <a:ext uri="{9D8B030D-6E8A-4147-A177-3AD203B41FA5}">
                          <a16:colId xmlns:a16="http://schemas.microsoft.com/office/drawing/2014/main" val="3019196937"/>
                        </a:ext>
                      </a:extLst>
                    </a:gridCol>
                  </a:tblGrid>
                  <a:tr h="45523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0" dirty="0">
                              <a:solidFill>
                                <a:schemeClr val="bg1"/>
                              </a:solidFill>
                              <a:latin typeface="Rockwell" panose="02060603020205020403" pitchFamily="18" charset="0"/>
                            </a:rPr>
                            <a:t>Z</a:t>
                          </a:r>
                        </a:p>
                      </a:txBody>
                      <a:tcPr anchor="ctr"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77122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  <a:stretch>
                            <a:fillRect l="-100571" t="-1333" r="-791429" b="-83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  <a:stretch>
                            <a:fillRect l="-93850" t="-1333" r="-270321" b="-83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  <a:stretch>
                            <a:fillRect l="-320796" t="-1333" r="-347345" b="-83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  <a:stretch>
                            <a:fillRect l="-420796" t="-1333" r="-247345" b="-83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  <a:stretch>
                            <a:fillRect l="-211311" t="-1333" r="-359" b="-83333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6876973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bg1"/>
                              </a:solidFill>
                              <a:latin typeface="Garamond" panose="02020404030301010803" pitchFamily="18" charset="0"/>
                            </a:rPr>
                            <a:t>0</a:t>
                          </a:r>
                        </a:p>
                      </a:txBody>
                      <a:tcPr anchor="ctr"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solidFill>
                          <a:srgbClr val="77122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Garamond" panose="02020404030301010803" pitchFamily="18" charset="0"/>
                            </a:rPr>
                            <a:t>4/30</a:t>
                          </a:r>
                        </a:p>
                      </a:txBody>
                      <a:tcPr anchor="ctr"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>
                              <a:latin typeface="Garamond" panose="02020404030301010803" pitchFamily="18" charset="0"/>
                            </a:rPr>
                            <a:t>0</a:t>
                          </a:r>
                        </a:p>
                      </a:txBody>
                      <a:tcPr anchor="ctr"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>
                              <a:latin typeface="Garamond" panose="02020404030301010803" pitchFamily="18" charset="0"/>
                            </a:rPr>
                            <a:t>-103/30</a:t>
                          </a:r>
                        </a:p>
                      </a:txBody>
                      <a:tcPr anchor="ctr"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>
                              <a:latin typeface="Garamond" panose="02020404030301010803" pitchFamily="18" charset="0"/>
                            </a:rPr>
                            <a:t>10,609/900</a:t>
                          </a:r>
                        </a:p>
                      </a:txBody>
                      <a:tcPr anchor="ctr"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>
                              <a:latin typeface="Garamond" panose="02020404030301010803" pitchFamily="18" charset="0"/>
                            </a:rPr>
                            <a:t>42,436/27,000</a:t>
                          </a:r>
                          <a:endParaRPr lang="en-US" dirty="0">
                            <a:latin typeface="Garamond" panose="02020404030301010803" pitchFamily="18" charset="0"/>
                          </a:endParaRPr>
                        </a:p>
                      </a:txBody>
                      <a:tcPr anchor="ctr"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extLst>
                      <a:ext uri="{0D108BD9-81ED-4DB2-BD59-A6C34878D82A}">
                        <a16:rowId xmlns:a16="http://schemas.microsoft.com/office/drawing/2014/main" val="386434689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bg1"/>
                              </a:solidFill>
                              <a:latin typeface="Garamond" panose="02020404030301010803" pitchFamily="18" charset="0"/>
                            </a:rPr>
                            <a:t>1</a:t>
                          </a:r>
                        </a:p>
                      </a:txBody>
                      <a:tcPr anchor="ctr">
                        <a:solidFill>
                          <a:srgbClr val="77122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Garamond" panose="02020404030301010803" pitchFamily="18" charset="0"/>
                            </a:rPr>
                            <a:t>4/30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>
                              <a:latin typeface="Garamond" panose="02020404030301010803" pitchFamily="18" charset="0"/>
                            </a:rPr>
                            <a:t>4/30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>
                              <a:latin typeface="Garamond" panose="02020404030301010803" pitchFamily="18" charset="0"/>
                            </a:rPr>
                            <a:t>-73/30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>
                              <a:latin typeface="Garamond" panose="02020404030301010803" pitchFamily="18" charset="0"/>
                            </a:rPr>
                            <a:t>5,329/900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>
                              <a:latin typeface="Garamond" panose="02020404030301010803" pitchFamily="18" charset="0"/>
                            </a:rPr>
                            <a:t>21,316/27,000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7368346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bg1"/>
                              </a:solidFill>
                              <a:latin typeface="Garamond" panose="02020404030301010803" pitchFamily="18" charset="0"/>
                            </a:rPr>
                            <a:t>2</a:t>
                          </a:r>
                        </a:p>
                      </a:txBody>
                      <a:tcPr anchor="ctr">
                        <a:solidFill>
                          <a:srgbClr val="77122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Garamond" panose="02020404030301010803" pitchFamily="18" charset="0"/>
                            </a:rPr>
                            <a:t>4/30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Garamond" panose="02020404030301010803" pitchFamily="18" charset="0"/>
                            </a:rPr>
                            <a:t>8/30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Garamond" panose="02020404030301010803" pitchFamily="18" charset="0"/>
                            </a:rPr>
                            <a:t>-43/30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Garamond" panose="02020404030301010803" pitchFamily="18" charset="0"/>
                            </a:rPr>
                            <a:t>1,849/900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Garamond" panose="02020404030301010803" pitchFamily="18" charset="0"/>
                            </a:rPr>
                            <a:t>7,396/27,000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28412386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bg1"/>
                              </a:solidFill>
                              <a:latin typeface="Garamond" panose="02020404030301010803" pitchFamily="18" charset="0"/>
                            </a:rPr>
                            <a:t>3</a:t>
                          </a:r>
                        </a:p>
                      </a:txBody>
                      <a:tcPr anchor="ctr">
                        <a:solidFill>
                          <a:srgbClr val="77122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Garamond" panose="02020404030301010803" pitchFamily="18" charset="0"/>
                            </a:rPr>
                            <a:t>5/30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Garamond" panose="02020404030301010803" pitchFamily="18" charset="0"/>
                            </a:rPr>
                            <a:t>15/30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Garamond" panose="02020404030301010803" pitchFamily="18" charset="0"/>
                            </a:rPr>
                            <a:t>-13/30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Garamond" panose="02020404030301010803" pitchFamily="18" charset="0"/>
                            </a:rPr>
                            <a:t>169/900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Garamond" panose="02020404030301010803" pitchFamily="18" charset="0"/>
                            </a:rPr>
                            <a:t>845/27,000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49561823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bg1"/>
                              </a:solidFill>
                              <a:latin typeface="Garamond" panose="02020404030301010803" pitchFamily="18" charset="0"/>
                            </a:rPr>
                            <a:t>4</a:t>
                          </a:r>
                        </a:p>
                      </a:txBody>
                      <a:tcPr anchor="ctr">
                        <a:solidFill>
                          <a:srgbClr val="77122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Garamond" panose="02020404030301010803" pitchFamily="18" charset="0"/>
                            </a:rPr>
                            <a:t>2/30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Garamond" panose="02020404030301010803" pitchFamily="18" charset="0"/>
                            </a:rPr>
                            <a:t>8/30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Garamond" panose="02020404030301010803" pitchFamily="18" charset="0"/>
                            </a:rPr>
                            <a:t>17/30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Garamond" panose="02020404030301010803" pitchFamily="18" charset="0"/>
                            </a:rPr>
                            <a:t>289/900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Garamond" panose="02020404030301010803" pitchFamily="18" charset="0"/>
                            </a:rPr>
                            <a:t>578/27,000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42584031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bg1"/>
                              </a:solidFill>
                              <a:latin typeface="Garamond" panose="02020404030301010803" pitchFamily="18" charset="0"/>
                            </a:rPr>
                            <a:t>5</a:t>
                          </a:r>
                        </a:p>
                      </a:txBody>
                      <a:tcPr anchor="ctr">
                        <a:solidFill>
                          <a:srgbClr val="77122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>
                              <a:latin typeface="Garamond" panose="02020404030301010803" pitchFamily="18" charset="0"/>
                            </a:rPr>
                            <a:t>5/30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Garamond" panose="02020404030301010803" pitchFamily="18" charset="0"/>
                            </a:rPr>
                            <a:t>25/30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Garamond" panose="02020404030301010803" pitchFamily="18" charset="0"/>
                            </a:rPr>
                            <a:t>47/30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>
                              <a:solidFill>
                                <a:schemeClr val="tx1"/>
                              </a:solidFill>
                              <a:latin typeface="Garamond" panose="02020404030301010803" pitchFamily="18" charset="0"/>
                            </a:rPr>
                            <a:t>2,209/900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>
                              <a:solidFill>
                                <a:schemeClr val="tx1"/>
                              </a:solidFill>
                              <a:latin typeface="Garamond" panose="02020404030301010803" pitchFamily="18" charset="0"/>
                            </a:rPr>
                            <a:t>11,045/27,000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55062058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bg1"/>
                              </a:solidFill>
                              <a:latin typeface="Garamond" panose="02020404030301010803" pitchFamily="18" charset="0"/>
                            </a:rPr>
                            <a:t>6</a:t>
                          </a:r>
                        </a:p>
                      </a:txBody>
                      <a:tcPr anchor="ctr">
                        <a:solidFill>
                          <a:srgbClr val="77122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>
                              <a:latin typeface="Garamond" panose="02020404030301010803" pitchFamily="18" charset="0"/>
                            </a:rPr>
                            <a:t>1/30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Garamond" panose="02020404030301010803" pitchFamily="18" charset="0"/>
                            </a:rPr>
                            <a:t>6/30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Garamond" panose="02020404030301010803" pitchFamily="18" charset="0"/>
                            </a:rPr>
                            <a:t>77/30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>
                              <a:solidFill>
                                <a:schemeClr val="tx1"/>
                              </a:solidFill>
                              <a:latin typeface="Garamond" panose="02020404030301010803" pitchFamily="18" charset="0"/>
                            </a:rPr>
                            <a:t>5,929/900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>
                              <a:solidFill>
                                <a:schemeClr val="tx1"/>
                              </a:solidFill>
                              <a:latin typeface="Garamond" panose="02020404030301010803" pitchFamily="18" charset="0"/>
                            </a:rPr>
                            <a:t>5,929/27,000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21783816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bg1"/>
                              </a:solidFill>
                              <a:latin typeface="Garamond" panose="02020404030301010803" pitchFamily="18" charset="0"/>
                            </a:rPr>
                            <a:t>7</a:t>
                          </a:r>
                        </a:p>
                      </a:txBody>
                      <a:tcPr anchor="ctr">
                        <a:solidFill>
                          <a:srgbClr val="77122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>
                              <a:latin typeface="Garamond" panose="02020404030301010803" pitchFamily="18" charset="0"/>
                            </a:rPr>
                            <a:t>3/30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Garamond" panose="02020404030301010803" pitchFamily="18" charset="0"/>
                            </a:rPr>
                            <a:t>21/30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Garamond" panose="02020404030301010803" pitchFamily="18" charset="0"/>
                            </a:rPr>
                            <a:t>107/30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>
                              <a:solidFill>
                                <a:schemeClr val="tx1"/>
                              </a:solidFill>
                              <a:latin typeface="Garamond" panose="02020404030301010803" pitchFamily="18" charset="0"/>
                            </a:rPr>
                            <a:t>11,449/900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>
                              <a:solidFill>
                                <a:schemeClr val="tx1"/>
                              </a:solidFill>
                              <a:latin typeface="Garamond" panose="02020404030301010803" pitchFamily="18" charset="0"/>
                            </a:rPr>
                            <a:t>34,347/27,000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49435658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bg1"/>
                              </a:solidFill>
                              <a:latin typeface="Garamond" panose="02020404030301010803" pitchFamily="18" charset="0"/>
                            </a:rPr>
                            <a:t>8</a:t>
                          </a:r>
                        </a:p>
                      </a:txBody>
                      <a:tcPr anchor="ctr">
                        <a:solidFill>
                          <a:srgbClr val="77122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>
                              <a:latin typeface="Garamond" panose="02020404030301010803" pitchFamily="18" charset="0"/>
                            </a:rPr>
                            <a:t>2/30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Garamond" panose="02020404030301010803" pitchFamily="18" charset="0"/>
                            </a:rPr>
                            <a:t>16/30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Garamond" panose="02020404030301010803" pitchFamily="18" charset="0"/>
                            </a:rPr>
                            <a:t>137/30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>
                              <a:solidFill>
                                <a:schemeClr val="tx1"/>
                              </a:solidFill>
                              <a:latin typeface="Garamond" panose="02020404030301010803" pitchFamily="18" charset="0"/>
                            </a:rPr>
                            <a:t>18,769/900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>
                              <a:solidFill>
                                <a:schemeClr val="tx1"/>
                              </a:solidFill>
                              <a:latin typeface="Garamond" panose="02020404030301010803" pitchFamily="18" charset="0"/>
                            </a:rPr>
                            <a:t>37,538/27,000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29502960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bg1"/>
                              </a:solidFill>
                              <a:latin typeface="Garamond" panose="02020404030301010803" pitchFamily="18" charset="0"/>
                            </a:rPr>
                            <a:t>Total</a:t>
                          </a:r>
                        </a:p>
                      </a:txBody>
                      <a:tcPr anchor="ctr">
                        <a:solidFill>
                          <a:srgbClr val="77122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>
                              <a:latin typeface="Garamond" panose="02020404030301010803" pitchFamily="18" charset="0"/>
                            </a:rPr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6"/>
                          <a:stretch>
                            <a:fillRect l="-93850" t="-1022951" r="-270321" b="-262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  <a:latin typeface="Garamond" panose="02020404030301010803" pitchFamily="18" charset="0"/>
                            </a:rPr>
                            <a:t>N/A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>
                              <a:solidFill>
                                <a:schemeClr val="tx1"/>
                              </a:solidFill>
                              <a:latin typeface="Garamond" panose="02020404030301010803" pitchFamily="18" charset="0"/>
                            </a:rPr>
                            <a:t>N/A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6"/>
                          <a:stretch>
                            <a:fillRect l="-211311" t="-1022951" r="-359" b="-2623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50360944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8320846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3D57C2-2AC6-C1E3-1937-425BDC6FBD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62163D8-BC15-5D32-B0A8-0493B92C82A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57199" y="1300900"/>
                <a:ext cx="11189855" cy="5081046"/>
              </a:xfrm>
            </p:spPr>
            <p:txBody>
              <a:bodyPr>
                <a:normAutofit/>
              </a:bodyPr>
              <a:lstStyle/>
              <a:p>
                <a:pPr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400" dirty="0">
                    <a:solidFill>
                      <a:srgbClr val="000000"/>
                    </a:solidFill>
                  </a:rPr>
                  <a:t>At this point, you might be wondering: </a:t>
                </a:r>
              </a:p>
              <a:p>
                <a:pPr lvl="1"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000" dirty="0">
                    <a:solidFill>
                      <a:srgbClr val="000000"/>
                    </a:solidFill>
                  </a:rPr>
                  <a:t>“Why aren’t we dividing by </a:t>
                </a:r>
                <a14:m>
                  <m:oMath xmlns:m="http://schemas.openxmlformats.org/officeDocument/2006/math">
                    <m:r>
                      <a:rPr lang="en-US" altLang="zh-TW" sz="2000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altLang="zh-TW" sz="2000" dirty="0">
                    <a:solidFill>
                      <a:srgbClr val="000000"/>
                    </a:solidFill>
                  </a:rPr>
                  <a:t> or </a:t>
                </a:r>
                <a14:m>
                  <m:oMath xmlns:m="http://schemas.openxmlformats.org/officeDocument/2006/math">
                    <m:r>
                      <a:rPr lang="en-US" altLang="zh-TW" sz="2000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zh-TW" sz="2000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en-US" altLang="zh-TW" sz="2000" dirty="0">
                    <a:solidFill>
                      <a:srgbClr val="000000"/>
                    </a:solidFill>
                  </a:rPr>
                  <a:t>?”</a:t>
                </a:r>
              </a:p>
              <a:p>
                <a:pPr lvl="1"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000" dirty="0">
                    <a:solidFill>
                      <a:srgbClr val="000000"/>
                    </a:solidFill>
                  </a:rPr>
                  <a:t>“Is this a sample variance or a population variance?”</a:t>
                </a:r>
              </a:p>
              <a:p>
                <a:pPr lvl="3"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1200" dirty="0">
                  <a:solidFill>
                    <a:srgbClr val="000000"/>
                  </a:solidFill>
                </a:endParaRPr>
              </a:p>
              <a:p>
                <a:pPr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400" dirty="0">
                    <a:solidFill>
                      <a:srgbClr val="000000"/>
                    </a:solidFill>
                  </a:rPr>
                  <a:t>The variance formula for a random variable assumes that the true probability function is known. In practice, however, we usually do not know the true probability mass function.</a:t>
                </a:r>
              </a:p>
              <a:p>
                <a:pPr lvl="3"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1200" dirty="0">
                  <a:solidFill>
                    <a:srgbClr val="000000"/>
                  </a:solidFill>
                </a:endParaRPr>
              </a:p>
              <a:p>
                <a:pPr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400" dirty="0"/>
                  <a:t>Instead, we estimate the probability mass function from the observed data. If this empirical probability mass function is a reasonable approximation to the true one, then:</a:t>
                </a:r>
              </a:p>
              <a:p>
                <a:pPr lvl="1"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000" dirty="0"/>
                  <a:t>The probabilities </a:t>
                </a:r>
                <a14:m>
                  <m:oMath xmlns:m="http://schemas.openxmlformats.org/officeDocument/2006/math">
                    <m:r>
                      <a:rPr lang="en-US" altLang="zh-TW" sz="2000" i="1" dirty="0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altLang="zh-TW" sz="20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TW" sz="2000" i="1" dirty="0" smtClean="0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altLang="zh-TW" sz="200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TW" sz="2000" dirty="0"/>
                  <a:t> already provide the appropriate weights in the average, so no additional division by </a:t>
                </a:r>
                <a14:m>
                  <m:oMath xmlns:m="http://schemas.openxmlformats.org/officeDocument/2006/math">
                    <m:r>
                      <a:rPr lang="en-US" altLang="zh-TW" sz="2000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altLang="zh-TW" sz="2000" dirty="0"/>
                  <a:t> or </a:t>
                </a:r>
                <a14:m>
                  <m:oMath xmlns:m="http://schemas.openxmlformats.org/officeDocument/2006/math">
                    <m:r>
                      <a:rPr lang="en-US" altLang="zh-TW" sz="2000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zh-TW" sz="2000" i="1" dirty="0" smtClean="0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en-US" altLang="zh-TW" sz="2000" dirty="0"/>
                  <a:t> is required, and</a:t>
                </a:r>
              </a:p>
              <a:p>
                <a:pPr lvl="1"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000" dirty="0"/>
                  <a:t>The expected value and variance computed from the table approximate the true parameters.</a:t>
                </a:r>
              </a:p>
              <a:p>
                <a:pPr lvl="3"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62163D8-BC15-5D32-B0A8-0493B92C82A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199" y="1300900"/>
                <a:ext cx="11189855" cy="5081046"/>
              </a:xfrm>
              <a:blipFill>
                <a:blip r:embed="rId2"/>
                <a:stretch>
                  <a:fillRect l="-708" t="-95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D6350B87-5313-DC55-B00F-7742C1AA42C6}"/>
              </a:ext>
            </a:extLst>
          </p:cNvPr>
          <p:cNvSpPr/>
          <p:nvPr/>
        </p:nvSpPr>
        <p:spPr>
          <a:xfrm>
            <a:off x="0" y="0"/>
            <a:ext cx="12188825" cy="923636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B0816FC-A72E-3605-5218-6EF728D256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88825" cy="923636"/>
          </a:xfrm>
        </p:spPr>
        <p:txBody>
          <a:bodyPr>
            <a:normAutofit/>
          </a:bodyPr>
          <a:lstStyle/>
          <a:p>
            <a:pPr algn="l">
              <a:defRPr sz="4000" b="1">
                <a:solidFill>
                  <a:srgbClr val="FDB913"/>
                </a:solidFill>
                <a:latin typeface="Garamond"/>
              </a:defRPr>
            </a:pPr>
            <a:r>
              <a:rPr lang="en-US" sz="4000" dirty="0">
                <a:solidFill>
                  <a:schemeClr val="bg1"/>
                </a:solidFill>
              </a:rPr>
              <a:t>  Caveats: The True Probabilities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F73CFA8-68DB-9CBC-32D7-FE708AD7291C}"/>
              </a:ext>
            </a:extLst>
          </p:cNvPr>
          <p:cNvSpPr/>
          <p:nvPr/>
        </p:nvSpPr>
        <p:spPr>
          <a:xfrm>
            <a:off x="-1" y="6503428"/>
            <a:ext cx="12188825" cy="354572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559A48D-971C-DFEE-987B-DDE717D1D6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1" y="6503428"/>
            <a:ext cx="2895600" cy="354572"/>
          </a:xfrm>
        </p:spPr>
        <p:txBody>
          <a:bodyPr/>
          <a:lstStyle/>
          <a:p>
            <a:pPr algn="l"/>
            <a:r>
              <a:rPr lang="en-US">
                <a:solidFill>
                  <a:schemeClr val="bg1"/>
                </a:solidFill>
                <a:latin typeface="Garamond" panose="02020404030301010803" pitchFamily="18" charset="0"/>
              </a:rPr>
              <a:t>BUSN 320 Business Statistics</a:t>
            </a:r>
            <a:endParaRPr lang="en-US" dirty="0">
              <a:solidFill>
                <a:schemeClr val="bg1"/>
              </a:solidFill>
              <a:latin typeface="Garamond" panose="02020404030301010803" pitchFamily="18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EF58F33-40D6-BF60-0C41-875677308C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55225" y="6503428"/>
            <a:ext cx="2133600" cy="354572"/>
          </a:xfrm>
        </p:spPr>
        <p:txBody>
          <a:bodyPr/>
          <a:lstStyle/>
          <a:p>
            <a:fld id="{C1FF6DA9-008F-8B48-92A6-B652298478BF}" type="slidenum">
              <a:rPr lang="en-US" b="1" smtClean="0">
                <a:solidFill>
                  <a:schemeClr val="bg1"/>
                </a:solidFill>
                <a:latin typeface="Garamond" panose="02020404030301010803" pitchFamily="18" charset="0"/>
              </a:rPr>
              <a:t>29</a:t>
            </a:fld>
            <a:r>
              <a:rPr lang="en-US" b="1" dirty="0">
                <a:solidFill>
                  <a:schemeClr val="bg1"/>
                </a:solidFill>
                <a:latin typeface="Garamond" panose="02020404030301010803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9885145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E931CE-B91B-818E-EFA2-AC2CCD8B75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E8A9584-3C2E-61EA-F88E-C2D5E39872C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57199" y="1300900"/>
                <a:ext cx="11189855" cy="5081046"/>
              </a:xfrm>
            </p:spPr>
            <p:txBody>
              <a:bodyPr>
                <a:normAutofit/>
              </a:bodyPr>
              <a:lstStyle/>
              <a:p>
                <a:pPr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400" dirty="0">
                    <a:solidFill>
                      <a:srgbClr val="000000"/>
                    </a:solidFill>
                  </a:rPr>
                  <a:t>The covariance between random variables </a:t>
                </a:r>
                <a:r>
                  <a:rPr lang="en-US" altLang="zh-TW" sz="2400" dirty="0">
                    <a:solidFill>
                      <a:srgbClr val="000000"/>
                    </a:solidFill>
                    <a:latin typeface="Rockwell" panose="02060603020205020403" pitchFamily="18" charset="0"/>
                  </a:rPr>
                  <a:t>X</a:t>
                </a:r>
                <a:r>
                  <a:rPr lang="en-US" altLang="zh-TW" sz="2400" dirty="0">
                    <a:solidFill>
                      <a:srgbClr val="000000"/>
                    </a:solidFill>
                  </a:rPr>
                  <a:t> and </a:t>
                </a:r>
                <a:r>
                  <a:rPr lang="en-US" altLang="zh-TW" sz="2400" dirty="0">
                    <a:solidFill>
                      <a:srgbClr val="000000"/>
                    </a:solidFill>
                    <a:latin typeface="Rockwell" panose="02060603020205020403" pitchFamily="18" charset="0"/>
                  </a:rPr>
                  <a:t>Y</a:t>
                </a:r>
                <a:r>
                  <a:rPr lang="en-US" altLang="zh-TW" sz="2400" dirty="0">
                    <a:solidFill>
                      <a:srgbClr val="000000"/>
                    </a:solidFill>
                  </a:rPr>
                  <a:t> can be calculated using the following formula:</a:t>
                </a:r>
              </a:p>
              <a:p>
                <a:pPr marL="0" indent="0">
                  <a:spcBef>
                    <a:spcPts val="1000"/>
                  </a:spcBef>
                  <a:buNone/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altLang="zh-TW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altLang="zh-TW" sz="2400" b="0" i="0" dirty="0" smtClean="0">
                              <a:solidFill>
                                <a:srgbClr val="000000"/>
                              </a:solidFill>
                              <a:latin typeface="Rockwell" panose="02060603020205020403" pitchFamily="18" charset="0"/>
                            </a:rPr>
                            <m:t>xy</m:t>
                          </m:r>
                        </m:sub>
                      </m:sSub>
                      <m:r>
                        <a:rPr lang="en-US" altLang="zh-TW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TW" sz="2400" i="0" dirty="0">
                              <a:latin typeface="Rockwell" panose="02060603020205020403" pitchFamily="18" charset="0"/>
                            </a:rPr>
                          </m:ctrlPr>
                        </m:fPr>
                        <m:num>
                          <m:r>
                            <m:rPr>
                              <m:nor/>
                            </m:rPr>
                            <a:rPr lang="en-US" altLang="zh-TW" sz="2400" i="0" dirty="0">
                              <a:latin typeface="Rockwell" panose="02060603020205020403" pitchFamily="18" charset="0"/>
                            </a:rPr>
                            <m:t>Var</m:t>
                          </m:r>
                          <m:d>
                            <m:dPr>
                              <m:ctrlPr>
                                <a:rPr lang="en-US" sz="2400" i="0" dirty="0">
                                  <a:latin typeface="Rockwell" panose="02060603020205020403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nor/>
                                </m:rPr>
                                <a:rPr lang="en-US" sz="2400" i="0" dirty="0">
                                  <a:latin typeface="Rockwell" panose="02060603020205020403" pitchFamily="18" charset="0"/>
                                </a:rPr>
                                <m:t>X+Y</m:t>
                              </m:r>
                            </m:e>
                          </m:d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m:rPr>
                              <m:nor/>
                            </m:rPr>
                            <a:rPr lang="en-US" altLang="zh-TW" sz="2400" i="0" dirty="0">
                              <a:latin typeface="Rockwell" panose="02060603020205020403" pitchFamily="18" charset="0"/>
                            </a:rPr>
                            <m:t>Var</m:t>
                          </m:r>
                          <m:d>
                            <m:dPr>
                              <m:ctrlPr>
                                <a:rPr lang="en-US" sz="2400" i="0" dirty="0">
                                  <a:latin typeface="Rockwell" panose="02060603020205020403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nor/>
                                </m:rPr>
                                <a:rPr lang="en-US" sz="2400" i="0" dirty="0">
                                  <a:latin typeface="Rockwell" panose="02060603020205020403" pitchFamily="18" charset="0"/>
                                </a:rPr>
                                <m:t>X</m:t>
                              </m:r>
                            </m:e>
                          </m:d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m:rPr>
                              <m:nor/>
                            </m:rPr>
                            <a:rPr lang="en-US" altLang="zh-TW" sz="2400" i="0" dirty="0">
                              <a:latin typeface="Rockwell" panose="02060603020205020403" pitchFamily="18" charset="0"/>
                            </a:rPr>
                            <m:t>Var</m:t>
                          </m:r>
                          <m:d>
                            <m:dPr>
                              <m:ctrlPr>
                                <a:rPr lang="en-US" sz="2400" i="0" dirty="0">
                                  <a:latin typeface="Rockwell" panose="02060603020205020403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nor/>
                                </m:rPr>
                                <a:rPr lang="en-US" sz="2400" i="0" dirty="0">
                                  <a:latin typeface="Rockwell" panose="02060603020205020403" pitchFamily="18" charset="0"/>
                                </a:rPr>
                                <m:t>Y</m:t>
                              </m:r>
                            </m:e>
                          </m:d>
                        </m:num>
                        <m:den>
                          <m:r>
                            <a:rPr lang="en-US" altLang="zh-TW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US" altLang="zh-TW" sz="2400" dirty="0">
                  <a:solidFill>
                    <a:schemeClr val="tx1"/>
                  </a:solidFill>
                </a:endParaRPr>
              </a:p>
              <a:p>
                <a:pPr lvl="3"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1200" dirty="0"/>
              </a:p>
              <a:p>
                <a:pPr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400" dirty="0">
                    <a:solidFill>
                      <a:srgbClr val="000000"/>
                    </a:solidFill>
                  </a:rPr>
                  <a:t>Try: Suppose that you are given the following information:</a:t>
                </a:r>
              </a:p>
              <a:p>
                <a:pPr lvl="1"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altLang="zh-TW" sz="2000" i="0" dirty="0">
                        <a:latin typeface="Rockwell" panose="02060603020205020403" pitchFamily="18" charset="0"/>
                      </a:rPr>
                      <m:t>Var</m:t>
                    </m:r>
                    <m:d>
                      <m:dPr>
                        <m:ctrlPr>
                          <a:rPr lang="en-US" sz="2000" i="0" dirty="0">
                            <a:latin typeface="Rockwell" panose="02060603020205020403" pitchFamily="18" charset="0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en-US" sz="2000" i="0" dirty="0">
                            <a:latin typeface="Rockwell" panose="02060603020205020403" pitchFamily="18" charset="0"/>
                          </a:rPr>
                          <m:t>X</m:t>
                        </m:r>
                      </m:e>
                    </m:d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=1.63</m:t>
                    </m:r>
                  </m:oMath>
                </a14:m>
                <a:endParaRPr lang="en-US" altLang="zh-TW" sz="2000" dirty="0">
                  <a:solidFill>
                    <a:srgbClr val="000000"/>
                  </a:solidFill>
                </a:endParaRPr>
              </a:p>
              <a:p>
                <a:pPr lvl="1"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altLang="zh-TW" sz="2000" i="0" dirty="0">
                        <a:latin typeface="Rockwell" panose="02060603020205020403" pitchFamily="18" charset="0"/>
                      </a:rPr>
                      <m:t>Var</m:t>
                    </m:r>
                    <m:d>
                      <m:dPr>
                        <m:ctrlPr>
                          <a:rPr lang="en-US" sz="2000" b="0" i="0" dirty="0" smtClean="0">
                            <a:latin typeface="Rockwell" panose="02060603020205020403" pitchFamily="18" charset="0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en-US" sz="2000" b="0" i="0" dirty="0" smtClean="0">
                            <a:latin typeface="Rockwell" panose="02060603020205020403" pitchFamily="18" charset="0"/>
                          </a:rPr>
                          <m:t>Y</m:t>
                        </m:r>
                      </m:e>
                    </m:d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=1.76</m:t>
                    </m:r>
                  </m:oMath>
                </a14:m>
                <a:endParaRPr lang="en-US" altLang="zh-TW" sz="2000" dirty="0">
                  <a:solidFill>
                    <a:schemeClr val="tx1"/>
                  </a:solidFill>
                </a:endParaRPr>
              </a:p>
              <a:p>
                <a:pPr lvl="1"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altLang="zh-TW" sz="2000" i="0" dirty="0">
                        <a:latin typeface="Rockwell" panose="02060603020205020403" pitchFamily="18" charset="0"/>
                      </a:rPr>
                      <m:t>Var</m:t>
                    </m:r>
                    <m:d>
                      <m:dPr>
                        <m:ctrlPr>
                          <a:rPr lang="en-US" sz="2000" b="0" i="0" dirty="0" smtClean="0">
                            <a:latin typeface="Rockwell" panose="02060603020205020403" pitchFamily="18" charset="0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en-US" sz="2000" b="0" i="0" dirty="0" smtClean="0">
                            <a:latin typeface="Rockwell" panose="02060603020205020403" pitchFamily="18" charset="0"/>
                          </a:rPr>
                          <m:t>Z</m:t>
                        </m:r>
                      </m:e>
                    </m:d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nor/>
                      </m:rPr>
                      <a:rPr lang="en-US" altLang="zh-TW" sz="2000" i="0" dirty="0">
                        <a:latin typeface="Rockwell" panose="02060603020205020403" pitchFamily="18" charset="0"/>
                      </a:rPr>
                      <m:t>Var</m:t>
                    </m:r>
                    <m:d>
                      <m:dPr>
                        <m:ctrlPr>
                          <a:rPr lang="en-US" sz="2000" b="0" i="0" dirty="0" smtClean="0">
                            <a:latin typeface="Rockwell" panose="02060603020205020403" pitchFamily="18" charset="0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en-US" sz="2000" b="0" i="0" dirty="0" smtClean="0">
                            <a:latin typeface="Rockwell" panose="02060603020205020403" pitchFamily="18" charset="0"/>
                          </a:rPr>
                          <m:t>X+Y</m:t>
                        </m:r>
                      </m:e>
                    </m:d>
                    <m:r>
                      <a:rPr lang="en-US" sz="2000" i="1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5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98</m:t>
                    </m:r>
                  </m:oMath>
                </a14:m>
                <a:endParaRPr lang="en-US" altLang="zh-TW" sz="2000" dirty="0"/>
              </a:p>
              <a:p>
                <a:pPr marL="0" indent="0">
                  <a:spcBef>
                    <a:spcPts val="1000"/>
                  </a:spcBef>
                  <a:buNone/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400" dirty="0"/>
                  <a:t>    </a:t>
                </a:r>
                <a:r>
                  <a:rPr lang="en-US" altLang="zh-TW" sz="2400" dirty="0">
                    <a:solidFill>
                      <a:schemeClr val="tx1"/>
                    </a:solidFill>
                  </a:rPr>
                  <a:t>Calculate the covariance between </a:t>
                </a:r>
                <a:r>
                  <a:rPr lang="en-US" altLang="zh-TW" sz="2400" dirty="0">
                    <a:solidFill>
                      <a:schemeClr val="tx1"/>
                    </a:solidFill>
                    <a:latin typeface="Rockwell" panose="02060603020205020403" pitchFamily="18" charset="0"/>
                  </a:rPr>
                  <a:t>X</a:t>
                </a:r>
                <a:r>
                  <a:rPr lang="en-US" altLang="zh-TW" sz="2400" dirty="0">
                    <a:solidFill>
                      <a:schemeClr val="tx1"/>
                    </a:solidFill>
                  </a:rPr>
                  <a:t> and </a:t>
                </a:r>
                <a:r>
                  <a:rPr lang="en-US" altLang="zh-TW" sz="2400" dirty="0">
                    <a:solidFill>
                      <a:schemeClr val="tx1"/>
                    </a:solidFill>
                    <a:latin typeface="Rockwell" panose="02060603020205020403" pitchFamily="18" charset="0"/>
                  </a:rPr>
                  <a:t>Y</a:t>
                </a:r>
                <a:r>
                  <a:rPr lang="en-US" altLang="zh-TW" sz="2400" dirty="0">
                    <a:solidFill>
                      <a:schemeClr val="tx1"/>
                    </a:solidFill>
                  </a:rPr>
                  <a:t>, and interpret the result.</a:t>
                </a:r>
              </a:p>
              <a:p>
                <a:pPr lvl="4"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1200" dirty="0">
                  <a:solidFill>
                    <a:schemeClr val="tx1"/>
                  </a:solidFill>
                </a:endParaRPr>
              </a:p>
              <a:p>
                <a:pPr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E8A9584-3C2E-61EA-F88E-C2D5E39872C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199" y="1300900"/>
                <a:ext cx="11189855" cy="5081046"/>
              </a:xfrm>
              <a:blipFill>
                <a:blip r:embed="rId2"/>
                <a:stretch>
                  <a:fillRect l="-708" t="-119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12A89E23-2F6E-F794-091F-8E4E45DA856D}"/>
              </a:ext>
            </a:extLst>
          </p:cNvPr>
          <p:cNvSpPr/>
          <p:nvPr/>
        </p:nvSpPr>
        <p:spPr>
          <a:xfrm>
            <a:off x="0" y="0"/>
            <a:ext cx="12188825" cy="923636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814AB4E-2CB6-9E17-BC88-ED8990C6E4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88825" cy="923636"/>
          </a:xfrm>
        </p:spPr>
        <p:txBody>
          <a:bodyPr>
            <a:normAutofit/>
          </a:bodyPr>
          <a:lstStyle/>
          <a:p>
            <a:pPr algn="l">
              <a:defRPr sz="4000" b="1">
                <a:solidFill>
                  <a:srgbClr val="FDB913"/>
                </a:solidFill>
                <a:latin typeface="Garamond"/>
              </a:defRPr>
            </a:pPr>
            <a:r>
              <a:rPr lang="en-US" sz="4000" dirty="0">
                <a:solidFill>
                  <a:schemeClr val="bg1"/>
                </a:solidFill>
              </a:rPr>
              <a:t>  Covariance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F639CFA-C9F3-8E83-3E63-2F4A25A8F0E2}"/>
              </a:ext>
            </a:extLst>
          </p:cNvPr>
          <p:cNvSpPr/>
          <p:nvPr/>
        </p:nvSpPr>
        <p:spPr>
          <a:xfrm>
            <a:off x="-1" y="6503428"/>
            <a:ext cx="12188825" cy="354572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6569A09-8E55-6D42-E19C-00657FAD11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1" y="6503428"/>
            <a:ext cx="2895600" cy="354572"/>
          </a:xfrm>
        </p:spPr>
        <p:txBody>
          <a:bodyPr/>
          <a:lstStyle/>
          <a:p>
            <a:pPr algn="l"/>
            <a:r>
              <a:rPr lang="en-US">
                <a:solidFill>
                  <a:schemeClr val="bg1"/>
                </a:solidFill>
                <a:latin typeface="Garamond" panose="02020404030301010803" pitchFamily="18" charset="0"/>
              </a:rPr>
              <a:t>BUSN 320 Business Statistics</a:t>
            </a:r>
            <a:endParaRPr lang="en-US" dirty="0">
              <a:solidFill>
                <a:schemeClr val="bg1"/>
              </a:solidFill>
              <a:latin typeface="Garamond" panose="02020404030301010803" pitchFamily="18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CCDD64E-DB08-5BDC-29F9-7F52900E26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55225" y="6503428"/>
            <a:ext cx="2133600" cy="354572"/>
          </a:xfrm>
        </p:spPr>
        <p:txBody>
          <a:bodyPr/>
          <a:lstStyle/>
          <a:p>
            <a:fld id="{C1FF6DA9-008F-8B48-92A6-B652298478BF}" type="slidenum">
              <a:rPr lang="en-US" b="1" smtClean="0">
                <a:solidFill>
                  <a:schemeClr val="bg1"/>
                </a:solidFill>
                <a:latin typeface="Garamond" panose="02020404030301010803" pitchFamily="18" charset="0"/>
              </a:rPr>
              <a:t>30</a:t>
            </a:fld>
            <a:r>
              <a:rPr lang="en-US" b="1" dirty="0">
                <a:solidFill>
                  <a:schemeClr val="bg1"/>
                </a:solidFill>
                <a:latin typeface="Garamond" panose="02020404030301010803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8306876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7122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32B76A8-81FF-6ACC-FF6D-33378A17FF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3EC55FF-85C8-DD7B-13DB-8806BD601C86}"/>
              </a:ext>
            </a:extLst>
          </p:cNvPr>
          <p:cNvSpPr txBox="1"/>
          <p:nvPr/>
        </p:nvSpPr>
        <p:spPr>
          <a:xfrm>
            <a:off x="0" y="2705725"/>
            <a:ext cx="12188825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DB913"/>
                </a:solidFill>
                <a:latin typeface="Garamond"/>
              </a:defRPr>
            </a:pPr>
            <a:r>
              <a:rPr lang="en-US" sz="4400" dirty="0">
                <a:solidFill>
                  <a:schemeClr val="bg1"/>
                </a:solidFill>
              </a:rPr>
              <a:t>Examples of Some</a:t>
            </a:r>
          </a:p>
          <a:p>
            <a:pPr algn="ctr">
              <a:defRPr sz="4000" b="1">
                <a:solidFill>
                  <a:srgbClr val="FDB913"/>
                </a:solidFill>
                <a:latin typeface="Garamond"/>
              </a:defRPr>
            </a:pPr>
            <a:r>
              <a:rPr lang="en-US" sz="4400" dirty="0">
                <a:solidFill>
                  <a:schemeClr val="bg1"/>
                </a:solidFill>
              </a:rPr>
              <a:t>Discrete Probability Distributions</a:t>
            </a:r>
          </a:p>
        </p:txBody>
      </p:sp>
    </p:spTree>
    <p:extLst>
      <p:ext uri="{BB962C8B-B14F-4D97-AF65-F5344CB8AC3E}">
        <p14:creationId xmlns:p14="http://schemas.microsoft.com/office/powerpoint/2010/main" val="10467159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47DC44-549B-2919-F34A-547124FB9B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F3670E9-1C93-C9F4-1862-E1FCAE8FEEF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57199" y="1300900"/>
                <a:ext cx="11189855" cy="5081046"/>
              </a:xfrm>
            </p:spPr>
            <p:txBody>
              <a:bodyPr>
                <a:normAutofit/>
              </a:bodyPr>
              <a:lstStyle/>
              <a:p>
                <a:pPr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400" dirty="0">
                    <a:solidFill>
                      <a:srgbClr val="000000"/>
                    </a:solidFill>
                  </a:rPr>
                  <a:t>The </a:t>
                </a:r>
                <a:r>
                  <a:rPr lang="en-US" altLang="zh-TW" sz="2400" b="1" dirty="0">
                    <a:solidFill>
                      <a:srgbClr val="000000"/>
                    </a:solidFill>
                  </a:rPr>
                  <a:t>(discrete) uniform probability distribution </a:t>
                </a:r>
                <a:r>
                  <a:rPr lang="en-US" altLang="zh-TW" sz="2400" dirty="0">
                    <a:solidFill>
                      <a:srgbClr val="000000"/>
                    </a:solidFill>
                  </a:rPr>
                  <a:t>is a probability distribution in which each of a finite number </a:t>
                </a:r>
                <a14:m>
                  <m:oMath xmlns:m="http://schemas.openxmlformats.org/officeDocument/2006/math">
                    <m:r>
                      <a:rPr lang="en-US" altLang="zh-TW" sz="2400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altLang="zh-TW" sz="2400" dirty="0">
                    <a:solidFill>
                      <a:srgbClr val="000000"/>
                    </a:solidFill>
                  </a:rPr>
                  <a:t> of possible outcomes is equally likely to occur.</a:t>
                </a:r>
              </a:p>
              <a:p>
                <a:pPr lvl="3"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1200" dirty="0">
                  <a:solidFill>
                    <a:srgbClr val="000000"/>
                  </a:solidFill>
                </a:endParaRPr>
              </a:p>
              <a:p>
                <a:pPr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400" dirty="0">
                    <a:solidFill>
                      <a:srgbClr val="000000"/>
                    </a:solidFill>
                  </a:rPr>
                  <a:t>If a discrete random variable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altLang="zh-TW" sz="2400" i="0" dirty="0">
                        <a:latin typeface="Rockwell" panose="02060603020205020403" pitchFamily="18" charset="0"/>
                      </a:rPr>
                      <m:t>X</m:t>
                    </m:r>
                  </m:oMath>
                </a14:m>
                <a:r>
                  <a:rPr lang="en-US" altLang="zh-TW" sz="2400" dirty="0">
                    <a:solidFill>
                      <a:srgbClr val="000000"/>
                    </a:solidFill>
                  </a:rPr>
                  <a:t> follows a uniform distribution, where the smallest possible value is </a:t>
                </a:r>
                <a14:m>
                  <m:oMath xmlns:m="http://schemas.openxmlformats.org/officeDocument/2006/math">
                    <m:r>
                      <a:rPr lang="en-US" altLang="zh-TW" sz="2400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altLang="zh-TW" sz="2400" dirty="0">
                    <a:solidFill>
                      <a:srgbClr val="000000"/>
                    </a:solidFill>
                  </a:rPr>
                  <a:t>, and the largest possible value is </a:t>
                </a:r>
                <a14:m>
                  <m:oMath xmlns:m="http://schemas.openxmlformats.org/officeDocument/2006/math">
                    <m:r>
                      <a:rPr lang="en-US" altLang="zh-TW" sz="2400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altLang="zh-TW" sz="2400" dirty="0">
                    <a:solidFill>
                      <a:srgbClr val="000000"/>
                    </a:solidFill>
                  </a:rPr>
                  <a:t>, we write:</a:t>
                </a:r>
              </a:p>
              <a:p>
                <a:pPr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500" dirty="0">
                  <a:solidFill>
                    <a:srgbClr val="000000"/>
                  </a:solidFill>
                </a:endParaRPr>
              </a:p>
              <a:p>
                <a:pPr marL="0" indent="0">
                  <a:spcBef>
                    <a:spcPts val="1000"/>
                  </a:spcBef>
                  <a:buNone/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14:m>
                  <m:oMathPara xmlns:m="http://schemas.openxmlformats.org/officeDocument/2006/math">
                    <m:oMath>
                      <m:r>
                        <m:rPr>
                          <m:nor/>
                        </m:rPr>
                        <a:rPr lang="en-US" altLang="zh-TW" sz="2400" i="0" dirty="0">
                          <a:latin typeface="Rockwell" panose="02060603020205020403" pitchFamily="18" charset="0"/>
                        </a:rPr>
                        <m:t>X</m:t>
                      </m:r>
                      <m:r>
                        <a:rPr lang="en-US" altLang="zh-TW" sz="2400" i="1" dirty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TW" sz="2400" i="1">
                          <a:latin typeface="Cambria Math" panose="02040503050406030204" pitchFamily="18" charset="0"/>
                        </a:rPr>
                        <m:t>~ </m:t>
                      </m:r>
                      <m:r>
                        <a:rPr lang="en-US" altLang="zh-TW" sz="2400" i="1">
                          <a:latin typeface="Cambria Math" panose="02040503050406030204" pitchFamily="18" charset="0"/>
                        </a:rPr>
                        <m:t>𝑈</m:t>
                      </m:r>
                      <m:d>
                        <m:dPr>
                          <m:ctrlPr>
                            <a:rPr lang="en-US" altLang="zh-TW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d>
                    </m:oMath>
                  </m:oMathPara>
                </a14:m>
                <a:endParaRPr lang="en-US" altLang="zh-TW" sz="2400" dirty="0"/>
              </a:p>
              <a:p>
                <a:pPr lvl="3"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1200" dirty="0">
                  <a:solidFill>
                    <a:srgbClr val="000000"/>
                  </a:solidFill>
                </a:endParaRPr>
              </a:p>
              <a:p>
                <a:pPr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400" dirty="0">
                    <a:solidFill>
                      <a:srgbClr val="0070C0"/>
                    </a:solidFill>
                  </a:rPr>
                  <a:t>FYI: The probability mass function is:</a:t>
                </a:r>
                <a:endParaRPr lang="en-US" altLang="zh-TW" sz="500" dirty="0">
                  <a:solidFill>
                    <a:srgbClr val="0070C0"/>
                  </a:solidFill>
                </a:endParaRPr>
              </a:p>
              <a:p>
                <a:pPr marL="0" indent="0">
                  <a:spcBef>
                    <a:spcPts val="1000"/>
                  </a:spcBef>
                  <a:buNone/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14:m>
                  <m:oMathPara xmlns:m="http://schemas.openxmlformats.org/officeDocument/2006/math">
                    <m:oMath>
                      <m:r>
                        <a:rPr lang="en-US" altLang="zh-TW" sz="2400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altLang="zh-TW" sz="2400" i="0" dirty="0">
                              <a:solidFill>
                                <a:srgbClr val="0070C0"/>
                              </a:solidFill>
                              <a:latin typeface="Rockwell" panose="02060603020205020403" pitchFamily="18" charset="0"/>
                            </a:rPr>
                          </m:ctrlPr>
                        </m:dPr>
                        <m:e>
                          <m:r>
                            <m:rPr>
                              <m:nor/>
                            </m:rPr>
                            <a:rPr lang="en-US" altLang="zh-TW" sz="2400" i="0" dirty="0">
                              <a:solidFill>
                                <a:srgbClr val="0070C0"/>
                              </a:solidFill>
                              <a:latin typeface="Rockwell" panose="02060603020205020403" pitchFamily="18" charset="0"/>
                            </a:rPr>
                            <m:t>X</m:t>
                          </m:r>
                          <m:r>
                            <a:rPr lang="en-US" altLang="zh-TW" sz="24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m:rPr>
                              <m:nor/>
                            </m:rPr>
                            <a:rPr lang="en-US" altLang="zh-TW" sz="2400" b="0" i="0" dirty="0" smtClean="0">
                              <a:solidFill>
                                <a:srgbClr val="0070C0"/>
                              </a:solidFill>
                              <a:latin typeface="Rockwell" panose="02060603020205020403" pitchFamily="18" charset="0"/>
                            </a:rPr>
                            <m:t>x</m:t>
                          </m:r>
                        </m:e>
                      </m:d>
                      <m:r>
                        <a:rPr lang="en-US" altLang="zh-TW" sz="2400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TW" sz="24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TW" sz="24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TW" sz="24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en-US" altLang="zh-TW" sz="24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TW" sz="24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altLang="zh-TW" sz="24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+1</m:t>
                          </m:r>
                        </m:den>
                      </m:f>
                    </m:oMath>
                  </m:oMathPara>
                </a14:m>
                <a:endParaRPr lang="en-US" altLang="zh-TW" sz="2400" dirty="0">
                  <a:solidFill>
                    <a:srgbClr val="0070C0"/>
                  </a:solidFill>
                </a:endParaRPr>
              </a:p>
              <a:p>
                <a:pPr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2400" dirty="0">
                  <a:solidFill>
                    <a:srgbClr val="000000"/>
                  </a:solidFill>
                </a:endParaRP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F3670E9-1C93-C9F4-1862-E1FCAE8FEEF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199" y="1300900"/>
                <a:ext cx="11189855" cy="5081046"/>
              </a:xfrm>
              <a:blipFill>
                <a:blip r:embed="rId2"/>
                <a:stretch>
                  <a:fillRect l="-708" t="-95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DC976C87-4741-9E27-5638-B6ED9AE4F054}"/>
              </a:ext>
            </a:extLst>
          </p:cNvPr>
          <p:cNvSpPr/>
          <p:nvPr/>
        </p:nvSpPr>
        <p:spPr>
          <a:xfrm>
            <a:off x="0" y="0"/>
            <a:ext cx="12188825" cy="923636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FF2ECC-4242-F27C-CDC8-5427AAEDE4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88825" cy="923636"/>
          </a:xfrm>
        </p:spPr>
        <p:txBody>
          <a:bodyPr>
            <a:normAutofit/>
          </a:bodyPr>
          <a:lstStyle/>
          <a:p>
            <a:pPr algn="l">
              <a:defRPr sz="4000" b="1">
                <a:solidFill>
                  <a:srgbClr val="FDB913"/>
                </a:solidFill>
                <a:latin typeface="Garamond"/>
              </a:defRPr>
            </a:pPr>
            <a:r>
              <a:rPr lang="en-US" sz="4000" dirty="0">
                <a:solidFill>
                  <a:schemeClr val="bg1"/>
                </a:solidFill>
              </a:rPr>
              <a:t>  Uniform Distribution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1D46A9B-1155-8D49-BEB1-634240CD93B8}"/>
              </a:ext>
            </a:extLst>
          </p:cNvPr>
          <p:cNvSpPr/>
          <p:nvPr/>
        </p:nvSpPr>
        <p:spPr>
          <a:xfrm>
            <a:off x="-1" y="6503428"/>
            <a:ext cx="12188825" cy="354572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E0F6839-A334-EF27-6FB9-CAE99D60A7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1" y="6503428"/>
            <a:ext cx="2895600" cy="354572"/>
          </a:xfrm>
        </p:spPr>
        <p:txBody>
          <a:bodyPr/>
          <a:lstStyle/>
          <a:p>
            <a:pPr algn="l"/>
            <a:r>
              <a:rPr lang="en-US">
                <a:solidFill>
                  <a:schemeClr val="bg1"/>
                </a:solidFill>
                <a:latin typeface="Garamond" panose="02020404030301010803" pitchFamily="18" charset="0"/>
              </a:rPr>
              <a:t>BUSN 320 Business Statistics</a:t>
            </a:r>
            <a:endParaRPr lang="en-US" dirty="0">
              <a:solidFill>
                <a:schemeClr val="bg1"/>
              </a:solidFill>
              <a:latin typeface="Garamond" panose="02020404030301010803" pitchFamily="18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2FE0E72-6030-4564-6077-C6AFC0244C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55225" y="6503428"/>
            <a:ext cx="2133600" cy="354572"/>
          </a:xfrm>
        </p:spPr>
        <p:txBody>
          <a:bodyPr/>
          <a:lstStyle/>
          <a:p>
            <a:fld id="{C1FF6DA9-008F-8B48-92A6-B652298478BF}" type="slidenum">
              <a:rPr lang="en-US" b="1" smtClean="0">
                <a:solidFill>
                  <a:schemeClr val="bg1"/>
                </a:solidFill>
                <a:latin typeface="Garamond" panose="02020404030301010803" pitchFamily="18" charset="0"/>
              </a:rPr>
              <a:t>32</a:t>
            </a:fld>
            <a:r>
              <a:rPr lang="en-US" b="1" dirty="0">
                <a:solidFill>
                  <a:schemeClr val="bg1"/>
                </a:solidFill>
                <a:latin typeface="Garamond" panose="02020404030301010803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7433729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B82997-0D7D-622D-2112-483DEDC208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C4DAD0B5-D0C8-3CE6-9173-C31DD2CD1F60}"/>
              </a:ext>
            </a:extLst>
          </p:cNvPr>
          <p:cNvSpPr/>
          <p:nvPr/>
        </p:nvSpPr>
        <p:spPr>
          <a:xfrm>
            <a:off x="0" y="0"/>
            <a:ext cx="12188825" cy="923636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A2AC709-A4EC-6BB4-6360-F2614FD8E2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88825" cy="923636"/>
          </a:xfrm>
        </p:spPr>
        <p:txBody>
          <a:bodyPr>
            <a:normAutofit/>
          </a:bodyPr>
          <a:lstStyle/>
          <a:p>
            <a:pPr algn="l">
              <a:defRPr sz="4000" b="1">
                <a:solidFill>
                  <a:srgbClr val="FDB913"/>
                </a:solidFill>
                <a:latin typeface="Garamond"/>
              </a:defRPr>
            </a:pPr>
            <a:r>
              <a:rPr lang="en-US" sz="4000" dirty="0">
                <a:solidFill>
                  <a:schemeClr val="bg1"/>
                </a:solidFill>
              </a:rPr>
              <a:t>  Detour: The German Tank Problem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1179512-989F-1487-E94E-70269918B2C5}"/>
              </a:ext>
            </a:extLst>
          </p:cNvPr>
          <p:cNvSpPr/>
          <p:nvPr/>
        </p:nvSpPr>
        <p:spPr>
          <a:xfrm>
            <a:off x="-1" y="6503428"/>
            <a:ext cx="12188825" cy="354572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5E9C1C3-A5D3-1A87-006B-04F6AF3619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1" y="6503428"/>
            <a:ext cx="2895600" cy="354572"/>
          </a:xfrm>
        </p:spPr>
        <p:txBody>
          <a:bodyPr/>
          <a:lstStyle/>
          <a:p>
            <a:pPr algn="l"/>
            <a:r>
              <a:rPr lang="en-US">
                <a:solidFill>
                  <a:schemeClr val="bg1"/>
                </a:solidFill>
                <a:latin typeface="Garamond" panose="02020404030301010803" pitchFamily="18" charset="0"/>
              </a:rPr>
              <a:t>BUSN 320 Business Statistics</a:t>
            </a:r>
            <a:endParaRPr lang="en-US" dirty="0">
              <a:solidFill>
                <a:schemeClr val="bg1"/>
              </a:solidFill>
              <a:latin typeface="Garamond" panose="02020404030301010803" pitchFamily="18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D3BD8F3-DCE5-3E26-7B94-328F9A707C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55225" y="6503428"/>
            <a:ext cx="2133600" cy="354572"/>
          </a:xfrm>
        </p:spPr>
        <p:txBody>
          <a:bodyPr/>
          <a:lstStyle/>
          <a:p>
            <a:fld id="{C1FF6DA9-008F-8B48-92A6-B652298478BF}" type="slidenum">
              <a:rPr lang="en-US" b="1" smtClean="0">
                <a:solidFill>
                  <a:schemeClr val="bg1"/>
                </a:solidFill>
                <a:latin typeface="Garamond" panose="02020404030301010803" pitchFamily="18" charset="0"/>
              </a:rPr>
              <a:t>33</a:t>
            </a:fld>
            <a:r>
              <a:rPr lang="en-US" b="1" dirty="0">
                <a:solidFill>
                  <a:schemeClr val="bg1"/>
                </a:solidFill>
                <a:latin typeface="Garamond" panose="02020404030301010803" pitchFamily="18" charset="0"/>
              </a:rPr>
              <a:t> 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EFC77251-7F4D-F342-A57A-C88D446ACA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37467" y="1300900"/>
            <a:ext cx="8209587" cy="5081046"/>
          </a:xfrm>
        </p:spPr>
        <p:txBody>
          <a:bodyPr>
            <a:normAutofit/>
          </a:bodyPr>
          <a:lstStyle/>
          <a:p>
            <a:pPr>
              <a:spcBef>
                <a:spcPts val="1000"/>
              </a:spcBef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>
                <a:solidFill>
                  <a:srgbClr val="0070C0"/>
                </a:solidFill>
              </a:rPr>
              <a:t>During World War II, the Allied forces wanted to estimate how many tanks Germany was producing.</a:t>
            </a:r>
          </a:p>
          <a:p>
            <a:pPr lvl="3">
              <a:spcBef>
                <a:spcPts val="1000"/>
              </a:spcBef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1200" dirty="0">
              <a:solidFill>
                <a:srgbClr val="0070C0"/>
              </a:solidFill>
            </a:endParaRPr>
          </a:p>
          <a:p>
            <a:pPr>
              <a:spcBef>
                <a:spcPts val="1000"/>
              </a:spcBef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>
                <a:solidFill>
                  <a:srgbClr val="0070C0"/>
                </a:solidFill>
              </a:rPr>
              <a:t>Conventional military intelligence estimated that 1,550 tanks would have been produced in August 1942.</a:t>
            </a:r>
          </a:p>
          <a:p>
            <a:pPr lvl="3">
              <a:spcBef>
                <a:spcPts val="1000"/>
              </a:spcBef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1200" dirty="0">
              <a:solidFill>
                <a:srgbClr val="0070C0"/>
              </a:solidFill>
            </a:endParaRPr>
          </a:p>
          <a:p>
            <a:pPr>
              <a:spcBef>
                <a:spcPts val="1000"/>
              </a:spcBef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>
                <a:solidFill>
                  <a:srgbClr val="0070C0"/>
                </a:solidFill>
              </a:rPr>
              <a:t>Instead, statisticians examined the serial numbers on a small sample of captured German tanks and estimated that only 327 tanks would have been produced in August 1942.</a:t>
            </a:r>
          </a:p>
          <a:p>
            <a:pPr lvl="3">
              <a:spcBef>
                <a:spcPts val="1000"/>
              </a:spcBef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1200" dirty="0">
              <a:solidFill>
                <a:srgbClr val="0070C0"/>
              </a:solidFill>
            </a:endParaRPr>
          </a:p>
          <a:p>
            <a:pPr>
              <a:spcBef>
                <a:spcPts val="1000"/>
              </a:spcBef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>
                <a:solidFill>
                  <a:srgbClr val="0070C0"/>
                </a:solidFill>
              </a:rPr>
              <a:t>Post-war German production records showed that 342 tanks were actually produced in August 1942. </a:t>
            </a:r>
          </a:p>
        </p:txBody>
      </p:sp>
      <p:pic>
        <p:nvPicPr>
          <p:cNvPr id="12" name="Picture 11" descr="The image depicts a large, industrial assembly line in a factory setting, with workers busy at various stations, and several large vehicles being assembled or repaired.&#10;&#10;AI-generated content may be incorrect.">
            <a:extLst>
              <a:ext uri="{FF2B5EF4-FFF2-40B4-BE49-F238E27FC236}">
                <a16:creationId xmlns:a16="http://schemas.microsoft.com/office/drawing/2014/main" id="{3800E98A-100A-E092-D38F-76E32578DB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27532"/>
            <a:ext cx="2908935" cy="45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03786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DC196F-9420-685A-89BC-6CEBB39E9E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25E37F0-A409-7CD4-DE75-90EBF3E81C0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57199" y="1300900"/>
                <a:ext cx="11189855" cy="5081046"/>
              </a:xfrm>
            </p:spPr>
            <p:txBody>
              <a:bodyPr>
                <a:normAutofit/>
              </a:bodyPr>
              <a:lstStyle/>
              <a:p>
                <a:pPr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400" dirty="0">
                    <a:solidFill>
                      <a:srgbClr val="0070C0"/>
                    </a:solidFill>
                  </a:rPr>
                  <a:t>We assume that serial numbers begin at 1, with no missing numbers, and that each tank is equally likely to be captured, regardless of its serial number.</a:t>
                </a:r>
                <a:endParaRPr lang="en-US" altLang="zh-TW" sz="2000" dirty="0">
                  <a:solidFill>
                    <a:srgbClr val="0070C0"/>
                  </a:solidFill>
                </a:endParaRPr>
              </a:p>
              <a:p>
                <a:pPr lvl="4"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1200" dirty="0">
                  <a:solidFill>
                    <a:srgbClr val="0070C0"/>
                  </a:solidFill>
                </a:endParaRPr>
              </a:p>
              <a:p>
                <a:pPr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400" dirty="0">
                    <a:solidFill>
                      <a:srgbClr val="0070C0"/>
                    </a:solidFill>
                  </a:rPr>
                  <a:t>The problem then becomes estimating the unknown upper bound, </a:t>
                </a:r>
                <a14:m>
                  <m:oMath xmlns:m="http://schemas.openxmlformats.org/officeDocument/2006/math">
                    <m:r>
                      <a:rPr lang="en-US" altLang="zh-TW" sz="24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en-US" altLang="zh-TW" sz="2400" dirty="0">
                    <a:solidFill>
                      <a:srgbClr val="0070C0"/>
                    </a:solidFill>
                  </a:rPr>
                  <a:t>, where:</a:t>
                </a:r>
              </a:p>
              <a:p>
                <a:pPr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500" dirty="0">
                  <a:solidFill>
                    <a:srgbClr val="0070C0"/>
                  </a:solidFill>
                </a:endParaRPr>
              </a:p>
              <a:p>
                <a:pPr marL="0" indent="0">
                  <a:spcBef>
                    <a:spcPts val="1000"/>
                  </a:spcBef>
                  <a:buNone/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14:m>
                  <m:oMathPara xmlns:m="http://schemas.openxmlformats.org/officeDocument/2006/math">
                    <m:oMath>
                      <m:r>
                        <m:rPr>
                          <m:nor/>
                        </m:rPr>
                        <a:rPr lang="en-US" altLang="zh-TW" sz="2400" i="0" dirty="0">
                          <a:solidFill>
                            <a:srgbClr val="0070C0"/>
                          </a:solidFill>
                          <a:latin typeface="Rockwell" panose="02060603020205020403" pitchFamily="18" charset="0"/>
                        </a:rPr>
                        <m:t>X</m:t>
                      </m:r>
                      <m:r>
                        <m:rPr>
                          <m:nor/>
                        </m:rPr>
                        <a:rPr lang="en-US" altLang="zh-TW" sz="2400" b="0" i="0" dirty="0" smtClean="0">
                          <a:solidFill>
                            <a:srgbClr val="0070C0"/>
                          </a:solidFill>
                          <a:latin typeface="Rockwell" panose="02060603020205020403" pitchFamily="18" charset="0"/>
                        </a:rPr>
                        <m:t> </m:t>
                      </m:r>
                      <m:r>
                        <a:rPr lang="en-US" altLang="zh-TW" sz="2400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~ </m:t>
                      </m:r>
                      <m:r>
                        <a:rPr lang="en-US" altLang="zh-TW" sz="2400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𝑈</m:t>
                      </m:r>
                      <m:d>
                        <m:dPr>
                          <m:ctrlPr>
                            <a:rPr lang="en-US" altLang="zh-TW" sz="24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4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1,</m:t>
                          </m:r>
                          <m:r>
                            <a:rPr lang="en-US" altLang="zh-TW" sz="24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d>
                    </m:oMath>
                  </m:oMathPara>
                </a14:m>
                <a:endParaRPr lang="en-US" altLang="zh-TW" sz="2400" dirty="0">
                  <a:solidFill>
                    <a:srgbClr val="0070C0"/>
                  </a:solidFill>
                </a:endParaRPr>
              </a:p>
              <a:p>
                <a:pPr lvl="3"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1200" dirty="0">
                  <a:solidFill>
                    <a:srgbClr val="0070C0"/>
                  </a:solidFill>
                </a:endParaRPr>
              </a:p>
              <a:p>
                <a:pPr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400" dirty="0">
                    <a:solidFill>
                      <a:srgbClr val="0070C0"/>
                    </a:solidFill>
                  </a:rPr>
                  <a:t>The uniformly minimum variance unbiased estimator (UMVUE) of </a:t>
                </a:r>
                <a14:m>
                  <m:oMath xmlns:m="http://schemas.openxmlformats.org/officeDocument/2006/math">
                    <m:r>
                      <a:rPr lang="en-US" altLang="zh-TW" sz="2400" i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en-US" altLang="zh-TW" sz="2400" dirty="0">
                    <a:solidFill>
                      <a:srgbClr val="0070C0"/>
                    </a:solidFill>
                  </a:rPr>
                  <a:t> is:</a:t>
                </a:r>
              </a:p>
              <a:p>
                <a:pPr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500" dirty="0">
                  <a:solidFill>
                    <a:srgbClr val="0070C0"/>
                  </a:solidFill>
                </a:endParaRPr>
              </a:p>
              <a:p>
                <a:pPr marL="0" indent="0">
                  <a:spcBef>
                    <a:spcPts val="1000"/>
                  </a:spcBef>
                  <a:buNone/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14:m>
                  <m:oMathPara xmlns:m="http://schemas.openxmlformats.org/officeDocument/2006/math">
                    <m:oMath>
                      <m:acc>
                        <m:accPr>
                          <m:chr m:val="̂"/>
                          <m:ctrlPr>
                            <a:rPr lang="en-US" altLang="zh-TW" sz="24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TW" sz="24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acc>
                      <m:r>
                        <a:rPr lang="en-US" altLang="zh-TW" sz="2400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 = </m:t>
                      </m:r>
                      <m:sSub>
                        <m:sSubPr>
                          <m:ctrlPr>
                            <a:rPr lang="en-US" altLang="zh-TW" sz="2400" i="0" dirty="0">
                              <a:solidFill>
                                <a:srgbClr val="0070C0"/>
                              </a:solidFill>
                              <a:latin typeface="Rockwell" panose="02060603020205020403" pitchFamily="18" charset="0"/>
                            </a:rPr>
                          </m:ctrlPr>
                        </m:sSubPr>
                        <m:e>
                          <m:r>
                            <m:rPr>
                              <m:nor/>
                            </m:rPr>
                            <a:rPr lang="en-US" altLang="zh-TW" sz="2400" i="0" dirty="0">
                              <a:solidFill>
                                <a:srgbClr val="0070C0"/>
                              </a:solidFill>
                              <a:latin typeface="Rockwell" panose="02060603020205020403" pitchFamily="18" charset="0"/>
                            </a:rPr>
                            <m:t>x</m:t>
                          </m:r>
                        </m:e>
                        <m:sub>
                          <m:r>
                            <a:rPr lang="en-US" altLang="zh-TW" sz="2400" b="0" i="1" dirty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  <m:r>
                        <a:rPr lang="en-US" altLang="zh-TW" sz="2400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altLang="zh-TW" sz="2400" i="1" dirty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zh-TW" sz="2400" i="0" dirty="0">
                                  <a:solidFill>
                                    <a:srgbClr val="0070C0"/>
                                  </a:solidFill>
                                  <a:latin typeface="Rockwell" panose="02060603020205020403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nor/>
                                </m:rPr>
                                <a:rPr lang="en-US" altLang="zh-TW" sz="2400" i="0" dirty="0">
                                  <a:solidFill>
                                    <a:srgbClr val="0070C0"/>
                                  </a:solidFill>
                                  <a:latin typeface="Rockwell" panose="02060603020205020403" pitchFamily="18" charset="0"/>
                                </a:rPr>
                                <m:t>x</m:t>
                              </m:r>
                            </m:e>
                            <m:sub>
                              <m:r>
                                <a:rPr lang="en-US" altLang="zh-TW" sz="2400" i="1" dirty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b>
                          </m:sSub>
                        </m:num>
                        <m:den>
                          <m:r>
                            <a:rPr lang="en-US" altLang="zh-TW" sz="24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r>
                        <a:rPr lang="en-US" altLang="zh-TW" sz="2400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−1</m:t>
                      </m:r>
                    </m:oMath>
                  </m:oMathPara>
                </a14:m>
                <a:endParaRPr lang="en-US" altLang="zh-TW" sz="2400" dirty="0">
                  <a:solidFill>
                    <a:srgbClr val="0070C0"/>
                  </a:solidFill>
                </a:endParaRPr>
              </a:p>
              <a:p>
                <a:pPr lvl="1"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100" i="1" dirty="0">
                  <a:solidFill>
                    <a:srgbClr val="0070C0"/>
                  </a:solidFill>
                  <a:latin typeface="Cambria Math" panose="02040503050406030204" pitchFamily="18" charset="0"/>
                </a:endParaRPr>
              </a:p>
              <a:p>
                <a:pPr lvl="1"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000" i="0" dirty="0">
                            <a:solidFill>
                              <a:srgbClr val="0070C0"/>
                            </a:solidFill>
                            <a:latin typeface="Rockwell" panose="02060603020205020403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US" altLang="zh-TW" sz="2000" i="0" dirty="0">
                            <a:solidFill>
                              <a:srgbClr val="0070C0"/>
                            </a:solidFill>
                            <a:latin typeface="Rockwell" panose="02060603020205020403" pitchFamily="18" charset="0"/>
                          </a:rPr>
                          <m:t>x</m:t>
                        </m:r>
                      </m:e>
                      <m:sub>
                        <m:r>
                          <a:rPr lang="en-US" altLang="zh-TW" sz="2000" i="1" dirty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</m:oMath>
                </a14:m>
                <a:r>
                  <a:rPr lang="en-US" altLang="zh-TW" sz="2000" dirty="0">
                    <a:solidFill>
                      <a:srgbClr val="0070C0"/>
                    </a:solidFill>
                  </a:rPr>
                  <a:t> is the largest serial number observed in the sample.</a:t>
                </a:r>
              </a:p>
              <a:p>
                <a:pPr lvl="1"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14:m>
                  <m:oMath xmlns:m="http://schemas.openxmlformats.org/officeDocument/2006/math">
                    <m:r>
                      <a:rPr lang="en-US" altLang="zh-TW" sz="2000" i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altLang="zh-TW" sz="2000" dirty="0">
                    <a:solidFill>
                      <a:srgbClr val="0070C0"/>
                    </a:solidFill>
                  </a:rPr>
                  <a:t> is the sample size.</a:t>
                </a:r>
                <a:endParaRPr lang="en-US" altLang="zh-TW" sz="2000" dirty="0">
                  <a:solidFill>
                    <a:srgbClr val="00B0F0"/>
                  </a:solidFill>
                </a:endParaRP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25E37F0-A409-7CD4-DE75-90EBF3E81C0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199" y="1300900"/>
                <a:ext cx="11189855" cy="5081046"/>
              </a:xfrm>
              <a:blipFill>
                <a:blip r:embed="rId2"/>
                <a:stretch>
                  <a:fillRect l="-708" t="-959" r="-2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8268FBC9-A96C-232E-0A7B-E6CCD0BF7D95}"/>
              </a:ext>
            </a:extLst>
          </p:cNvPr>
          <p:cNvSpPr/>
          <p:nvPr/>
        </p:nvSpPr>
        <p:spPr>
          <a:xfrm>
            <a:off x="0" y="0"/>
            <a:ext cx="12188825" cy="923636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1941A6C-F638-7BF4-5117-385C9CAC5B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88825" cy="923636"/>
          </a:xfrm>
        </p:spPr>
        <p:txBody>
          <a:bodyPr>
            <a:normAutofit/>
          </a:bodyPr>
          <a:lstStyle/>
          <a:p>
            <a:pPr algn="l">
              <a:defRPr sz="4000" b="1">
                <a:solidFill>
                  <a:srgbClr val="FDB913"/>
                </a:solidFill>
                <a:latin typeface="Garamond"/>
              </a:defRPr>
            </a:pPr>
            <a:r>
              <a:rPr lang="en-US" sz="4000" dirty="0">
                <a:solidFill>
                  <a:schemeClr val="bg1"/>
                </a:solidFill>
              </a:rPr>
              <a:t>  Detour: The German Tank Problem (with Math)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3A3B1B7-8FBA-C0C7-A92A-F490D56AF264}"/>
              </a:ext>
            </a:extLst>
          </p:cNvPr>
          <p:cNvSpPr/>
          <p:nvPr/>
        </p:nvSpPr>
        <p:spPr>
          <a:xfrm>
            <a:off x="-1" y="6503428"/>
            <a:ext cx="12188825" cy="354572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A3B42FC-490E-E83C-1E91-D016851ABE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1" y="6503428"/>
            <a:ext cx="2895600" cy="354572"/>
          </a:xfrm>
        </p:spPr>
        <p:txBody>
          <a:bodyPr/>
          <a:lstStyle/>
          <a:p>
            <a:pPr algn="l"/>
            <a:r>
              <a:rPr lang="en-US">
                <a:solidFill>
                  <a:schemeClr val="bg1"/>
                </a:solidFill>
                <a:latin typeface="Garamond" panose="02020404030301010803" pitchFamily="18" charset="0"/>
              </a:rPr>
              <a:t>BUSN 320 Business Statistics</a:t>
            </a:r>
            <a:endParaRPr lang="en-US" dirty="0">
              <a:solidFill>
                <a:schemeClr val="bg1"/>
              </a:solidFill>
              <a:latin typeface="Garamond" panose="02020404030301010803" pitchFamily="18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221AC69-D521-0693-A1FE-F55A7D7706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55225" y="6503428"/>
            <a:ext cx="2133600" cy="354572"/>
          </a:xfrm>
        </p:spPr>
        <p:txBody>
          <a:bodyPr/>
          <a:lstStyle/>
          <a:p>
            <a:fld id="{C1FF6DA9-008F-8B48-92A6-B652298478BF}" type="slidenum">
              <a:rPr lang="en-US" b="1" smtClean="0">
                <a:solidFill>
                  <a:schemeClr val="bg1"/>
                </a:solidFill>
                <a:latin typeface="Garamond" panose="02020404030301010803" pitchFamily="18" charset="0"/>
              </a:rPr>
              <a:t>34</a:t>
            </a:fld>
            <a:r>
              <a:rPr lang="en-US" b="1" dirty="0">
                <a:solidFill>
                  <a:schemeClr val="bg1"/>
                </a:solidFill>
                <a:latin typeface="Garamond" panose="02020404030301010803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606482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1ECF12-89DD-9AFD-B483-3BA5B36B50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E142431-AB6C-2ADC-0209-A5886F421DD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57199" y="1300900"/>
                <a:ext cx="11192934" cy="5081046"/>
              </a:xfrm>
            </p:spPr>
            <p:txBody>
              <a:bodyPr>
                <a:normAutofit/>
              </a:bodyPr>
              <a:lstStyle/>
              <a:p>
                <a:pPr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400" dirty="0">
                    <a:solidFill>
                      <a:srgbClr val="000000"/>
                    </a:solidFill>
                  </a:rPr>
                  <a:t>A </a:t>
                </a:r>
                <a:r>
                  <a:rPr lang="en-US" altLang="zh-TW" sz="2400" b="1" dirty="0">
                    <a:solidFill>
                      <a:srgbClr val="000000"/>
                    </a:solidFill>
                  </a:rPr>
                  <a:t>Bernoulli trial</a:t>
                </a:r>
                <a:r>
                  <a:rPr lang="en-US" altLang="zh-TW" sz="2400" dirty="0">
                    <a:solidFill>
                      <a:srgbClr val="000000"/>
                    </a:solidFill>
                  </a:rPr>
                  <a:t> is an experiment with exactly two possible outcomes, called success and failure. The probability of success is </a:t>
                </a:r>
                <a14:m>
                  <m:oMath xmlns:m="http://schemas.openxmlformats.org/officeDocument/2006/math">
                    <m:r>
                      <a:rPr lang="en-US" altLang="zh-TW" sz="2400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altLang="zh-TW" sz="2400" dirty="0">
                    <a:solidFill>
                      <a:srgbClr val="000000"/>
                    </a:solidFill>
                  </a:rPr>
                  <a:t>, and the probability of failure is </a:t>
                </a:r>
                <a14:m>
                  <m:oMath xmlns:m="http://schemas.openxmlformats.org/officeDocument/2006/math">
                    <m:r>
                      <a:rPr lang="en-US" altLang="zh-TW" sz="2400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1−</m:t>
                    </m:r>
                    <m:r>
                      <a:rPr lang="en-US" altLang="zh-TW" sz="2400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altLang="zh-TW" sz="2400" dirty="0">
                    <a:solidFill>
                      <a:srgbClr val="000000"/>
                    </a:solidFill>
                  </a:rPr>
                  <a:t>.</a:t>
                </a:r>
              </a:p>
              <a:p>
                <a:pPr lvl="1"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000" dirty="0">
                    <a:solidFill>
                      <a:srgbClr val="000000"/>
                    </a:solidFill>
                  </a:rPr>
                  <a:t>e.g., Tossing a fair coin and observing tails.</a:t>
                </a:r>
                <a:endParaRPr lang="en-US" altLang="zh-TW" sz="2400" dirty="0">
                  <a:solidFill>
                    <a:srgbClr val="000000"/>
                  </a:solidFill>
                </a:endParaRPr>
              </a:p>
              <a:p>
                <a:pPr marL="1371600" lvl="3" indent="0">
                  <a:spcBef>
                    <a:spcPts val="1000"/>
                  </a:spcBef>
                  <a:buNone/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1200" dirty="0">
                  <a:solidFill>
                    <a:srgbClr val="000000"/>
                  </a:solidFill>
                </a:endParaRPr>
              </a:p>
              <a:p>
                <a:pPr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400" dirty="0">
                    <a:solidFill>
                      <a:srgbClr val="000000"/>
                    </a:solidFill>
                  </a:rPr>
                  <a:t>The </a:t>
                </a:r>
                <a:r>
                  <a:rPr lang="en-US" altLang="zh-TW" sz="2400" b="1" dirty="0">
                    <a:solidFill>
                      <a:srgbClr val="000000"/>
                    </a:solidFill>
                  </a:rPr>
                  <a:t>binomial probability distribution</a:t>
                </a:r>
                <a:r>
                  <a:rPr lang="en-US" altLang="zh-TW" sz="2400" dirty="0">
                    <a:solidFill>
                      <a:srgbClr val="000000"/>
                    </a:solidFill>
                  </a:rPr>
                  <a:t> describes the probability of observing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2400" i="0" dirty="0">
                        <a:latin typeface="Rockwell" panose="02060603020205020403" pitchFamily="18" charset="0"/>
                      </a:rPr>
                      <m:t>x</m:t>
                    </m:r>
                  </m:oMath>
                </a14:m>
                <a:r>
                  <a:rPr lang="en-US" altLang="zh-TW" sz="2400" dirty="0">
                    <a:solidFill>
                      <a:srgbClr val="000000"/>
                    </a:solidFill>
                  </a:rPr>
                  <a:t> successes in </a:t>
                </a:r>
                <a14:m>
                  <m:oMath xmlns:m="http://schemas.openxmlformats.org/officeDocument/2006/math">
                    <m:r>
                      <a:rPr lang="en-US" altLang="zh-TW" sz="2400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altLang="zh-TW" sz="2400" dirty="0">
                    <a:solidFill>
                      <a:srgbClr val="000000"/>
                    </a:solidFill>
                  </a:rPr>
                  <a:t> independent Bernoulli trials, where each trial has the same probability of success </a:t>
                </a:r>
                <a14:m>
                  <m:oMath xmlns:m="http://schemas.openxmlformats.org/officeDocument/2006/math">
                    <m:r>
                      <a:rPr lang="en-US" altLang="zh-TW" sz="2400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altLang="zh-TW" sz="2400" dirty="0">
                    <a:solidFill>
                      <a:srgbClr val="000000"/>
                    </a:solidFill>
                  </a:rPr>
                  <a:t>.</a:t>
                </a:r>
              </a:p>
              <a:p>
                <a:pPr lvl="1"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000" dirty="0">
                    <a:solidFill>
                      <a:srgbClr val="000000"/>
                    </a:solidFill>
                  </a:rPr>
                  <a:t>e.g., Tossing a fair coin 5 times, and counting the number of tails.</a:t>
                </a:r>
              </a:p>
              <a:p>
                <a:pPr marL="1371600" lvl="3" indent="0">
                  <a:spcBef>
                    <a:spcPts val="1000"/>
                  </a:spcBef>
                  <a:buNone/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1200" dirty="0">
                  <a:solidFill>
                    <a:srgbClr val="000000"/>
                  </a:solidFill>
                </a:endParaRPr>
              </a:p>
              <a:p>
                <a:pPr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400" dirty="0">
                    <a:solidFill>
                      <a:srgbClr val="000000"/>
                    </a:solidFill>
                  </a:rPr>
                  <a:t>If a discrete random variable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altLang="zh-TW" sz="2400" i="0" dirty="0">
                        <a:latin typeface="Rockwell" panose="02060603020205020403" pitchFamily="18" charset="0"/>
                      </a:rPr>
                      <m:t>X</m:t>
                    </m:r>
                  </m:oMath>
                </a14:m>
                <a:r>
                  <a:rPr lang="en-US" altLang="zh-TW" sz="2400" dirty="0">
                    <a:solidFill>
                      <a:srgbClr val="000000"/>
                    </a:solidFill>
                  </a:rPr>
                  <a:t> follows a binomial distribution, with </a:t>
                </a:r>
                <a14:m>
                  <m:oMath xmlns:m="http://schemas.openxmlformats.org/officeDocument/2006/math">
                    <m:r>
                      <a:rPr lang="en-US" altLang="zh-TW" sz="2400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altLang="zh-TW" sz="2400" dirty="0">
                    <a:solidFill>
                      <a:srgbClr val="000000"/>
                    </a:solidFill>
                  </a:rPr>
                  <a:t> independent Bernoulli trials and the probability of success </a:t>
                </a:r>
                <a14:m>
                  <m:oMath xmlns:m="http://schemas.openxmlformats.org/officeDocument/2006/math">
                    <m:r>
                      <a:rPr lang="en-US" altLang="zh-TW" sz="2400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altLang="zh-TW" sz="2400" dirty="0">
                    <a:solidFill>
                      <a:srgbClr val="000000"/>
                    </a:solidFill>
                  </a:rPr>
                  <a:t>, we write:</a:t>
                </a:r>
              </a:p>
              <a:p>
                <a:pPr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500" dirty="0">
                  <a:solidFill>
                    <a:srgbClr val="000000"/>
                  </a:solidFill>
                </a:endParaRPr>
              </a:p>
              <a:p>
                <a:pPr marL="0" indent="0">
                  <a:spcBef>
                    <a:spcPts val="1000"/>
                  </a:spcBef>
                  <a:buNone/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14:m>
                  <m:oMathPara xmlns:m="http://schemas.openxmlformats.org/officeDocument/2006/math">
                    <m:oMath>
                      <m:r>
                        <m:rPr>
                          <m:nor/>
                        </m:rPr>
                        <a:rPr lang="en-US" altLang="zh-TW" sz="2400" i="0" dirty="0">
                          <a:latin typeface="Rockwell" panose="02060603020205020403" pitchFamily="18" charset="0"/>
                        </a:rPr>
                        <m:t>X</m:t>
                      </m:r>
                      <m:r>
                        <a:rPr lang="en-US" altLang="zh-TW" sz="2400" i="1" dirty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TW" sz="2400" i="1">
                          <a:latin typeface="Cambria Math" panose="02040503050406030204" pitchFamily="18" charset="0"/>
                        </a:rPr>
                        <m:t>~ 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𝐵𝑖𝑛</m:t>
                      </m:r>
                      <m:d>
                        <m:dPr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</m:d>
                    </m:oMath>
                  </m:oMathPara>
                </a14:m>
                <a:endParaRPr lang="en-US" altLang="zh-TW" sz="2400" dirty="0"/>
              </a:p>
              <a:p>
                <a:pPr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2400" dirty="0">
                  <a:solidFill>
                    <a:srgbClr val="000000"/>
                  </a:solidFill>
                </a:endParaRPr>
              </a:p>
              <a:p>
                <a:pPr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2400" dirty="0">
                  <a:solidFill>
                    <a:srgbClr val="000000"/>
                  </a:solidFill>
                </a:endParaRPr>
              </a:p>
              <a:p>
                <a:pPr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2400" dirty="0">
                  <a:solidFill>
                    <a:srgbClr val="000000"/>
                  </a:solidFill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E142431-AB6C-2ADC-0209-A5886F421DD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199" y="1300900"/>
                <a:ext cx="11192934" cy="5081046"/>
              </a:xfrm>
              <a:blipFill>
                <a:blip r:embed="rId2"/>
                <a:stretch>
                  <a:fillRect l="-708" t="-959" r="-8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0786AFB7-1BA2-360F-9DDC-20F1D9725D27}"/>
              </a:ext>
            </a:extLst>
          </p:cNvPr>
          <p:cNvSpPr/>
          <p:nvPr/>
        </p:nvSpPr>
        <p:spPr>
          <a:xfrm>
            <a:off x="0" y="0"/>
            <a:ext cx="12188825" cy="923636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5E54D1E-10D9-CC1E-2775-107A59B2CB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88825" cy="923636"/>
          </a:xfrm>
        </p:spPr>
        <p:txBody>
          <a:bodyPr>
            <a:normAutofit/>
          </a:bodyPr>
          <a:lstStyle/>
          <a:p>
            <a:pPr algn="l">
              <a:defRPr sz="4000" b="1">
                <a:solidFill>
                  <a:srgbClr val="FDB913"/>
                </a:solidFill>
                <a:latin typeface="Garamond"/>
              </a:defRPr>
            </a:pPr>
            <a:r>
              <a:rPr lang="en-US" sz="4000" dirty="0">
                <a:solidFill>
                  <a:schemeClr val="bg1"/>
                </a:solidFill>
              </a:rPr>
              <a:t>  Bernoulli Trials and the Binomial Distribution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CB6993C-681E-21EA-6B13-65F67C908AF2}"/>
              </a:ext>
            </a:extLst>
          </p:cNvPr>
          <p:cNvSpPr/>
          <p:nvPr/>
        </p:nvSpPr>
        <p:spPr>
          <a:xfrm>
            <a:off x="-1" y="6503428"/>
            <a:ext cx="12188825" cy="354572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4E9888D-0D53-E0EF-B029-6A2C173E55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1" y="6503428"/>
            <a:ext cx="2895600" cy="354572"/>
          </a:xfrm>
        </p:spPr>
        <p:txBody>
          <a:bodyPr/>
          <a:lstStyle/>
          <a:p>
            <a:pPr algn="l"/>
            <a:r>
              <a:rPr lang="en-US">
                <a:solidFill>
                  <a:schemeClr val="bg1"/>
                </a:solidFill>
                <a:latin typeface="Garamond" panose="02020404030301010803" pitchFamily="18" charset="0"/>
              </a:rPr>
              <a:t>BUSN 320 Business Statistics</a:t>
            </a:r>
            <a:endParaRPr lang="en-US" dirty="0">
              <a:solidFill>
                <a:schemeClr val="bg1"/>
              </a:solidFill>
              <a:latin typeface="Garamond" panose="02020404030301010803" pitchFamily="18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EE617A3-D7F6-9885-1272-4F0A4C3063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55225" y="6503428"/>
            <a:ext cx="2133600" cy="354572"/>
          </a:xfrm>
        </p:spPr>
        <p:txBody>
          <a:bodyPr/>
          <a:lstStyle/>
          <a:p>
            <a:fld id="{C1FF6DA9-008F-8B48-92A6-B652298478BF}" type="slidenum">
              <a:rPr lang="en-US" b="1" smtClean="0">
                <a:solidFill>
                  <a:schemeClr val="bg1"/>
                </a:solidFill>
                <a:latin typeface="Garamond" panose="02020404030301010803" pitchFamily="18" charset="0"/>
              </a:rPr>
              <a:t>35</a:t>
            </a:fld>
            <a:r>
              <a:rPr lang="en-US" b="1" dirty="0">
                <a:solidFill>
                  <a:schemeClr val="bg1"/>
                </a:solidFill>
                <a:latin typeface="Garamond" panose="02020404030301010803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9425908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5E6F4D-86A0-84B0-AB95-EA9205FD12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6E161A56-BBED-D610-8223-B6FF6F6E2583}"/>
              </a:ext>
            </a:extLst>
          </p:cNvPr>
          <p:cNvSpPr/>
          <p:nvPr/>
        </p:nvSpPr>
        <p:spPr>
          <a:xfrm>
            <a:off x="0" y="0"/>
            <a:ext cx="12188825" cy="923636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7AACDE6-DF7C-5A28-D109-E0251AD99F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88825" cy="923636"/>
          </a:xfrm>
        </p:spPr>
        <p:txBody>
          <a:bodyPr>
            <a:normAutofit/>
          </a:bodyPr>
          <a:lstStyle/>
          <a:p>
            <a:pPr algn="l">
              <a:defRPr sz="4000" b="1">
                <a:solidFill>
                  <a:srgbClr val="FDB913"/>
                </a:solidFill>
                <a:latin typeface="Garamond"/>
              </a:defRPr>
            </a:pPr>
            <a:r>
              <a:rPr lang="en-US" sz="4000" dirty="0">
                <a:solidFill>
                  <a:schemeClr val="bg1"/>
                </a:solidFill>
              </a:rPr>
              <a:t>  Detour: Bernoulli’s Insurance Problem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153A373-D0C0-C9D8-6A5A-F22139110446}"/>
              </a:ext>
            </a:extLst>
          </p:cNvPr>
          <p:cNvSpPr/>
          <p:nvPr/>
        </p:nvSpPr>
        <p:spPr>
          <a:xfrm>
            <a:off x="-1" y="6503428"/>
            <a:ext cx="12188825" cy="354572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F4085B-66BC-B420-3817-F42EEC3C61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1" y="6503428"/>
            <a:ext cx="2895600" cy="354572"/>
          </a:xfrm>
        </p:spPr>
        <p:txBody>
          <a:bodyPr/>
          <a:lstStyle/>
          <a:p>
            <a:pPr algn="l"/>
            <a:r>
              <a:rPr lang="en-US">
                <a:solidFill>
                  <a:schemeClr val="bg1"/>
                </a:solidFill>
                <a:latin typeface="Garamond" panose="02020404030301010803" pitchFamily="18" charset="0"/>
              </a:rPr>
              <a:t>BUSN 320 Business Statistics</a:t>
            </a:r>
            <a:endParaRPr lang="en-US" dirty="0">
              <a:solidFill>
                <a:schemeClr val="bg1"/>
              </a:solidFill>
              <a:latin typeface="Garamond" panose="02020404030301010803" pitchFamily="18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855FA5B-0822-CD01-8780-F8C5FDC727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55225" y="6503428"/>
            <a:ext cx="2133600" cy="354572"/>
          </a:xfrm>
        </p:spPr>
        <p:txBody>
          <a:bodyPr/>
          <a:lstStyle/>
          <a:p>
            <a:fld id="{C1FF6DA9-008F-8B48-92A6-B652298478BF}" type="slidenum">
              <a:rPr lang="en-US" b="1" smtClean="0">
                <a:solidFill>
                  <a:schemeClr val="bg1"/>
                </a:solidFill>
                <a:latin typeface="Garamond" panose="02020404030301010803" pitchFamily="18" charset="0"/>
              </a:rPr>
              <a:t>36</a:t>
            </a:fld>
            <a:r>
              <a:rPr lang="en-US" b="1" dirty="0">
                <a:solidFill>
                  <a:schemeClr val="bg1"/>
                </a:solidFill>
                <a:latin typeface="Garamond" panose="02020404030301010803" pitchFamily="18" charset="0"/>
              </a:rPr>
              <a:t> 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1DEDBAAB-3800-2E44-2C6B-4493B37DC2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1533" y="1300900"/>
            <a:ext cx="7845521" cy="5081046"/>
          </a:xfrm>
        </p:spPr>
        <p:txBody>
          <a:bodyPr>
            <a:normAutofit/>
          </a:bodyPr>
          <a:lstStyle/>
          <a:p>
            <a:pPr>
              <a:spcBef>
                <a:spcPts val="1000"/>
              </a:spcBef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>
                <a:solidFill>
                  <a:srgbClr val="0070C0"/>
                </a:solidFill>
              </a:rPr>
              <a:t>During the 1700s, merchants faced an important question:</a:t>
            </a:r>
          </a:p>
          <a:p>
            <a:pPr lvl="1">
              <a:spcBef>
                <a:spcPts val="1000"/>
              </a:spcBef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000" dirty="0">
                <a:solidFill>
                  <a:srgbClr val="0070C0"/>
                </a:solidFill>
              </a:rPr>
              <a:t>Should they purchase insurance before sending cargo overseas?</a:t>
            </a:r>
          </a:p>
          <a:p>
            <a:pPr lvl="1">
              <a:spcBef>
                <a:spcPts val="1000"/>
              </a:spcBef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000" dirty="0">
                <a:solidFill>
                  <a:srgbClr val="0070C0"/>
                </a:solidFill>
              </a:rPr>
              <a:t>Most voyages were successful, but some resulted in complete losses.</a:t>
            </a:r>
            <a:endParaRPr lang="en-US" altLang="zh-TW" sz="1200" dirty="0">
              <a:solidFill>
                <a:srgbClr val="0070C0"/>
              </a:solidFill>
            </a:endParaRPr>
          </a:p>
          <a:p>
            <a:pPr lvl="3">
              <a:spcBef>
                <a:spcPts val="1000"/>
              </a:spcBef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1200" dirty="0">
              <a:solidFill>
                <a:srgbClr val="0070C0"/>
              </a:solidFill>
            </a:endParaRPr>
          </a:p>
          <a:p>
            <a:pPr>
              <a:spcBef>
                <a:spcPts val="1000"/>
              </a:spcBef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>
                <a:solidFill>
                  <a:srgbClr val="0070C0"/>
                </a:solidFill>
              </a:rPr>
              <a:t>Each voyage can be viewed as a Bernoulli trial:</a:t>
            </a:r>
          </a:p>
          <a:p>
            <a:pPr lvl="1">
              <a:spcBef>
                <a:spcPts val="1000"/>
              </a:spcBef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000" dirty="0">
                <a:solidFill>
                  <a:srgbClr val="0070C0"/>
                </a:solidFill>
              </a:rPr>
              <a:t>Success: The ship returns safely from its trade mission.</a:t>
            </a:r>
          </a:p>
          <a:p>
            <a:pPr lvl="1">
              <a:spcBef>
                <a:spcPts val="1000"/>
              </a:spcBef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000" dirty="0">
                <a:solidFill>
                  <a:srgbClr val="0070C0"/>
                </a:solidFill>
              </a:rPr>
              <a:t>Failure: The ship and cargo is lost.</a:t>
            </a:r>
          </a:p>
          <a:p>
            <a:pPr lvl="4">
              <a:spcBef>
                <a:spcPts val="1000"/>
              </a:spcBef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1200" dirty="0">
              <a:solidFill>
                <a:srgbClr val="0070C0"/>
              </a:solidFill>
            </a:endParaRPr>
          </a:p>
          <a:p>
            <a:pPr>
              <a:spcBef>
                <a:spcPts val="1000"/>
              </a:spcBef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>
                <a:solidFill>
                  <a:srgbClr val="0070C0"/>
                </a:solidFill>
              </a:rPr>
              <a:t>If each voyage is independent and has the same probability of loss, the binomial distribution can be used to predict how many ships are lost over many voyages.</a:t>
            </a:r>
          </a:p>
        </p:txBody>
      </p:sp>
      <p:pic>
        <p:nvPicPr>
          <p:cNvPr id="3" name="Picture 2" descr="The image is a vintage page featuring an excerpt from a publication by Jacques de Brescia, including works on mathematical conjectures, a treatise on infinite series, and a Latin epistle by Ludovico Pico.&#10;&#10;AI-generated content may be incorrect.">
            <a:extLst>
              <a:ext uri="{FF2B5EF4-FFF2-40B4-BE49-F238E27FC236}">
                <a16:creationId xmlns:a16="http://schemas.microsoft.com/office/drawing/2014/main" id="{44131849-8DF1-ABAC-B34C-0B0A90646E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27532"/>
            <a:ext cx="3274865" cy="45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07624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53362B-1DD8-8C3E-B9B6-68DA41BB19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13962D5-EF26-0D33-5CD6-381D7C8564F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57199" y="1300900"/>
                <a:ext cx="11189855" cy="5081046"/>
              </a:xfrm>
            </p:spPr>
            <p:txBody>
              <a:bodyPr>
                <a:normAutofit/>
              </a:bodyPr>
              <a:lstStyle/>
              <a:p>
                <a:pPr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400" dirty="0">
                    <a:solidFill>
                      <a:srgbClr val="000000"/>
                    </a:solidFill>
                  </a:rPr>
                  <a:t>The </a:t>
                </a:r>
                <a:r>
                  <a:rPr lang="en-US" altLang="zh-TW" sz="2400" b="1" dirty="0">
                    <a:solidFill>
                      <a:srgbClr val="000000"/>
                    </a:solidFill>
                  </a:rPr>
                  <a:t>Poisson probability distribution</a:t>
                </a:r>
                <a:r>
                  <a:rPr lang="en-US" altLang="zh-TW" sz="2400" dirty="0">
                    <a:solidFill>
                      <a:srgbClr val="000000"/>
                    </a:solidFill>
                  </a:rPr>
                  <a:t> gives the probability of observing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2400" b="0" i="0" dirty="0" smtClean="0">
                        <a:latin typeface="Rockwell" panose="02060603020205020403" pitchFamily="18" charset="0"/>
                      </a:rPr>
                      <m:t>k</m:t>
                    </m:r>
                  </m:oMath>
                </a14:m>
                <a:r>
                  <a:rPr lang="en-US" altLang="zh-TW" sz="2400" dirty="0">
                    <a:solidFill>
                      <a:srgbClr val="000000"/>
                    </a:solidFill>
                  </a:rPr>
                  <a:t> occurrences of an event during a specified interval of time or space, assuming the average number of occurrences is </a:t>
                </a:r>
                <a14:m>
                  <m:oMath xmlns:m="http://schemas.openxmlformats.org/officeDocument/2006/math">
                    <m:r>
                      <a:rPr lang="en-US" altLang="zh-TW" sz="2400" b="1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𝝀</m:t>
                    </m:r>
                  </m:oMath>
                </a14:m>
                <a:r>
                  <a:rPr lang="en-US" altLang="zh-TW" sz="2400" dirty="0">
                    <a:solidFill>
                      <a:srgbClr val="000000"/>
                    </a:solidFill>
                  </a:rPr>
                  <a:t>.</a:t>
                </a:r>
              </a:p>
              <a:p>
                <a:pPr lvl="1"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000" dirty="0">
                    <a:solidFill>
                      <a:srgbClr val="000000"/>
                    </a:solidFill>
                  </a:rPr>
                  <a:t>The Poisson distribution can be viewed as a limiting case of the binomial distribution when </a:t>
                </a:r>
                <a14:m>
                  <m:oMath xmlns:m="http://schemas.openxmlformats.org/officeDocument/2006/math">
                    <m:r>
                      <a:rPr lang="en-US" altLang="zh-TW" sz="2000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altLang="zh-TW" sz="2000" dirty="0">
                    <a:solidFill>
                      <a:srgbClr val="000000"/>
                    </a:solidFill>
                  </a:rPr>
                  <a:t> is very large and </a:t>
                </a:r>
                <a14:m>
                  <m:oMath xmlns:m="http://schemas.openxmlformats.org/officeDocument/2006/math">
                    <m:r>
                      <a:rPr lang="en-US" altLang="zh-TW" sz="2000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altLang="zh-TW" sz="2000" dirty="0">
                    <a:solidFill>
                      <a:srgbClr val="000000"/>
                    </a:solidFill>
                  </a:rPr>
                  <a:t> is very small, then </a:t>
                </a:r>
                <a14:m>
                  <m:oMath xmlns:m="http://schemas.openxmlformats.org/officeDocument/2006/math">
                    <m:r>
                      <a:rPr lang="en-US" altLang="zh-TW" sz="20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altLang="zh-TW" sz="20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TW" sz="20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𝑛𝑝</m:t>
                    </m:r>
                  </m:oMath>
                </a14:m>
                <a:r>
                  <a:rPr lang="en-US" altLang="zh-TW" sz="2000" dirty="0">
                    <a:solidFill>
                      <a:srgbClr val="000000"/>
                    </a:solidFill>
                  </a:rPr>
                  <a:t>.</a:t>
                </a:r>
              </a:p>
              <a:p>
                <a:pPr lvl="3"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1200" dirty="0">
                  <a:solidFill>
                    <a:srgbClr val="000000"/>
                  </a:solidFill>
                </a:endParaRPr>
              </a:p>
              <a:p>
                <a:pPr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400" dirty="0">
                    <a:solidFill>
                      <a:srgbClr val="000000"/>
                    </a:solidFill>
                  </a:rPr>
                  <a:t>If a discrete random variable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altLang="zh-TW" sz="2400" i="0" dirty="0">
                        <a:latin typeface="Rockwell" panose="02060603020205020403" pitchFamily="18" charset="0"/>
                      </a:rPr>
                      <m:t>X</m:t>
                    </m:r>
                  </m:oMath>
                </a14:m>
                <a:r>
                  <a:rPr lang="en-US" altLang="zh-TW" sz="2400" dirty="0">
                    <a:solidFill>
                      <a:srgbClr val="000000"/>
                    </a:solidFill>
                  </a:rPr>
                  <a:t> follows a Poisson distribution, we write:</a:t>
                </a:r>
              </a:p>
              <a:p>
                <a:pPr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500" dirty="0">
                  <a:solidFill>
                    <a:srgbClr val="000000"/>
                  </a:solidFill>
                </a:endParaRPr>
              </a:p>
              <a:p>
                <a:pPr marL="0" indent="0">
                  <a:spcBef>
                    <a:spcPts val="1000"/>
                  </a:spcBef>
                  <a:buNone/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14:m>
                  <m:oMathPara xmlns:m="http://schemas.openxmlformats.org/officeDocument/2006/math">
                    <m:oMath>
                      <m:r>
                        <m:rPr>
                          <m:nor/>
                        </m:rPr>
                        <a:rPr lang="en-US" altLang="zh-TW" sz="2400" i="0" dirty="0">
                          <a:latin typeface="Rockwell" panose="02060603020205020403" pitchFamily="18" charset="0"/>
                        </a:rPr>
                        <m:t>X</m:t>
                      </m:r>
                      <m:r>
                        <a:rPr lang="en-US" altLang="zh-TW" sz="2400" i="1" dirty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TW" sz="2400" i="1">
                          <a:latin typeface="Cambria Math" panose="02040503050406030204" pitchFamily="18" charset="0"/>
                        </a:rPr>
                        <m:t>~ 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𝑃𝑜𝑖𝑠</m:t>
                      </m:r>
                      <m:d>
                        <m:dPr>
                          <m:ctrlPr>
                            <a:rPr lang="en-US" altLang="zh-TW" sz="2400" b="1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400" b="1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𝝀</m:t>
                          </m:r>
                        </m:e>
                      </m:d>
                    </m:oMath>
                  </m:oMathPara>
                </a14:m>
                <a:endParaRPr lang="en-US" altLang="zh-TW" sz="2400" dirty="0"/>
              </a:p>
              <a:p>
                <a:pPr lvl="3"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1200" dirty="0">
                  <a:solidFill>
                    <a:srgbClr val="000000"/>
                  </a:solidFill>
                </a:endParaRPr>
              </a:p>
              <a:p>
                <a:pPr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400" dirty="0">
                    <a:solidFill>
                      <a:srgbClr val="0070C0"/>
                    </a:solidFill>
                  </a:rPr>
                  <a:t>FYI: The probability mass function is:</a:t>
                </a:r>
                <a:endParaRPr lang="en-US" altLang="zh-TW" sz="500" dirty="0">
                  <a:solidFill>
                    <a:srgbClr val="0070C0"/>
                  </a:solidFill>
                </a:endParaRPr>
              </a:p>
              <a:p>
                <a:pPr marL="0" indent="0">
                  <a:spcBef>
                    <a:spcPts val="1000"/>
                  </a:spcBef>
                  <a:buNone/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14:m>
                  <m:oMathPara xmlns:m="http://schemas.openxmlformats.org/officeDocument/2006/math">
                    <m:oMath>
                      <m:r>
                        <a:rPr lang="en-US" altLang="zh-TW" sz="2400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altLang="zh-TW" sz="2400" i="0" dirty="0">
                              <a:solidFill>
                                <a:srgbClr val="0070C0"/>
                              </a:solidFill>
                              <a:latin typeface="Rockwell" panose="02060603020205020403" pitchFamily="18" charset="0"/>
                            </a:rPr>
                          </m:ctrlPr>
                        </m:dPr>
                        <m:e>
                          <m:r>
                            <m:rPr>
                              <m:nor/>
                            </m:rPr>
                            <a:rPr lang="en-US" altLang="zh-TW" sz="2400" i="0" dirty="0">
                              <a:solidFill>
                                <a:srgbClr val="0070C0"/>
                              </a:solidFill>
                              <a:latin typeface="Rockwell" panose="02060603020205020403" pitchFamily="18" charset="0"/>
                            </a:rPr>
                            <m:t>X</m:t>
                          </m:r>
                          <m:r>
                            <a:rPr lang="en-US" altLang="zh-TW" sz="24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m:rPr>
                              <m:nor/>
                            </m:rPr>
                            <a:rPr lang="en-US" altLang="zh-TW" sz="2400" b="0" i="0" dirty="0" smtClean="0">
                              <a:solidFill>
                                <a:srgbClr val="0070C0"/>
                              </a:solidFill>
                              <a:latin typeface="Rockwell" panose="02060603020205020403" pitchFamily="18" charset="0"/>
                            </a:rPr>
                            <m:t>k</m:t>
                          </m:r>
                        </m:e>
                      </m:d>
                      <m:r>
                        <a:rPr lang="en-US" altLang="zh-TW" sz="2400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TW" sz="2400" b="1" i="1" dirty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altLang="zh-TW" sz="2400" b="1" i="1" dirty="0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TW" sz="2400" b="1" i="1" dirty="0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𝝀</m:t>
                              </m:r>
                            </m:e>
                            <m:sup>
                              <m:r>
                                <m:rPr>
                                  <m:nor/>
                                </m:rPr>
                                <a:rPr lang="en-US" sz="2400" i="0" dirty="0">
                                  <a:solidFill>
                                    <a:srgbClr val="0070C0"/>
                                  </a:solidFill>
                                  <a:latin typeface="Rockwell" panose="02060603020205020403" pitchFamily="18" charset="0"/>
                                </a:rPr>
                                <m:t>k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US" altLang="zh-TW" sz="2400" b="1" i="1" dirty="0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TW" sz="2400" b="1" i="1" dirty="0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𝒆</m:t>
                              </m:r>
                            </m:e>
                            <m:sup>
                              <m:r>
                                <a:rPr lang="en-US" altLang="zh-TW" sz="2400" b="1" i="1" dirty="0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TW" sz="2400" b="1" i="1" dirty="0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𝝀</m:t>
                              </m:r>
                            </m:sup>
                          </m:sSup>
                        </m:num>
                        <m:den>
                          <m:r>
                            <m:rPr>
                              <m:nor/>
                            </m:rPr>
                            <a:rPr lang="en-US" sz="2400" i="0" dirty="0">
                              <a:solidFill>
                                <a:srgbClr val="0070C0"/>
                              </a:solidFill>
                              <a:latin typeface="Rockwell" panose="02060603020205020403" pitchFamily="18" charset="0"/>
                            </a:rPr>
                            <m:t>k</m:t>
                          </m:r>
                          <m:r>
                            <m:rPr>
                              <m:nor/>
                            </m:rPr>
                            <a:rPr lang="en-US" sz="2400" b="0" i="0" dirty="0" smtClean="0">
                              <a:solidFill>
                                <a:srgbClr val="0070C0"/>
                              </a:solidFill>
                              <a:latin typeface="Rockwell" panose="02060603020205020403" pitchFamily="18" charset="0"/>
                            </a:rPr>
                            <m:t>!</m:t>
                          </m:r>
                        </m:den>
                      </m:f>
                    </m:oMath>
                  </m:oMathPara>
                </a14:m>
                <a:endParaRPr lang="en-US" altLang="zh-TW" sz="2400" dirty="0">
                  <a:solidFill>
                    <a:srgbClr val="0070C0"/>
                  </a:solidFill>
                </a:endParaRP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13962D5-EF26-0D33-5CD6-381D7C8564F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199" y="1300900"/>
                <a:ext cx="11189855" cy="5081046"/>
              </a:xfrm>
              <a:blipFill>
                <a:blip r:embed="rId2"/>
                <a:stretch>
                  <a:fillRect l="-708" t="-95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39D7A282-9AB0-7DF6-B53F-513D2BCE1CC7}"/>
              </a:ext>
            </a:extLst>
          </p:cNvPr>
          <p:cNvSpPr/>
          <p:nvPr/>
        </p:nvSpPr>
        <p:spPr>
          <a:xfrm>
            <a:off x="0" y="0"/>
            <a:ext cx="12188825" cy="923636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99246CB-E5A1-0A5A-730F-CBF27B6DE4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88825" cy="923636"/>
          </a:xfrm>
        </p:spPr>
        <p:txBody>
          <a:bodyPr>
            <a:normAutofit/>
          </a:bodyPr>
          <a:lstStyle/>
          <a:p>
            <a:pPr algn="l">
              <a:defRPr sz="4000" b="1">
                <a:solidFill>
                  <a:srgbClr val="FDB913"/>
                </a:solidFill>
                <a:latin typeface="Garamond"/>
              </a:defRPr>
            </a:pPr>
            <a:r>
              <a:rPr lang="en-US" sz="4000" dirty="0">
                <a:solidFill>
                  <a:schemeClr val="bg1"/>
                </a:solidFill>
              </a:rPr>
              <a:t>  Poisson Distribution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2A1E76A-969F-42F1-54DC-32FEF98B2C31}"/>
              </a:ext>
            </a:extLst>
          </p:cNvPr>
          <p:cNvSpPr/>
          <p:nvPr/>
        </p:nvSpPr>
        <p:spPr>
          <a:xfrm>
            <a:off x="-1" y="6503428"/>
            <a:ext cx="12188825" cy="354572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6A68703-DA53-DBFF-9604-7B33DE969B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1" y="6503428"/>
            <a:ext cx="2895600" cy="354572"/>
          </a:xfrm>
        </p:spPr>
        <p:txBody>
          <a:bodyPr/>
          <a:lstStyle/>
          <a:p>
            <a:pPr algn="l"/>
            <a:r>
              <a:rPr lang="en-US">
                <a:solidFill>
                  <a:schemeClr val="bg1"/>
                </a:solidFill>
                <a:latin typeface="Garamond" panose="02020404030301010803" pitchFamily="18" charset="0"/>
              </a:rPr>
              <a:t>BUSN 320 Business Statistics</a:t>
            </a:r>
            <a:endParaRPr lang="en-US" dirty="0">
              <a:solidFill>
                <a:schemeClr val="bg1"/>
              </a:solidFill>
              <a:latin typeface="Garamond" panose="02020404030301010803" pitchFamily="18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EA67BBB-7278-FBAB-9B3F-E55AFE01BC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55225" y="6503428"/>
            <a:ext cx="2133600" cy="354572"/>
          </a:xfrm>
        </p:spPr>
        <p:txBody>
          <a:bodyPr/>
          <a:lstStyle/>
          <a:p>
            <a:fld id="{C1FF6DA9-008F-8B48-92A6-B652298478BF}" type="slidenum">
              <a:rPr lang="en-US" b="1" smtClean="0">
                <a:solidFill>
                  <a:schemeClr val="bg1"/>
                </a:solidFill>
                <a:latin typeface="Garamond" panose="02020404030301010803" pitchFamily="18" charset="0"/>
              </a:rPr>
              <a:t>37</a:t>
            </a:fld>
            <a:r>
              <a:rPr lang="en-US" b="1" dirty="0">
                <a:solidFill>
                  <a:schemeClr val="bg1"/>
                </a:solidFill>
                <a:latin typeface="Garamond" panose="02020404030301010803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5626974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1D71B0-D050-2D7F-8A82-8677E7E016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0F2A0FB-84D4-2B4B-AB9F-0813A8AD8999}"/>
              </a:ext>
            </a:extLst>
          </p:cNvPr>
          <p:cNvSpPr/>
          <p:nvPr/>
        </p:nvSpPr>
        <p:spPr>
          <a:xfrm>
            <a:off x="0" y="0"/>
            <a:ext cx="12188825" cy="923636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F36B19A-CB68-BB5F-9903-23D28C0D40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88825" cy="923636"/>
          </a:xfrm>
        </p:spPr>
        <p:txBody>
          <a:bodyPr>
            <a:normAutofit/>
          </a:bodyPr>
          <a:lstStyle/>
          <a:p>
            <a:pPr algn="l">
              <a:defRPr sz="4000" b="1">
                <a:solidFill>
                  <a:srgbClr val="FDB913"/>
                </a:solidFill>
                <a:latin typeface="Garamond"/>
              </a:defRPr>
            </a:pPr>
            <a:r>
              <a:rPr lang="en-US" sz="4000" dirty="0">
                <a:solidFill>
                  <a:schemeClr val="bg1"/>
                </a:solidFill>
              </a:rPr>
              <a:t>  Detour: Death by Horse Kick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B0038D1-957F-6149-99BA-A20AE04F30E0}"/>
              </a:ext>
            </a:extLst>
          </p:cNvPr>
          <p:cNvSpPr/>
          <p:nvPr/>
        </p:nvSpPr>
        <p:spPr>
          <a:xfrm>
            <a:off x="-1" y="6503428"/>
            <a:ext cx="12188825" cy="354572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1CFF5AF-F2DD-26A9-7130-79059FE5A4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1" y="6503428"/>
            <a:ext cx="2895600" cy="354572"/>
          </a:xfrm>
        </p:spPr>
        <p:txBody>
          <a:bodyPr/>
          <a:lstStyle/>
          <a:p>
            <a:pPr algn="l"/>
            <a:r>
              <a:rPr lang="en-US">
                <a:solidFill>
                  <a:schemeClr val="bg1"/>
                </a:solidFill>
                <a:latin typeface="Garamond" panose="02020404030301010803" pitchFamily="18" charset="0"/>
              </a:rPr>
              <a:t>BUSN 320 Business Statistics</a:t>
            </a:r>
            <a:endParaRPr lang="en-US" dirty="0">
              <a:solidFill>
                <a:schemeClr val="bg1"/>
              </a:solidFill>
              <a:latin typeface="Garamond" panose="02020404030301010803" pitchFamily="18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9571ABD-AD89-8808-C2B6-1C7F06A3D6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55225" y="6503428"/>
            <a:ext cx="2133600" cy="354572"/>
          </a:xfrm>
        </p:spPr>
        <p:txBody>
          <a:bodyPr/>
          <a:lstStyle/>
          <a:p>
            <a:fld id="{C1FF6DA9-008F-8B48-92A6-B652298478BF}" type="slidenum">
              <a:rPr lang="en-US" b="1" smtClean="0">
                <a:solidFill>
                  <a:schemeClr val="bg1"/>
                </a:solidFill>
                <a:latin typeface="Garamond" panose="02020404030301010803" pitchFamily="18" charset="0"/>
              </a:rPr>
              <a:t>38</a:t>
            </a:fld>
            <a:r>
              <a:rPr lang="en-US" b="1" dirty="0">
                <a:solidFill>
                  <a:schemeClr val="bg1"/>
                </a:solidFill>
                <a:latin typeface="Garamond" panose="02020404030301010803" pitchFamily="18" charset="0"/>
              </a:rPr>
              <a:t> 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36225BCF-9365-0505-911D-716289A527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08400" y="1300900"/>
            <a:ext cx="7938654" cy="5081046"/>
          </a:xfrm>
        </p:spPr>
        <p:txBody>
          <a:bodyPr>
            <a:normAutofit/>
          </a:bodyPr>
          <a:lstStyle/>
          <a:p>
            <a:pPr>
              <a:spcBef>
                <a:spcPts val="1000"/>
              </a:spcBef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>
                <a:solidFill>
                  <a:srgbClr val="0070C0"/>
                </a:solidFill>
              </a:rPr>
              <a:t>The Poisson distribution was long viewed primarily as a limited mathematical curiosity project.</a:t>
            </a:r>
          </a:p>
          <a:p>
            <a:pPr lvl="3">
              <a:spcBef>
                <a:spcPts val="1000"/>
              </a:spcBef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1200" dirty="0">
              <a:solidFill>
                <a:srgbClr val="0070C0"/>
              </a:solidFill>
            </a:endParaRPr>
          </a:p>
          <a:p>
            <a:pPr>
              <a:spcBef>
                <a:spcPts val="1000"/>
              </a:spcBef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>
                <a:solidFill>
                  <a:srgbClr val="0070C0"/>
                </a:solidFill>
              </a:rPr>
              <a:t>In the late 1890s, Russian economist and statistician Ladislaus </a:t>
            </a:r>
            <a:r>
              <a:rPr lang="en-US" altLang="zh-TW" sz="2400" dirty="0" err="1">
                <a:solidFill>
                  <a:srgbClr val="0070C0"/>
                </a:solidFill>
              </a:rPr>
              <a:t>Bortkiewicz</a:t>
            </a:r>
            <a:r>
              <a:rPr lang="en-US" altLang="zh-TW" sz="2400" dirty="0">
                <a:solidFill>
                  <a:srgbClr val="0070C0"/>
                </a:solidFill>
              </a:rPr>
              <a:t> analyzed records of soldiers in the Prussian army who were accidentally killed by horse kicks. </a:t>
            </a:r>
          </a:p>
          <a:p>
            <a:pPr lvl="3">
              <a:spcBef>
                <a:spcPts val="1000"/>
              </a:spcBef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1200" dirty="0">
              <a:solidFill>
                <a:srgbClr val="0070C0"/>
              </a:solidFill>
            </a:endParaRPr>
          </a:p>
          <a:p>
            <a:pPr>
              <a:spcBef>
                <a:spcPts val="1000"/>
              </a:spcBef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>
                <a:solidFill>
                  <a:srgbClr val="0070C0"/>
                </a:solidFill>
              </a:rPr>
              <a:t>He found that the annual number of horse-kick deaths closely followed a Poisson distribution.</a:t>
            </a:r>
          </a:p>
          <a:p>
            <a:pPr lvl="3">
              <a:spcBef>
                <a:spcPts val="1000"/>
              </a:spcBef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1200" dirty="0">
              <a:solidFill>
                <a:srgbClr val="0070C0"/>
              </a:solidFill>
            </a:endParaRPr>
          </a:p>
          <a:p>
            <a:pPr>
              <a:spcBef>
                <a:spcPts val="1000"/>
              </a:spcBef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>
                <a:solidFill>
                  <a:srgbClr val="0070C0"/>
                </a:solidFill>
              </a:rPr>
              <a:t>This study became one of the most famous demonstrations that probability distributions can accurately model real-world events.</a:t>
            </a:r>
          </a:p>
        </p:txBody>
      </p:sp>
      <p:pic>
        <p:nvPicPr>
          <p:cNvPr id="3" name="Picture 2" descr="Kicking out when released into field … | Training Horses … Naturally!">
            <a:extLst>
              <a:ext uri="{FF2B5EF4-FFF2-40B4-BE49-F238E27FC236}">
                <a16:creationId xmlns:a16="http://schemas.microsoft.com/office/drawing/2014/main" id="{4FCB1BDE-30FB-843B-978A-7A19E9DE681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7500" r="6402"/>
          <a:stretch>
            <a:fillRect/>
          </a:stretch>
        </p:blipFill>
        <p:spPr>
          <a:xfrm>
            <a:off x="457200" y="1427532"/>
            <a:ext cx="3149600" cy="45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92080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91B0C1-2D93-E615-D464-59F10CC398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3DB9654-ABCC-0AED-8B84-3E2D9DBBF865}"/>
              </a:ext>
            </a:extLst>
          </p:cNvPr>
          <p:cNvSpPr/>
          <p:nvPr/>
        </p:nvSpPr>
        <p:spPr>
          <a:xfrm>
            <a:off x="0" y="0"/>
            <a:ext cx="12188825" cy="923636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4DD8358-CB54-2303-1098-2187FA912F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88825" cy="923636"/>
          </a:xfrm>
        </p:spPr>
        <p:txBody>
          <a:bodyPr>
            <a:normAutofit/>
          </a:bodyPr>
          <a:lstStyle/>
          <a:p>
            <a:pPr algn="l">
              <a:defRPr sz="4000" b="1">
                <a:solidFill>
                  <a:srgbClr val="FDB913"/>
                </a:solidFill>
                <a:latin typeface="Garamond"/>
              </a:defRPr>
            </a:pPr>
            <a:r>
              <a:rPr lang="en-US" sz="4000" dirty="0">
                <a:solidFill>
                  <a:schemeClr val="bg1"/>
                </a:solidFill>
              </a:rPr>
              <a:t>  Detour: Binomial and Poisson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F5EF153-2DFA-38FB-04D5-0D604CB00EDE}"/>
              </a:ext>
            </a:extLst>
          </p:cNvPr>
          <p:cNvSpPr/>
          <p:nvPr/>
        </p:nvSpPr>
        <p:spPr>
          <a:xfrm>
            <a:off x="-1" y="6503428"/>
            <a:ext cx="12188825" cy="354572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F67D56-3DEA-2433-11FF-D72B5CE9C8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1" y="6503428"/>
            <a:ext cx="2895600" cy="354572"/>
          </a:xfrm>
        </p:spPr>
        <p:txBody>
          <a:bodyPr/>
          <a:lstStyle/>
          <a:p>
            <a:pPr algn="l"/>
            <a:r>
              <a:rPr lang="en-US">
                <a:solidFill>
                  <a:schemeClr val="bg1"/>
                </a:solidFill>
                <a:latin typeface="Garamond" panose="02020404030301010803" pitchFamily="18" charset="0"/>
              </a:rPr>
              <a:t>BUSN 320 Business Statistics</a:t>
            </a:r>
            <a:endParaRPr lang="en-US" dirty="0">
              <a:solidFill>
                <a:schemeClr val="bg1"/>
              </a:solidFill>
              <a:latin typeface="Garamond" panose="02020404030301010803" pitchFamily="18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18F3713-C4B4-0019-2586-13E3C21D8C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55225" y="6503428"/>
            <a:ext cx="2133600" cy="354572"/>
          </a:xfrm>
        </p:spPr>
        <p:txBody>
          <a:bodyPr/>
          <a:lstStyle/>
          <a:p>
            <a:fld id="{C1FF6DA9-008F-8B48-92A6-B652298478BF}" type="slidenum">
              <a:rPr lang="en-US" b="1" smtClean="0">
                <a:solidFill>
                  <a:schemeClr val="bg1"/>
                </a:solidFill>
                <a:latin typeface="Garamond" panose="02020404030301010803" pitchFamily="18" charset="0"/>
              </a:rPr>
              <a:t>39</a:t>
            </a:fld>
            <a:r>
              <a:rPr lang="en-US" b="1" dirty="0">
                <a:solidFill>
                  <a:schemeClr val="bg1"/>
                </a:solidFill>
                <a:latin typeface="Garamond" panose="02020404030301010803" pitchFamily="18" charset="0"/>
              </a:rPr>
              <a:t> 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Content Placeholder 2">
                <a:extLst>
                  <a:ext uri="{FF2B5EF4-FFF2-40B4-BE49-F238E27FC236}">
                    <a16:creationId xmlns:a16="http://schemas.microsoft.com/office/drawing/2014/main" id="{B6F3FE01-EF0F-C04A-AE8F-DDCF6127A7B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029200" y="1300900"/>
                <a:ext cx="6617854" cy="5081046"/>
              </a:xfrm>
            </p:spPr>
            <p:txBody>
              <a:bodyPr>
                <a:normAutofit/>
              </a:bodyPr>
              <a:lstStyle/>
              <a:p>
                <a:pPr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400" dirty="0">
                    <a:solidFill>
                      <a:srgbClr val="0070C0"/>
                    </a:solidFill>
                  </a:rPr>
                  <a:t>The gray bars show the results of 1,000 simulated observations from a binomial random variable with:</a:t>
                </a:r>
              </a:p>
              <a:p>
                <a:pPr lvl="1"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14:m>
                  <m:oMath xmlns:m="http://schemas.openxmlformats.org/officeDocument/2006/math">
                    <m:r>
                      <a:rPr lang="en-US" altLang="zh-TW" sz="2000" b="0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altLang="zh-TW" sz="2000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=0.00025</m:t>
                    </m:r>
                  </m:oMath>
                </a14:m>
                <a:r>
                  <a:rPr lang="en-US" altLang="zh-TW" sz="2000" dirty="0">
                    <a:solidFill>
                      <a:srgbClr val="0070C0"/>
                    </a:solidFill>
                  </a:rPr>
                  <a:t> (a small probability of success)</a:t>
                </a:r>
              </a:p>
              <a:p>
                <a:pPr lvl="1"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14:m>
                  <m:oMath xmlns:m="http://schemas.openxmlformats.org/officeDocument/2006/math">
                    <m:r>
                      <a:rPr lang="en-US" altLang="zh-TW" sz="2000" b="0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zh-TW" sz="2000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=10,000</m:t>
                    </m:r>
                  </m:oMath>
                </a14:m>
                <a:r>
                  <a:rPr lang="en-US" altLang="zh-TW" sz="2000" dirty="0">
                    <a:solidFill>
                      <a:srgbClr val="0070C0"/>
                    </a:solidFill>
                  </a:rPr>
                  <a:t> (a large number of Bernoulli trials)</a:t>
                </a:r>
              </a:p>
              <a:p>
                <a:pPr lvl="4"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1200" dirty="0">
                  <a:solidFill>
                    <a:srgbClr val="0070C0"/>
                  </a:solidFill>
                </a:endParaRPr>
              </a:p>
              <a:p>
                <a:pPr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400" dirty="0">
                    <a:solidFill>
                      <a:srgbClr val="0070C0"/>
                    </a:solidFill>
                  </a:rPr>
                  <a:t>The red points and line show the Poisson probability mass function (PMF) with </a:t>
                </a:r>
                <a14:m>
                  <m:oMath xmlns:m="http://schemas.openxmlformats.org/officeDocument/2006/math">
                    <m:r>
                      <a:rPr lang="en-US" altLang="zh-TW" sz="24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altLang="zh-TW" sz="24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=2.5</m:t>
                    </m:r>
                  </m:oMath>
                </a14:m>
                <a:r>
                  <a:rPr lang="en-US" altLang="zh-TW" sz="2400" dirty="0">
                    <a:solidFill>
                      <a:srgbClr val="0070C0"/>
                    </a:solidFill>
                  </a:rPr>
                  <a:t>.</a:t>
                </a:r>
              </a:p>
              <a:p>
                <a:pPr lvl="3"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1200" dirty="0">
                  <a:solidFill>
                    <a:srgbClr val="0070C0"/>
                  </a:solidFill>
                </a:endParaRPr>
              </a:p>
              <a:p>
                <a:pPr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400" dirty="0">
                    <a:solidFill>
                      <a:srgbClr val="0070C0"/>
                    </a:solidFill>
                  </a:rPr>
                  <a:t>You may notice small differences between the simulated Binomial distribution and the Poisson PMF because the Poisson distribution is only an approximation to the Binomial distribution.</a:t>
                </a:r>
              </a:p>
            </p:txBody>
          </p:sp>
        </mc:Choice>
        <mc:Fallback>
          <p:sp>
            <p:nvSpPr>
              <p:cNvPr id="11" name="Content Placeholder 2">
                <a:extLst>
                  <a:ext uri="{FF2B5EF4-FFF2-40B4-BE49-F238E27FC236}">
                    <a16:creationId xmlns:a16="http://schemas.microsoft.com/office/drawing/2014/main" id="{B6F3FE01-EF0F-C04A-AE8F-DDCF6127A7B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029200" y="1300900"/>
                <a:ext cx="6617854" cy="5081046"/>
              </a:xfrm>
              <a:blipFill>
                <a:blip r:embed="rId2"/>
                <a:stretch>
                  <a:fillRect l="-1197" t="-959" r="-18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4" name="Picture 13" descr="The image displays a binomial probability mass function (PMF) with a probability (P) of 0.00025, 10,000 trials (N), and the distribution of the number of successes (#) ranging from 2 to 250, plotted against their frequency.&#10;&#10;AI-generated content may be incorrect.">
            <a:extLst>
              <a:ext uri="{FF2B5EF4-FFF2-40B4-BE49-F238E27FC236}">
                <a16:creationId xmlns:a16="http://schemas.microsoft.com/office/drawing/2014/main" id="{ACAC9FDE-52E3-D5EA-31E9-8FADB37D50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300900"/>
            <a:ext cx="4572000" cy="45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60808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7122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FC50527-14DC-FE54-9886-C1E37C6CDE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2E30184-6F47-9252-BA1B-F75964B3C66A}"/>
              </a:ext>
            </a:extLst>
          </p:cNvPr>
          <p:cNvSpPr txBox="1"/>
          <p:nvPr/>
        </p:nvSpPr>
        <p:spPr>
          <a:xfrm>
            <a:off x="-1" y="3044279"/>
            <a:ext cx="12188825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DB913"/>
                </a:solidFill>
                <a:latin typeface="Garamond"/>
              </a:defRPr>
            </a:pPr>
            <a:r>
              <a:rPr lang="en-US" sz="4400" dirty="0">
                <a:solidFill>
                  <a:schemeClr val="bg1"/>
                </a:solidFill>
              </a:rPr>
              <a:t>Recap &amp; Preview</a:t>
            </a:r>
            <a:endParaRPr sz="4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7313180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BAD0D3-75F9-AC66-E339-9901DE6F11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6835BB-90E6-3E0A-81B8-DDBC0DDEB4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199" y="1300900"/>
            <a:ext cx="11189855" cy="5081046"/>
          </a:xfrm>
        </p:spPr>
        <p:txBody>
          <a:bodyPr>
            <a:normAutofit/>
          </a:bodyPr>
          <a:lstStyle/>
          <a:p>
            <a:pPr>
              <a:spcBef>
                <a:spcPts val="1000"/>
              </a:spcBef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Today we introduced discrete probability distributions and learned how they describe random variables.</a:t>
            </a:r>
            <a:endParaRPr lang="en-US" altLang="zh-TW" sz="2000" dirty="0"/>
          </a:p>
          <a:p>
            <a:pPr lvl="4">
              <a:spcBef>
                <a:spcPts val="1000"/>
              </a:spcBef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1200" dirty="0"/>
          </a:p>
          <a:p>
            <a:pPr>
              <a:spcBef>
                <a:spcPts val="1000"/>
              </a:spcBef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We covered:</a:t>
            </a:r>
          </a:p>
          <a:p>
            <a:pPr lvl="1">
              <a:spcBef>
                <a:spcPts val="1000"/>
              </a:spcBef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000" dirty="0"/>
              <a:t>Random variables and probability mass functions (PMFs).</a:t>
            </a:r>
          </a:p>
          <a:p>
            <a:pPr lvl="1">
              <a:spcBef>
                <a:spcPts val="1000"/>
              </a:spcBef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000" dirty="0"/>
              <a:t>Expected values, variances, and standard deviations.</a:t>
            </a:r>
          </a:p>
          <a:p>
            <a:pPr lvl="1">
              <a:spcBef>
                <a:spcPts val="1000"/>
              </a:spcBef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000" dirty="0"/>
              <a:t>Joint probability distributions and covariance.</a:t>
            </a:r>
          </a:p>
          <a:p>
            <a:pPr lvl="1">
              <a:spcBef>
                <a:spcPts val="1000"/>
              </a:spcBef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000" dirty="0"/>
              <a:t>Three important discrete probability distributions: Uniform, Binomial, and Poisson.</a:t>
            </a:r>
          </a:p>
          <a:p>
            <a:pPr lvl="4">
              <a:spcBef>
                <a:spcPts val="1000"/>
              </a:spcBef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1200" dirty="0"/>
          </a:p>
          <a:p>
            <a:pPr>
              <a:spcBef>
                <a:spcPts val="1000"/>
              </a:spcBef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Probability distributions allow us to model uncertainty mathematically and summarize the behavior of random variables.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2A48173-3450-13BF-C367-F600593798AE}"/>
              </a:ext>
            </a:extLst>
          </p:cNvPr>
          <p:cNvSpPr/>
          <p:nvPr/>
        </p:nvSpPr>
        <p:spPr>
          <a:xfrm>
            <a:off x="0" y="0"/>
            <a:ext cx="12188825" cy="923636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EF89FA8-2460-DC9C-C37C-7D20C806CE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88825" cy="923636"/>
          </a:xfrm>
        </p:spPr>
        <p:txBody>
          <a:bodyPr>
            <a:normAutofit/>
          </a:bodyPr>
          <a:lstStyle/>
          <a:p>
            <a:pPr algn="l">
              <a:defRPr sz="4000" b="1">
                <a:solidFill>
                  <a:srgbClr val="FDB913"/>
                </a:solidFill>
                <a:latin typeface="Garamond"/>
              </a:defRPr>
            </a:pPr>
            <a:r>
              <a:rPr lang="en-US" sz="4000" dirty="0">
                <a:solidFill>
                  <a:schemeClr val="bg1"/>
                </a:solidFill>
              </a:rPr>
              <a:t>  Recap: Chapter 5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3D01E9F-E8C7-EA86-FD4B-1CFA8B6FAD8F}"/>
              </a:ext>
            </a:extLst>
          </p:cNvPr>
          <p:cNvSpPr/>
          <p:nvPr/>
        </p:nvSpPr>
        <p:spPr>
          <a:xfrm>
            <a:off x="-1" y="6503428"/>
            <a:ext cx="12188825" cy="354572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B9C57A6-7C71-3EE2-8512-42A25F53FC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1" y="6503428"/>
            <a:ext cx="2895600" cy="354572"/>
          </a:xfrm>
        </p:spPr>
        <p:txBody>
          <a:bodyPr/>
          <a:lstStyle/>
          <a:p>
            <a:pPr algn="l"/>
            <a:r>
              <a:rPr lang="en-US">
                <a:solidFill>
                  <a:schemeClr val="bg1"/>
                </a:solidFill>
                <a:latin typeface="Garamond" panose="02020404030301010803" pitchFamily="18" charset="0"/>
              </a:rPr>
              <a:t>BUSN 320 Business Statistics</a:t>
            </a:r>
            <a:endParaRPr lang="en-US" dirty="0">
              <a:solidFill>
                <a:schemeClr val="bg1"/>
              </a:solidFill>
              <a:latin typeface="Garamond" panose="02020404030301010803" pitchFamily="18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8D5CD8-1B68-70A0-AF3A-D57DDD4617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55225" y="6503428"/>
            <a:ext cx="2133600" cy="354572"/>
          </a:xfrm>
        </p:spPr>
        <p:txBody>
          <a:bodyPr/>
          <a:lstStyle/>
          <a:p>
            <a:fld id="{C1FF6DA9-008F-8B48-92A6-B652298478BF}" type="slidenum">
              <a:rPr lang="en-US" b="1" smtClean="0">
                <a:solidFill>
                  <a:schemeClr val="bg1"/>
                </a:solidFill>
                <a:latin typeface="Garamond" panose="02020404030301010803" pitchFamily="18" charset="0"/>
              </a:rPr>
              <a:t>41</a:t>
            </a:fld>
            <a:r>
              <a:rPr lang="en-US" b="1" dirty="0">
                <a:solidFill>
                  <a:schemeClr val="bg1"/>
                </a:solidFill>
                <a:latin typeface="Garamond" panose="02020404030301010803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800398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51A8E4-E7C8-D19D-86D3-030AA6A657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49CAFF-9B43-78CA-BAEA-3A38D425E5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199" y="1300900"/>
            <a:ext cx="11189855" cy="5081046"/>
          </a:xfrm>
        </p:spPr>
        <p:txBody>
          <a:bodyPr>
            <a:normAutofit/>
          </a:bodyPr>
          <a:lstStyle/>
          <a:p>
            <a:pPr>
              <a:spcBef>
                <a:spcPts val="1000"/>
              </a:spcBef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In the next chapter, we will extend our discussion of probability distributions to continuous random variables.</a:t>
            </a:r>
          </a:p>
          <a:p>
            <a:pPr lvl="3">
              <a:spcBef>
                <a:spcPts val="1000"/>
              </a:spcBef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1200" dirty="0"/>
          </a:p>
          <a:p>
            <a:pPr>
              <a:spcBef>
                <a:spcPts val="1000"/>
              </a:spcBef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Topics include:</a:t>
            </a:r>
          </a:p>
          <a:p>
            <a:pPr lvl="1">
              <a:spcBef>
                <a:spcPts val="1000"/>
              </a:spcBef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000" dirty="0"/>
              <a:t>Continuous random variables.</a:t>
            </a:r>
          </a:p>
          <a:p>
            <a:pPr lvl="1">
              <a:spcBef>
                <a:spcPts val="1000"/>
              </a:spcBef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000" dirty="0"/>
              <a:t>Probability density functions.</a:t>
            </a:r>
          </a:p>
          <a:p>
            <a:pPr lvl="1">
              <a:spcBef>
                <a:spcPts val="1000"/>
              </a:spcBef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000" dirty="0"/>
              <a:t>The normal probability distribution.</a:t>
            </a:r>
          </a:p>
          <a:p>
            <a:pPr lvl="1">
              <a:spcBef>
                <a:spcPts val="1000"/>
              </a:spcBef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000" dirty="0"/>
              <a:t>The standard normal distribution.</a:t>
            </a:r>
          </a:p>
          <a:p>
            <a:pPr lvl="1">
              <a:spcBef>
                <a:spcPts val="1000"/>
              </a:spcBef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000" dirty="0"/>
              <a:t>Calculating probabilities for continuous random variables.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B63240C-8227-33CA-AF99-D0EF55886348}"/>
              </a:ext>
            </a:extLst>
          </p:cNvPr>
          <p:cNvSpPr/>
          <p:nvPr/>
        </p:nvSpPr>
        <p:spPr>
          <a:xfrm>
            <a:off x="0" y="0"/>
            <a:ext cx="12188825" cy="923636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B6EDD73-7133-E4AA-713D-AD3D76A81B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88825" cy="923636"/>
          </a:xfrm>
        </p:spPr>
        <p:txBody>
          <a:bodyPr>
            <a:normAutofit/>
          </a:bodyPr>
          <a:lstStyle/>
          <a:p>
            <a:pPr algn="l">
              <a:defRPr sz="4000" b="1">
                <a:solidFill>
                  <a:srgbClr val="FDB913"/>
                </a:solidFill>
                <a:latin typeface="Garamond"/>
              </a:defRPr>
            </a:pPr>
            <a:r>
              <a:rPr lang="en-US" sz="4000" dirty="0">
                <a:solidFill>
                  <a:schemeClr val="bg1"/>
                </a:solidFill>
              </a:rPr>
              <a:t>  Preview: Chapter 6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4564DE4-D134-77A0-9EFC-4F54285A0746}"/>
              </a:ext>
            </a:extLst>
          </p:cNvPr>
          <p:cNvSpPr/>
          <p:nvPr/>
        </p:nvSpPr>
        <p:spPr>
          <a:xfrm>
            <a:off x="-1" y="6503428"/>
            <a:ext cx="12188825" cy="354572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792F7BE-07A9-1D9E-9E4B-EFBF9303B7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1" y="6503428"/>
            <a:ext cx="2895600" cy="354572"/>
          </a:xfrm>
        </p:spPr>
        <p:txBody>
          <a:bodyPr/>
          <a:lstStyle/>
          <a:p>
            <a:pPr algn="l"/>
            <a:r>
              <a:rPr lang="en-US">
                <a:solidFill>
                  <a:schemeClr val="bg1"/>
                </a:solidFill>
                <a:latin typeface="Garamond" panose="02020404030301010803" pitchFamily="18" charset="0"/>
              </a:rPr>
              <a:t>BUSN 320 Business Statistics</a:t>
            </a:r>
            <a:endParaRPr lang="en-US" dirty="0">
              <a:solidFill>
                <a:schemeClr val="bg1"/>
              </a:solidFill>
              <a:latin typeface="Garamond" panose="02020404030301010803" pitchFamily="18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18A6A6-3FC1-60E7-8869-8C14CE5EA8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55225" y="6503428"/>
            <a:ext cx="2133600" cy="354572"/>
          </a:xfrm>
        </p:spPr>
        <p:txBody>
          <a:bodyPr/>
          <a:lstStyle/>
          <a:p>
            <a:fld id="{C1FF6DA9-008F-8B48-92A6-B652298478BF}" type="slidenum">
              <a:rPr lang="en-US" b="1" smtClean="0">
                <a:solidFill>
                  <a:schemeClr val="bg1"/>
                </a:solidFill>
                <a:latin typeface="Garamond" panose="02020404030301010803" pitchFamily="18" charset="0"/>
              </a:rPr>
              <a:t>42</a:t>
            </a:fld>
            <a:r>
              <a:rPr lang="en-US" b="1" dirty="0">
                <a:solidFill>
                  <a:schemeClr val="bg1"/>
                </a:solidFill>
                <a:latin typeface="Garamond" panose="02020404030301010803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000813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E_POLL_EMBED_ID" val="bbadb8cc-3321-42df-b505-eb5100c04ece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5178b066-ece4-42d6-be80-b911ff775fa2}" enabled="1" method="Privileged" siteId="{4881a8fa-b252-4912-b93a-7806c41bbe91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8957</TotalTime>
  <Words>4518</Words>
  <Application>Microsoft Office PowerPoint</Application>
  <PresentationFormat>Custom</PresentationFormat>
  <Paragraphs>1350</Paragraphs>
  <Slides>42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42</vt:i4>
      </vt:variant>
    </vt:vector>
  </HeadingPairs>
  <TitlesOfParts>
    <vt:vector size="49" baseType="lpstr">
      <vt:lpstr>Aptos</vt:lpstr>
      <vt:lpstr>Arial</vt:lpstr>
      <vt:lpstr>Calibri</vt:lpstr>
      <vt:lpstr>Cambria Math</vt:lpstr>
      <vt:lpstr>Garamond</vt:lpstr>
      <vt:lpstr>Rockwell</vt:lpstr>
      <vt:lpstr>Office Theme</vt:lpstr>
      <vt:lpstr>PowerPoint Presentation</vt:lpstr>
      <vt:lpstr>  Random Variables</vt:lpstr>
      <vt:lpstr>  Continuous Random Variables</vt:lpstr>
      <vt:lpstr>  Discrete Random Variables</vt:lpstr>
      <vt:lpstr>PowerPoint Presentation</vt:lpstr>
      <vt:lpstr>  Discrete Probability Distributions</vt:lpstr>
      <vt:lpstr>  Empirical Probability Distributions</vt:lpstr>
      <vt:lpstr>  Discrete Probability Functions</vt:lpstr>
      <vt:lpstr>Poll Everywhere multiple choice poll activity
Activity Title: Which value of $$P(2)$$ makes this a valid probability function?
Slide 11</vt:lpstr>
      <vt:lpstr>  Solution to In-class Poll</vt:lpstr>
      <vt:lpstr>  Graphical Representation</vt:lpstr>
      <vt:lpstr>PowerPoint Presentation</vt:lpstr>
      <vt:lpstr>  Expected Value</vt:lpstr>
      <vt:lpstr>  Exercise: Expected Value</vt:lpstr>
      <vt:lpstr>  Variance</vt:lpstr>
      <vt:lpstr>  Standard Deviation</vt:lpstr>
      <vt:lpstr>  Exercise: Variance &amp; Standard Deviation</vt:lpstr>
      <vt:lpstr>PowerPoint Presentation</vt:lpstr>
      <vt:lpstr>  Bivariate Probability Distribution</vt:lpstr>
      <vt:lpstr>  Example: Bivariate Probability Distribution</vt:lpstr>
      <vt:lpstr>  Example: Bivariate Probability Distribution</vt:lpstr>
      <vt:lpstr>  Example: Bivariate Probability Distribution</vt:lpstr>
      <vt:lpstr>  Example: Bivariate Probability Distribution</vt:lpstr>
      <vt:lpstr>  Example: Bivariate Probability Distribution</vt:lpstr>
      <vt:lpstr>  Example: Bivariate Probability Distribution</vt:lpstr>
      <vt:lpstr>  Bivariate Probability Distribution</vt:lpstr>
      <vt:lpstr>  Bivariate Probability Distribution</vt:lpstr>
      <vt:lpstr>  In-class Exercise</vt:lpstr>
      <vt:lpstr>  Caveats: The True Probabilities</vt:lpstr>
      <vt:lpstr>  Covariance</vt:lpstr>
      <vt:lpstr>PowerPoint Presentation</vt:lpstr>
      <vt:lpstr>  Uniform Distribution</vt:lpstr>
      <vt:lpstr>  Detour: The German Tank Problem</vt:lpstr>
      <vt:lpstr>  Detour: The German Tank Problem (with Math)</vt:lpstr>
      <vt:lpstr>  Bernoulli Trials and the Binomial Distribution</vt:lpstr>
      <vt:lpstr>  Detour: Bernoulli’s Insurance Problem</vt:lpstr>
      <vt:lpstr>  Poisson Distribution</vt:lpstr>
      <vt:lpstr>  Detour: Death by Horse Kick</vt:lpstr>
      <vt:lpstr>  Detour: Binomial and Poisson</vt:lpstr>
      <vt:lpstr>PowerPoint Presentation</vt:lpstr>
      <vt:lpstr>  Recap: Chapter 5</vt:lpstr>
      <vt:lpstr>  Preview: Chapter 6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Brian Park</dc:creator>
  <cp:keywords/>
  <dc:description>generated using python-pptx</dc:description>
  <cp:lastModifiedBy>Brian Park</cp:lastModifiedBy>
  <cp:revision>345</cp:revision>
  <dcterms:created xsi:type="dcterms:W3CDTF">2013-01-27T09:14:16Z</dcterms:created>
  <dcterms:modified xsi:type="dcterms:W3CDTF">2026-09-24T18:24:13Z</dcterms:modified>
  <cp:category/>
</cp:coreProperties>
</file>