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452" r:id="rId3"/>
    <p:sldId id="453" r:id="rId4"/>
    <p:sldId id="377" r:id="rId5"/>
    <p:sldId id="371" r:id="rId6"/>
    <p:sldId id="450" r:id="rId7"/>
    <p:sldId id="427" r:id="rId8"/>
    <p:sldId id="446" r:id="rId9"/>
    <p:sldId id="447" r:id="rId10"/>
    <p:sldId id="451" r:id="rId11"/>
    <p:sldId id="454" r:id="rId12"/>
    <p:sldId id="443" r:id="rId13"/>
    <p:sldId id="444" r:id="rId14"/>
    <p:sldId id="445" r:id="rId15"/>
    <p:sldId id="448" r:id="rId16"/>
    <p:sldId id="449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22C"/>
    <a:srgbClr val="FDB913"/>
    <a:srgbClr val="B89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4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3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59EC7-19C7-4638-A61A-0E2B5986157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7AAC7-CF25-414B-93E7-2A61E431E8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Do you have any questions for me?
https://www.polleverywhere.com/free_text_polls/3yI8BMhCjy5QgyRGhmpkX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3726A-CB66-3813-F325-36D9C51A602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10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Do not modify the notes in this section to avoid tampering with the Poll Everywhere activity.
More info at polleverywhere.com/support
Within how many class days must students complete grade recovery for a quiz?
https://www.polleverywhere.com/multiple_choice_polls/VsH9t4VcL0PyesGuGvcZO?state=opened&amp;flow=Default&amp;onscreen=persist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87AAC7-CF25-414B-93E7-2A61E431E831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D0AF7-AFDA-4C77-669B-013ECCBFB492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88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26824-D516-40F9-A2B9-3494C83CE7C7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217DC-4828-4471-BD52-53AAF289A54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7B59F-AA67-42AE-86AB-0B7D1F011A5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E0D51-3F2F-40F1-8CBE-21D566164C3B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BA496-4CCB-43CD-B17D-F6C41D30AD30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8B5C2-E71C-46EB-83A0-519D4DC54227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85131-01C3-4F9B-9535-A453D7053A3E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E9985-7456-4B0F-BB98-31F49A08F60D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7FFED-8115-4B44-BAD9-8248A36EA329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5B2D1-ACD3-4DEA-90D4-4922ECC80DF2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A8C37-CC3D-4CB0-81AB-F766FA57CD9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00FF5-AFFF-4814-94C1-6B23F41B37DA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BUSN 320 Business Statistics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71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650659"/>
            <a:ext cx="121888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DB913"/>
                </a:solidFill>
                <a:latin typeface="Garamond"/>
              </a:defRPr>
            </a:pPr>
            <a:r>
              <a:rPr lang="en-US" sz="4800" dirty="0"/>
              <a:t>B</a:t>
            </a:r>
            <a:r>
              <a:rPr lang="en-US" sz="4400" dirty="0"/>
              <a:t>USINESS </a:t>
            </a:r>
            <a:r>
              <a:rPr lang="en-US" sz="4800" dirty="0"/>
              <a:t>S</a:t>
            </a:r>
            <a:r>
              <a:rPr lang="en-US" sz="4400" dirty="0"/>
              <a:t>TATISTICS</a:t>
            </a:r>
            <a:endParaRPr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-1" y="3657600"/>
            <a:ext cx="12188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Garamond"/>
              </a:defRPr>
            </a:pPr>
            <a:r>
              <a:rPr lang="en-US" dirty="0"/>
              <a:t>Introduction &amp; Syllabus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97C2-1282-7EB9-49B7-17ACA7FC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16BE-A8CD-18B9-9751-BF52BA7FE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Education &amp; Research: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Ph.D. in Applied Economics and Management, Cornell University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B.A. in Economics, Korea University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Research interests in Environmental Economics and Public Policy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Teaching Experience: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4</a:t>
            </a:r>
            <a:r>
              <a:rPr lang="en-US" altLang="zh-TW" sz="2000" baseline="30000" dirty="0"/>
              <a:t>th</a:t>
            </a:r>
            <a:r>
              <a:rPr lang="en-US" altLang="zh-TW" sz="2000" dirty="0"/>
              <a:t> year of full-time teaching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2</a:t>
            </a:r>
            <a:r>
              <a:rPr lang="en-US" altLang="zh-TW" sz="2000" baseline="30000" dirty="0"/>
              <a:t>nd</a:t>
            </a:r>
            <a:r>
              <a:rPr lang="en-US" altLang="zh-TW" sz="2000" dirty="0"/>
              <a:t> year at Concordia College</a:t>
            </a:r>
            <a:endParaRPr lang="en-US" altLang="zh-TW" sz="12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First time teaching Business Statistics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Outside of Work: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Travel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Aviation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Credit card points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954D9B-BDF7-A1D2-4F73-E6161058521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A15DF1-D903-90B5-5CE1-9A7966C5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About Me: Brian Park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AFA7C-6326-5677-C50C-60D8DF02B76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42F8A-FE31-6851-3194-9AE89B07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A2BD-1233-E666-97C7-6B98F37C2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C54159-0556-B0CC-9306-450DF46F43CD}"/>
              </a:ext>
            </a:extLst>
          </p:cNvPr>
          <p:cNvSpPr txBox="1">
            <a:spLocks/>
          </p:cNvSpPr>
          <p:nvPr/>
        </p:nvSpPr>
        <p:spPr>
          <a:xfrm>
            <a:off x="5200650" y="3057525"/>
            <a:ext cx="6446404" cy="3324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>
                <a:solidFill>
                  <a:srgbClr val="000000"/>
                </a:solidFill>
                <a:latin typeface="Garamond"/>
              </a:rPr>
              <a:t>Miscellaneous: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Originally from South Korea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Completed most of my formal education in Korea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Completed military service in Korea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My educational background may mean that some of my expectations or classroom norms are different from what you are used to.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>
                <a:solidFill>
                  <a:srgbClr val="000000"/>
                </a:solidFill>
                <a:latin typeface="Garamond"/>
              </a:rPr>
              <a:t>If something I ask seems unusual, let me know!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>
              <a:solidFill>
                <a:srgbClr val="000000"/>
              </a:solidFill>
              <a:latin typeface="Garamond"/>
            </a:endParaRP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000" dirty="0">
              <a:solidFill>
                <a:srgbClr val="000000"/>
              </a:solidFill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42146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DEAC-1F46-C771-594A-D8810939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free text poll activity
Activity Title: Do you have any questions for me?
Slide 3</a:t>
            </a:r>
          </a:p>
        </p:txBody>
      </p:sp>
      <p:sp>
        <p:nvSpPr>
          <p:cNvPr id="3" name="Footer Placeholder 2" descr="Poll Everywhere free text poll activity&#10;Activity Title: Do you have any questions for me?">
            <a:extLst>
              <a:ext uri="{FF2B5EF4-FFF2-40B4-BE49-F238E27FC236}">
                <a16:creationId xmlns:a16="http://schemas.microsoft.com/office/drawing/2014/main" id="{59776384-6075-FC07-A0E6-C228BAA3D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2FA97-9750-D17C-ED66-BCABF95F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48D5A-3081-CB67-EC0F-54FBFC3124C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5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5493E-281D-69B9-1D0A-B652DD64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3F410-5511-CC59-2625-80EB0163B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Email: HPARK3@cord.edu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Please include BUSN 320 in the subject line. My target response time is within 1 business day.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Office: Grant Center 101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Regular Office Hours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Mondays &amp; Wednesdays, 10:30 AM to 12:00 PM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Tuesdays, 10:00 AM to 11:30 AM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By appointment via Calendly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Calendly: calendly.com/</a:t>
            </a:r>
            <a:r>
              <a:rPr lang="en-US" altLang="zh-TW" sz="2400" dirty="0" err="1"/>
              <a:t>brianhwpark</a:t>
            </a:r>
            <a:endParaRPr lang="en-US" altLang="zh-TW" sz="2400" dirty="0"/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Book on-demand office hours in 15-minute increments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Calendar opens 10 days in advance, with a minimum of 90 minutes notice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For longer sessions, you may book 2-3 sessions in a row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839507-CA97-61EC-B1F9-A10A5F134E22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CC517F-ADE0-4DE6-7B3F-130F1E50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Announcements: Contact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BDE37-EA5E-0E20-2D51-A3A47B8CBEFF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4777F-49EA-1E56-50CF-6443F114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9A018-7991-22E7-5182-10625E1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734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AEFF2-F746-BD8D-D2B8-1FC132FDB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10A33-223B-9471-CB72-FE8056A18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Score #1: Balanced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20% for Check-ins, 40% for Quizzes, 10% for Homework, and 30% for the Final Exam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Score #2: Rewarding Consistency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20% for Check-ins, 60% for Quizzes, 10% for Homework, and 10% for the Final Exam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Score #3: The “Hail Mary” option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10% for Check-ins, 20% for Quizzes, 5% for Homework, and 65% for the Final Exam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At the end of the term, I will calculate all three scores. The highest of the three will be your Grand Total score, which will be used to determine your letter grade.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9AD3B8-B45E-05B3-9C2B-3F6403A041E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33C74-26F7-7CDD-26FA-EAB04FFE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Grading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585D6-D63B-E9D0-A7AA-4E552DE243C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6D3F26-0F34-D695-955A-2204DF94C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32C08-BC4A-16B5-BFE5-80E68DB46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4966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14A42-EC35-B588-643A-F2D462046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016F57-A8E0-72FF-364D-E85BA5269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instance, if a student’s score by the end of the semester is:</a:t>
                </a:r>
                <a:endParaRPr lang="en-US" altLang="zh-TW" sz="1400" dirty="0"/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88/100 for check-ins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84/100 for quizzes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92/100 for homework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79/100 for the final exam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1 extra credit</a:t>
                </a:r>
              </a:p>
              <a:p>
                <a:pPr lvl="4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three scores are calculated as: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Score #1: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88×20%+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0%+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92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0%+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79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0%+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1=84.9</m:t>
                    </m:r>
                  </m:oMath>
                </a14:m>
                <a:endParaRPr lang="en-US" altLang="zh-TW" sz="2000" dirty="0"/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Score #2: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88×2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%+84×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%+92×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0%+7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0%+1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=84.1</m:t>
                    </m:r>
                  </m:oMath>
                </a14:m>
                <a:endParaRPr lang="en-US" altLang="zh-TW" sz="2000" dirty="0"/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Score #3: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88×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0%+84×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%+92×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%+7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65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%+1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=81.6</m:t>
                    </m:r>
                  </m:oMath>
                </a14:m>
                <a:endParaRPr lang="en-US" altLang="zh-TW" sz="2000" dirty="0"/>
              </a:p>
              <a:p>
                <a:pPr lvl="4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The Grand Total is Score #1, for a letter grade of B.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016F57-A8E0-72FF-364D-E85BA5269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1794B45-5015-F839-D58F-2907719A25A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59787-7C3E-3B1F-ED02-1C23416B5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Grading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2E285D-FC04-C51A-55D3-4D28592B943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F80D6-EE70-836D-FABA-07F33DC5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D0697-5861-DE4C-2217-650106B0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8926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FF742-D580-1D77-C897-537142959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D21A-C213-F171-0365-19D98911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Attendance may be checked at the beginning of each class session.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Each student is permitted one unexcused absence per calendar month without penalty.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Attendance does not directly factor into a student’s Grand Total score; however, it will be used to determine recovery rates following each quiz.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Five or more unexcused absences (excluding the monthly no-penalty absences) over the duration of the term may result in a failing grade. 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Whether an absence is considered excused or unexcused will follow Concordia College policy, with final discretion resting with the instructor.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9B005-5B9E-57A7-CFE3-C992110F711E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B9D63-F5DE-3F45-FDD6-BF8EE402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Attendance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230593-C860-6936-7DEB-04D6619C61B9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B08ED-B637-D314-4311-0C6E22D2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CE9EB-F47C-41A2-8E3A-090FBAA8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7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3623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EFF0-3D45-5DE9-BEF4-20D0D16E6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E46C7-A549-92BD-1ABA-EF9647724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Up to 4 closed-book, in-class quizzes will be administered throughout the term.</a:t>
            </a:r>
          </a:p>
          <a:p>
            <a:pPr marL="1371600" lvl="3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Because quizzes are designed to be low-stakes assessments, students will have opportunities to recover deducted points.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To participate in grade recovery, students must review their graded material, demonstrate a clear understanding of their errors, and present the correct answers to the instructor in person during office hours.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proportion of points that a student can recover is directly tied to their attendance rate. Assuming a maximum recovery rate of R%, the student’s recovery rate is calculated as: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929621-A1E1-5ADE-E647-E4DA3EDD28A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C2E6D-74BB-FFA3-25B1-22262704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Quizzes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40AF4C-166A-0F62-8EB5-DB924894821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52441-A31C-4FC6-964C-04B232036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CDB16-87C9-B47E-1D40-1A91E1FC8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8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2DB8C6-09E8-636C-222F-F5AD95824BDF}"/>
                  </a:ext>
                </a:extLst>
              </p:cNvPr>
              <p:cNvSpPr txBox="1"/>
              <p:nvPr/>
            </p:nvSpPr>
            <p:spPr>
              <a:xfrm>
                <a:off x="2947738" y="5392229"/>
                <a:ext cx="6208776" cy="6294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𝑅𝑒𝑐𝑜𝑣𝑒𝑟𝑦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𝑅𝑎𝑡𝑒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𝐴𝑡𝑡𝑒𝑛𝑑𝑒𝑑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𝐸𝑥𝑐𝑢𝑠𝑒𝑑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𝐴𝑏𝑠𝑒𝑛𝑐𝑒𝑠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𝐴𝑡𝑡𝑒𝑛𝑑𝑎𝑛𝑐𝑒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𝐶ℎ𝑒𝑐𝑘𝑠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2DB8C6-09E8-636C-222F-F5AD95824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738" y="5392229"/>
                <a:ext cx="6208776" cy="6294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1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AF93-3F40-41BA-4C4D-A90513EF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E04F2-1B9A-0DD5-66D6-F3E2B0EB8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Regardless of the recovery rate, the maximum number of points a student may recover shall not exceed 20% of the total points available on each quiz.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Grade recovery deadlines will be 5 class days after the distribution of graded material unless otherwise specified by the instructor. 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 It is the student’s responsibility to complete grade recovery within the stated deadline.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6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missed quiz without an approved reason will result in a grade of zero.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Make-up quizzes must be approved by the instructor and are granted only for documented or unavoidable conflicts.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Examples of commonly approved reasons include illness, medical appointments that cannot be rescheduled, family emergencies, and College-sponsored activities.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Personal scheduling conflicts or non-emergency commitments are generally not considered valid reasons for a make-up quiz.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B20118-C42B-0656-C5B1-00258779E011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7429D9-E88E-F122-8AB0-2059CE6B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Quizzes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42BE9C-646E-6B31-4E72-E08920AAE264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1225A-2A12-7496-394C-7F3FBB69C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2FBA4-5129-0654-88F7-CA93B776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9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750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26D9-E0DB-4390-DB26-5F72C574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A40FA-EA9B-243B-840D-29DDADF77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</p:spPr>
            <p:txBody>
              <a:bodyPr>
                <a:normAutofit/>
              </a:bodyPr>
              <a:lstStyle/>
              <a:p>
                <a:pPr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For instance, suppose that two students A and B each score 60/100 on a quiz: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Student A: Attended 14/14 classes (factoring in excused absences).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Student B: Attended 7/14 classes (factoring in excused absences).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The maximum recovery rate is determined to be 40%.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Both students take part in the recovery session to correct all incorrect answers.</a:t>
                </a:r>
              </a:p>
              <a:p>
                <a:pPr lvl="4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1200" dirty="0"/>
              </a:p>
              <a:p>
                <a:pPr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Students A and B will have different recovery rates: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Student A: </a:t>
                </a:r>
                <a14:m>
                  <m:oMath xmlns:m="http://schemas.openxmlformats.org/officeDocument/2006/math">
                    <m:r>
                      <a:rPr lang="en-US" altLang="zh-TW" sz="1600" b="0" i="0" smtClean="0">
                        <a:latin typeface="Cambria Math" panose="02040503050406030204" pitchFamily="18" charset="0"/>
                      </a:rPr>
                      <m:t>40%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num>
                      <m:den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=40%</m:t>
                    </m:r>
                  </m:oMath>
                </a14:m>
                <a:endParaRPr lang="en-US" altLang="zh-TW" sz="800" dirty="0"/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Student B: </a:t>
                </a:r>
                <a14:m>
                  <m:oMath xmlns:m="http://schemas.openxmlformats.org/officeDocument/2006/math">
                    <m:r>
                      <a:rPr lang="en-US" altLang="zh-TW" sz="1600" b="0" i="0" smtClean="0">
                        <a:latin typeface="Cambria Math" panose="02040503050406030204" pitchFamily="18" charset="0"/>
                      </a:rPr>
                      <m:t>40</m:t>
                    </m:r>
                    <m:r>
                      <a:rPr lang="en-US" altLang="zh-TW" sz="160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altLang="zh-TW" sz="16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a:rPr lang="en-US" altLang="zh-TW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TW" sz="1600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zh-TW" sz="1600" dirty="0"/>
              </a:p>
              <a:p>
                <a:pPr lvl="3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 lvl="3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endParaRPr lang="en-US" altLang="zh-TW" sz="800" dirty="0"/>
              </a:p>
              <a:p>
                <a:pPr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400" dirty="0"/>
                  <a:t>Students A and B will therefore have different recovered quiz scores:</a:t>
                </a:r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Student A: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60+</m:t>
                    </m:r>
                    <m:d>
                      <m:dPr>
                        <m:ctrl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100−60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000">
                        <a:latin typeface="Cambria Math" panose="02040503050406030204" pitchFamily="18" charset="0"/>
                      </a:rPr>
                      <m:t>40%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=76</m:t>
                    </m:r>
                  </m:oMath>
                </a14:m>
                <a:endParaRPr lang="en-US" altLang="zh-TW" sz="2000" dirty="0"/>
              </a:p>
              <a:p>
                <a:pPr lvl="1">
                  <a:defRPr sz="2000">
                    <a:solidFill>
                      <a:srgbClr val="000000"/>
                    </a:solidFill>
                    <a:latin typeface="Garamond"/>
                  </a:defRPr>
                </a:pPr>
                <a:r>
                  <a:rPr lang="en-US" altLang="zh-TW" sz="2000" dirty="0"/>
                  <a:t>Student B: </a:t>
                </a:r>
                <a14:m>
                  <m:oMath xmlns:m="http://schemas.openxmlformats.org/officeDocument/2006/math">
                    <m:r>
                      <a:rPr lang="en-US" altLang="zh-TW" sz="2000">
                        <a:latin typeface="Cambria Math" panose="02040503050406030204" pitchFamily="18" charset="0"/>
                      </a:rPr>
                      <m:t>60+</m:t>
                    </m:r>
                    <m:d>
                      <m:dPr>
                        <m:ctrlPr>
                          <a:rPr lang="en-US" altLang="zh-TW" sz="2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>
                            <a:latin typeface="Cambria Math" panose="02040503050406030204" pitchFamily="18" charset="0"/>
                          </a:rPr>
                          <m:t>100−60</m:t>
                        </m:r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TW" sz="2000">
                        <a:latin typeface="Cambria Math" panose="02040503050406030204" pitchFamily="18" charset="0"/>
                      </a:rPr>
                      <m:t>%=</m:t>
                    </m:r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BA40FA-EA9B-243B-840D-29DDADF77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300900"/>
                <a:ext cx="11189855" cy="5081046"/>
              </a:xfrm>
              <a:blipFill>
                <a:blip r:embed="rId2"/>
                <a:stretch>
                  <a:fillRect l="-708" t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48E792A-B0D9-36E8-3C29-6B1801FA10DB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1A3CDD-FFD8-57F0-2AEF-AF7AF4AC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Quizzes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333F6-A737-62F6-D2C1-36B4BCE15E4D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9AEB7-60D1-75C3-8D3B-7B8112E6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0AC13-B668-3E34-7E71-7B7215A4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10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942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8DD8-8701-220D-8474-F74242A5A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000000">
                    <a:alpha val="0"/>
                  </a:srgbClr>
                </a:solidFill>
              </a:rPr>
              <a:t>Poll Everywhere multiple choice poll activity
Activity Title: Within how many class days must students complete grade recovery for a quiz?
Slide 11</a:t>
            </a:r>
          </a:p>
        </p:txBody>
      </p:sp>
      <p:sp>
        <p:nvSpPr>
          <p:cNvPr id="3" name="Footer Placeholder 2" descr="Poll Everywhere multiple choice poll activity&#10;Activity Title: Within how many class days must students complete grade recovery for a quiz?">
            <a:extLst>
              <a:ext uri="{FF2B5EF4-FFF2-40B4-BE49-F238E27FC236}">
                <a16:creationId xmlns:a16="http://schemas.microsoft.com/office/drawing/2014/main" id="{8C6E2B8C-5127-A019-8767-735E77735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BUSN 320 Business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B3D61-88D1-FBB4-A260-FE557EA8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88ACDA-1923-1641-093D-540A0784E25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117983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84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8D7E-D02F-DB5D-0A60-52252C9B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F6237-7457-D326-8FAD-E4BF06D43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Short (&lt;10-minute) in-class check-ins will be administered on a roughly weekly basis.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Check-ins are designed to assess understanding of recently covered material, and include a mix of conceptual, calculation, and interpretation-based problems.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lowest 3 check-in scores will be dropped when calculating the check-in component of the Grand Total score.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The drop policy is designed to accommodate occasional absences, so there will be no make-up opportunities for missed check-ins.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Students who arrive late or leave early may not be given additional time to complete check-ins.</a:t>
            </a:r>
          </a:p>
          <a:p>
            <a:pPr marL="1828800" lvl="4" indent="0">
              <a:buNone/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will be no opportunity to recover deducted points. Students may request that their entire check-in be regraded to check for grading errors.</a:t>
            </a: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7F5509-9C18-2985-85F0-917D705EC96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8ACF0-A2E9-7D05-A1FD-A935938C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Check-ins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938F3F-43E4-76D6-7C6E-9A318D5A722A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B922-5759-CAF7-F7FA-398543AE0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6DA42-9299-09BC-7C17-70982A26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12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273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5D8AF-E32E-E914-4E9D-1C93C1220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1FE76-74F3-9DB7-F193-A61A58B69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small number of data-based homework assignments will be assigned throughout the semester.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Students will use basic spreadsheet tools (e.g., Microsoft Excel) to organize data, perform calculations, and interpret the results.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Emphasis will be placed on interpreting outputs, explaining results clearly, and connecting statistical findings to the underlying concepts.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All data homework assignments must be completed individually unless explicitly stated otherwise.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Assignments must be submitted in the required format (e.g., Excel file and/or PDF) with clear organization and labeling of all work.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123E7-12FF-ED95-F08C-E705423C2D4F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0C775-119F-FE54-D74B-0EE52B77E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Homework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A44D1B-66C5-F133-55A8-28D7F3451FA3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2F48A-6AC5-A448-E41C-6AAB64F1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82228-8B6C-33E2-2550-78DABC89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13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964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39352-42CA-1467-0745-FF3F60E96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7603E-9A13-3CA5-6572-597BD88FB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comprehensive, closed-book final exam will be administered on the date determined by the Registrar’s Office.</a:t>
            </a:r>
            <a:endParaRPr lang="en-US" altLang="zh-TW" sz="2000" dirty="0"/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final exam will follow the quiz format, with length and complexity adjusted for the extended test period.</a:t>
            </a:r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There will be no opportunity to recover deducted points. Students may request that their entire final exam be regraded to check for grading errors.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 missed final exam without an approved reason will result in a grade of zero.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Make-up final exams must be approved by the instructor and are granted exclusively for documented or unavoidable conflicts.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706465-E2A7-AA48-FC21-754030D1183D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279E4-52E8-1E5C-7738-4D047B9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Final Exam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28B4C8-EB29-D18F-C52B-B29BA773141E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D417E4-AF5C-2EC2-5B22-0E1D1DFD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38BC2-A6D9-DE64-F84D-57ADE482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14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973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38B76-DF31-1296-9AF9-88C43655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EC2D-9956-E8B0-A958-DF0E81F2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Extra credit opportunities may be offered on rare occasions at the instructor’s discretion</a:t>
            </a:r>
            <a:r>
              <a:rPr lang="en-US" altLang="zh-TW" sz="2000" dirty="0"/>
              <a:t>.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The maximum number of extra credit points that may be applied to a student’s Grand Total score will not exceed 3 points.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4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Students are responsible for checking their Concordia email and the course learning platform regularly for announcements.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2B2CF-A7AE-F3D4-0B37-9A5EEA208DAC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69B3F-4E52-B7C6-3DC4-C9B67F40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Miscellaneous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AE3BED-B916-F724-C1F5-A5AE8BAC3AA8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AAB5B-BB68-D341-F881-636F7638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991A6-B440-21B4-9EB4-916E7238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15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251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ECB0-83AD-D66A-020A-FF317B9F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78B41-6105-7290-97ED-3D0D9AF89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00900"/>
            <a:ext cx="11189855" cy="5081046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AI is a powerful tool that, when used carefully, can support the learning process.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Students may use generative AI tools to support their learning in this course, including: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Creating practice problems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Preparing answers for recovery sessions</a:t>
            </a:r>
          </a:p>
          <a:p>
            <a:pPr lvl="1"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000" dirty="0"/>
              <a:t>Writing Excel formulas and creating data visualizations</a:t>
            </a:r>
          </a:p>
          <a:p>
            <a:pPr lvl="4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Most assessments in this course are completed in person without access to electronic devices. 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  <a:p>
            <a:pPr>
              <a:defRPr sz="2000">
                <a:solidFill>
                  <a:srgbClr val="000000"/>
                </a:solidFill>
                <a:latin typeface="Garamond"/>
              </a:defRPr>
            </a:pPr>
            <a:r>
              <a:rPr lang="en-US" altLang="zh-TW" sz="2400" dirty="0"/>
              <a:t>Overreliance on AI is therefore likely to result in lower assessment scores.</a:t>
            </a:r>
          </a:p>
          <a:p>
            <a:pPr lvl="3">
              <a:defRPr sz="2000">
                <a:solidFill>
                  <a:srgbClr val="000000"/>
                </a:solidFill>
                <a:latin typeface="Garamond"/>
              </a:defRPr>
            </a:pPr>
            <a:endParaRPr lang="en-US" altLang="zh-TW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C5C4CF-D4EE-4B5B-B2A0-22F5F13C312A}"/>
              </a:ext>
            </a:extLst>
          </p:cNvPr>
          <p:cNvSpPr/>
          <p:nvPr/>
        </p:nvSpPr>
        <p:spPr>
          <a:xfrm>
            <a:off x="0" y="0"/>
            <a:ext cx="12188825" cy="923636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16F81-1577-983B-5FD0-711941D47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825" cy="923636"/>
          </a:xfrm>
        </p:spPr>
        <p:txBody>
          <a:bodyPr>
            <a:normAutofit/>
          </a:bodyPr>
          <a:lstStyle/>
          <a:p>
            <a:pPr algn="l">
              <a:defRPr sz="4000" b="1">
                <a:solidFill>
                  <a:srgbClr val="FDB913"/>
                </a:solidFill>
                <a:latin typeface="Garamond"/>
              </a:defRPr>
            </a:pPr>
            <a:r>
              <a:rPr lang="en-US" sz="4000" dirty="0">
                <a:solidFill>
                  <a:schemeClr val="bg1"/>
                </a:solidFill>
              </a:rPr>
              <a:t>  </a:t>
            </a:r>
            <a:r>
              <a:rPr lang="en-US" sz="4000" b="1" dirty="0">
                <a:solidFill>
                  <a:schemeClr val="bg1"/>
                </a:solidFill>
                <a:latin typeface="Garamond"/>
              </a:rPr>
              <a:t>Policies: AI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A9231E-C91D-0A5D-51FD-C3046940F786}"/>
              </a:ext>
            </a:extLst>
          </p:cNvPr>
          <p:cNvSpPr/>
          <p:nvPr/>
        </p:nvSpPr>
        <p:spPr>
          <a:xfrm>
            <a:off x="-1" y="6503428"/>
            <a:ext cx="12188825" cy="354572"/>
          </a:xfrm>
          <a:prstGeom prst="rect">
            <a:avLst/>
          </a:prstGeom>
          <a:solidFill>
            <a:srgbClr val="77122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198B0-5B98-D53C-DDB4-61EA189E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503428"/>
            <a:ext cx="2895600" cy="354572"/>
          </a:xfrm>
        </p:spPr>
        <p:txBody>
          <a:bodyPr/>
          <a:lstStyle/>
          <a:p>
            <a:pPr algn="l"/>
            <a:r>
              <a:rPr lang="en-US">
                <a:solidFill>
                  <a:schemeClr val="bg1"/>
                </a:solidFill>
                <a:latin typeface="Garamond" panose="02020404030301010803" pitchFamily="18" charset="0"/>
              </a:rPr>
              <a:t>BUSN 320 Business Statistics</a:t>
            </a:r>
            <a:endParaRPr lang="en-US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55C93-4D67-322B-1B77-22CEF111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55225" y="6503428"/>
            <a:ext cx="2133600" cy="354572"/>
          </a:xfrm>
        </p:spPr>
        <p:txBody>
          <a:bodyPr/>
          <a:lstStyle/>
          <a:p>
            <a:fld id="{C1FF6DA9-008F-8B48-92A6-B652298478BF}" type="slidenum">
              <a:rPr lang="en-US" b="1" smtClean="0">
                <a:solidFill>
                  <a:schemeClr val="bg1"/>
                </a:solidFill>
                <a:latin typeface="Garamond" panose="02020404030301010803" pitchFamily="18" charset="0"/>
              </a:rPr>
              <a:t>16</a:t>
            </a:fld>
            <a:r>
              <a:rPr lang="en-US" b="1" dirty="0">
                <a:solidFill>
                  <a:schemeClr val="bg1"/>
                </a:solidFill>
                <a:latin typeface="Garamond" panose="02020404030301010803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61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33784a1-92ef-434f-94d2-2de446eae8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106a240-1158-4bc7-9b14-16505dcf108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78b066-ece4-42d6-be80-b911ff775fa2}" enabled="1" method="Privileged" siteId="{4881a8fa-b252-4912-b93a-7806c41bbe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5760</TotalTime>
  <Words>1650</Words>
  <Application>Microsoft Office PowerPoint</Application>
  <PresentationFormat>Custom</PresentationFormat>
  <Paragraphs>187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Garamond</vt:lpstr>
      <vt:lpstr>Office Theme</vt:lpstr>
      <vt:lpstr>PowerPoint Presentation</vt:lpstr>
      <vt:lpstr>  About Me: Brian Park</vt:lpstr>
      <vt:lpstr>Poll Everywhere free text poll activity
Activity Title: Do you have any questions for me?
Slide 3</vt:lpstr>
      <vt:lpstr>  Announcements: Contact</vt:lpstr>
      <vt:lpstr>  Policies: Grading</vt:lpstr>
      <vt:lpstr>  Policies: Grading</vt:lpstr>
      <vt:lpstr>  Policies: Attendance</vt:lpstr>
      <vt:lpstr>  Policies: Quizzes</vt:lpstr>
      <vt:lpstr>  Policies: Quizzes</vt:lpstr>
      <vt:lpstr>  Policies: Quizzes</vt:lpstr>
      <vt:lpstr>Poll Everywhere multiple choice poll activity
Activity Title: Within how many class days must students complete grade recovery for a quiz?
Slide 11</vt:lpstr>
      <vt:lpstr>  Policies: Check-ins</vt:lpstr>
      <vt:lpstr>  Policies: Homework</vt:lpstr>
      <vt:lpstr>  Policies: Final Exam</vt:lpstr>
      <vt:lpstr>  Policies: Miscellaneous</vt:lpstr>
      <vt:lpstr>  Policies: AI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Brian Park</dc:creator>
  <cp:keywords/>
  <dc:description>generated using python-pptx</dc:description>
  <cp:lastModifiedBy>Brian Park</cp:lastModifiedBy>
  <cp:revision>189</cp:revision>
  <dcterms:created xsi:type="dcterms:W3CDTF">2013-01-27T09:14:16Z</dcterms:created>
  <dcterms:modified xsi:type="dcterms:W3CDTF">2026-08-24T21:21:14Z</dcterms:modified>
  <cp:category/>
</cp:coreProperties>
</file>